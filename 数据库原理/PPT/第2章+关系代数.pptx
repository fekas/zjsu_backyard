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0"/>
  </p:notesMasterIdLst>
  <p:sldIdLst>
    <p:sldId id="381" r:id="rId2"/>
    <p:sldId id="256" r:id="rId3"/>
    <p:sldId id="379" r:id="rId4"/>
    <p:sldId id="413" r:id="rId5"/>
    <p:sldId id="378" r:id="rId6"/>
    <p:sldId id="259" r:id="rId7"/>
    <p:sldId id="382" r:id="rId8"/>
    <p:sldId id="383" r:id="rId9"/>
    <p:sldId id="386" r:id="rId10"/>
    <p:sldId id="264" r:id="rId11"/>
    <p:sldId id="387" r:id="rId12"/>
    <p:sldId id="414" r:id="rId13"/>
    <p:sldId id="415" r:id="rId14"/>
    <p:sldId id="418" r:id="rId15"/>
    <p:sldId id="419" r:id="rId16"/>
    <p:sldId id="416" r:id="rId17"/>
    <p:sldId id="417" r:id="rId18"/>
    <p:sldId id="420" r:id="rId19"/>
    <p:sldId id="421" r:id="rId20"/>
    <p:sldId id="270" r:id="rId21"/>
    <p:sldId id="271" r:id="rId22"/>
    <p:sldId id="422" r:id="rId23"/>
    <p:sldId id="272" r:id="rId24"/>
    <p:sldId id="273" r:id="rId25"/>
    <p:sldId id="275" r:id="rId26"/>
    <p:sldId id="423" r:id="rId27"/>
    <p:sldId id="424" r:id="rId28"/>
    <p:sldId id="425" r:id="rId29"/>
    <p:sldId id="427" r:id="rId30"/>
    <p:sldId id="430" r:id="rId31"/>
    <p:sldId id="428" r:id="rId32"/>
    <p:sldId id="429" r:id="rId33"/>
    <p:sldId id="431" r:id="rId34"/>
    <p:sldId id="432" r:id="rId35"/>
    <p:sldId id="433" r:id="rId36"/>
    <p:sldId id="435" r:id="rId37"/>
    <p:sldId id="437" r:id="rId38"/>
    <p:sldId id="436" r:id="rId39"/>
    <p:sldId id="438" r:id="rId40"/>
    <p:sldId id="439" r:id="rId41"/>
    <p:sldId id="440" r:id="rId42"/>
    <p:sldId id="441" r:id="rId43"/>
    <p:sldId id="442" r:id="rId44"/>
    <p:sldId id="443" r:id="rId45"/>
    <p:sldId id="444" r:id="rId46"/>
    <p:sldId id="445" r:id="rId47"/>
    <p:sldId id="446" r:id="rId48"/>
    <p:sldId id="447" r:id="rId49"/>
    <p:sldId id="448" r:id="rId50"/>
    <p:sldId id="450" r:id="rId51"/>
    <p:sldId id="449" r:id="rId52"/>
    <p:sldId id="451" r:id="rId53"/>
    <p:sldId id="452" r:id="rId54"/>
    <p:sldId id="470" r:id="rId55"/>
    <p:sldId id="375" r:id="rId56"/>
    <p:sldId id="454" r:id="rId57"/>
    <p:sldId id="456" r:id="rId58"/>
    <p:sldId id="455" r:id="rId59"/>
    <p:sldId id="457" r:id="rId60"/>
    <p:sldId id="458" r:id="rId61"/>
    <p:sldId id="459" r:id="rId62"/>
    <p:sldId id="460" r:id="rId63"/>
    <p:sldId id="461" r:id="rId64"/>
    <p:sldId id="462" r:id="rId65"/>
    <p:sldId id="463" r:id="rId66"/>
    <p:sldId id="464" r:id="rId67"/>
    <p:sldId id="468" r:id="rId68"/>
    <p:sldId id="465" r:id="rId69"/>
    <p:sldId id="466" r:id="rId70"/>
    <p:sldId id="467" r:id="rId71"/>
    <p:sldId id="453" r:id="rId72"/>
    <p:sldId id="377" r:id="rId73"/>
    <p:sldId id="471" r:id="rId74"/>
    <p:sldId id="472" r:id="rId75"/>
    <p:sldId id="473" r:id="rId76"/>
    <p:sldId id="474" r:id="rId77"/>
    <p:sldId id="475" r:id="rId78"/>
    <p:sldId id="476" r:id="rId7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0099"/>
    <a:srgbClr val="FF0000"/>
    <a:srgbClr val="FF00FF"/>
    <a:srgbClr val="00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5" autoAdjust="0"/>
    <p:restoredTop sz="94607" autoAdjust="0"/>
  </p:normalViewPr>
  <p:slideViewPr>
    <p:cSldViewPr>
      <p:cViewPr varScale="1">
        <p:scale>
          <a:sx n="106" d="100"/>
          <a:sy n="106" d="100"/>
        </p:scale>
        <p:origin x="1800" y="176"/>
      </p:cViewPr>
      <p:guideLst>
        <p:guide orient="horz" pos="2160"/>
        <p:guide pos="2880"/>
      </p:guideLst>
    </p:cSldViewPr>
  </p:slideViewPr>
  <p:outlineViewPr>
    <p:cViewPr>
      <p:scale>
        <a:sx n="33" d="100"/>
        <a:sy n="33" d="100"/>
      </p:scale>
      <p:origin x="0" y="15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7.wmf"/><Relationship Id="rId5" Type="http://schemas.openxmlformats.org/officeDocument/2006/relationships/image" Target="../media/image10.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7.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7.wmf"/><Relationship Id="rId5" Type="http://schemas.openxmlformats.org/officeDocument/2006/relationships/image" Target="../media/image14.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17.wmf"/><Relationship Id="rId4"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 Id="rId9"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5" Type="http://schemas.openxmlformats.org/officeDocument/2006/relationships/image" Target="../media/image52.wmf"/><Relationship Id="rId4" Type="http://schemas.openxmlformats.org/officeDocument/2006/relationships/image" Target="../media/image5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70.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10" Type="http://schemas.openxmlformats.org/officeDocument/2006/relationships/image" Target="../media/image73.wmf"/><Relationship Id="rId4" Type="http://schemas.openxmlformats.org/officeDocument/2006/relationships/image" Target="../media/image67.wmf"/><Relationship Id="rId9" Type="http://schemas.openxmlformats.org/officeDocument/2006/relationships/image" Target="../media/image72.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80.w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D2C98B-BCE1-473E-B4E9-1F6B27B354D6}" type="datetimeFigureOut">
              <a:rPr lang="zh-CN" altLang="en-US" smtClean="0"/>
              <a:t>2019/9/10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B2A1C5-F448-453F-AD22-060754181DD0}" type="slidenum">
              <a:rPr lang="zh-CN" altLang="en-US" smtClean="0"/>
              <a:t>‹#›</a:t>
            </a:fld>
            <a:endParaRPr lang="zh-CN" altLang="en-US"/>
          </a:p>
        </p:txBody>
      </p:sp>
    </p:spTree>
    <p:extLst>
      <p:ext uri="{BB962C8B-B14F-4D97-AF65-F5344CB8AC3E}">
        <p14:creationId xmlns:p14="http://schemas.microsoft.com/office/powerpoint/2010/main" val="2580868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F0FEC2D-1921-4D49-9601-5EBBBFCF4A9B}" type="slidenum">
              <a:rPr lang="en-US" altLang="zh-CN" smtClean="0"/>
              <a:pPr eaLnBrk="1" hangingPunct="1"/>
              <a:t>1</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zh-CN" altLang="zh-CN">
              <a:latin typeface="Arial"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32</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33</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34</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35</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38</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39</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40</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42</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44</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45</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46</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47</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48</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49</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50</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51</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52</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53</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54</a:t>
            </a:fld>
            <a:endParaRPr lang="zh-CN" altLang="en-US"/>
          </a:p>
        </p:txBody>
      </p:sp>
    </p:spTree>
    <p:extLst>
      <p:ext uri="{BB962C8B-B14F-4D97-AF65-F5344CB8AC3E}">
        <p14:creationId xmlns:p14="http://schemas.microsoft.com/office/powerpoint/2010/main" val="2497103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64</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65</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66</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67</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68</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69</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B2A1C5-F448-453F-AD22-060754181DD0}" type="slidenum">
              <a:rPr lang="zh-CN" altLang="en-US" smtClean="0"/>
              <a:t>70</a:t>
            </a:fld>
            <a:endParaRPr lang="zh-CN" altLang="en-US"/>
          </a:p>
        </p:txBody>
      </p:sp>
    </p:spTree>
    <p:extLst>
      <p:ext uri="{BB962C8B-B14F-4D97-AF65-F5344CB8AC3E}">
        <p14:creationId xmlns:p14="http://schemas.microsoft.com/office/powerpoint/2010/main" val="3526867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002F142-3562-044C-AFDB-32B84FD3C3B7}" type="datetime9">
              <a:rPr lang="zh-CN" altLang="en-US" smtClean="0"/>
              <a:t>2019年9月10日星期二3时33分14秒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71559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3547CA-23CD-BE4C-A235-F4FE2258755C}" type="datetime9">
              <a:rPr lang="zh-CN" altLang="en-US" smtClean="0"/>
              <a:t>2019年9月10日星期二3时33分14秒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081743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51ED15-73F6-B74C-B431-CF0EB44A6EAA}" type="datetime9">
              <a:rPr lang="zh-CN" altLang="en-US" smtClean="0"/>
              <a:t>2019年9月10日星期二3时33分14秒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11223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8554667-D801-F048-8203-713184D0F42F}" type="datetime9">
              <a:rPr lang="zh-CN" altLang="en-US" smtClean="0"/>
              <a:t>2019年9月10日星期二3时33分14秒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4080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6716DE5-A880-314A-900E-4F18F39E9C51}" type="datetime9">
              <a:rPr lang="zh-CN" altLang="en-US" smtClean="0"/>
              <a:t>2019年9月10日星期二3时33分14秒</a:t>
            </a:fld>
            <a:endParaRPr lang="zh-CN" altLang="en-US"/>
          </a:p>
        </p:txBody>
      </p:sp>
      <p:sp>
        <p:nvSpPr>
          <p:cNvPr id="8" name="页脚占位符 7"/>
          <p:cNvSpPr>
            <a:spLocks noGrp="1"/>
          </p:cNvSpPr>
          <p:nvPr>
            <p:ph type="ftr" sz="quarter" idx="11"/>
          </p:nvPr>
        </p:nvSpPr>
        <p:spPr/>
        <p:txBody>
          <a:bodyPr/>
          <a:lstStyle/>
          <a:p>
            <a:r>
              <a:rPr lang="en-US" altLang="zh-CN"/>
              <a:t>HappyYou</a:t>
            </a:r>
            <a:endParaRPr lang="zh-CN" altLang="en-US"/>
          </a:p>
        </p:txBody>
      </p:sp>
      <p:sp>
        <p:nvSpPr>
          <p:cNvPr id="9" name="灯片编号占位符 8"/>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24134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78E3C55-9233-8E43-A1AE-CDD4BB5FECFD}" type="datetime9">
              <a:rPr lang="zh-CN" altLang="en-US" smtClean="0"/>
              <a:t>2019年9月10日星期二3时33分14秒</a:t>
            </a:fld>
            <a:endParaRPr lang="zh-CN" altLang="en-US"/>
          </a:p>
        </p:txBody>
      </p:sp>
      <p:sp>
        <p:nvSpPr>
          <p:cNvPr id="4" name="页脚占位符 3"/>
          <p:cNvSpPr>
            <a:spLocks noGrp="1"/>
          </p:cNvSpPr>
          <p:nvPr>
            <p:ph type="ftr" sz="quarter" idx="11"/>
          </p:nvPr>
        </p:nvSpPr>
        <p:spPr/>
        <p:txBody>
          <a:bodyPr/>
          <a:lstStyle/>
          <a:p>
            <a:r>
              <a:rPr lang="en-US" altLang="zh-CN"/>
              <a:t>HappyYou</a:t>
            </a:r>
            <a:endParaRPr lang="zh-CN" altLang="en-US"/>
          </a:p>
        </p:txBody>
      </p:sp>
      <p:sp>
        <p:nvSpPr>
          <p:cNvPr id="5" name="灯片编号占位符 4"/>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75662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F3D56C-11D0-4B4B-BF34-C6A893F3AF5C}" type="datetime9">
              <a:rPr lang="zh-CN" altLang="en-US" smtClean="0"/>
              <a:t>2019年9月10日星期二3时33分14秒</a:t>
            </a:fld>
            <a:endParaRPr lang="zh-CN" altLang="en-US"/>
          </a:p>
        </p:txBody>
      </p:sp>
      <p:sp>
        <p:nvSpPr>
          <p:cNvPr id="3" name="页脚占位符 2"/>
          <p:cNvSpPr>
            <a:spLocks noGrp="1"/>
          </p:cNvSpPr>
          <p:nvPr>
            <p:ph type="ftr" sz="quarter" idx="11"/>
          </p:nvPr>
        </p:nvSpPr>
        <p:spPr/>
        <p:txBody>
          <a:bodyPr/>
          <a:lstStyle/>
          <a:p>
            <a:r>
              <a:rPr lang="en-US" altLang="zh-CN"/>
              <a:t>HappyYou</a:t>
            </a:r>
            <a:endParaRPr lang="zh-CN" altLang="en-US"/>
          </a:p>
        </p:txBody>
      </p:sp>
      <p:sp>
        <p:nvSpPr>
          <p:cNvPr id="4" name="灯片编号占位符 3"/>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98450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4B1D3CD-32DF-874A-9AD7-9ABEBE9404B2}" type="datetime9">
              <a:rPr lang="zh-CN" altLang="en-US" smtClean="0"/>
              <a:t>2019年9月10日星期二3时33分14秒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11593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78D04C9-FC5B-FA47-AA4F-71FAA7AEDC95}" type="datetime9">
              <a:rPr lang="zh-CN" altLang="en-US" smtClean="0"/>
              <a:t>2019年9月10日星期二3时33分14秒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126273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0FDFD8-9305-7341-8B4E-39C1A76B0452}" type="datetime9">
              <a:rPr lang="zh-CN" altLang="en-US" smtClean="0"/>
              <a:t>2019年9月10日星期二3时33分14秒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39694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C470118-F347-7F42-95F9-AC6637A550D4}" type="datetime9">
              <a:rPr lang="zh-CN" altLang="en-US" smtClean="0"/>
              <a:t>2019年9月10日星期二3时33分14秒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400044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706090"/>
          </a:xfrm>
        </p:spPr>
        <p:txBody>
          <a:bodyPr>
            <a:normAutofit/>
          </a:bodyPr>
          <a:lstStyle>
            <a:lvl1pPr>
              <a:defRPr sz="3600" b="0">
                <a:latin typeface="微软雅黑" pitchFamily="34" charset="-122"/>
                <a:ea typeface="微软雅黑"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124744"/>
            <a:ext cx="8229600" cy="5112568"/>
          </a:xfrm>
        </p:spPr>
        <p:txBody>
          <a:bodyPr/>
          <a:lstStyle>
            <a:lvl1pPr marL="342900" indent="-342900">
              <a:lnSpc>
                <a:spcPts val="3600"/>
              </a:lnSpc>
              <a:spcBef>
                <a:spcPts val="0"/>
              </a:spcBef>
              <a:buFont typeface="Wingdings" pitchFamily="2" charset="2"/>
              <a:buChar char="n"/>
              <a:defRPr sz="2400">
                <a:latin typeface="微软雅黑" pitchFamily="34" charset="-122"/>
                <a:ea typeface="微软雅黑" pitchFamily="34" charset="-122"/>
              </a:defRPr>
            </a:lvl1pPr>
            <a:lvl2pPr marL="742950" indent="-285750">
              <a:lnSpc>
                <a:spcPts val="3600"/>
              </a:lnSpc>
              <a:spcBef>
                <a:spcPts val="0"/>
              </a:spcBef>
              <a:buFont typeface="Wingdings" pitchFamily="2" charset="2"/>
              <a:buChar char="p"/>
              <a:defRPr sz="2200">
                <a:latin typeface="微软雅黑" pitchFamily="34" charset="-122"/>
                <a:ea typeface="微软雅黑" pitchFamily="34" charset="-122"/>
              </a:defRPr>
            </a:lvl2pPr>
            <a:lvl3pPr marL="1143000" indent="-228600">
              <a:lnSpc>
                <a:spcPts val="3600"/>
              </a:lnSpc>
              <a:spcBef>
                <a:spcPts val="0"/>
              </a:spcBef>
              <a:buFont typeface="Wingdings" pitchFamily="2" charset="2"/>
              <a:buChar char="l"/>
              <a:defRPr sz="2000">
                <a:latin typeface="微软雅黑" pitchFamily="34" charset="-122"/>
                <a:ea typeface="微软雅黑" pitchFamily="34" charset="-122"/>
              </a:defRPr>
            </a:lvl3pPr>
            <a:lvl4pPr marL="1600200" indent="-228600">
              <a:lnSpc>
                <a:spcPts val="3600"/>
              </a:lnSpc>
              <a:spcBef>
                <a:spcPts val="0"/>
              </a:spcBef>
              <a:buFont typeface="Wingdings" pitchFamily="2" charset="2"/>
              <a:buChar char="u"/>
              <a:defRPr sz="1800">
                <a:latin typeface="微软雅黑" pitchFamily="34" charset="-122"/>
                <a:ea typeface="微软雅黑" pitchFamily="34" charset="-122"/>
              </a:defRPr>
            </a:lvl4pPr>
            <a:lvl5pPr marL="2057400" indent="-228600">
              <a:lnSpc>
                <a:spcPts val="3600"/>
              </a:lnSpc>
              <a:spcBef>
                <a:spcPts val="0"/>
              </a:spcBef>
              <a:buFont typeface="Wingdings" pitchFamily="2" charset="2"/>
              <a:buChar char="Ø"/>
              <a:defRPr sz="16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0"/>
            <a:ext cx="2746648" cy="365125"/>
          </a:xfrm>
        </p:spPr>
        <p:txBody>
          <a:bodyPr/>
          <a:lstStyle>
            <a:lvl1pPr>
              <a:defRPr>
                <a:latin typeface="微软雅黑" pitchFamily="34" charset="-122"/>
                <a:ea typeface="微软雅黑" pitchFamily="34" charset="-122"/>
              </a:defRPr>
            </a:lvl1pPr>
          </a:lstStyle>
          <a:p>
            <a:fld id="{053C218A-8485-6441-B4DF-8A00EE5424D5}" type="datetime9">
              <a:rPr lang="zh-CN" altLang="en-US" smtClean="0"/>
              <a:t>2019年9月10日星期二3时33分14秒</a:t>
            </a:fld>
            <a:endParaRPr lang="zh-CN" altLang="en-US" dirty="0"/>
          </a:p>
        </p:txBody>
      </p:sp>
      <p:sp>
        <p:nvSpPr>
          <p:cNvPr id="5" name="页脚占位符 4"/>
          <p:cNvSpPr>
            <a:spLocks noGrp="1"/>
          </p:cNvSpPr>
          <p:nvPr>
            <p:ph type="ftr" sz="quarter" idx="11"/>
          </p:nvPr>
        </p:nvSpPr>
        <p:spPr>
          <a:xfrm>
            <a:off x="3923928" y="6381328"/>
            <a:ext cx="2239888" cy="365125"/>
          </a:xfrm>
        </p:spPr>
        <p:txBody>
          <a:bodyPr/>
          <a:lstStyle>
            <a:lvl1pPr>
              <a:defRPr>
                <a:latin typeface="微软雅黑" pitchFamily="34" charset="-122"/>
                <a:ea typeface="微软雅黑" pitchFamily="34" charset="-122"/>
              </a:defRPr>
            </a:lvl1pPr>
          </a:lstStyle>
          <a:p>
            <a:r>
              <a:rPr lang="en-US" altLang="zh-CN" dirty="0" err="1"/>
              <a:t>HappyYou</a:t>
            </a:r>
            <a:endParaRPr lang="zh-CN" altLang="en-US" dirty="0"/>
          </a:p>
        </p:txBody>
      </p:sp>
      <p:sp>
        <p:nvSpPr>
          <p:cNvPr id="6" name="灯片编号占位符 5"/>
          <p:cNvSpPr>
            <a:spLocks noGrp="1"/>
          </p:cNvSpPr>
          <p:nvPr>
            <p:ph type="sldNum" sz="quarter" idx="12"/>
          </p:nvPr>
        </p:nvSpPr>
        <p:spPr>
          <a:xfrm>
            <a:off x="6553200" y="6356350"/>
            <a:ext cx="2051248" cy="365125"/>
          </a:xfrm>
        </p:spPr>
        <p:txBody>
          <a:bodyPr/>
          <a:lstStyle>
            <a:lvl1pPr algn="r">
              <a:defRPr>
                <a:latin typeface="微软雅黑" pitchFamily="34" charset="-122"/>
                <a:ea typeface="微软雅黑" pitchFamily="34" charset="-122"/>
              </a:defRPr>
            </a:lvl1pPr>
          </a:lstStyle>
          <a:p>
            <a:fld id="{C46E5E69-9A6D-4AF8-BC2D-C556A9893D8F}" type="slidenum">
              <a:rPr lang="zh-CN" altLang="en-US" smtClean="0"/>
              <a:pPr/>
              <a:t>‹#›</a:t>
            </a:fld>
            <a:endParaRPr lang="zh-CN" altLang="en-US" dirty="0"/>
          </a:p>
        </p:txBody>
      </p:sp>
    </p:spTree>
    <p:extLst>
      <p:ext uri="{BB962C8B-B14F-4D97-AF65-F5344CB8AC3E}">
        <p14:creationId xmlns:p14="http://schemas.microsoft.com/office/powerpoint/2010/main" val="63234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818656" cy="365125"/>
          </a:xfrm>
          <a:prstGeom prst="rect">
            <a:avLst/>
          </a:prstGeom>
        </p:spPr>
        <p:txBody>
          <a:bodyPr vert="horz" lIns="91440" tIns="45720" rIns="91440" bIns="45720" rtlCol="0" anchor="ctr"/>
          <a:lstStyle>
            <a:lvl1pPr algn="l">
              <a:defRPr sz="1200">
                <a:solidFill>
                  <a:schemeClr val="tx1">
                    <a:tint val="75000"/>
                  </a:schemeClr>
                </a:solidFill>
                <a:latin typeface="微软雅黑" pitchFamily="34" charset="-122"/>
                <a:ea typeface="微软雅黑" pitchFamily="34" charset="-122"/>
              </a:defRPr>
            </a:lvl1pPr>
          </a:lstStyle>
          <a:p>
            <a:fld id="{222F970B-647E-C64C-8502-B8AEBB74952E}" type="datetime9">
              <a:rPr lang="zh-CN" altLang="en-US" smtClean="0"/>
              <a:t>2019年9月10日星期二3时33分14秒</a:t>
            </a:fld>
            <a:endParaRPr lang="zh-CN" altLang="en-US" dirty="0"/>
          </a:p>
        </p:txBody>
      </p:sp>
      <p:sp>
        <p:nvSpPr>
          <p:cNvPr id="5" name="页脚占位符 4"/>
          <p:cNvSpPr>
            <a:spLocks noGrp="1"/>
          </p:cNvSpPr>
          <p:nvPr>
            <p:ph type="ftr" sz="quarter" idx="3"/>
          </p:nvPr>
        </p:nvSpPr>
        <p:spPr>
          <a:xfrm>
            <a:off x="3635896" y="6356350"/>
            <a:ext cx="2383904" cy="365125"/>
          </a:xfrm>
          <a:prstGeom prst="rect">
            <a:avLst/>
          </a:prstGeom>
        </p:spPr>
        <p:txBody>
          <a:bodyPr vert="horz" lIns="91440" tIns="45720" rIns="91440" bIns="45720" rtlCol="0" anchor="ctr"/>
          <a:lstStyle>
            <a:lvl1pPr algn="ctr">
              <a:defRPr sz="1200">
                <a:solidFill>
                  <a:schemeClr val="tx1">
                    <a:tint val="75000"/>
                  </a:schemeClr>
                </a:solidFill>
                <a:latin typeface="微软雅黑" pitchFamily="34" charset="-122"/>
                <a:ea typeface="微软雅黑" pitchFamily="34" charset="-122"/>
              </a:defRPr>
            </a:lvl1pPr>
          </a:lstStyle>
          <a:p>
            <a:r>
              <a:rPr lang="en-US" altLang="zh-CN"/>
              <a:t>HappyYou</a:t>
            </a:r>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itchFamily="34" charset="-122"/>
                <a:ea typeface="微软雅黑" pitchFamily="34" charset="-122"/>
              </a:defRPr>
            </a:lvl1pPr>
          </a:lstStyle>
          <a:p>
            <a:fld id="{87607A0D-40CE-4FFA-B03A-EB935FC429F2}" type="slidenum">
              <a:rPr lang="zh-CN" altLang="en-US" smtClean="0"/>
              <a:t>‹#›</a:t>
            </a:fld>
            <a:endParaRPr lang="zh-CN" altLang="en-US" dirty="0"/>
          </a:p>
        </p:txBody>
      </p:sp>
    </p:spTree>
    <p:extLst>
      <p:ext uri="{BB962C8B-B14F-4D97-AF65-F5344CB8AC3E}">
        <p14:creationId xmlns:p14="http://schemas.microsoft.com/office/powerpoint/2010/main" val="1764261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3600" kern="120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0.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3.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9.wmf"/><Relationship Id="rId4" Type="http://schemas.openxmlformats.org/officeDocument/2006/relationships/image" Target="../media/image7.wmf"/><Relationship Id="rId9"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2.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3.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1.wmf"/><Relationship Id="rId4" Type="http://schemas.openxmlformats.org/officeDocument/2006/relationships/image" Target="../media/image7.wmf"/><Relationship Id="rId9"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14.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3.w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13.wmf"/><Relationship Id="rId4" Type="http://schemas.openxmlformats.org/officeDocument/2006/relationships/image" Target="../media/image7.wmf"/><Relationship Id="rId9"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19.wmf"/><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6.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24.bin"/><Relationship Id="rId14" Type="http://schemas.openxmlformats.org/officeDocument/2006/relationships/image" Target="../media/image2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21.wmf"/></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40.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29.bin"/><Relationship Id="rId10" Type="http://schemas.openxmlformats.org/officeDocument/2006/relationships/image" Target="../media/image24.wmf"/><Relationship Id="rId4" Type="http://schemas.openxmlformats.org/officeDocument/2006/relationships/image" Target="../media/image17.wmf"/><Relationship Id="rId9"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33.bin"/><Relationship Id="rId4" Type="http://schemas.openxmlformats.org/officeDocument/2006/relationships/image" Target="../media/image2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35.bin"/><Relationship Id="rId4" Type="http://schemas.openxmlformats.org/officeDocument/2006/relationships/image" Target="../media/image26.wmf"/></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32.wmf"/><Relationship Id="rId18" Type="http://schemas.openxmlformats.org/officeDocument/2006/relationships/oleObject" Target="../embeddings/oleObject43.bin"/><Relationship Id="rId3" Type="http://schemas.openxmlformats.org/officeDocument/2006/relationships/notesSlide" Target="../notesSlides/notesSlide2.xml"/><Relationship Id="rId21" Type="http://schemas.openxmlformats.org/officeDocument/2006/relationships/image" Target="../media/image36.wmf"/><Relationship Id="rId7" Type="http://schemas.openxmlformats.org/officeDocument/2006/relationships/image" Target="../media/image29.wmf"/><Relationship Id="rId12" Type="http://schemas.openxmlformats.org/officeDocument/2006/relationships/oleObject" Target="../embeddings/oleObject40.bin"/><Relationship Id="rId17" Type="http://schemas.openxmlformats.org/officeDocument/2006/relationships/image" Target="../media/image34.wmf"/><Relationship Id="rId2" Type="http://schemas.openxmlformats.org/officeDocument/2006/relationships/slideLayout" Target="../slideLayouts/slideLayout12.xml"/><Relationship Id="rId16" Type="http://schemas.openxmlformats.org/officeDocument/2006/relationships/oleObject" Target="../embeddings/oleObject42.bin"/><Relationship Id="rId20" Type="http://schemas.openxmlformats.org/officeDocument/2006/relationships/oleObject" Target="../embeddings/oleObject44.bin"/><Relationship Id="rId1" Type="http://schemas.openxmlformats.org/officeDocument/2006/relationships/vmlDrawing" Target="../drawings/vmlDrawing10.vml"/><Relationship Id="rId6" Type="http://schemas.openxmlformats.org/officeDocument/2006/relationships/oleObject" Target="../embeddings/oleObject37.bin"/><Relationship Id="rId11" Type="http://schemas.openxmlformats.org/officeDocument/2006/relationships/image" Target="../media/image31.w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39.bin"/><Relationship Id="rId19" Type="http://schemas.openxmlformats.org/officeDocument/2006/relationships/image" Target="../media/image35.wmf"/><Relationship Id="rId4" Type="http://schemas.openxmlformats.org/officeDocument/2006/relationships/oleObject" Target="../embeddings/oleObject36.bin"/><Relationship Id="rId9" Type="http://schemas.openxmlformats.org/officeDocument/2006/relationships/image" Target="../media/image30.wmf"/><Relationship Id="rId14" Type="http://schemas.openxmlformats.org/officeDocument/2006/relationships/oleObject" Target="../embeddings/oleObject41.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notesSlide" Target="../notesSlides/notesSlide3.xml"/><Relationship Id="rId7" Type="http://schemas.openxmlformats.org/officeDocument/2006/relationships/image" Target="../media/image37.wmf"/><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oleObject" Target="../embeddings/oleObject46.bin"/><Relationship Id="rId5" Type="http://schemas.openxmlformats.org/officeDocument/2006/relationships/image" Target="../media/image28.wmf"/><Relationship Id="rId4" Type="http://schemas.openxmlformats.org/officeDocument/2006/relationships/oleObject" Target="../embeddings/oleObject45.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9.wmf"/><Relationship Id="rId5" Type="http://schemas.openxmlformats.org/officeDocument/2006/relationships/oleObject" Target="../embeddings/oleObject49.bin"/><Relationship Id="rId4" Type="http://schemas.openxmlformats.org/officeDocument/2006/relationships/image" Target="../media/image38.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13.vml"/><Relationship Id="rId5" Type="http://schemas.openxmlformats.org/officeDocument/2006/relationships/image" Target="../media/image40.wmf"/><Relationship Id="rId4" Type="http://schemas.openxmlformats.org/officeDocument/2006/relationships/oleObject" Target="../embeddings/oleObject50.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45.wmf"/><Relationship Id="rId2" Type="http://schemas.openxmlformats.org/officeDocument/2006/relationships/slideLayout" Target="../slideLayouts/slideLayout12.xml"/><Relationship Id="rId1" Type="http://schemas.openxmlformats.org/officeDocument/2006/relationships/vmlDrawing" Target="../drawings/vmlDrawing14.vml"/><Relationship Id="rId6" Type="http://schemas.openxmlformats.org/officeDocument/2006/relationships/image" Target="../media/image42.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54.bin"/><Relationship Id="rId14" Type="http://schemas.openxmlformats.org/officeDocument/2006/relationships/image" Target="../media/image46.wmf"/></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52.wmf"/><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image" Target="../media/image49.w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60.bin"/></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12.xml"/><Relationship Id="rId1" Type="http://schemas.openxmlformats.org/officeDocument/2006/relationships/vmlDrawing" Target="../drawings/vmlDrawing16.vml"/><Relationship Id="rId4" Type="http://schemas.openxmlformats.org/officeDocument/2006/relationships/image" Target="../media/image53.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12.xml"/><Relationship Id="rId1" Type="http://schemas.openxmlformats.org/officeDocument/2006/relationships/vmlDrawing" Target="../drawings/vmlDrawing17.vml"/><Relationship Id="rId4" Type="http://schemas.openxmlformats.org/officeDocument/2006/relationships/image" Target="../media/image54.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12.xml"/><Relationship Id="rId1" Type="http://schemas.openxmlformats.org/officeDocument/2006/relationships/vmlDrawing" Target="../drawings/vmlDrawing18.vml"/><Relationship Id="rId4" Type="http://schemas.openxmlformats.org/officeDocument/2006/relationships/image" Target="../media/image55.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70.bin"/><Relationship Id="rId18" Type="http://schemas.openxmlformats.org/officeDocument/2006/relationships/image" Target="../media/image63.wmf"/><Relationship Id="rId3" Type="http://schemas.openxmlformats.org/officeDocument/2006/relationships/oleObject" Target="../embeddings/oleObject65.bin"/><Relationship Id="rId7" Type="http://schemas.openxmlformats.org/officeDocument/2006/relationships/oleObject" Target="../embeddings/oleObject67.bin"/><Relationship Id="rId12" Type="http://schemas.openxmlformats.org/officeDocument/2006/relationships/image" Target="../media/image60.wmf"/><Relationship Id="rId17" Type="http://schemas.openxmlformats.org/officeDocument/2006/relationships/oleObject" Target="../embeddings/oleObject72.bin"/><Relationship Id="rId2" Type="http://schemas.openxmlformats.org/officeDocument/2006/relationships/slideLayout" Target="../slideLayouts/slideLayout12.xml"/><Relationship Id="rId16" Type="http://schemas.openxmlformats.org/officeDocument/2006/relationships/image" Target="../media/image62.wmf"/><Relationship Id="rId1" Type="http://schemas.openxmlformats.org/officeDocument/2006/relationships/vmlDrawing" Target="../drawings/vmlDrawing19.vml"/><Relationship Id="rId6" Type="http://schemas.openxmlformats.org/officeDocument/2006/relationships/image" Target="../media/image57.wmf"/><Relationship Id="rId11" Type="http://schemas.openxmlformats.org/officeDocument/2006/relationships/oleObject" Target="../embeddings/oleObject69.bin"/><Relationship Id="rId5" Type="http://schemas.openxmlformats.org/officeDocument/2006/relationships/oleObject" Target="../embeddings/oleObject66.bin"/><Relationship Id="rId15" Type="http://schemas.openxmlformats.org/officeDocument/2006/relationships/oleObject" Target="../embeddings/oleObject71.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68.bin"/><Relationship Id="rId14" Type="http://schemas.openxmlformats.org/officeDocument/2006/relationships/image" Target="../media/image61.wmf"/></Relationships>
</file>

<file path=ppt/slides/_rels/slide62.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78.bin"/><Relationship Id="rId18" Type="http://schemas.openxmlformats.org/officeDocument/2006/relationships/image" Target="../media/image71.wmf"/><Relationship Id="rId3" Type="http://schemas.openxmlformats.org/officeDocument/2006/relationships/oleObject" Target="../embeddings/oleObject73.bin"/><Relationship Id="rId21" Type="http://schemas.openxmlformats.org/officeDocument/2006/relationships/oleObject" Target="../embeddings/oleObject82.bin"/><Relationship Id="rId7" Type="http://schemas.openxmlformats.org/officeDocument/2006/relationships/oleObject" Target="../embeddings/oleObject75.bin"/><Relationship Id="rId12" Type="http://schemas.openxmlformats.org/officeDocument/2006/relationships/image" Target="../media/image68.wmf"/><Relationship Id="rId17" Type="http://schemas.openxmlformats.org/officeDocument/2006/relationships/oleObject" Target="../embeddings/oleObject80.bin"/><Relationship Id="rId2" Type="http://schemas.openxmlformats.org/officeDocument/2006/relationships/slideLayout" Target="../slideLayouts/slideLayout12.xml"/><Relationship Id="rId16" Type="http://schemas.openxmlformats.org/officeDocument/2006/relationships/image" Target="../media/image70.wmf"/><Relationship Id="rId20" Type="http://schemas.openxmlformats.org/officeDocument/2006/relationships/image" Target="../media/image72.wmf"/><Relationship Id="rId1" Type="http://schemas.openxmlformats.org/officeDocument/2006/relationships/vmlDrawing" Target="../drawings/vmlDrawing20.vml"/><Relationship Id="rId6" Type="http://schemas.openxmlformats.org/officeDocument/2006/relationships/image" Target="../media/image65.w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67.wmf"/><Relationship Id="rId19" Type="http://schemas.openxmlformats.org/officeDocument/2006/relationships/oleObject" Target="../embeddings/oleObject81.bin"/><Relationship Id="rId4" Type="http://schemas.openxmlformats.org/officeDocument/2006/relationships/image" Target="../media/image64.wmf"/><Relationship Id="rId9" Type="http://schemas.openxmlformats.org/officeDocument/2006/relationships/oleObject" Target="../embeddings/oleObject76.bin"/><Relationship Id="rId14" Type="http://schemas.openxmlformats.org/officeDocument/2006/relationships/image" Target="../media/image69.wmf"/><Relationship Id="rId22" Type="http://schemas.openxmlformats.org/officeDocument/2006/relationships/image" Target="../media/image73.wmf"/></Relationships>
</file>

<file path=ppt/slides/_rels/slide63.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oleObject" Target="../embeddings/oleObject88.bin"/><Relationship Id="rId18" Type="http://schemas.openxmlformats.org/officeDocument/2006/relationships/image" Target="../media/image81.wmf"/><Relationship Id="rId3" Type="http://schemas.openxmlformats.org/officeDocument/2006/relationships/oleObject" Target="../embeddings/oleObject83.bin"/><Relationship Id="rId21" Type="http://schemas.openxmlformats.org/officeDocument/2006/relationships/oleObject" Target="../embeddings/oleObject92.bin"/><Relationship Id="rId7" Type="http://schemas.openxmlformats.org/officeDocument/2006/relationships/oleObject" Target="../embeddings/oleObject85.bin"/><Relationship Id="rId12" Type="http://schemas.openxmlformats.org/officeDocument/2006/relationships/image" Target="../media/image78.wmf"/><Relationship Id="rId17" Type="http://schemas.openxmlformats.org/officeDocument/2006/relationships/oleObject" Target="../embeddings/oleObject90.bin"/><Relationship Id="rId2" Type="http://schemas.openxmlformats.org/officeDocument/2006/relationships/slideLayout" Target="../slideLayouts/slideLayout12.xml"/><Relationship Id="rId16" Type="http://schemas.openxmlformats.org/officeDocument/2006/relationships/image" Target="../media/image80.wmf"/><Relationship Id="rId20" Type="http://schemas.openxmlformats.org/officeDocument/2006/relationships/image" Target="../media/image82.wmf"/><Relationship Id="rId1" Type="http://schemas.openxmlformats.org/officeDocument/2006/relationships/vmlDrawing" Target="../drawings/vmlDrawing21.vml"/><Relationship Id="rId6" Type="http://schemas.openxmlformats.org/officeDocument/2006/relationships/image" Target="../media/image75.wmf"/><Relationship Id="rId11" Type="http://schemas.openxmlformats.org/officeDocument/2006/relationships/oleObject" Target="../embeddings/oleObject87.bin"/><Relationship Id="rId5" Type="http://schemas.openxmlformats.org/officeDocument/2006/relationships/oleObject" Target="../embeddings/oleObject84.bin"/><Relationship Id="rId15" Type="http://schemas.openxmlformats.org/officeDocument/2006/relationships/oleObject" Target="../embeddings/oleObject89.bin"/><Relationship Id="rId10" Type="http://schemas.openxmlformats.org/officeDocument/2006/relationships/image" Target="../media/image77.wmf"/><Relationship Id="rId19" Type="http://schemas.openxmlformats.org/officeDocument/2006/relationships/oleObject" Target="../embeddings/oleObject91.bin"/><Relationship Id="rId4" Type="http://schemas.openxmlformats.org/officeDocument/2006/relationships/image" Target="../media/image74.wmf"/><Relationship Id="rId9" Type="http://schemas.openxmlformats.org/officeDocument/2006/relationships/oleObject" Target="../embeddings/oleObject86.bin"/><Relationship Id="rId14" Type="http://schemas.openxmlformats.org/officeDocument/2006/relationships/image" Target="../media/image79.wmf"/><Relationship Id="rId22" Type="http://schemas.openxmlformats.org/officeDocument/2006/relationships/image" Target="../media/image83.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notesSlide" Target="../notesSlides/notesSlide23.xml"/><Relationship Id="rId7" Type="http://schemas.openxmlformats.org/officeDocument/2006/relationships/image" Target="../media/image85.wmf"/><Relationship Id="rId2" Type="http://schemas.openxmlformats.org/officeDocument/2006/relationships/slideLayout" Target="../slideLayouts/slideLayout12.xml"/><Relationship Id="rId1" Type="http://schemas.openxmlformats.org/officeDocument/2006/relationships/vmlDrawing" Target="../drawings/vmlDrawing22.vml"/><Relationship Id="rId6" Type="http://schemas.openxmlformats.org/officeDocument/2006/relationships/oleObject" Target="../embeddings/oleObject94.bin"/><Relationship Id="rId11" Type="http://schemas.openxmlformats.org/officeDocument/2006/relationships/image" Target="../media/image87.wmf"/><Relationship Id="rId5" Type="http://schemas.openxmlformats.org/officeDocument/2006/relationships/image" Target="../media/image84.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86.wmf"/></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vmlDrawing" Target="../drawings/vmlDrawing23.vml"/><Relationship Id="rId5" Type="http://schemas.openxmlformats.org/officeDocument/2006/relationships/image" Target="../media/image88.wmf"/><Relationship Id="rId4" Type="http://schemas.openxmlformats.org/officeDocument/2006/relationships/oleObject" Target="../embeddings/oleObject97.bin"/></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9388" y="4869160"/>
            <a:ext cx="7345362" cy="574378"/>
          </a:xfrm>
          <a:noFill/>
        </p:spPr>
        <p:txBody>
          <a:bodyPr/>
          <a:lstStyle/>
          <a:p>
            <a:pPr eaLnBrk="1" hangingPunct="1"/>
            <a:r>
              <a:rPr lang="zh-CN" altLang="en-US" sz="2400" dirty="0">
                <a:solidFill>
                  <a:srgbClr val="0000FF"/>
                </a:solidFill>
              </a:rPr>
              <a:t>浙江工商大学计算机与信息工程学院</a:t>
            </a:r>
            <a:endParaRPr lang="zh-CN" altLang="en-US" sz="1800" dirty="0">
              <a:solidFill>
                <a:srgbClr val="0000FF"/>
              </a:solidFill>
            </a:endParaRPr>
          </a:p>
        </p:txBody>
      </p:sp>
      <p:sp>
        <p:nvSpPr>
          <p:cNvPr id="2051" name="Rectangle 3"/>
          <p:cNvSpPr>
            <a:spLocks noChangeArrowheads="1"/>
          </p:cNvSpPr>
          <p:nvPr/>
        </p:nvSpPr>
        <p:spPr bwMode="auto">
          <a:xfrm>
            <a:off x="320635" y="692696"/>
            <a:ext cx="82804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kumimoji="1" lang="zh-CN" altLang="en-US" sz="6600" dirty="0">
                <a:solidFill>
                  <a:srgbClr val="0000FF"/>
                </a:solidFill>
                <a:latin typeface="微软雅黑" pitchFamily="34" charset="-122"/>
                <a:ea typeface="微软雅黑" pitchFamily="34" charset="-122"/>
              </a:rPr>
              <a:t>数据库原理</a:t>
            </a:r>
          </a:p>
          <a:p>
            <a:pPr algn="ctr">
              <a:spcBef>
                <a:spcPct val="20000"/>
              </a:spcBef>
            </a:pPr>
            <a:r>
              <a:rPr kumimoji="1" lang="en-US" altLang="zh-CN" sz="4800" b="1" dirty="0">
                <a:solidFill>
                  <a:srgbClr val="0000FF"/>
                </a:solidFill>
                <a:latin typeface="Times New Roman" pitchFamily="18" charset="0"/>
              </a:rPr>
              <a:t>Database Principles</a:t>
            </a:r>
          </a:p>
        </p:txBody>
      </p:sp>
      <p:pic>
        <p:nvPicPr>
          <p:cNvPr id="2052" name="Picture 4" descr="tuli">
            <a:hlinkClick r:id="rId3"/>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7306530" y="4365104"/>
            <a:ext cx="1427163" cy="15017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3" name="Line 5"/>
          <p:cNvSpPr>
            <a:spLocks noChangeShapeType="1"/>
          </p:cNvSpPr>
          <p:nvPr/>
        </p:nvSpPr>
        <p:spPr bwMode="auto">
          <a:xfrm>
            <a:off x="-5417" y="2700715"/>
            <a:ext cx="8135938"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 name="Line 6"/>
          <p:cNvSpPr>
            <a:spLocks noChangeShapeType="1"/>
          </p:cNvSpPr>
          <p:nvPr/>
        </p:nvSpPr>
        <p:spPr bwMode="auto">
          <a:xfrm>
            <a:off x="0" y="4797425"/>
            <a:ext cx="7451725"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 name="Line 7"/>
          <p:cNvSpPr>
            <a:spLocks noChangeShapeType="1"/>
          </p:cNvSpPr>
          <p:nvPr/>
        </p:nvSpPr>
        <p:spPr bwMode="auto">
          <a:xfrm flipV="1">
            <a:off x="0" y="5445125"/>
            <a:ext cx="7451725" cy="23813"/>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6" name="Line 8"/>
          <p:cNvSpPr>
            <a:spLocks noChangeShapeType="1"/>
          </p:cNvSpPr>
          <p:nvPr/>
        </p:nvSpPr>
        <p:spPr bwMode="auto">
          <a:xfrm>
            <a:off x="3311525" y="3824288"/>
            <a:ext cx="5832475" cy="1587"/>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7" name="Line 9"/>
          <p:cNvSpPr>
            <a:spLocks noChangeShapeType="1"/>
          </p:cNvSpPr>
          <p:nvPr/>
        </p:nvSpPr>
        <p:spPr bwMode="auto">
          <a:xfrm flipV="1">
            <a:off x="1663970" y="1916832"/>
            <a:ext cx="5329237"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8" name="Rectangle 10"/>
          <p:cNvSpPr>
            <a:spLocks noChangeArrowheads="1"/>
          </p:cNvSpPr>
          <p:nvPr/>
        </p:nvSpPr>
        <p:spPr bwMode="auto">
          <a:xfrm>
            <a:off x="896938" y="5805487"/>
            <a:ext cx="723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2000" b="1" dirty="0">
                <a:solidFill>
                  <a:srgbClr val="0000FF"/>
                </a:solidFill>
                <a:latin typeface="Times New Roman" pitchFamily="18" charset="0"/>
              </a:rPr>
              <a:t>College of Computer Science and Information Engineering</a:t>
            </a:r>
          </a:p>
          <a:p>
            <a:pPr algn="r"/>
            <a:r>
              <a:rPr kumimoji="1" lang="en-US" altLang="zh-CN" sz="2000" b="1" dirty="0">
                <a:solidFill>
                  <a:srgbClr val="0000FF"/>
                </a:solidFill>
                <a:latin typeface="Times New Roman" pitchFamily="18" charset="0"/>
              </a:rPr>
              <a:t>Zhejiang </a:t>
            </a:r>
            <a:r>
              <a:rPr kumimoji="1" lang="en-US" altLang="zh-CN" sz="2000" b="1" dirty="0" err="1">
                <a:solidFill>
                  <a:srgbClr val="0000FF"/>
                </a:solidFill>
                <a:latin typeface="Times New Roman" pitchFamily="18" charset="0"/>
              </a:rPr>
              <a:t>Gongshang</a:t>
            </a:r>
            <a:r>
              <a:rPr kumimoji="1" lang="en-US" altLang="zh-CN" sz="2000" b="1" dirty="0">
                <a:solidFill>
                  <a:srgbClr val="0000FF"/>
                </a:solidFill>
                <a:latin typeface="Times New Roman" pitchFamily="18" charset="0"/>
              </a:rPr>
              <a:t> University</a:t>
            </a:r>
          </a:p>
        </p:txBody>
      </p:sp>
      <p:sp>
        <p:nvSpPr>
          <p:cNvPr id="2059" name="Rectangle 11"/>
          <p:cNvSpPr>
            <a:spLocks noChangeArrowheads="1"/>
          </p:cNvSpPr>
          <p:nvPr/>
        </p:nvSpPr>
        <p:spPr bwMode="auto">
          <a:xfrm>
            <a:off x="2320131" y="3103845"/>
            <a:ext cx="43926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3600" b="1" dirty="0">
                <a:solidFill>
                  <a:srgbClr val="3333FF"/>
                </a:solidFill>
                <a:latin typeface="Arial Black" pitchFamily="34" charset="0"/>
                <a:ea typeface="华文新魏" pitchFamily="2" charset="-122"/>
              </a:rPr>
              <a:t>凌 云</a:t>
            </a:r>
          </a:p>
        </p:txBody>
      </p:sp>
      <p:sp>
        <p:nvSpPr>
          <p:cNvPr id="2" name="灯片编号占位符 1">
            <a:extLst>
              <a:ext uri="{FF2B5EF4-FFF2-40B4-BE49-F238E27FC236}">
                <a16:creationId xmlns:a16="http://schemas.microsoft.com/office/drawing/2014/main" id="{9515E00D-4F23-D64D-B72A-AA432B807859}"/>
              </a:ext>
            </a:extLst>
          </p:cNvPr>
          <p:cNvSpPr>
            <a:spLocks noGrp="1"/>
          </p:cNvSpPr>
          <p:nvPr>
            <p:ph type="sldNum" sz="quarter" idx="12"/>
          </p:nvPr>
        </p:nvSpPr>
        <p:spPr/>
        <p:txBody>
          <a:bodyPr/>
          <a:lstStyle/>
          <a:p>
            <a:fld id="{FCE4605D-91F4-41FC-B3D3-9CE68C2C45F2}" type="slidenum">
              <a:rPr lang="zh-CN" altLang="en-US" smtClean="0"/>
              <a:t>1</a:t>
            </a:fld>
            <a:endParaRPr lang="zh-CN" altLang="en-US"/>
          </a:p>
        </p:txBody>
      </p:sp>
    </p:spTree>
    <p:extLst>
      <p:ext uri="{BB962C8B-B14F-4D97-AF65-F5344CB8AC3E}">
        <p14:creationId xmlns:p14="http://schemas.microsoft.com/office/powerpoint/2010/main" val="58051456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792088"/>
          </a:xfrm>
        </p:spPr>
        <p:txBody>
          <a:bodyPr>
            <a:normAutofit/>
          </a:bodyPr>
          <a:lstStyle/>
          <a:p>
            <a:r>
              <a:rPr lang="zh-CN" altLang="en-US" sz="3600" i="0" u="none" strike="noStrike" kern="2200" baseline="0" dirty="0">
                <a:latin typeface="微软雅黑" pitchFamily="34" charset="-122"/>
                <a:ea typeface="微软雅黑" pitchFamily="34" charset="-122"/>
              </a:rPr>
              <a:t>第 </a:t>
            </a:r>
            <a:r>
              <a:rPr lang="en-US" altLang="zh-CN" sz="3600" i="0" u="none" strike="noStrike" kern="2200" baseline="0" dirty="0">
                <a:latin typeface="微软雅黑" pitchFamily="34" charset="-122"/>
                <a:ea typeface="微软雅黑" pitchFamily="34" charset="-122"/>
              </a:rPr>
              <a:t>2 </a:t>
            </a:r>
            <a:r>
              <a:rPr lang="zh-CN" altLang="en-US" sz="3600" i="0" u="none" strike="noStrike" kern="2200" baseline="0" dirty="0">
                <a:latin typeface="微软雅黑" pitchFamily="34" charset="-122"/>
                <a:ea typeface="微软雅黑" pitchFamily="34" charset="-122"/>
              </a:rPr>
              <a:t>章  </a:t>
            </a:r>
            <a:r>
              <a:rPr lang="zh-CN" altLang="zh-CN" dirty="0"/>
              <a:t>关系运算</a:t>
            </a:r>
            <a:endParaRPr lang="zh-CN" altLang="en-US" sz="3600" i="0" u="none" strike="noStrike" kern="2200" baseline="0" dirty="0">
              <a:latin typeface="微软雅黑" pitchFamily="34" charset="-122"/>
              <a:ea typeface="微软雅黑" pitchFamily="34" charset="-122"/>
            </a:endParaRPr>
          </a:p>
        </p:txBody>
      </p:sp>
      <p:sp>
        <p:nvSpPr>
          <p:cNvPr id="3" name="文本占位符 2"/>
          <p:cNvSpPr>
            <a:spLocks noGrp="1"/>
          </p:cNvSpPr>
          <p:nvPr>
            <p:ph type="body" idx="1"/>
          </p:nvPr>
        </p:nvSpPr>
        <p:spPr>
          <a:xfrm>
            <a:off x="186458" y="1124744"/>
            <a:ext cx="8928992" cy="5112568"/>
          </a:xfrm>
        </p:spPr>
        <p:txBody>
          <a:bodyPr>
            <a:normAutofit/>
          </a:bodyPr>
          <a:lstStyle/>
          <a:p>
            <a:r>
              <a:rPr lang="zh-CN" altLang="zh-CN" dirty="0"/>
              <a:t>关系数据语言</a:t>
            </a:r>
            <a:endParaRPr lang="zh-CN" altLang="zh-CN" kern="100" dirty="0"/>
          </a:p>
          <a:p>
            <a:pPr lvl="0"/>
            <a:r>
              <a:rPr lang="zh-CN" altLang="zh-CN" dirty="0">
                <a:solidFill>
                  <a:srgbClr val="0000FF"/>
                </a:solidFill>
              </a:rPr>
              <a:t>基本集合运算</a:t>
            </a:r>
            <a:endParaRPr lang="en-US" altLang="zh-CN" sz="2400" kern="100" dirty="0">
              <a:solidFill>
                <a:srgbClr val="0000FF"/>
              </a:solidFill>
            </a:endParaRPr>
          </a:p>
          <a:p>
            <a:pPr marL="354013" lvl="0" indent="0">
              <a:buNone/>
            </a:pPr>
            <a:r>
              <a:rPr lang="zh-CN" altLang="zh-CN" dirty="0">
                <a:solidFill>
                  <a:srgbClr val="0000FF"/>
                </a:solidFill>
              </a:rPr>
              <a:t>笛卡尔积</a:t>
            </a:r>
            <a:r>
              <a:rPr lang="en-US" altLang="zh-CN" kern="100" dirty="0">
                <a:solidFill>
                  <a:srgbClr val="0000FF"/>
                </a:solidFill>
              </a:rPr>
              <a:t> / </a:t>
            </a:r>
            <a:r>
              <a:rPr lang="zh-CN" altLang="en-US" kern="100" dirty="0">
                <a:solidFill>
                  <a:srgbClr val="0000FF"/>
                </a:solidFill>
              </a:rPr>
              <a:t>并集</a:t>
            </a:r>
            <a:r>
              <a:rPr lang="en-US" altLang="zh-CN" kern="100" dirty="0">
                <a:solidFill>
                  <a:srgbClr val="0000FF"/>
                </a:solidFill>
              </a:rPr>
              <a:t> / </a:t>
            </a:r>
            <a:r>
              <a:rPr lang="zh-CN" altLang="en-US" kern="100" dirty="0">
                <a:solidFill>
                  <a:srgbClr val="0000FF"/>
                </a:solidFill>
              </a:rPr>
              <a:t>差集</a:t>
            </a:r>
            <a:r>
              <a:rPr lang="en-US" altLang="zh-CN" kern="100" dirty="0">
                <a:solidFill>
                  <a:srgbClr val="0000FF"/>
                </a:solidFill>
              </a:rPr>
              <a:t> / </a:t>
            </a:r>
            <a:r>
              <a:rPr lang="zh-CN" altLang="en-US" kern="100" dirty="0">
                <a:solidFill>
                  <a:srgbClr val="0000FF"/>
                </a:solidFill>
              </a:rPr>
              <a:t>交集</a:t>
            </a:r>
            <a:endParaRPr lang="en-US" altLang="zh-CN" sz="2400" i="0" u="none" strike="noStrike" kern="100" baseline="0" dirty="0">
              <a:latin typeface="微软雅黑" pitchFamily="34" charset="-122"/>
              <a:ea typeface="微软雅黑" pitchFamily="34" charset="-122"/>
            </a:endParaRPr>
          </a:p>
          <a:p>
            <a:r>
              <a:rPr lang="zh-CN" altLang="zh-CN" dirty="0">
                <a:solidFill>
                  <a:srgbClr val="0000FF"/>
                </a:solidFill>
              </a:rPr>
              <a:t>专用关系运算</a:t>
            </a:r>
            <a:endParaRPr lang="zh-CN" altLang="zh-CN" sz="2400" kern="100" dirty="0">
              <a:solidFill>
                <a:srgbClr val="0000FF"/>
              </a:solidFill>
            </a:endParaRPr>
          </a:p>
          <a:p>
            <a:pPr marL="0" indent="0">
              <a:lnSpc>
                <a:spcPts val="3600"/>
              </a:lnSpc>
              <a:spcBef>
                <a:spcPts val="0"/>
              </a:spcBef>
              <a:buNone/>
            </a:pPr>
            <a:r>
              <a:rPr lang="en-US" altLang="zh-CN" sz="2400" kern="100" dirty="0">
                <a:latin typeface="微软雅黑" pitchFamily="34" charset="-122"/>
                <a:ea typeface="微软雅黑" pitchFamily="34" charset="-122"/>
              </a:rPr>
              <a:t>    </a:t>
            </a:r>
            <a:r>
              <a:rPr lang="zh-CN" altLang="en-US" sz="2200" kern="100" dirty="0">
                <a:solidFill>
                  <a:srgbClr val="0000FF"/>
                </a:solidFill>
                <a:latin typeface="微软雅黑" pitchFamily="34" charset="-122"/>
                <a:ea typeface="微软雅黑" pitchFamily="34" charset="-122"/>
              </a:rPr>
              <a:t>选择</a:t>
            </a:r>
            <a:r>
              <a:rPr lang="en-US" altLang="zh-CN" sz="2200" kern="100" dirty="0">
                <a:solidFill>
                  <a:srgbClr val="0000FF"/>
                </a:solidFill>
                <a:latin typeface="微软雅黑" pitchFamily="34" charset="-122"/>
                <a:ea typeface="微软雅黑" pitchFamily="34" charset="-122"/>
              </a:rPr>
              <a:t> / </a:t>
            </a:r>
            <a:r>
              <a:rPr lang="zh-CN" altLang="en-US" sz="2200" kern="100" dirty="0">
                <a:solidFill>
                  <a:srgbClr val="0000FF"/>
                </a:solidFill>
                <a:latin typeface="微软雅黑" pitchFamily="34" charset="-122"/>
                <a:ea typeface="微软雅黑" pitchFamily="34" charset="-122"/>
              </a:rPr>
              <a:t>投影</a:t>
            </a:r>
            <a:r>
              <a:rPr lang="en-US" altLang="zh-CN" sz="2200" kern="100" dirty="0">
                <a:solidFill>
                  <a:srgbClr val="0000FF"/>
                </a:solidFill>
                <a:latin typeface="微软雅黑" pitchFamily="34" charset="-122"/>
                <a:ea typeface="微软雅黑" pitchFamily="34" charset="-122"/>
              </a:rPr>
              <a:t> / </a:t>
            </a:r>
            <a:r>
              <a:rPr lang="zh-CN" altLang="en-US" sz="2200" kern="100" dirty="0">
                <a:solidFill>
                  <a:srgbClr val="0000FF"/>
                </a:solidFill>
                <a:latin typeface="微软雅黑" pitchFamily="34" charset="-122"/>
                <a:ea typeface="微软雅黑" pitchFamily="34" charset="-122"/>
              </a:rPr>
              <a:t>连接</a:t>
            </a:r>
            <a:r>
              <a:rPr lang="en-US" altLang="zh-CN" sz="2200" kern="100" dirty="0">
                <a:solidFill>
                  <a:srgbClr val="0000FF"/>
                </a:solidFill>
                <a:latin typeface="微软雅黑" pitchFamily="34" charset="-122"/>
                <a:ea typeface="微软雅黑" pitchFamily="34" charset="-122"/>
              </a:rPr>
              <a:t> / </a:t>
            </a:r>
            <a:r>
              <a:rPr lang="zh-CN" altLang="en-US" sz="2200" kern="100" dirty="0">
                <a:solidFill>
                  <a:srgbClr val="0000FF"/>
                </a:solidFill>
                <a:latin typeface="微软雅黑" pitchFamily="34" charset="-122"/>
                <a:ea typeface="微软雅黑" pitchFamily="34" charset="-122"/>
              </a:rPr>
              <a:t>除运算</a:t>
            </a:r>
            <a:endParaRPr lang="zh-CN" altLang="zh-CN" sz="2200" kern="100" dirty="0">
              <a:solidFill>
                <a:srgbClr val="0000FF"/>
              </a:solidFill>
              <a:latin typeface="微软雅黑" pitchFamily="34" charset="-122"/>
              <a:ea typeface="微软雅黑" pitchFamily="34" charset="-122"/>
            </a:endParaRPr>
          </a:p>
          <a:p>
            <a:pPr>
              <a:lnSpc>
                <a:spcPts val="3600"/>
              </a:lnSpc>
              <a:spcBef>
                <a:spcPts val="0"/>
              </a:spcBef>
              <a:buFont typeface="Wingdings" pitchFamily="2" charset="2"/>
              <a:buChar char="n"/>
            </a:pPr>
            <a:r>
              <a:rPr lang="zh-CN" altLang="en-US" kern="100" dirty="0"/>
              <a:t>更新运算</a:t>
            </a:r>
            <a:endParaRPr lang="en-US" altLang="zh-CN" sz="2400" kern="100" dirty="0"/>
          </a:p>
          <a:p>
            <a:pPr>
              <a:lnSpc>
                <a:spcPts val="3600"/>
              </a:lnSpc>
              <a:spcBef>
                <a:spcPts val="0"/>
              </a:spcBef>
              <a:buFont typeface="Wingdings" pitchFamily="2" charset="2"/>
              <a:buChar char="n"/>
            </a:pPr>
            <a:r>
              <a:rPr lang="zh-CN" altLang="en-US" sz="2400" kern="100" dirty="0">
                <a:solidFill>
                  <a:srgbClr val="0000FF"/>
                </a:solidFill>
                <a:latin typeface="微软雅黑" pitchFamily="34" charset="-122"/>
                <a:ea typeface="微软雅黑" pitchFamily="34" charset="-122"/>
              </a:rPr>
              <a:t>综合实例</a:t>
            </a:r>
            <a:endParaRPr lang="zh-CN" altLang="zh-CN" sz="2400" kern="100" dirty="0">
              <a:solidFill>
                <a:srgbClr val="0000FF"/>
              </a:solidFill>
              <a:latin typeface="微软雅黑" pitchFamily="34" charset="-122"/>
              <a:ea typeface="微软雅黑" pitchFamily="34" charset="-122"/>
            </a:endParaRPr>
          </a:p>
          <a:p>
            <a:r>
              <a:rPr lang="zh-CN" altLang="zh-CN" dirty="0"/>
              <a:t>查询优化</a:t>
            </a:r>
            <a:endParaRPr lang="en-US" altLang="zh-CN" dirty="0"/>
          </a:p>
          <a:p>
            <a:pPr marL="354013" indent="0">
              <a:buNone/>
            </a:pPr>
            <a:r>
              <a:rPr lang="zh-CN" altLang="zh-CN" sz="2000" dirty="0"/>
              <a:t>示例分析</a:t>
            </a:r>
            <a:r>
              <a:rPr lang="en-US" altLang="zh-CN" sz="2000" dirty="0"/>
              <a:t> </a:t>
            </a:r>
            <a:r>
              <a:rPr lang="en-US" altLang="zh-CN" sz="2000" kern="100" dirty="0"/>
              <a:t>/ </a:t>
            </a:r>
            <a:r>
              <a:rPr lang="zh-CN" altLang="zh-CN" sz="2000" dirty="0"/>
              <a:t>查询处理与查询优化</a:t>
            </a:r>
            <a:r>
              <a:rPr lang="en-US" altLang="zh-CN" sz="2000" dirty="0"/>
              <a:t> / </a:t>
            </a:r>
            <a:r>
              <a:rPr lang="zh-CN" altLang="zh-CN" sz="2000" dirty="0"/>
              <a:t>等价变换</a:t>
            </a:r>
            <a:r>
              <a:rPr lang="en-US" altLang="zh-CN" sz="2000" dirty="0"/>
              <a:t> / </a:t>
            </a:r>
            <a:r>
              <a:rPr lang="zh-CN" altLang="zh-CN" sz="2000" dirty="0"/>
              <a:t>优化规则</a:t>
            </a:r>
            <a:r>
              <a:rPr lang="en-US" altLang="zh-CN" sz="2000" dirty="0"/>
              <a:t> / </a:t>
            </a:r>
            <a:r>
              <a:rPr lang="zh-CN" altLang="zh-CN" sz="2000" dirty="0"/>
              <a:t>优化方法</a:t>
            </a:r>
            <a:endParaRPr lang="en-US" altLang="zh-CN" sz="2000" kern="100" dirty="0"/>
          </a:p>
          <a:p>
            <a:r>
              <a:rPr lang="zh-CN" altLang="en-US" sz="2400" kern="100" dirty="0">
                <a:latin typeface="微软雅黑" pitchFamily="34" charset="-122"/>
                <a:ea typeface="微软雅黑" pitchFamily="34" charset="-122"/>
              </a:rPr>
              <a:t>小结</a:t>
            </a:r>
            <a:endParaRPr lang="zh-CN" altLang="zh-CN" sz="2200" kern="100" dirty="0">
              <a:latin typeface="微软雅黑" pitchFamily="34" charset="-122"/>
              <a:ea typeface="微软雅黑" pitchFamily="34" charset="-122"/>
            </a:endParaRPr>
          </a:p>
          <a:p>
            <a:pPr marR="0" lvl="0" rtl="0"/>
            <a:endParaRPr lang="zh-CN" altLang="en-US" b="1" i="0" u="none" strike="noStrike" kern="100" baseline="0" dirty="0">
              <a:latin typeface="Times New Roman"/>
              <a:ea typeface="黑体"/>
            </a:endParaRPr>
          </a:p>
        </p:txBody>
      </p:sp>
      <p:sp>
        <p:nvSpPr>
          <p:cNvPr id="4" name="灯片编号占位符 3">
            <a:extLst>
              <a:ext uri="{FF2B5EF4-FFF2-40B4-BE49-F238E27FC236}">
                <a16:creationId xmlns:a16="http://schemas.microsoft.com/office/drawing/2014/main" id="{0BC16103-85FB-3947-94F4-2017E4079FEE}"/>
              </a:ext>
            </a:extLst>
          </p:cNvPr>
          <p:cNvSpPr>
            <a:spLocks noGrp="1"/>
          </p:cNvSpPr>
          <p:nvPr>
            <p:ph type="sldNum" sz="quarter" idx="12"/>
          </p:nvPr>
        </p:nvSpPr>
        <p:spPr/>
        <p:txBody>
          <a:bodyPr/>
          <a:lstStyle/>
          <a:p>
            <a:fld id="{C46E5E69-9A6D-4AF8-BC2D-C556A9893D8F}" type="slidenum">
              <a:rPr lang="zh-CN" altLang="en-US" smtClean="0"/>
              <a:pPr/>
              <a:t>2</a:t>
            </a:fld>
            <a:endParaRPr lang="zh-CN" altLang="en-US" dirty="0"/>
          </a:p>
        </p:txBody>
      </p:sp>
    </p:spTree>
    <p:extLst>
      <p:ext uri="{BB962C8B-B14F-4D97-AF65-F5344CB8AC3E}">
        <p14:creationId xmlns:p14="http://schemas.microsoft.com/office/powerpoint/2010/main" val="235104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147248" cy="706090"/>
          </a:xfrm>
        </p:spPr>
        <p:txBody>
          <a:bodyPr/>
          <a:lstStyle/>
          <a:p>
            <a:r>
              <a:rPr lang="en-US" altLang="zh-CN" kern="2200" dirty="0"/>
              <a:t>1.1  </a:t>
            </a:r>
            <a:r>
              <a:rPr lang="zh-CN" altLang="zh-CN" dirty="0"/>
              <a:t>关系数据语言</a:t>
            </a:r>
            <a:endParaRPr lang="zh-CN" altLang="en-US" dirty="0"/>
          </a:p>
        </p:txBody>
      </p:sp>
      <p:sp>
        <p:nvSpPr>
          <p:cNvPr id="3" name="文本占位符 2"/>
          <p:cNvSpPr>
            <a:spLocks noGrp="1"/>
          </p:cNvSpPr>
          <p:nvPr>
            <p:ph type="body" idx="1"/>
          </p:nvPr>
        </p:nvSpPr>
        <p:spPr>
          <a:xfrm>
            <a:off x="107504" y="1052736"/>
            <a:ext cx="8712968" cy="1152128"/>
          </a:xfrm>
        </p:spPr>
        <p:txBody>
          <a:bodyPr>
            <a:normAutofit/>
          </a:bodyPr>
          <a:lstStyle/>
          <a:p>
            <a:pPr marL="342900" lvl="1" indent="-342900">
              <a:buFont typeface="Wingdings" pitchFamily="2" charset="2"/>
              <a:buChar char="n"/>
            </a:pPr>
            <a:r>
              <a:rPr lang="zh-CN" altLang="zh-CN" dirty="0"/>
              <a:t>关系数据语言</a:t>
            </a:r>
            <a:r>
              <a:rPr lang="zh-CN" altLang="en-US" dirty="0"/>
              <a:t>：</a:t>
            </a:r>
            <a:r>
              <a:rPr lang="zh-CN" altLang="zh-CN" dirty="0"/>
              <a:t>一种抽象的查询语言</a:t>
            </a:r>
            <a:r>
              <a:rPr lang="zh-CN" altLang="en-US" dirty="0"/>
              <a:t>；</a:t>
            </a:r>
            <a:r>
              <a:rPr lang="zh-CN" altLang="en-US" dirty="0">
                <a:solidFill>
                  <a:srgbClr val="0000FF"/>
                </a:solidFill>
              </a:rPr>
              <a:t>关系代数</a:t>
            </a:r>
            <a:r>
              <a:rPr lang="en-US" altLang="zh-CN" dirty="0">
                <a:solidFill>
                  <a:srgbClr val="0000FF"/>
                </a:solidFill>
              </a:rPr>
              <a:t>/</a:t>
            </a:r>
            <a:r>
              <a:rPr lang="zh-CN" altLang="en-US" dirty="0">
                <a:solidFill>
                  <a:srgbClr val="000000"/>
                </a:solidFill>
              </a:rPr>
              <a:t>元组</a:t>
            </a:r>
            <a:r>
              <a:rPr lang="en-US" altLang="zh-CN" dirty="0">
                <a:solidFill>
                  <a:srgbClr val="000000"/>
                </a:solidFill>
              </a:rPr>
              <a:t>(</a:t>
            </a:r>
            <a:r>
              <a:rPr lang="zh-CN" altLang="en-US" dirty="0">
                <a:solidFill>
                  <a:srgbClr val="000000"/>
                </a:solidFill>
              </a:rPr>
              <a:t>域</a:t>
            </a:r>
            <a:r>
              <a:rPr lang="en-US" altLang="zh-CN" dirty="0">
                <a:solidFill>
                  <a:srgbClr val="000000"/>
                </a:solidFill>
              </a:rPr>
              <a:t>)</a:t>
            </a:r>
            <a:r>
              <a:rPr lang="zh-CN" altLang="en-US" dirty="0">
                <a:solidFill>
                  <a:srgbClr val="0000FF"/>
                </a:solidFill>
              </a:rPr>
              <a:t>关系演算</a:t>
            </a:r>
            <a:endParaRPr lang="en-US" altLang="zh-CN" dirty="0">
              <a:solidFill>
                <a:srgbClr val="0000FF"/>
              </a:solidFill>
            </a:endParaRPr>
          </a:p>
          <a:p>
            <a:r>
              <a:rPr lang="zh-CN" altLang="zh-CN" sz="2000" dirty="0"/>
              <a:t>特点</a:t>
            </a:r>
            <a:r>
              <a:rPr lang="zh-CN" altLang="en-US" sz="2000" dirty="0"/>
              <a:t>：</a:t>
            </a:r>
            <a:r>
              <a:rPr lang="zh-CN" altLang="zh-CN" sz="2000" dirty="0"/>
              <a:t>操作对象和操作结果都是集合</a:t>
            </a:r>
            <a:endParaRPr lang="en-US" altLang="zh-CN" sz="2000" dirty="0"/>
          </a:p>
          <a:p>
            <a:endParaRPr lang="en-US" altLang="zh-CN" sz="2000" kern="100" dirty="0"/>
          </a:p>
        </p:txBody>
      </p:sp>
      <mc:AlternateContent xmlns:mc="http://schemas.openxmlformats.org/markup-compatibility/2006" xmlns:a14="http://schemas.microsoft.com/office/drawing/2010/main">
        <mc:Choice Requires="a14">
          <p:sp>
            <p:nvSpPr>
              <p:cNvPr id="7" name="矩形 6"/>
              <p:cNvSpPr/>
              <p:nvPr/>
            </p:nvSpPr>
            <p:spPr>
              <a:xfrm>
                <a:off x="179512" y="2132856"/>
                <a:ext cx="8640960" cy="14797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zh-CN" sz="2000" smtClean="0">
                          <a:latin typeface="Cambria Math"/>
                        </a:rPr>
                        <m:t>关系数据语言</m:t>
                      </m:r>
                      <m:d>
                        <m:dPr>
                          <m:begChr m:val="{"/>
                          <m:endChr m:val=""/>
                          <m:ctrlPr>
                            <a:rPr lang="zh-CN" altLang="zh-CN" sz="2000" i="1">
                              <a:latin typeface="Cambria Math" panose="02040503050406030204" pitchFamily="18" charset="0"/>
                            </a:rPr>
                          </m:ctrlPr>
                        </m:dPr>
                        <m:e>
                          <m:eqArr>
                            <m:eqArrPr>
                              <m:ctrlPr>
                                <a:rPr lang="zh-CN" altLang="zh-CN" sz="2000" i="1">
                                  <a:latin typeface="Cambria Math" panose="02040503050406030204" pitchFamily="18" charset="0"/>
                                </a:rPr>
                              </m:ctrlPr>
                            </m:eqArrPr>
                            <m:e>
                              <m:r>
                                <a:rPr lang="zh-CN" altLang="zh-CN" sz="2000" smtClean="0">
                                  <a:solidFill>
                                    <a:srgbClr val="0000FF"/>
                                  </a:solidFill>
                                  <a:latin typeface="Cambria Math"/>
                                </a:rPr>
                                <m:t>关系代数语言</m:t>
                              </m:r>
                              <m:d>
                                <m:dPr>
                                  <m:begChr m:val="（"/>
                                  <m:endChr m:val="）"/>
                                  <m:ctrlPr>
                                    <a:rPr lang="zh-CN" altLang="zh-CN" sz="2000" i="1">
                                      <a:latin typeface="Cambria Math" panose="02040503050406030204" pitchFamily="18" charset="0"/>
                                    </a:rPr>
                                  </m:ctrlPr>
                                </m:dPr>
                                <m:e>
                                  <m:r>
                                    <a:rPr lang="zh-CN" altLang="zh-CN" sz="2000">
                                      <a:latin typeface="Cambria Math"/>
                                    </a:rPr>
                                    <m:t>例如：</m:t>
                                  </m:r>
                                  <m:r>
                                    <m:rPr>
                                      <m:sty m:val="p"/>
                                    </m:rPr>
                                    <a:rPr lang="en-US" altLang="zh-CN" sz="2000">
                                      <a:latin typeface="Cambria Math"/>
                                    </a:rPr>
                                    <m:t>ISBL</m:t>
                                  </m:r>
                                </m:e>
                              </m:d>
                              <m:r>
                                <a:rPr lang="en-US" altLang="zh-CN" sz="2000">
                                  <a:latin typeface="Cambria Math"/>
                                </a:rPr>
                                <m:t>                                                                      </m:t>
                              </m:r>
                            </m:e>
                            <m:e>
                              <m:r>
                                <a:rPr lang="zh-CN" altLang="zh-CN" sz="2000">
                                  <a:latin typeface="Cambria Math"/>
                                </a:rPr>
                                <m:t>关系演算语言</m:t>
                              </m:r>
                              <m:d>
                                <m:dPr>
                                  <m:begChr m:val="{"/>
                                  <m:endChr m:val=""/>
                                  <m:ctrlPr>
                                    <a:rPr lang="zh-CN" altLang="zh-CN" sz="2000" i="1">
                                      <a:latin typeface="Cambria Math" panose="02040503050406030204" pitchFamily="18" charset="0"/>
                                    </a:rPr>
                                  </m:ctrlPr>
                                </m:dPr>
                                <m:e>
                                  <m:eqArr>
                                    <m:eqArrPr>
                                      <m:ctrlPr>
                                        <a:rPr lang="zh-CN" altLang="zh-CN" sz="2000" i="1">
                                          <a:latin typeface="Cambria Math" panose="02040503050406030204" pitchFamily="18" charset="0"/>
                                        </a:rPr>
                                      </m:ctrlPr>
                                    </m:eqArrPr>
                                    <m:e>
                                      <m:r>
                                        <a:rPr lang="zh-CN" altLang="zh-CN" sz="2000" smtClean="0">
                                          <a:solidFill>
                                            <a:srgbClr val="0000FF"/>
                                          </a:solidFill>
                                          <a:latin typeface="Cambria Math"/>
                                        </a:rPr>
                                        <m:t>元组关系演算语言</m:t>
                                      </m:r>
                                      <m:d>
                                        <m:dPr>
                                          <m:begChr m:val="（"/>
                                          <m:endChr m:val="）"/>
                                          <m:ctrlPr>
                                            <a:rPr lang="zh-CN" altLang="zh-CN" sz="2000" i="1">
                                              <a:latin typeface="Cambria Math" panose="02040503050406030204" pitchFamily="18" charset="0"/>
                                            </a:rPr>
                                          </m:ctrlPr>
                                        </m:dPr>
                                        <m:e>
                                          <m:r>
                                            <a:rPr lang="zh-CN" altLang="zh-CN" sz="2000">
                                              <a:latin typeface="Cambria Math"/>
                                            </a:rPr>
                                            <m:t>例如：</m:t>
                                          </m:r>
                                          <m:r>
                                            <m:rPr>
                                              <m:sty m:val="p"/>
                                            </m:rPr>
                                            <a:rPr lang="en-US" altLang="zh-CN" sz="2000">
                                              <a:latin typeface="Cambria Math"/>
                                            </a:rPr>
                                            <m:t>ALPHA</m:t>
                                          </m:r>
                                          <m:r>
                                            <a:rPr lang="zh-CN" altLang="zh-CN" sz="2000">
                                              <a:latin typeface="Cambria Math"/>
                                            </a:rPr>
                                            <m:t>，</m:t>
                                          </m:r>
                                          <m:r>
                                            <m:rPr>
                                              <m:sty m:val="p"/>
                                            </m:rPr>
                                            <a:rPr lang="en-US" altLang="zh-CN" sz="2000">
                                              <a:latin typeface="Cambria Math"/>
                                            </a:rPr>
                                            <m:t>QUEL</m:t>
                                          </m:r>
                                        </m:e>
                                      </m:d>
                                    </m:e>
                                    <m:e>
                                      <m:r>
                                        <a:rPr lang="zh-CN" altLang="zh-CN" sz="2000">
                                          <a:latin typeface="Cambria Math"/>
                                        </a:rPr>
                                        <m:t>域关系演算语言</m:t>
                                      </m:r>
                                      <m:d>
                                        <m:dPr>
                                          <m:begChr m:val="（"/>
                                          <m:endChr m:val="）"/>
                                          <m:ctrlPr>
                                            <a:rPr lang="zh-CN" altLang="zh-CN" sz="2000" i="1">
                                              <a:latin typeface="Cambria Math" panose="02040503050406030204" pitchFamily="18" charset="0"/>
                                            </a:rPr>
                                          </m:ctrlPr>
                                        </m:dPr>
                                        <m:e>
                                          <m:r>
                                            <a:rPr lang="zh-CN" altLang="zh-CN" sz="2000">
                                              <a:latin typeface="Cambria Math"/>
                                            </a:rPr>
                                            <m:t>例如：</m:t>
                                          </m:r>
                                          <m:r>
                                            <m:rPr>
                                              <m:sty m:val="p"/>
                                            </m:rPr>
                                            <a:rPr lang="en-US" altLang="zh-CN" sz="2000">
                                              <a:latin typeface="Cambria Math"/>
                                            </a:rPr>
                                            <m:t>ISBL</m:t>
                                          </m:r>
                                        </m:e>
                                      </m:d>
                                      <m:r>
                                        <a:rPr lang="en-US" altLang="zh-CN" sz="2000" i="1">
                                          <a:latin typeface="Cambria Math"/>
                                        </a:rPr>
                                        <m:t>                             </m:t>
                                      </m:r>
                                    </m:e>
                                  </m:eqArr>
                                </m:e>
                              </m:d>
                              <m:r>
                                <a:rPr lang="en-US" altLang="zh-CN" sz="2000" i="1">
                                  <a:latin typeface="Cambria Math"/>
                                </a:rPr>
                                <m:t>       </m:t>
                              </m:r>
                            </m:e>
                            <m:e>
                              <m:r>
                                <a:rPr lang="zh-CN" altLang="zh-CN" sz="2000">
                                  <a:latin typeface="Cambria Math"/>
                                </a:rPr>
                                <m:t>关系代数</m:t>
                              </m:r>
                              <m:r>
                                <a:rPr lang="en-US" altLang="zh-CN" sz="2000">
                                  <a:latin typeface="Cambria Math"/>
                                </a:rPr>
                                <m:t>/</m:t>
                              </m:r>
                              <m:r>
                                <a:rPr lang="zh-CN" altLang="zh-CN" sz="2000">
                                  <a:latin typeface="Cambria Math"/>
                                </a:rPr>
                                <m:t>演算双重语言：结构查询语言（例如：</m:t>
                              </m:r>
                              <m:r>
                                <m:rPr>
                                  <m:sty m:val="p"/>
                                </m:rPr>
                                <a:rPr lang="en-US" altLang="zh-CN" sz="2000">
                                  <a:latin typeface="Cambria Math"/>
                                </a:rPr>
                                <m:t>SQL</m:t>
                              </m:r>
                              <m:r>
                                <a:rPr lang="en-US" altLang="zh-CN" sz="2000">
                                  <a:latin typeface="Cambria Math"/>
                                </a:rPr>
                                <m:t> </m:t>
                              </m:r>
                              <m:r>
                                <m:rPr>
                                  <m:sty m:val="p"/>
                                </m:rPr>
                                <a:rPr lang="en-US" altLang="zh-CN" sz="2000">
                                  <a:latin typeface="Cambria Math"/>
                                </a:rPr>
                                <m:t>Server</m:t>
                              </m:r>
                              <m:r>
                                <a:rPr lang="zh-CN" altLang="zh-CN" sz="2000">
                                  <a:latin typeface="Cambria Math"/>
                                </a:rPr>
                                <m:t>）</m:t>
                              </m:r>
                            </m:e>
                          </m:eqArr>
                        </m:e>
                      </m:d>
                    </m:oMath>
                  </m:oMathPara>
                </a14:m>
                <a:endParaRPr lang="zh-CN" altLang="zh-CN" sz="2000" dirty="0">
                  <a:latin typeface="+mn-ea"/>
                </a:endParaRPr>
              </a:p>
            </p:txBody>
          </p:sp>
        </mc:Choice>
        <mc:Fallback xmlns="">
          <p:sp>
            <p:nvSpPr>
              <p:cNvPr id="7" name="矩形 6"/>
              <p:cNvSpPr>
                <a:spLocks noRot="1" noChangeAspect="1" noMove="1" noResize="1" noEditPoints="1" noAdjustHandles="1" noChangeArrowheads="1" noChangeShapeType="1" noTextEdit="1"/>
              </p:cNvSpPr>
              <p:nvPr/>
            </p:nvSpPr>
            <p:spPr>
              <a:xfrm>
                <a:off x="179512" y="2132856"/>
                <a:ext cx="8640960" cy="1479764"/>
              </a:xfrm>
              <a:prstGeom prst="rect">
                <a:avLst/>
              </a:prstGeom>
              <a:blipFill rotWithShape="1">
                <a:blip r:embed="rId2"/>
                <a:stretch>
                  <a:fillRect/>
                </a:stretch>
              </a:blipFill>
            </p:spPr>
            <p:txBody>
              <a:bodyPr/>
              <a:lstStyle/>
              <a:p>
                <a:r>
                  <a:rPr lang="zh-CN" altLang="en-US">
                    <a:noFill/>
                  </a:rPr>
                  <a:t> </a:t>
                </a:r>
              </a:p>
            </p:txBody>
          </p:sp>
        </mc:Fallback>
      </mc:AlternateContent>
      <p:sp>
        <p:nvSpPr>
          <p:cNvPr id="8" name="文本占位符 2"/>
          <p:cNvSpPr txBox="1">
            <a:spLocks/>
          </p:cNvSpPr>
          <p:nvPr/>
        </p:nvSpPr>
        <p:spPr>
          <a:xfrm>
            <a:off x="179512" y="3717032"/>
            <a:ext cx="8640960" cy="648072"/>
          </a:xfrm>
          <a:prstGeom prst="rect">
            <a:avLst/>
          </a:prstGeom>
        </p:spPr>
        <p:txBody>
          <a:bodyPr vert="horz" lIns="91440" tIns="45720" rIns="91440" bIns="45720" rtlCol="0">
            <a:norm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Wingdings" pitchFamily="2" charset="2"/>
              <a:buChar char="n"/>
            </a:pPr>
            <a:r>
              <a:rPr lang="zh-CN" altLang="en-US" sz="2000" dirty="0"/>
              <a:t>常用运算：</a:t>
            </a:r>
            <a:r>
              <a:rPr lang="zh-CN" altLang="zh-CN" sz="2000" dirty="0">
                <a:solidFill>
                  <a:srgbClr val="0000FF"/>
                </a:solidFill>
              </a:rPr>
              <a:t>笛卡尔积、并集、差集、交集、选择、投影、连接</a:t>
            </a:r>
            <a:r>
              <a:rPr lang="zh-CN" altLang="en-US" sz="2000" dirty="0">
                <a:solidFill>
                  <a:srgbClr val="0000FF"/>
                </a:solidFill>
              </a:rPr>
              <a:t>、</a:t>
            </a:r>
            <a:r>
              <a:rPr lang="zh-CN" altLang="zh-CN" sz="2000" dirty="0">
                <a:solidFill>
                  <a:srgbClr val="0000FF"/>
                </a:solidFill>
              </a:rPr>
              <a:t>除</a:t>
            </a:r>
            <a:endParaRPr lang="en-US" altLang="zh-CN" sz="2000" kern="100" dirty="0">
              <a:solidFill>
                <a:srgbClr val="0000FF"/>
              </a:solidFill>
            </a:endParaRPr>
          </a:p>
        </p:txBody>
      </p:sp>
      <p:sp>
        <p:nvSpPr>
          <p:cNvPr id="9" name="文本占位符 2"/>
          <p:cNvSpPr txBox="1">
            <a:spLocks/>
          </p:cNvSpPr>
          <p:nvPr/>
        </p:nvSpPr>
        <p:spPr>
          <a:xfrm>
            <a:off x="179512" y="4581128"/>
            <a:ext cx="8856984" cy="648072"/>
          </a:xfrm>
          <a:prstGeom prst="rect">
            <a:avLst/>
          </a:prstGeom>
        </p:spPr>
        <p:txBody>
          <a:bodyPr vert="horz" lIns="91440" tIns="45720" rIns="91440" bIns="45720" rtlCol="0">
            <a:norm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Wingdings" pitchFamily="2" charset="2"/>
              <a:buChar char="n"/>
            </a:pPr>
            <a:r>
              <a:rPr lang="zh-CN" altLang="en-US" dirty="0"/>
              <a:t>运算符号：</a:t>
            </a:r>
            <a:endParaRPr lang="en-US" altLang="zh-CN" kern="100" dirty="0"/>
          </a:p>
        </p:txBody>
      </p:sp>
      <p:sp>
        <p:nvSpPr>
          <p:cNvPr id="12" name="Rectangle 3"/>
          <p:cNvSpPr>
            <a:spLocks noChangeArrowheads="1"/>
          </p:cNvSpPr>
          <p:nvPr/>
        </p:nvSpPr>
        <p:spPr bwMode="auto">
          <a:xfrm>
            <a:off x="539552" y="5287093"/>
            <a:ext cx="7344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2400" b="0" i="0" u="none" strike="noStrike" cap="none" normalizeH="0" baseline="0" dirty="0">
                <a:ln>
                  <a:noFill/>
                </a:ln>
                <a:solidFill>
                  <a:srgbClr val="0000FF"/>
                </a:solidFill>
                <a:effectLst/>
                <a:latin typeface="Cambria Math" pitchFamily="18" charset="0"/>
                <a:ea typeface="宋体" pitchFamily="2" charset="-122"/>
                <a:cs typeface="宋体" pitchFamily="2" charset="-122"/>
              </a:rPr>
              <a:t>∪,  ∩,  -,  ×,  σ,  π,  ÷,  ┒,  ∨,  ∧,  ≤,  &lt;,  ≥,  &gt;</a:t>
            </a:r>
            <a:r>
              <a:rPr kumimoji="0" lang="zh-CN" altLang="zh-CN" sz="2400" b="0" i="0" u="none" strike="noStrike" cap="none" normalizeH="0" baseline="0" dirty="0">
                <a:ln>
                  <a:noFill/>
                </a:ln>
                <a:solidFill>
                  <a:srgbClr val="0000FF"/>
                </a:solidFill>
                <a:effectLst/>
                <a:latin typeface="Times New Roman" pitchFamily="18" charset="0"/>
                <a:ea typeface="宋体" pitchFamily="2" charset="-122"/>
                <a:cs typeface="宋体" pitchFamily="2" charset="-122"/>
              </a:rPr>
              <a:t>，</a:t>
            </a:r>
            <a:r>
              <a:rPr kumimoji="0" lang="zh-CN" altLang="zh-CN" sz="2400" b="0" i="0" u="none" strike="noStrike" cap="none" normalizeH="0" baseline="0" dirty="0">
                <a:ln>
                  <a:noFill/>
                </a:ln>
                <a:solidFill>
                  <a:srgbClr val="0000FF"/>
                </a:solidFill>
                <a:effectLst/>
                <a:latin typeface="Cambria Math" pitchFamily="18" charset="0"/>
                <a:ea typeface="宋体" pitchFamily="2" charset="-122"/>
                <a:cs typeface="宋体" pitchFamily="2" charset="-122"/>
              </a:rPr>
              <a:t>=,  ≠,</a:t>
            </a:r>
            <a:r>
              <a:rPr kumimoji="0" lang="zh-CN" altLang="zh-CN" sz="2400" b="0" i="0" u="none" strike="noStrike" cap="none" normalizeH="0" baseline="0" dirty="0">
                <a:ln>
                  <a:noFill/>
                </a:ln>
                <a:solidFill>
                  <a:srgbClr val="0000FF"/>
                </a:solidFill>
                <a:effectLst/>
                <a:latin typeface="Times New Roman" pitchFamily="18" charset="0"/>
                <a:ea typeface="宋体" pitchFamily="2" charset="-122"/>
                <a:cs typeface="宋体" pitchFamily="2" charset="-122"/>
              </a:rPr>
              <a:t>     </a:t>
            </a:r>
            <a:endParaRPr kumimoji="0" lang="zh-CN" altLang="zh-CN" sz="2400" b="0" i="0" u="none" strike="noStrike" cap="none" normalizeH="0" baseline="0" dirty="0">
              <a:ln>
                <a:noFill/>
              </a:ln>
              <a:solidFill>
                <a:srgbClr val="0000FF"/>
              </a:solidFill>
              <a:effectLst/>
              <a:ea typeface="宋体" pitchFamily="2" charset="-122"/>
              <a:cs typeface="宋体" pitchFamily="2" charset="-122"/>
            </a:endParaRPr>
          </a:p>
        </p:txBody>
      </p:sp>
      <p:sp>
        <p:nvSpPr>
          <p:cNvPr id="13" name="AutoShape 376"/>
          <p:cNvSpPr>
            <a:spLocks noChangeArrowheads="1"/>
          </p:cNvSpPr>
          <p:nvPr/>
        </p:nvSpPr>
        <p:spPr bwMode="auto">
          <a:xfrm rot="-5400000">
            <a:off x="7614010" y="5409913"/>
            <a:ext cx="144000" cy="216024"/>
          </a:xfrm>
          <a:prstGeom prst="flowChartCollate">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 name="灯片编号占位符 3">
            <a:extLst>
              <a:ext uri="{FF2B5EF4-FFF2-40B4-BE49-F238E27FC236}">
                <a16:creationId xmlns:a16="http://schemas.microsoft.com/office/drawing/2014/main" id="{2DAFB4F0-124C-A842-A3D6-6298FD5344FE}"/>
              </a:ext>
            </a:extLst>
          </p:cNvPr>
          <p:cNvSpPr>
            <a:spLocks noGrp="1"/>
          </p:cNvSpPr>
          <p:nvPr>
            <p:ph type="sldNum" sz="quarter" idx="12"/>
          </p:nvPr>
        </p:nvSpPr>
        <p:spPr/>
        <p:txBody>
          <a:bodyPr/>
          <a:lstStyle/>
          <a:p>
            <a:fld id="{C46E5E69-9A6D-4AF8-BC2D-C556A9893D8F}" type="slidenum">
              <a:rPr lang="zh-CN" altLang="en-US" smtClean="0"/>
              <a:pPr/>
              <a:t>3</a:t>
            </a:fld>
            <a:endParaRPr lang="zh-CN" altLang="en-US" dirty="0"/>
          </a:p>
        </p:txBody>
      </p:sp>
    </p:spTree>
    <p:extLst>
      <p:ext uri="{BB962C8B-B14F-4D97-AF65-F5344CB8AC3E}">
        <p14:creationId xmlns:p14="http://schemas.microsoft.com/office/powerpoint/2010/main" val="209556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1.1  </a:t>
            </a:r>
            <a:r>
              <a:rPr lang="zh-CN" altLang="zh-CN" dirty="0"/>
              <a:t>关系数据语言</a:t>
            </a:r>
            <a:endParaRPr lang="zh-CN" altLang="en-US" dirty="0"/>
          </a:p>
        </p:txBody>
      </p:sp>
      <p:sp>
        <p:nvSpPr>
          <p:cNvPr id="3" name="文本占位符 2"/>
          <p:cNvSpPr>
            <a:spLocks noGrp="1"/>
          </p:cNvSpPr>
          <p:nvPr>
            <p:ph type="body" idx="1"/>
          </p:nvPr>
        </p:nvSpPr>
        <p:spPr>
          <a:xfrm>
            <a:off x="323528" y="1340768"/>
            <a:ext cx="8712968" cy="4968552"/>
          </a:xfrm>
        </p:spPr>
        <p:txBody>
          <a:bodyPr>
            <a:normAutofit/>
          </a:bodyPr>
          <a:lstStyle/>
          <a:p>
            <a:r>
              <a:rPr lang="zh-CN" altLang="en-US" kern="100" dirty="0">
                <a:solidFill>
                  <a:srgbClr val="0000FF"/>
                </a:solidFill>
              </a:rPr>
              <a:t>电子书店</a:t>
            </a:r>
            <a:r>
              <a:rPr lang="en-US" altLang="zh-CN" kern="100" dirty="0">
                <a:solidFill>
                  <a:srgbClr val="0000FF"/>
                </a:solidFill>
              </a:rPr>
              <a:t>EBook</a:t>
            </a:r>
          </a:p>
          <a:p>
            <a:pPr marL="0" indent="0">
              <a:buNone/>
            </a:pPr>
            <a:r>
              <a:rPr lang="en-US" altLang="zh-CN" kern="100" dirty="0">
                <a:solidFill>
                  <a:srgbClr val="0000FF"/>
                </a:solidFill>
              </a:rPr>
              <a:t>    </a:t>
            </a:r>
            <a:r>
              <a:rPr lang="zh-CN" altLang="en-US" kern="100" dirty="0">
                <a:solidFill>
                  <a:srgbClr val="0000FF"/>
                </a:solidFill>
              </a:rPr>
              <a:t>图书</a:t>
            </a:r>
            <a:r>
              <a:rPr lang="en-US" altLang="zh-CN" kern="100" dirty="0">
                <a:solidFill>
                  <a:srgbClr val="0000FF"/>
                </a:solidFill>
              </a:rPr>
              <a:t>Book / </a:t>
            </a:r>
            <a:r>
              <a:rPr lang="zh-CN" altLang="en-US" kern="100" dirty="0">
                <a:solidFill>
                  <a:srgbClr val="0000FF"/>
                </a:solidFill>
              </a:rPr>
              <a:t>客户</a:t>
            </a:r>
            <a:r>
              <a:rPr lang="en-US" altLang="zh-CN" kern="100" dirty="0" err="1">
                <a:solidFill>
                  <a:srgbClr val="0000FF"/>
                </a:solidFill>
              </a:rPr>
              <a:t>Cust</a:t>
            </a:r>
            <a:r>
              <a:rPr lang="en-US" altLang="zh-CN" kern="100" dirty="0">
                <a:solidFill>
                  <a:srgbClr val="0000FF"/>
                </a:solidFill>
              </a:rPr>
              <a:t> / </a:t>
            </a:r>
            <a:r>
              <a:rPr lang="zh-CN" altLang="en-US" kern="100" dirty="0">
                <a:solidFill>
                  <a:srgbClr val="0000FF"/>
                </a:solidFill>
              </a:rPr>
              <a:t>出版社</a:t>
            </a:r>
            <a:r>
              <a:rPr lang="en-US" altLang="zh-CN" kern="100" dirty="0">
                <a:solidFill>
                  <a:srgbClr val="0000FF"/>
                </a:solidFill>
              </a:rPr>
              <a:t>Press / </a:t>
            </a:r>
            <a:r>
              <a:rPr lang="zh-CN" altLang="en-US" kern="100" dirty="0">
                <a:solidFill>
                  <a:srgbClr val="0000FF"/>
                </a:solidFill>
              </a:rPr>
              <a:t>购买</a:t>
            </a:r>
            <a:r>
              <a:rPr lang="en-US" altLang="zh-CN" kern="100" dirty="0">
                <a:solidFill>
                  <a:srgbClr val="0000FF"/>
                </a:solidFill>
              </a:rPr>
              <a:t>Buy</a:t>
            </a:r>
          </a:p>
          <a:p>
            <a:pPr marL="342900" lvl="1" indent="-342900">
              <a:buFont typeface="Wingdings" pitchFamily="2" charset="2"/>
              <a:buChar char="n"/>
            </a:pPr>
            <a:r>
              <a:rPr lang="zh-CN" altLang="en-US" kern="100" dirty="0">
                <a:solidFill>
                  <a:srgbClr val="0000FF"/>
                </a:solidFill>
              </a:rPr>
              <a:t>图书（书号，书名，作者，社号，版次，定价，进价，售价）</a:t>
            </a:r>
            <a:endParaRPr lang="en-US" altLang="zh-CN" kern="100" dirty="0">
              <a:solidFill>
                <a:srgbClr val="0000FF"/>
              </a:solidFill>
            </a:endParaRPr>
          </a:p>
          <a:p>
            <a:pPr marL="400050" lvl="2" indent="0">
              <a:buNone/>
            </a:pPr>
            <a:r>
              <a:rPr lang="en-US" altLang="zh-CN" sz="1800" kern="100" dirty="0">
                <a:solidFill>
                  <a:srgbClr val="0000FF"/>
                </a:solidFill>
              </a:rPr>
              <a:t>Book</a:t>
            </a:r>
            <a:r>
              <a:rPr lang="zh-CN" altLang="en-US" sz="1800" kern="100" dirty="0">
                <a:solidFill>
                  <a:srgbClr val="0000FF"/>
                </a:solidFill>
              </a:rPr>
              <a:t>（</a:t>
            </a:r>
            <a:r>
              <a:rPr lang="en-US" altLang="zh-CN" sz="1800" kern="100" dirty="0" err="1">
                <a:solidFill>
                  <a:srgbClr val="0000FF"/>
                </a:solidFill>
              </a:rPr>
              <a:t>BNo</a:t>
            </a:r>
            <a:r>
              <a:rPr lang="zh-CN" altLang="en-US" sz="1800" kern="100" dirty="0">
                <a:solidFill>
                  <a:srgbClr val="0000FF"/>
                </a:solidFill>
              </a:rPr>
              <a:t>，</a:t>
            </a:r>
            <a:r>
              <a:rPr lang="en-US" altLang="zh-CN" sz="1800" kern="100" dirty="0" err="1">
                <a:solidFill>
                  <a:srgbClr val="0000FF"/>
                </a:solidFill>
              </a:rPr>
              <a:t>BName</a:t>
            </a:r>
            <a:r>
              <a:rPr lang="zh-CN" altLang="en-US" sz="1800" kern="100" dirty="0">
                <a:solidFill>
                  <a:srgbClr val="0000FF"/>
                </a:solidFill>
              </a:rPr>
              <a:t>，</a:t>
            </a:r>
            <a:r>
              <a:rPr lang="en-US" altLang="zh-CN" sz="1800" kern="100" dirty="0">
                <a:solidFill>
                  <a:srgbClr val="0000FF"/>
                </a:solidFill>
              </a:rPr>
              <a:t>Author</a:t>
            </a:r>
            <a:r>
              <a:rPr lang="zh-CN" altLang="en-US" sz="1800" kern="100" dirty="0">
                <a:solidFill>
                  <a:srgbClr val="0000FF"/>
                </a:solidFill>
              </a:rPr>
              <a:t>，</a:t>
            </a:r>
            <a:r>
              <a:rPr lang="en-US" altLang="zh-CN" sz="1800" kern="100" dirty="0" err="1">
                <a:solidFill>
                  <a:srgbClr val="0000FF"/>
                </a:solidFill>
              </a:rPr>
              <a:t>PNo</a:t>
            </a:r>
            <a:r>
              <a:rPr lang="zh-CN" altLang="en-US" sz="1800" kern="100" dirty="0">
                <a:solidFill>
                  <a:srgbClr val="0000FF"/>
                </a:solidFill>
              </a:rPr>
              <a:t>，</a:t>
            </a:r>
            <a:r>
              <a:rPr lang="en-US" altLang="zh-CN" sz="1800" kern="100" dirty="0" err="1">
                <a:solidFill>
                  <a:srgbClr val="0000FF"/>
                </a:solidFill>
              </a:rPr>
              <a:t>EditNo</a:t>
            </a:r>
            <a:r>
              <a:rPr lang="zh-CN" altLang="en-US" sz="1800" kern="100" dirty="0">
                <a:solidFill>
                  <a:srgbClr val="0000FF"/>
                </a:solidFill>
              </a:rPr>
              <a:t>，</a:t>
            </a:r>
            <a:r>
              <a:rPr lang="en-US" altLang="zh-CN" sz="1800" kern="100" dirty="0">
                <a:solidFill>
                  <a:srgbClr val="0000FF"/>
                </a:solidFill>
              </a:rPr>
              <a:t>Price</a:t>
            </a:r>
            <a:r>
              <a:rPr lang="zh-CN" altLang="en-US" sz="1800" kern="100" dirty="0">
                <a:solidFill>
                  <a:srgbClr val="0000FF"/>
                </a:solidFill>
              </a:rPr>
              <a:t>，</a:t>
            </a:r>
            <a:r>
              <a:rPr lang="en-US" altLang="zh-CN" sz="1800" kern="100" dirty="0" err="1">
                <a:solidFill>
                  <a:srgbClr val="0000FF"/>
                </a:solidFill>
              </a:rPr>
              <a:t>PPrice</a:t>
            </a:r>
            <a:r>
              <a:rPr lang="zh-CN" altLang="en-US" sz="1800" kern="100" dirty="0">
                <a:solidFill>
                  <a:srgbClr val="0000FF"/>
                </a:solidFill>
              </a:rPr>
              <a:t>，</a:t>
            </a:r>
            <a:r>
              <a:rPr lang="en-US" altLang="zh-CN" sz="1800" kern="100" dirty="0" err="1">
                <a:solidFill>
                  <a:srgbClr val="0000FF"/>
                </a:solidFill>
              </a:rPr>
              <a:t>SPrice</a:t>
            </a:r>
            <a:r>
              <a:rPr lang="zh-CN" altLang="en-US" sz="1800" kern="100" dirty="0">
                <a:solidFill>
                  <a:srgbClr val="0000FF"/>
                </a:solidFill>
              </a:rPr>
              <a:t>）</a:t>
            </a:r>
          </a:p>
          <a:p>
            <a:r>
              <a:rPr lang="zh-CN" altLang="en-US" kern="100" dirty="0">
                <a:solidFill>
                  <a:srgbClr val="0000FF"/>
                </a:solidFill>
              </a:rPr>
              <a:t>客户（户号，户名，性别，生日，电话，婚否，照片，邮箱）</a:t>
            </a:r>
            <a:endParaRPr lang="en-US" altLang="zh-CN" kern="100" dirty="0">
              <a:solidFill>
                <a:srgbClr val="0000FF"/>
              </a:solidFill>
            </a:endParaRPr>
          </a:p>
          <a:p>
            <a:pPr marL="457200" lvl="1" indent="0">
              <a:buNone/>
            </a:pPr>
            <a:r>
              <a:rPr lang="en-US" altLang="zh-CN" sz="1800" kern="100" dirty="0" err="1">
                <a:solidFill>
                  <a:srgbClr val="0000FF"/>
                </a:solidFill>
              </a:rPr>
              <a:t>Cust</a:t>
            </a:r>
            <a:r>
              <a:rPr lang="zh-CN" altLang="en-US" sz="1800" kern="100" dirty="0">
                <a:solidFill>
                  <a:srgbClr val="0000FF"/>
                </a:solidFill>
              </a:rPr>
              <a:t>（</a:t>
            </a:r>
            <a:r>
              <a:rPr lang="en-US" altLang="zh-CN" sz="1800" kern="100" dirty="0" err="1">
                <a:solidFill>
                  <a:srgbClr val="0000FF"/>
                </a:solidFill>
              </a:rPr>
              <a:t>CNo</a:t>
            </a:r>
            <a:r>
              <a:rPr lang="zh-CN" altLang="en-US" sz="1800" kern="100" dirty="0">
                <a:solidFill>
                  <a:srgbClr val="0000FF"/>
                </a:solidFill>
              </a:rPr>
              <a:t>，</a:t>
            </a:r>
            <a:r>
              <a:rPr lang="en-US" altLang="zh-CN" sz="1800" kern="100" dirty="0" err="1">
                <a:solidFill>
                  <a:srgbClr val="0000FF"/>
                </a:solidFill>
              </a:rPr>
              <a:t>CName</a:t>
            </a:r>
            <a:r>
              <a:rPr lang="zh-CN" altLang="en-US" sz="1800" kern="100" dirty="0">
                <a:solidFill>
                  <a:srgbClr val="0000FF"/>
                </a:solidFill>
              </a:rPr>
              <a:t>，</a:t>
            </a:r>
            <a:r>
              <a:rPr lang="en-US" altLang="zh-CN" sz="1800" kern="100" dirty="0" err="1">
                <a:solidFill>
                  <a:srgbClr val="0000FF"/>
                </a:solidFill>
              </a:rPr>
              <a:t>CSex</a:t>
            </a:r>
            <a:r>
              <a:rPr lang="zh-CN" altLang="en-US" sz="1800" kern="100" dirty="0">
                <a:solidFill>
                  <a:srgbClr val="0000FF"/>
                </a:solidFill>
              </a:rPr>
              <a:t>，</a:t>
            </a:r>
            <a:r>
              <a:rPr lang="en-US" altLang="zh-CN" sz="1800" kern="100" dirty="0">
                <a:solidFill>
                  <a:srgbClr val="0000FF"/>
                </a:solidFill>
              </a:rPr>
              <a:t>Birth</a:t>
            </a:r>
            <a:r>
              <a:rPr lang="zh-CN" altLang="en-US" sz="1800" kern="100" dirty="0">
                <a:solidFill>
                  <a:srgbClr val="0000FF"/>
                </a:solidFill>
              </a:rPr>
              <a:t>，</a:t>
            </a:r>
            <a:r>
              <a:rPr lang="en-US" altLang="zh-CN" sz="1800" kern="100" dirty="0">
                <a:solidFill>
                  <a:srgbClr val="0000FF"/>
                </a:solidFill>
              </a:rPr>
              <a:t>Phone</a:t>
            </a:r>
            <a:r>
              <a:rPr lang="zh-CN" altLang="en-US" sz="1800" kern="100" dirty="0">
                <a:solidFill>
                  <a:srgbClr val="0000FF"/>
                </a:solidFill>
              </a:rPr>
              <a:t>，</a:t>
            </a:r>
            <a:r>
              <a:rPr lang="en-US" altLang="zh-CN" sz="1800" kern="100" dirty="0">
                <a:solidFill>
                  <a:srgbClr val="0000FF"/>
                </a:solidFill>
              </a:rPr>
              <a:t>Marry</a:t>
            </a:r>
            <a:r>
              <a:rPr lang="zh-CN" altLang="en-US" sz="1800" kern="100" dirty="0">
                <a:solidFill>
                  <a:srgbClr val="0000FF"/>
                </a:solidFill>
              </a:rPr>
              <a:t>，</a:t>
            </a:r>
            <a:r>
              <a:rPr lang="en-US" altLang="zh-CN" sz="1800" kern="100" dirty="0">
                <a:solidFill>
                  <a:srgbClr val="0000FF"/>
                </a:solidFill>
              </a:rPr>
              <a:t>Photo</a:t>
            </a:r>
            <a:r>
              <a:rPr lang="zh-CN" altLang="en-US" sz="1800" kern="100" dirty="0">
                <a:solidFill>
                  <a:srgbClr val="0000FF"/>
                </a:solidFill>
              </a:rPr>
              <a:t>，</a:t>
            </a:r>
            <a:r>
              <a:rPr lang="en-US" altLang="zh-CN" sz="1800" kern="100" dirty="0">
                <a:solidFill>
                  <a:srgbClr val="0000FF"/>
                </a:solidFill>
              </a:rPr>
              <a:t>Email</a:t>
            </a:r>
            <a:r>
              <a:rPr lang="zh-CN" altLang="en-US" sz="1800" kern="100" dirty="0">
                <a:solidFill>
                  <a:srgbClr val="0000FF"/>
                </a:solidFill>
              </a:rPr>
              <a:t>）</a:t>
            </a:r>
            <a:endParaRPr lang="en-US" altLang="zh-CN" sz="1800" dirty="0">
              <a:solidFill>
                <a:srgbClr val="0000FF"/>
              </a:solidFill>
            </a:endParaRPr>
          </a:p>
          <a:p>
            <a:r>
              <a:rPr lang="zh-CN" altLang="en-US" kern="100" dirty="0">
                <a:solidFill>
                  <a:srgbClr val="0000FF"/>
                </a:solidFill>
              </a:rPr>
              <a:t>出版社（社号，社名，邮编，社址，电话，邮箱，网址）</a:t>
            </a:r>
            <a:endParaRPr lang="en-US" altLang="zh-CN" kern="100" dirty="0">
              <a:solidFill>
                <a:srgbClr val="0000FF"/>
              </a:solidFill>
            </a:endParaRPr>
          </a:p>
          <a:p>
            <a:pPr marL="457200" lvl="1" indent="0">
              <a:buNone/>
            </a:pPr>
            <a:r>
              <a:rPr lang="en-US" altLang="zh-CN" sz="2000" kern="100" dirty="0">
                <a:solidFill>
                  <a:srgbClr val="0000FF"/>
                </a:solidFill>
              </a:rPr>
              <a:t>Press</a:t>
            </a:r>
            <a:r>
              <a:rPr lang="zh-CN" altLang="en-US" sz="2000" kern="100" dirty="0">
                <a:solidFill>
                  <a:srgbClr val="0000FF"/>
                </a:solidFill>
              </a:rPr>
              <a:t>（</a:t>
            </a:r>
            <a:r>
              <a:rPr lang="en-US" altLang="zh-CN" sz="2000" kern="100" dirty="0" err="1">
                <a:solidFill>
                  <a:srgbClr val="0000FF"/>
                </a:solidFill>
              </a:rPr>
              <a:t>PNo</a:t>
            </a:r>
            <a:r>
              <a:rPr lang="zh-CN" altLang="en-US" sz="2000" kern="100" dirty="0">
                <a:solidFill>
                  <a:srgbClr val="0000FF"/>
                </a:solidFill>
              </a:rPr>
              <a:t>，</a:t>
            </a:r>
            <a:r>
              <a:rPr lang="en-US" altLang="zh-CN" sz="2000" kern="100" dirty="0" err="1">
                <a:solidFill>
                  <a:srgbClr val="0000FF"/>
                </a:solidFill>
              </a:rPr>
              <a:t>PName</a:t>
            </a:r>
            <a:r>
              <a:rPr lang="zh-CN" altLang="en-US" sz="2000" kern="100" dirty="0">
                <a:solidFill>
                  <a:srgbClr val="0000FF"/>
                </a:solidFill>
              </a:rPr>
              <a:t>，</a:t>
            </a:r>
            <a:r>
              <a:rPr lang="en-US" altLang="zh-CN" sz="2000" kern="100" dirty="0" err="1">
                <a:solidFill>
                  <a:srgbClr val="0000FF"/>
                </a:solidFill>
              </a:rPr>
              <a:t>PCode</a:t>
            </a:r>
            <a:r>
              <a:rPr lang="zh-CN" altLang="en-US" sz="2000" kern="100" dirty="0">
                <a:solidFill>
                  <a:srgbClr val="0000FF"/>
                </a:solidFill>
              </a:rPr>
              <a:t>，</a:t>
            </a:r>
            <a:r>
              <a:rPr lang="en-US" altLang="zh-CN" sz="2000" kern="100" dirty="0" err="1">
                <a:solidFill>
                  <a:srgbClr val="0000FF"/>
                </a:solidFill>
              </a:rPr>
              <a:t>PAddr</a:t>
            </a:r>
            <a:r>
              <a:rPr lang="zh-CN" altLang="en-US" sz="2000" kern="100" dirty="0">
                <a:solidFill>
                  <a:srgbClr val="0000FF"/>
                </a:solidFill>
              </a:rPr>
              <a:t>，</a:t>
            </a:r>
            <a:r>
              <a:rPr lang="en-US" altLang="zh-CN" sz="2000" kern="100" dirty="0">
                <a:solidFill>
                  <a:srgbClr val="0000FF"/>
                </a:solidFill>
              </a:rPr>
              <a:t>Phone</a:t>
            </a:r>
            <a:r>
              <a:rPr lang="zh-CN" altLang="en-US" sz="2000" kern="100" dirty="0">
                <a:solidFill>
                  <a:srgbClr val="0000FF"/>
                </a:solidFill>
              </a:rPr>
              <a:t>，</a:t>
            </a:r>
            <a:r>
              <a:rPr lang="en-US" altLang="zh-CN" sz="2000" kern="100" dirty="0">
                <a:solidFill>
                  <a:srgbClr val="0000FF"/>
                </a:solidFill>
              </a:rPr>
              <a:t>Email</a:t>
            </a:r>
            <a:r>
              <a:rPr lang="zh-CN" altLang="en-US" sz="2000" kern="100" dirty="0">
                <a:solidFill>
                  <a:srgbClr val="0000FF"/>
                </a:solidFill>
              </a:rPr>
              <a:t>，</a:t>
            </a:r>
            <a:r>
              <a:rPr lang="en-US" altLang="zh-CN" sz="2000" kern="100" dirty="0" err="1">
                <a:solidFill>
                  <a:srgbClr val="0000FF"/>
                </a:solidFill>
              </a:rPr>
              <a:t>HPage</a:t>
            </a:r>
            <a:r>
              <a:rPr lang="zh-CN" altLang="en-US" sz="2000" kern="100" dirty="0">
                <a:solidFill>
                  <a:srgbClr val="0000FF"/>
                </a:solidFill>
              </a:rPr>
              <a:t>）</a:t>
            </a:r>
            <a:endParaRPr lang="en-US" altLang="zh-CN" sz="2000" dirty="0">
              <a:solidFill>
                <a:srgbClr val="0000FF"/>
              </a:solidFill>
            </a:endParaRPr>
          </a:p>
          <a:p>
            <a:r>
              <a:rPr lang="zh-CN" altLang="en-US" kern="100" dirty="0">
                <a:solidFill>
                  <a:srgbClr val="0000FF"/>
                </a:solidFill>
              </a:rPr>
              <a:t>购买（户号，书号，购买日期）</a:t>
            </a:r>
            <a:endParaRPr lang="en-US" altLang="zh-CN" kern="100" dirty="0">
              <a:solidFill>
                <a:srgbClr val="0000FF"/>
              </a:solidFill>
            </a:endParaRPr>
          </a:p>
          <a:p>
            <a:pPr marL="457200" lvl="1" indent="0">
              <a:buNone/>
            </a:pPr>
            <a:r>
              <a:rPr lang="en-US" altLang="zh-CN" kern="100" dirty="0">
                <a:solidFill>
                  <a:srgbClr val="0000FF"/>
                </a:solidFill>
              </a:rPr>
              <a:t>Buy</a:t>
            </a:r>
            <a:r>
              <a:rPr lang="zh-CN" altLang="en-US" kern="100" dirty="0">
                <a:solidFill>
                  <a:srgbClr val="0000FF"/>
                </a:solidFill>
              </a:rPr>
              <a:t>（</a:t>
            </a:r>
            <a:r>
              <a:rPr lang="en-US" altLang="zh-CN" kern="100" dirty="0" err="1">
                <a:solidFill>
                  <a:srgbClr val="0000FF"/>
                </a:solidFill>
              </a:rPr>
              <a:t>CNo</a:t>
            </a:r>
            <a:r>
              <a:rPr lang="zh-CN" altLang="en-US" kern="100" dirty="0">
                <a:solidFill>
                  <a:srgbClr val="0000FF"/>
                </a:solidFill>
              </a:rPr>
              <a:t>，</a:t>
            </a:r>
            <a:r>
              <a:rPr lang="en-US" altLang="zh-CN" kern="100" dirty="0" err="1">
                <a:solidFill>
                  <a:srgbClr val="0000FF"/>
                </a:solidFill>
              </a:rPr>
              <a:t>BNo</a:t>
            </a:r>
            <a:r>
              <a:rPr lang="zh-CN" altLang="en-US" kern="100" dirty="0">
                <a:solidFill>
                  <a:srgbClr val="0000FF"/>
                </a:solidFill>
              </a:rPr>
              <a:t>，</a:t>
            </a:r>
            <a:r>
              <a:rPr lang="en-US" altLang="zh-CN" kern="100" dirty="0" err="1">
                <a:solidFill>
                  <a:srgbClr val="0000FF"/>
                </a:solidFill>
              </a:rPr>
              <a:t>PDate</a:t>
            </a:r>
            <a:r>
              <a:rPr lang="zh-CN" altLang="en-US" kern="100" dirty="0">
                <a:solidFill>
                  <a:srgbClr val="0000FF"/>
                </a:solidFill>
              </a:rPr>
              <a:t>）</a:t>
            </a:r>
            <a:endParaRPr lang="en-US" altLang="zh-CN" dirty="0">
              <a:solidFill>
                <a:srgbClr val="0000FF"/>
              </a:solidFill>
            </a:endParaRPr>
          </a:p>
          <a:p>
            <a:endParaRPr lang="en-US" altLang="zh-CN" dirty="0"/>
          </a:p>
          <a:p>
            <a:endParaRPr lang="zh-CN" altLang="en-US" dirty="0"/>
          </a:p>
        </p:txBody>
      </p:sp>
      <p:sp>
        <p:nvSpPr>
          <p:cNvPr id="4" name="灯片编号占位符 3">
            <a:extLst>
              <a:ext uri="{FF2B5EF4-FFF2-40B4-BE49-F238E27FC236}">
                <a16:creationId xmlns:a16="http://schemas.microsoft.com/office/drawing/2014/main" id="{E14F9D8D-0577-FF4A-A0E9-F0BB7F9C3A96}"/>
              </a:ext>
            </a:extLst>
          </p:cNvPr>
          <p:cNvSpPr>
            <a:spLocks noGrp="1"/>
          </p:cNvSpPr>
          <p:nvPr>
            <p:ph type="sldNum" sz="quarter" idx="12"/>
          </p:nvPr>
        </p:nvSpPr>
        <p:spPr/>
        <p:txBody>
          <a:bodyPr/>
          <a:lstStyle/>
          <a:p>
            <a:fld id="{C46E5E69-9A6D-4AF8-BC2D-C556A9893D8F}" type="slidenum">
              <a:rPr lang="zh-CN" altLang="en-US" smtClean="0"/>
              <a:pPr/>
              <a:t>4</a:t>
            </a:fld>
            <a:endParaRPr lang="zh-CN" altLang="en-US" dirty="0"/>
          </a:p>
        </p:txBody>
      </p:sp>
    </p:spTree>
    <p:extLst>
      <p:ext uri="{BB962C8B-B14F-4D97-AF65-F5344CB8AC3E}">
        <p14:creationId xmlns:p14="http://schemas.microsoft.com/office/powerpoint/2010/main" val="1165729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922114"/>
          </a:xfrm>
        </p:spPr>
        <p:txBody>
          <a:bodyPr/>
          <a:lstStyle/>
          <a:p>
            <a:r>
              <a:rPr lang="zh-CN" altLang="zh-CN" dirty="0"/>
              <a:t>图书</a:t>
            </a:r>
            <a:r>
              <a:rPr lang="en-US" altLang="zh-CN" dirty="0"/>
              <a:t>Book</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950535483"/>
              </p:ext>
            </p:extLst>
          </p:nvPr>
        </p:nvGraphicFramePr>
        <p:xfrm>
          <a:off x="251520" y="1196752"/>
          <a:ext cx="8712968" cy="4824537"/>
        </p:xfrm>
        <a:graphic>
          <a:graphicData uri="http://schemas.openxmlformats.org/drawingml/2006/table">
            <a:tbl>
              <a:tblPr firstRow="1" firstCol="1" bandRow="1" bandCol="1">
                <a:tableStyleId>{5C22544A-7EE6-4342-B048-85BDC9FD1C3A}</a:tableStyleId>
              </a:tblPr>
              <a:tblGrid>
                <a:gridCol w="2105634">
                  <a:extLst>
                    <a:ext uri="{9D8B030D-6E8A-4147-A177-3AD203B41FA5}">
                      <a16:colId xmlns:a16="http://schemas.microsoft.com/office/drawing/2014/main" val="20000"/>
                    </a:ext>
                  </a:extLst>
                </a:gridCol>
                <a:gridCol w="1672794">
                  <a:extLst>
                    <a:ext uri="{9D8B030D-6E8A-4147-A177-3AD203B41FA5}">
                      <a16:colId xmlns:a16="http://schemas.microsoft.com/office/drawing/2014/main" val="20001"/>
                    </a:ext>
                  </a:extLst>
                </a:gridCol>
                <a:gridCol w="683370">
                  <a:extLst>
                    <a:ext uri="{9D8B030D-6E8A-4147-A177-3AD203B41FA5}">
                      <a16:colId xmlns:a16="http://schemas.microsoft.com/office/drawing/2014/main" val="20002"/>
                    </a:ext>
                  </a:extLst>
                </a:gridCol>
                <a:gridCol w="1536413">
                  <a:extLst>
                    <a:ext uri="{9D8B030D-6E8A-4147-A177-3AD203B41FA5}">
                      <a16:colId xmlns:a16="http://schemas.microsoft.com/office/drawing/2014/main" val="20003"/>
                    </a:ext>
                  </a:extLst>
                </a:gridCol>
                <a:gridCol w="683370">
                  <a:extLst>
                    <a:ext uri="{9D8B030D-6E8A-4147-A177-3AD203B41FA5}">
                      <a16:colId xmlns:a16="http://schemas.microsoft.com/office/drawing/2014/main" val="20004"/>
                    </a:ext>
                  </a:extLst>
                </a:gridCol>
                <a:gridCol w="676349">
                  <a:extLst>
                    <a:ext uri="{9D8B030D-6E8A-4147-A177-3AD203B41FA5}">
                      <a16:colId xmlns:a16="http://schemas.microsoft.com/office/drawing/2014/main" val="20005"/>
                    </a:ext>
                  </a:extLst>
                </a:gridCol>
                <a:gridCol w="677519">
                  <a:extLst>
                    <a:ext uri="{9D8B030D-6E8A-4147-A177-3AD203B41FA5}">
                      <a16:colId xmlns:a16="http://schemas.microsoft.com/office/drawing/2014/main" val="20006"/>
                    </a:ext>
                  </a:extLst>
                </a:gridCol>
                <a:gridCol w="677519">
                  <a:extLst>
                    <a:ext uri="{9D8B030D-6E8A-4147-A177-3AD203B41FA5}">
                      <a16:colId xmlns:a16="http://schemas.microsoft.com/office/drawing/2014/main" val="20007"/>
                    </a:ext>
                  </a:extLst>
                </a:gridCol>
              </a:tblGrid>
              <a:tr h="837729">
                <a:tc>
                  <a:txBody>
                    <a:bodyPr/>
                    <a:lstStyle/>
                    <a:p>
                      <a:pPr algn="ctr">
                        <a:lnSpc>
                          <a:spcPts val="900"/>
                        </a:lnSpc>
                        <a:spcAft>
                          <a:spcPts val="0"/>
                        </a:spcAft>
                      </a:pPr>
                      <a:r>
                        <a:rPr lang="zh-CN" sz="1200" kern="100" dirty="0">
                          <a:effectLst/>
                          <a:latin typeface="微软雅黑" pitchFamily="34" charset="-122"/>
                          <a:ea typeface="微软雅黑" pitchFamily="34" charset="-122"/>
                        </a:rPr>
                        <a:t>书号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BNo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书名</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BName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作者</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Author</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社号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版次</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EditNo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定价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Price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进价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en-US" alt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PPrice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售价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SPrice</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0"/>
                  </a:ext>
                </a:extLst>
              </a:tr>
              <a:tr h="664468">
                <a:tc>
                  <a:txBody>
                    <a:bodyPr/>
                    <a:lstStyle/>
                    <a:p>
                      <a:pPr algn="ctr">
                        <a:lnSpc>
                          <a:spcPts val="1200"/>
                        </a:lnSpc>
                        <a:spcAft>
                          <a:spcPts val="0"/>
                        </a:spcAft>
                      </a:pPr>
                      <a:r>
                        <a:rPr lang="en-US" sz="1200" kern="100" dirty="0">
                          <a:effectLst/>
                          <a:latin typeface="微软雅黑" pitchFamily="34" charset="-122"/>
                          <a:ea typeface="微软雅黑" pitchFamily="34" charset="-122"/>
                        </a:rPr>
                        <a:t>ISBN978-7-04-040664-1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数据库系统概论</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王珊</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ISBN978-7-04</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39.6</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25</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1"/>
                  </a:ext>
                </a:extLst>
              </a:tr>
              <a:tr h="664468">
                <a:tc>
                  <a:txBody>
                    <a:bodyPr/>
                    <a:lstStyle/>
                    <a:p>
                      <a:pPr algn="ctr">
                        <a:lnSpc>
                          <a:spcPts val="1200"/>
                        </a:lnSpc>
                        <a:spcAft>
                          <a:spcPts val="0"/>
                        </a:spcAft>
                      </a:pPr>
                      <a:r>
                        <a:rPr lang="en-US" sz="1200" kern="100">
                          <a:effectLst/>
                          <a:latin typeface="微软雅黑" pitchFamily="34" charset="-122"/>
                          <a:ea typeface="微软雅黑" pitchFamily="34" charset="-122"/>
                        </a:rPr>
                        <a:t>ISBN978-7-302-33894-9</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Java</a:t>
                      </a:r>
                      <a:r>
                        <a:rPr lang="zh-CN" sz="1200" kern="100" dirty="0">
                          <a:effectLst/>
                          <a:latin typeface="微软雅黑" pitchFamily="34" charset="-122"/>
                          <a:ea typeface="微软雅黑" pitchFamily="34" charset="-122"/>
                        </a:rPr>
                        <a:t>程序设计教程</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雍俊海</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ISBN978-7-302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3</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69</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36</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2"/>
                  </a:ext>
                </a:extLst>
              </a:tr>
              <a:tr h="664468">
                <a:tc>
                  <a:txBody>
                    <a:bodyPr/>
                    <a:lstStyle/>
                    <a:p>
                      <a:pPr algn="ctr">
                        <a:lnSpc>
                          <a:spcPts val="1200"/>
                        </a:lnSpc>
                        <a:spcAft>
                          <a:spcPts val="0"/>
                        </a:spcAft>
                      </a:pPr>
                      <a:r>
                        <a:rPr lang="en-US" sz="1200" kern="100">
                          <a:effectLst/>
                          <a:latin typeface="微软雅黑" pitchFamily="34" charset="-122"/>
                          <a:ea typeface="微软雅黑" pitchFamily="34" charset="-122"/>
                        </a:rPr>
                        <a:t>ISBN978-7-5612-2591-2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图像技术</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韩培友</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36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16</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3"/>
                  </a:ext>
                </a:extLst>
              </a:tr>
              <a:tr h="664468">
                <a:tc>
                  <a:txBody>
                    <a:bodyPr/>
                    <a:lstStyle/>
                    <a:p>
                      <a:pPr algn="ctr">
                        <a:lnSpc>
                          <a:spcPts val="1200"/>
                        </a:lnSpc>
                        <a:spcAft>
                          <a:spcPts val="0"/>
                        </a:spcAft>
                      </a:pPr>
                      <a:r>
                        <a:rPr lang="en-US" sz="1200" kern="100">
                          <a:effectLst/>
                          <a:latin typeface="微软雅黑" pitchFamily="34" charset="-122"/>
                          <a:ea typeface="微软雅黑" pitchFamily="34" charset="-122"/>
                        </a:rPr>
                        <a:t>ISBN978-7-5612-2123-1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IDL</a:t>
                      </a:r>
                      <a:r>
                        <a:rPr lang="zh-CN" sz="1200" kern="100">
                          <a:effectLst/>
                          <a:latin typeface="微软雅黑" pitchFamily="34" charset="-122"/>
                          <a:ea typeface="微软雅黑" pitchFamily="34" charset="-122"/>
                        </a:rPr>
                        <a:t>可视化分析</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韩培友</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45</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19</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22</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4"/>
                  </a:ext>
                </a:extLst>
              </a:tr>
              <a:tr h="664468">
                <a:tc>
                  <a:txBody>
                    <a:bodyPr/>
                    <a:lstStyle/>
                    <a:p>
                      <a:pPr algn="ctr">
                        <a:lnSpc>
                          <a:spcPts val="1200"/>
                        </a:lnSpc>
                        <a:spcAft>
                          <a:spcPts val="0"/>
                        </a:spcAft>
                      </a:pPr>
                      <a:r>
                        <a:rPr lang="en-US" sz="1200" kern="100">
                          <a:effectLst/>
                          <a:latin typeface="微软雅黑" pitchFamily="34" charset="-122"/>
                          <a:ea typeface="微软雅黑" pitchFamily="34" charset="-122"/>
                        </a:rPr>
                        <a:t>ISBN978-7-5178-0167-2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Access</a:t>
                      </a:r>
                      <a:r>
                        <a:rPr lang="zh-CN" sz="1200" kern="100">
                          <a:effectLst/>
                          <a:latin typeface="微软雅黑" pitchFamily="34" charset="-122"/>
                          <a:ea typeface="微软雅黑" pitchFamily="34" charset="-122"/>
                        </a:rPr>
                        <a:t>数据库应用</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韩培友</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ISBN978-7-81140</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39.8</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19</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5"/>
                  </a:ext>
                </a:extLst>
              </a:tr>
              <a:tr h="664468">
                <a:tc>
                  <a:txBody>
                    <a:bodyPr/>
                    <a:lstStyle/>
                    <a:p>
                      <a:pPr algn="ctr">
                        <a:lnSpc>
                          <a:spcPts val="1200"/>
                        </a:lnSpc>
                        <a:spcAft>
                          <a:spcPts val="0"/>
                        </a:spcAft>
                      </a:pPr>
                      <a:r>
                        <a:rPr lang="en-US" sz="1200" kern="100">
                          <a:effectLst/>
                          <a:latin typeface="微软雅黑" pitchFamily="34" charset="-122"/>
                          <a:ea typeface="微软雅黑" pitchFamily="34" charset="-122"/>
                        </a:rPr>
                        <a:t>ISBN978-7-81140-582-8</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MySQL</a:t>
                      </a:r>
                      <a:r>
                        <a:rPr lang="zh-CN" sz="1200" kern="100">
                          <a:effectLst/>
                          <a:latin typeface="微软雅黑" pitchFamily="34" charset="-122"/>
                          <a:ea typeface="微软雅黑" pitchFamily="34" charset="-122"/>
                        </a:rPr>
                        <a:t>实验指导</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韩培友</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ISBN978-7-81140</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10</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15</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6"/>
                  </a:ext>
                </a:extLst>
              </a:tr>
            </a:tbl>
          </a:graphicData>
        </a:graphic>
      </p:graphicFrame>
      <p:sp>
        <p:nvSpPr>
          <p:cNvPr id="3" name="灯片编号占位符 2">
            <a:extLst>
              <a:ext uri="{FF2B5EF4-FFF2-40B4-BE49-F238E27FC236}">
                <a16:creationId xmlns:a16="http://schemas.microsoft.com/office/drawing/2014/main" id="{804C1105-7595-A242-A7D9-7CCA77528FEE}"/>
              </a:ext>
            </a:extLst>
          </p:cNvPr>
          <p:cNvSpPr>
            <a:spLocks noGrp="1"/>
          </p:cNvSpPr>
          <p:nvPr>
            <p:ph type="sldNum" sz="quarter" idx="12"/>
          </p:nvPr>
        </p:nvSpPr>
        <p:spPr/>
        <p:txBody>
          <a:bodyPr/>
          <a:lstStyle/>
          <a:p>
            <a:fld id="{C46E5E69-9A6D-4AF8-BC2D-C556A9893D8F}" type="slidenum">
              <a:rPr lang="zh-CN" altLang="en-US" smtClean="0"/>
              <a:pPr/>
              <a:t>5</a:t>
            </a:fld>
            <a:endParaRPr lang="zh-CN" altLang="en-US" dirty="0"/>
          </a:p>
        </p:txBody>
      </p:sp>
    </p:spTree>
    <p:extLst>
      <p:ext uri="{BB962C8B-B14F-4D97-AF65-F5344CB8AC3E}">
        <p14:creationId xmlns:p14="http://schemas.microsoft.com/office/powerpoint/2010/main" val="2431868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19256" cy="706090"/>
          </a:xfrm>
        </p:spPr>
        <p:txBody>
          <a:bodyPr/>
          <a:lstStyle/>
          <a:p>
            <a:r>
              <a:rPr lang="zh-CN" altLang="zh-CN" dirty="0"/>
              <a:t>客户</a:t>
            </a:r>
            <a:r>
              <a:rPr lang="en-US" altLang="zh-CN" dirty="0" err="1"/>
              <a:t>Cust</a:t>
            </a:r>
            <a:endParaRPr lang="zh-CN" altLang="en-US" b="0" i="0" u="none" strike="noStrike" baseline="0" dirty="0">
              <a:latin typeface="Times New Roman"/>
              <a:ea typeface="宋体"/>
            </a:endParaRPr>
          </a:p>
        </p:txBody>
      </p:sp>
      <p:graphicFrame>
        <p:nvGraphicFramePr>
          <p:cNvPr id="4" name="表格 3"/>
          <p:cNvGraphicFramePr>
            <a:graphicFrameLocks noGrp="1"/>
          </p:cNvGraphicFramePr>
          <p:nvPr>
            <p:extLst>
              <p:ext uri="{D42A27DB-BD31-4B8C-83A1-F6EECF244321}">
                <p14:modId xmlns:p14="http://schemas.microsoft.com/office/powerpoint/2010/main" val="3828808513"/>
              </p:ext>
            </p:extLst>
          </p:nvPr>
        </p:nvGraphicFramePr>
        <p:xfrm>
          <a:off x="179512" y="1268760"/>
          <a:ext cx="8784976" cy="4752525"/>
        </p:xfrm>
        <a:graphic>
          <a:graphicData uri="http://schemas.openxmlformats.org/drawingml/2006/table">
            <a:tbl>
              <a:tblPr firstRow="1" firstCol="1" bandRow="1" bandCol="1">
                <a:tableStyleId>{5C22544A-7EE6-4342-B048-85BDC9FD1C3A}</a:tableStyleId>
              </a:tblPr>
              <a:tblGrid>
                <a:gridCol w="648073">
                  <a:extLst>
                    <a:ext uri="{9D8B030D-6E8A-4147-A177-3AD203B41FA5}">
                      <a16:colId xmlns:a16="http://schemas.microsoft.com/office/drawing/2014/main" val="20000"/>
                    </a:ext>
                  </a:extLst>
                </a:gridCol>
                <a:gridCol w="976771">
                  <a:extLst>
                    <a:ext uri="{9D8B030D-6E8A-4147-A177-3AD203B41FA5}">
                      <a16:colId xmlns:a16="http://schemas.microsoft.com/office/drawing/2014/main" val="20001"/>
                    </a:ext>
                  </a:extLst>
                </a:gridCol>
                <a:gridCol w="674863">
                  <a:extLst>
                    <a:ext uri="{9D8B030D-6E8A-4147-A177-3AD203B41FA5}">
                      <a16:colId xmlns:a16="http://schemas.microsoft.com/office/drawing/2014/main" val="20002"/>
                    </a:ext>
                  </a:extLst>
                </a:gridCol>
                <a:gridCol w="1181598">
                  <a:extLst>
                    <a:ext uri="{9D8B030D-6E8A-4147-A177-3AD203B41FA5}">
                      <a16:colId xmlns:a16="http://schemas.microsoft.com/office/drawing/2014/main" val="20003"/>
                    </a:ext>
                  </a:extLst>
                </a:gridCol>
                <a:gridCol w="1181598">
                  <a:extLst>
                    <a:ext uri="{9D8B030D-6E8A-4147-A177-3AD203B41FA5}">
                      <a16:colId xmlns:a16="http://schemas.microsoft.com/office/drawing/2014/main" val="20004"/>
                    </a:ext>
                  </a:extLst>
                </a:gridCol>
                <a:gridCol w="674863">
                  <a:extLst>
                    <a:ext uri="{9D8B030D-6E8A-4147-A177-3AD203B41FA5}">
                      <a16:colId xmlns:a16="http://schemas.microsoft.com/office/drawing/2014/main" val="20005"/>
                    </a:ext>
                  </a:extLst>
                </a:gridCol>
                <a:gridCol w="1689510">
                  <a:extLst>
                    <a:ext uri="{9D8B030D-6E8A-4147-A177-3AD203B41FA5}">
                      <a16:colId xmlns:a16="http://schemas.microsoft.com/office/drawing/2014/main" val="20006"/>
                    </a:ext>
                  </a:extLst>
                </a:gridCol>
                <a:gridCol w="1757700">
                  <a:extLst>
                    <a:ext uri="{9D8B030D-6E8A-4147-A177-3AD203B41FA5}">
                      <a16:colId xmlns:a16="http://schemas.microsoft.com/office/drawing/2014/main" val="20007"/>
                    </a:ext>
                  </a:extLst>
                </a:gridCol>
              </a:tblGrid>
              <a:tr h="799340">
                <a:tc>
                  <a:txBody>
                    <a:bodyPr/>
                    <a:lstStyle/>
                    <a:p>
                      <a:pPr algn="ctr">
                        <a:lnSpc>
                          <a:spcPts val="900"/>
                        </a:lnSpc>
                        <a:spcAft>
                          <a:spcPts val="0"/>
                        </a:spcAft>
                      </a:pPr>
                      <a:r>
                        <a:rPr lang="zh-CN" sz="1200" kern="100" dirty="0">
                          <a:effectLst/>
                          <a:latin typeface="微软雅黑" pitchFamily="34" charset="-122"/>
                          <a:ea typeface="微软雅黑" pitchFamily="34" charset="-122"/>
                        </a:rPr>
                        <a:t>户号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CNo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户名</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CName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性别</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CSex</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生日</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Birth</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电话</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Phone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婚否</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Marry</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照片</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Photo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邮箱</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EMail</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0"/>
                  </a:ext>
                </a:extLst>
              </a:tr>
              <a:tr h="665580">
                <a:tc>
                  <a:txBody>
                    <a:bodyPr/>
                    <a:lstStyle/>
                    <a:p>
                      <a:pPr algn="ctr">
                        <a:lnSpc>
                          <a:spcPts val="1200"/>
                        </a:lnSpc>
                        <a:spcAft>
                          <a:spcPts val="0"/>
                        </a:spcAft>
                      </a:pPr>
                      <a:r>
                        <a:rPr lang="en-US" sz="1200" kern="100">
                          <a:effectLst/>
                          <a:latin typeface="微软雅黑" pitchFamily="34" charset="-122"/>
                          <a:ea typeface="微软雅黑" pitchFamily="34" charset="-122"/>
                        </a:rPr>
                        <a:t>C001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李明</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男</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1966-06-01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13611122233</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是</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二进制数据</a:t>
                      </a:r>
                      <a:r>
                        <a:rPr lang="en-US" sz="1200" kern="100" dirty="0" err="1">
                          <a:effectLst/>
                          <a:latin typeface="微软雅黑" pitchFamily="34" charset="-122"/>
                          <a:ea typeface="微软雅黑" pitchFamily="34" charset="-122"/>
                        </a:rPr>
                        <a:t>Hu.Jpg</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123450@qq.com</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1"/>
                  </a:ext>
                </a:extLst>
              </a:tr>
              <a:tr h="657521">
                <a:tc>
                  <a:txBody>
                    <a:bodyPr/>
                    <a:lstStyle/>
                    <a:p>
                      <a:pPr algn="ctr">
                        <a:lnSpc>
                          <a:spcPts val="1200"/>
                        </a:lnSpc>
                        <a:spcAft>
                          <a:spcPts val="0"/>
                        </a:spcAft>
                      </a:pPr>
                      <a:r>
                        <a:rPr lang="en-US" sz="1200" kern="100">
                          <a:effectLst/>
                          <a:latin typeface="微软雅黑" pitchFamily="34" charset="-122"/>
                          <a:ea typeface="微软雅黑" pitchFamily="34" charset="-122"/>
                        </a:rPr>
                        <a:t>C002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吴光</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男</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1979-09-10</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13911122233</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是</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NULL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543210@qq.com</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2"/>
                  </a:ext>
                </a:extLst>
              </a:tr>
              <a:tr h="657521">
                <a:tc>
                  <a:txBody>
                    <a:bodyPr/>
                    <a:lstStyle/>
                    <a:p>
                      <a:pPr algn="ctr">
                        <a:lnSpc>
                          <a:spcPts val="1200"/>
                        </a:lnSpc>
                        <a:spcAft>
                          <a:spcPts val="0"/>
                        </a:spcAft>
                      </a:pPr>
                      <a:r>
                        <a:rPr lang="en-US" sz="1200" kern="100">
                          <a:effectLst/>
                          <a:latin typeface="微软雅黑" pitchFamily="34" charset="-122"/>
                          <a:ea typeface="微软雅黑" pitchFamily="34" charset="-122"/>
                        </a:rPr>
                        <a:t>C003</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王英</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女</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1988-10-06</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13622233355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是</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NULL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122220@qq.com</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3"/>
                  </a:ext>
                </a:extLst>
              </a:tr>
              <a:tr h="657521">
                <a:tc>
                  <a:txBody>
                    <a:bodyPr/>
                    <a:lstStyle/>
                    <a:p>
                      <a:pPr algn="ctr">
                        <a:lnSpc>
                          <a:spcPts val="1200"/>
                        </a:lnSpc>
                        <a:spcAft>
                          <a:spcPts val="0"/>
                        </a:spcAft>
                      </a:pPr>
                      <a:r>
                        <a:rPr lang="en-US" sz="1200" kern="100">
                          <a:effectLst/>
                          <a:latin typeface="微软雅黑" pitchFamily="34" charset="-122"/>
                          <a:ea typeface="微软雅黑" pitchFamily="34" charset="-122"/>
                        </a:rPr>
                        <a:t>C004</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赵庆</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男</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1999-06-16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13922233355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否</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NULL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222220@qq.com</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4"/>
                  </a:ext>
                </a:extLst>
              </a:tr>
              <a:tr h="657521">
                <a:tc>
                  <a:txBody>
                    <a:bodyPr/>
                    <a:lstStyle/>
                    <a:p>
                      <a:pPr algn="ctr">
                        <a:lnSpc>
                          <a:spcPts val="1200"/>
                        </a:lnSpc>
                        <a:spcAft>
                          <a:spcPts val="0"/>
                        </a:spcAft>
                      </a:pPr>
                      <a:r>
                        <a:rPr lang="en-US" sz="1200" kern="100">
                          <a:effectLst/>
                          <a:latin typeface="微软雅黑" pitchFamily="34" charset="-122"/>
                          <a:ea typeface="微软雅黑" pitchFamily="34" charset="-122"/>
                        </a:rPr>
                        <a:t>C005</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李丽</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女</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2002-07-11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13655566699</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否</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NULL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345220@qq.com</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5"/>
                  </a:ext>
                </a:extLst>
              </a:tr>
              <a:tr h="657521">
                <a:tc>
                  <a:txBody>
                    <a:bodyPr/>
                    <a:lstStyle/>
                    <a:p>
                      <a:pPr algn="ctr">
                        <a:lnSpc>
                          <a:spcPts val="1200"/>
                        </a:lnSpc>
                        <a:spcAft>
                          <a:spcPts val="0"/>
                        </a:spcAft>
                      </a:pPr>
                      <a:r>
                        <a:rPr lang="en-US" sz="1200" kern="100">
                          <a:effectLst/>
                          <a:latin typeface="微软雅黑" pitchFamily="34" charset="-122"/>
                          <a:ea typeface="微软雅黑" pitchFamily="34" charset="-122"/>
                        </a:rPr>
                        <a:t>C006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李丽</a:t>
                      </a: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女</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2006-08-08</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13955566699</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a:effectLst/>
                          <a:latin typeface="微软雅黑" pitchFamily="34" charset="-122"/>
                          <a:ea typeface="微软雅黑" pitchFamily="34" charset="-122"/>
                        </a:rPr>
                        <a:t>否</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NULL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562220@qq.com</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6"/>
                  </a:ext>
                </a:extLst>
              </a:tr>
            </a:tbl>
          </a:graphicData>
        </a:graphic>
      </p:graphicFrame>
      <p:sp>
        <p:nvSpPr>
          <p:cNvPr id="3" name="灯片编号占位符 2">
            <a:extLst>
              <a:ext uri="{FF2B5EF4-FFF2-40B4-BE49-F238E27FC236}">
                <a16:creationId xmlns:a16="http://schemas.microsoft.com/office/drawing/2014/main" id="{8592A3C4-9269-A34F-95CA-35B6D7325397}"/>
              </a:ext>
            </a:extLst>
          </p:cNvPr>
          <p:cNvSpPr>
            <a:spLocks noGrp="1"/>
          </p:cNvSpPr>
          <p:nvPr>
            <p:ph type="sldNum" sz="quarter" idx="12"/>
          </p:nvPr>
        </p:nvSpPr>
        <p:spPr/>
        <p:txBody>
          <a:bodyPr/>
          <a:lstStyle/>
          <a:p>
            <a:fld id="{C46E5E69-9A6D-4AF8-BC2D-C556A9893D8F}" type="slidenum">
              <a:rPr lang="zh-CN" altLang="en-US" smtClean="0"/>
              <a:pPr/>
              <a:t>6</a:t>
            </a:fld>
            <a:endParaRPr lang="zh-CN" altLang="en-US" dirty="0"/>
          </a:p>
        </p:txBody>
      </p:sp>
    </p:spTree>
    <p:extLst>
      <p:ext uri="{BB962C8B-B14F-4D97-AF65-F5344CB8AC3E}">
        <p14:creationId xmlns:p14="http://schemas.microsoft.com/office/powerpoint/2010/main" val="3608886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548680"/>
            <a:ext cx="8219256" cy="706090"/>
          </a:xfrm>
        </p:spPr>
        <p:txBody>
          <a:bodyPr/>
          <a:lstStyle/>
          <a:p>
            <a:r>
              <a:rPr lang="zh-CN" altLang="zh-CN" dirty="0"/>
              <a:t>购买</a:t>
            </a:r>
            <a:r>
              <a:rPr lang="en-US" altLang="zh-CN" dirty="0"/>
              <a:t>Buy</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365878776"/>
              </p:ext>
            </p:extLst>
          </p:nvPr>
        </p:nvGraphicFramePr>
        <p:xfrm>
          <a:off x="251520" y="1484784"/>
          <a:ext cx="8640960" cy="4248470"/>
        </p:xfrm>
        <a:graphic>
          <a:graphicData uri="http://schemas.openxmlformats.org/drawingml/2006/table">
            <a:tbl>
              <a:tblPr firstRow="1" firstCol="1" bandRow="1" bandCol="1">
                <a:tableStyleId>{5C22544A-7EE6-4342-B048-85BDC9FD1C3A}</a:tableStyleId>
              </a:tblPr>
              <a:tblGrid>
                <a:gridCol w="836887">
                  <a:extLst>
                    <a:ext uri="{9D8B030D-6E8A-4147-A177-3AD203B41FA5}">
                      <a16:colId xmlns:a16="http://schemas.microsoft.com/office/drawing/2014/main" val="20000"/>
                    </a:ext>
                  </a:extLst>
                </a:gridCol>
                <a:gridCol w="2328262">
                  <a:extLst>
                    <a:ext uri="{9D8B030D-6E8A-4147-A177-3AD203B41FA5}">
                      <a16:colId xmlns:a16="http://schemas.microsoft.com/office/drawing/2014/main" val="20001"/>
                    </a:ext>
                  </a:extLst>
                </a:gridCol>
                <a:gridCol w="1255330">
                  <a:extLst>
                    <a:ext uri="{9D8B030D-6E8A-4147-A177-3AD203B41FA5}">
                      <a16:colId xmlns:a16="http://schemas.microsoft.com/office/drawing/2014/main" val="20002"/>
                    </a:ext>
                  </a:extLst>
                </a:gridCol>
                <a:gridCol w="114730">
                  <a:extLst>
                    <a:ext uri="{9D8B030D-6E8A-4147-A177-3AD203B41FA5}">
                      <a16:colId xmlns:a16="http://schemas.microsoft.com/office/drawing/2014/main" val="20003"/>
                    </a:ext>
                  </a:extLst>
                </a:gridCol>
                <a:gridCol w="798737">
                  <a:extLst>
                    <a:ext uri="{9D8B030D-6E8A-4147-A177-3AD203B41FA5}">
                      <a16:colId xmlns:a16="http://schemas.microsoft.com/office/drawing/2014/main" val="20004"/>
                    </a:ext>
                  </a:extLst>
                </a:gridCol>
                <a:gridCol w="2150633">
                  <a:extLst>
                    <a:ext uri="{9D8B030D-6E8A-4147-A177-3AD203B41FA5}">
                      <a16:colId xmlns:a16="http://schemas.microsoft.com/office/drawing/2014/main" val="20005"/>
                    </a:ext>
                  </a:extLst>
                </a:gridCol>
                <a:gridCol w="1156381">
                  <a:extLst>
                    <a:ext uri="{9D8B030D-6E8A-4147-A177-3AD203B41FA5}">
                      <a16:colId xmlns:a16="http://schemas.microsoft.com/office/drawing/2014/main" val="20006"/>
                    </a:ext>
                  </a:extLst>
                </a:gridCol>
              </a:tblGrid>
              <a:tr h="876044">
                <a:tc>
                  <a:txBody>
                    <a:bodyPr/>
                    <a:lstStyle/>
                    <a:p>
                      <a:pPr algn="ctr">
                        <a:lnSpc>
                          <a:spcPts val="900"/>
                        </a:lnSpc>
                        <a:spcAft>
                          <a:spcPts val="0"/>
                        </a:spcAft>
                      </a:pPr>
                      <a:r>
                        <a:rPr lang="zh-CN" sz="1200" kern="100" dirty="0">
                          <a:effectLst/>
                          <a:latin typeface="微软雅黑" pitchFamily="34" charset="-122"/>
                          <a:ea typeface="微软雅黑" pitchFamily="34" charset="-122"/>
                        </a:rPr>
                        <a:t>户号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CNo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书号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BNo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购买日期</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PDate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户号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CNo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书号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BNo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购买日期</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PDate</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0"/>
                  </a:ext>
                </a:extLst>
              </a:tr>
              <a:tr h="562071">
                <a:tc>
                  <a:txBody>
                    <a:bodyPr/>
                    <a:lstStyle/>
                    <a:p>
                      <a:pPr algn="ctr">
                        <a:lnSpc>
                          <a:spcPts val="1200"/>
                        </a:lnSpc>
                        <a:spcAft>
                          <a:spcPts val="0"/>
                        </a:spcAft>
                      </a:pPr>
                      <a:r>
                        <a:rPr lang="en-US" sz="1200" kern="100" dirty="0">
                          <a:effectLst/>
                          <a:latin typeface="微软雅黑" pitchFamily="34" charset="-122"/>
                          <a:ea typeface="微软雅黑" pitchFamily="34" charset="-122"/>
                        </a:rPr>
                        <a:t>C001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ISBN978-7-04-040664-1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2014-10-26</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C002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ISBN978-7-04-040664-1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2014-11-22</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1"/>
                  </a:ext>
                </a:extLst>
              </a:tr>
              <a:tr h="562071">
                <a:tc>
                  <a:txBody>
                    <a:bodyPr/>
                    <a:lstStyle/>
                    <a:p>
                      <a:pPr algn="ctr">
                        <a:lnSpc>
                          <a:spcPts val="1200"/>
                        </a:lnSpc>
                        <a:spcAft>
                          <a:spcPts val="0"/>
                        </a:spcAft>
                      </a:pPr>
                      <a:r>
                        <a:rPr lang="en-US" sz="1200" kern="100" dirty="0">
                          <a:effectLst/>
                          <a:latin typeface="微软雅黑" pitchFamily="34" charset="-122"/>
                          <a:ea typeface="微软雅黑" pitchFamily="34" charset="-122"/>
                        </a:rPr>
                        <a:t>C001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ISBN978-7-302-33894-9</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2014-06-16</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C002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ISBN978-7-302-33894-9</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2014-08-12</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2"/>
                  </a:ext>
                </a:extLst>
              </a:tr>
              <a:tr h="562071">
                <a:tc>
                  <a:txBody>
                    <a:bodyPr/>
                    <a:lstStyle/>
                    <a:p>
                      <a:pPr algn="ctr">
                        <a:lnSpc>
                          <a:spcPts val="1200"/>
                        </a:lnSpc>
                        <a:spcAft>
                          <a:spcPts val="0"/>
                        </a:spcAft>
                      </a:pPr>
                      <a:r>
                        <a:rPr lang="en-US" sz="1200" kern="100" dirty="0">
                          <a:effectLst/>
                          <a:latin typeface="微软雅黑" pitchFamily="34" charset="-122"/>
                          <a:ea typeface="微软雅黑" pitchFamily="34" charset="-122"/>
                        </a:rPr>
                        <a:t>C001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ISBN978-7-5612-2591-2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2010-01-12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C003</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ISBN978-7-5612-2591-2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2011-11-13</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3"/>
                  </a:ext>
                </a:extLst>
              </a:tr>
              <a:tr h="562071">
                <a:tc>
                  <a:txBody>
                    <a:bodyPr/>
                    <a:lstStyle/>
                    <a:p>
                      <a:pPr algn="ctr">
                        <a:lnSpc>
                          <a:spcPts val="1200"/>
                        </a:lnSpc>
                        <a:spcAft>
                          <a:spcPts val="0"/>
                        </a:spcAft>
                      </a:pPr>
                      <a:r>
                        <a:rPr lang="en-US" sz="1200" kern="100">
                          <a:effectLst/>
                          <a:latin typeface="微软雅黑" pitchFamily="34" charset="-122"/>
                          <a:ea typeface="微软雅黑" pitchFamily="34" charset="-122"/>
                        </a:rPr>
                        <a:t>C001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ISBN978-7-5612-2123-1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2006-12-01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 </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C005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ISBN978-7-5612-2123-1</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2008-10-09</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4"/>
                  </a:ext>
                </a:extLst>
              </a:tr>
              <a:tr h="562071">
                <a:tc>
                  <a:txBody>
                    <a:bodyPr/>
                    <a:lstStyle/>
                    <a:p>
                      <a:pPr algn="ctr">
                        <a:lnSpc>
                          <a:spcPts val="1200"/>
                        </a:lnSpc>
                        <a:spcAft>
                          <a:spcPts val="0"/>
                        </a:spcAft>
                      </a:pPr>
                      <a:r>
                        <a:rPr lang="en-US" sz="1200" kern="100">
                          <a:effectLst/>
                          <a:latin typeface="微软雅黑" pitchFamily="34" charset="-122"/>
                          <a:ea typeface="微软雅黑" pitchFamily="34" charset="-122"/>
                        </a:rPr>
                        <a:t>C001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ISBN978-7-5178-0167-2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2014-03-19</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C006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ISBN978-7-5178-0167-2</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2015-06-18</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5"/>
                  </a:ext>
                </a:extLst>
              </a:tr>
              <a:tr h="562071">
                <a:tc>
                  <a:txBody>
                    <a:bodyPr/>
                    <a:lstStyle/>
                    <a:p>
                      <a:pPr algn="ctr">
                        <a:lnSpc>
                          <a:spcPts val="1200"/>
                        </a:lnSpc>
                        <a:spcAft>
                          <a:spcPts val="0"/>
                        </a:spcAft>
                      </a:pPr>
                      <a:r>
                        <a:rPr lang="en-US" sz="1200" kern="100">
                          <a:effectLst/>
                          <a:latin typeface="微软雅黑" pitchFamily="34" charset="-122"/>
                          <a:ea typeface="微软雅黑" pitchFamily="34" charset="-122"/>
                        </a:rPr>
                        <a:t>C001</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ISBN978-7-81140-582-8</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2012-09-15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C006</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ISBN978-7-81140-582-8</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2013-10-17</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6"/>
                  </a:ext>
                </a:extLst>
              </a:tr>
            </a:tbl>
          </a:graphicData>
        </a:graphic>
      </p:graphicFrame>
      <p:sp>
        <p:nvSpPr>
          <p:cNvPr id="3" name="灯片编号占位符 2">
            <a:extLst>
              <a:ext uri="{FF2B5EF4-FFF2-40B4-BE49-F238E27FC236}">
                <a16:creationId xmlns:a16="http://schemas.microsoft.com/office/drawing/2014/main" id="{240435C1-1563-6645-9023-E713CB55E5C0}"/>
              </a:ext>
            </a:extLst>
          </p:cNvPr>
          <p:cNvSpPr>
            <a:spLocks noGrp="1"/>
          </p:cNvSpPr>
          <p:nvPr>
            <p:ph type="sldNum" sz="quarter" idx="12"/>
          </p:nvPr>
        </p:nvSpPr>
        <p:spPr/>
        <p:txBody>
          <a:bodyPr/>
          <a:lstStyle/>
          <a:p>
            <a:fld id="{C46E5E69-9A6D-4AF8-BC2D-C556A9893D8F}" type="slidenum">
              <a:rPr lang="zh-CN" altLang="en-US" smtClean="0"/>
              <a:pPr/>
              <a:t>7</a:t>
            </a:fld>
            <a:endParaRPr lang="zh-CN" altLang="en-US" dirty="0"/>
          </a:p>
        </p:txBody>
      </p:sp>
    </p:spTree>
    <p:extLst>
      <p:ext uri="{BB962C8B-B14F-4D97-AF65-F5344CB8AC3E}">
        <p14:creationId xmlns:p14="http://schemas.microsoft.com/office/powerpoint/2010/main" val="3028035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出版社</a:t>
            </a:r>
            <a:r>
              <a:rPr lang="en-US" altLang="zh-CN" dirty="0"/>
              <a:t>Press</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122153696"/>
              </p:ext>
            </p:extLst>
          </p:nvPr>
        </p:nvGraphicFramePr>
        <p:xfrm>
          <a:off x="107504" y="1124744"/>
          <a:ext cx="8856984" cy="4968554"/>
        </p:xfrm>
        <a:graphic>
          <a:graphicData uri="http://schemas.openxmlformats.org/drawingml/2006/table">
            <a:tbl>
              <a:tblPr firstRow="1" firstCol="1" bandRow="1" bandCol="1">
                <a:tableStyleId>{5C22544A-7EE6-4342-B048-85BDC9FD1C3A}</a:tableStyleId>
              </a:tblPr>
              <a:tblGrid>
                <a:gridCol w="1362867">
                  <a:extLst>
                    <a:ext uri="{9D8B030D-6E8A-4147-A177-3AD203B41FA5}">
                      <a16:colId xmlns:a16="http://schemas.microsoft.com/office/drawing/2014/main" val="20000"/>
                    </a:ext>
                  </a:extLst>
                </a:gridCol>
                <a:gridCol w="1142836">
                  <a:extLst>
                    <a:ext uri="{9D8B030D-6E8A-4147-A177-3AD203B41FA5}">
                      <a16:colId xmlns:a16="http://schemas.microsoft.com/office/drawing/2014/main" val="20001"/>
                    </a:ext>
                  </a:extLst>
                </a:gridCol>
                <a:gridCol w="641477">
                  <a:extLst>
                    <a:ext uri="{9D8B030D-6E8A-4147-A177-3AD203B41FA5}">
                      <a16:colId xmlns:a16="http://schemas.microsoft.com/office/drawing/2014/main" val="20002"/>
                    </a:ext>
                  </a:extLst>
                </a:gridCol>
                <a:gridCol w="1195381">
                  <a:extLst>
                    <a:ext uri="{9D8B030D-6E8A-4147-A177-3AD203B41FA5}">
                      <a16:colId xmlns:a16="http://schemas.microsoft.com/office/drawing/2014/main" val="20003"/>
                    </a:ext>
                  </a:extLst>
                </a:gridCol>
                <a:gridCol w="1233694">
                  <a:extLst>
                    <a:ext uri="{9D8B030D-6E8A-4147-A177-3AD203B41FA5}">
                      <a16:colId xmlns:a16="http://schemas.microsoft.com/office/drawing/2014/main" val="20004"/>
                    </a:ext>
                  </a:extLst>
                </a:gridCol>
                <a:gridCol w="1552244">
                  <a:extLst>
                    <a:ext uri="{9D8B030D-6E8A-4147-A177-3AD203B41FA5}">
                      <a16:colId xmlns:a16="http://schemas.microsoft.com/office/drawing/2014/main" val="20005"/>
                    </a:ext>
                  </a:extLst>
                </a:gridCol>
                <a:gridCol w="1728485">
                  <a:extLst>
                    <a:ext uri="{9D8B030D-6E8A-4147-A177-3AD203B41FA5}">
                      <a16:colId xmlns:a16="http://schemas.microsoft.com/office/drawing/2014/main" val="20006"/>
                    </a:ext>
                  </a:extLst>
                </a:gridCol>
              </a:tblGrid>
              <a:tr h="674209">
                <a:tc>
                  <a:txBody>
                    <a:bodyPr/>
                    <a:lstStyle/>
                    <a:p>
                      <a:pPr algn="ctr">
                        <a:lnSpc>
                          <a:spcPts val="900"/>
                        </a:lnSpc>
                        <a:spcAft>
                          <a:spcPts val="0"/>
                        </a:spcAft>
                      </a:pPr>
                      <a:r>
                        <a:rPr lang="zh-CN" sz="1200" kern="100" dirty="0">
                          <a:effectLst/>
                          <a:latin typeface="微软雅黑" pitchFamily="34" charset="-122"/>
                          <a:ea typeface="微软雅黑" pitchFamily="34" charset="-122"/>
                        </a:rPr>
                        <a:t>社号</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PNo</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社名</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PName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邮编</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PCode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社址</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PAddr</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电话</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a:effectLst/>
                          <a:latin typeface="微软雅黑" pitchFamily="34" charset="-122"/>
                          <a:ea typeface="微软雅黑" pitchFamily="34" charset="-122"/>
                        </a:rPr>
                        <a:t>Phone</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邮箱</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EMail</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900"/>
                        </a:lnSpc>
                        <a:spcAft>
                          <a:spcPts val="0"/>
                        </a:spcAft>
                      </a:pPr>
                      <a:r>
                        <a:rPr lang="zh-CN" sz="1200" kern="100" dirty="0">
                          <a:effectLst/>
                          <a:latin typeface="微软雅黑" pitchFamily="34" charset="-122"/>
                          <a:ea typeface="微软雅黑" pitchFamily="34" charset="-122"/>
                        </a:rPr>
                        <a:t>网址</a:t>
                      </a:r>
                      <a:endParaRPr lang="en-US" altLang="zh-CN" sz="1200" kern="100" dirty="0">
                        <a:effectLst/>
                        <a:latin typeface="微软雅黑" pitchFamily="34" charset="-122"/>
                        <a:ea typeface="微软雅黑" pitchFamily="34" charset="-122"/>
                      </a:endParaRPr>
                    </a:p>
                    <a:p>
                      <a:pPr algn="ctr">
                        <a:lnSpc>
                          <a:spcPts val="900"/>
                        </a:lnSpc>
                        <a:spcAft>
                          <a:spcPts val="0"/>
                        </a:spcAft>
                      </a:pPr>
                      <a:endParaRPr lang="zh-CN" sz="1200" kern="100" dirty="0">
                        <a:effectLst/>
                        <a:latin typeface="微软雅黑" pitchFamily="34" charset="-122"/>
                        <a:ea typeface="微软雅黑" pitchFamily="34" charset="-122"/>
                      </a:endParaRPr>
                    </a:p>
                    <a:p>
                      <a:pPr algn="ctr">
                        <a:lnSpc>
                          <a:spcPts val="900"/>
                        </a:lnSpc>
                        <a:spcAft>
                          <a:spcPts val="0"/>
                        </a:spcAft>
                      </a:pPr>
                      <a:r>
                        <a:rPr lang="en-US" sz="1200" kern="100" dirty="0" err="1">
                          <a:effectLst/>
                          <a:latin typeface="微软雅黑" pitchFamily="34" charset="-122"/>
                          <a:ea typeface="微软雅黑" pitchFamily="34" charset="-122"/>
                        </a:rPr>
                        <a:t>HPage</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0"/>
                  </a:ext>
                </a:extLst>
              </a:tr>
              <a:tr h="858869">
                <a:tc>
                  <a:txBody>
                    <a:bodyPr/>
                    <a:lstStyle/>
                    <a:p>
                      <a:pPr algn="ctr">
                        <a:lnSpc>
                          <a:spcPts val="1200"/>
                        </a:lnSpc>
                        <a:spcAft>
                          <a:spcPts val="0"/>
                        </a:spcAft>
                      </a:pPr>
                      <a:r>
                        <a:rPr lang="en-US" sz="1200" kern="100" dirty="0">
                          <a:effectLst/>
                          <a:latin typeface="微软雅黑" pitchFamily="34" charset="-122"/>
                          <a:ea typeface="微软雅黑" pitchFamily="34" charset="-122"/>
                        </a:rPr>
                        <a:t>ISBN978-7-04</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高等教育</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出版社</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100120</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北京市西城区</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德外大街</a:t>
                      </a:r>
                      <a:r>
                        <a:rPr lang="en-US" sz="1200" kern="100" dirty="0">
                          <a:effectLst/>
                          <a:latin typeface="微软雅黑" pitchFamily="34" charset="-122"/>
                          <a:ea typeface="微软雅黑" pitchFamily="34" charset="-122"/>
                        </a:rPr>
                        <a:t>4</a:t>
                      </a:r>
                      <a:r>
                        <a:rPr lang="zh-CN" sz="1200" kern="100" dirty="0">
                          <a:effectLst/>
                          <a:latin typeface="微软雅黑" pitchFamily="34" charset="-122"/>
                          <a:ea typeface="微软雅黑" pitchFamily="34" charset="-122"/>
                        </a:rPr>
                        <a:t>号</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a:t>
                      </a:r>
                      <a:r>
                        <a:rPr lang="en-US" sz="1200" kern="100" dirty="0">
                          <a:effectLst/>
                          <a:latin typeface="微软雅黑" pitchFamily="34" charset="-122"/>
                          <a:ea typeface="微软雅黑" pitchFamily="34" charset="-122"/>
                        </a:rPr>
                        <a:t>010</a:t>
                      </a:r>
                      <a:r>
                        <a:rPr lang="zh-CN" sz="1200" kern="100" dirty="0">
                          <a:effectLst/>
                          <a:latin typeface="微软雅黑" pitchFamily="34" charset="-122"/>
                          <a:ea typeface="微软雅黑" pitchFamily="34" charset="-122"/>
                        </a:rPr>
                        <a:t>）</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58581118</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err="1">
                          <a:effectLst/>
                          <a:latin typeface="微软雅黑" pitchFamily="34" charset="-122"/>
                          <a:ea typeface="微软雅黑" pitchFamily="34" charset="-122"/>
                        </a:rPr>
                        <a:t>Gjdzfwb</a:t>
                      </a:r>
                      <a:endParaRPr lang="en-US"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@pub.hep.cn</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www.hep.edu.cn</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1"/>
                  </a:ext>
                </a:extLst>
              </a:tr>
              <a:tr h="858869">
                <a:tc>
                  <a:txBody>
                    <a:bodyPr/>
                    <a:lstStyle/>
                    <a:p>
                      <a:pPr algn="ctr">
                        <a:lnSpc>
                          <a:spcPts val="1200"/>
                        </a:lnSpc>
                        <a:spcAft>
                          <a:spcPts val="0"/>
                        </a:spcAft>
                      </a:pPr>
                      <a:r>
                        <a:rPr lang="en-US" sz="1200" kern="100">
                          <a:effectLst/>
                          <a:latin typeface="微软雅黑" pitchFamily="34" charset="-122"/>
                          <a:ea typeface="微软雅黑" pitchFamily="34" charset="-122"/>
                        </a:rPr>
                        <a:t>ISBN978-7-302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清华大学</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出版社</a:t>
                      </a: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100084</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清华大学</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学研大厦</a:t>
                      </a:r>
                      <a:r>
                        <a:rPr lang="en-US" sz="1200" kern="100" dirty="0">
                          <a:effectLst/>
                          <a:latin typeface="微软雅黑" pitchFamily="34" charset="-122"/>
                          <a:ea typeface="微软雅黑" pitchFamily="34" charset="-122"/>
                        </a:rPr>
                        <a:t>A</a:t>
                      </a:r>
                      <a:r>
                        <a:rPr lang="zh-CN" sz="1200" kern="100" dirty="0">
                          <a:effectLst/>
                          <a:latin typeface="微软雅黑" pitchFamily="34" charset="-122"/>
                          <a:ea typeface="微软雅黑" pitchFamily="34" charset="-122"/>
                        </a:rPr>
                        <a:t>座</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a:t>
                      </a:r>
                      <a:r>
                        <a:rPr lang="en-US" sz="1200" kern="100" dirty="0">
                          <a:effectLst/>
                          <a:latin typeface="微软雅黑" pitchFamily="34" charset="-122"/>
                          <a:ea typeface="微软雅黑" pitchFamily="34" charset="-122"/>
                        </a:rPr>
                        <a:t>010</a:t>
                      </a:r>
                      <a:r>
                        <a:rPr lang="zh-CN" sz="1200" kern="100" dirty="0">
                          <a:effectLst/>
                          <a:latin typeface="微软雅黑" pitchFamily="34" charset="-122"/>
                          <a:ea typeface="微软雅黑" pitchFamily="34" charset="-122"/>
                        </a:rPr>
                        <a:t>）</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62781733</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e-sale</a:t>
                      </a: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@tup.tsinghua.edu.cn</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www.tup.tsinghua.</a:t>
                      </a: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edu.cn</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2"/>
                  </a:ext>
                </a:extLst>
              </a:tr>
              <a:tr h="858869">
                <a:tc>
                  <a:txBody>
                    <a:bodyPr/>
                    <a:lstStyle/>
                    <a:p>
                      <a:pPr algn="ctr">
                        <a:lnSpc>
                          <a:spcPts val="1200"/>
                        </a:lnSpc>
                        <a:spcAft>
                          <a:spcPts val="0"/>
                        </a:spcAft>
                      </a:pPr>
                      <a:r>
                        <a:rPr lang="en-US" sz="1200" kern="100">
                          <a:effectLst/>
                          <a:latin typeface="微软雅黑" pitchFamily="34" charset="-122"/>
                          <a:ea typeface="微软雅黑" pitchFamily="34" charset="-122"/>
                        </a:rPr>
                        <a:t>ISBN978-7-115</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人民邮电</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出版社</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100164</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北京市丰台区</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成寿寺路</a:t>
                      </a:r>
                      <a:r>
                        <a:rPr lang="en-US" sz="1200" kern="100" dirty="0">
                          <a:effectLst/>
                          <a:latin typeface="微软雅黑" pitchFamily="34" charset="-122"/>
                          <a:ea typeface="微软雅黑" pitchFamily="34" charset="-122"/>
                        </a:rPr>
                        <a:t>11</a:t>
                      </a:r>
                      <a:r>
                        <a:rPr lang="zh-CN" sz="1200" kern="100" dirty="0">
                          <a:effectLst/>
                          <a:latin typeface="微软雅黑" pitchFamily="34" charset="-122"/>
                          <a:ea typeface="微软雅黑" pitchFamily="34" charset="-122"/>
                        </a:rPr>
                        <a:t>号</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a:t>
                      </a:r>
                      <a:r>
                        <a:rPr lang="en-US" sz="1200" kern="100" dirty="0">
                          <a:effectLst/>
                          <a:latin typeface="微软雅黑" pitchFamily="34" charset="-122"/>
                          <a:ea typeface="微软雅黑" pitchFamily="34" charset="-122"/>
                        </a:rPr>
                        <a:t>010</a:t>
                      </a:r>
                      <a:r>
                        <a:rPr lang="zh-CN" sz="1200" kern="100" dirty="0">
                          <a:effectLst/>
                          <a:latin typeface="微软雅黑" pitchFamily="34" charset="-122"/>
                          <a:ea typeface="微软雅黑" pitchFamily="34" charset="-122"/>
                        </a:rPr>
                        <a:t>）</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81055075</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err="1">
                          <a:effectLst/>
                          <a:latin typeface="微软雅黑" pitchFamily="34" charset="-122"/>
                          <a:ea typeface="微软雅黑" pitchFamily="34" charset="-122"/>
                        </a:rPr>
                        <a:t>Youdianhr</a:t>
                      </a:r>
                      <a:endParaRPr lang="en-US"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@gmail.com</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www.ptpress.com.cn</a:t>
                      </a:r>
                      <a:endParaRPr lang="zh-CN" sz="1200" kern="10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3"/>
                  </a:ext>
                </a:extLst>
              </a:tr>
              <a:tr h="858869">
                <a:tc>
                  <a:txBody>
                    <a:bodyPr/>
                    <a:lstStyle/>
                    <a:p>
                      <a:pPr algn="ctr">
                        <a:lnSpc>
                          <a:spcPts val="1200"/>
                        </a:lnSpc>
                        <a:spcAft>
                          <a:spcPts val="0"/>
                        </a:spcAft>
                      </a:pPr>
                      <a:r>
                        <a:rPr lang="en-US" sz="1200" kern="100">
                          <a:effectLst/>
                          <a:latin typeface="微软雅黑" pitchFamily="34" charset="-122"/>
                          <a:ea typeface="微软雅黑" pitchFamily="34" charset="-122"/>
                        </a:rPr>
                        <a:t>ISBN978-7-5612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西北工业大学</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出版社</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710072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西安市友谊</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西路</a:t>
                      </a:r>
                      <a:r>
                        <a:rPr lang="en-US" sz="1200" kern="100" dirty="0">
                          <a:effectLst/>
                          <a:latin typeface="微软雅黑" pitchFamily="34" charset="-122"/>
                          <a:ea typeface="微软雅黑" pitchFamily="34" charset="-122"/>
                        </a:rPr>
                        <a:t>127</a:t>
                      </a:r>
                      <a:r>
                        <a:rPr lang="zh-CN" sz="1200" kern="100" dirty="0">
                          <a:effectLst/>
                          <a:latin typeface="微软雅黑" pitchFamily="34" charset="-122"/>
                          <a:ea typeface="微软雅黑" pitchFamily="34" charset="-122"/>
                        </a:rPr>
                        <a:t>号</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a:t>
                      </a:r>
                      <a:r>
                        <a:rPr lang="en-US" sz="1200" kern="100" dirty="0">
                          <a:effectLst/>
                          <a:latin typeface="微软雅黑" pitchFamily="34" charset="-122"/>
                          <a:ea typeface="微软雅黑" pitchFamily="34" charset="-122"/>
                        </a:rPr>
                        <a:t>029</a:t>
                      </a:r>
                      <a:r>
                        <a:rPr lang="zh-CN" sz="1200" kern="100" dirty="0">
                          <a:effectLst/>
                          <a:latin typeface="微软雅黑" pitchFamily="34" charset="-122"/>
                          <a:ea typeface="微软雅黑" pitchFamily="34" charset="-122"/>
                        </a:rPr>
                        <a:t>）</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88493844</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err="1">
                          <a:effectLst/>
                          <a:latin typeface="微软雅黑" pitchFamily="34" charset="-122"/>
                          <a:ea typeface="微软雅黑" pitchFamily="34" charset="-122"/>
                        </a:rPr>
                        <a:t>Fxb</a:t>
                      </a:r>
                      <a:endParaRPr lang="en-US"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@nwpup.com</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www.nwpup.com</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4"/>
                  </a:ext>
                </a:extLst>
              </a:tr>
              <a:tr h="858869">
                <a:tc>
                  <a:txBody>
                    <a:bodyPr/>
                    <a:lstStyle/>
                    <a:p>
                      <a:pPr algn="ctr">
                        <a:lnSpc>
                          <a:spcPts val="1200"/>
                        </a:lnSpc>
                        <a:spcAft>
                          <a:spcPts val="0"/>
                        </a:spcAft>
                      </a:pPr>
                      <a:r>
                        <a:rPr lang="en-US" sz="1200" kern="100">
                          <a:effectLst/>
                          <a:latin typeface="微软雅黑" pitchFamily="34" charset="-122"/>
                          <a:ea typeface="微软雅黑" pitchFamily="34" charset="-122"/>
                        </a:rPr>
                        <a:t>ISBN978-7-81140</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浙江工商大学</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en-US" alt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出版社</a:t>
                      </a:r>
                    </a:p>
                  </a:txBody>
                  <a:tcPr marL="17780" marR="17780" marT="0" marB="0" anchor="ctr"/>
                </a:tc>
                <a:tc>
                  <a:txBody>
                    <a:bodyPr/>
                    <a:lstStyle/>
                    <a:p>
                      <a:pPr algn="ctr">
                        <a:lnSpc>
                          <a:spcPts val="1200"/>
                        </a:lnSpc>
                        <a:spcAft>
                          <a:spcPts val="0"/>
                        </a:spcAft>
                      </a:pPr>
                      <a:r>
                        <a:rPr lang="en-US" sz="1200" kern="100">
                          <a:effectLst/>
                          <a:latin typeface="微软雅黑" pitchFamily="34" charset="-122"/>
                          <a:ea typeface="微软雅黑" pitchFamily="34" charset="-122"/>
                        </a:rPr>
                        <a:t>310012</a:t>
                      </a:r>
                      <a:endParaRPr lang="zh-CN" sz="1200" kern="10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杭州市</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zh-CN" sz="1200" kern="100" dirty="0">
                          <a:effectLst/>
                          <a:latin typeface="微软雅黑" pitchFamily="34" charset="-122"/>
                          <a:ea typeface="微软雅黑" pitchFamily="34" charset="-122"/>
                        </a:rPr>
                        <a:t>教工路</a:t>
                      </a:r>
                      <a:r>
                        <a:rPr lang="en-US" sz="1200" kern="100" dirty="0">
                          <a:effectLst/>
                          <a:latin typeface="微软雅黑" pitchFamily="34" charset="-122"/>
                          <a:ea typeface="微软雅黑" pitchFamily="34" charset="-122"/>
                        </a:rPr>
                        <a:t>198</a:t>
                      </a:r>
                      <a:r>
                        <a:rPr lang="zh-CN" sz="1200" kern="100" dirty="0">
                          <a:effectLst/>
                          <a:latin typeface="微软雅黑" pitchFamily="34" charset="-122"/>
                          <a:ea typeface="微软雅黑" pitchFamily="34" charset="-122"/>
                        </a:rPr>
                        <a:t>号</a:t>
                      </a:r>
                    </a:p>
                  </a:txBody>
                  <a:tcPr marL="17780" marR="17780" marT="0" marB="0" anchor="ctr"/>
                </a:tc>
                <a:tc>
                  <a:txBody>
                    <a:bodyPr/>
                    <a:lstStyle/>
                    <a:p>
                      <a:pPr algn="ctr">
                        <a:lnSpc>
                          <a:spcPts val="1200"/>
                        </a:lnSpc>
                        <a:spcAft>
                          <a:spcPts val="0"/>
                        </a:spcAft>
                      </a:pPr>
                      <a:r>
                        <a:rPr lang="zh-CN" sz="1200" kern="100" dirty="0">
                          <a:effectLst/>
                          <a:latin typeface="微软雅黑" pitchFamily="34" charset="-122"/>
                          <a:ea typeface="微软雅黑" pitchFamily="34" charset="-122"/>
                        </a:rPr>
                        <a:t>（</a:t>
                      </a:r>
                      <a:r>
                        <a:rPr lang="en-US" sz="1200" kern="100" dirty="0">
                          <a:effectLst/>
                          <a:latin typeface="微软雅黑" pitchFamily="34" charset="-122"/>
                          <a:ea typeface="微软雅黑" pitchFamily="34" charset="-122"/>
                        </a:rPr>
                        <a:t>0571</a:t>
                      </a:r>
                      <a:r>
                        <a:rPr lang="zh-CN" sz="1200" kern="100" dirty="0">
                          <a:effectLst/>
                          <a:latin typeface="微软雅黑" pitchFamily="34" charset="-122"/>
                          <a:ea typeface="微软雅黑" pitchFamily="34" charset="-122"/>
                        </a:rPr>
                        <a:t>）</a:t>
                      </a:r>
                      <a:endParaRPr lang="en-US" altLang="zh-CN" sz="1200" kern="100" dirty="0">
                        <a:effectLst/>
                        <a:latin typeface="微软雅黑" pitchFamily="34" charset="-122"/>
                        <a:ea typeface="微软雅黑" pitchFamily="34" charset="-122"/>
                      </a:endParaRP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88823703</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61627291</a:t>
                      </a:r>
                    </a:p>
                    <a:p>
                      <a:pPr algn="ctr">
                        <a:lnSpc>
                          <a:spcPts val="1200"/>
                        </a:lnSpc>
                        <a:spcAft>
                          <a:spcPts val="0"/>
                        </a:spcAft>
                      </a:pPr>
                      <a:endParaRPr lang="zh-CN" sz="1200" kern="100" dirty="0">
                        <a:effectLst/>
                        <a:latin typeface="微软雅黑" pitchFamily="34" charset="-122"/>
                        <a:ea typeface="微软雅黑" pitchFamily="34" charset="-122"/>
                      </a:endParaRPr>
                    </a:p>
                    <a:p>
                      <a:pPr algn="ctr">
                        <a:lnSpc>
                          <a:spcPts val="1200"/>
                        </a:lnSpc>
                        <a:spcAft>
                          <a:spcPts val="0"/>
                        </a:spcAft>
                      </a:pPr>
                      <a:r>
                        <a:rPr lang="en-US" sz="1200" kern="100" dirty="0">
                          <a:effectLst/>
                          <a:latin typeface="微软雅黑" pitchFamily="34" charset="-122"/>
                          <a:ea typeface="微软雅黑" pitchFamily="34" charset="-122"/>
                        </a:rPr>
                        <a:t>@qq.com</a:t>
                      </a:r>
                      <a:endParaRPr lang="zh-CN" sz="1200" kern="100" dirty="0">
                        <a:effectLst/>
                        <a:latin typeface="微软雅黑" pitchFamily="34" charset="-122"/>
                        <a:ea typeface="微软雅黑" pitchFamily="34" charset="-122"/>
                      </a:endParaRPr>
                    </a:p>
                  </a:txBody>
                  <a:tcPr marL="17780" marR="17780" marT="0" marB="0" anchor="ctr"/>
                </a:tc>
                <a:tc>
                  <a:txBody>
                    <a:bodyPr/>
                    <a:lstStyle/>
                    <a:p>
                      <a:pPr algn="ctr">
                        <a:lnSpc>
                          <a:spcPts val="1200"/>
                        </a:lnSpc>
                        <a:spcAft>
                          <a:spcPts val="0"/>
                        </a:spcAft>
                      </a:pPr>
                      <a:r>
                        <a:rPr lang="en-US" sz="1200" kern="100" dirty="0">
                          <a:effectLst/>
                          <a:latin typeface="微软雅黑" pitchFamily="34" charset="-122"/>
                          <a:ea typeface="微软雅黑" pitchFamily="34" charset="-122"/>
                        </a:rPr>
                        <a:t>www.zjgsupress.com</a:t>
                      </a:r>
                      <a:endParaRPr lang="zh-CN" sz="1200" kern="100" dirty="0">
                        <a:effectLst/>
                        <a:latin typeface="微软雅黑" pitchFamily="34" charset="-122"/>
                        <a:ea typeface="微软雅黑" pitchFamily="34" charset="-122"/>
                      </a:endParaRPr>
                    </a:p>
                  </a:txBody>
                  <a:tcPr marL="17780" marR="17780" marT="0" marB="0" anchor="ctr"/>
                </a:tc>
                <a:extLst>
                  <a:ext uri="{0D108BD9-81ED-4DB2-BD59-A6C34878D82A}">
                    <a16:rowId xmlns:a16="http://schemas.microsoft.com/office/drawing/2014/main" val="10005"/>
                  </a:ext>
                </a:extLst>
              </a:tr>
            </a:tbl>
          </a:graphicData>
        </a:graphic>
      </p:graphicFrame>
      <p:sp>
        <p:nvSpPr>
          <p:cNvPr id="3" name="灯片编号占位符 2">
            <a:extLst>
              <a:ext uri="{FF2B5EF4-FFF2-40B4-BE49-F238E27FC236}">
                <a16:creationId xmlns:a16="http://schemas.microsoft.com/office/drawing/2014/main" id="{3443072C-2CF1-994E-969C-ED3C5DF532A9}"/>
              </a:ext>
            </a:extLst>
          </p:cNvPr>
          <p:cNvSpPr>
            <a:spLocks noGrp="1"/>
          </p:cNvSpPr>
          <p:nvPr>
            <p:ph type="sldNum" sz="quarter" idx="12"/>
          </p:nvPr>
        </p:nvSpPr>
        <p:spPr/>
        <p:txBody>
          <a:bodyPr/>
          <a:lstStyle/>
          <a:p>
            <a:fld id="{C46E5E69-9A6D-4AF8-BC2D-C556A9893D8F}" type="slidenum">
              <a:rPr lang="zh-CN" altLang="en-US" smtClean="0"/>
              <a:pPr/>
              <a:t>8</a:t>
            </a:fld>
            <a:endParaRPr lang="zh-CN" altLang="en-US" dirty="0"/>
          </a:p>
        </p:txBody>
      </p:sp>
    </p:spTree>
    <p:extLst>
      <p:ext uri="{BB962C8B-B14F-4D97-AF65-F5344CB8AC3E}">
        <p14:creationId xmlns:p14="http://schemas.microsoft.com/office/powerpoint/2010/main" val="1241479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solidFill>
                  <a:srgbClr val="0000FF"/>
                </a:solidFill>
              </a:rPr>
              <a:t>2.2  </a:t>
            </a:r>
            <a:r>
              <a:rPr lang="zh-CN" altLang="zh-CN" dirty="0">
                <a:solidFill>
                  <a:srgbClr val="0000FF"/>
                </a:solidFill>
              </a:rPr>
              <a:t>基本集合运算</a:t>
            </a:r>
            <a:endParaRPr lang="zh-CN" altLang="en-US" dirty="0">
              <a:solidFill>
                <a:srgbClr val="0000FF"/>
              </a:solidFill>
            </a:endParaRPr>
          </a:p>
        </p:txBody>
      </p:sp>
      <p:sp>
        <p:nvSpPr>
          <p:cNvPr id="3" name="文本占位符 2"/>
          <p:cNvSpPr>
            <a:spLocks noGrp="1"/>
          </p:cNvSpPr>
          <p:nvPr>
            <p:ph type="body" idx="1"/>
          </p:nvPr>
        </p:nvSpPr>
        <p:spPr>
          <a:xfrm>
            <a:off x="2195736" y="1484784"/>
            <a:ext cx="5328592" cy="3888432"/>
          </a:xfrm>
        </p:spPr>
        <p:txBody>
          <a:bodyPr>
            <a:normAutofit/>
          </a:bodyPr>
          <a:lstStyle/>
          <a:p>
            <a:pPr>
              <a:lnSpc>
                <a:spcPts val="6600"/>
              </a:lnSpc>
            </a:pPr>
            <a:r>
              <a:rPr lang="en-US" altLang="zh-CN" sz="3600" dirty="0">
                <a:solidFill>
                  <a:srgbClr val="0000FF"/>
                </a:solidFill>
              </a:rPr>
              <a:t>  </a:t>
            </a:r>
            <a:r>
              <a:rPr lang="zh-CN" altLang="zh-CN" sz="3600" dirty="0">
                <a:solidFill>
                  <a:srgbClr val="0000FF"/>
                </a:solidFill>
              </a:rPr>
              <a:t>笛卡尔积</a:t>
            </a:r>
            <a:endParaRPr lang="en-US" altLang="zh-CN" sz="3600" dirty="0">
              <a:solidFill>
                <a:srgbClr val="0000FF"/>
              </a:solidFill>
            </a:endParaRPr>
          </a:p>
          <a:p>
            <a:pPr>
              <a:lnSpc>
                <a:spcPts val="6600"/>
              </a:lnSpc>
            </a:pPr>
            <a:r>
              <a:rPr lang="en-US" altLang="zh-CN" sz="3600" dirty="0">
                <a:solidFill>
                  <a:srgbClr val="0000FF"/>
                </a:solidFill>
              </a:rPr>
              <a:t>  </a:t>
            </a:r>
            <a:r>
              <a:rPr lang="zh-CN" altLang="zh-CN" sz="3600" dirty="0">
                <a:solidFill>
                  <a:srgbClr val="0000FF"/>
                </a:solidFill>
              </a:rPr>
              <a:t>并集</a:t>
            </a:r>
            <a:endParaRPr lang="en-US" altLang="zh-CN" sz="3600" dirty="0">
              <a:solidFill>
                <a:srgbClr val="0000FF"/>
              </a:solidFill>
            </a:endParaRPr>
          </a:p>
          <a:p>
            <a:pPr>
              <a:lnSpc>
                <a:spcPts val="6600"/>
              </a:lnSpc>
            </a:pPr>
            <a:r>
              <a:rPr lang="en-US" altLang="zh-CN" sz="3600" dirty="0">
                <a:solidFill>
                  <a:srgbClr val="0000FF"/>
                </a:solidFill>
              </a:rPr>
              <a:t>  </a:t>
            </a:r>
            <a:r>
              <a:rPr lang="zh-CN" altLang="zh-CN" sz="3600" dirty="0">
                <a:solidFill>
                  <a:srgbClr val="0000FF"/>
                </a:solidFill>
              </a:rPr>
              <a:t>差集</a:t>
            </a:r>
            <a:endParaRPr lang="en-US" altLang="zh-CN" sz="3600" dirty="0">
              <a:solidFill>
                <a:srgbClr val="0000FF"/>
              </a:solidFill>
            </a:endParaRPr>
          </a:p>
          <a:p>
            <a:pPr>
              <a:lnSpc>
                <a:spcPts val="6600"/>
              </a:lnSpc>
            </a:pPr>
            <a:r>
              <a:rPr lang="en-US" altLang="zh-CN" sz="3600" dirty="0">
                <a:solidFill>
                  <a:srgbClr val="0000FF"/>
                </a:solidFill>
              </a:rPr>
              <a:t>  </a:t>
            </a:r>
            <a:r>
              <a:rPr lang="zh-CN" altLang="zh-CN" sz="3600" dirty="0">
                <a:solidFill>
                  <a:srgbClr val="0000FF"/>
                </a:solidFill>
              </a:rPr>
              <a:t>交集</a:t>
            </a:r>
            <a:endParaRPr lang="en-US" altLang="zh-CN" sz="3600" dirty="0">
              <a:solidFill>
                <a:srgbClr val="0000FF"/>
              </a:solidFill>
            </a:endParaRPr>
          </a:p>
        </p:txBody>
      </p:sp>
      <p:sp>
        <p:nvSpPr>
          <p:cNvPr id="4" name="灯片编号占位符 3">
            <a:extLst>
              <a:ext uri="{FF2B5EF4-FFF2-40B4-BE49-F238E27FC236}">
                <a16:creationId xmlns:a16="http://schemas.microsoft.com/office/drawing/2014/main" id="{F9D211E6-07CA-3548-A442-9D516C8CE8C5}"/>
              </a:ext>
            </a:extLst>
          </p:cNvPr>
          <p:cNvSpPr>
            <a:spLocks noGrp="1"/>
          </p:cNvSpPr>
          <p:nvPr>
            <p:ph type="sldNum" sz="quarter" idx="12"/>
          </p:nvPr>
        </p:nvSpPr>
        <p:spPr/>
        <p:txBody>
          <a:bodyPr/>
          <a:lstStyle/>
          <a:p>
            <a:fld id="{C46E5E69-9A6D-4AF8-BC2D-C556A9893D8F}" type="slidenum">
              <a:rPr lang="zh-CN" altLang="en-US" smtClean="0"/>
              <a:pPr/>
              <a:t>9</a:t>
            </a:fld>
            <a:endParaRPr lang="zh-CN" altLang="en-US" dirty="0"/>
          </a:p>
        </p:txBody>
      </p:sp>
    </p:spTree>
    <p:extLst>
      <p:ext uri="{BB962C8B-B14F-4D97-AF65-F5344CB8AC3E}">
        <p14:creationId xmlns:p14="http://schemas.microsoft.com/office/powerpoint/2010/main" val="981125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a:t>
            </a:r>
            <a:r>
              <a:rPr lang="en-US" altLang="zh-CN" i="0" u="none" strike="noStrike" kern="2200" baseline="0" dirty="0"/>
              <a:t>.2.1  </a:t>
            </a:r>
            <a:r>
              <a:rPr lang="zh-CN" altLang="zh-CN" dirty="0">
                <a:solidFill>
                  <a:srgbClr val="0000FF"/>
                </a:solidFill>
              </a:rPr>
              <a:t>笛卡尔积</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07504" y="1052736"/>
            <a:ext cx="8928992" cy="5256584"/>
          </a:xfrm>
        </p:spPr>
        <p:txBody>
          <a:bodyPr>
            <a:normAutofit/>
          </a:bodyPr>
          <a:lstStyle/>
          <a:p>
            <a:pPr lvl="0"/>
            <a:r>
              <a:rPr lang="en-US" altLang="zh-CN" sz="2000" dirty="0">
                <a:solidFill>
                  <a:srgbClr val="0000FF"/>
                </a:solidFill>
              </a:rPr>
              <a:t>R×S</a:t>
            </a:r>
            <a:r>
              <a:rPr lang="zh-CN" altLang="en-US" sz="2000" dirty="0">
                <a:solidFill>
                  <a:srgbClr val="0000FF"/>
                </a:solidFill>
              </a:rPr>
              <a:t>：</a:t>
            </a:r>
            <a:r>
              <a:rPr lang="zh-CN" altLang="zh-CN" sz="2000" dirty="0"/>
              <a:t>把</a:t>
            </a:r>
            <a:r>
              <a:rPr lang="en-US" altLang="zh-CN" sz="2000" dirty="0"/>
              <a:t>R</a:t>
            </a:r>
            <a:r>
              <a:rPr lang="zh-CN" altLang="zh-CN" sz="2000" dirty="0"/>
              <a:t>的每一个元组和</a:t>
            </a:r>
            <a:r>
              <a:rPr lang="en-US" altLang="zh-CN" sz="2000" dirty="0"/>
              <a:t>S</a:t>
            </a:r>
            <a:r>
              <a:rPr lang="zh-CN" altLang="en-US" sz="2000" dirty="0"/>
              <a:t>的</a:t>
            </a:r>
            <a:r>
              <a:rPr lang="zh-CN" altLang="zh-CN" sz="2000" dirty="0"/>
              <a:t>每一个元组依次对接起来，对接后所生成的分量个数为</a:t>
            </a:r>
            <a:r>
              <a:rPr lang="en-US" altLang="zh-CN" sz="2000" dirty="0" err="1"/>
              <a:t>n+m</a:t>
            </a:r>
            <a:r>
              <a:rPr lang="zh-CN" altLang="zh-CN" sz="2000" dirty="0"/>
              <a:t>的所有元组的集合</a:t>
            </a:r>
            <a:r>
              <a:rPr lang="zh-CN" altLang="en-US" sz="2000" dirty="0"/>
              <a:t>。</a:t>
            </a:r>
            <a:endParaRPr lang="en-US" altLang="zh-CN" sz="2000" i="0" u="none" strike="noStrike" kern="100" baseline="0" dirty="0">
              <a:solidFill>
                <a:srgbClr val="0000FF"/>
              </a:solidFill>
            </a:endParaRPr>
          </a:p>
          <a:p>
            <a:pPr marR="0" lvl="0" rtl="0"/>
            <a:r>
              <a:rPr lang="zh-CN" altLang="en-US" sz="2000" i="0" u="none" strike="noStrike" kern="100" baseline="0" dirty="0">
                <a:solidFill>
                  <a:srgbClr val="0000FF"/>
                </a:solidFill>
              </a:rPr>
              <a:t>属性：</a:t>
            </a:r>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分量个数：</a:t>
            </a:r>
            <a:r>
              <a:rPr lang="en-US" altLang="zh-CN" sz="2000" i="0" u="none" strike="noStrike" kern="100" baseline="0" dirty="0"/>
              <a:t>R</a:t>
            </a:r>
            <a:r>
              <a:rPr lang="zh-CN" altLang="zh-CN" sz="2000" dirty="0"/>
              <a:t>的分量个数和</a:t>
            </a:r>
            <a:r>
              <a:rPr lang="en-US" altLang="zh-CN" sz="2000" dirty="0"/>
              <a:t>S</a:t>
            </a:r>
            <a:r>
              <a:rPr lang="zh-CN" altLang="zh-CN" sz="2000" dirty="0"/>
              <a:t>的分量个数的和</a:t>
            </a:r>
            <a:endParaRPr lang="en-US" altLang="zh-CN" sz="2000" dirty="0"/>
          </a:p>
          <a:p>
            <a:pPr lvl="0"/>
            <a:r>
              <a:rPr lang="zh-CN" altLang="zh-CN" sz="2000" dirty="0">
                <a:solidFill>
                  <a:srgbClr val="0000FF"/>
                </a:solidFill>
              </a:rPr>
              <a:t>元组个数</a:t>
            </a:r>
            <a:r>
              <a:rPr lang="zh-CN" altLang="en-US" sz="2000" dirty="0">
                <a:solidFill>
                  <a:srgbClr val="0000FF"/>
                </a:solidFill>
              </a:rPr>
              <a:t>：</a:t>
            </a:r>
            <a:r>
              <a:rPr lang="en-US" altLang="zh-CN" sz="2000" dirty="0"/>
              <a:t>R</a:t>
            </a:r>
            <a:r>
              <a:rPr lang="zh-CN" altLang="zh-CN" sz="2000" dirty="0"/>
              <a:t>的元组个数和</a:t>
            </a:r>
            <a:r>
              <a:rPr lang="en-US" altLang="zh-CN" sz="2000" dirty="0"/>
              <a:t>S</a:t>
            </a:r>
            <a:r>
              <a:rPr lang="zh-CN" altLang="zh-CN" sz="2000" dirty="0"/>
              <a:t>的元组个数的乘积</a:t>
            </a:r>
            <a:endParaRPr lang="en-US" altLang="zh-CN" sz="2000" i="0" u="none" strike="noStrike" kern="100" baseline="0" dirty="0"/>
          </a:p>
          <a:p>
            <a:r>
              <a:rPr lang="zh-CN" altLang="zh-CN" sz="2000" dirty="0">
                <a:solidFill>
                  <a:srgbClr val="0000FF"/>
                </a:solidFill>
              </a:rPr>
              <a:t>元组关系演算</a:t>
            </a:r>
            <a:r>
              <a:rPr lang="zh-CN" altLang="en-US" sz="2000" i="0" u="none" strike="noStrike" kern="100" baseline="0" dirty="0">
                <a:solidFill>
                  <a:srgbClr val="0000FF"/>
                </a:solidFill>
              </a:rPr>
              <a:t>：</a:t>
            </a:r>
            <a:endParaRPr lang="en-US" altLang="zh-CN" sz="2000" i="0" u="none" strike="noStrike" kern="100" baseline="0" dirty="0">
              <a:solidFill>
                <a:srgbClr val="0000FF"/>
              </a:solidFill>
            </a:endParaRPr>
          </a:p>
          <a:p>
            <a:r>
              <a:rPr lang="zh-CN" altLang="zh-CN" sz="2000" dirty="0"/>
              <a:t>域关系演算</a:t>
            </a:r>
            <a:r>
              <a:rPr lang="zh-CN" altLang="en-US" sz="2000" dirty="0"/>
              <a:t>：</a:t>
            </a:r>
            <a:endParaRPr lang="en-US" altLang="zh-CN" sz="2000" dirty="0"/>
          </a:p>
          <a:p>
            <a:endParaRPr lang="en-US" altLang="zh-CN" sz="2000" i="0" u="none" strike="noStrike" kern="100" baseline="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972297706"/>
              </p:ext>
            </p:extLst>
          </p:nvPr>
        </p:nvGraphicFramePr>
        <p:xfrm>
          <a:off x="1547664" y="2060848"/>
          <a:ext cx="3438382" cy="432048"/>
        </p:xfrm>
        <a:graphic>
          <a:graphicData uri="http://schemas.openxmlformats.org/presentationml/2006/ole">
            <mc:AlternateContent xmlns:mc="http://schemas.openxmlformats.org/markup-compatibility/2006">
              <mc:Choice xmlns:v="urn:schemas-microsoft-com:vml" Requires="v">
                <p:oleObj spid="_x0000_s5726" name="公式" r:id="rId3" imgW="1816100" imgH="228600" progId="Equation.3">
                  <p:embed/>
                </p:oleObj>
              </mc:Choice>
              <mc:Fallback>
                <p:oleObj name="公式" r:id="rId3" imgW="1816100" imgH="228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2060848"/>
                        <a:ext cx="3438382" cy="432048"/>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755007838"/>
              </p:ext>
            </p:extLst>
          </p:nvPr>
        </p:nvGraphicFramePr>
        <p:xfrm>
          <a:off x="6300192" y="1628800"/>
          <a:ext cx="1860207" cy="360040"/>
        </p:xfrm>
        <a:graphic>
          <a:graphicData uri="http://schemas.openxmlformats.org/presentationml/2006/ole">
            <mc:AlternateContent xmlns:mc="http://schemas.openxmlformats.org/markup-compatibility/2006">
              <mc:Choice xmlns:v="urn:schemas-microsoft-com:vml" Requires="v">
                <p:oleObj spid="_x0000_s5727" name="公式" r:id="rId5" imgW="1181100" imgH="228600" progId="Equation.3">
                  <p:embed/>
                </p:oleObj>
              </mc:Choice>
              <mc:Fallback>
                <p:oleObj name="公式" r:id="rId5" imgW="11811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192" y="1628800"/>
                        <a:ext cx="1860207" cy="360040"/>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988966126"/>
              </p:ext>
            </p:extLst>
          </p:nvPr>
        </p:nvGraphicFramePr>
        <p:xfrm>
          <a:off x="6444208" y="1988840"/>
          <a:ext cx="1515166" cy="360040"/>
        </p:xfrm>
        <a:graphic>
          <a:graphicData uri="http://schemas.openxmlformats.org/presentationml/2006/ole">
            <mc:AlternateContent xmlns:mc="http://schemas.openxmlformats.org/markup-compatibility/2006">
              <mc:Choice xmlns:v="urn:schemas-microsoft-com:vml" Requires="v">
                <p:oleObj spid="_x0000_s5728" name="公式" r:id="rId7" imgW="965200" imgH="228600" progId="Equation.3">
                  <p:embed/>
                </p:oleObj>
              </mc:Choice>
              <mc:Fallback>
                <p:oleObj name="公式" r:id="rId7" imgW="96520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4208" y="1988840"/>
                        <a:ext cx="1515166" cy="360040"/>
                      </a:xfrm>
                      <a:prstGeom prst="rect">
                        <a:avLst/>
                      </a:prstGeom>
                      <a:noFill/>
                    </p:spPr>
                  </p:pic>
                </p:oleObj>
              </mc:Fallback>
            </mc:AlternateContent>
          </a:graphicData>
        </a:graphic>
      </p:graphicFrame>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4034275047"/>
              </p:ext>
            </p:extLst>
          </p:nvPr>
        </p:nvGraphicFramePr>
        <p:xfrm>
          <a:off x="2386246" y="3429000"/>
          <a:ext cx="3985954" cy="429521"/>
        </p:xfrm>
        <a:graphic>
          <a:graphicData uri="http://schemas.openxmlformats.org/presentationml/2006/ole">
            <mc:AlternateContent xmlns:mc="http://schemas.openxmlformats.org/markup-compatibility/2006">
              <mc:Choice xmlns:v="urn:schemas-microsoft-com:vml" Requires="v">
                <p:oleObj spid="_x0000_s5729" name="公式" r:id="rId9" imgW="1498600" imgH="190500" progId="Equation.3">
                  <p:embed/>
                </p:oleObj>
              </mc:Choice>
              <mc:Fallback>
                <p:oleObj name="公式" r:id="rId9" imgW="1498600" imgH="1905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6246" y="3429000"/>
                        <a:ext cx="3985954" cy="429521"/>
                      </a:xfrm>
                      <a:prstGeom prst="rect">
                        <a:avLst/>
                      </a:prstGeom>
                      <a:noFill/>
                    </p:spPr>
                  </p:pic>
                </p:oleObj>
              </mc:Fallback>
            </mc:AlternateContent>
          </a:graphicData>
        </a:graphic>
      </p:graphicFrame>
      <p:sp>
        <p:nvSpPr>
          <p:cNvPr id="15" name="Arc 307"/>
          <p:cNvSpPr>
            <a:spLocks/>
          </p:cNvSpPr>
          <p:nvPr/>
        </p:nvSpPr>
        <p:spPr bwMode="auto">
          <a:xfrm rot="19340886">
            <a:off x="3708000" y="3361511"/>
            <a:ext cx="294861" cy="297765"/>
          </a:xfrm>
          <a:custGeom>
            <a:avLst/>
            <a:gdLst>
              <a:gd name="G0" fmla="+- 0 0 0"/>
              <a:gd name="G1" fmla="+- 21600 0 0"/>
              <a:gd name="G2" fmla="+- 21600 0 0"/>
              <a:gd name="T0" fmla="*/ 0 w 21065"/>
              <a:gd name="T1" fmla="*/ 0 h 21600"/>
              <a:gd name="T2" fmla="*/ 21065 w 21065"/>
              <a:gd name="T3" fmla="*/ 16823 h 21600"/>
              <a:gd name="T4" fmla="*/ 0 w 21065"/>
              <a:gd name="T5" fmla="*/ 21600 h 21600"/>
            </a:gdLst>
            <a:ahLst/>
            <a:cxnLst>
              <a:cxn ang="0">
                <a:pos x="T0" y="T1"/>
              </a:cxn>
              <a:cxn ang="0">
                <a:pos x="T2" y="T3"/>
              </a:cxn>
              <a:cxn ang="0">
                <a:pos x="T4" y="T5"/>
              </a:cxn>
            </a:cxnLst>
            <a:rect l="0" t="0" r="r" b="b"/>
            <a:pathLst>
              <a:path w="21065" h="21600" fill="none" extrusionOk="0">
                <a:moveTo>
                  <a:pt x="-1" y="0"/>
                </a:moveTo>
                <a:cubicBezTo>
                  <a:pt x="10088" y="0"/>
                  <a:pt x="18833" y="6983"/>
                  <a:pt x="21065" y="16822"/>
                </a:cubicBezTo>
              </a:path>
              <a:path w="21065" h="21600" stroke="0" extrusionOk="0">
                <a:moveTo>
                  <a:pt x="-1" y="0"/>
                </a:moveTo>
                <a:cubicBezTo>
                  <a:pt x="10088" y="0"/>
                  <a:pt x="18833" y="6983"/>
                  <a:pt x="21065" y="16822"/>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6"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4272463086"/>
              </p:ext>
            </p:extLst>
          </p:nvPr>
        </p:nvGraphicFramePr>
        <p:xfrm>
          <a:off x="539552" y="4365104"/>
          <a:ext cx="7848872" cy="362954"/>
        </p:xfrm>
        <a:graphic>
          <a:graphicData uri="http://schemas.openxmlformats.org/presentationml/2006/ole">
            <mc:AlternateContent xmlns:mc="http://schemas.openxmlformats.org/markup-compatibility/2006">
              <mc:Choice xmlns:v="urn:schemas-microsoft-com:vml" Requires="v">
                <p:oleObj spid="_x0000_s5730" r:id="rId11" imgW="4940300" imgH="228600" progId="Equation.DSMT4">
                  <p:embed/>
                </p:oleObj>
              </mc:Choice>
              <mc:Fallback>
                <p:oleObj r:id="rId11" imgW="4940300" imgH="228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552" y="4365104"/>
                        <a:ext cx="7848872" cy="362954"/>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15141CEB-6729-2047-A90A-BF3157485D75}"/>
              </a:ext>
            </a:extLst>
          </p:cNvPr>
          <p:cNvSpPr>
            <a:spLocks noGrp="1"/>
          </p:cNvSpPr>
          <p:nvPr>
            <p:ph type="sldNum" sz="quarter" idx="12"/>
          </p:nvPr>
        </p:nvSpPr>
        <p:spPr/>
        <p:txBody>
          <a:bodyPr/>
          <a:lstStyle/>
          <a:p>
            <a:fld id="{C46E5E69-9A6D-4AF8-BC2D-C556A9893D8F}" type="slidenum">
              <a:rPr lang="zh-CN" altLang="en-US" smtClean="0"/>
              <a:pPr/>
              <a:t>10</a:t>
            </a:fld>
            <a:endParaRPr lang="zh-CN" altLang="en-US" dirty="0"/>
          </a:p>
        </p:txBody>
      </p:sp>
    </p:spTree>
    <p:extLst>
      <p:ext uri="{BB962C8B-B14F-4D97-AF65-F5344CB8AC3E}">
        <p14:creationId xmlns:p14="http://schemas.microsoft.com/office/powerpoint/2010/main" val="447341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2.2.1  </a:t>
            </a:r>
            <a:r>
              <a:rPr lang="zh-CN" altLang="zh-CN" dirty="0">
                <a:solidFill>
                  <a:srgbClr val="0000FF"/>
                </a:solidFill>
              </a:rPr>
              <a:t>笛卡尔积</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457200" y="1124744"/>
            <a:ext cx="8229600" cy="648072"/>
          </a:xfrm>
        </p:spPr>
        <p:txBody>
          <a:bodyPr>
            <a:noAutofit/>
          </a:bodyPr>
          <a:lstStyle/>
          <a:p>
            <a:pPr marL="0" indent="0">
              <a:buNone/>
            </a:pPr>
            <a:r>
              <a:rPr lang="zh-CN" altLang="zh-CN" sz="1800" dirty="0">
                <a:solidFill>
                  <a:srgbClr val="0000FF"/>
                </a:solidFill>
              </a:rPr>
              <a:t>例2.1</a:t>
            </a:r>
            <a:r>
              <a:rPr lang="en-US" altLang="zh-CN" sz="1800" dirty="0">
                <a:solidFill>
                  <a:srgbClr val="0000FF"/>
                </a:solidFill>
              </a:rPr>
              <a:t>  </a:t>
            </a:r>
            <a:r>
              <a:rPr lang="zh-CN" altLang="zh-CN" sz="1800" dirty="0"/>
              <a:t>已知</a:t>
            </a:r>
            <a:r>
              <a:rPr lang="en-US" altLang="zh-CN" sz="1800" dirty="0"/>
              <a:t>R</a:t>
            </a:r>
            <a:r>
              <a:rPr lang="zh-CN" altLang="zh-CN" sz="1800" dirty="0"/>
              <a:t>和</a:t>
            </a:r>
            <a:r>
              <a:rPr lang="en-US" altLang="zh-CN" sz="1800" dirty="0"/>
              <a:t>S</a:t>
            </a:r>
            <a:r>
              <a:rPr lang="zh-CN" altLang="zh-CN" sz="1800" dirty="0"/>
              <a:t>，则</a:t>
            </a:r>
            <a:r>
              <a:rPr lang="en-US" altLang="zh-CN" sz="1800" dirty="0"/>
              <a:t>R×S</a:t>
            </a:r>
            <a:r>
              <a:rPr lang="zh-CN" altLang="zh-CN" sz="1800" dirty="0"/>
              <a:t> </a:t>
            </a:r>
            <a:r>
              <a:rPr lang="en-US" altLang="zh-CN" sz="1800" dirty="0"/>
              <a:t>=</a:t>
            </a:r>
            <a:r>
              <a:rPr lang="zh-CN" altLang="en-US" sz="1800" dirty="0"/>
              <a:t>？ </a:t>
            </a:r>
            <a:r>
              <a:rPr lang="zh-CN" altLang="zh-CN" sz="1800" dirty="0"/>
              <a:t>笛卡尔积中包含有较多无意义的元组</a:t>
            </a:r>
            <a:r>
              <a:rPr lang="zh-CN" altLang="en-US" sz="1800" dirty="0"/>
              <a:t>？</a:t>
            </a:r>
            <a:endParaRPr lang="zh-CN" altLang="en-US" sz="1800" i="0" u="none" strike="noStrike" kern="100" baseline="0" dirty="0"/>
          </a:p>
        </p:txBody>
      </p:sp>
      <p:grpSp>
        <p:nvGrpSpPr>
          <p:cNvPr id="7" name="画布 384"/>
          <p:cNvGrpSpPr/>
          <p:nvPr/>
        </p:nvGrpSpPr>
        <p:grpSpPr>
          <a:xfrm>
            <a:off x="683568" y="2128180"/>
            <a:ext cx="7920880" cy="3101020"/>
            <a:chOff x="0" y="0"/>
            <a:chExt cx="5276850" cy="2181225"/>
          </a:xfrm>
        </p:grpSpPr>
        <p:sp>
          <p:nvSpPr>
            <p:cNvPr id="8" name="矩形 7"/>
            <p:cNvSpPr/>
            <p:nvPr/>
          </p:nvSpPr>
          <p:spPr>
            <a:xfrm>
              <a:off x="0" y="0"/>
              <a:ext cx="5276850" cy="2181225"/>
            </a:xfrm>
            <a:prstGeom prst="rect">
              <a:avLst/>
            </a:prstGeom>
          </p:spPr>
        </p:sp>
        <p:sp>
          <p:nvSpPr>
            <p:cNvPr id="9" name="Text Box 315"/>
            <p:cNvSpPr txBox="1">
              <a:spLocks noChangeArrowheads="1"/>
            </p:cNvSpPr>
            <p:nvPr/>
          </p:nvSpPr>
          <p:spPr bwMode="auto">
            <a:xfrm>
              <a:off x="1304275" y="789223"/>
              <a:ext cx="380440" cy="3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ts val="2200"/>
                </a:lnSpc>
                <a:spcAft>
                  <a:spcPts val="0"/>
                </a:spcAft>
              </a:pPr>
              <a:r>
                <a:rPr lang="zh-CN" sz="3600" dirty="0">
                  <a:effectLst/>
                  <a:latin typeface="微软雅黑" panose="020B0503020204020204" pitchFamily="34" charset="-122"/>
                  <a:ea typeface="微软雅黑" panose="020B0503020204020204" pitchFamily="34" charset="-122"/>
                  <a:cs typeface="宋体"/>
                </a:rPr>
                <a:t>×</a:t>
              </a:r>
            </a:p>
          </p:txBody>
        </p:sp>
        <p:grpSp>
          <p:nvGrpSpPr>
            <p:cNvPr id="10" name="组合 9"/>
            <p:cNvGrpSpPr/>
            <p:nvPr/>
          </p:nvGrpSpPr>
          <p:grpSpPr>
            <a:xfrm>
              <a:off x="170475" y="407537"/>
              <a:ext cx="1012073" cy="1106171"/>
              <a:chOff x="180000" y="521837"/>
              <a:chExt cx="1012073" cy="1106171"/>
            </a:xfrm>
          </p:grpSpPr>
          <p:sp>
            <p:nvSpPr>
              <p:cNvPr id="21" name="Text Box 316"/>
              <p:cNvSpPr txBox="1">
                <a:spLocks noChangeArrowheads="1"/>
              </p:cNvSpPr>
              <p:nvPr/>
            </p:nvSpPr>
            <p:spPr bwMode="auto">
              <a:xfrm>
                <a:off x="180000" y="521837"/>
                <a:ext cx="1012073" cy="110617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姓名</a:t>
                </a:r>
                <a:r>
                  <a:rPr lang="en-US" sz="1600" dirty="0">
                    <a:effectLst/>
                    <a:latin typeface="微软雅黑" panose="020B0503020204020204" pitchFamily="34" charset="-122"/>
                    <a:ea typeface="微软雅黑" panose="020B0503020204020204" pitchFamily="34" charset="-122"/>
                    <a:cs typeface="宋体"/>
                  </a:rPr>
                  <a:t>   </a:t>
                </a:r>
                <a:r>
                  <a:rPr lang="zh-CN" sz="1600" dirty="0">
                    <a:effectLst/>
                    <a:latin typeface="微软雅黑" panose="020B0503020204020204" pitchFamily="34" charset="-122"/>
                    <a:ea typeface="微软雅黑" panose="020B0503020204020204" pitchFamily="34" charset="-122"/>
                    <a:cs typeface="宋体"/>
                  </a:rPr>
                  <a:t>性别</a:t>
                </a:r>
              </a:p>
              <a:p>
                <a:pPr algn="ctr">
                  <a:lnSpc>
                    <a:spcPts val="2200"/>
                  </a:lnSpc>
                  <a:spcAft>
                    <a:spcPts val="0"/>
                  </a:spcAft>
                </a:pPr>
                <a:r>
                  <a:rPr lang="en-US" sz="1600" baseline="-25000" dirty="0">
                    <a:effectLst/>
                    <a:latin typeface="微软雅黑" panose="020B0503020204020204" pitchFamily="34" charset="-122"/>
                    <a:ea typeface="微软雅黑" panose="020B0503020204020204" pitchFamily="34" charset="-122"/>
                    <a:cs typeface="宋体"/>
                  </a:rPr>
                  <a:t> </a:t>
                </a:r>
                <a:endParaRPr lang="zh-CN" sz="1600" dirty="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张良</a:t>
                </a:r>
                <a:r>
                  <a:rPr lang="en-US" sz="1600" dirty="0">
                    <a:effectLst/>
                    <a:latin typeface="微软雅黑" panose="020B0503020204020204" pitchFamily="34" charset="-122"/>
                    <a:ea typeface="微软雅黑" panose="020B0503020204020204" pitchFamily="34" charset="-122"/>
                    <a:cs typeface="宋体"/>
                  </a:rPr>
                  <a:t>     </a:t>
                </a:r>
                <a:r>
                  <a:rPr lang="zh-CN" sz="1600" dirty="0">
                    <a:effectLst/>
                    <a:latin typeface="微软雅黑" panose="020B0503020204020204" pitchFamily="34" charset="-122"/>
                    <a:ea typeface="微软雅黑" panose="020B0503020204020204" pitchFamily="34" charset="-122"/>
                    <a:cs typeface="宋体"/>
                  </a:rPr>
                  <a:t>男</a:t>
                </a:r>
              </a:p>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李丽</a:t>
                </a:r>
                <a:r>
                  <a:rPr lang="en-US" sz="1600" dirty="0">
                    <a:effectLst/>
                    <a:latin typeface="微软雅黑" panose="020B0503020204020204" pitchFamily="34" charset="-122"/>
                    <a:ea typeface="微软雅黑" panose="020B0503020204020204" pitchFamily="34" charset="-122"/>
                    <a:cs typeface="宋体"/>
                  </a:rPr>
                  <a:t>     </a:t>
                </a:r>
                <a:r>
                  <a:rPr lang="zh-CN" sz="1600" dirty="0">
                    <a:effectLst/>
                    <a:latin typeface="微软雅黑" panose="020B0503020204020204" pitchFamily="34" charset="-122"/>
                    <a:ea typeface="微软雅黑" panose="020B0503020204020204" pitchFamily="34" charset="-122"/>
                    <a:cs typeface="宋体"/>
                  </a:rPr>
                  <a:t>女</a:t>
                </a:r>
              </a:p>
            </p:txBody>
          </p:sp>
          <p:cxnSp>
            <p:nvCxnSpPr>
              <p:cNvPr id="22" name="Line 320"/>
              <p:cNvCxnSpPr/>
              <p:nvPr/>
            </p:nvCxnSpPr>
            <p:spPr bwMode="auto">
              <a:xfrm>
                <a:off x="180000" y="867515"/>
                <a:ext cx="101207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11" name="组合 10"/>
            <p:cNvGrpSpPr/>
            <p:nvPr/>
          </p:nvGrpSpPr>
          <p:grpSpPr>
            <a:xfrm>
              <a:off x="1750395" y="407537"/>
              <a:ext cx="1012073" cy="1106171"/>
              <a:chOff x="1836120" y="521837"/>
              <a:chExt cx="1012073" cy="1106171"/>
            </a:xfrm>
          </p:grpSpPr>
          <p:sp>
            <p:nvSpPr>
              <p:cNvPr id="19" name="Text Box 319"/>
              <p:cNvSpPr txBox="1">
                <a:spLocks noChangeArrowheads="1"/>
              </p:cNvSpPr>
              <p:nvPr/>
            </p:nvSpPr>
            <p:spPr bwMode="auto">
              <a:xfrm>
                <a:off x="1836120" y="521837"/>
                <a:ext cx="1012073" cy="110617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年龄</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成绩</a:t>
                </a:r>
              </a:p>
              <a:p>
                <a:pPr algn="ctr">
                  <a:lnSpc>
                    <a:spcPts val="2200"/>
                  </a:lnSpc>
                  <a:spcAft>
                    <a:spcPts val="0"/>
                  </a:spcAft>
                </a:pPr>
                <a:r>
                  <a:rPr lang="en-US" sz="1600" baseline="-25000">
                    <a:effectLst/>
                    <a:latin typeface="微软雅黑" panose="020B0503020204020204" pitchFamily="34" charset="-122"/>
                    <a:ea typeface="微软雅黑" panose="020B0503020204020204" pitchFamily="34" charset="-122"/>
                    <a:cs typeface="宋体"/>
                  </a:rPr>
                  <a:t>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en-US" sz="1600">
                    <a:effectLst/>
                    <a:latin typeface="微软雅黑" panose="020B0503020204020204" pitchFamily="34" charset="-122"/>
                    <a:ea typeface="微软雅黑" panose="020B0503020204020204" pitchFamily="34" charset="-122"/>
                    <a:cs typeface="宋体"/>
                  </a:rPr>
                  <a:t>18     98</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en-US" sz="1600">
                    <a:effectLst/>
                    <a:latin typeface="微软雅黑" panose="020B0503020204020204" pitchFamily="34" charset="-122"/>
                    <a:ea typeface="微软雅黑" panose="020B0503020204020204" pitchFamily="34" charset="-122"/>
                    <a:cs typeface="宋体"/>
                  </a:rPr>
                  <a:t>16     99</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en-US" sz="1600">
                    <a:effectLst/>
                    <a:latin typeface="微软雅黑" panose="020B0503020204020204" pitchFamily="34" charset="-122"/>
                    <a:ea typeface="微软雅黑" panose="020B0503020204020204" pitchFamily="34" charset="-122"/>
                    <a:cs typeface="宋体"/>
                  </a:rPr>
                  <a:t>19     96 </a:t>
                </a:r>
                <a:endParaRPr lang="zh-CN" sz="1600">
                  <a:effectLst/>
                  <a:latin typeface="微软雅黑" panose="020B0503020204020204" pitchFamily="34" charset="-122"/>
                  <a:ea typeface="微软雅黑" panose="020B0503020204020204" pitchFamily="34" charset="-122"/>
                  <a:cs typeface="宋体"/>
                </a:endParaRPr>
              </a:p>
            </p:txBody>
          </p:sp>
          <p:cxnSp>
            <p:nvCxnSpPr>
              <p:cNvPr id="20" name="Line 321"/>
              <p:cNvCxnSpPr/>
              <p:nvPr/>
            </p:nvCxnSpPr>
            <p:spPr bwMode="auto">
              <a:xfrm>
                <a:off x="1836120" y="867515"/>
                <a:ext cx="101207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12" name="组合 11"/>
            <p:cNvGrpSpPr/>
            <p:nvPr/>
          </p:nvGrpSpPr>
          <p:grpSpPr>
            <a:xfrm>
              <a:off x="3447354" y="113324"/>
              <a:ext cx="1697076" cy="1659257"/>
              <a:chOff x="3333054" y="218099"/>
              <a:chExt cx="1697076" cy="1659257"/>
            </a:xfrm>
          </p:grpSpPr>
          <p:sp>
            <p:nvSpPr>
              <p:cNvPr id="17" name="Text Box 318"/>
              <p:cNvSpPr txBox="1">
                <a:spLocks noChangeArrowheads="1"/>
              </p:cNvSpPr>
              <p:nvPr/>
            </p:nvSpPr>
            <p:spPr bwMode="auto">
              <a:xfrm>
                <a:off x="3343341" y="218099"/>
                <a:ext cx="1686789" cy="16592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姓名</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性别</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年龄</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成绩</a:t>
                </a:r>
              </a:p>
              <a:p>
                <a:pPr algn="ctr">
                  <a:lnSpc>
                    <a:spcPts val="2200"/>
                  </a:lnSpc>
                  <a:spcAft>
                    <a:spcPts val="0"/>
                  </a:spcAft>
                </a:pPr>
                <a:r>
                  <a:rPr lang="en-US" sz="1600" baseline="-25000">
                    <a:effectLst/>
                    <a:latin typeface="微软雅黑" panose="020B0503020204020204" pitchFamily="34" charset="-122"/>
                    <a:ea typeface="微软雅黑" panose="020B0503020204020204" pitchFamily="34" charset="-122"/>
                    <a:cs typeface="宋体"/>
                  </a:rPr>
                  <a:t>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张良</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男</a:t>
                </a:r>
                <a:r>
                  <a:rPr lang="en-US" sz="1600">
                    <a:effectLst/>
                    <a:latin typeface="微软雅黑" panose="020B0503020204020204" pitchFamily="34" charset="-122"/>
                    <a:ea typeface="微软雅黑" panose="020B0503020204020204" pitchFamily="34" charset="-122"/>
                    <a:cs typeface="宋体"/>
                  </a:rPr>
                  <a:t>     18     98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张良</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男</a:t>
                </a:r>
                <a:r>
                  <a:rPr lang="en-US" sz="1600">
                    <a:effectLst/>
                    <a:latin typeface="微软雅黑" panose="020B0503020204020204" pitchFamily="34" charset="-122"/>
                    <a:ea typeface="微软雅黑" panose="020B0503020204020204" pitchFamily="34" charset="-122"/>
                    <a:cs typeface="宋体"/>
                  </a:rPr>
                  <a:t>     16     99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张良</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男</a:t>
                </a:r>
                <a:r>
                  <a:rPr lang="en-US" sz="1600">
                    <a:effectLst/>
                    <a:latin typeface="微软雅黑" panose="020B0503020204020204" pitchFamily="34" charset="-122"/>
                    <a:ea typeface="微软雅黑" panose="020B0503020204020204" pitchFamily="34" charset="-122"/>
                    <a:cs typeface="宋体"/>
                  </a:rPr>
                  <a:t>     19     96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李丽</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女</a:t>
                </a:r>
                <a:r>
                  <a:rPr lang="en-US" sz="1600">
                    <a:effectLst/>
                    <a:latin typeface="微软雅黑" panose="020B0503020204020204" pitchFamily="34" charset="-122"/>
                    <a:ea typeface="微软雅黑" panose="020B0503020204020204" pitchFamily="34" charset="-122"/>
                    <a:cs typeface="宋体"/>
                  </a:rPr>
                  <a:t>     18     98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李丽</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女</a:t>
                </a:r>
                <a:r>
                  <a:rPr lang="en-US" sz="1600">
                    <a:effectLst/>
                    <a:latin typeface="微软雅黑" panose="020B0503020204020204" pitchFamily="34" charset="-122"/>
                    <a:ea typeface="微软雅黑" panose="020B0503020204020204" pitchFamily="34" charset="-122"/>
                    <a:cs typeface="宋体"/>
                  </a:rPr>
                  <a:t>     16     99 </a:t>
                </a:r>
                <a:endParaRPr lang="zh-CN" sz="1600">
                  <a:effectLst/>
                  <a:latin typeface="微软雅黑" panose="020B0503020204020204" pitchFamily="34" charset="-122"/>
                  <a:ea typeface="微软雅黑" panose="020B0503020204020204" pitchFamily="34" charset="-122"/>
                  <a:cs typeface="宋体"/>
                </a:endParaRPr>
              </a:p>
              <a:p>
                <a:pPr algn="ctr">
                  <a:lnSpc>
                    <a:spcPts val="2200"/>
                  </a:lnSpc>
                  <a:spcAft>
                    <a:spcPts val="0"/>
                  </a:spcAft>
                </a:pPr>
                <a:r>
                  <a:rPr lang="zh-CN" sz="1600">
                    <a:effectLst/>
                    <a:latin typeface="微软雅黑" panose="020B0503020204020204" pitchFamily="34" charset="-122"/>
                    <a:ea typeface="微软雅黑" panose="020B0503020204020204" pitchFamily="34" charset="-122"/>
                    <a:cs typeface="宋体"/>
                  </a:rPr>
                  <a:t>李丽</a:t>
                </a:r>
                <a:r>
                  <a:rPr lang="en-US" sz="1600">
                    <a:effectLst/>
                    <a:latin typeface="微软雅黑" panose="020B0503020204020204" pitchFamily="34" charset="-122"/>
                    <a:ea typeface="微软雅黑" panose="020B0503020204020204" pitchFamily="34" charset="-122"/>
                    <a:cs typeface="宋体"/>
                  </a:rPr>
                  <a:t>     </a:t>
                </a:r>
                <a:r>
                  <a:rPr lang="zh-CN" sz="1600">
                    <a:effectLst/>
                    <a:latin typeface="微软雅黑" panose="020B0503020204020204" pitchFamily="34" charset="-122"/>
                    <a:ea typeface="微软雅黑" panose="020B0503020204020204" pitchFamily="34" charset="-122"/>
                    <a:cs typeface="宋体"/>
                  </a:rPr>
                  <a:t>女</a:t>
                </a:r>
                <a:r>
                  <a:rPr lang="en-US" sz="1600">
                    <a:effectLst/>
                    <a:latin typeface="微软雅黑" panose="020B0503020204020204" pitchFamily="34" charset="-122"/>
                    <a:ea typeface="微软雅黑" panose="020B0503020204020204" pitchFamily="34" charset="-122"/>
                    <a:cs typeface="宋体"/>
                  </a:rPr>
                  <a:t>     19     96 </a:t>
                </a:r>
                <a:endParaRPr lang="zh-CN" sz="1600">
                  <a:effectLst/>
                  <a:latin typeface="微软雅黑" panose="020B0503020204020204" pitchFamily="34" charset="-122"/>
                  <a:ea typeface="微软雅黑" panose="020B0503020204020204" pitchFamily="34" charset="-122"/>
                  <a:cs typeface="宋体"/>
                </a:endParaRPr>
              </a:p>
              <a:p>
                <a:pPr indent="255905" algn="ctr">
                  <a:lnSpc>
                    <a:spcPts val="2200"/>
                  </a:lnSpc>
                  <a:spcAft>
                    <a:spcPts val="0"/>
                  </a:spcAft>
                </a:pPr>
                <a:r>
                  <a:rPr lang="en-US" sz="1600">
                    <a:effectLst/>
                    <a:latin typeface="微软雅黑" panose="020B0503020204020204" pitchFamily="34" charset="-122"/>
                    <a:ea typeface="微软雅黑" panose="020B0503020204020204" pitchFamily="34" charset="-122"/>
                    <a:cs typeface="宋体"/>
                  </a:rPr>
                  <a:t> </a:t>
                </a:r>
                <a:endParaRPr lang="zh-CN" sz="1600">
                  <a:effectLst/>
                  <a:latin typeface="微软雅黑" panose="020B0503020204020204" pitchFamily="34" charset="-122"/>
                  <a:ea typeface="微软雅黑" panose="020B0503020204020204" pitchFamily="34" charset="-122"/>
                  <a:cs typeface="宋体"/>
                </a:endParaRPr>
              </a:p>
            </p:txBody>
          </p:sp>
          <p:cxnSp>
            <p:nvCxnSpPr>
              <p:cNvPr id="18" name="Line 322"/>
              <p:cNvCxnSpPr/>
              <p:nvPr/>
            </p:nvCxnSpPr>
            <p:spPr bwMode="auto">
              <a:xfrm>
                <a:off x="3333054" y="583291"/>
                <a:ext cx="1656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3" name="Text Box 315"/>
            <p:cNvSpPr txBox="1">
              <a:spLocks noChangeArrowheads="1"/>
            </p:cNvSpPr>
            <p:nvPr/>
          </p:nvSpPr>
          <p:spPr bwMode="auto">
            <a:xfrm>
              <a:off x="2974225" y="789223"/>
              <a:ext cx="380440" cy="3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ts val="2200"/>
                </a:lnSpc>
                <a:spcAft>
                  <a:spcPts val="0"/>
                </a:spcAft>
              </a:pPr>
              <a:r>
                <a:rPr lang="en-US" sz="3600" dirty="0">
                  <a:effectLst/>
                  <a:latin typeface="微软雅黑" panose="020B0503020204020204" pitchFamily="34" charset="-122"/>
                  <a:ea typeface="微软雅黑" panose="020B0503020204020204" pitchFamily="34" charset="-122"/>
                  <a:cs typeface="宋体"/>
                </a:rPr>
                <a:t>=</a:t>
              </a:r>
              <a:endParaRPr lang="zh-CN" sz="3600" dirty="0">
                <a:effectLst/>
                <a:latin typeface="微软雅黑" panose="020B0503020204020204" pitchFamily="34" charset="-122"/>
                <a:ea typeface="微软雅黑" panose="020B0503020204020204" pitchFamily="34" charset="-122"/>
                <a:cs typeface="宋体"/>
              </a:endParaRPr>
            </a:p>
          </p:txBody>
        </p:sp>
        <p:sp>
          <p:nvSpPr>
            <p:cNvPr id="14" name="Text Box 315"/>
            <p:cNvSpPr txBox="1">
              <a:spLocks noChangeArrowheads="1"/>
            </p:cNvSpPr>
            <p:nvPr/>
          </p:nvSpPr>
          <p:spPr bwMode="auto">
            <a:xfrm>
              <a:off x="416356" y="1628220"/>
              <a:ext cx="744895" cy="3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a</a:t>
              </a: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R</a:t>
              </a:r>
              <a:endParaRPr lang="zh-CN" sz="1600" dirty="0">
                <a:effectLst/>
                <a:latin typeface="微软雅黑" panose="020B0503020204020204" pitchFamily="34" charset="-122"/>
                <a:ea typeface="微软雅黑" panose="020B0503020204020204" pitchFamily="34" charset="-122"/>
                <a:cs typeface="宋体"/>
              </a:endParaRPr>
            </a:p>
          </p:txBody>
        </p:sp>
        <p:sp>
          <p:nvSpPr>
            <p:cNvPr id="15" name="Text Box 315"/>
            <p:cNvSpPr txBox="1">
              <a:spLocks noChangeArrowheads="1"/>
            </p:cNvSpPr>
            <p:nvPr/>
          </p:nvSpPr>
          <p:spPr bwMode="auto">
            <a:xfrm>
              <a:off x="1784944" y="1641077"/>
              <a:ext cx="942975" cy="3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b</a:t>
              </a: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S</a:t>
              </a:r>
              <a:endParaRPr lang="zh-CN" sz="1600" dirty="0">
                <a:effectLst/>
                <a:latin typeface="微软雅黑" panose="020B0503020204020204" pitchFamily="34" charset="-122"/>
                <a:ea typeface="微软雅黑" panose="020B0503020204020204" pitchFamily="34" charset="-122"/>
                <a:cs typeface="宋体"/>
              </a:endParaRPr>
            </a:p>
          </p:txBody>
        </p:sp>
        <p:sp>
          <p:nvSpPr>
            <p:cNvPr id="16" name="Text Box 315"/>
            <p:cNvSpPr txBox="1">
              <a:spLocks noChangeArrowheads="1"/>
            </p:cNvSpPr>
            <p:nvPr/>
          </p:nvSpPr>
          <p:spPr bwMode="auto">
            <a:xfrm>
              <a:off x="3789738" y="1799619"/>
              <a:ext cx="982288" cy="34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c</a:t>
              </a: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R</a:t>
              </a:r>
              <a:r>
                <a:rPr lang="zh-CN" sz="1600" dirty="0">
                  <a:effectLst/>
                  <a:latin typeface="微软雅黑" panose="020B0503020204020204" pitchFamily="34" charset="-122"/>
                  <a:ea typeface="微软雅黑" panose="020B0503020204020204" pitchFamily="34" charset="-122"/>
                  <a:cs typeface="宋体"/>
                </a:rPr>
                <a:t>×</a:t>
              </a:r>
              <a:r>
                <a:rPr lang="en-US" sz="1600" dirty="0">
                  <a:effectLst/>
                  <a:latin typeface="微软雅黑" panose="020B0503020204020204" pitchFamily="34" charset="-122"/>
                  <a:ea typeface="微软雅黑" panose="020B0503020204020204" pitchFamily="34" charset="-122"/>
                  <a:cs typeface="宋体"/>
                </a:rPr>
                <a:t>S</a:t>
              </a:r>
              <a:endParaRPr lang="zh-CN" sz="1600" dirty="0">
                <a:effectLst/>
                <a:latin typeface="微软雅黑" panose="020B0503020204020204" pitchFamily="34" charset="-122"/>
                <a:ea typeface="微软雅黑" panose="020B0503020204020204" pitchFamily="34" charset="-122"/>
                <a:cs typeface="宋体"/>
              </a:endParaRPr>
            </a:p>
          </p:txBody>
        </p:sp>
      </p:grpSp>
      <p:sp>
        <p:nvSpPr>
          <p:cNvPr id="4" name="灯片编号占位符 3">
            <a:extLst>
              <a:ext uri="{FF2B5EF4-FFF2-40B4-BE49-F238E27FC236}">
                <a16:creationId xmlns:a16="http://schemas.microsoft.com/office/drawing/2014/main" id="{6335EDEE-D760-8B4B-87C6-3168062881EA}"/>
              </a:ext>
            </a:extLst>
          </p:cNvPr>
          <p:cNvSpPr>
            <a:spLocks noGrp="1"/>
          </p:cNvSpPr>
          <p:nvPr>
            <p:ph type="sldNum" sz="quarter" idx="12"/>
          </p:nvPr>
        </p:nvSpPr>
        <p:spPr/>
        <p:txBody>
          <a:bodyPr/>
          <a:lstStyle/>
          <a:p>
            <a:fld id="{C46E5E69-9A6D-4AF8-BC2D-C556A9893D8F}" type="slidenum">
              <a:rPr lang="zh-CN" altLang="en-US" smtClean="0"/>
              <a:pPr/>
              <a:t>11</a:t>
            </a:fld>
            <a:endParaRPr lang="zh-CN" altLang="en-US" dirty="0"/>
          </a:p>
        </p:txBody>
      </p:sp>
    </p:spTree>
    <p:extLst>
      <p:ext uri="{BB962C8B-B14F-4D97-AF65-F5344CB8AC3E}">
        <p14:creationId xmlns:p14="http://schemas.microsoft.com/office/powerpoint/2010/main" val="3712700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a:t>
            </a:r>
            <a:r>
              <a:rPr lang="en-US" altLang="zh-CN" i="0" u="none" strike="noStrike" kern="2200" baseline="0" dirty="0"/>
              <a:t>.2.2  </a:t>
            </a:r>
            <a:r>
              <a:rPr lang="zh-CN" altLang="en-US" i="0" u="none" strike="noStrike" kern="2200" baseline="0" dirty="0">
                <a:solidFill>
                  <a:srgbClr val="0000FF"/>
                </a:solidFill>
              </a:rPr>
              <a:t>并集</a:t>
            </a:r>
          </a:p>
        </p:txBody>
      </p:sp>
      <p:sp>
        <p:nvSpPr>
          <p:cNvPr id="3" name="文本占位符 2"/>
          <p:cNvSpPr>
            <a:spLocks noGrp="1"/>
          </p:cNvSpPr>
          <p:nvPr>
            <p:ph type="body" idx="1"/>
          </p:nvPr>
        </p:nvSpPr>
        <p:spPr>
          <a:xfrm>
            <a:off x="107504" y="1052736"/>
            <a:ext cx="8928992" cy="5256584"/>
          </a:xfrm>
        </p:spPr>
        <p:txBody>
          <a:bodyPr>
            <a:normAutofit/>
          </a:bodyPr>
          <a:lstStyle/>
          <a:p>
            <a:pPr lvl="0"/>
            <a:r>
              <a:rPr lang="en-US" altLang="zh-CN" sz="2000" dirty="0">
                <a:solidFill>
                  <a:srgbClr val="0000FF"/>
                </a:solidFill>
              </a:rPr>
              <a:t>R∪S</a:t>
            </a:r>
            <a:r>
              <a:rPr lang="zh-CN" altLang="en-US" sz="2000" dirty="0">
                <a:solidFill>
                  <a:srgbClr val="0000FF"/>
                </a:solidFill>
              </a:rPr>
              <a:t>：</a:t>
            </a:r>
            <a:r>
              <a:rPr lang="zh-CN" altLang="zh-CN" sz="2000" dirty="0"/>
              <a:t>具有相同属性的关系</a:t>
            </a:r>
            <a:r>
              <a:rPr lang="en-US" altLang="zh-CN" sz="2000" dirty="0"/>
              <a:t>R</a:t>
            </a:r>
            <a:r>
              <a:rPr lang="zh-CN" altLang="zh-CN" sz="2000" dirty="0"/>
              <a:t>和</a:t>
            </a:r>
            <a:r>
              <a:rPr lang="en-US" altLang="zh-CN" sz="2000" dirty="0"/>
              <a:t>S</a:t>
            </a:r>
            <a:r>
              <a:rPr lang="zh-CN" altLang="zh-CN" sz="2000" dirty="0"/>
              <a:t>中的所有元组的集合</a:t>
            </a:r>
            <a:endParaRPr lang="en-US" altLang="zh-CN" sz="2000" dirty="0"/>
          </a:p>
          <a:p>
            <a:pPr lvl="0"/>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属性：</a:t>
            </a:r>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分量个数：</a:t>
            </a:r>
            <a:r>
              <a:rPr lang="zh-CN" altLang="en-US" sz="2000" i="0" u="none" strike="noStrike" kern="100" baseline="0" dirty="0"/>
              <a:t>等于</a:t>
            </a:r>
            <a:r>
              <a:rPr lang="en-US" altLang="zh-CN" sz="2000" i="0" u="none" strike="noStrike" kern="100" baseline="0" dirty="0"/>
              <a:t>R</a:t>
            </a:r>
            <a:r>
              <a:rPr lang="zh-CN" altLang="zh-CN" sz="2000" dirty="0"/>
              <a:t>的分量个数</a:t>
            </a:r>
            <a:r>
              <a:rPr lang="zh-CN" altLang="en-US" sz="2000" dirty="0"/>
              <a:t>，或等于</a:t>
            </a:r>
            <a:r>
              <a:rPr lang="en-US" altLang="zh-CN" sz="2000" dirty="0"/>
              <a:t>S</a:t>
            </a:r>
            <a:r>
              <a:rPr lang="zh-CN" altLang="zh-CN" sz="2000" dirty="0"/>
              <a:t>的分量个数</a:t>
            </a:r>
            <a:endParaRPr lang="en-US" altLang="zh-CN" sz="2000" dirty="0"/>
          </a:p>
          <a:p>
            <a:pPr lvl="0"/>
            <a:r>
              <a:rPr lang="zh-CN" altLang="zh-CN" sz="2000" dirty="0">
                <a:solidFill>
                  <a:srgbClr val="0000FF"/>
                </a:solidFill>
              </a:rPr>
              <a:t>元组个数</a:t>
            </a:r>
            <a:r>
              <a:rPr lang="zh-CN" altLang="en-US" sz="2000" dirty="0">
                <a:solidFill>
                  <a:srgbClr val="0000FF"/>
                </a:solidFill>
              </a:rPr>
              <a:t>：</a:t>
            </a:r>
            <a:r>
              <a:rPr lang="zh-CN" altLang="zh-CN" sz="2000" dirty="0"/>
              <a:t>小于等于</a:t>
            </a:r>
            <a:r>
              <a:rPr lang="en-US" altLang="zh-CN" sz="2000" dirty="0"/>
              <a:t>k1+k2</a:t>
            </a:r>
            <a:r>
              <a:rPr lang="zh-CN" altLang="zh-CN" sz="2000" dirty="0"/>
              <a:t> 。</a:t>
            </a:r>
            <a:r>
              <a:rPr lang="en-US" altLang="zh-CN" sz="2000" dirty="0"/>
              <a:t>k1</a:t>
            </a:r>
            <a:r>
              <a:rPr lang="zh-CN" altLang="zh-CN" sz="2000" dirty="0"/>
              <a:t> 和</a:t>
            </a:r>
            <a:r>
              <a:rPr lang="en-US" altLang="zh-CN" sz="2000" dirty="0"/>
              <a:t>k2</a:t>
            </a:r>
            <a:r>
              <a:rPr lang="zh-CN" altLang="zh-CN" sz="2000" dirty="0"/>
              <a:t> 分别为</a:t>
            </a:r>
            <a:r>
              <a:rPr lang="en-US" altLang="zh-CN" sz="2000" dirty="0"/>
              <a:t>R</a:t>
            </a:r>
            <a:r>
              <a:rPr lang="zh-CN" altLang="zh-CN" sz="2000" dirty="0"/>
              <a:t>和</a:t>
            </a:r>
            <a:r>
              <a:rPr lang="en-US" altLang="zh-CN" sz="2000" dirty="0"/>
              <a:t>S</a:t>
            </a:r>
            <a:r>
              <a:rPr lang="zh-CN" altLang="zh-CN" sz="2000" dirty="0"/>
              <a:t>的元组的个数</a:t>
            </a:r>
            <a:endParaRPr lang="en-US" altLang="zh-CN" sz="2000" i="0" u="none" strike="noStrike" kern="100" baseline="0" dirty="0"/>
          </a:p>
          <a:p>
            <a:r>
              <a:rPr lang="zh-CN" altLang="zh-CN" sz="2000" dirty="0">
                <a:solidFill>
                  <a:srgbClr val="0000FF"/>
                </a:solidFill>
              </a:rPr>
              <a:t>元组关系演算</a:t>
            </a:r>
            <a:r>
              <a:rPr lang="zh-CN" altLang="en-US" sz="2000" i="0" u="none" strike="noStrike" kern="100" baseline="0" dirty="0">
                <a:solidFill>
                  <a:srgbClr val="0000FF"/>
                </a:solidFill>
              </a:rPr>
              <a:t>：</a:t>
            </a:r>
            <a:endParaRPr lang="en-US" altLang="zh-CN" sz="2000" i="0" u="none" strike="noStrike" kern="100" baseline="0" dirty="0">
              <a:solidFill>
                <a:srgbClr val="0000FF"/>
              </a:solidFill>
            </a:endParaRPr>
          </a:p>
          <a:p>
            <a:r>
              <a:rPr lang="zh-CN" altLang="zh-CN" sz="2000" dirty="0"/>
              <a:t>域关系演算</a:t>
            </a:r>
            <a:r>
              <a:rPr lang="zh-CN" altLang="en-US" sz="2000" dirty="0"/>
              <a:t>：</a:t>
            </a:r>
            <a:endParaRPr lang="en-US" altLang="zh-CN" sz="2000" dirty="0"/>
          </a:p>
          <a:p>
            <a:endParaRPr lang="en-US" altLang="zh-CN" sz="2000" i="0" u="none" strike="noStrike" kern="100" baseline="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4189849347"/>
              </p:ext>
            </p:extLst>
          </p:nvPr>
        </p:nvGraphicFramePr>
        <p:xfrm>
          <a:off x="2019991" y="2060848"/>
          <a:ext cx="2043113" cy="431800"/>
        </p:xfrm>
        <a:graphic>
          <a:graphicData uri="http://schemas.openxmlformats.org/presentationml/2006/ole">
            <mc:AlternateContent xmlns:mc="http://schemas.openxmlformats.org/markup-compatibility/2006">
              <mc:Choice xmlns:v="urn:schemas-microsoft-com:vml" Requires="v">
                <p:oleObj spid="_x0000_s7745" name="公式" r:id="rId3" imgW="1079280" imgH="228600" progId="Equation.3">
                  <p:embed/>
                </p:oleObj>
              </mc:Choice>
              <mc:Fallback>
                <p:oleObj name="公式" r:id="rId3" imgW="1079280" imgH="228600" progId="Equation.3">
                  <p:embed/>
                  <p:pic>
                    <p:nvPicPr>
                      <p:cNvPr id="0" name=""/>
                      <p:cNvPicPr>
                        <a:picLocks noChangeAspect="1" noChangeArrowheads="1"/>
                      </p:cNvPicPr>
                      <p:nvPr/>
                    </p:nvPicPr>
                    <p:blipFill>
                      <a:blip r:embed="rId4"/>
                      <a:srcRect/>
                      <a:stretch>
                        <a:fillRect/>
                      </a:stretch>
                    </p:blipFill>
                    <p:spPr bwMode="auto">
                      <a:xfrm>
                        <a:off x="2019991" y="2060848"/>
                        <a:ext cx="2043113" cy="431800"/>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848315641"/>
              </p:ext>
            </p:extLst>
          </p:nvPr>
        </p:nvGraphicFramePr>
        <p:xfrm>
          <a:off x="1787550" y="1628800"/>
          <a:ext cx="1860207" cy="360040"/>
        </p:xfrm>
        <a:graphic>
          <a:graphicData uri="http://schemas.openxmlformats.org/presentationml/2006/ole">
            <mc:AlternateContent xmlns:mc="http://schemas.openxmlformats.org/markup-compatibility/2006">
              <mc:Choice xmlns:v="urn:schemas-microsoft-com:vml" Requires="v">
                <p:oleObj spid="_x0000_s7746" name="公式" r:id="rId5" imgW="1181100" imgH="228600" progId="Equation.3">
                  <p:embed/>
                </p:oleObj>
              </mc:Choice>
              <mc:Fallback>
                <p:oleObj name="公式" r:id="rId5" imgW="11811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7550" y="1628800"/>
                        <a:ext cx="1860207" cy="360040"/>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970820262"/>
              </p:ext>
            </p:extLst>
          </p:nvPr>
        </p:nvGraphicFramePr>
        <p:xfrm>
          <a:off x="4060521" y="1628800"/>
          <a:ext cx="1755195" cy="360040"/>
        </p:xfrm>
        <a:graphic>
          <a:graphicData uri="http://schemas.openxmlformats.org/presentationml/2006/ole">
            <mc:AlternateContent xmlns:mc="http://schemas.openxmlformats.org/markup-compatibility/2006">
              <mc:Choice xmlns:v="urn:schemas-microsoft-com:vml" Requires="v">
                <p:oleObj spid="_x0000_s7747" name="公式" r:id="rId7" imgW="1117600" imgH="228600" progId="Equation.3">
                  <p:embed/>
                </p:oleObj>
              </mc:Choice>
              <mc:Fallback>
                <p:oleObj name="公式" r:id="rId7" imgW="1117600" imgH="2286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0521" y="1628800"/>
                        <a:ext cx="1755195" cy="360040"/>
                      </a:xfrm>
                      <a:prstGeom prst="rect">
                        <a:avLst/>
                      </a:prstGeom>
                      <a:noFill/>
                    </p:spPr>
                  </p:pic>
                </p:oleObj>
              </mc:Fallback>
            </mc:AlternateContent>
          </a:graphicData>
        </a:graphic>
      </p:graphicFrame>
      <p:sp>
        <p:nvSpPr>
          <p:cNvPr id="20" name="Rectangle 2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3250583113"/>
              </p:ext>
            </p:extLst>
          </p:nvPr>
        </p:nvGraphicFramePr>
        <p:xfrm>
          <a:off x="2699792" y="3501008"/>
          <a:ext cx="3121694" cy="404664"/>
        </p:xfrm>
        <a:graphic>
          <a:graphicData uri="http://schemas.openxmlformats.org/presentationml/2006/ole">
            <mc:AlternateContent xmlns:mc="http://schemas.openxmlformats.org/markup-compatibility/2006">
              <mc:Choice xmlns:v="urn:schemas-microsoft-com:vml" Requires="v">
                <p:oleObj spid="_x0000_s7748" name="公式" r:id="rId9" imgW="1536033" imgH="203112" progId="Equation.3">
                  <p:embed/>
                </p:oleObj>
              </mc:Choice>
              <mc:Fallback>
                <p:oleObj name="公式" r:id="rId9" imgW="1536033" imgH="203112"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9792" y="3501008"/>
                        <a:ext cx="3121694" cy="404664"/>
                      </a:xfrm>
                      <a:prstGeom prst="rect">
                        <a:avLst/>
                      </a:prstGeom>
                      <a:noFill/>
                    </p:spPr>
                  </p:pic>
                </p:oleObj>
              </mc:Fallback>
            </mc:AlternateContent>
          </a:graphicData>
        </a:graphic>
      </p:graphicFrame>
      <p:sp>
        <p:nvSpPr>
          <p:cNvPr id="22" name="Rectangle 2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2403438971"/>
              </p:ext>
            </p:extLst>
          </p:nvPr>
        </p:nvGraphicFramePr>
        <p:xfrm>
          <a:off x="611560" y="4365104"/>
          <a:ext cx="7452828" cy="432048"/>
        </p:xfrm>
        <a:graphic>
          <a:graphicData uri="http://schemas.openxmlformats.org/presentationml/2006/ole">
            <mc:AlternateContent xmlns:mc="http://schemas.openxmlformats.org/markup-compatibility/2006">
              <mc:Choice xmlns:v="urn:schemas-microsoft-com:vml" Requires="v">
                <p:oleObj spid="_x0000_s7749" name="公式" r:id="rId11" imgW="3949700" imgH="228600" progId="Equation.3">
                  <p:embed/>
                </p:oleObj>
              </mc:Choice>
              <mc:Fallback>
                <p:oleObj name="公式" r:id="rId11" imgW="3949700" imgH="228600" progId="Equation.3">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560" y="4365104"/>
                        <a:ext cx="7452828" cy="432048"/>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A5CDC048-4D30-6A4D-A5F5-5573556C0ED1}"/>
              </a:ext>
            </a:extLst>
          </p:cNvPr>
          <p:cNvSpPr>
            <a:spLocks noGrp="1"/>
          </p:cNvSpPr>
          <p:nvPr>
            <p:ph type="sldNum" sz="quarter" idx="12"/>
          </p:nvPr>
        </p:nvSpPr>
        <p:spPr/>
        <p:txBody>
          <a:bodyPr/>
          <a:lstStyle/>
          <a:p>
            <a:fld id="{C46E5E69-9A6D-4AF8-BC2D-C556A9893D8F}" type="slidenum">
              <a:rPr lang="zh-CN" altLang="en-US" smtClean="0"/>
              <a:pPr/>
              <a:t>12</a:t>
            </a:fld>
            <a:endParaRPr lang="zh-CN" altLang="en-US" dirty="0"/>
          </a:p>
        </p:txBody>
      </p:sp>
    </p:spTree>
    <p:extLst>
      <p:ext uri="{BB962C8B-B14F-4D97-AF65-F5344CB8AC3E}">
        <p14:creationId xmlns:p14="http://schemas.microsoft.com/office/powerpoint/2010/main" val="2039685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2.2.2  </a:t>
            </a:r>
            <a:r>
              <a:rPr lang="zh-CN" altLang="en-US" kern="2200" dirty="0">
                <a:solidFill>
                  <a:srgbClr val="0000FF"/>
                </a:solidFill>
              </a:rPr>
              <a:t>并集</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457200" y="1124744"/>
            <a:ext cx="8229600" cy="648072"/>
          </a:xfrm>
        </p:spPr>
        <p:txBody>
          <a:bodyPr>
            <a:noAutofit/>
          </a:bodyPr>
          <a:lstStyle/>
          <a:p>
            <a:pPr marL="0" indent="0">
              <a:buNone/>
            </a:pPr>
            <a:r>
              <a:rPr lang="zh-CN" altLang="zh-CN" sz="1800" dirty="0">
                <a:solidFill>
                  <a:srgbClr val="0000FF"/>
                </a:solidFill>
              </a:rPr>
              <a:t>例2.</a:t>
            </a:r>
            <a:r>
              <a:rPr lang="en-US" altLang="zh-CN" sz="1800" dirty="0">
                <a:solidFill>
                  <a:srgbClr val="0000FF"/>
                </a:solidFill>
              </a:rPr>
              <a:t>2  </a:t>
            </a:r>
            <a:r>
              <a:rPr lang="zh-CN" altLang="zh-CN" sz="1800" dirty="0"/>
              <a:t>已知</a:t>
            </a:r>
            <a:r>
              <a:rPr lang="en-US" altLang="zh-CN" sz="1800" dirty="0"/>
              <a:t>R</a:t>
            </a:r>
            <a:r>
              <a:rPr lang="zh-CN" altLang="zh-CN" sz="1800" dirty="0"/>
              <a:t>和</a:t>
            </a:r>
            <a:r>
              <a:rPr lang="en-US" altLang="zh-CN" sz="1800" dirty="0"/>
              <a:t>S</a:t>
            </a:r>
            <a:r>
              <a:rPr lang="zh-CN" altLang="zh-CN" sz="1800" dirty="0"/>
              <a:t>，则</a:t>
            </a:r>
            <a:r>
              <a:rPr lang="en-US" altLang="zh-CN" sz="1800" dirty="0"/>
              <a:t>R∪S</a:t>
            </a:r>
            <a:r>
              <a:rPr lang="zh-CN" altLang="zh-CN" sz="1800" dirty="0"/>
              <a:t> </a:t>
            </a:r>
            <a:r>
              <a:rPr lang="en-US" altLang="zh-CN" sz="1800" dirty="0"/>
              <a:t>=</a:t>
            </a:r>
            <a:r>
              <a:rPr lang="zh-CN" altLang="en-US" sz="1800" dirty="0"/>
              <a:t>？</a:t>
            </a:r>
            <a:endParaRPr lang="zh-CN" altLang="en-US" sz="1800" i="0" u="none" strike="noStrike" kern="100" baseline="0" dirty="0"/>
          </a:p>
        </p:txBody>
      </p:sp>
      <p:sp>
        <p:nvSpPr>
          <p:cNvPr id="23" name="文本框 370"/>
          <p:cNvSpPr txBox="1">
            <a:spLocks noChangeArrowheads="1"/>
          </p:cNvSpPr>
          <p:nvPr/>
        </p:nvSpPr>
        <p:spPr bwMode="auto">
          <a:xfrm>
            <a:off x="5077736" y="2910418"/>
            <a:ext cx="790408"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0" name="文本框 369"/>
          <p:cNvSpPr txBox="1">
            <a:spLocks noChangeArrowheads="1"/>
          </p:cNvSpPr>
          <p:nvPr/>
        </p:nvSpPr>
        <p:spPr bwMode="auto">
          <a:xfrm>
            <a:off x="2308859" y="2910418"/>
            <a:ext cx="721569"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zh-CN"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zh-CN"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1" name="文本框 368"/>
          <p:cNvSpPr txBox="1">
            <a:spLocks noChangeArrowheads="1"/>
          </p:cNvSpPr>
          <p:nvPr/>
        </p:nvSpPr>
        <p:spPr bwMode="auto">
          <a:xfrm>
            <a:off x="1390650" y="4237190"/>
            <a:ext cx="661070" cy="41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2" name="文本框 367"/>
          <p:cNvSpPr txBox="1">
            <a:spLocks noChangeArrowheads="1"/>
          </p:cNvSpPr>
          <p:nvPr/>
        </p:nvSpPr>
        <p:spPr bwMode="auto">
          <a:xfrm>
            <a:off x="3821390" y="4256240"/>
            <a:ext cx="750609" cy="54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3" name="文本框 371"/>
          <p:cNvSpPr txBox="1">
            <a:spLocks noChangeArrowheads="1"/>
          </p:cNvSpPr>
          <p:nvPr/>
        </p:nvSpPr>
        <p:spPr bwMode="auto">
          <a:xfrm>
            <a:off x="6516216" y="4149080"/>
            <a:ext cx="1224136"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grpSp>
        <p:nvGrpSpPr>
          <p:cNvPr id="39" name="组合 38"/>
          <p:cNvGrpSpPr/>
          <p:nvPr/>
        </p:nvGrpSpPr>
        <p:grpSpPr>
          <a:xfrm>
            <a:off x="469766" y="2443089"/>
            <a:ext cx="7662252" cy="1555244"/>
            <a:chOff x="469766" y="2443089"/>
            <a:chExt cx="7662252" cy="1555244"/>
          </a:xfrm>
        </p:grpSpPr>
        <p:grpSp>
          <p:nvGrpSpPr>
            <p:cNvPr id="24" name="组合 23"/>
            <p:cNvGrpSpPr>
              <a:grpSpLocks/>
            </p:cNvGrpSpPr>
            <p:nvPr/>
          </p:nvGrpSpPr>
          <p:grpSpPr bwMode="auto">
            <a:xfrm>
              <a:off x="469766" y="2644808"/>
              <a:ext cx="1841768" cy="1324094"/>
              <a:chOff x="1854" y="7702"/>
              <a:chExt cx="1386" cy="1023"/>
            </a:xfrm>
          </p:grpSpPr>
          <p:sp>
            <p:nvSpPr>
              <p:cNvPr id="25" name="Text Box 43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张良</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p:txBody>
          </p:sp>
          <p:cxnSp>
            <p:nvCxnSpPr>
              <p:cNvPr id="26" name="Line 43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7" name="组合 26"/>
            <p:cNvGrpSpPr>
              <a:grpSpLocks/>
            </p:cNvGrpSpPr>
            <p:nvPr/>
          </p:nvGrpSpPr>
          <p:grpSpPr bwMode="auto">
            <a:xfrm>
              <a:off x="5868144" y="2443089"/>
              <a:ext cx="2263874" cy="1555244"/>
              <a:chOff x="5934" y="10616"/>
              <a:chExt cx="1440" cy="1085"/>
            </a:xfrm>
          </p:grpSpPr>
          <p:sp>
            <p:nvSpPr>
              <p:cNvPr id="28" name="Text Box 437"/>
              <p:cNvSpPr txBox="1">
                <a:spLocks noChangeArrowheads="1"/>
              </p:cNvSpPr>
              <p:nvPr/>
            </p:nvSpPr>
            <p:spPr bwMode="auto">
              <a:xfrm>
                <a:off x="5934" y="10616"/>
                <a:ext cx="1440" cy="108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a:effectLst/>
                    <a:latin typeface="微软雅黑" panose="020B0503020204020204" pitchFamily="34" charset="-122"/>
                    <a:ea typeface="微软雅黑" panose="020B0503020204020204" pitchFamily="34" charset="-122"/>
                  </a:rPr>
                  <a:t>姓名</a:t>
                </a:r>
                <a:r>
                  <a:rPr lang="en-US">
                    <a:effectLst/>
                    <a:latin typeface="微软雅黑" panose="020B0503020204020204" pitchFamily="34" charset="-122"/>
                    <a:ea typeface="微软雅黑" panose="020B0503020204020204" pitchFamily="34" charset="-122"/>
                  </a:rPr>
                  <a:t>    </a:t>
                </a:r>
                <a:r>
                  <a:rPr lang="zh-CN">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a:effectLst/>
                    <a:latin typeface="微软雅黑" panose="020B0503020204020204" pitchFamily="34" charset="-122"/>
                    <a:ea typeface="微软雅黑" panose="020B0503020204020204" pitchFamily="34" charset="-122"/>
                  </a:rPr>
                  <a:t> </a:t>
                </a:r>
                <a:endParaRPr lang="zh-CN">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a:effectLst/>
                    <a:latin typeface="微软雅黑" panose="020B0503020204020204" pitchFamily="34" charset="-122"/>
                    <a:ea typeface="微软雅黑" panose="020B0503020204020204" pitchFamily="34" charset="-122"/>
                  </a:rPr>
                  <a:t>张良</a:t>
                </a:r>
                <a:r>
                  <a:rPr lang="en-US">
                    <a:effectLst/>
                    <a:latin typeface="微软雅黑" panose="020B0503020204020204" pitchFamily="34" charset="-122"/>
                    <a:ea typeface="微软雅黑" panose="020B0503020204020204" pitchFamily="34" charset="-122"/>
                  </a:rPr>
                  <a:t>     </a:t>
                </a:r>
                <a:r>
                  <a:rPr lang="zh-CN">
                    <a:effectLst/>
                    <a:latin typeface="微软雅黑" panose="020B0503020204020204" pitchFamily="34" charset="-122"/>
                    <a:ea typeface="微软雅黑" panose="020B0503020204020204" pitchFamily="34" charset="-122"/>
                  </a:rPr>
                  <a:t>男</a:t>
                </a:r>
              </a:p>
              <a:p>
                <a:pPr indent="127000" algn="ctr">
                  <a:lnSpc>
                    <a:spcPts val="2200"/>
                  </a:lnSpc>
                  <a:spcAft>
                    <a:spcPts val="0"/>
                  </a:spcAft>
                </a:pPr>
                <a:r>
                  <a:rPr lang="zh-CN">
                    <a:effectLst/>
                    <a:latin typeface="微软雅黑" panose="020B0503020204020204" pitchFamily="34" charset="-122"/>
                    <a:ea typeface="微软雅黑" panose="020B0503020204020204" pitchFamily="34" charset="-122"/>
                  </a:rPr>
                  <a:t>李丽</a:t>
                </a:r>
                <a:r>
                  <a:rPr lang="en-US">
                    <a:effectLst/>
                    <a:latin typeface="微软雅黑" panose="020B0503020204020204" pitchFamily="34" charset="-122"/>
                    <a:ea typeface="微软雅黑" panose="020B0503020204020204" pitchFamily="34" charset="-122"/>
                  </a:rPr>
                  <a:t>     </a:t>
                </a:r>
                <a:r>
                  <a:rPr lang="zh-CN">
                    <a:effectLst/>
                    <a:latin typeface="微软雅黑" panose="020B0503020204020204" pitchFamily="34" charset="-122"/>
                    <a:ea typeface="微软雅黑" panose="020B0503020204020204" pitchFamily="34" charset="-122"/>
                  </a:rPr>
                  <a:t>女</a:t>
                </a:r>
              </a:p>
              <a:p>
                <a:pPr indent="127000" algn="ctr">
                  <a:lnSpc>
                    <a:spcPts val="2200"/>
                  </a:lnSpc>
                  <a:spcAft>
                    <a:spcPts val="0"/>
                  </a:spcAft>
                </a:pPr>
                <a:r>
                  <a:rPr lang="zh-CN">
                    <a:effectLst/>
                    <a:latin typeface="微软雅黑" panose="020B0503020204020204" pitchFamily="34" charset="-122"/>
                    <a:ea typeface="微软雅黑" panose="020B0503020204020204" pitchFamily="34" charset="-122"/>
                  </a:rPr>
                  <a:t>王海</a:t>
                </a:r>
                <a:r>
                  <a:rPr lang="en-US">
                    <a:effectLst/>
                    <a:latin typeface="微软雅黑" panose="020B0503020204020204" pitchFamily="34" charset="-122"/>
                    <a:ea typeface="微软雅黑" panose="020B0503020204020204" pitchFamily="34" charset="-122"/>
                  </a:rPr>
                  <a:t>     </a:t>
                </a:r>
                <a:r>
                  <a:rPr lang="zh-CN">
                    <a:effectLst/>
                    <a:latin typeface="微软雅黑" panose="020B0503020204020204" pitchFamily="34" charset="-122"/>
                    <a:ea typeface="微软雅黑" panose="020B0503020204020204" pitchFamily="34" charset="-122"/>
                  </a:rPr>
                  <a:t>男</a:t>
                </a:r>
              </a:p>
              <a:p>
                <a:pPr indent="190500" algn="ctr">
                  <a:lnSpc>
                    <a:spcPts val="2200"/>
                  </a:lnSpc>
                  <a:spcAft>
                    <a:spcPts val="0"/>
                  </a:spcAft>
                </a:pPr>
                <a:r>
                  <a:rPr lang="en-US">
                    <a:effectLst/>
                    <a:latin typeface="微软雅黑" panose="020B0503020204020204" pitchFamily="34" charset="-122"/>
                    <a:ea typeface="微软雅黑" panose="020B0503020204020204" pitchFamily="34" charset="-122"/>
                  </a:rPr>
                  <a:t> </a:t>
                </a:r>
                <a:endParaRPr lang="zh-CN">
                  <a:effectLst/>
                  <a:latin typeface="微软雅黑" panose="020B0503020204020204" pitchFamily="34" charset="-122"/>
                  <a:ea typeface="微软雅黑" panose="020B0503020204020204" pitchFamily="34" charset="-122"/>
                </a:endParaRPr>
              </a:p>
            </p:txBody>
          </p:sp>
          <p:cxnSp>
            <p:nvCxnSpPr>
              <p:cNvPr id="29" name="Line 438"/>
              <p:cNvCxnSpPr/>
              <p:nvPr/>
            </p:nvCxnSpPr>
            <p:spPr bwMode="auto">
              <a:xfrm>
                <a:off x="5934" y="10957"/>
                <a:ext cx="14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34" name="组合 33"/>
            <p:cNvGrpSpPr>
              <a:grpSpLocks/>
            </p:cNvGrpSpPr>
            <p:nvPr/>
          </p:nvGrpSpPr>
          <p:grpSpPr bwMode="auto">
            <a:xfrm>
              <a:off x="3117496" y="2644808"/>
              <a:ext cx="1960240" cy="1252597"/>
              <a:chOff x="1854" y="7702"/>
              <a:chExt cx="1386" cy="1023"/>
            </a:xfrm>
          </p:grpSpPr>
          <p:sp>
            <p:nvSpPr>
              <p:cNvPr id="35" name="Text Box 44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王海</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905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254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p:txBody>
          </p:sp>
          <p:cxnSp>
            <p:nvCxnSpPr>
              <p:cNvPr id="36" name="Line 44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sp>
        <p:nvSpPr>
          <p:cNvPr id="37" name="Rectangle 1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8" name="Rectangle 22"/>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A8C0384A-2F27-DD48-959A-E86AF0D87834}"/>
              </a:ext>
            </a:extLst>
          </p:cNvPr>
          <p:cNvSpPr>
            <a:spLocks noGrp="1"/>
          </p:cNvSpPr>
          <p:nvPr>
            <p:ph type="sldNum" sz="quarter" idx="12"/>
          </p:nvPr>
        </p:nvSpPr>
        <p:spPr/>
        <p:txBody>
          <a:bodyPr/>
          <a:lstStyle/>
          <a:p>
            <a:fld id="{C46E5E69-9A6D-4AF8-BC2D-C556A9893D8F}" type="slidenum">
              <a:rPr lang="zh-CN" altLang="en-US" smtClean="0"/>
              <a:pPr/>
              <a:t>13</a:t>
            </a:fld>
            <a:endParaRPr lang="zh-CN" altLang="en-US" dirty="0"/>
          </a:p>
        </p:txBody>
      </p:sp>
    </p:spTree>
    <p:extLst>
      <p:ext uri="{BB962C8B-B14F-4D97-AF65-F5344CB8AC3E}">
        <p14:creationId xmlns:p14="http://schemas.microsoft.com/office/powerpoint/2010/main" val="143747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a:t>
            </a:r>
            <a:r>
              <a:rPr lang="en-US" altLang="zh-CN" i="0" u="none" strike="noStrike" kern="2200" baseline="0" dirty="0"/>
              <a:t>.2.3  </a:t>
            </a:r>
            <a:r>
              <a:rPr lang="zh-CN" altLang="en-US" i="0" u="none" strike="noStrike" kern="2200" baseline="0" dirty="0">
                <a:solidFill>
                  <a:srgbClr val="0000FF"/>
                </a:solidFill>
              </a:rPr>
              <a:t>差集</a:t>
            </a:r>
          </a:p>
        </p:txBody>
      </p:sp>
      <p:sp>
        <p:nvSpPr>
          <p:cNvPr id="3" name="文本占位符 2"/>
          <p:cNvSpPr>
            <a:spLocks noGrp="1"/>
          </p:cNvSpPr>
          <p:nvPr>
            <p:ph type="body" idx="1"/>
          </p:nvPr>
        </p:nvSpPr>
        <p:spPr>
          <a:xfrm>
            <a:off x="107504" y="1052736"/>
            <a:ext cx="8928992" cy="5256584"/>
          </a:xfrm>
        </p:spPr>
        <p:txBody>
          <a:bodyPr>
            <a:normAutofit/>
          </a:bodyPr>
          <a:lstStyle/>
          <a:p>
            <a:pPr lvl="0"/>
            <a:r>
              <a:rPr lang="en-US" altLang="zh-CN" sz="2000" dirty="0">
                <a:solidFill>
                  <a:srgbClr val="0000FF"/>
                </a:solidFill>
              </a:rPr>
              <a:t>R−S</a:t>
            </a:r>
            <a:r>
              <a:rPr lang="zh-CN" altLang="en-US" sz="2000" dirty="0">
                <a:solidFill>
                  <a:srgbClr val="0000FF"/>
                </a:solidFill>
              </a:rPr>
              <a:t>：</a:t>
            </a:r>
            <a:r>
              <a:rPr lang="zh-CN" altLang="zh-CN" sz="2000" dirty="0"/>
              <a:t>具有相同属性的关系</a:t>
            </a:r>
            <a:r>
              <a:rPr lang="en-US" altLang="zh-CN" sz="2000" dirty="0"/>
              <a:t>R</a:t>
            </a:r>
            <a:r>
              <a:rPr lang="zh-CN" altLang="zh-CN" sz="2000" dirty="0"/>
              <a:t>和</a:t>
            </a:r>
            <a:r>
              <a:rPr lang="en-US" altLang="zh-CN" sz="2000" dirty="0"/>
              <a:t>S</a:t>
            </a:r>
            <a:r>
              <a:rPr lang="zh-CN" altLang="zh-CN" sz="2000" dirty="0"/>
              <a:t>中的所有元组的集合</a:t>
            </a:r>
            <a:endParaRPr lang="en-US" altLang="zh-CN" sz="2000" dirty="0"/>
          </a:p>
          <a:p>
            <a:pPr lvl="0"/>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属性：</a:t>
            </a:r>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分量个数：</a:t>
            </a:r>
            <a:r>
              <a:rPr lang="zh-CN" altLang="en-US" sz="2000" i="0" u="none" strike="noStrike" kern="100" baseline="0" dirty="0"/>
              <a:t>等于</a:t>
            </a:r>
            <a:r>
              <a:rPr lang="en-US" altLang="zh-CN" sz="2000" i="0" u="none" strike="noStrike" kern="100" baseline="0" dirty="0"/>
              <a:t>R</a:t>
            </a:r>
            <a:r>
              <a:rPr lang="zh-CN" altLang="zh-CN" sz="2000" dirty="0"/>
              <a:t>的分量个数</a:t>
            </a:r>
            <a:r>
              <a:rPr lang="zh-CN" altLang="en-US" sz="2000" dirty="0"/>
              <a:t>，或等于</a:t>
            </a:r>
            <a:r>
              <a:rPr lang="en-US" altLang="zh-CN" sz="2000" dirty="0"/>
              <a:t>S</a:t>
            </a:r>
            <a:r>
              <a:rPr lang="zh-CN" altLang="zh-CN" sz="2000" dirty="0"/>
              <a:t>的分量个数</a:t>
            </a:r>
            <a:endParaRPr lang="en-US" altLang="zh-CN" sz="2000" dirty="0"/>
          </a:p>
          <a:p>
            <a:pPr lvl="0"/>
            <a:r>
              <a:rPr lang="zh-CN" altLang="zh-CN" sz="2000" dirty="0">
                <a:solidFill>
                  <a:srgbClr val="0000FF"/>
                </a:solidFill>
              </a:rPr>
              <a:t>元组个数</a:t>
            </a:r>
            <a:r>
              <a:rPr lang="zh-CN" altLang="en-US" sz="2000" dirty="0">
                <a:solidFill>
                  <a:srgbClr val="0000FF"/>
                </a:solidFill>
              </a:rPr>
              <a:t>：</a:t>
            </a:r>
            <a:r>
              <a:rPr lang="zh-CN" altLang="zh-CN" sz="2000" dirty="0"/>
              <a:t>小于等于</a:t>
            </a:r>
            <a:r>
              <a:rPr lang="en-US" altLang="zh-CN" sz="2000" dirty="0"/>
              <a:t>k1</a:t>
            </a:r>
            <a:r>
              <a:rPr lang="zh-CN" altLang="zh-CN" sz="2000" dirty="0"/>
              <a:t> 。</a:t>
            </a:r>
            <a:r>
              <a:rPr lang="en-US" altLang="zh-CN" sz="2000" dirty="0"/>
              <a:t>k1</a:t>
            </a:r>
            <a:r>
              <a:rPr lang="zh-CN" altLang="zh-CN" sz="2000" dirty="0"/>
              <a:t> 为</a:t>
            </a:r>
            <a:r>
              <a:rPr lang="en-US" altLang="zh-CN" sz="2000" dirty="0"/>
              <a:t>R</a:t>
            </a:r>
            <a:r>
              <a:rPr lang="zh-CN" altLang="zh-CN" sz="2000" dirty="0"/>
              <a:t>的元组的个数</a:t>
            </a:r>
            <a:endParaRPr lang="en-US" altLang="zh-CN" sz="2000" i="0" u="none" strike="noStrike" kern="100" baseline="0" dirty="0"/>
          </a:p>
          <a:p>
            <a:r>
              <a:rPr lang="zh-CN" altLang="zh-CN" sz="2000" dirty="0">
                <a:solidFill>
                  <a:srgbClr val="0000FF"/>
                </a:solidFill>
              </a:rPr>
              <a:t>元组关系演算</a:t>
            </a:r>
            <a:r>
              <a:rPr lang="zh-CN" altLang="en-US" sz="2000" i="0" u="none" strike="noStrike" kern="100" baseline="0" dirty="0">
                <a:solidFill>
                  <a:srgbClr val="0000FF"/>
                </a:solidFill>
              </a:rPr>
              <a:t>：</a:t>
            </a:r>
            <a:endParaRPr lang="en-US" altLang="zh-CN" sz="2000" i="0" u="none" strike="noStrike" kern="100" baseline="0" dirty="0">
              <a:solidFill>
                <a:srgbClr val="0000FF"/>
              </a:solidFill>
            </a:endParaRPr>
          </a:p>
          <a:p>
            <a:r>
              <a:rPr lang="zh-CN" altLang="zh-CN" sz="2000" dirty="0"/>
              <a:t>域关系演算</a:t>
            </a:r>
            <a:r>
              <a:rPr lang="zh-CN" altLang="en-US" sz="2000" dirty="0"/>
              <a:t>：</a:t>
            </a:r>
            <a:endParaRPr lang="en-US" altLang="zh-CN" sz="2000" dirty="0"/>
          </a:p>
          <a:p>
            <a:endParaRPr lang="en-US" altLang="zh-CN" sz="2000" i="0" u="none" strike="noStrike" kern="100" baseline="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246024868"/>
              </p:ext>
            </p:extLst>
          </p:nvPr>
        </p:nvGraphicFramePr>
        <p:xfrm>
          <a:off x="2019991" y="2060848"/>
          <a:ext cx="2043113" cy="431800"/>
        </p:xfrm>
        <a:graphic>
          <a:graphicData uri="http://schemas.openxmlformats.org/presentationml/2006/ole">
            <mc:AlternateContent xmlns:mc="http://schemas.openxmlformats.org/markup-compatibility/2006">
              <mc:Choice xmlns:v="urn:schemas-microsoft-com:vml" Requires="v">
                <p:oleObj spid="_x0000_s8734" name="公式" r:id="rId3" imgW="1079280" imgH="228600" progId="Equation.3">
                  <p:embed/>
                </p:oleObj>
              </mc:Choice>
              <mc:Fallback>
                <p:oleObj name="公式" r:id="rId3" imgW="1079280" imgH="228600" progId="Equation.3">
                  <p:embed/>
                  <p:pic>
                    <p:nvPicPr>
                      <p:cNvPr id="0" name=""/>
                      <p:cNvPicPr>
                        <a:picLocks noChangeAspect="1" noChangeArrowheads="1"/>
                      </p:cNvPicPr>
                      <p:nvPr/>
                    </p:nvPicPr>
                    <p:blipFill>
                      <a:blip r:embed="rId4"/>
                      <a:srcRect/>
                      <a:stretch>
                        <a:fillRect/>
                      </a:stretch>
                    </p:blipFill>
                    <p:spPr bwMode="auto">
                      <a:xfrm>
                        <a:off x="2019991" y="2060848"/>
                        <a:ext cx="2043113" cy="431800"/>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734166674"/>
              </p:ext>
            </p:extLst>
          </p:nvPr>
        </p:nvGraphicFramePr>
        <p:xfrm>
          <a:off x="1787550" y="1628800"/>
          <a:ext cx="1860207" cy="360040"/>
        </p:xfrm>
        <a:graphic>
          <a:graphicData uri="http://schemas.openxmlformats.org/presentationml/2006/ole">
            <mc:AlternateContent xmlns:mc="http://schemas.openxmlformats.org/markup-compatibility/2006">
              <mc:Choice xmlns:v="urn:schemas-microsoft-com:vml" Requires="v">
                <p:oleObj spid="_x0000_s8735" name="公式" r:id="rId5" imgW="1181100" imgH="228600" progId="Equation.3">
                  <p:embed/>
                </p:oleObj>
              </mc:Choice>
              <mc:Fallback>
                <p:oleObj name="公式" r:id="rId5" imgW="11811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7550" y="1628800"/>
                        <a:ext cx="1860207" cy="360040"/>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779523573"/>
              </p:ext>
            </p:extLst>
          </p:nvPr>
        </p:nvGraphicFramePr>
        <p:xfrm>
          <a:off x="4060521" y="1628800"/>
          <a:ext cx="1755195" cy="360040"/>
        </p:xfrm>
        <a:graphic>
          <a:graphicData uri="http://schemas.openxmlformats.org/presentationml/2006/ole">
            <mc:AlternateContent xmlns:mc="http://schemas.openxmlformats.org/markup-compatibility/2006">
              <mc:Choice xmlns:v="urn:schemas-microsoft-com:vml" Requires="v">
                <p:oleObj spid="_x0000_s8736" name="公式" r:id="rId7" imgW="1117600" imgH="228600" progId="Equation.3">
                  <p:embed/>
                </p:oleObj>
              </mc:Choice>
              <mc:Fallback>
                <p:oleObj name="公式" r:id="rId7" imgW="1117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0521" y="1628800"/>
                        <a:ext cx="1755195" cy="360040"/>
                      </a:xfrm>
                      <a:prstGeom prst="rect">
                        <a:avLst/>
                      </a:prstGeom>
                      <a:noFill/>
                    </p:spPr>
                  </p:pic>
                </p:oleObj>
              </mc:Fallback>
            </mc:AlternateContent>
          </a:graphicData>
        </a:graphic>
      </p:graphicFrame>
      <p:sp>
        <p:nvSpPr>
          <p:cNvPr id="20" name="Rectangle 2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2832388129"/>
              </p:ext>
            </p:extLst>
          </p:nvPr>
        </p:nvGraphicFramePr>
        <p:xfrm>
          <a:off x="2224088" y="3487738"/>
          <a:ext cx="4075112" cy="430212"/>
        </p:xfrm>
        <a:graphic>
          <a:graphicData uri="http://schemas.openxmlformats.org/presentationml/2006/ole">
            <mc:AlternateContent xmlns:mc="http://schemas.openxmlformats.org/markup-compatibility/2006">
              <mc:Choice xmlns:v="urn:schemas-microsoft-com:vml" Requires="v">
                <p:oleObj spid="_x0000_s8737" name="公式" r:id="rId9" imgW="2006280" imgH="215640" progId="Equation.3">
                  <p:embed/>
                </p:oleObj>
              </mc:Choice>
              <mc:Fallback>
                <p:oleObj name="公式" r:id="rId9" imgW="2006280" imgH="215640" progId="Equation.3">
                  <p:embed/>
                  <p:pic>
                    <p:nvPicPr>
                      <p:cNvPr id="0" name=""/>
                      <p:cNvPicPr>
                        <a:picLocks noChangeAspect="1" noChangeArrowheads="1"/>
                      </p:cNvPicPr>
                      <p:nvPr/>
                    </p:nvPicPr>
                    <p:blipFill>
                      <a:blip r:embed="rId10"/>
                      <a:srcRect/>
                      <a:stretch>
                        <a:fillRect/>
                      </a:stretch>
                    </p:blipFill>
                    <p:spPr bwMode="auto">
                      <a:xfrm>
                        <a:off x="2224088" y="3487738"/>
                        <a:ext cx="4075112" cy="430212"/>
                      </a:xfrm>
                      <a:prstGeom prst="rect">
                        <a:avLst/>
                      </a:prstGeom>
                      <a:noFill/>
                    </p:spPr>
                  </p:pic>
                </p:oleObj>
              </mc:Fallback>
            </mc:AlternateContent>
          </a:graphicData>
        </a:graphic>
      </p:graphicFrame>
      <p:sp>
        <p:nvSpPr>
          <p:cNvPr id="22" name="Rectangle 2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1004118226"/>
              </p:ext>
            </p:extLst>
          </p:nvPr>
        </p:nvGraphicFramePr>
        <p:xfrm>
          <a:off x="576696" y="4437112"/>
          <a:ext cx="7990607" cy="370137"/>
        </p:xfrm>
        <a:graphic>
          <a:graphicData uri="http://schemas.openxmlformats.org/presentationml/2006/ole">
            <mc:AlternateContent xmlns:mc="http://schemas.openxmlformats.org/markup-compatibility/2006">
              <mc:Choice xmlns:v="urn:schemas-microsoft-com:vml" Requires="v">
                <p:oleObj spid="_x0000_s8738" name="公式" r:id="rId11" imgW="4940280" imgH="228600" progId="Equation.3">
                  <p:embed/>
                </p:oleObj>
              </mc:Choice>
              <mc:Fallback>
                <p:oleObj name="公式" r:id="rId11" imgW="4940280" imgH="228600" progId="Equation.3">
                  <p:embed/>
                  <p:pic>
                    <p:nvPicPr>
                      <p:cNvPr id="0" name=""/>
                      <p:cNvPicPr>
                        <a:picLocks noChangeAspect="1" noChangeArrowheads="1"/>
                      </p:cNvPicPr>
                      <p:nvPr/>
                    </p:nvPicPr>
                    <p:blipFill>
                      <a:blip r:embed="rId12"/>
                      <a:srcRect/>
                      <a:stretch>
                        <a:fillRect/>
                      </a:stretch>
                    </p:blipFill>
                    <p:spPr bwMode="auto">
                      <a:xfrm>
                        <a:off x="576696" y="4437112"/>
                        <a:ext cx="7990607" cy="370137"/>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87F258B5-4913-3149-8C09-EBF5F5789768}"/>
              </a:ext>
            </a:extLst>
          </p:cNvPr>
          <p:cNvSpPr>
            <a:spLocks noGrp="1"/>
          </p:cNvSpPr>
          <p:nvPr>
            <p:ph type="sldNum" sz="quarter" idx="12"/>
          </p:nvPr>
        </p:nvSpPr>
        <p:spPr/>
        <p:txBody>
          <a:bodyPr/>
          <a:lstStyle/>
          <a:p>
            <a:fld id="{C46E5E69-9A6D-4AF8-BC2D-C556A9893D8F}" type="slidenum">
              <a:rPr lang="zh-CN" altLang="en-US" smtClean="0"/>
              <a:pPr/>
              <a:t>14</a:t>
            </a:fld>
            <a:endParaRPr lang="zh-CN" altLang="en-US" dirty="0"/>
          </a:p>
        </p:txBody>
      </p:sp>
    </p:spTree>
    <p:extLst>
      <p:ext uri="{BB962C8B-B14F-4D97-AF65-F5344CB8AC3E}">
        <p14:creationId xmlns:p14="http://schemas.microsoft.com/office/powerpoint/2010/main" val="2213579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2.2.3  </a:t>
            </a:r>
            <a:r>
              <a:rPr lang="zh-CN" altLang="en-US" kern="2200" dirty="0">
                <a:solidFill>
                  <a:srgbClr val="0000FF"/>
                </a:solidFill>
              </a:rPr>
              <a:t>差集</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457200" y="1124744"/>
            <a:ext cx="8229600" cy="648072"/>
          </a:xfrm>
        </p:spPr>
        <p:txBody>
          <a:bodyPr>
            <a:noAutofit/>
          </a:bodyPr>
          <a:lstStyle/>
          <a:p>
            <a:pPr marL="0" indent="0">
              <a:buNone/>
            </a:pPr>
            <a:r>
              <a:rPr lang="zh-CN" altLang="zh-CN" sz="1800" dirty="0">
                <a:solidFill>
                  <a:srgbClr val="0000FF"/>
                </a:solidFill>
              </a:rPr>
              <a:t>例2.</a:t>
            </a:r>
            <a:r>
              <a:rPr lang="en-US" altLang="zh-CN" sz="1800" dirty="0">
                <a:solidFill>
                  <a:srgbClr val="0000FF"/>
                </a:solidFill>
              </a:rPr>
              <a:t>3  </a:t>
            </a:r>
            <a:r>
              <a:rPr lang="zh-CN" altLang="zh-CN" sz="1800" dirty="0"/>
              <a:t>已知</a:t>
            </a:r>
            <a:r>
              <a:rPr lang="en-US" altLang="zh-CN" sz="1800" dirty="0"/>
              <a:t>R</a:t>
            </a:r>
            <a:r>
              <a:rPr lang="zh-CN" altLang="zh-CN" sz="1800" dirty="0"/>
              <a:t>和</a:t>
            </a:r>
            <a:r>
              <a:rPr lang="en-US" altLang="zh-CN" sz="1800" dirty="0"/>
              <a:t>S</a:t>
            </a:r>
            <a:r>
              <a:rPr lang="zh-CN" altLang="zh-CN" sz="1800" dirty="0"/>
              <a:t>，则</a:t>
            </a:r>
            <a:r>
              <a:rPr lang="en-US" altLang="zh-CN" sz="1800" dirty="0"/>
              <a:t>R─S</a:t>
            </a:r>
            <a:r>
              <a:rPr lang="zh-CN" altLang="zh-CN" sz="1800" dirty="0"/>
              <a:t> </a:t>
            </a:r>
            <a:r>
              <a:rPr lang="en-US" altLang="zh-CN" sz="1800" dirty="0"/>
              <a:t>=</a:t>
            </a:r>
            <a:r>
              <a:rPr lang="zh-CN" altLang="en-US" sz="1800" dirty="0"/>
              <a:t>？</a:t>
            </a:r>
            <a:endParaRPr lang="zh-CN" altLang="en-US" sz="1800" i="0" u="none" strike="noStrike" kern="100" baseline="0" dirty="0"/>
          </a:p>
        </p:txBody>
      </p:sp>
      <p:sp>
        <p:nvSpPr>
          <p:cNvPr id="23" name="文本框 370"/>
          <p:cNvSpPr txBox="1">
            <a:spLocks noChangeArrowheads="1"/>
          </p:cNvSpPr>
          <p:nvPr/>
        </p:nvSpPr>
        <p:spPr bwMode="auto">
          <a:xfrm>
            <a:off x="5077736" y="2910418"/>
            <a:ext cx="790408"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0" name="文本框 369"/>
          <p:cNvSpPr txBox="1">
            <a:spLocks noChangeArrowheads="1"/>
          </p:cNvSpPr>
          <p:nvPr/>
        </p:nvSpPr>
        <p:spPr bwMode="auto">
          <a:xfrm>
            <a:off x="2308859" y="2910418"/>
            <a:ext cx="721569"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zh-CN"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1" name="文本框 368"/>
          <p:cNvSpPr txBox="1">
            <a:spLocks noChangeArrowheads="1"/>
          </p:cNvSpPr>
          <p:nvPr/>
        </p:nvSpPr>
        <p:spPr bwMode="auto">
          <a:xfrm>
            <a:off x="1390650" y="4237190"/>
            <a:ext cx="661070" cy="41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2" name="文本框 367"/>
          <p:cNvSpPr txBox="1">
            <a:spLocks noChangeArrowheads="1"/>
          </p:cNvSpPr>
          <p:nvPr/>
        </p:nvSpPr>
        <p:spPr bwMode="auto">
          <a:xfrm>
            <a:off x="3821390" y="4256240"/>
            <a:ext cx="750609" cy="54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3" name="文本框 371"/>
          <p:cNvSpPr txBox="1">
            <a:spLocks noChangeArrowheads="1"/>
          </p:cNvSpPr>
          <p:nvPr/>
        </p:nvSpPr>
        <p:spPr bwMode="auto">
          <a:xfrm>
            <a:off x="6516216" y="4149080"/>
            <a:ext cx="1224136"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grpSp>
        <p:nvGrpSpPr>
          <p:cNvPr id="39" name="组合 38"/>
          <p:cNvGrpSpPr/>
          <p:nvPr/>
        </p:nvGrpSpPr>
        <p:grpSpPr>
          <a:xfrm>
            <a:off x="469766" y="2443089"/>
            <a:ext cx="7662252" cy="1555244"/>
            <a:chOff x="469766" y="2443089"/>
            <a:chExt cx="7662252" cy="1555244"/>
          </a:xfrm>
        </p:grpSpPr>
        <p:grpSp>
          <p:nvGrpSpPr>
            <p:cNvPr id="24" name="组合 23"/>
            <p:cNvGrpSpPr>
              <a:grpSpLocks/>
            </p:cNvGrpSpPr>
            <p:nvPr/>
          </p:nvGrpSpPr>
          <p:grpSpPr bwMode="auto">
            <a:xfrm>
              <a:off x="469766" y="2644808"/>
              <a:ext cx="1841768" cy="1324094"/>
              <a:chOff x="1854" y="7702"/>
              <a:chExt cx="1386" cy="1023"/>
            </a:xfrm>
          </p:grpSpPr>
          <p:sp>
            <p:nvSpPr>
              <p:cNvPr id="25" name="Text Box 43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张良</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p:txBody>
          </p:sp>
          <p:cxnSp>
            <p:nvCxnSpPr>
              <p:cNvPr id="26" name="Line 43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7" name="组合 26"/>
            <p:cNvGrpSpPr>
              <a:grpSpLocks/>
            </p:cNvGrpSpPr>
            <p:nvPr/>
          </p:nvGrpSpPr>
          <p:grpSpPr bwMode="auto">
            <a:xfrm>
              <a:off x="5868144" y="2443089"/>
              <a:ext cx="2263874" cy="1555244"/>
              <a:chOff x="5934" y="10616"/>
              <a:chExt cx="1440" cy="1085"/>
            </a:xfrm>
          </p:grpSpPr>
          <p:sp>
            <p:nvSpPr>
              <p:cNvPr id="28" name="Text Box 437"/>
              <p:cNvSpPr txBox="1">
                <a:spLocks noChangeArrowheads="1"/>
              </p:cNvSpPr>
              <p:nvPr/>
            </p:nvSpPr>
            <p:spPr bwMode="auto">
              <a:xfrm>
                <a:off x="5934" y="10616"/>
                <a:ext cx="1440" cy="108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endParaRPr lang="en-US" alt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张良</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p:txBody>
          </p:sp>
          <p:cxnSp>
            <p:nvCxnSpPr>
              <p:cNvPr id="29" name="Line 438"/>
              <p:cNvCxnSpPr/>
              <p:nvPr/>
            </p:nvCxnSpPr>
            <p:spPr bwMode="auto">
              <a:xfrm>
                <a:off x="5934" y="10957"/>
                <a:ext cx="14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34" name="组合 33"/>
            <p:cNvGrpSpPr>
              <a:grpSpLocks/>
            </p:cNvGrpSpPr>
            <p:nvPr/>
          </p:nvGrpSpPr>
          <p:grpSpPr bwMode="auto">
            <a:xfrm>
              <a:off x="3117496" y="2644808"/>
              <a:ext cx="1960240" cy="1252597"/>
              <a:chOff x="1854" y="7702"/>
              <a:chExt cx="1386" cy="1023"/>
            </a:xfrm>
          </p:grpSpPr>
          <p:sp>
            <p:nvSpPr>
              <p:cNvPr id="35" name="Text Box 44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王海</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905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254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p:txBody>
          </p:sp>
          <p:cxnSp>
            <p:nvCxnSpPr>
              <p:cNvPr id="36" name="Line 44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sp>
        <p:nvSpPr>
          <p:cNvPr id="37" name="Rectangle 1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8" name="Rectangle 22"/>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BBF4EBE0-00E2-EB46-A597-8BF50FB5FE96}"/>
              </a:ext>
            </a:extLst>
          </p:cNvPr>
          <p:cNvSpPr>
            <a:spLocks noGrp="1"/>
          </p:cNvSpPr>
          <p:nvPr>
            <p:ph type="sldNum" sz="quarter" idx="12"/>
          </p:nvPr>
        </p:nvSpPr>
        <p:spPr/>
        <p:txBody>
          <a:bodyPr/>
          <a:lstStyle/>
          <a:p>
            <a:fld id="{C46E5E69-9A6D-4AF8-BC2D-C556A9893D8F}" type="slidenum">
              <a:rPr lang="zh-CN" altLang="en-US" smtClean="0"/>
              <a:pPr/>
              <a:t>15</a:t>
            </a:fld>
            <a:endParaRPr lang="zh-CN" altLang="en-US" dirty="0"/>
          </a:p>
        </p:txBody>
      </p:sp>
    </p:spTree>
    <p:extLst>
      <p:ext uri="{BB962C8B-B14F-4D97-AF65-F5344CB8AC3E}">
        <p14:creationId xmlns:p14="http://schemas.microsoft.com/office/powerpoint/2010/main" val="290550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a:t>
            </a:r>
            <a:r>
              <a:rPr lang="en-US" altLang="zh-CN" i="0" u="none" strike="noStrike" kern="2200" baseline="0" dirty="0"/>
              <a:t>.2.4  </a:t>
            </a:r>
            <a:r>
              <a:rPr lang="zh-CN" altLang="en-US" i="0" u="none" strike="noStrike" kern="2200" baseline="0" dirty="0">
                <a:solidFill>
                  <a:srgbClr val="0000FF"/>
                </a:solidFill>
              </a:rPr>
              <a:t>交集</a:t>
            </a:r>
          </a:p>
        </p:txBody>
      </p:sp>
      <p:sp>
        <p:nvSpPr>
          <p:cNvPr id="3" name="文本占位符 2"/>
          <p:cNvSpPr>
            <a:spLocks noGrp="1"/>
          </p:cNvSpPr>
          <p:nvPr>
            <p:ph type="body" idx="1"/>
          </p:nvPr>
        </p:nvSpPr>
        <p:spPr>
          <a:xfrm>
            <a:off x="107504" y="1052736"/>
            <a:ext cx="8928992" cy="5256584"/>
          </a:xfrm>
        </p:spPr>
        <p:txBody>
          <a:bodyPr>
            <a:normAutofit/>
          </a:bodyPr>
          <a:lstStyle/>
          <a:p>
            <a:pPr lvl="0"/>
            <a:r>
              <a:rPr lang="en-US" altLang="zh-CN" sz="2000" dirty="0">
                <a:solidFill>
                  <a:srgbClr val="0000FF"/>
                </a:solidFill>
              </a:rPr>
              <a:t>R∩S</a:t>
            </a:r>
            <a:r>
              <a:rPr lang="zh-CN" altLang="en-US" sz="2000" dirty="0">
                <a:solidFill>
                  <a:srgbClr val="0000FF"/>
                </a:solidFill>
              </a:rPr>
              <a:t>：</a:t>
            </a:r>
            <a:r>
              <a:rPr lang="zh-CN" altLang="zh-CN" sz="2000" dirty="0"/>
              <a:t>具有相同属性的关系</a:t>
            </a:r>
            <a:r>
              <a:rPr lang="en-US" altLang="zh-CN" sz="2000" dirty="0"/>
              <a:t>R</a:t>
            </a:r>
            <a:r>
              <a:rPr lang="zh-CN" altLang="zh-CN" sz="2000" dirty="0"/>
              <a:t>和</a:t>
            </a:r>
            <a:r>
              <a:rPr lang="en-US" altLang="zh-CN" sz="2000" dirty="0"/>
              <a:t>S</a:t>
            </a:r>
            <a:r>
              <a:rPr lang="zh-CN" altLang="zh-CN" sz="2000" dirty="0"/>
              <a:t>中的所有元组的集合</a:t>
            </a:r>
            <a:endParaRPr lang="en-US" altLang="zh-CN" sz="2000" dirty="0"/>
          </a:p>
          <a:p>
            <a:pPr lvl="0"/>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属性：</a:t>
            </a:r>
            <a:endParaRPr lang="en-US" altLang="zh-CN" sz="2000" i="0" u="none" strike="noStrike" kern="100" baseline="0" dirty="0">
              <a:solidFill>
                <a:srgbClr val="0000FF"/>
              </a:solidFill>
            </a:endParaRPr>
          </a:p>
          <a:p>
            <a:pPr lvl="0"/>
            <a:r>
              <a:rPr lang="zh-CN" altLang="en-US" sz="2000" i="0" u="none" strike="noStrike" kern="100" baseline="0" dirty="0">
                <a:solidFill>
                  <a:srgbClr val="0000FF"/>
                </a:solidFill>
              </a:rPr>
              <a:t>分量个数：</a:t>
            </a:r>
            <a:r>
              <a:rPr lang="zh-CN" altLang="en-US" sz="2000" i="0" u="none" strike="noStrike" kern="100" baseline="0" dirty="0"/>
              <a:t>等于</a:t>
            </a:r>
            <a:r>
              <a:rPr lang="en-US" altLang="zh-CN" sz="2000" i="0" u="none" strike="noStrike" kern="100" baseline="0" dirty="0"/>
              <a:t>R</a:t>
            </a:r>
            <a:r>
              <a:rPr lang="zh-CN" altLang="zh-CN" sz="2000" dirty="0"/>
              <a:t>的分量个数</a:t>
            </a:r>
            <a:r>
              <a:rPr lang="zh-CN" altLang="en-US" sz="2000" dirty="0"/>
              <a:t>，或等于</a:t>
            </a:r>
            <a:r>
              <a:rPr lang="en-US" altLang="zh-CN" sz="2000" dirty="0"/>
              <a:t>S</a:t>
            </a:r>
            <a:r>
              <a:rPr lang="zh-CN" altLang="zh-CN" sz="2000" dirty="0"/>
              <a:t>的分量个数</a:t>
            </a:r>
            <a:endParaRPr lang="en-US" altLang="zh-CN" sz="2000" dirty="0"/>
          </a:p>
          <a:p>
            <a:pPr lvl="0"/>
            <a:r>
              <a:rPr lang="zh-CN" altLang="zh-CN" sz="2000" dirty="0">
                <a:solidFill>
                  <a:srgbClr val="0000FF"/>
                </a:solidFill>
              </a:rPr>
              <a:t>元组个数</a:t>
            </a:r>
            <a:r>
              <a:rPr lang="zh-CN" altLang="en-US" sz="2000" dirty="0">
                <a:solidFill>
                  <a:srgbClr val="0000FF"/>
                </a:solidFill>
              </a:rPr>
              <a:t>：</a:t>
            </a:r>
            <a:r>
              <a:rPr lang="zh-CN" altLang="zh-CN" sz="2000" dirty="0"/>
              <a:t>小于等于</a:t>
            </a:r>
            <a:r>
              <a:rPr lang="en-US" altLang="zh-CN" sz="2000" dirty="0"/>
              <a:t>Min(k1</a:t>
            </a:r>
            <a:r>
              <a:rPr lang="zh-CN" altLang="en-US" sz="2000" dirty="0"/>
              <a:t>，</a:t>
            </a:r>
            <a:r>
              <a:rPr lang="en-US" altLang="zh-CN" sz="2000" dirty="0"/>
              <a:t>k2)</a:t>
            </a:r>
            <a:r>
              <a:rPr lang="zh-CN" altLang="zh-CN" sz="2000" dirty="0"/>
              <a:t> 。</a:t>
            </a:r>
            <a:r>
              <a:rPr lang="en-US" altLang="zh-CN" sz="2000" dirty="0"/>
              <a:t>K1</a:t>
            </a:r>
            <a:r>
              <a:rPr lang="zh-CN" altLang="en-US" sz="2000" dirty="0"/>
              <a:t>，</a:t>
            </a:r>
            <a:r>
              <a:rPr lang="en-US" altLang="zh-CN" sz="2000" dirty="0"/>
              <a:t>k2</a:t>
            </a:r>
            <a:r>
              <a:rPr lang="zh-CN" altLang="en-US" sz="2000" dirty="0"/>
              <a:t>分别</a:t>
            </a:r>
            <a:r>
              <a:rPr lang="zh-CN" altLang="zh-CN" sz="2000" dirty="0"/>
              <a:t>为</a:t>
            </a:r>
            <a:r>
              <a:rPr lang="en-US" altLang="zh-CN" sz="2000" dirty="0"/>
              <a:t>R</a:t>
            </a:r>
            <a:r>
              <a:rPr lang="zh-CN" altLang="en-US" sz="2000" dirty="0"/>
              <a:t>和</a:t>
            </a:r>
            <a:r>
              <a:rPr lang="en-US" altLang="zh-CN" sz="2000" dirty="0"/>
              <a:t>S</a:t>
            </a:r>
            <a:r>
              <a:rPr lang="zh-CN" altLang="zh-CN" sz="2000" dirty="0"/>
              <a:t>的元组的个数</a:t>
            </a:r>
            <a:endParaRPr lang="en-US" altLang="zh-CN" sz="2000" i="0" u="none" strike="noStrike" kern="100" baseline="0" dirty="0"/>
          </a:p>
          <a:p>
            <a:r>
              <a:rPr lang="zh-CN" altLang="zh-CN" sz="2000" dirty="0">
                <a:solidFill>
                  <a:srgbClr val="0000FF"/>
                </a:solidFill>
              </a:rPr>
              <a:t>元组关系演算</a:t>
            </a:r>
            <a:r>
              <a:rPr lang="zh-CN" altLang="en-US" sz="2000" i="0" u="none" strike="noStrike" kern="100" baseline="0" dirty="0">
                <a:solidFill>
                  <a:srgbClr val="0000FF"/>
                </a:solidFill>
              </a:rPr>
              <a:t>：</a:t>
            </a:r>
            <a:endParaRPr lang="en-US" altLang="zh-CN" sz="2000" i="0" u="none" strike="noStrike" kern="100" baseline="0" dirty="0">
              <a:solidFill>
                <a:srgbClr val="0000FF"/>
              </a:solidFill>
            </a:endParaRPr>
          </a:p>
          <a:p>
            <a:r>
              <a:rPr lang="zh-CN" altLang="zh-CN" sz="2000" dirty="0"/>
              <a:t>域关系演算</a:t>
            </a:r>
            <a:r>
              <a:rPr lang="zh-CN" altLang="en-US" sz="2000" dirty="0"/>
              <a:t>：</a:t>
            </a:r>
            <a:endParaRPr lang="en-US" altLang="zh-CN" sz="2000" dirty="0"/>
          </a:p>
          <a:p>
            <a:endParaRPr lang="en-US" altLang="zh-CN" sz="2000" i="0" u="none" strike="noStrike" kern="100" baseline="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4081710686"/>
              </p:ext>
            </p:extLst>
          </p:nvPr>
        </p:nvGraphicFramePr>
        <p:xfrm>
          <a:off x="2019991" y="2060848"/>
          <a:ext cx="2043113" cy="431800"/>
        </p:xfrm>
        <a:graphic>
          <a:graphicData uri="http://schemas.openxmlformats.org/presentationml/2006/ole">
            <mc:AlternateContent xmlns:mc="http://schemas.openxmlformats.org/markup-compatibility/2006">
              <mc:Choice xmlns:v="urn:schemas-microsoft-com:vml" Requires="v">
                <p:oleObj spid="_x0000_s9753" name="公式" r:id="rId3" imgW="1079280" imgH="228600" progId="Equation.3">
                  <p:embed/>
                </p:oleObj>
              </mc:Choice>
              <mc:Fallback>
                <p:oleObj name="公式" r:id="rId3" imgW="1079280" imgH="228600" progId="Equation.3">
                  <p:embed/>
                  <p:pic>
                    <p:nvPicPr>
                      <p:cNvPr id="0" name=""/>
                      <p:cNvPicPr>
                        <a:picLocks noChangeAspect="1" noChangeArrowheads="1"/>
                      </p:cNvPicPr>
                      <p:nvPr/>
                    </p:nvPicPr>
                    <p:blipFill>
                      <a:blip r:embed="rId4"/>
                      <a:srcRect/>
                      <a:stretch>
                        <a:fillRect/>
                      </a:stretch>
                    </p:blipFill>
                    <p:spPr bwMode="auto">
                      <a:xfrm>
                        <a:off x="2019991" y="2060848"/>
                        <a:ext cx="2043113" cy="431800"/>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977620638"/>
              </p:ext>
            </p:extLst>
          </p:nvPr>
        </p:nvGraphicFramePr>
        <p:xfrm>
          <a:off x="1787550" y="1628800"/>
          <a:ext cx="1860207" cy="360040"/>
        </p:xfrm>
        <a:graphic>
          <a:graphicData uri="http://schemas.openxmlformats.org/presentationml/2006/ole">
            <mc:AlternateContent xmlns:mc="http://schemas.openxmlformats.org/markup-compatibility/2006">
              <mc:Choice xmlns:v="urn:schemas-microsoft-com:vml" Requires="v">
                <p:oleObj spid="_x0000_s9754" name="公式" r:id="rId5" imgW="1181100" imgH="228600" progId="Equation.3">
                  <p:embed/>
                </p:oleObj>
              </mc:Choice>
              <mc:Fallback>
                <p:oleObj name="公式" r:id="rId5" imgW="11811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7550" y="1628800"/>
                        <a:ext cx="1860207" cy="360040"/>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906531300"/>
              </p:ext>
            </p:extLst>
          </p:nvPr>
        </p:nvGraphicFramePr>
        <p:xfrm>
          <a:off x="4060521" y="1628800"/>
          <a:ext cx="1755195" cy="360040"/>
        </p:xfrm>
        <a:graphic>
          <a:graphicData uri="http://schemas.openxmlformats.org/presentationml/2006/ole">
            <mc:AlternateContent xmlns:mc="http://schemas.openxmlformats.org/markup-compatibility/2006">
              <mc:Choice xmlns:v="urn:schemas-microsoft-com:vml" Requires="v">
                <p:oleObj spid="_x0000_s9755" name="公式" r:id="rId7" imgW="1117600" imgH="228600" progId="Equation.3">
                  <p:embed/>
                </p:oleObj>
              </mc:Choice>
              <mc:Fallback>
                <p:oleObj name="公式" r:id="rId7" imgW="1117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0521" y="1628800"/>
                        <a:ext cx="1755195" cy="360040"/>
                      </a:xfrm>
                      <a:prstGeom prst="rect">
                        <a:avLst/>
                      </a:prstGeom>
                      <a:noFill/>
                    </p:spPr>
                  </p:pic>
                </p:oleObj>
              </mc:Fallback>
            </mc:AlternateContent>
          </a:graphicData>
        </a:graphic>
      </p:graphicFrame>
      <p:sp>
        <p:nvSpPr>
          <p:cNvPr id="20" name="Rectangle 2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2424961250"/>
              </p:ext>
            </p:extLst>
          </p:nvPr>
        </p:nvGraphicFramePr>
        <p:xfrm>
          <a:off x="2209800" y="3487738"/>
          <a:ext cx="4102100" cy="430212"/>
        </p:xfrm>
        <a:graphic>
          <a:graphicData uri="http://schemas.openxmlformats.org/presentationml/2006/ole">
            <mc:AlternateContent xmlns:mc="http://schemas.openxmlformats.org/markup-compatibility/2006">
              <mc:Choice xmlns:v="urn:schemas-microsoft-com:vml" Requires="v">
                <p:oleObj spid="_x0000_s9756" name="公式" r:id="rId9" imgW="2019240" imgH="215640" progId="Equation.3">
                  <p:embed/>
                </p:oleObj>
              </mc:Choice>
              <mc:Fallback>
                <p:oleObj name="公式" r:id="rId9" imgW="2019240" imgH="215640" progId="Equation.3">
                  <p:embed/>
                  <p:pic>
                    <p:nvPicPr>
                      <p:cNvPr id="0" name=""/>
                      <p:cNvPicPr>
                        <a:picLocks noChangeAspect="1" noChangeArrowheads="1"/>
                      </p:cNvPicPr>
                      <p:nvPr/>
                    </p:nvPicPr>
                    <p:blipFill>
                      <a:blip r:embed="rId10"/>
                      <a:srcRect/>
                      <a:stretch>
                        <a:fillRect/>
                      </a:stretch>
                    </p:blipFill>
                    <p:spPr bwMode="auto">
                      <a:xfrm>
                        <a:off x="2209800" y="3487738"/>
                        <a:ext cx="4102100" cy="430212"/>
                      </a:xfrm>
                      <a:prstGeom prst="rect">
                        <a:avLst/>
                      </a:prstGeom>
                      <a:noFill/>
                    </p:spPr>
                  </p:pic>
                </p:oleObj>
              </mc:Fallback>
            </mc:AlternateContent>
          </a:graphicData>
        </a:graphic>
      </p:graphicFrame>
      <p:sp>
        <p:nvSpPr>
          <p:cNvPr id="22" name="Rectangle 2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2410608729"/>
              </p:ext>
            </p:extLst>
          </p:nvPr>
        </p:nvGraphicFramePr>
        <p:xfrm>
          <a:off x="252660" y="4365104"/>
          <a:ext cx="8638679" cy="400157"/>
        </p:xfrm>
        <a:graphic>
          <a:graphicData uri="http://schemas.openxmlformats.org/presentationml/2006/ole">
            <mc:AlternateContent xmlns:mc="http://schemas.openxmlformats.org/markup-compatibility/2006">
              <mc:Choice xmlns:v="urn:schemas-microsoft-com:vml" Requires="v">
                <p:oleObj spid="_x0000_s9757" name="公式" r:id="rId11" imgW="4940280" imgH="228600" progId="Equation.3">
                  <p:embed/>
                </p:oleObj>
              </mc:Choice>
              <mc:Fallback>
                <p:oleObj name="公式" r:id="rId11" imgW="4940280" imgH="228600" progId="Equation.3">
                  <p:embed/>
                  <p:pic>
                    <p:nvPicPr>
                      <p:cNvPr id="0" name=""/>
                      <p:cNvPicPr>
                        <a:picLocks noChangeAspect="1" noChangeArrowheads="1"/>
                      </p:cNvPicPr>
                      <p:nvPr/>
                    </p:nvPicPr>
                    <p:blipFill>
                      <a:blip r:embed="rId12"/>
                      <a:srcRect/>
                      <a:stretch>
                        <a:fillRect/>
                      </a:stretch>
                    </p:blipFill>
                    <p:spPr bwMode="auto">
                      <a:xfrm>
                        <a:off x="252660" y="4365104"/>
                        <a:ext cx="8638679" cy="400157"/>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7A6072E1-3792-7B46-98F4-F6C70B75A0B7}"/>
              </a:ext>
            </a:extLst>
          </p:cNvPr>
          <p:cNvSpPr>
            <a:spLocks noGrp="1"/>
          </p:cNvSpPr>
          <p:nvPr>
            <p:ph type="sldNum" sz="quarter" idx="12"/>
          </p:nvPr>
        </p:nvSpPr>
        <p:spPr/>
        <p:txBody>
          <a:bodyPr/>
          <a:lstStyle/>
          <a:p>
            <a:fld id="{C46E5E69-9A6D-4AF8-BC2D-C556A9893D8F}" type="slidenum">
              <a:rPr lang="zh-CN" altLang="en-US" smtClean="0"/>
              <a:pPr/>
              <a:t>16</a:t>
            </a:fld>
            <a:endParaRPr lang="zh-CN" altLang="en-US" dirty="0"/>
          </a:p>
        </p:txBody>
      </p:sp>
    </p:spTree>
    <p:extLst>
      <p:ext uri="{BB962C8B-B14F-4D97-AF65-F5344CB8AC3E}">
        <p14:creationId xmlns:p14="http://schemas.microsoft.com/office/powerpoint/2010/main" val="3407678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2200" dirty="0"/>
              <a:t>2.2.4  </a:t>
            </a:r>
            <a:r>
              <a:rPr lang="zh-CN" altLang="en-US" kern="2200" dirty="0">
                <a:solidFill>
                  <a:srgbClr val="0000FF"/>
                </a:solidFill>
              </a:rPr>
              <a:t>交集</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457200" y="1124744"/>
            <a:ext cx="8229600" cy="648072"/>
          </a:xfrm>
        </p:spPr>
        <p:txBody>
          <a:bodyPr>
            <a:noAutofit/>
          </a:bodyPr>
          <a:lstStyle/>
          <a:p>
            <a:pPr marL="0" indent="0">
              <a:buNone/>
            </a:pPr>
            <a:r>
              <a:rPr lang="zh-CN" altLang="zh-CN" sz="1800" dirty="0">
                <a:solidFill>
                  <a:srgbClr val="0000FF"/>
                </a:solidFill>
              </a:rPr>
              <a:t>例2.</a:t>
            </a:r>
            <a:r>
              <a:rPr lang="en-US" altLang="zh-CN" sz="1800" dirty="0">
                <a:solidFill>
                  <a:srgbClr val="0000FF"/>
                </a:solidFill>
              </a:rPr>
              <a:t>4  </a:t>
            </a:r>
            <a:r>
              <a:rPr lang="zh-CN" altLang="zh-CN" sz="1800" dirty="0"/>
              <a:t>已知</a:t>
            </a:r>
            <a:r>
              <a:rPr lang="en-US" altLang="zh-CN" sz="1800" dirty="0"/>
              <a:t>R</a:t>
            </a:r>
            <a:r>
              <a:rPr lang="zh-CN" altLang="zh-CN" sz="1800" dirty="0"/>
              <a:t>和</a:t>
            </a:r>
            <a:r>
              <a:rPr lang="en-US" altLang="zh-CN" sz="1800" dirty="0"/>
              <a:t>S</a:t>
            </a:r>
            <a:r>
              <a:rPr lang="zh-CN" altLang="zh-CN" sz="1800" dirty="0"/>
              <a:t>，则</a:t>
            </a:r>
            <a:r>
              <a:rPr lang="en-US" altLang="zh-CN" sz="1800" dirty="0"/>
              <a:t>R∩S</a:t>
            </a:r>
            <a:r>
              <a:rPr lang="zh-CN" altLang="zh-CN" sz="1800" dirty="0"/>
              <a:t> </a:t>
            </a:r>
            <a:r>
              <a:rPr lang="en-US" altLang="zh-CN" sz="1800" dirty="0"/>
              <a:t>=</a:t>
            </a:r>
            <a:r>
              <a:rPr lang="zh-CN" altLang="en-US" sz="1800" dirty="0"/>
              <a:t>？</a:t>
            </a:r>
            <a:endParaRPr lang="zh-CN" altLang="en-US" sz="1800" i="0" u="none" strike="noStrike" kern="100" baseline="0" dirty="0"/>
          </a:p>
        </p:txBody>
      </p:sp>
      <p:sp>
        <p:nvSpPr>
          <p:cNvPr id="23" name="文本框 370"/>
          <p:cNvSpPr txBox="1">
            <a:spLocks noChangeArrowheads="1"/>
          </p:cNvSpPr>
          <p:nvPr/>
        </p:nvSpPr>
        <p:spPr bwMode="auto">
          <a:xfrm>
            <a:off x="5077736" y="2910418"/>
            <a:ext cx="790408"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en-US" altLang="zh-CN" sz="36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0" name="文本框 369"/>
          <p:cNvSpPr txBox="1">
            <a:spLocks noChangeArrowheads="1"/>
          </p:cNvSpPr>
          <p:nvPr/>
        </p:nvSpPr>
        <p:spPr bwMode="auto">
          <a:xfrm>
            <a:off x="2308859" y="2910418"/>
            <a:ext cx="721569" cy="6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zh-CN"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1" name="文本框 368"/>
          <p:cNvSpPr txBox="1">
            <a:spLocks noChangeArrowheads="1"/>
          </p:cNvSpPr>
          <p:nvPr/>
        </p:nvSpPr>
        <p:spPr bwMode="auto">
          <a:xfrm>
            <a:off x="1390650" y="4237190"/>
            <a:ext cx="661070" cy="41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2" name="文本框 367"/>
          <p:cNvSpPr txBox="1">
            <a:spLocks noChangeArrowheads="1"/>
          </p:cNvSpPr>
          <p:nvPr/>
        </p:nvSpPr>
        <p:spPr bwMode="auto">
          <a:xfrm>
            <a:off x="3821390" y="4256240"/>
            <a:ext cx="750609" cy="54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sp>
        <p:nvSpPr>
          <p:cNvPr id="33" name="文本框 371"/>
          <p:cNvSpPr txBox="1">
            <a:spLocks noChangeArrowheads="1"/>
          </p:cNvSpPr>
          <p:nvPr/>
        </p:nvSpPr>
        <p:spPr bwMode="auto">
          <a:xfrm>
            <a:off x="6516216" y="4149080"/>
            <a:ext cx="1224136"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R∩S</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endParaRPr>
          </a:p>
        </p:txBody>
      </p:sp>
      <p:grpSp>
        <p:nvGrpSpPr>
          <p:cNvPr id="39" name="组合 38"/>
          <p:cNvGrpSpPr/>
          <p:nvPr/>
        </p:nvGrpSpPr>
        <p:grpSpPr>
          <a:xfrm>
            <a:off x="469766" y="2443089"/>
            <a:ext cx="7662252" cy="1555244"/>
            <a:chOff x="469766" y="2443089"/>
            <a:chExt cx="7662252" cy="1555244"/>
          </a:xfrm>
        </p:grpSpPr>
        <p:grpSp>
          <p:nvGrpSpPr>
            <p:cNvPr id="24" name="组合 23"/>
            <p:cNvGrpSpPr>
              <a:grpSpLocks/>
            </p:cNvGrpSpPr>
            <p:nvPr/>
          </p:nvGrpSpPr>
          <p:grpSpPr bwMode="auto">
            <a:xfrm>
              <a:off x="469766" y="2644808"/>
              <a:ext cx="1841768" cy="1324094"/>
              <a:chOff x="1854" y="7702"/>
              <a:chExt cx="1386" cy="1023"/>
            </a:xfrm>
          </p:grpSpPr>
          <p:sp>
            <p:nvSpPr>
              <p:cNvPr id="25" name="Text Box 43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张良</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p:txBody>
          </p:sp>
          <p:cxnSp>
            <p:nvCxnSpPr>
              <p:cNvPr id="26" name="Line 43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7" name="组合 26"/>
            <p:cNvGrpSpPr>
              <a:grpSpLocks/>
            </p:cNvGrpSpPr>
            <p:nvPr/>
          </p:nvGrpSpPr>
          <p:grpSpPr bwMode="auto">
            <a:xfrm>
              <a:off x="5868144" y="2443089"/>
              <a:ext cx="2263874" cy="1555244"/>
              <a:chOff x="5934" y="10616"/>
              <a:chExt cx="1440" cy="1085"/>
            </a:xfrm>
          </p:grpSpPr>
          <p:sp>
            <p:nvSpPr>
              <p:cNvPr id="28" name="Text Box 437"/>
              <p:cNvSpPr txBox="1">
                <a:spLocks noChangeArrowheads="1"/>
              </p:cNvSpPr>
              <p:nvPr/>
            </p:nvSpPr>
            <p:spPr bwMode="auto">
              <a:xfrm>
                <a:off x="5934" y="10616"/>
                <a:ext cx="1440" cy="108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endParaRPr lang="en-US" alt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a:p>
                <a:pPr indent="1905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p:txBody>
          </p:sp>
          <p:cxnSp>
            <p:nvCxnSpPr>
              <p:cNvPr id="29" name="Line 438"/>
              <p:cNvCxnSpPr/>
              <p:nvPr/>
            </p:nvCxnSpPr>
            <p:spPr bwMode="auto">
              <a:xfrm>
                <a:off x="5934" y="10957"/>
                <a:ext cx="14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34" name="组合 33"/>
            <p:cNvGrpSpPr>
              <a:grpSpLocks/>
            </p:cNvGrpSpPr>
            <p:nvPr/>
          </p:nvGrpSpPr>
          <p:grpSpPr bwMode="auto">
            <a:xfrm>
              <a:off x="3117496" y="2644808"/>
              <a:ext cx="1960240" cy="1252597"/>
              <a:chOff x="1854" y="7702"/>
              <a:chExt cx="1386" cy="1023"/>
            </a:xfrm>
          </p:grpSpPr>
          <p:sp>
            <p:nvSpPr>
              <p:cNvPr id="35" name="Text Box 444"/>
              <p:cNvSpPr txBox="1">
                <a:spLocks noChangeArrowheads="1"/>
              </p:cNvSpPr>
              <p:nvPr/>
            </p:nvSpPr>
            <p:spPr bwMode="auto">
              <a:xfrm>
                <a:off x="1854" y="7702"/>
                <a:ext cx="1386" cy="10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姓名</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性别</a:t>
                </a:r>
              </a:p>
              <a:p>
                <a:pPr indent="127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李丽</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女</a:t>
                </a:r>
              </a:p>
              <a:p>
                <a:pPr indent="127000" algn="ctr">
                  <a:lnSpc>
                    <a:spcPts val="2200"/>
                  </a:lnSpc>
                  <a:spcAft>
                    <a:spcPts val="0"/>
                  </a:spcAft>
                </a:pPr>
                <a:r>
                  <a:rPr lang="zh-CN" dirty="0">
                    <a:effectLst/>
                    <a:latin typeface="微软雅黑" panose="020B0503020204020204" pitchFamily="34" charset="-122"/>
                    <a:ea typeface="微软雅黑" panose="020B0503020204020204" pitchFamily="34" charset="-122"/>
                  </a:rPr>
                  <a:t>王海</a:t>
                </a:r>
                <a:r>
                  <a:rPr lang="en-US" dirty="0">
                    <a:effectLst/>
                    <a:latin typeface="微软雅黑" panose="020B0503020204020204" pitchFamily="34" charset="-122"/>
                    <a:ea typeface="微软雅黑" panose="020B0503020204020204" pitchFamily="34" charset="-122"/>
                  </a:rPr>
                  <a:t>      </a:t>
                </a:r>
                <a:r>
                  <a:rPr lang="zh-CN" dirty="0">
                    <a:effectLst/>
                    <a:latin typeface="微软雅黑" panose="020B0503020204020204" pitchFamily="34" charset="-122"/>
                    <a:ea typeface="微软雅黑" panose="020B0503020204020204" pitchFamily="34" charset="-122"/>
                  </a:rPr>
                  <a:t>男</a:t>
                </a:r>
              </a:p>
              <a:p>
                <a:pPr indent="1905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a:p>
                <a:pPr indent="254000" algn="ctr">
                  <a:lnSpc>
                    <a:spcPts val="2200"/>
                  </a:lnSpc>
                  <a:spcAft>
                    <a:spcPts val="0"/>
                  </a:spcAft>
                </a:pPr>
                <a:r>
                  <a:rPr lang="en-US" dirty="0">
                    <a:effectLst/>
                    <a:latin typeface="微软雅黑" panose="020B0503020204020204" pitchFamily="34" charset="-122"/>
                    <a:ea typeface="微软雅黑" panose="020B0503020204020204" pitchFamily="34" charset="-122"/>
                  </a:rPr>
                  <a:t> </a:t>
                </a:r>
                <a:endParaRPr lang="zh-CN" dirty="0">
                  <a:effectLst/>
                  <a:latin typeface="微软雅黑" panose="020B0503020204020204" pitchFamily="34" charset="-122"/>
                  <a:ea typeface="微软雅黑" panose="020B0503020204020204" pitchFamily="34" charset="-122"/>
                </a:endParaRPr>
              </a:p>
            </p:txBody>
          </p:sp>
          <p:cxnSp>
            <p:nvCxnSpPr>
              <p:cNvPr id="36" name="Line 445"/>
              <p:cNvCxnSpPr/>
              <p:nvPr/>
            </p:nvCxnSpPr>
            <p:spPr bwMode="auto">
              <a:xfrm>
                <a:off x="1854" y="8043"/>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sp>
        <p:nvSpPr>
          <p:cNvPr id="37" name="Rectangle 1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8" name="Rectangle 22"/>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54000"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1pPr>
            <a:lvl2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2pPr>
            <a:lvl3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3pPr>
            <a:lvl4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4pPr>
            <a:lvl5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5pPr>
            <a:lvl6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6pPr>
            <a:lvl7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7pPr>
            <a:lvl8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8pPr>
            <a:lvl9pPr fontAlgn="base">
              <a:spcBef>
                <a:spcPct val="0"/>
              </a:spcBef>
              <a:spcAft>
                <a:spcPct val="0"/>
              </a:spcAft>
              <a:tabLst>
                <a:tab pos="5257800" algn="l"/>
              </a:tabLst>
              <a:defRPr>
                <a:solidFill>
                  <a:schemeClr val="tx1"/>
                </a:solidFill>
                <a:latin typeface="Arial" pitchFamily="34" charset="0"/>
                <a:ea typeface="宋体" pitchFamily="2" charset="-122"/>
                <a:cs typeface="宋体" pitchFamily="2" charset="-122"/>
              </a:defRPr>
            </a:lvl9p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F9F31E5C-7699-964F-8592-67A2E9CDFD09}"/>
              </a:ext>
            </a:extLst>
          </p:cNvPr>
          <p:cNvSpPr>
            <a:spLocks noGrp="1"/>
          </p:cNvSpPr>
          <p:nvPr>
            <p:ph type="sldNum" sz="quarter" idx="12"/>
          </p:nvPr>
        </p:nvSpPr>
        <p:spPr/>
        <p:txBody>
          <a:bodyPr/>
          <a:lstStyle/>
          <a:p>
            <a:fld id="{C46E5E69-9A6D-4AF8-BC2D-C556A9893D8F}" type="slidenum">
              <a:rPr lang="zh-CN" altLang="en-US" smtClean="0"/>
              <a:pPr/>
              <a:t>17</a:t>
            </a:fld>
            <a:endParaRPr lang="zh-CN" altLang="en-US" dirty="0"/>
          </a:p>
        </p:txBody>
      </p:sp>
    </p:spTree>
    <p:extLst>
      <p:ext uri="{BB962C8B-B14F-4D97-AF65-F5344CB8AC3E}">
        <p14:creationId xmlns:p14="http://schemas.microsoft.com/office/powerpoint/2010/main" val="817790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FF"/>
                </a:solidFill>
              </a:rPr>
              <a:t>综合示例</a:t>
            </a:r>
          </a:p>
        </p:txBody>
      </p:sp>
      <p:sp>
        <p:nvSpPr>
          <p:cNvPr id="3" name="文本占位符 2"/>
          <p:cNvSpPr>
            <a:spLocks noGrp="1"/>
          </p:cNvSpPr>
          <p:nvPr>
            <p:ph type="body" idx="1"/>
          </p:nvPr>
        </p:nvSpPr>
        <p:spPr>
          <a:xfrm>
            <a:off x="457200" y="1124744"/>
            <a:ext cx="8229600" cy="720080"/>
          </a:xfrm>
        </p:spPr>
        <p:txBody>
          <a:bodyPr/>
          <a:lstStyle/>
          <a:p>
            <a:pPr marL="0" indent="0">
              <a:buNone/>
            </a:pPr>
            <a:r>
              <a:rPr lang="zh-CN" altLang="zh-CN" dirty="0">
                <a:solidFill>
                  <a:srgbClr val="0000FF"/>
                </a:solidFill>
              </a:rPr>
              <a:t>例</a:t>
            </a:r>
            <a:r>
              <a:rPr lang="en-US" altLang="zh-CN" dirty="0">
                <a:solidFill>
                  <a:srgbClr val="0000FF"/>
                </a:solidFill>
              </a:rPr>
              <a:t>2.5 </a:t>
            </a:r>
            <a:r>
              <a:rPr lang="zh-CN" altLang="zh-CN" dirty="0"/>
              <a:t>关系</a:t>
            </a:r>
            <a:r>
              <a:rPr lang="en-US" altLang="zh-CN" dirty="0"/>
              <a:t>R</a:t>
            </a:r>
            <a:r>
              <a:rPr lang="zh-CN" altLang="zh-CN" dirty="0"/>
              <a:t>和关系</a:t>
            </a:r>
            <a:r>
              <a:rPr lang="en-US" altLang="zh-CN" dirty="0"/>
              <a:t>S</a:t>
            </a:r>
            <a:r>
              <a:rPr lang="zh-CN" altLang="zh-CN" dirty="0"/>
              <a:t>及其并集、交集、差集和笛卡尔积</a:t>
            </a:r>
            <a:endParaRPr lang="zh-CN" altLang="en-US" dirty="0"/>
          </a:p>
        </p:txBody>
      </p:sp>
      <p:grpSp>
        <p:nvGrpSpPr>
          <p:cNvPr id="7" name="画布 434"/>
          <p:cNvGrpSpPr/>
          <p:nvPr/>
        </p:nvGrpSpPr>
        <p:grpSpPr>
          <a:xfrm>
            <a:off x="179512" y="1856888"/>
            <a:ext cx="8712968" cy="4380424"/>
            <a:chOff x="0" y="0"/>
            <a:chExt cx="5276850" cy="2905125"/>
          </a:xfrm>
        </p:grpSpPr>
        <p:sp>
          <p:nvSpPr>
            <p:cNvPr id="8" name="矩形 7"/>
            <p:cNvSpPr/>
            <p:nvPr/>
          </p:nvSpPr>
          <p:spPr>
            <a:xfrm>
              <a:off x="0" y="0"/>
              <a:ext cx="5276850" cy="2905125"/>
            </a:xfrm>
            <a:prstGeom prst="rect">
              <a:avLst/>
            </a:prstGeom>
          </p:spPr>
        </p:sp>
        <p:grpSp>
          <p:nvGrpSpPr>
            <p:cNvPr id="9" name="组合 8"/>
            <p:cNvGrpSpPr/>
            <p:nvPr/>
          </p:nvGrpSpPr>
          <p:grpSpPr>
            <a:xfrm>
              <a:off x="790575" y="85726"/>
              <a:ext cx="729525" cy="900000"/>
              <a:chOff x="352425" y="666750"/>
              <a:chExt cx="729525" cy="900000"/>
            </a:xfrm>
          </p:grpSpPr>
          <p:sp>
            <p:nvSpPr>
              <p:cNvPr id="31" name="文本框 435"/>
              <p:cNvSpPr txBox="1"/>
              <p:nvPr/>
            </p:nvSpPr>
            <p:spPr>
              <a:xfrm>
                <a:off x="352425" y="666750"/>
                <a:ext cx="720000" cy="9000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indent="127000" algn="ctr">
                  <a:lnSpc>
                    <a:spcPts val="2200"/>
                  </a:lnSpc>
                  <a:spcAft>
                    <a:spcPts val="0"/>
                  </a:spcAft>
                </a:pPr>
                <a:r>
                  <a:rPr lang="en-US" sz="2000" dirty="0">
                    <a:effectLst/>
                    <a:latin typeface="微软雅黑" pitchFamily="34" charset="-122"/>
                    <a:ea typeface="微软雅黑" pitchFamily="34" charset="-122"/>
                    <a:cs typeface="宋体"/>
                  </a:rPr>
                  <a:t>X  Y  Z</a:t>
                </a:r>
                <a:endParaRPr lang="zh-CN" sz="2000" dirty="0">
                  <a:effectLst/>
                  <a:latin typeface="微软雅黑" pitchFamily="34" charset="-122"/>
                  <a:ea typeface="微软雅黑" pitchFamily="34" charset="-122"/>
                  <a:cs typeface="宋体"/>
                </a:endParaRPr>
              </a:p>
              <a:p>
                <a:pPr indent="127000" algn="ctr">
                  <a:lnSpc>
                    <a:spcPts val="3600"/>
                  </a:lnSpc>
                  <a:spcAft>
                    <a:spcPts val="0"/>
                  </a:spcAft>
                </a:pPr>
                <a:r>
                  <a:rPr lang="en-US" sz="2000" dirty="0">
                    <a:effectLst/>
                    <a:latin typeface="微软雅黑" pitchFamily="34" charset="-122"/>
                    <a:ea typeface="微软雅黑" pitchFamily="34" charset="-122"/>
                    <a:cs typeface="宋体"/>
                  </a:rPr>
                  <a:t>2  2  2</a:t>
                </a:r>
                <a:endParaRPr lang="zh-CN" sz="2000" dirty="0">
                  <a:effectLst/>
                  <a:latin typeface="微软雅黑" pitchFamily="34" charset="-122"/>
                  <a:ea typeface="微软雅黑" pitchFamily="34" charset="-122"/>
                  <a:cs typeface="宋体"/>
                </a:endParaRPr>
              </a:p>
              <a:p>
                <a:pPr indent="127000" algn="ctr">
                  <a:lnSpc>
                    <a:spcPts val="2200"/>
                  </a:lnSpc>
                  <a:spcAft>
                    <a:spcPts val="0"/>
                  </a:spcAft>
                </a:pPr>
                <a:r>
                  <a:rPr lang="en-US" sz="2000" dirty="0">
                    <a:effectLst/>
                    <a:latin typeface="微软雅黑" pitchFamily="34" charset="-122"/>
                    <a:ea typeface="微软雅黑" pitchFamily="34" charset="-122"/>
                    <a:cs typeface="宋体"/>
                  </a:rPr>
                  <a:t>2  5  5</a:t>
                </a:r>
                <a:endParaRPr lang="zh-CN" sz="2000" dirty="0">
                  <a:effectLst/>
                  <a:latin typeface="微软雅黑" pitchFamily="34" charset="-122"/>
                  <a:ea typeface="微软雅黑" pitchFamily="34" charset="-122"/>
                  <a:cs typeface="宋体"/>
                </a:endParaRPr>
              </a:p>
              <a:p>
                <a:pPr indent="127000" algn="ctr">
                  <a:lnSpc>
                    <a:spcPts val="2200"/>
                  </a:lnSpc>
                  <a:spcAft>
                    <a:spcPts val="0"/>
                  </a:spcAft>
                </a:pPr>
                <a:r>
                  <a:rPr lang="en-US" sz="2000" dirty="0">
                    <a:effectLst/>
                    <a:latin typeface="微软雅黑" pitchFamily="34" charset="-122"/>
                    <a:ea typeface="微软雅黑" pitchFamily="34" charset="-122"/>
                    <a:cs typeface="宋体"/>
                  </a:rPr>
                  <a:t>5  5  2</a:t>
                </a:r>
                <a:endParaRPr lang="zh-CN" sz="2000" dirty="0">
                  <a:effectLst/>
                  <a:latin typeface="微软雅黑" pitchFamily="34" charset="-122"/>
                  <a:ea typeface="微软雅黑" pitchFamily="34" charset="-122"/>
                  <a:cs typeface="宋体"/>
                </a:endParaRPr>
              </a:p>
            </p:txBody>
          </p:sp>
          <p:cxnSp>
            <p:nvCxnSpPr>
              <p:cNvPr id="32" name="直接连接符 31"/>
              <p:cNvCxnSpPr/>
              <p:nvPr/>
            </p:nvCxnSpPr>
            <p:spPr>
              <a:xfrm>
                <a:off x="361950" y="932413"/>
                <a:ext cx="7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780075" y="1142026"/>
              <a:ext cx="719455" cy="899795"/>
              <a:chOff x="0" y="0"/>
              <a:chExt cx="720000" cy="900000"/>
            </a:xfrm>
          </p:grpSpPr>
          <p:sp>
            <p:nvSpPr>
              <p:cNvPr id="29" name="文本框 2"/>
              <p:cNvSpPr txBox="1"/>
              <p:nvPr/>
            </p:nvSpPr>
            <p:spPr>
              <a:xfrm>
                <a:off x="0" y="0"/>
                <a:ext cx="720000" cy="9000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indent="127000" algn="ctr">
                  <a:lnSpc>
                    <a:spcPts val="2200"/>
                  </a:lnSpc>
                  <a:spcAft>
                    <a:spcPts val="0"/>
                  </a:spcAft>
                </a:pPr>
                <a:r>
                  <a:rPr lang="en-US" sz="2000" dirty="0">
                    <a:effectLst/>
                    <a:latin typeface="微软雅黑" pitchFamily="34" charset="-122"/>
                    <a:ea typeface="微软雅黑" pitchFamily="34" charset="-122"/>
                    <a:cs typeface="宋体"/>
                  </a:rPr>
                  <a:t>X  Y  Z</a:t>
                </a:r>
                <a:endParaRPr lang="zh-CN" sz="2000" dirty="0">
                  <a:effectLst/>
                  <a:latin typeface="微软雅黑" pitchFamily="34" charset="-122"/>
                  <a:ea typeface="微软雅黑" pitchFamily="34" charset="-122"/>
                  <a:cs typeface="宋体"/>
                </a:endParaRPr>
              </a:p>
              <a:p>
                <a:pPr indent="127000" algn="ctr">
                  <a:lnSpc>
                    <a:spcPts val="3600"/>
                  </a:lnSpc>
                  <a:spcAft>
                    <a:spcPts val="0"/>
                  </a:spcAft>
                </a:pPr>
                <a:r>
                  <a:rPr lang="en-US" sz="2000" dirty="0">
                    <a:effectLst/>
                    <a:latin typeface="微软雅黑" pitchFamily="34" charset="-122"/>
                    <a:ea typeface="微软雅黑" pitchFamily="34" charset="-122"/>
                    <a:cs typeface="宋体"/>
                  </a:rPr>
                  <a:t>2  5  5</a:t>
                </a:r>
                <a:endParaRPr lang="zh-CN" sz="2000" dirty="0">
                  <a:effectLst/>
                  <a:latin typeface="微软雅黑" pitchFamily="34" charset="-122"/>
                  <a:ea typeface="微软雅黑" pitchFamily="34" charset="-122"/>
                  <a:cs typeface="宋体"/>
                </a:endParaRPr>
              </a:p>
              <a:p>
                <a:pPr indent="127000" algn="ctr">
                  <a:lnSpc>
                    <a:spcPts val="2200"/>
                  </a:lnSpc>
                  <a:spcAft>
                    <a:spcPts val="0"/>
                  </a:spcAft>
                </a:pPr>
                <a:r>
                  <a:rPr lang="en-US" sz="2000" dirty="0">
                    <a:effectLst/>
                    <a:latin typeface="微软雅黑" pitchFamily="34" charset="-122"/>
                    <a:ea typeface="微软雅黑" pitchFamily="34" charset="-122"/>
                    <a:cs typeface="宋体"/>
                  </a:rPr>
                  <a:t>2  6  5</a:t>
                </a:r>
                <a:endParaRPr lang="zh-CN" sz="2000" dirty="0">
                  <a:effectLst/>
                  <a:latin typeface="微软雅黑" pitchFamily="34" charset="-122"/>
                  <a:ea typeface="微软雅黑" pitchFamily="34" charset="-122"/>
                  <a:cs typeface="宋体"/>
                </a:endParaRPr>
              </a:p>
              <a:p>
                <a:pPr indent="127000" algn="ctr">
                  <a:lnSpc>
                    <a:spcPts val="2200"/>
                  </a:lnSpc>
                  <a:spcAft>
                    <a:spcPts val="0"/>
                  </a:spcAft>
                </a:pPr>
                <a:r>
                  <a:rPr lang="en-US" sz="2000" dirty="0">
                    <a:effectLst/>
                    <a:latin typeface="微软雅黑" pitchFamily="34" charset="-122"/>
                    <a:ea typeface="微软雅黑" pitchFamily="34" charset="-122"/>
                    <a:cs typeface="宋体"/>
                  </a:rPr>
                  <a:t>5  5  2</a:t>
                </a:r>
                <a:endParaRPr lang="zh-CN" sz="2000" dirty="0">
                  <a:effectLst/>
                  <a:latin typeface="微软雅黑" pitchFamily="34" charset="-122"/>
                  <a:ea typeface="微软雅黑" pitchFamily="34" charset="-122"/>
                  <a:cs typeface="宋体"/>
                </a:endParaRPr>
              </a:p>
            </p:txBody>
          </p:sp>
          <p:cxnSp>
            <p:nvCxnSpPr>
              <p:cNvPr id="30" name="直接连接符 29"/>
              <p:cNvCxnSpPr/>
              <p:nvPr/>
            </p:nvCxnSpPr>
            <p:spPr>
              <a:xfrm>
                <a:off x="0" y="266700"/>
                <a:ext cx="7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2770799" y="561001"/>
              <a:ext cx="2169526" cy="2029800"/>
              <a:chOff x="2694599" y="313350"/>
              <a:chExt cx="2169526" cy="2088000"/>
            </a:xfrm>
          </p:grpSpPr>
          <p:sp>
            <p:nvSpPr>
              <p:cNvPr id="27" name="文本框 2"/>
              <p:cNvSpPr txBox="1"/>
              <p:nvPr/>
            </p:nvSpPr>
            <p:spPr>
              <a:xfrm>
                <a:off x="2694599" y="313350"/>
                <a:ext cx="2160000" cy="20880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ts val="2200"/>
                  </a:lnSpc>
                  <a:spcAft>
                    <a:spcPts val="0"/>
                  </a:spcAft>
                </a:pPr>
                <a:r>
                  <a:rPr lang="en-US" sz="2000" dirty="0">
                    <a:effectLst/>
                    <a:latin typeface="微软雅黑" pitchFamily="34" charset="-122"/>
                    <a:ea typeface="微软雅黑" pitchFamily="34" charset="-122"/>
                    <a:cs typeface="宋体"/>
                  </a:rPr>
                  <a:t>R.X  R.Y  R.Z  S.X  S.Y  S.Z</a:t>
                </a:r>
                <a:endParaRPr lang="zh-CN" sz="2000" dirty="0">
                  <a:effectLst/>
                  <a:latin typeface="微软雅黑" pitchFamily="34" charset="-122"/>
                  <a:ea typeface="微软雅黑" pitchFamily="34" charset="-122"/>
                  <a:cs typeface="宋体"/>
                </a:endParaRPr>
              </a:p>
              <a:p>
                <a:pPr indent="133350">
                  <a:lnSpc>
                    <a:spcPts val="3600"/>
                  </a:lnSpc>
                  <a:spcAft>
                    <a:spcPts val="0"/>
                  </a:spcAft>
                </a:pPr>
                <a:r>
                  <a:rPr lang="en-US" sz="2000" dirty="0">
                    <a:effectLst/>
                    <a:latin typeface="微软雅黑" pitchFamily="34" charset="-122"/>
                    <a:ea typeface="微软雅黑" pitchFamily="34" charset="-122"/>
                    <a:cs typeface="宋体"/>
                  </a:rPr>
                  <a:t>2      2      2      2     5     5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2      2      2      2     6     5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2      2      2      5     5     2</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2      5      5      2     5     5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2      5      5      2     6     5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2      5      5      5     5     2</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5      5      2      2     5     5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5      5      2      2     6     5</a:t>
                </a:r>
                <a:endParaRPr lang="zh-CN" sz="2000" dirty="0">
                  <a:effectLst/>
                  <a:latin typeface="微软雅黑" pitchFamily="34" charset="-122"/>
                  <a:ea typeface="微软雅黑" pitchFamily="34" charset="-122"/>
                  <a:cs typeface="宋体"/>
                </a:endParaRPr>
              </a:p>
              <a:p>
                <a:pPr indent="133350">
                  <a:lnSpc>
                    <a:spcPts val="2200"/>
                  </a:lnSpc>
                  <a:spcAft>
                    <a:spcPts val="0"/>
                  </a:spcAft>
                </a:pPr>
                <a:r>
                  <a:rPr lang="en-US" sz="2000" dirty="0">
                    <a:effectLst/>
                    <a:latin typeface="微软雅黑" pitchFamily="34" charset="-122"/>
                    <a:ea typeface="微软雅黑" pitchFamily="34" charset="-122"/>
                    <a:cs typeface="宋体"/>
                  </a:rPr>
                  <a:t>5      5      2      5     5     2</a:t>
                </a:r>
                <a:endParaRPr lang="zh-CN" sz="2000" dirty="0">
                  <a:effectLst/>
                  <a:latin typeface="微软雅黑" pitchFamily="34" charset="-122"/>
                  <a:ea typeface="微软雅黑" pitchFamily="34" charset="-122"/>
                  <a:cs typeface="宋体"/>
                </a:endParaRPr>
              </a:p>
            </p:txBody>
          </p:sp>
          <p:cxnSp>
            <p:nvCxnSpPr>
              <p:cNvPr id="28" name="直接连接符 27"/>
              <p:cNvCxnSpPr/>
              <p:nvPr/>
            </p:nvCxnSpPr>
            <p:spPr>
              <a:xfrm>
                <a:off x="2704125" y="580390"/>
                <a:ext cx="21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368"/>
            <p:cNvSpPr txBox="1">
              <a:spLocks noChangeArrowheads="1"/>
            </p:cNvSpPr>
            <p:nvPr/>
          </p:nvSpPr>
          <p:spPr bwMode="auto">
            <a:xfrm>
              <a:off x="3561376" y="208576"/>
              <a:ext cx="515324" cy="30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en-US" sz="2000">
                  <a:effectLst/>
                  <a:latin typeface="微软雅黑" pitchFamily="34" charset="-122"/>
                  <a:ea typeface="微软雅黑" pitchFamily="34" charset="-122"/>
                  <a:cs typeface="宋体"/>
                </a:rPr>
                <a:t>R</a:t>
              </a:r>
              <a:r>
                <a:rPr lang="zh-CN" sz="2000">
                  <a:effectLst/>
                  <a:latin typeface="微软雅黑" pitchFamily="34" charset="-122"/>
                  <a:ea typeface="微软雅黑" pitchFamily="34" charset="-122"/>
                  <a:cs typeface="宋体"/>
                </a:rPr>
                <a:t>×</a:t>
              </a:r>
              <a:r>
                <a:rPr lang="en-US" sz="2000">
                  <a:effectLst/>
                  <a:latin typeface="微软雅黑" pitchFamily="34" charset="-122"/>
                  <a:ea typeface="微软雅黑" pitchFamily="34" charset="-122"/>
                  <a:cs typeface="宋体"/>
                </a:rPr>
                <a:t>S</a:t>
              </a:r>
              <a:endParaRPr lang="zh-CN" sz="2000">
                <a:effectLst/>
                <a:latin typeface="微软雅黑" pitchFamily="34" charset="-122"/>
                <a:ea typeface="微软雅黑" pitchFamily="34" charset="-122"/>
                <a:cs typeface="宋体"/>
              </a:endParaRPr>
            </a:p>
          </p:txBody>
        </p:sp>
        <p:grpSp>
          <p:nvGrpSpPr>
            <p:cNvPr id="13" name="组合 12"/>
            <p:cNvGrpSpPr/>
            <p:nvPr/>
          </p:nvGrpSpPr>
          <p:grpSpPr>
            <a:xfrm>
              <a:off x="780075" y="2208827"/>
              <a:ext cx="719455" cy="524850"/>
              <a:chOff x="1589700" y="970576"/>
              <a:chExt cx="719455" cy="524850"/>
            </a:xfrm>
          </p:grpSpPr>
          <p:sp>
            <p:nvSpPr>
              <p:cNvPr id="25" name="文本框 2"/>
              <p:cNvSpPr txBox="1"/>
              <p:nvPr/>
            </p:nvSpPr>
            <p:spPr>
              <a:xfrm>
                <a:off x="1589700" y="970576"/>
                <a:ext cx="719455" cy="5248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ts val="2200"/>
                  </a:lnSpc>
                  <a:spcAft>
                    <a:spcPts val="0"/>
                  </a:spcAft>
                </a:pPr>
                <a:r>
                  <a:rPr lang="en-US" sz="2000" dirty="0">
                    <a:effectLst/>
                    <a:latin typeface="微软雅黑" pitchFamily="34" charset="-122"/>
                    <a:ea typeface="微软雅黑" pitchFamily="34" charset="-122"/>
                    <a:cs typeface="宋体"/>
                  </a:rPr>
                  <a:t>X  Y  Z</a:t>
                </a:r>
                <a:endParaRPr lang="zh-CN" sz="2000" dirty="0">
                  <a:effectLst/>
                  <a:latin typeface="微软雅黑" pitchFamily="34" charset="-122"/>
                  <a:ea typeface="微软雅黑" pitchFamily="34" charset="-122"/>
                  <a:cs typeface="宋体"/>
                </a:endParaRPr>
              </a:p>
              <a:p>
                <a:pPr algn="ctr">
                  <a:lnSpc>
                    <a:spcPts val="3600"/>
                  </a:lnSpc>
                  <a:spcAft>
                    <a:spcPts val="0"/>
                  </a:spcAft>
                </a:pPr>
                <a:r>
                  <a:rPr lang="en-US" sz="2000" dirty="0">
                    <a:effectLst/>
                    <a:latin typeface="微软雅黑" pitchFamily="34" charset="-122"/>
                    <a:ea typeface="微软雅黑" pitchFamily="34" charset="-122"/>
                    <a:cs typeface="宋体"/>
                  </a:rPr>
                  <a:t>2  2  2</a:t>
                </a:r>
                <a:endParaRPr lang="zh-CN" sz="2000" dirty="0">
                  <a:effectLst/>
                  <a:latin typeface="微软雅黑" pitchFamily="34" charset="-122"/>
                  <a:ea typeface="微软雅黑" pitchFamily="34" charset="-122"/>
                  <a:cs typeface="宋体"/>
                </a:endParaRPr>
              </a:p>
            </p:txBody>
          </p:sp>
          <p:cxnSp>
            <p:nvCxnSpPr>
              <p:cNvPr id="26" name="直接连接符 25"/>
              <p:cNvCxnSpPr/>
              <p:nvPr/>
            </p:nvCxnSpPr>
            <p:spPr>
              <a:xfrm>
                <a:off x="1589700" y="1244993"/>
                <a:ext cx="7194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1780200" y="84749"/>
              <a:ext cx="728980" cy="1086827"/>
              <a:chOff x="1789725" y="227623"/>
              <a:chExt cx="728980" cy="1086827"/>
            </a:xfrm>
          </p:grpSpPr>
          <p:sp>
            <p:nvSpPr>
              <p:cNvPr id="23" name="文本框 2"/>
              <p:cNvSpPr txBox="1"/>
              <p:nvPr/>
            </p:nvSpPr>
            <p:spPr>
              <a:xfrm>
                <a:off x="1799250" y="227623"/>
                <a:ext cx="719455" cy="1086827"/>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ts val="2200"/>
                  </a:lnSpc>
                  <a:spcAft>
                    <a:spcPts val="0"/>
                  </a:spcAft>
                </a:pPr>
                <a:r>
                  <a:rPr lang="en-US" sz="2000" dirty="0">
                    <a:effectLst/>
                    <a:latin typeface="微软雅黑" pitchFamily="34" charset="-122"/>
                    <a:ea typeface="微软雅黑" pitchFamily="34" charset="-122"/>
                    <a:cs typeface="宋体"/>
                  </a:rPr>
                  <a:t>X  Y  Z</a:t>
                </a:r>
                <a:endParaRPr lang="zh-CN" sz="2000" dirty="0">
                  <a:effectLst/>
                  <a:latin typeface="微软雅黑" pitchFamily="34" charset="-122"/>
                  <a:ea typeface="微软雅黑" pitchFamily="34" charset="-122"/>
                  <a:cs typeface="宋体"/>
                </a:endParaRPr>
              </a:p>
              <a:p>
                <a:pPr algn="ctr">
                  <a:lnSpc>
                    <a:spcPts val="3600"/>
                  </a:lnSpc>
                  <a:spcAft>
                    <a:spcPts val="0"/>
                  </a:spcAft>
                </a:pPr>
                <a:r>
                  <a:rPr lang="en-US" sz="2000" dirty="0">
                    <a:latin typeface="微软雅黑" pitchFamily="34" charset="-122"/>
                    <a:ea typeface="微软雅黑" pitchFamily="34" charset="-122"/>
                    <a:cs typeface="宋体"/>
                  </a:rPr>
                  <a:t>2  2  2</a:t>
                </a:r>
                <a:endParaRPr lang="zh-CN" sz="2000" dirty="0">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2  5  5</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5  5  2</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2  6  5</a:t>
                </a:r>
                <a:endParaRPr lang="zh-CN" sz="2000" dirty="0">
                  <a:effectLst/>
                  <a:latin typeface="微软雅黑" pitchFamily="34" charset="-122"/>
                  <a:ea typeface="微软雅黑" pitchFamily="34" charset="-122"/>
                  <a:cs typeface="宋体"/>
                </a:endParaRPr>
              </a:p>
            </p:txBody>
          </p:sp>
          <p:cxnSp>
            <p:nvCxnSpPr>
              <p:cNvPr id="24" name="直接连接符 23"/>
              <p:cNvCxnSpPr/>
              <p:nvPr/>
            </p:nvCxnSpPr>
            <p:spPr>
              <a:xfrm>
                <a:off x="1789725" y="494263"/>
                <a:ext cx="7194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789725" y="2037377"/>
              <a:ext cx="719455" cy="696300"/>
              <a:chOff x="0" y="1"/>
              <a:chExt cx="720000" cy="696459"/>
            </a:xfrm>
          </p:grpSpPr>
          <p:sp>
            <p:nvSpPr>
              <p:cNvPr id="21" name="文本框 2"/>
              <p:cNvSpPr txBox="1"/>
              <p:nvPr/>
            </p:nvSpPr>
            <p:spPr>
              <a:xfrm>
                <a:off x="0" y="1"/>
                <a:ext cx="720000" cy="696459"/>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ts val="2200"/>
                  </a:lnSpc>
                  <a:spcAft>
                    <a:spcPts val="0"/>
                  </a:spcAft>
                </a:pPr>
                <a:r>
                  <a:rPr lang="en-US" sz="2000" dirty="0">
                    <a:effectLst/>
                    <a:latin typeface="微软雅黑" pitchFamily="34" charset="-122"/>
                    <a:ea typeface="微软雅黑" pitchFamily="34" charset="-122"/>
                    <a:cs typeface="宋体"/>
                  </a:rPr>
                  <a:t>X  Y  Z</a:t>
                </a:r>
                <a:endParaRPr lang="zh-CN" sz="2000" dirty="0">
                  <a:effectLst/>
                  <a:latin typeface="微软雅黑" pitchFamily="34" charset="-122"/>
                  <a:ea typeface="微软雅黑" pitchFamily="34" charset="-122"/>
                  <a:cs typeface="宋体"/>
                </a:endParaRPr>
              </a:p>
              <a:p>
                <a:pPr algn="ctr">
                  <a:lnSpc>
                    <a:spcPts val="3600"/>
                  </a:lnSpc>
                  <a:spcAft>
                    <a:spcPts val="0"/>
                  </a:spcAft>
                </a:pPr>
                <a:r>
                  <a:rPr lang="en-US" sz="2000" dirty="0">
                    <a:effectLst/>
                    <a:latin typeface="微软雅黑" pitchFamily="34" charset="-122"/>
                    <a:ea typeface="微软雅黑" pitchFamily="34" charset="-122"/>
                    <a:cs typeface="宋体"/>
                  </a:rPr>
                  <a:t>2  5  5</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5  5  2</a:t>
                </a:r>
                <a:endParaRPr lang="zh-CN" sz="2000" dirty="0">
                  <a:effectLst/>
                  <a:latin typeface="微软雅黑" pitchFamily="34" charset="-122"/>
                  <a:ea typeface="微软雅黑" pitchFamily="34" charset="-122"/>
                  <a:cs typeface="宋体"/>
                </a:endParaRPr>
              </a:p>
            </p:txBody>
          </p:sp>
          <p:cxnSp>
            <p:nvCxnSpPr>
              <p:cNvPr id="22" name="直接连接符 21"/>
              <p:cNvCxnSpPr/>
              <p:nvPr/>
            </p:nvCxnSpPr>
            <p:spPr>
              <a:xfrm>
                <a:off x="0" y="266700"/>
                <a:ext cx="7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文本框 368"/>
            <p:cNvSpPr txBox="1">
              <a:spLocks noChangeArrowheads="1"/>
            </p:cNvSpPr>
            <p:nvPr/>
          </p:nvSpPr>
          <p:spPr bwMode="auto">
            <a:xfrm>
              <a:off x="465751" y="399076"/>
              <a:ext cx="372450" cy="27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ts val="2200"/>
                </a:lnSpc>
                <a:spcAft>
                  <a:spcPts val="0"/>
                </a:spcAft>
              </a:pPr>
              <a:r>
                <a:rPr lang="en-US" sz="2000">
                  <a:effectLst/>
                  <a:latin typeface="微软雅黑" pitchFamily="34" charset="-122"/>
                  <a:ea typeface="微软雅黑" pitchFamily="34" charset="-122"/>
                  <a:cs typeface="宋体"/>
                </a:rPr>
                <a:t>R</a:t>
              </a:r>
              <a:endParaRPr lang="zh-CN" sz="2000">
                <a:effectLst/>
                <a:latin typeface="微软雅黑" pitchFamily="34" charset="-122"/>
                <a:ea typeface="微软雅黑" pitchFamily="34" charset="-122"/>
                <a:cs typeface="宋体"/>
              </a:endParaRPr>
            </a:p>
          </p:txBody>
        </p:sp>
        <p:sp>
          <p:nvSpPr>
            <p:cNvPr id="17" name="文本框 368"/>
            <p:cNvSpPr txBox="1">
              <a:spLocks noChangeArrowheads="1"/>
            </p:cNvSpPr>
            <p:nvPr/>
          </p:nvSpPr>
          <p:spPr bwMode="auto">
            <a:xfrm>
              <a:off x="475275" y="1399201"/>
              <a:ext cx="324825" cy="26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ts val="2200"/>
                </a:lnSpc>
                <a:spcAft>
                  <a:spcPts val="0"/>
                </a:spcAft>
              </a:pPr>
              <a:r>
                <a:rPr lang="en-US" sz="2000">
                  <a:effectLst/>
                  <a:latin typeface="微软雅黑" pitchFamily="34" charset="-122"/>
                  <a:ea typeface="微软雅黑" pitchFamily="34" charset="-122"/>
                  <a:cs typeface="宋体"/>
                </a:rPr>
                <a:t>S</a:t>
              </a:r>
              <a:endParaRPr lang="zh-CN" sz="2000">
                <a:effectLst/>
                <a:latin typeface="微软雅黑" pitchFamily="34" charset="-122"/>
                <a:ea typeface="微软雅黑" pitchFamily="34" charset="-122"/>
                <a:cs typeface="宋体"/>
              </a:endParaRPr>
            </a:p>
          </p:txBody>
        </p:sp>
        <p:sp>
          <p:nvSpPr>
            <p:cNvPr id="18" name="文本框 368"/>
            <p:cNvSpPr txBox="1">
              <a:spLocks noChangeArrowheads="1"/>
            </p:cNvSpPr>
            <p:nvPr/>
          </p:nvSpPr>
          <p:spPr bwMode="auto">
            <a:xfrm>
              <a:off x="323850" y="2313601"/>
              <a:ext cx="476250" cy="27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lnSpc>
                  <a:spcPts val="2200"/>
                </a:lnSpc>
                <a:spcAft>
                  <a:spcPts val="0"/>
                </a:spcAft>
              </a:pPr>
              <a:r>
                <a:rPr lang="en-US" sz="2000">
                  <a:effectLst/>
                  <a:latin typeface="微软雅黑" pitchFamily="34" charset="-122"/>
                  <a:ea typeface="微软雅黑" pitchFamily="34" charset="-122"/>
                  <a:cs typeface="Times New Roman"/>
                </a:rPr>
                <a:t>R</a:t>
              </a:r>
              <a:r>
                <a:rPr lang="zh-CN" sz="2000">
                  <a:effectLst/>
                  <a:latin typeface="微软雅黑" pitchFamily="34" charset="-122"/>
                  <a:ea typeface="微软雅黑" pitchFamily="34" charset="-122"/>
                  <a:cs typeface="Times New Roman"/>
                </a:rPr>
                <a:t>－</a:t>
              </a:r>
              <a:r>
                <a:rPr lang="en-US" sz="2000">
                  <a:effectLst/>
                  <a:latin typeface="微软雅黑" pitchFamily="34" charset="-122"/>
                  <a:ea typeface="微软雅黑" pitchFamily="34" charset="-122"/>
                  <a:cs typeface="Times New Roman"/>
                </a:rPr>
                <a:t>S</a:t>
              </a:r>
              <a:endParaRPr lang="zh-CN" sz="2000">
                <a:effectLst/>
                <a:latin typeface="微软雅黑" pitchFamily="34" charset="-122"/>
                <a:ea typeface="微软雅黑" pitchFamily="34" charset="-122"/>
                <a:cs typeface="宋体"/>
              </a:endParaRPr>
            </a:p>
          </p:txBody>
        </p:sp>
        <p:sp>
          <p:nvSpPr>
            <p:cNvPr id="19" name="文本框 368"/>
            <p:cNvSpPr txBox="1">
              <a:spLocks noChangeArrowheads="1"/>
            </p:cNvSpPr>
            <p:nvPr/>
          </p:nvSpPr>
          <p:spPr bwMode="auto">
            <a:xfrm>
              <a:off x="1875451" y="1199176"/>
              <a:ext cx="562950" cy="26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en-US" sz="2000">
                  <a:effectLst/>
                  <a:latin typeface="微软雅黑" pitchFamily="34" charset="-122"/>
                  <a:ea typeface="微软雅黑" pitchFamily="34" charset="-122"/>
                  <a:cs typeface="宋体"/>
                </a:rPr>
                <a:t>R</a:t>
              </a:r>
              <a:r>
                <a:rPr lang="zh-CN" sz="2000">
                  <a:effectLst/>
                  <a:latin typeface="微软雅黑" pitchFamily="34" charset="-122"/>
                  <a:ea typeface="微软雅黑" pitchFamily="34" charset="-122"/>
                  <a:cs typeface="宋体"/>
                </a:rPr>
                <a:t>∪</a:t>
              </a:r>
              <a:r>
                <a:rPr lang="en-US" sz="2000">
                  <a:effectLst/>
                  <a:latin typeface="微软雅黑" pitchFamily="34" charset="-122"/>
                  <a:ea typeface="微软雅黑" pitchFamily="34" charset="-122"/>
                  <a:cs typeface="宋体"/>
                </a:rPr>
                <a:t>S</a:t>
              </a:r>
              <a:endParaRPr lang="zh-CN" sz="2000">
                <a:effectLst/>
                <a:latin typeface="微软雅黑" pitchFamily="34" charset="-122"/>
                <a:ea typeface="微软雅黑" pitchFamily="34" charset="-122"/>
                <a:cs typeface="宋体"/>
              </a:endParaRPr>
            </a:p>
          </p:txBody>
        </p:sp>
        <p:sp>
          <p:nvSpPr>
            <p:cNvPr id="20" name="文本框 368"/>
            <p:cNvSpPr txBox="1">
              <a:spLocks noChangeArrowheads="1"/>
            </p:cNvSpPr>
            <p:nvPr/>
          </p:nvSpPr>
          <p:spPr bwMode="auto">
            <a:xfrm>
              <a:off x="1894500" y="1761151"/>
              <a:ext cx="534375" cy="26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lnSpc>
                  <a:spcPts val="2200"/>
                </a:lnSpc>
                <a:spcAft>
                  <a:spcPts val="0"/>
                </a:spcAft>
              </a:pPr>
              <a:r>
                <a:rPr lang="en-US" sz="2000">
                  <a:effectLst/>
                  <a:latin typeface="微软雅黑" pitchFamily="34" charset="-122"/>
                  <a:ea typeface="微软雅黑" pitchFamily="34" charset="-122"/>
                  <a:cs typeface="宋体"/>
                </a:rPr>
                <a:t>R</a:t>
              </a:r>
              <a:r>
                <a:rPr lang="zh-CN" sz="2000">
                  <a:effectLst/>
                  <a:latin typeface="微软雅黑" pitchFamily="34" charset="-122"/>
                  <a:ea typeface="微软雅黑" pitchFamily="34" charset="-122"/>
                  <a:cs typeface="宋体"/>
                </a:rPr>
                <a:t>∩</a:t>
              </a:r>
              <a:r>
                <a:rPr lang="en-US" sz="2000">
                  <a:effectLst/>
                  <a:latin typeface="微软雅黑" pitchFamily="34" charset="-122"/>
                  <a:ea typeface="微软雅黑" pitchFamily="34" charset="-122"/>
                  <a:cs typeface="宋体"/>
                </a:rPr>
                <a:t>S</a:t>
              </a:r>
              <a:endParaRPr lang="zh-CN" sz="2000">
                <a:effectLst/>
                <a:latin typeface="微软雅黑" pitchFamily="34" charset="-122"/>
                <a:ea typeface="微软雅黑" pitchFamily="34" charset="-122"/>
                <a:cs typeface="宋体"/>
              </a:endParaRPr>
            </a:p>
          </p:txBody>
        </p:sp>
      </p:grpSp>
      <p:sp>
        <p:nvSpPr>
          <p:cNvPr id="4" name="灯片编号占位符 3">
            <a:extLst>
              <a:ext uri="{FF2B5EF4-FFF2-40B4-BE49-F238E27FC236}">
                <a16:creationId xmlns:a16="http://schemas.microsoft.com/office/drawing/2014/main" id="{3A558336-493D-5C40-9169-EDFC82E794E5}"/>
              </a:ext>
            </a:extLst>
          </p:cNvPr>
          <p:cNvSpPr>
            <a:spLocks noGrp="1"/>
          </p:cNvSpPr>
          <p:nvPr>
            <p:ph type="sldNum" sz="quarter" idx="12"/>
          </p:nvPr>
        </p:nvSpPr>
        <p:spPr/>
        <p:txBody>
          <a:bodyPr/>
          <a:lstStyle/>
          <a:p>
            <a:fld id="{C46E5E69-9A6D-4AF8-BC2D-C556A9893D8F}" type="slidenum">
              <a:rPr lang="zh-CN" altLang="en-US" smtClean="0"/>
              <a:pPr/>
              <a:t>18</a:t>
            </a:fld>
            <a:endParaRPr lang="zh-CN" altLang="en-US" dirty="0"/>
          </a:p>
        </p:txBody>
      </p:sp>
    </p:spTree>
    <p:extLst>
      <p:ext uri="{BB962C8B-B14F-4D97-AF65-F5344CB8AC3E}">
        <p14:creationId xmlns:p14="http://schemas.microsoft.com/office/powerpoint/2010/main" val="1479997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zh-CN" dirty="0"/>
              <a:t>专用关系运算</a:t>
            </a:r>
            <a:endParaRPr lang="zh-CN" altLang="en-US" dirty="0"/>
          </a:p>
        </p:txBody>
      </p:sp>
      <p:sp>
        <p:nvSpPr>
          <p:cNvPr id="3" name="文本占位符 2"/>
          <p:cNvSpPr>
            <a:spLocks noGrp="1"/>
          </p:cNvSpPr>
          <p:nvPr>
            <p:ph type="body" idx="1"/>
          </p:nvPr>
        </p:nvSpPr>
        <p:spPr>
          <a:xfrm>
            <a:off x="2555776" y="1556792"/>
            <a:ext cx="4978896" cy="4104456"/>
          </a:xfrm>
        </p:spPr>
        <p:txBody>
          <a:bodyPr/>
          <a:lstStyle/>
          <a:p>
            <a:pPr>
              <a:lnSpc>
                <a:spcPts val="6600"/>
              </a:lnSpc>
            </a:pPr>
            <a:r>
              <a:rPr lang="en-US" altLang="zh-CN" sz="4800" dirty="0">
                <a:solidFill>
                  <a:srgbClr val="0000FF"/>
                </a:solidFill>
              </a:rPr>
              <a:t>  </a:t>
            </a:r>
            <a:r>
              <a:rPr lang="zh-CN" altLang="zh-CN" sz="4800" dirty="0">
                <a:solidFill>
                  <a:srgbClr val="0000FF"/>
                </a:solidFill>
              </a:rPr>
              <a:t>选择</a:t>
            </a:r>
          </a:p>
          <a:p>
            <a:pPr>
              <a:lnSpc>
                <a:spcPts val="6600"/>
              </a:lnSpc>
            </a:pPr>
            <a:r>
              <a:rPr lang="en-US" altLang="zh-CN" sz="4800" dirty="0">
                <a:solidFill>
                  <a:srgbClr val="0000FF"/>
                </a:solidFill>
              </a:rPr>
              <a:t>  </a:t>
            </a:r>
            <a:r>
              <a:rPr lang="zh-CN" altLang="zh-CN" sz="4800" dirty="0">
                <a:solidFill>
                  <a:srgbClr val="0000FF"/>
                </a:solidFill>
              </a:rPr>
              <a:t>投影</a:t>
            </a:r>
          </a:p>
          <a:p>
            <a:pPr>
              <a:lnSpc>
                <a:spcPts val="6600"/>
              </a:lnSpc>
            </a:pPr>
            <a:r>
              <a:rPr lang="en-US" altLang="zh-CN" sz="4800" dirty="0">
                <a:solidFill>
                  <a:srgbClr val="0000FF"/>
                </a:solidFill>
              </a:rPr>
              <a:t>  </a:t>
            </a:r>
            <a:r>
              <a:rPr lang="zh-CN" altLang="zh-CN" sz="4800" dirty="0">
                <a:solidFill>
                  <a:srgbClr val="0000FF"/>
                </a:solidFill>
              </a:rPr>
              <a:t>连接</a:t>
            </a:r>
          </a:p>
          <a:p>
            <a:pPr>
              <a:lnSpc>
                <a:spcPts val="6600"/>
              </a:lnSpc>
            </a:pPr>
            <a:r>
              <a:rPr lang="en-US" altLang="zh-CN" sz="4800" dirty="0">
                <a:solidFill>
                  <a:srgbClr val="0000FF"/>
                </a:solidFill>
              </a:rPr>
              <a:t>  </a:t>
            </a:r>
            <a:r>
              <a:rPr lang="zh-CN" altLang="zh-CN" sz="4800" dirty="0">
                <a:solidFill>
                  <a:srgbClr val="0000FF"/>
                </a:solidFill>
              </a:rPr>
              <a:t>除运算</a:t>
            </a:r>
          </a:p>
          <a:p>
            <a:endParaRPr lang="zh-CN" altLang="en-US" dirty="0"/>
          </a:p>
        </p:txBody>
      </p:sp>
      <p:sp>
        <p:nvSpPr>
          <p:cNvPr id="4" name="灯片编号占位符 3">
            <a:extLst>
              <a:ext uri="{FF2B5EF4-FFF2-40B4-BE49-F238E27FC236}">
                <a16:creationId xmlns:a16="http://schemas.microsoft.com/office/drawing/2014/main" id="{B022D506-9447-434F-BCC8-DDC782891C10}"/>
              </a:ext>
            </a:extLst>
          </p:cNvPr>
          <p:cNvSpPr>
            <a:spLocks noGrp="1"/>
          </p:cNvSpPr>
          <p:nvPr>
            <p:ph type="sldNum" sz="quarter" idx="12"/>
          </p:nvPr>
        </p:nvSpPr>
        <p:spPr/>
        <p:txBody>
          <a:bodyPr/>
          <a:lstStyle/>
          <a:p>
            <a:fld id="{C46E5E69-9A6D-4AF8-BC2D-C556A9893D8F}" type="slidenum">
              <a:rPr lang="zh-CN" altLang="en-US" smtClean="0"/>
              <a:pPr/>
              <a:t>19</a:t>
            </a:fld>
            <a:endParaRPr lang="zh-CN" altLang="en-US" dirty="0"/>
          </a:p>
        </p:txBody>
      </p:sp>
    </p:spTree>
    <p:extLst>
      <p:ext uri="{BB962C8B-B14F-4D97-AF65-F5344CB8AC3E}">
        <p14:creationId xmlns:p14="http://schemas.microsoft.com/office/powerpoint/2010/main" val="1596028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0000FF"/>
                </a:solidFill>
              </a:rPr>
              <a:t>选择</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p:txBody>
          <a:bodyPr>
            <a:noAutofit/>
          </a:bodyPr>
          <a:lstStyle/>
          <a:p>
            <a:r>
              <a:rPr lang="zh-CN" altLang="zh-CN" sz="2000" dirty="0">
                <a:solidFill>
                  <a:srgbClr val="0000FF"/>
                </a:solidFill>
              </a:rPr>
              <a:t>选择</a:t>
            </a:r>
            <a:r>
              <a:rPr lang="zh-CN" altLang="zh-CN" sz="2000" dirty="0"/>
              <a:t>（</a:t>
            </a:r>
            <a:r>
              <a:rPr lang="en-US" altLang="zh-CN" sz="2000" dirty="0"/>
              <a:t>Selection</a:t>
            </a:r>
            <a:r>
              <a:rPr lang="zh-CN" altLang="zh-CN" sz="2000" dirty="0"/>
              <a:t>）：在</a:t>
            </a:r>
            <a:r>
              <a:rPr lang="en-US" altLang="zh-CN" sz="2000" dirty="0"/>
              <a:t>R</a:t>
            </a:r>
            <a:r>
              <a:rPr lang="zh-CN" altLang="zh-CN" sz="2000" dirty="0"/>
              <a:t>中选择出满足给定条件的元组。</a:t>
            </a:r>
          </a:p>
          <a:p>
            <a:r>
              <a:rPr lang="zh-CN" altLang="zh-CN" sz="2000" dirty="0">
                <a:solidFill>
                  <a:srgbClr val="0000FF"/>
                </a:solidFill>
              </a:rPr>
              <a:t>关系代数</a:t>
            </a:r>
            <a:r>
              <a:rPr lang="zh-CN" altLang="zh-CN" sz="2000" dirty="0"/>
              <a:t>：</a:t>
            </a:r>
            <a:r>
              <a:rPr lang="en-US" altLang="zh-CN" sz="2000" dirty="0"/>
              <a:t>                                                     </a:t>
            </a:r>
            <a:r>
              <a:rPr lang="zh-CN" altLang="zh-CN" sz="2000" dirty="0"/>
              <a:t>是逻辑表达式</a:t>
            </a:r>
          </a:p>
          <a:p>
            <a:r>
              <a:rPr lang="zh-CN" altLang="en-US" sz="2000" dirty="0">
                <a:solidFill>
                  <a:srgbClr val="0000FF"/>
                </a:solidFill>
              </a:rPr>
              <a:t>属性</a:t>
            </a:r>
            <a:r>
              <a:rPr lang="zh-CN" altLang="zh-CN" sz="2000" dirty="0"/>
              <a:t>：</a:t>
            </a:r>
          </a:p>
          <a:p>
            <a:r>
              <a:rPr lang="zh-CN" altLang="zh-CN" sz="2000" dirty="0">
                <a:solidFill>
                  <a:srgbClr val="0000FF"/>
                </a:solidFill>
              </a:rPr>
              <a:t>分量个数</a:t>
            </a:r>
            <a:r>
              <a:rPr lang="zh-CN" altLang="zh-CN" sz="2000" dirty="0"/>
              <a:t>：等于</a:t>
            </a:r>
            <a:r>
              <a:rPr lang="en-US" altLang="zh-CN" sz="2000" dirty="0"/>
              <a:t>R</a:t>
            </a:r>
            <a:r>
              <a:rPr lang="zh-CN" altLang="zh-CN" sz="2000" dirty="0"/>
              <a:t>的元组的分量个数。</a:t>
            </a:r>
          </a:p>
          <a:p>
            <a:r>
              <a:rPr lang="zh-CN" altLang="zh-CN" sz="2000" dirty="0">
                <a:solidFill>
                  <a:srgbClr val="0000FF"/>
                </a:solidFill>
              </a:rPr>
              <a:t>元组个数：</a:t>
            </a:r>
            <a:r>
              <a:rPr lang="zh-CN" altLang="zh-CN" sz="2000" dirty="0"/>
              <a:t>小于等于</a:t>
            </a:r>
            <a:r>
              <a:rPr lang="en-US" altLang="zh-CN" sz="2000" dirty="0"/>
              <a:t>k1</a:t>
            </a:r>
            <a:r>
              <a:rPr lang="zh-CN" altLang="zh-CN" sz="2000" dirty="0"/>
              <a:t> 。</a:t>
            </a:r>
            <a:r>
              <a:rPr lang="en-US" altLang="zh-CN" sz="2000" dirty="0"/>
              <a:t>k1</a:t>
            </a:r>
            <a:r>
              <a:rPr lang="zh-CN" altLang="zh-CN" sz="2000" dirty="0"/>
              <a:t>是</a:t>
            </a:r>
            <a:r>
              <a:rPr lang="en-US" altLang="zh-CN" sz="2000" dirty="0"/>
              <a:t>R</a:t>
            </a:r>
            <a:r>
              <a:rPr lang="zh-CN" altLang="zh-CN" sz="2000" dirty="0"/>
              <a:t>的元组的个数。</a:t>
            </a:r>
          </a:p>
          <a:p>
            <a:r>
              <a:rPr lang="zh-CN" altLang="zh-CN" sz="2000" dirty="0">
                <a:solidFill>
                  <a:srgbClr val="0000FF"/>
                </a:solidFill>
              </a:rPr>
              <a:t>元组关系演算</a:t>
            </a:r>
            <a:r>
              <a:rPr lang="zh-CN" altLang="zh-CN" sz="2000" dirty="0"/>
              <a:t>：</a:t>
            </a:r>
          </a:p>
          <a:p>
            <a:r>
              <a:rPr lang="zh-CN" altLang="zh-CN" sz="2000" dirty="0"/>
              <a:t>域关系演算：</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709177905"/>
              </p:ext>
            </p:extLst>
          </p:nvPr>
        </p:nvGraphicFramePr>
        <p:xfrm>
          <a:off x="2483768" y="1628800"/>
          <a:ext cx="864096" cy="432048"/>
        </p:xfrm>
        <a:graphic>
          <a:graphicData uri="http://schemas.openxmlformats.org/presentationml/2006/ole">
            <mc:AlternateContent xmlns:mc="http://schemas.openxmlformats.org/markup-compatibility/2006">
              <mc:Choice xmlns:v="urn:schemas-microsoft-com:vml" Requires="v">
                <p:oleObj spid="_x0000_s10824" name="公式" r:id="rId3" imgW="444114" imgH="215713" progId="Equation.3">
                  <p:embed/>
                </p:oleObj>
              </mc:Choice>
              <mc:Fallback>
                <p:oleObj name="公式" r:id="rId3" imgW="444114" imgH="215713"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1628800"/>
                        <a:ext cx="864096" cy="432048"/>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714882775"/>
              </p:ext>
            </p:extLst>
          </p:nvPr>
        </p:nvGraphicFramePr>
        <p:xfrm>
          <a:off x="4355976" y="1700808"/>
          <a:ext cx="1685737" cy="327782"/>
        </p:xfrm>
        <a:graphic>
          <a:graphicData uri="http://schemas.openxmlformats.org/presentationml/2006/ole">
            <mc:AlternateContent xmlns:mc="http://schemas.openxmlformats.org/markup-compatibility/2006">
              <mc:Choice xmlns:v="urn:schemas-microsoft-com:vml" Requires="v">
                <p:oleObj spid="_x0000_s10825" name="公式" r:id="rId5" imgW="1040948" imgH="203112" progId="Equation.3">
                  <p:embed/>
                </p:oleObj>
              </mc:Choice>
              <mc:Fallback>
                <p:oleObj name="公式" r:id="rId5" imgW="1040948" imgH="203112"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5976" y="1700808"/>
                        <a:ext cx="1685737" cy="327782"/>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624397950"/>
              </p:ext>
            </p:extLst>
          </p:nvPr>
        </p:nvGraphicFramePr>
        <p:xfrm>
          <a:off x="6084168" y="404664"/>
          <a:ext cx="2688299" cy="432048"/>
        </p:xfrm>
        <a:graphic>
          <a:graphicData uri="http://schemas.openxmlformats.org/presentationml/2006/ole">
            <mc:AlternateContent xmlns:mc="http://schemas.openxmlformats.org/markup-compatibility/2006">
              <mc:Choice xmlns:v="urn:schemas-microsoft-com:vml" Requires="v">
                <p:oleObj spid="_x0000_s10826" name="公式" r:id="rId7" imgW="1066800" imgH="228600" progId="Equation.3">
                  <p:embed/>
                </p:oleObj>
              </mc:Choice>
              <mc:Fallback>
                <p:oleObj name="公式" r:id="rId7" imgW="106680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168" y="404664"/>
                        <a:ext cx="2688299" cy="432048"/>
                      </a:xfrm>
                      <a:prstGeom prst="rect">
                        <a:avLst/>
                      </a:prstGeom>
                      <a:noFill/>
                    </p:spPr>
                  </p:pic>
                </p:oleObj>
              </mc:Fallback>
            </mc:AlternateContent>
          </a:graphicData>
        </a:graphic>
      </p:graphicFrame>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204287748"/>
              </p:ext>
            </p:extLst>
          </p:nvPr>
        </p:nvGraphicFramePr>
        <p:xfrm>
          <a:off x="1763688" y="2132856"/>
          <a:ext cx="1800200" cy="400044"/>
        </p:xfrm>
        <a:graphic>
          <a:graphicData uri="http://schemas.openxmlformats.org/presentationml/2006/ole">
            <mc:AlternateContent xmlns:mc="http://schemas.openxmlformats.org/markup-compatibility/2006">
              <mc:Choice xmlns:v="urn:schemas-microsoft-com:vml" Requires="v">
                <p:oleObj spid="_x0000_s10827" name="公式" r:id="rId9" imgW="1016000" imgH="228600" progId="Equation.3">
                  <p:embed/>
                </p:oleObj>
              </mc:Choice>
              <mc:Fallback>
                <p:oleObj name="公式" r:id="rId9" imgW="1016000" imgH="2286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2132856"/>
                        <a:ext cx="1800200" cy="400044"/>
                      </a:xfrm>
                      <a:prstGeom prst="rect">
                        <a:avLst/>
                      </a:prstGeom>
                      <a:noFill/>
                    </p:spPr>
                  </p:pic>
                </p:oleObj>
              </mc:Fallback>
            </mc:AlternateContent>
          </a:graphicData>
        </a:graphic>
      </p:graphicFrame>
      <p:sp>
        <p:nvSpPr>
          <p:cNvPr id="15"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802539396"/>
              </p:ext>
            </p:extLst>
          </p:nvPr>
        </p:nvGraphicFramePr>
        <p:xfrm>
          <a:off x="2915816" y="3501008"/>
          <a:ext cx="3853868" cy="432048"/>
        </p:xfrm>
        <a:graphic>
          <a:graphicData uri="http://schemas.openxmlformats.org/presentationml/2006/ole">
            <mc:AlternateContent xmlns:mc="http://schemas.openxmlformats.org/markup-compatibility/2006">
              <mc:Choice xmlns:v="urn:schemas-microsoft-com:vml" Requires="v">
                <p:oleObj spid="_x0000_s10828" name="公式" r:id="rId11" imgW="2133600" imgH="241300" progId="Equation.3">
                  <p:embed/>
                </p:oleObj>
              </mc:Choice>
              <mc:Fallback>
                <p:oleObj name="公式" r:id="rId11" imgW="2133600" imgH="2413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5816" y="3501008"/>
                        <a:ext cx="3853868" cy="432048"/>
                      </a:xfrm>
                      <a:prstGeom prst="rect">
                        <a:avLst/>
                      </a:prstGeom>
                      <a:noFill/>
                    </p:spPr>
                  </p:pic>
                </p:oleObj>
              </mc:Fallback>
            </mc:AlternateContent>
          </a:graphicData>
        </a:graphic>
      </p:graphicFrame>
      <p:sp>
        <p:nvSpPr>
          <p:cNvPr id="17"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extLst>
              <p:ext uri="{D42A27DB-BD31-4B8C-83A1-F6EECF244321}">
                <p14:modId xmlns:p14="http://schemas.microsoft.com/office/powerpoint/2010/main" val="1482630302"/>
              </p:ext>
            </p:extLst>
          </p:nvPr>
        </p:nvGraphicFramePr>
        <p:xfrm>
          <a:off x="156469" y="4581128"/>
          <a:ext cx="8831061" cy="432048"/>
        </p:xfrm>
        <a:graphic>
          <a:graphicData uri="http://schemas.openxmlformats.org/presentationml/2006/ole">
            <mc:AlternateContent xmlns:mc="http://schemas.openxmlformats.org/markup-compatibility/2006">
              <mc:Choice xmlns:v="urn:schemas-microsoft-com:vml" Requires="v">
                <p:oleObj spid="_x0000_s10829" name="公式" r:id="rId13" imgW="5041900" imgH="241300" progId="Equation.3">
                  <p:embed/>
                </p:oleObj>
              </mc:Choice>
              <mc:Fallback>
                <p:oleObj name="公式" r:id="rId13" imgW="5041900" imgH="2413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469" y="4581128"/>
                        <a:ext cx="8831061" cy="432048"/>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20605A99-0230-014A-9D70-F19409AAFC5F}"/>
              </a:ext>
            </a:extLst>
          </p:cNvPr>
          <p:cNvSpPr>
            <a:spLocks noGrp="1"/>
          </p:cNvSpPr>
          <p:nvPr>
            <p:ph type="sldNum" sz="quarter" idx="12"/>
          </p:nvPr>
        </p:nvSpPr>
        <p:spPr/>
        <p:txBody>
          <a:bodyPr/>
          <a:lstStyle/>
          <a:p>
            <a:fld id="{C46E5E69-9A6D-4AF8-BC2D-C556A9893D8F}" type="slidenum">
              <a:rPr lang="zh-CN" altLang="en-US" smtClean="0"/>
              <a:pPr/>
              <a:t>20</a:t>
            </a:fld>
            <a:endParaRPr lang="zh-CN" altLang="en-US" dirty="0"/>
          </a:p>
        </p:txBody>
      </p:sp>
    </p:spTree>
    <p:extLst>
      <p:ext uri="{BB962C8B-B14F-4D97-AF65-F5344CB8AC3E}">
        <p14:creationId xmlns:p14="http://schemas.microsoft.com/office/powerpoint/2010/main" val="71460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74638"/>
            <a:ext cx="8208912" cy="706090"/>
          </a:xfrm>
        </p:spPr>
        <p:txBody>
          <a:bodyPr>
            <a:normAutofit/>
          </a:bodyPr>
          <a:lstStyle/>
          <a:p>
            <a:r>
              <a:rPr lang="zh-CN" altLang="zh-CN" dirty="0">
                <a:solidFill>
                  <a:srgbClr val="0000FF"/>
                </a:solidFill>
              </a:rPr>
              <a:t>选择</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395536" y="1052736"/>
            <a:ext cx="8352928" cy="648072"/>
          </a:xfrm>
        </p:spPr>
        <p:txBody>
          <a:bodyPr>
            <a:noAutofit/>
          </a:bodyPr>
          <a:lstStyle/>
          <a:p>
            <a:pPr marL="0" indent="0">
              <a:buNone/>
            </a:pPr>
            <a:r>
              <a:rPr lang="zh-CN" altLang="zh-CN" dirty="0">
                <a:solidFill>
                  <a:srgbClr val="0000FF"/>
                </a:solidFill>
              </a:rPr>
              <a:t>例</a:t>
            </a:r>
            <a:r>
              <a:rPr lang="en-US" altLang="zh-CN" dirty="0">
                <a:solidFill>
                  <a:srgbClr val="0000FF"/>
                </a:solidFill>
              </a:rPr>
              <a:t>2.6  </a:t>
            </a:r>
            <a:r>
              <a:rPr lang="zh-CN" altLang="zh-CN" dirty="0"/>
              <a:t>从关系</a:t>
            </a:r>
            <a:r>
              <a:rPr lang="en-US" altLang="zh-CN" dirty="0"/>
              <a:t>R</a:t>
            </a:r>
            <a:r>
              <a:rPr lang="zh-CN" altLang="zh-CN" dirty="0"/>
              <a:t>中，查询</a:t>
            </a:r>
            <a:r>
              <a:rPr lang="en-US" altLang="zh-CN" dirty="0"/>
              <a:t>90</a:t>
            </a:r>
            <a:r>
              <a:rPr lang="zh-CN" altLang="zh-CN" dirty="0"/>
              <a:t>分以上（不含</a:t>
            </a:r>
            <a:r>
              <a:rPr lang="en-US" altLang="zh-CN" dirty="0"/>
              <a:t>90</a:t>
            </a:r>
            <a:r>
              <a:rPr lang="zh-CN" altLang="zh-CN" dirty="0"/>
              <a:t>分）的女生</a:t>
            </a:r>
            <a:endParaRPr lang="zh-CN" altLang="en-US" i="0" u="none" strike="noStrike" kern="100" baseline="0" dirty="0"/>
          </a:p>
        </p:txBody>
      </p:sp>
      <p:sp>
        <p:nvSpPr>
          <p:cNvPr id="7" name="文本框 366"/>
          <p:cNvSpPr txBox="1">
            <a:spLocks noChangeArrowheads="1"/>
          </p:cNvSpPr>
          <p:nvPr/>
        </p:nvSpPr>
        <p:spPr bwMode="auto">
          <a:xfrm>
            <a:off x="4788024" y="2060848"/>
            <a:ext cx="3312368" cy="1296144"/>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900"/>
              </a:lnSpc>
              <a:spcAft>
                <a:spcPts val="0"/>
              </a:spcAft>
            </a:pPr>
            <a:r>
              <a:rPr lang="zh-CN" sz="2000" dirty="0">
                <a:effectLst/>
                <a:latin typeface="微软雅黑" pitchFamily="34" charset="-122"/>
                <a:ea typeface="微软雅黑" pitchFamily="34" charset="-122"/>
              </a:rPr>
              <a:t>姓名</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性别</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年龄</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成绩</a:t>
            </a:r>
          </a:p>
          <a:p>
            <a:pPr indent="127000" algn="ctr">
              <a:lnSpc>
                <a:spcPts val="2900"/>
              </a:lnSpc>
              <a:spcAft>
                <a:spcPts val="0"/>
              </a:spcAft>
            </a:pPr>
            <a:r>
              <a:rPr lang="zh-CN" sz="2000" dirty="0">
                <a:effectLst/>
                <a:latin typeface="微软雅黑" pitchFamily="34" charset="-122"/>
                <a:ea typeface="微软雅黑" pitchFamily="34" charset="-122"/>
              </a:rPr>
              <a:t>王娟</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女</a:t>
            </a:r>
            <a:r>
              <a:rPr lang="en-US" sz="2000" dirty="0">
                <a:effectLst/>
                <a:latin typeface="微软雅黑" pitchFamily="34" charset="-122"/>
                <a:ea typeface="微软雅黑" pitchFamily="34" charset="-122"/>
              </a:rPr>
              <a:t>     19     96</a:t>
            </a:r>
            <a:endParaRPr lang="zh-CN" sz="2000" dirty="0">
              <a:effectLst/>
              <a:latin typeface="微软雅黑" pitchFamily="34" charset="-122"/>
              <a:ea typeface="微软雅黑" pitchFamily="34" charset="-122"/>
            </a:endParaRPr>
          </a:p>
          <a:p>
            <a:pPr indent="127000" algn="ctr">
              <a:lnSpc>
                <a:spcPts val="2900"/>
              </a:lnSpc>
              <a:spcAft>
                <a:spcPts val="0"/>
              </a:spcAft>
            </a:pPr>
            <a:r>
              <a:rPr lang="zh-CN" sz="2000" dirty="0">
                <a:effectLst/>
                <a:latin typeface="微软雅黑" pitchFamily="34" charset="-122"/>
                <a:ea typeface="微软雅黑" pitchFamily="34" charset="-122"/>
              </a:rPr>
              <a:t>孙丽</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女</a:t>
            </a:r>
            <a:r>
              <a:rPr lang="en-US" sz="2000" dirty="0">
                <a:effectLst/>
                <a:latin typeface="微软雅黑" pitchFamily="34" charset="-122"/>
                <a:ea typeface="微软雅黑" pitchFamily="34" charset="-122"/>
              </a:rPr>
              <a:t>     18     98</a:t>
            </a:r>
            <a:endParaRPr lang="zh-CN" sz="2000" dirty="0">
              <a:effectLst/>
              <a:latin typeface="微软雅黑" pitchFamily="34" charset="-122"/>
              <a:ea typeface="微软雅黑" pitchFamily="34" charset="-122"/>
            </a:endParaRPr>
          </a:p>
        </p:txBody>
      </p:sp>
      <p:grpSp>
        <p:nvGrpSpPr>
          <p:cNvPr id="9" name="组合 8"/>
          <p:cNvGrpSpPr>
            <a:grpSpLocks/>
          </p:cNvGrpSpPr>
          <p:nvPr/>
        </p:nvGrpSpPr>
        <p:grpSpPr bwMode="auto">
          <a:xfrm>
            <a:off x="1025817" y="1979812"/>
            <a:ext cx="3241167" cy="2088232"/>
            <a:chOff x="5982" y="8212"/>
            <a:chExt cx="2262" cy="1288"/>
          </a:xfrm>
        </p:grpSpPr>
        <p:sp>
          <p:nvSpPr>
            <p:cNvPr id="10" name="Text Box 913"/>
            <p:cNvSpPr txBox="1">
              <a:spLocks noChangeArrowheads="1"/>
            </p:cNvSpPr>
            <p:nvPr/>
          </p:nvSpPr>
          <p:spPr bwMode="auto">
            <a:xfrm>
              <a:off x="5982" y="8212"/>
              <a:ext cx="2256" cy="128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900"/>
                </a:lnSpc>
                <a:spcAft>
                  <a:spcPts val="0"/>
                </a:spcAft>
              </a:pPr>
              <a:r>
                <a:rPr lang="zh-CN" sz="2000" dirty="0">
                  <a:effectLst/>
                  <a:latin typeface="微软雅黑" pitchFamily="34" charset="-122"/>
                  <a:ea typeface="微软雅黑" pitchFamily="34" charset="-122"/>
                </a:rPr>
                <a:t>姓名</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性别</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年龄</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成绩</a:t>
              </a:r>
            </a:p>
            <a:p>
              <a:pPr indent="127000" algn="ctr">
                <a:lnSpc>
                  <a:spcPts val="4400"/>
                </a:lnSpc>
                <a:spcAft>
                  <a:spcPts val="0"/>
                </a:spcAft>
              </a:pPr>
              <a:r>
                <a:rPr lang="zh-CN" sz="2000" dirty="0">
                  <a:effectLst/>
                  <a:latin typeface="微软雅黑" pitchFamily="34" charset="-122"/>
                  <a:ea typeface="微软雅黑" pitchFamily="34" charset="-122"/>
                </a:rPr>
                <a:t>张军</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男</a:t>
              </a:r>
              <a:r>
                <a:rPr lang="en-US" sz="2000" dirty="0">
                  <a:effectLst/>
                  <a:latin typeface="微软雅黑" pitchFamily="34" charset="-122"/>
                  <a:ea typeface="微软雅黑" pitchFamily="34" charset="-122"/>
                </a:rPr>
                <a:t>     18     88</a:t>
              </a:r>
              <a:endParaRPr lang="zh-CN" sz="2000" dirty="0">
                <a:effectLst/>
                <a:latin typeface="微软雅黑" pitchFamily="34" charset="-122"/>
                <a:ea typeface="微软雅黑" pitchFamily="34" charset="-122"/>
              </a:endParaRPr>
            </a:p>
            <a:p>
              <a:pPr indent="127000" algn="ctr">
                <a:lnSpc>
                  <a:spcPts val="2900"/>
                </a:lnSpc>
                <a:spcAft>
                  <a:spcPts val="0"/>
                </a:spcAft>
              </a:pPr>
              <a:r>
                <a:rPr lang="zh-CN" sz="2000" dirty="0">
                  <a:effectLst/>
                  <a:latin typeface="微软雅黑" pitchFamily="34" charset="-122"/>
                  <a:ea typeface="微软雅黑" pitchFamily="34" charset="-122"/>
                </a:rPr>
                <a:t>李明</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男</a:t>
              </a:r>
              <a:r>
                <a:rPr lang="en-US" sz="2000" dirty="0">
                  <a:effectLst/>
                  <a:latin typeface="微软雅黑" pitchFamily="34" charset="-122"/>
                  <a:ea typeface="微软雅黑" pitchFamily="34" charset="-122"/>
                </a:rPr>
                <a:t>     16     99</a:t>
              </a:r>
              <a:endParaRPr lang="zh-CN" sz="2000" dirty="0">
                <a:effectLst/>
                <a:latin typeface="微软雅黑" pitchFamily="34" charset="-122"/>
                <a:ea typeface="微软雅黑" pitchFamily="34" charset="-122"/>
              </a:endParaRPr>
            </a:p>
            <a:p>
              <a:pPr indent="127000" algn="ctr">
                <a:lnSpc>
                  <a:spcPts val="2900"/>
                </a:lnSpc>
                <a:spcAft>
                  <a:spcPts val="0"/>
                </a:spcAft>
              </a:pPr>
              <a:r>
                <a:rPr lang="zh-CN" sz="2000" dirty="0">
                  <a:effectLst/>
                  <a:latin typeface="微软雅黑" pitchFamily="34" charset="-122"/>
                  <a:ea typeface="微软雅黑" pitchFamily="34" charset="-122"/>
                </a:rPr>
                <a:t>王娟</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女</a:t>
              </a:r>
              <a:r>
                <a:rPr lang="en-US" sz="2000" dirty="0">
                  <a:effectLst/>
                  <a:latin typeface="微软雅黑" pitchFamily="34" charset="-122"/>
                  <a:ea typeface="微软雅黑" pitchFamily="34" charset="-122"/>
                </a:rPr>
                <a:t>     19     96</a:t>
              </a:r>
              <a:endParaRPr lang="zh-CN" sz="2000" dirty="0">
                <a:effectLst/>
                <a:latin typeface="微软雅黑" pitchFamily="34" charset="-122"/>
                <a:ea typeface="微软雅黑" pitchFamily="34" charset="-122"/>
              </a:endParaRPr>
            </a:p>
            <a:p>
              <a:pPr indent="127000" algn="ctr">
                <a:lnSpc>
                  <a:spcPts val="2900"/>
                </a:lnSpc>
                <a:spcAft>
                  <a:spcPts val="0"/>
                </a:spcAft>
              </a:pPr>
              <a:r>
                <a:rPr lang="zh-CN" sz="2000" dirty="0">
                  <a:effectLst/>
                  <a:latin typeface="微软雅黑" pitchFamily="34" charset="-122"/>
                  <a:ea typeface="微软雅黑" pitchFamily="34" charset="-122"/>
                </a:rPr>
                <a:t>孙丽</a:t>
              </a:r>
              <a:r>
                <a:rPr lang="en-US" sz="2000" dirty="0">
                  <a:effectLst/>
                  <a:latin typeface="微软雅黑" pitchFamily="34" charset="-122"/>
                  <a:ea typeface="微软雅黑" pitchFamily="34" charset="-122"/>
                </a:rPr>
                <a:t>     </a:t>
              </a:r>
              <a:r>
                <a:rPr lang="zh-CN" sz="2000" dirty="0">
                  <a:effectLst/>
                  <a:latin typeface="微软雅黑" pitchFamily="34" charset="-122"/>
                  <a:ea typeface="微软雅黑" pitchFamily="34" charset="-122"/>
                </a:rPr>
                <a:t>女</a:t>
              </a:r>
              <a:r>
                <a:rPr lang="en-US" sz="2000" dirty="0">
                  <a:effectLst/>
                  <a:latin typeface="微软雅黑" pitchFamily="34" charset="-122"/>
                  <a:ea typeface="微软雅黑" pitchFamily="34" charset="-122"/>
                </a:rPr>
                <a:t>     18     98</a:t>
              </a:r>
              <a:endParaRPr lang="zh-CN" sz="2000" dirty="0">
                <a:effectLst/>
                <a:latin typeface="微软雅黑" pitchFamily="34" charset="-122"/>
                <a:ea typeface="微软雅黑" pitchFamily="34" charset="-122"/>
              </a:endParaRPr>
            </a:p>
          </p:txBody>
        </p:sp>
        <p:cxnSp>
          <p:nvCxnSpPr>
            <p:cNvPr id="11" name="Line 914"/>
            <p:cNvCxnSpPr/>
            <p:nvPr/>
          </p:nvCxnSpPr>
          <p:spPr bwMode="auto">
            <a:xfrm>
              <a:off x="5982" y="8572"/>
              <a:ext cx="22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12" name="对象 11"/>
          <p:cNvGraphicFramePr>
            <a:graphicFrameLocks noChangeAspect="1"/>
          </p:cNvGraphicFramePr>
          <p:nvPr>
            <p:extLst>
              <p:ext uri="{D42A27DB-BD31-4B8C-83A1-F6EECF244321}">
                <p14:modId xmlns:p14="http://schemas.microsoft.com/office/powerpoint/2010/main" val="2525952175"/>
              </p:ext>
            </p:extLst>
          </p:nvPr>
        </p:nvGraphicFramePr>
        <p:xfrm>
          <a:off x="4806380" y="3419972"/>
          <a:ext cx="3385323" cy="648072"/>
        </p:xfrm>
        <a:graphic>
          <a:graphicData uri="http://schemas.openxmlformats.org/presentationml/2006/ole">
            <mc:AlternateContent xmlns:mc="http://schemas.openxmlformats.org/markup-compatibility/2006">
              <mc:Choice xmlns:v="urn:schemas-microsoft-com:vml" Requires="v">
                <p:oleObj spid="_x0000_s11371" name="公式" r:id="rId3" imgW="1231366" imgH="241195" progId="Equation.3">
                  <p:embed/>
                </p:oleObj>
              </mc:Choice>
              <mc:Fallback>
                <p:oleObj name="公式" r:id="rId3" imgW="1231366" imgH="241195"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6380" y="3419972"/>
                        <a:ext cx="3385323" cy="648072"/>
                      </a:xfrm>
                      <a:prstGeom prst="rect">
                        <a:avLst/>
                      </a:prstGeom>
                      <a:noFill/>
                    </p:spPr>
                  </p:pic>
                </p:oleObj>
              </mc:Fallback>
            </mc:AlternateContent>
          </a:graphicData>
        </a:graphic>
      </p:graphicFrame>
      <p:cxnSp>
        <p:nvCxnSpPr>
          <p:cNvPr id="13" name="直接连接符 12"/>
          <p:cNvCxnSpPr>
            <a:cxnSpLocks noChangeShapeType="1"/>
          </p:cNvCxnSpPr>
          <p:nvPr/>
        </p:nvCxnSpPr>
        <p:spPr bwMode="auto">
          <a:xfrm>
            <a:off x="4788024" y="2485998"/>
            <a:ext cx="33123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5" name="Rectangle 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3"/>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8" name="文本框 98"/>
          <p:cNvSpPr txBox="1">
            <a:spLocks noChangeArrowheads="1"/>
          </p:cNvSpPr>
          <p:nvPr/>
        </p:nvSpPr>
        <p:spPr bwMode="auto">
          <a:xfrm>
            <a:off x="2210054" y="4339368"/>
            <a:ext cx="86409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indent="266700" algn="just">
              <a:lnSpc>
                <a:spcPts val="3600"/>
              </a:lnSpc>
              <a:spcAft>
                <a:spcPts val="0"/>
              </a:spcAft>
            </a:pPr>
            <a:r>
              <a:rPr lang="en-US" sz="2000" dirty="0">
                <a:effectLst/>
                <a:latin typeface="微软雅黑" pitchFamily="34" charset="-122"/>
                <a:ea typeface="微软雅黑" pitchFamily="34" charset="-122"/>
                <a:cs typeface="宋体"/>
              </a:rPr>
              <a:t>R</a:t>
            </a:r>
            <a:endParaRPr lang="zh-CN" sz="2000" dirty="0">
              <a:effectLst/>
              <a:latin typeface="微软雅黑" pitchFamily="34" charset="-122"/>
              <a:ea typeface="微软雅黑" pitchFamily="34" charset="-122"/>
              <a:cs typeface="宋体"/>
            </a:endParaRPr>
          </a:p>
        </p:txBody>
      </p:sp>
      <p:sp>
        <p:nvSpPr>
          <p:cNvPr id="4" name="灯片编号占位符 3">
            <a:extLst>
              <a:ext uri="{FF2B5EF4-FFF2-40B4-BE49-F238E27FC236}">
                <a16:creationId xmlns:a16="http://schemas.microsoft.com/office/drawing/2014/main" id="{B95C42B2-F42B-2E42-BAD8-D1D4B08A0E8C}"/>
              </a:ext>
            </a:extLst>
          </p:cNvPr>
          <p:cNvSpPr>
            <a:spLocks noGrp="1"/>
          </p:cNvSpPr>
          <p:nvPr>
            <p:ph type="sldNum" sz="quarter" idx="12"/>
          </p:nvPr>
        </p:nvSpPr>
        <p:spPr/>
        <p:txBody>
          <a:bodyPr/>
          <a:lstStyle/>
          <a:p>
            <a:fld id="{C46E5E69-9A6D-4AF8-BC2D-C556A9893D8F}" type="slidenum">
              <a:rPr lang="zh-CN" altLang="en-US" smtClean="0"/>
              <a:pPr/>
              <a:t>21</a:t>
            </a:fld>
            <a:endParaRPr lang="zh-CN" altLang="en-US" dirty="0"/>
          </a:p>
        </p:txBody>
      </p:sp>
    </p:spTree>
    <p:extLst>
      <p:ext uri="{BB962C8B-B14F-4D97-AF65-F5344CB8AC3E}">
        <p14:creationId xmlns:p14="http://schemas.microsoft.com/office/powerpoint/2010/main" val="2854693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选择</a:t>
            </a:r>
            <a:endParaRPr lang="zh-CN" altLang="en-US" dirty="0"/>
          </a:p>
        </p:txBody>
      </p:sp>
      <p:sp>
        <p:nvSpPr>
          <p:cNvPr id="3" name="文本占位符 2"/>
          <p:cNvSpPr>
            <a:spLocks noGrp="1"/>
          </p:cNvSpPr>
          <p:nvPr>
            <p:ph type="body" idx="1"/>
          </p:nvPr>
        </p:nvSpPr>
        <p:spPr>
          <a:xfrm>
            <a:off x="467544" y="1052736"/>
            <a:ext cx="8229600" cy="648072"/>
          </a:xfrm>
        </p:spPr>
        <p:txBody>
          <a:bodyPr/>
          <a:lstStyle/>
          <a:p>
            <a:pPr marL="0" indent="0">
              <a:buNone/>
            </a:pPr>
            <a:r>
              <a:rPr lang="zh-CN" altLang="zh-CN" dirty="0">
                <a:solidFill>
                  <a:srgbClr val="0000FF"/>
                </a:solidFill>
              </a:rPr>
              <a:t>例</a:t>
            </a:r>
            <a:r>
              <a:rPr lang="en-US" altLang="zh-CN" dirty="0">
                <a:solidFill>
                  <a:srgbClr val="0000FF"/>
                </a:solidFill>
              </a:rPr>
              <a:t>2.7  </a:t>
            </a:r>
            <a:r>
              <a:rPr lang="zh-CN" altLang="zh-CN" dirty="0"/>
              <a:t>查询 “高等教育出版社”的出版社信息</a:t>
            </a:r>
            <a:endParaRPr lang="zh-CN" altLang="en-US" dirty="0"/>
          </a:p>
        </p:txBody>
      </p:sp>
      <mc:AlternateContent xmlns:mc="http://schemas.openxmlformats.org/markup-compatibility/2006" xmlns:a14="http://schemas.microsoft.com/office/drawing/2010/main">
        <mc:Choice Requires="a14">
          <p:sp>
            <p:nvSpPr>
              <p:cNvPr id="7" name="矩形 6"/>
              <p:cNvSpPr/>
              <p:nvPr/>
            </p:nvSpPr>
            <p:spPr>
              <a:xfrm>
                <a:off x="755576" y="2564904"/>
                <a:ext cx="7416824" cy="923330"/>
              </a:xfrm>
              <a:prstGeom prst="rect">
                <a:avLst/>
              </a:prstGeom>
            </p:spPr>
            <p:txBody>
              <a:bodyPr wrap="square">
                <a:spAutoFit/>
              </a:bodyPr>
              <a:lstStyle/>
              <a:p>
                <a:r>
                  <a:rPr lang="zh-CN" altLang="zh-CN" dirty="0">
                    <a:solidFill>
                      <a:srgbClr val="0000FF"/>
                    </a:solidFill>
                    <a:latin typeface="微软雅黑" pitchFamily="34" charset="-122"/>
                    <a:ea typeface="微软雅黑" pitchFamily="34" charset="-122"/>
                  </a:rPr>
                  <a:t>元组演算：</a:t>
                </a:r>
              </a:p>
              <a:p>
                <a:pPr/>
                <a14:m>
                  <m:oMathPara xmlns:m="http://schemas.openxmlformats.org/officeDocument/2006/math">
                    <m:oMathParaPr>
                      <m:jc m:val="centerGroup"/>
                    </m:oMathParaPr>
                    <m:oMath xmlns:m="http://schemas.openxmlformats.org/officeDocument/2006/math">
                      <m:r>
                        <a:rPr lang="en-US" altLang="zh-CN" i="1">
                          <a:latin typeface="Cambria Math"/>
                        </a:rPr>
                        <m:t> </m:t>
                      </m:r>
                      <m:d>
                        <m:dPr>
                          <m:begChr m:val="{"/>
                          <m:endChr m:val="}"/>
                          <m:ctrlPr>
                            <a:rPr lang="zh-CN" altLang="zh-CN" i="1">
                              <a:latin typeface="Cambria Math" panose="02040503050406030204" pitchFamily="18" charset="0"/>
                            </a:rPr>
                          </m:ctrlPr>
                        </m:dPr>
                        <m:e>
                          <m:r>
                            <a:rPr lang="en-US" altLang="zh-CN" i="1">
                              <a:latin typeface="Cambria Math"/>
                            </a:rPr>
                            <m:t>𝑡</m:t>
                          </m:r>
                          <m:r>
                            <a:rPr lang="en-US" altLang="zh-CN" i="1">
                              <a:latin typeface="Cambria Math"/>
                            </a:rPr>
                            <m:t>|</m:t>
                          </m:r>
                          <m:r>
                            <a:rPr lang="en-US" altLang="zh-CN" i="1">
                              <a:latin typeface="Cambria Math"/>
                            </a:rPr>
                            <m:t>𝑡</m:t>
                          </m:r>
                          <m:r>
                            <a:rPr lang="en-US" altLang="zh-CN" i="1">
                              <a:latin typeface="Cambria Math"/>
                            </a:rPr>
                            <m:t>𝜖</m:t>
                          </m:r>
                          <m:r>
                            <a:rPr lang="en-US" altLang="zh-CN" i="1">
                              <a:latin typeface="Cambria Math"/>
                            </a:rPr>
                            <m:t>𝑃𝑟𝑒𝑠𝑠</m:t>
                          </m:r>
                          <m:r>
                            <a:rPr lang="zh-CN" altLang="zh-CN" i="1">
                              <a:latin typeface="Cambria Math"/>
                            </a:rPr>
                            <m:t>∧</m:t>
                          </m:r>
                          <m:r>
                            <a:rPr lang="en-US" altLang="zh-CN" i="1">
                              <a:latin typeface="Cambria Math"/>
                            </a:rPr>
                            <m:t>𝑡</m:t>
                          </m:r>
                          <m:d>
                            <m:dPr>
                              <m:begChr m:val="["/>
                              <m:endChr m:val="]"/>
                              <m:ctrlPr>
                                <a:rPr lang="zh-CN" altLang="zh-CN" i="1">
                                  <a:latin typeface="Cambria Math" panose="02040503050406030204" pitchFamily="18" charset="0"/>
                                </a:rPr>
                              </m:ctrlPr>
                            </m:dPr>
                            <m:e>
                              <m:r>
                                <a:rPr lang="en-US" altLang="zh-CN" i="1">
                                  <a:latin typeface="Cambria Math"/>
                                </a:rPr>
                                <m:t>𝑃𝑁𝑎𝑚𝑒</m:t>
                              </m:r>
                            </m:e>
                          </m:d>
                          <m:r>
                            <a:rPr lang="en-US" altLang="zh-CN" i="1">
                              <a:latin typeface="Cambria Math"/>
                            </a:rPr>
                            <m:t>="</m:t>
                          </m:r>
                          <m:r>
                            <a:rPr lang="zh-CN" altLang="zh-CN">
                              <a:latin typeface="Cambria Math"/>
                            </a:rPr>
                            <m:t>高等教育出版社</m:t>
                          </m:r>
                          <m:r>
                            <a:rPr lang="en-US" altLang="zh-CN" i="1">
                              <a:latin typeface="Cambria Math"/>
                            </a:rPr>
                            <m:t>"</m:t>
                          </m:r>
                        </m:e>
                      </m:d>
                    </m:oMath>
                  </m:oMathPara>
                </a14:m>
                <a:endParaRPr lang="zh-CN" altLang="zh-CN" dirty="0"/>
              </a:p>
              <a:p>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a:rPr>
                            <m:t>𝑡</m:t>
                          </m:r>
                          <m:r>
                            <a:rPr lang="en-US" altLang="zh-CN" i="1">
                              <a:latin typeface="Cambria Math"/>
                            </a:rPr>
                            <m:t>|</m:t>
                          </m:r>
                          <m:r>
                            <a:rPr lang="en-US" altLang="zh-CN" i="1">
                              <a:latin typeface="Cambria Math"/>
                            </a:rPr>
                            <m:t>𝑡</m:t>
                          </m:r>
                          <m:r>
                            <a:rPr lang="en-US" altLang="zh-CN" i="1">
                              <a:latin typeface="Cambria Math"/>
                            </a:rPr>
                            <m:t>𝜖</m:t>
                          </m:r>
                          <m:r>
                            <a:rPr lang="en-US" altLang="zh-CN" i="1">
                              <a:latin typeface="Cambria Math"/>
                            </a:rPr>
                            <m:t>𝑃𝑟𝑒𝑠𝑠</m:t>
                          </m:r>
                          <m:r>
                            <a:rPr lang="zh-CN" altLang="zh-CN" i="1">
                              <a:latin typeface="Cambria Math"/>
                            </a:rPr>
                            <m:t>∧</m:t>
                          </m:r>
                          <m:r>
                            <a:rPr lang="en-US" altLang="zh-CN" i="1">
                              <a:latin typeface="Cambria Math"/>
                            </a:rPr>
                            <m:t>𝑡</m:t>
                          </m:r>
                          <m:d>
                            <m:dPr>
                              <m:begChr m:val="["/>
                              <m:endChr m:val="]"/>
                              <m:ctrlPr>
                                <a:rPr lang="zh-CN" altLang="zh-CN" i="1">
                                  <a:latin typeface="Cambria Math" panose="02040503050406030204" pitchFamily="18" charset="0"/>
                                </a:rPr>
                              </m:ctrlPr>
                            </m:dPr>
                            <m:e>
                              <m:r>
                                <a:rPr lang="en-US" altLang="zh-CN" i="1">
                                  <a:latin typeface="Cambria Math"/>
                                </a:rPr>
                                <m:t>2</m:t>
                              </m:r>
                            </m:e>
                          </m:d>
                          <m:r>
                            <a:rPr lang="en-US" altLang="zh-CN" i="1">
                              <a:latin typeface="Cambria Math"/>
                            </a:rPr>
                            <m:t>="</m:t>
                          </m:r>
                          <m:r>
                            <a:rPr lang="zh-CN" altLang="zh-CN">
                              <a:latin typeface="Cambria Math"/>
                            </a:rPr>
                            <m:t>高等教育出版社</m:t>
                          </m:r>
                          <m:r>
                            <a:rPr lang="en-US" altLang="zh-CN" i="1">
                              <a:latin typeface="Cambria Math"/>
                            </a:rPr>
                            <m:t>"</m:t>
                          </m:r>
                        </m:e>
                      </m:d>
                    </m:oMath>
                  </m:oMathPara>
                </a14:m>
                <a:endParaRPr lang="zh-CN" altLang="zh-CN" dirty="0"/>
              </a:p>
            </p:txBody>
          </p:sp>
        </mc:Choice>
        <mc:Fallback xmlns="">
          <p:sp>
            <p:nvSpPr>
              <p:cNvPr id="7" name="矩形 6"/>
              <p:cNvSpPr>
                <a:spLocks noRot="1" noChangeAspect="1" noMove="1" noResize="1" noEditPoints="1" noAdjustHandles="1" noChangeArrowheads="1" noChangeShapeType="1" noTextEdit="1"/>
              </p:cNvSpPr>
              <p:nvPr/>
            </p:nvSpPr>
            <p:spPr>
              <a:xfrm>
                <a:off x="755576" y="2564904"/>
                <a:ext cx="7416824" cy="923330"/>
              </a:xfrm>
              <a:prstGeom prst="rect">
                <a:avLst/>
              </a:prstGeom>
              <a:blipFill rotWithShape="1">
                <a:blip r:embed="rId2"/>
                <a:stretch>
                  <a:fillRect l="-740" t="-3311" b="-4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787258" y="1777764"/>
                <a:ext cx="5688632" cy="787139"/>
              </a:xfrm>
              <a:prstGeom prst="rect">
                <a:avLst/>
              </a:prstGeom>
            </p:spPr>
            <p:txBody>
              <a:bodyPr wrap="square">
                <a:spAutoFit/>
              </a:bodyPr>
              <a:lstStyle/>
              <a:p>
                <a:pPr lvl="0"/>
                <a14:m>
                  <m:oMathPara xmlns:m="http://schemas.openxmlformats.org/officeDocument/2006/math">
                    <m:oMathParaPr>
                      <m:jc m:val="left"/>
                    </m:oMathParaPr>
                    <m:oMath xmlns:m="http://schemas.openxmlformats.org/officeDocument/2006/math">
                      <m:sSub>
                        <m:sSubPr>
                          <m:ctrlPr>
                            <a:rPr lang="zh-CN" altLang="zh-CN" i="1" smtClean="0">
                              <a:solidFill>
                                <a:srgbClr val="0000FF"/>
                              </a:solidFill>
                              <a:latin typeface="Cambria Math" panose="02040503050406030204" pitchFamily="18" charset="0"/>
                            </a:rPr>
                          </m:ctrlPr>
                        </m:sSubPr>
                        <m:e>
                          <m:r>
                            <m:rPr>
                              <m:nor/>
                            </m:rPr>
                            <a:rPr lang="zh-CN" altLang="en-US">
                              <a:solidFill>
                                <a:srgbClr val="0000FF"/>
                              </a:solidFill>
                              <a:latin typeface="微软雅黑" pitchFamily="34" charset="-122"/>
                              <a:ea typeface="微软雅黑" pitchFamily="34" charset="-122"/>
                            </a:rPr>
                            <m:t>关系代数</m:t>
                          </m:r>
                          <m:r>
                            <a:rPr lang="zh-CN" altLang="en-US" b="0" i="1" smtClean="0">
                              <a:solidFill>
                                <a:srgbClr val="0000FF"/>
                              </a:solidFill>
                              <a:latin typeface="Cambria Math"/>
                            </a:rPr>
                            <m:t>：</m:t>
                          </m:r>
                          <m:r>
                            <a:rPr lang="en-US" altLang="zh-CN" i="1">
                              <a:solidFill>
                                <a:srgbClr val="0000FF"/>
                              </a:solidFill>
                              <a:latin typeface="Cambria Math"/>
                            </a:rPr>
                            <m:t>𝜎</m:t>
                          </m:r>
                        </m:e>
                        <m:sub>
                          <m:r>
                            <a:rPr lang="en-US" altLang="zh-CN" i="1">
                              <a:solidFill>
                                <a:srgbClr val="0000FF"/>
                              </a:solidFill>
                              <a:latin typeface="Cambria Math"/>
                            </a:rPr>
                            <m:t>𝑃𝑁𝑎𝑚𝑒</m:t>
                          </m:r>
                          <m:r>
                            <a:rPr lang="en-US" altLang="zh-CN" i="1">
                              <a:solidFill>
                                <a:srgbClr val="0000FF"/>
                              </a:solidFill>
                              <a:latin typeface="Cambria Math"/>
                            </a:rPr>
                            <m:t>=" </m:t>
                          </m:r>
                          <m:r>
                            <a:rPr lang="zh-CN" altLang="zh-CN">
                              <a:solidFill>
                                <a:srgbClr val="0000FF"/>
                              </a:solidFill>
                              <a:latin typeface="Cambria Math"/>
                            </a:rPr>
                            <m:t>高等教育出版社</m:t>
                          </m:r>
                          <m:r>
                            <a:rPr lang="en-US" altLang="zh-CN" i="1">
                              <a:solidFill>
                                <a:srgbClr val="0000FF"/>
                              </a:solidFill>
                              <a:latin typeface="Cambria Math"/>
                            </a:rPr>
                            <m:t>"</m:t>
                          </m:r>
                        </m:sub>
                      </m:sSub>
                      <m:r>
                        <a:rPr lang="en-US" altLang="zh-CN" i="1">
                          <a:solidFill>
                            <a:srgbClr val="0000FF"/>
                          </a:solidFill>
                          <a:latin typeface="Cambria Math"/>
                        </a:rPr>
                        <m:t>(</m:t>
                      </m:r>
                      <m:r>
                        <a:rPr lang="en-US" altLang="zh-CN" i="1">
                          <a:solidFill>
                            <a:srgbClr val="0000FF"/>
                          </a:solidFill>
                          <a:latin typeface="Cambria Math"/>
                        </a:rPr>
                        <m:t>𝑃𝑟𝑒𝑠𝑠</m:t>
                      </m:r>
                      <m:r>
                        <a:rPr lang="en-US" altLang="zh-CN" i="1">
                          <a:solidFill>
                            <a:srgbClr val="0000FF"/>
                          </a:solidFill>
                          <a:latin typeface="Cambria Math"/>
                        </a:rPr>
                        <m:t>)</m:t>
                      </m:r>
                    </m:oMath>
                  </m:oMathPara>
                </a14:m>
                <a:endParaRPr lang="zh-CN" altLang="zh-CN" dirty="0">
                  <a:solidFill>
                    <a:srgbClr val="0000FF"/>
                  </a:solidFill>
                </a:endParaRPr>
              </a:p>
              <a:p>
                <a:pPr lvl="0"/>
                <a14:m>
                  <m:oMathPara xmlns:m="http://schemas.openxmlformats.org/officeDocument/2006/math">
                    <m:oMathParaPr>
                      <m:jc m:val="center"/>
                    </m:oMathParaPr>
                    <m:oMath xmlns:m="http://schemas.openxmlformats.org/officeDocument/2006/math">
                      <m:sSub>
                        <m:sSubPr>
                          <m:ctrlPr>
                            <a:rPr lang="zh-CN" altLang="zh-CN" i="1">
                              <a:solidFill>
                                <a:prstClr val="black"/>
                              </a:solidFill>
                              <a:latin typeface="Cambria Math" panose="02040503050406030204" pitchFamily="18" charset="0"/>
                            </a:rPr>
                          </m:ctrlPr>
                        </m:sSubPr>
                        <m:e>
                          <m:r>
                            <a:rPr lang="en-US" altLang="zh-CN" i="1">
                              <a:solidFill>
                                <a:prstClr val="black"/>
                              </a:solidFill>
                              <a:latin typeface="Cambria Math"/>
                            </a:rPr>
                            <m:t>𝜎</m:t>
                          </m:r>
                        </m:e>
                        <m:sub>
                          <m:r>
                            <a:rPr lang="en-US" altLang="zh-CN" i="1">
                              <a:solidFill>
                                <a:prstClr val="black"/>
                              </a:solidFill>
                              <a:latin typeface="Cambria Math"/>
                            </a:rPr>
                            <m:t>2=" </m:t>
                          </m:r>
                          <m:r>
                            <a:rPr lang="zh-CN" altLang="zh-CN">
                              <a:solidFill>
                                <a:prstClr val="black"/>
                              </a:solidFill>
                              <a:latin typeface="Cambria Math"/>
                            </a:rPr>
                            <m:t>高等教育出版社</m:t>
                          </m:r>
                          <m:r>
                            <a:rPr lang="en-US" altLang="zh-CN" i="1">
                              <a:solidFill>
                                <a:prstClr val="black"/>
                              </a:solidFill>
                              <a:latin typeface="Cambria Math"/>
                            </a:rPr>
                            <m:t>"</m:t>
                          </m:r>
                        </m:sub>
                      </m:sSub>
                      <m:r>
                        <a:rPr lang="en-US" altLang="zh-CN" i="1">
                          <a:solidFill>
                            <a:prstClr val="black"/>
                          </a:solidFill>
                          <a:latin typeface="Cambria Math"/>
                        </a:rPr>
                        <m:t>(</m:t>
                      </m:r>
                      <m:r>
                        <a:rPr lang="en-US" altLang="zh-CN" i="1">
                          <a:solidFill>
                            <a:prstClr val="black"/>
                          </a:solidFill>
                          <a:latin typeface="Cambria Math"/>
                        </a:rPr>
                        <m:t>𝑃𝑟𝑒𝑠𝑠</m:t>
                      </m:r>
                      <m:r>
                        <a:rPr lang="en-US" altLang="zh-CN" i="1">
                          <a:solidFill>
                            <a:prstClr val="black"/>
                          </a:solidFill>
                          <a:latin typeface="Cambria Math"/>
                        </a:rPr>
                        <m:t>)</m:t>
                      </m:r>
                    </m:oMath>
                  </m:oMathPara>
                </a14:m>
                <a:endParaRPr lang="zh-CN" altLang="zh-CN" dirty="0">
                  <a:solidFill>
                    <a:prstClr val="black"/>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787258" y="1777764"/>
                <a:ext cx="5688632" cy="787139"/>
              </a:xfrm>
              <a:prstGeom prst="rect">
                <a:avLst/>
              </a:prstGeom>
              <a:blipFill rotWithShape="1">
                <a:blip r:embed="rId3"/>
                <a:stretch>
                  <a:fillRect l="-429" b="-85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87258" y="3789040"/>
                <a:ext cx="7416824" cy="1477328"/>
              </a:xfrm>
              <a:prstGeom prst="rect">
                <a:avLst/>
              </a:prstGeom>
            </p:spPr>
            <p:txBody>
              <a:bodyPr wrap="square">
                <a:spAutoFit/>
              </a:bodyPr>
              <a:lstStyle/>
              <a:p>
                <a:r>
                  <a:rPr lang="zh-CN" altLang="zh-CN" dirty="0"/>
                  <a:t>域演算：</a:t>
                </a:r>
              </a:p>
              <a:p>
                <a14:m>
                  <m:oMath xmlns:m="http://schemas.openxmlformats.org/officeDocument/2006/math">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a:rPr>
                              <m:t>𝑃𝑁𝑜</m:t>
                            </m:r>
                            <m:r>
                              <a:rPr lang="en-US" altLang="zh-CN">
                                <a:latin typeface="Cambria Math"/>
                              </a:rPr>
                              <m:t>,</m:t>
                            </m:r>
                            <m:r>
                              <a:rPr lang="en-US" altLang="zh-CN" i="1">
                                <a:latin typeface="Cambria Math"/>
                              </a:rPr>
                              <m:t>𝑃𝑁𝑎𝑚𝑒</m:t>
                            </m:r>
                            <m:r>
                              <a:rPr lang="en-US" altLang="zh-CN">
                                <a:latin typeface="Cambria Math"/>
                              </a:rPr>
                              <m:t>,</m:t>
                            </m:r>
                            <m:r>
                              <a:rPr lang="en-US" altLang="zh-CN" i="1">
                                <a:latin typeface="Cambria Math"/>
                              </a:rPr>
                              <m:t>𝑃𝐶𝑜𝑑𝑒</m:t>
                            </m:r>
                            <m:r>
                              <a:rPr lang="en-US" altLang="zh-CN">
                                <a:latin typeface="Cambria Math"/>
                              </a:rPr>
                              <m:t>,</m:t>
                            </m:r>
                            <m:r>
                              <a:rPr lang="en-US" altLang="zh-CN" i="1">
                                <a:latin typeface="Cambria Math"/>
                              </a:rPr>
                              <m:t>𝑃𝐴𝑑𝑑𝑟</m:t>
                            </m:r>
                            <m:r>
                              <a:rPr lang="en-US" altLang="zh-CN">
                                <a:latin typeface="Cambria Math"/>
                              </a:rPr>
                              <m:t>,</m:t>
                            </m:r>
                            <m:r>
                              <a:rPr lang="en-US" altLang="zh-CN" i="1">
                                <a:latin typeface="Cambria Math"/>
                              </a:rPr>
                              <m:t>𝑃h𝑜𝑛𝑒</m:t>
                            </m:r>
                            <m:r>
                              <a:rPr lang="en-US" altLang="zh-CN">
                                <a:latin typeface="Cambria Math"/>
                              </a:rPr>
                              <m:t>,</m:t>
                            </m:r>
                            <m:r>
                              <a:rPr lang="en-US" altLang="zh-CN" i="1">
                                <a:latin typeface="Cambria Math"/>
                              </a:rPr>
                              <m:t>𝐸𝑀𝑎𝑖𝑙</m:t>
                            </m:r>
                            <m:r>
                              <a:rPr lang="en-US" altLang="zh-CN">
                                <a:latin typeface="Cambria Math"/>
                              </a:rPr>
                              <m:t>,</m:t>
                            </m:r>
                            <m:r>
                              <a:rPr lang="en-US" altLang="zh-CN" i="1">
                                <a:latin typeface="Cambria Math"/>
                              </a:rPr>
                              <m:t>𝐻𝑃𝑎𝑔𝑒</m:t>
                            </m:r>
                          </m:e>
                        </m:d>
                        <m:r>
                          <a:rPr lang="en-US" altLang="zh-CN" i="1">
                            <a:latin typeface="Cambria Math"/>
                          </a:rPr>
                          <m:t>|                          </m:t>
                        </m:r>
                      </m:e>
                    </m:d>
                  </m:oMath>
                </a14:m>
                <a:r>
                  <a:rPr lang="en-US" altLang="zh-CN" dirty="0"/>
                  <a:t> </a:t>
                </a:r>
                <a:endParaRPr lang="zh-CN" altLang="zh-CN" dirty="0"/>
              </a:p>
              <a:p>
                <a:pPr/>
                <a14:m>
                  <m:oMathPara xmlns:m="http://schemas.openxmlformats.org/officeDocument/2006/math">
                    <m:oMathParaPr>
                      <m:jc m:val="centerGroup"/>
                    </m:oMathParaPr>
                    <m:oMath xmlns:m="http://schemas.openxmlformats.org/officeDocument/2006/math">
                      <m:r>
                        <a:rPr lang="en-US" altLang="zh-CN" i="1">
                          <a:latin typeface="Cambria Math"/>
                        </a:rPr>
                        <m:t>(</m:t>
                      </m:r>
                      <m:r>
                        <a:rPr lang="en-US" altLang="zh-CN" i="1">
                          <a:latin typeface="Cambria Math"/>
                        </a:rPr>
                        <m:t>𝑃𝑁𝑜</m:t>
                      </m:r>
                      <m:r>
                        <a:rPr lang="en-US" altLang="zh-CN">
                          <a:latin typeface="Cambria Math"/>
                        </a:rPr>
                        <m:t>,</m:t>
                      </m:r>
                      <m:r>
                        <a:rPr lang="en-US" altLang="zh-CN" i="1">
                          <a:latin typeface="Cambria Math"/>
                        </a:rPr>
                        <m:t>𝑃𝑁𝑎𝑚𝑒</m:t>
                      </m:r>
                      <m:r>
                        <a:rPr lang="en-US" altLang="zh-CN">
                          <a:latin typeface="Cambria Math"/>
                        </a:rPr>
                        <m:t>,</m:t>
                      </m:r>
                      <m:r>
                        <a:rPr lang="en-US" altLang="zh-CN" i="1">
                          <a:latin typeface="Cambria Math"/>
                        </a:rPr>
                        <m:t>𝑃𝐶𝑜𝑑𝑒</m:t>
                      </m:r>
                      <m:r>
                        <a:rPr lang="en-US" altLang="zh-CN">
                          <a:latin typeface="Cambria Math"/>
                        </a:rPr>
                        <m:t>,</m:t>
                      </m:r>
                      <m:r>
                        <a:rPr lang="en-US" altLang="zh-CN" i="1">
                          <a:latin typeface="Cambria Math"/>
                        </a:rPr>
                        <m:t>𝑃𝐴𝑑𝑑𝑟</m:t>
                      </m:r>
                      <m:r>
                        <a:rPr lang="en-US" altLang="zh-CN">
                          <a:latin typeface="Cambria Math"/>
                        </a:rPr>
                        <m:t>,</m:t>
                      </m:r>
                      <m:r>
                        <a:rPr lang="en-US" altLang="zh-CN" i="1">
                          <a:latin typeface="Cambria Math"/>
                        </a:rPr>
                        <m:t>𝑃h𝑜𝑛𝑒</m:t>
                      </m:r>
                      <m:r>
                        <a:rPr lang="en-US" altLang="zh-CN">
                          <a:latin typeface="Cambria Math"/>
                        </a:rPr>
                        <m:t>,</m:t>
                      </m:r>
                      <m:r>
                        <a:rPr lang="en-US" altLang="zh-CN" i="1">
                          <a:latin typeface="Cambria Math"/>
                        </a:rPr>
                        <m:t>𝐸𝑀𝑎𝑖𝑙</m:t>
                      </m:r>
                      <m:r>
                        <a:rPr lang="en-US" altLang="zh-CN">
                          <a:latin typeface="Cambria Math"/>
                        </a:rPr>
                        <m:t>,</m:t>
                      </m:r>
                      <m:r>
                        <a:rPr lang="en-US" altLang="zh-CN" i="1">
                          <a:latin typeface="Cambria Math"/>
                        </a:rPr>
                        <m:t>𝐻𝑃𝑎𝑔𝑒</m:t>
                      </m:r>
                      <m:r>
                        <a:rPr lang="en-US" altLang="zh-CN" i="1">
                          <a:latin typeface="Cambria Math"/>
                        </a:rPr>
                        <m:t>)</m:t>
                      </m:r>
                      <m:r>
                        <a:rPr lang="en-US" altLang="zh-CN" i="1">
                          <a:latin typeface="Cambria Math"/>
                        </a:rPr>
                        <m:t>𝜖</m:t>
                      </m:r>
                      <m:r>
                        <a:rPr lang="en-US" altLang="zh-CN" i="1">
                          <a:latin typeface="Cambria Math"/>
                        </a:rPr>
                        <m:t>𝑃𝑟𝑒𝑠𝑠</m:t>
                      </m:r>
                      <m:r>
                        <a:rPr lang="zh-CN" altLang="zh-CN" i="1">
                          <a:latin typeface="Cambria Math"/>
                        </a:rPr>
                        <m:t>∧</m:t>
                      </m:r>
                    </m:oMath>
                  </m:oMathPara>
                </a14:m>
                <a:endParaRPr lang="zh-CN" altLang="zh-CN" dirty="0"/>
              </a:p>
              <a:p>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a:rPr>
                            <m:t>𝑃𝑁𝑎𝑚𝑒</m:t>
                          </m:r>
                          <m:r>
                            <a:rPr lang="en-US" altLang="zh-CN" i="1">
                              <a:latin typeface="Cambria Math"/>
                            </a:rPr>
                            <m:t>="</m:t>
                          </m:r>
                          <m:r>
                            <a:rPr lang="zh-CN" altLang="zh-CN">
                              <a:latin typeface="Cambria Math"/>
                            </a:rPr>
                            <m:t>高等教育出版社</m:t>
                          </m:r>
                          <m:r>
                            <a:rPr lang="en-US" altLang="zh-CN" i="1">
                              <a:latin typeface="Cambria Math"/>
                            </a:rPr>
                            <m:t>"</m:t>
                          </m:r>
                        </m:e>
                      </m:d>
                      <m:r>
                        <a:rPr lang="en-US" altLang="zh-CN" i="1">
                          <a:latin typeface="Cambria Math"/>
                        </a:rPr>
                        <m:t>                                                         </m:t>
                      </m:r>
                    </m:oMath>
                  </m:oMathPara>
                </a14:m>
                <a:endParaRPr lang="zh-CN" altLang="zh-CN" dirty="0"/>
              </a:p>
              <a:p>
                <a14:m>
                  <m:oMath xmlns:m="http://schemas.openxmlformats.org/officeDocument/2006/math">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a:rPr>
                              <m:t>1</m:t>
                            </m:r>
                            <m:r>
                              <a:rPr lang="en-US" altLang="zh-CN">
                                <a:latin typeface="Cambria Math"/>
                              </a:rPr>
                              <m:t>,2,3,4,5,6,7</m:t>
                            </m:r>
                          </m:e>
                        </m:d>
                        <m:r>
                          <a:rPr lang="en-US" altLang="zh-CN" i="1">
                            <a:latin typeface="Cambria Math"/>
                          </a:rPr>
                          <m:t>| </m:t>
                        </m:r>
                        <m:d>
                          <m:dPr>
                            <m:ctrlPr>
                              <a:rPr lang="zh-CN" altLang="zh-CN" i="1">
                                <a:latin typeface="Cambria Math" panose="02040503050406030204" pitchFamily="18" charset="0"/>
                              </a:rPr>
                            </m:ctrlPr>
                          </m:dPr>
                          <m:e>
                            <m:r>
                              <a:rPr lang="en-US" altLang="zh-CN" i="1">
                                <a:latin typeface="Cambria Math"/>
                              </a:rPr>
                              <m:t>1</m:t>
                            </m:r>
                            <m:r>
                              <a:rPr lang="en-US" altLang="zh-CN">
                                <a:latin typeface="Cambria Math"/>
                              </a:rPr>
                              <m:t>,2,3,4,5,6,7</m:t>
                            </m:r>
                          </m:e>
                        </m:d>
                        <m:r>
                          <a:rPr lang="en-US" altLang="zh-CN" i="1">
                            <a:latin typeface="Cambria Math"/>
                          </a:rPr>
                          <m:t>∈</m:t>
                        </m:r>
                        <m:r>
                          <a:rPr lang="en-US" altLang="zh-CN" i="1">
                            <a:latin typeface="Cambria Math"/>
                          </a:rPr>
                          <m:t>𝑃𝑟𝑒𝑠𝑠</m:t>
                        </m:r>
                        <m:r>
                          <a:rPr lang="zh-CN" altLang="zh-CN" i="1">
                            <a:latin typeface="Cambria Math"/>
                          </a:rPr>
                          <m:t>∧</m:t>
                        </m:r>
                        <m:r>
                          <a:rPr lang="en-US" altLang="zh-CN" i="1">
                            <a:latin typeface="Cambria Math"/>
                          </a:rPr>
                          <m:t>2= "</m:t>
                        </m:r>
                        <m:r>
                          <a:rPr lang="zh-CN" altLang="zh-CN">
                            <a:latin typeface="Cambria Math"/>
                          </a:rPr>
                          <m:t>高等教育出版社</m:t>
                        </m:r>
                        <m:r>
                          <a:rPr lang="en-US" altLang="zh-CN" i="1">
                            <a:latin typeface="Cambria Math"/>
                          </a:rPr>
                          <m:t>" </m:t>
                        </m:r>
                      </m:e>
                    </m:d>
                    <m:r>
                      <a:rPr lang="en-US" altLang="zh-CN" i="1">
                        <a:latin typeface="Cambria Math"/>
                      </a:rPr>
                      <m:t>}</m:t>
                    </m:r>
                  </m:oMath>
                </a14:m>
                <a:r>
                  <a:rPr lang="en-US" altLang="zh-CN" dirty="0"/>
                  <a:t> </a:t>
                </a:r>
                <a:endParaRPr lang="zh-CN" altLang="zh-CN" dirty="0"/>
              </a:p>
            </p:txBody>
          </p:sp>
        </mc:Choice>
        <mc:Fallback xmlns="">
          <p:sp>
            <p:nvSpPr>
              <p:cNvPr id="9" name="矩形 8"/>
              <p:cNvSpPr>
                <a:spLocks noRot="1" noChangeAspect="1" noMove="1" noResize="1" noEditPoints="1" noAdjustHandles="1" noChangeArrowheads="1" noChangeShapeType="1" noTextEdit="1"/>
              </p:cNvSpPr>
              <p:nvPr/>
            </p:nvSpPr>
            <p:spPr>
              <a:xfrm>
                <a:off x="787258" y="3789040"/>
                <a:ext cx="7416824" cy="1477328"/>
              </a:xfrm>
              <a:prstGeom prst="rect">
                <a:avLst/>
              </a:prstGeom>
              <a:blipFill rotWithShape="1">
                <a:blip r:embed="rId4"/>
                <a:stretch>
                  <a:fillRect l="-4684" t="-13223" b="-47107"/>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3DAD02BF-9941-2C4B-BA4D-29C9ED88E9A2}"/>
              </a:ext>
            </a:extLst>
          </p:cNvPr>
          <p:cNvSpPr>
            <a:spLocks noGrp="1"/>
          </p:cNvSpPr>
          <p:nvPr>
            <p:ph type="sldNum" sz="quarter" idx="12"/>
          </p:nvPr>
        </p:nvSpPr>
        <p:spPr/>
        <p:txBody>
          <a:bodyPr/>
          <a:lstStyle/>
          <a:p>
            <a:fld id="{C46E5E69-9A6D-4AF8-BC2D-C556A9893D8F}" type="slidenum">
              <a:rPr lang="zh-CN" altLang="en-US" smtClean="0"/>
              <a:pPr/>
              <a:t>22</a:t>
            </a:fld>
            <a:endParaRPr lang="zh-CN" altLang="en-US" dirty="0"/>
          </a:p>
        </p:txBody>
      </p:sp>
    </p:spTree>
    <p:extLst>
      <p:ext uri="{BB962C8B-B14F-4D97-AF65-F5344CB8AC3E}">
        <p14:creationId xmlns:p14="http://schemas.microsoft.com/office/powerpoint/2010/main" val="2790709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选择</a:t>
            </a:r>
            <a:endParaRPr lang="zh-CN" altLang="en-US" i="0" u="none" strike="noStrike" kern="2200" baseline="0" dirty="0"/>
          </a:p>
        </p:txBody>
      </p:sp>
      <p:sp>
        <p:nvSpPr>
          <p:cNvPr id="3" name="文本占位符 2"/>
          <p:cNvSpPr>
            <a:spLocks noGrp="1"/>
          </p:cNvSpPr>
          <p:nvPr>
            <p:ph type="body" idx="1"/>
          </p:nvPr>
        </p:nvSpPr>
        <p:spPr>
          <a:xfrm>
            <a:off x="457200" y="1124744"/>
            <a:ext cx="8229600" cy="648072"/>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2.8  </a:t>
            </a:r>
            <a:r>
              <a:rPr lang="zh-CN" altLang="zh-CN" sz="2000" dirty="0"/>
              <a:t>查询作者是“王珊”，或者售价大于等于</a:t>
            </a:r>
            <a:r>
              <a:rPr lang="en-US" altLang="zh-CN" sz="2000" dirty="0"/>
              <a:t>15</a:t>
            </a:r>
            <a:r>
              <a:rPr lang="zh-CN" altLang="zh-CN" sz="2000" dirty="0"/>
              <a:t>且小于</a:t>
            </a:r>
            <a:r>
              <a:rPr lang="en-US" altLang="zh-CN" sz="2000" dirty="0"/>
              <a:t>25</a:t>
            </a:r>
            <a:r>
              <a:rPr lang="zh-CN" altLang="zh-CN" sz="2000" dirty="0"/>
              <a:t>的图书信息</a:t>
            </a:r>
            <a:endParaRPr lang="zh-CN" altLang="en-US" sz="2000" i="0" u="none" strike="noStrike" kern="100" baseline="0" dirty="0"/>
          </a:p>
        </p:txBody>
      </p:sp>
      <mc:AlternateContent xmlns:mc="http://schemas.openxmlformats.org/markup-compatibility/2006" xmlns:a14="http://schemas.microsoft.com/office/drawing/2010/main">
        <mc:Choice Requires="a14">
          <p:sp>
            <p:nvSpPr>
              <p:cNvPr id="7" name="矩形 6"/>
              <p:cNvSpPr/>
              <p:nvPr/>
            </p:nvSpPr>
            <p:spPr>
              <a:xfrm>
                <a:off x="1172350" y="2132856"/>
                <a:ext cx="7272808" cy="2939266"/>
              </a:xfrm>
              <a:prstGeom prst="rect">
                <a:avLst/>
              </a:prstGeom>
            </p:spPr>
            <p:txBody>
              <a:bodyPr wrap="square">
                <a:spAutoFit/>
              </a:bodyPr>
              <a:lstStyle/>
              <a:p>
                <a:r>
                  <a:rPr lang="zh-CN" altLang="zh-CN" dirty="0">
                    <a:solidFill>
                      <a:srgbClr val="0000FF"/>
                    </a:solidFill>
                    <a:latin typeface="微软雅黑" pitchFamily="34" charset="-122"/>
                    <a:ea typeface="微软雅黑" pitchFamily="34" charset="-122"/>
                  </a:rPr>
                  <a:t>关系代数：</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𝐵𝑁𝑎𝑚𝑒</m:t>
                          </m:r>
                          <m:r>
                            <a:rPr lang="en-US" altLang="zh-CN" i="1">
                              <a:latin typeface="Cambria Math"/>
                            </a:rPr>
                            <m:t>=" </m:t>
                          </m:r>
                          <m:r>
                            <a:rPr lang="zh-CN" altLang="zh-CN">
                              <a:latin typeface="Cambria Math"/>
                            </a:rPr>
                            <m:t>王珊</m:t>
                          </m:r>
                          <m:r>
                            <a:rPr lang="en-US" altLang="zh-CN" i="1">
                              <a:latin typeface="Cambria Math"/>
                            </a:rPr>
                            <m:t>"</m:t>
                          </m:r>
                          <m:r>
                            <a:rPr lang="zh-CN" altLang="zh-CN" i="1">
                              <a:latin typeface="Cambria Math"/>
                            </a:rPr>
                            <m:t>∨</m:t>
                          </m:r>
                          <m:r>
                            <a:rPr lang="en-US" altLang="zh-CN" i="1">
                              <a:latin typeface="Cambria Math"/>
                            </a:rPr>
                            <m:t>(</m:t>
                          </m:r>
                          <m:r>
                            <a:rPr lang="en-US" altLang="zh-CN" i="1">
                              <a:latin typeface="Cambria Math"/>
                            </a:rPr>
                            <m:t>𝑆𝑃𝑟𝑖𝑐𝑒</m:t>
                          </m:r>
                          <m:r>
                            <a:rPr lang="en-US" altLang="zh-CN" i="1">
                              <a:latin typeface="Cambria Math"/>
                            </a:rPr>
                            <m:t>≥15∧</m:t>
                          </m:r>
                          <m:r>
                            <a:rPr lang="en-US" altLang="zh-CN" i="1">
                              <a:latin typeface="Cambria Math"/>
                            </a:rPr>
                            <m:t>𝑆𝑃𝑟𝑖𝑐𝑒</m:t>
                          </m:r>
                          <m:r>
                            <a:rPr lang="en-US" altLang="zh-CN" i="1">
                              <a:latin typeface="Cambria Math"/>
                            </a:rPr>
                            <m:t>&lt;25)</m:t>
                          </m:r>
                        </m:sub>
                      </m:sSub>
                      <m:r>
                        <a:rPr lang="en-US" altLang="zh-CN" i="1">
                          <a:latin typeface="Cambria Math"/>
                        </a:rPr>
                        <m:t>(</m:t>
                      </m:r>
                      <m:r>
                        <a:rPr lang="en-US" altLang="zh-CN" i="1">
                          <a:latin typeface="Cambria Math"/>
                        </a:rPr>
                        <m:t>𝐵𝑜𝑜𝑘</m:t>
                      </m:r>
                      <m:r>
                        <a:rPr lang="en-US" altLang="zh-CN" i="1">
                          <a:latin typeface="Cambria Math"/>
                        </a:rPr>
                        <m:t>)</m:t>
                      </m:r>
                    </m:oMath>
                  </m:oMathPara>
                </a14:m>
                <a:endParaRPr lang="zh-CN" altLang="zh-CN" dirty="0"/>
              </a:p>
              <a:p>
                <a:endParaRPr lang="en-US" altLang="zh-CN" dirty="0"/>
              </a:p>
              <a:p>
                <a:r>
                  <a:rPr lang="zh-CN" altLang="zh-CN" dirty="0">
                    <a:solidFill>
                      <a:srgbClr val="0000FF"/>
                    </a:solidFill>
                    <a:latin typeface="微软雅黑" pitchFamily="34" charset="-122"/>
                    <a:ea typeface="微软雅黑" pitchFamily="34" charset="-122"/>
                  </a:rPr>
                  <a:t>元组演算：</a:t>
                </a:r>
              </a:p>
              <a:p>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a:rPr>
                            <m:t>𝑡</m:t>
                          </m:r>
                          <m:r>
                            <a:rPr lang="en-US" altLang="zh-CN" i="1">
                              <a:latin typeface="Cambria Math"/>
                            </a:rPr>
                            <m:t>|</m:t>
                          </m:r>
                          <m:r>
                            <a:rPr lang="en-US" altLang="zh-CN" i="1">
                              <a:latin typeface="Cambria Math"/>
                            </a:rPr>
                            <m:t>𝑡</m:t>
                          </m:r>
                          <m:r>
                            <a:rPr lang="en-US" altLang="zh-CN" i="1">
                              <a:latin typeface="Cambria Math"/>
                            </a:rPr>
                            <m:t>𝜖</m:t>
                          </m:r>
                          <m:r>
                            <a:rPr lang="en-US" altLang="zh-CN" i="1">
                              <a:latin typeface="Cambria Math"/>
                            </a:rPr>
                            <m:t>𝐵𝑜𝑜𝑘</m:t>
                          </m:r>
                          <m:r>
                            <a:rPr lang="zh-CN" altLang="zh-CN" i="1">
                              <a:latin typeface="Cambria Math"/>
                            </a:rPr>
                            <m:t>∧</m:t>
                          </m:r>
                          <m:r>
                            <a:rPr lang="en-US" altLang="zh-CN" i="1">
                              <a:latin typeface="Cambria Math"/>
                            </a:rPr>
                            <m:t>(</m:t>
                          </m:r>
                          <m:r>
                            <a:rPr lang="en-US" altLang="zh-CN" i="1">
                              <a:latin typeface="Cambria Math"/>
                            </a:rPr>
                            <m:t>𝑡</m:t>
                          </m:r>
                          <m:d>
                            <m:dPr>
                              <m:begChr m:val="["/>
                              <m:endChr m:val="]"/>
                              <m:ctrlPr>
                                <a:rPr lang="zh-CN" altLang="zh-CN" i="1">
                                  <a:latin typeface="Cambria Math" panose="02040503050406030204" pitchFamily="18" charset="0"/>
                                </a:rPr>
                              </m:ctrlPr>
                            </m:dPr>
                            <m:e>
                              <m:r>
                                <a:rPr lang="en-US" altLang="zh-CN" i="1">
                                  <a:latin typeface="Cambria Math"/>
                                </a:rPr>
                                <m:t>𝐴𝑢𝑡h𝑜𝑟</m:t>
                              </m:r>
                            </m:e>
                          </m:d>
                          <m:r>
                            <a:rPr lang="en-US" altLang="zh-CN" i="1">
                              <a:latin typeface="Cambria Math"/>
                            </a:rPr>
                            <m:t>="</m:t>
                          </m:r>
                          <m:r>
                            <m:rPr>
                              <m:nor/>
                            </m:rPr>
                            <a:rPr lang="zh-CN" altLang="zh-CN"/>
                            <m:t>王珊</m:t>
                          </m:r>
                          <m:r>
                            <m:rPr>
                              <m:nor/>
                            </m:rPr>
                            <a:rPr lang="en-US" altLang="zh-CN"/>
                            <m:t>"</m:t>
                          </m:r>
                          <m:r>
                            <a:rPr lang="zh-CN" altLang="zh-CN" i="1">
                              <a:latin typeface="Cambria Math"/>
                            </a:rPr>
                            <m:t>∨</m:t>
                          </m:r>
                          <m:d>
                            <m:dPr>
                              <m:ctrlPr>
                                <a:rPr lang="zh-CN" altLang="zh-CN" i="1">
                                  <a:latin typeface="Cambria Math" panose="02040503050406030204" pitchFamily="18" charset="0"/>
                                </a:rPr>
                              </m:ctrlPr>
                            </m:dPr>
                            <m:e>
                              <m:r>
                                <a:rPr lang="en-US" altLang="zh-CN" i="1">
                                  <a:latin typeface="Cambria Math"/>
                                </a:rPr>
                                <m:t>𝑡</m:t>
                              </m:r>
                              <m:d>
                                <m:dPr>
                                  <m:begChr m:val="["/>
                                  <m:endChr m:val="]"/>
                                  <m:ctrlPr>
                                    <a:rPr lang="zh-CN" altLang="zh-CN" i="1">
                                      <a:latin typeface="Cambria Math" panose="02040503050406030204" pitchFamily="18" charset="0"/>
                                    </a:rPr>
                                  </m:ctrlPr>
                                </m:dPr>
                                <m:e>
                                  <m:r>
                                    <a:rPr lang="en-US" altLang="zh-CN" i="1">
                                      <a:latin typeface="Cambria Math"/>
                                    </a:rPr>
                                    <m:t>𝑆𝑃𝑟𝑖𝑐𝑒</m:t>
                                  </m:r>
                                </m:e>
                              </m:d>
                              <m:r>
                                <a:rPr lang="en-US" altLang="zh-CN" i="1">
                                  <a:latin typeface="Cambria Math"/>
                                </a:rPr>
                                <m:t>≥15</m:t>
                              </m:r>
                              <m:r>
                                <a:rPr lang="zh-CN" altLang="zh-CN" i="1">
                                  <a:latin typeface="Cambria Math"/>
                                </a:rPr>
                                <m:t>∧</m:t>
                              </m:r>
                              <m:r>
                                <a:rPr lang="en-US" altLang="zh-CN" i="1">
                                  <a:latin typeface="Cambria Math"/>
                                </a:rPr>
                                <m:t>𝑡</m:t>
                              </m:r>
                              <m:d>
                                <m:dPr>
                                  <m:begChr m:val="["/>
                                  <m:endChr m:val="]"/>
                                  <m:ctrlPr>
                                    <a:rPr lang="zh-CN" altLang="zh-CN" i="1">
                                      <a:latin typeface="Cambria Math" panose="02040503050406030204" pitchFamily="18" charset="0"/>
                                    </a:rPr>
                                  </m:ctrlPr>
                                </m:dPr>
                                <m:e>
                                  <m:r>
                                    <a:rPr lang="en-US" altLang="zh-CN" i="1">
                                      <a:latin typeface="Cambria Math"/>
                                    </a:rPr>
                                    <m:t>𝑆𝑃𝑟𝑖𝑐𝑒</m:t>
                                  </m:r>
                                </m:e>
                              </m:d>
                              <m:r>
                                <a:rPr lang="en-US" altLang="zh-CN" i="1">
                                  <a:latin typeface="Cambria Math"/>
                                </a:rPr>
                                <m:t>&lt;25</m:t>
                              </m:r>
                            </m:e>
                          </m:d>
                          <m:r>
                            <a:rPr lang="en-US" altLang="zh-CN" i="1">
                              <a:latin typeface="Cambria Math"/>
                            </a:rPr>
                            <m:t>)</m:t>
                          </m:r>
                        </m:e>
                      </m:d>
                    </m:oMath>
                  </m:oMathPara>
                </a14:m>
                <a:endParaRPr lang="zh-CN" altLang="zh-CN" dirty="0"/>
              </a:p>
              <a:p>
                <a:endParaRPr lang="en-US" altLang="zh-CN" dirty="0"/>
              </a:p>
              <a:p>
                <a:r>
                  <a:rPr lang="zh-CN" altLang="zh-CN" dirty="0"/>
                  <a:t>域演算：</a:t>
                </a:r>
              </a:p>
              <a:p>
                <a14:m>
                  <m:oMath xmlns:m="http://schemas.openxmlformats.org/officeDocument/2006/math">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a:rPr>
                              <m:t>𝐵𝑁𝑜</m:t>
                            </m:r>
                            <m:r>
                              <a:rPr lang="en-US" altLang="zh-CN">
                                <a:latin typeface="Cambria Math"/>
                              </a:rPr>
                              <m:t>,</m:t>
                            </m:r>
                            <m:r>
                              <a:rPr lang="en-US" altLang="zh-CN" i="1">
                                <a:latin typeface="Cambria Math"/>
                              </a:rPr>
                              <m:t>𝐵𝑁𝑎𝑚𝑒</m:t>
                            </m:r>
                            <m:r>
                              <a:rPr lang="en-US" altLang="zh-CN">
                                <a:latin typeface="Cambria Math"/>
                              </a:rPr>
                              <m:t>,</m:t>
                            </m:r>
                            <m:r>
                              <a:rPr lang="en-US" altLang="zh-CN" i="1">
                                <a:latin typeface="Cambria Math"/>
                              </a:rPr>
                              <m:t>𝐴𝑢𝑡h𝑜𝑟</m:t>
                            </m:r>
                            <m:r>
                              <a:rPr lang="en-US" altLang="zh-CN">
                                <a:latin typeface="Cambria Math"/>
                              </a:rPr>
                              <m:t>,</m:t>
                            </m:r>
                            <m:r>
                              <a:rPr lang="en-US" altLang="zh-CN" i="1">
                                <a:latin typeface="Cambria Math"/>
                              </a:rPr>
                              <m:t>𝑃𝑁𝑜</m:t>
                            </m:r>
                            <m:r>
                              <a:rPr lang="en-US" altLang="zh-CN">
                                <a:latin typeface="Cambria Math"/>
                              </a:rPr>
                              <m:t>,</m:t>
                            </m:r>
                            <m:r>
                              <a:rPr lang="en-US" altLang="zh-CN" i="1">
                                <a:latin typeface="Cambria Math"/>
                              </a:rPr>
                              <m:t>𝐸𝑑𝑖𝑡𝑁𝑜</m:t>
                            </m:r>
                            <m:r>
                              <a:rPr lang="en-US" altLang="zh-CN">
                                <a:latin typeface="Cambria Math"/>
                              </a:rPr>
                              <m:t>,</m:t>
                            </m:r>
                            <m:r>
                              <a:rPr lang="en-US" altLang="zh-CN" i="1">
                                <a:latin typeface="Cambria Math"/>
                              </a:rPr>
                              <m:t>𝑃𝑟𝑖𝑐𝑒</m:t>
                            </m:r>
                            <m:r>
                              <a:rPr lang="en-US" altLang="zh-CN">
                                <a:latin typeface="Cambria Math"/>
                              </a:rPr>
                              <m:t>,</m:t>
                            </m:r>
                            <m:r>
                              <a:rPr lang="en-US" altLang="zh-CN" i="1">
                                <a:latin typeface="Cambria Math"/>
                              </a:rPr>
                              <m:t>𝑃𝑃𝑟𝑖𝑐𝑒</m:t>
                            </m:r>
                            <m:r>
                              <a:rPr lang="en-US" altLang="zh-CN">
                                <a:latin typeface="Cambria Math"/>
                              </a:rPr>
                              <m:t>,</m:t>
                            </m:r>
                            <m:r>
                              <a:rPr lang="en-US" altLang="zh-CN" i="1">
                                <a:latin typeface="Cambria Math"/>
                              </a:rPr>
                              <m:t>𝑆𝑃𝑟𝑖𝑐𝑒</m:t>
                            </m:r>
                          </m:e>
                        </m:d>
                        <m:r>
                          <a:rPr lang="en-US" altLang="zh-CN" i="1">
                            <a:latin typeface="Cambria Math"/>
                          </a:rPr>
                          <m:t>|                          </m:t>
                        </m:r>
                      </m:e>
                    </m:d>
                  </m:oMath>
                </a14:m>
                <a:r>
                  <a:rPr lang="en-US" altLang="zh-CN" dirty="0"/>
                  <a:t> </a:t>
                </a:r>
                <a:endParaRPr lang="zh-CN" altLang="zh-CN" dirty="0"/>
              </a:p>
              <a:p>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a:rPr>
                            <m:t>𝐵𝑁𝑜</m:t>
                          </m:r>
                          <m:r>
                            <a:rPr lang="en-US" altLang="zh-CN">
                              <a:latin typeface="Cambria Math"/>
                            </a:rPr>
                            <m:t>,</m:t>
                          </m:r>
                          <m:r>
                            <a:rPr lang="en-US" altLang="zh-CN" i="1">
                              <a:latin typeface="Cambria Math"/>
                            </a:rPr>
                            <m:t>𝐵𝑁𝑎𝑚𝑒</m:t>
                          </m:r>
                          <m:r>
                            <a:rPr lang="en-US" altLang="zh-CN">
                              <a:latin typeface="Cambria Math"/>
                            </a:rPr>
                            <m:t>,</m:t>
                          </m:r>
                          <m:r>
                            <a:rPr lang="en-US" altLang="zh-CN" i="1">
                              <a:latin typeface="Cambria Math"/>
                            </a:rPr>
                            <m:t>𝐴𝑢𝑡h𝑜𝑟</m:t>
                          </m:r>
                          <m:r>
                            <a:rPr lang="en-US" altLang="zh-CN">
                              <a:latin typeface="Cambria Math"/>
                            </a:rPr>
                            <m:t>,</m:t>
                          </m:r>
                          <m:r>
                            <a:rPr lang="en-US" altLang="zh-CN" i="1">
                              <a:latin typeface="Cambria Math"/>
                            </a:rPr>
                            <m:t>𝑃𝑁𝑜</m:t>
                          </m:r>
                          <m:r>
                            <a:rPr lang="en-US" altLang="zh-CN">
                              <a:latin typeface="Cambria Math"/>
                            </a:rPr>
                            <m:t>,</m:t>
                          </m:r>
                          <m:r>
                            <a:rPr lang="en-US" altLang="zh-CN" i="1">
                              <a:latin typeface="Cambria Math"/>
                            </a:rPr>
                            <m:t>𝐸𝑑𝑖𝑡𝑁𝑜</m:t>
                          </m:r>
                          <m:r>
                            <a:rPr lang="en-US" altLang="zh-CN">
                              <a:latin typeface="Cambria Math"/>
                            </a:rPr>
                            <m:t>,</m:t>
                          </m:r>
                          <m:r>
                            <a:rPr lang="en-US" altLang="zh-CN" i="1">
                              <a:latin typeface="Cambria Math"/>
                            </a:rPr>
                            <m:t>𝑃𝑟𝑖𝑐𝑒</m:t>
                          </m:r>
                          <m:r>
                            <a:rPr lang="en-US" altLang="zh-CN">
                              <a:latin typeface="Cambria Math"/>
                            </a:rPr>
                            <m:t>,</m:t>
                          </m:r>
                          <m:r>
                            <a:rPr lang="en-US" altLang="zh-CN" i="1">
                              <a:latin typeface="Cambria Math"/>
                            </a:rPr>
                            <m:t>𝑃𝑃𝑟𝑖𝑐𝑒</m:t>
                          </m:r>
                          <m:r>
                            <a:rPr lang="en-US" altLang="zh-CN">
                              <a:latin typeface="Cambria Math"/>
                            </a:rPr>
                            <m:t>,</m:t>
                          </m:r>
                          <m:r>
                            <a:rPr lang="en-US" altLang="zh-CN" i="1">
                              <a:latin typeface="Cambria Math"/>
                            </a:rPr>
                            <m:t>𝑆𝑃𝑟𝑖𝑐𝑒</m:t>
                          </m:r>
                        </m:e>
                      </m:d>
                      <m:r>
                        <a:rPr lang="en-US" altLang="zh-CN" i="1">
                          <a:latin typeface="Cambria Math"/>
                        </a:rPr>
                        <m:t>𝜖</m:t>
                      </m:r>
                      <m:r>
                        <a:rPr lang="en-US" altLang="zh-CN" i="1">
                          <a:latin typeface="Cambria Math"/>
                        </a:rPr>
                        <m:t>𝐵𝑜𝑜𝑘</m:t>
                      </m:r>
                      <m:r>
                        <a:rPr lang="zh-CN" altLang="zh-CN" i="1">
                          <a:latin typeface="Cambria Math"/>
                        </a:rPr>
                        <m:t>∧</m:t>
                      </m:r>
                    </m:oMath>
                  </m:oMathPara>
                </a14:m>
                <a:endParaRPr lang="zh-CN" altLang="zh-CN" dirty="0"/>
              </a:p>
              <a:p>
                <a:pPr/>
                <a14:m>
                  <m:oMathPara xmlns:m="http://schemas.openxmlformats.org/officeDocument/2006/math">
                    <m:oMathParaPr>
                      <m:jc m:val="centerGroup"/>
                    </m:oMathParaPr>
                    <m:oMath xmlns:m="http://schemas.openxmlformats.org/officeDocument/2006/math">
                      <m:r>
                        <a:rPr lang="en-US" altLang="zh-CN" i="1">
                          <a:latin typeface="Cambria Math"/>
                        </a:rPr>
                        <m:t>(</m:t>
                      </m:r>
                      <m:r>
                        <a:rPr lang="en-US" altLang="zh-CN" i="1">
                          <a:latin typeface="Cambria Math"/>
                        </a:rPr>
                        <m:t>𝐴𝑢𝑡h𝑜𝑟</m:t>
                      </m:r>
                      <m:r>
                        <a:rPr lang="en-US" altLang="zh-CN" i="1">
                          <a:latin typeface="Cambria Math"/>
                        </a:rPr>
                        <m:t>="</m:t>
                      </m:r>
                      <m:r>
                        <m:rPr>
                          <m:nor/>
                        </m:rPr>
                        <a:rPr lang="en-US" altLang="zh-CN"/>
                        <m:t> </m:t>
                      </m:r>
                      <m:r>
                        <m:rPr>
                          <m:nor/>
                        </m:rPr>
                        <a:rPr lang="zh-CN" altLang="zh-CN"/>
                        <m:t>王珊</m:t>
                      </m:r>
                      <m:r>
                        <m:rPr>
                          <m:nor/>
                        </m:rPr>
                        <a:rPr lang="en-US" altLang="zh-CN"/>
                        <m:t>"</m:t>
                      </m:r>
                      <m:r>
                        <a:rPr lang="zh-CN" altLang="zh-CN" i="1">
                          <a:latin typeface="Cambria Math"/>
                        </a:rPr>
                        <m:t>∨</m:t>
                      </m:r>
                      <m:d>
                        <m:dPr>
                          <m:ctrlPr>
                            <a:rPr lang="zh-CN" altLang="zh-CN" i="1">
                              <a:latin typeface="Cambria Math" panose="02040503050406030204" pitchFamily="18" charset="0"/>
                            </a:rPr>
                          </m:ctrlPr>
                        </m:dPr>
                        <m:e>
                          <m:r>
                            <a:rPr lang="en-US" altLang="zh-CN" i="1">
                              <a:latin typeface="Cambria Math"/>
                            </a:rPr>
                            <m:t>𝑆𝑃𝑟𝑖𝑐𝑒</m:t>
                          </m:r>
                          <m:r>
                            <a:rPr lang="en-US" altLang="zh-CN" i="1">
                              <a:latin typeface="Cambria Math"/>
                            </a:rPr>
                            <m:t>≥15∧</m:t>
                          </m:r>
                          <m:r>
                            <a:rPr lang="en-US" altLang="zh-CN" i="1">
                              <a:latin typeface="Cambria Math"/>
                            </a:rPr>
                            <m:t>𝑆𝑃𝑟𝑖𝑐𝑒</m:t>
                          </m:r>
                          <m:r>
                            <a:rPr lang="en-US" altLang="zh-CN" i="1">
                              <a:latin typeface="Cambria Math"/>
                            </a:rPr>
                            <m:t>&lt;25</m:t>
                          </m:r>
                        </m:e>
                      </m:d>
                      <m:r>
                        <a:rPr lang="en-US" altLang="zh-CN" i="1">
                          <a:latin typeface="Cambria Math"/>
                        </a:rPr>
                        <m:t>)</m:t>
                      </m:r>
                    </m:oMath>
                  </m:oMathPara>
                </a14:m>
                <a:endParaRPr lang="zh-CN" altLang="zh-CN" dirty="0"/>
              </a:p>
            </p:txBody>
          </p:sp>
        </mc:Choice>
        <mc:Fallback xmlns="">
          <p:sp>
            <p:nvSpPr>
              <p:cNvPr id="7" name="矩形 6"/>
              <p:cNvSpPr>
                <a:spLocks noRot="1" noChangeAspect="1" noMove="1" noResize="1" noEditPoints="1" noAdjustHandles="1" noChangeArrowheads="1" noChangeShapeType="1" noTextEdit="1"/>
              </p:cNvSpPr>
              <p:nvPr/>
            </p:nvSpPr>
            <p:spPr>
              <a:xfrm>
                <a:off x="1172350" y="2132856"/>
                <a:ext cx="7272808" cy="2939266"/>
              </a:xfrm>
              <a:prstGeom prst="rect">
                <a:avLst/>
              </a:prstGeom>
              <a:blipFill rotWithShape="1">
                <a:blip r:embed="rId2"/>
                <a:stretch>
                  <a:fillRect l="-4778" t="-1037" r="-1257" b="-456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3CF7867-FF94-1E48-8C62-5286D5CF3CB6}"/>
              </a:ext>
            </a:extLst>
          </p:cNvPr>
          <p:cNvSpPr>
            <a:spLocks noGrp="1"/>
          </p:cNvSpPr>
          <p:nvPr>
            <p:ph type="sldNum" sz="quarter" idx="12"/>
          </p:nvPr>
        </p:nvSpPr>
        <p:spPr/>
        <p:txBody>
          <a:bodyPr/>
          <a:lstStyle/>
          <a:p>
            <a:fld id="{C46E5E69-9A6D-4AF8-BC2D-C556A9893D8F}" type="slidenum">
              <a:rPr lang="zh-CN" altLang="en-US" smtClean="0"/>
              <a:pPr/>
              <a:t>23</a:t>
            </a:fld>
            <a:endParaRPr lang="zh-CN" altLang="en-US" dirty="0"/>
          </a:p>
        </p:txBody>
      </p:sp>
    </p:spTree>
    <p:extLst>
      <p:ext uri="{BB962C8B-B14F-4D97-AF65-F5344CB8AC3E}">
        <p14:creationId xmlns:p14="http://schemas.microsoft.com/office/powerpoint/2010/main" val="1883744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2.3.2  </a:t>
            </a:r>
            <a:r>
              <a:rPr lang="zh-CN" altLang="zh-CN" dirty="0"/>
              <a:t>投影</a:t>
            </a:r>
            <a:endParaRPr lang="zh-CN" altLang="en-US" i="0" u="none" strike="noStrike" kern="2200" baseline="0" dirty="0"/>
          </a:p>
        </p:txBody>
      </p:sp>
      <p:sp>
        <p:nvSpPr>
          <p:cNvPr id="3" name="文本占位符 2"/>
          <p:cNvSpPr>
            <a:spLocks noGrp="1"/>
          </p:cNvSpPr>
          <p:nvPr>
            <p:ph type="body" idx="1"/>
          </p:nvPr>
        </p:nvSpPr>
        <p:spPr>
          <a:xfrm>
            <a:off x="179512" y="980728"/>
            <a:ext cx="8784976" cy="5112568"/>
          </a:xfrm>
        </p:spPr>
        <p:txBody>
          <a:bodyPr>
            <a:noAutofit/>
          </a:bodyPr>
          <a:lstStyle/>
          <a:p>
            <a:r>
              <a:rPr lang="zh-CN" altLang="zh-CN" sz="2000" dirty="0">
                <a:solidFill>
                  <a:srgbClr val="0000FF"/>
                </a:solidFill>
              </a:rPr>
              <a:t>投影（</a:t>
            </a:r>
            <a:r>
              <a:rPr lang="en-US" altLang="zh-CN" sz="2000" dirty="0"/>
              <a:t>Projection</a:t>
            </a:r>
            <a:r>
              <a:rPr lang="zh-CN" altLang="zh-CN" sz="2000" dirty="0"/>
              <a:t>）：在</a:t>
            </a:r>
            <a:r>
              <a:rPr lang="en-US" altLang="zh-CN" sz="2000" dirty="0"/>
              <a:t>R</a:t>
            </a:r>
            <a:r>
              <a:rPr lang="zh-CN" altLang="zh-CN" sz="2000" dirty="0"/>
              <a:t>中选择出若干属性列组成的关系</a:t>
            </a:r>
          </a:p>
          <a:p>
            <a:r>
              <a:rPr lang="zh-CN" altLang="zh-CN" sz="2000" dirty="0">
                <a:solidFill>
                  <a:srgbClr val="0000FF"/>
                </a:solidFill>
              </a:rPr>
              <a:t>关系代数</a:t>
            </a:r>
            <a:r>
              <a:rPr lang="zh-CN" altLang="zh-CN" sz="2000" dirty="0"/>
              <a:t>：</a:t>
            </a:r>
          </a:p>
          <a:p>
            <a:r>
              <a:rPr lang="zh-CN" altLang="zh-CN" sz="2000" dirty="0">
                <a:solidFill>
                  <a:srgbClr val="0000FF"/>
                </a:solidFill>
              </a:rPr>
              <a:t>属性</a:t>
            </a:r>
            <a:r>
              <a:rPr lang="zh-CN" altLang="en-US" sz="2000" dirty="0"/>
              <a:t>：</a:t>
            </a:r>
            <a:r>
              <a:rPr lang="zh-CN" altLang="zh-CN" sz="2000" i="1" dirty="0"/>
              <a:t>A</a:t>
            </a:r>
            <a:r>
              <a:rPr lang="zh-CN" altLang="zh-CN" sz="2000" dirty="0"/>
              <a:t>中的属性</a:t>
            </a:r>
          </a:p>
          <a:p>
            <a:r>
              <a:rPr lang="zh-CN" altLang="zh-CN" sz="2000" dirty="0">
                <a:solidFill>
                  <a:srgbClr val="0000FF"/>
                </a:solidFill>
              </a:rPr>
              <a:t>分量个数</a:t>
            </a:r>
            <a:r>
              <a:rPr lang="zh-CN" altLang="zh-CN" sz="2000" dirty="0"/>
              <a:t>：等于</a:t>
            </a:r>
            <a:r>
              <a:rPr lang="zh-CN" altLang="zh-CN" sz="2000" i="1" dirty="0"/>
              <a:t>A</a:t>
            </a:r>
            <a:r>
              <a:rPr lang="zh-CN" altLang="zh-CN" sz="2000" dirty="0"/>
              <a:t>中的属性的个数。</a:t>
            </a:r>
          </a:p>
          <a:p>
            <a:r>
              <a:rPr lang="zh-CN" altLang="zh-CN" sz="2000" dirty="0">
                <a:solidFill>
                  <a:srgbClr val="0000FF"/>
                </a:solidFill>
              </a:rPr>
              <a:t>元组个数</a:t>
            </a:r>
            <a:r>
              <a:rPr lang="zh-CN" altLang="zh-CN" sz="2000" dirty="0"/>
              <a:t>：小于等于</a:t>
            </a:r>
            <a:r>
              <a:rPr lang="en-US" altLang="zh-CN" sz="2000" dirty="0"/>
              <a:t>k1</a:t>
            </a:r>
            <a:r>
              <a:rPr lang="zh-CN" altLang="zh-CN" sz="2000" dirty="0"/>
              <a:t>。</a:t>
            </a:r>
            <a:r>
              <a:rPr lang="en-US" altLang="zh-CN" sz="2000" dirty="0"/>
              <a:t>k1</a:t>
            </a:r>
            <a:r>
              <a:rPr lang="zh-CN" altLang="zh-CN" sz="2000" dirty="0"/>
              <a:t>是</a:t>
            </a:r>
            <a:r>
              <a:rPr lang="en-US" altLang="zh-CN" sz="2000" dirty="0"/>
              <a:t>R</a:t>
            </a:r>
            <a:r>
              <a:rPr lang="zh-CN" altLang="zh-CN" sz="2000" dirty="0"/>
              <a:t>的元组的个数。因为要去掉重复元组。</a:t>
            </a:r>
          </a:p>
          <a:p>
            <a:r>
              <a:rPr lang="zh-CN" altLang="zh-CN" sz="2000" dirty="0">
                <a:solidFill>
                  <a:srgbClr val="0000FF"/>
                </a:solidFill>
              </a:rPr>
              <a:t>元组关系演算</a:t>
            </a:r>
            <a:r>
              <a:rPr lang="zh-CN" altLang="zh-CN" sz="2000" dirty="0"/>
              <a:t>：</a:t>
            </a:r>
          </a:p>
          <a:p>
            <a:r>
              <a:rPr lang="zh-CN" altLang="zh-CN" sz="2000" dirty="0"/>
              <a:t>域关系演算：</a:t>
            </a:r>
          </a:p>
        </p:txBody>
      </p:sp>
      <p:graphicFrame>
        <p:nvGraphicFramePr>
          <p:cNvPr id="7" name="对象 6"/>
          <p:cNvGraphicFramePr>
            <a:graphicFrameLocks noChangeAspect="1"/>
          </p:cNvGraphicFramePr>
          <p:nvPr>
            <p:extLst>
              <p:ext uri="{D42A27DB-BD31-4B8C-83A1-F6EECF244321}">
                <p14:modId xmlns:p14="http://schemas.microsoft.com/office/powerpoint/2010/main" val="3196702786"/>
              </p:ext>
            </p:extLst>
          </p:nvPr>
        </p:nvGraphicFramePr>
        <p:xfrm>
          <a:off x="5220072" y="1556792"/>
          <a:ext cx="2689225" cy="431800"/>
        </p:xfrm>
        <a:graphic>
          <a:graphicData uri="http://schemas.openxmlformats.org/presentationml/2006/ole">
            <mc:AlternateContent xmlns:mc="http://schemas.openxmlformats.org/markup-compatibility/2006">
              <mc:Choice xmlns:v="urn:schemas-microsoft-com:vml" Requires="v">
                <p:oleObj spid="_x0000_s12665" name="公式" r:id="rId3" imgW="1066800" imgH="228600" progId="Equation.3">
                  <p:embed/>
                </p:oleObj>
              </mc:Choice>
              <mc:Fallback>
                <p:oleObj name="公式" r:id="rId3" imgW="1066800" imgH="228600" progId="Equation.3">
                  <p:embed/>
                  <p:pic>
                    <p:nvPicPr>
                      <p:cNvPr id="0"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1556792"/>
                        <a:ext cx="2689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991596846"/>
              </p:ext>
            </p:extLst>
          </p:nvPr>
        </p:nvGraphicFramePr>
        <p:xfrm>
          <a:off x="2195736" y="1484784"/>
          <a:ext cx="864096" cy="441649"/>
        </p:xfrm>
        <a:graphic>
          <a:graphicData uri="http://schemas.openxmlformats.org/presentationml/2006/ole">
            <mc:AlternateContent xmlns:mc="http://schemas.openxmlformats.org/markup-compatibility/2006">
              <mc:Choice xmlns:v="urn:schemas-microsoft-com:vml" Requires="v">
                <p:oleObj spid="_x0000_s12666" name="公式" r:id="rId5" imgW="368300" imgH="190500" progId="Equation.3">
                  <p:embed/>
                </p:oleObj>
              </mc:Choice>
              <mc:Fallback>
                <p:oleObj name="公式" r:id="rId5" imgW="368300" imgH="190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1484784"/>
                        <a:ext cx="864096" cy="441649"/>
                      </a:xfrm>
                      <a:prstGeom prst="rect">
                        <a:avLst/>
                      </a:prstGeom>
                      <a:noFill/>
                    </p:spPr>
                  </p:pic>
                </p:oleObj>
              </mc:Fallback>
            </mc:AlternateContent>
          </a:graphicData>
        </a:graphic>
      </p:graphicFrame>
      <p:sp>
        <p:nvSpPr>
          <p:cNvPr id="1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44872941"/>
              </p:ext>
            </p:extLst>
          </p:nvPr>
        </p:nvGraphicFramePr>
        <p:xfrm>
          <a:off x="2555775" y="3356992"/>
          <a:ext cx="3243491" cy="504056"/>
        </p:xfrm>
        <a:graphic>
          <a:graphicData uri="http://schemas.openxmlformats.org/presentationml/2006/ole">
            <mc:AlternateContent xmlns:mc="http://schemas.openxmlformats.org/markup-compatibility/2006">
              <mc:Choice xmlns:v="urn:schemas-microsoft-com:vml" Requires="v">
                <p:oleObj spid="_x0000_s12667" name="公式" r:id="rId7" imgW="1206500" imgH="190500" progId="Equation.3">
                  <p:embed/>
                </p:oleObj>
              </mc:Choice>
              <mc:Fallback>
                <p:oleObj name="公式" r:id="rId7" imgW="1206500" imgH="190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775" y="3356992"/>
                        <a:ext cx="3243491" cy="504056"/>
                      </a:xfrm>
                      <a:prstGeom prst="rect">
                        <a:avLst/>
                      </a:prstGeom>
                      <a:noFill/>
                    </p:spPr>
                  </p:pic>
                </p:oleObj>
              </mc:Fallback>
            </mc:AlternateContent>
          </a:graphicData>
        </a:graphic>
      </p:graphicFrame>
      <p:sp>
        <p:nvSpPr>
          <p:cNvPr id="12"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328089134"/>
              </p:ext>
            </p:extLst>
          </p:nvPr>
        </p:nvGraphicFramePr>
        <p:xfrm>
          <a:off x="219884" y="4365104"/>
          <a:ext cx="8704231" cy="481657"/>
        </p:xfrm>
        <a:graphic>
          <a:graphicData uri="http://schemas.openxmlformats.org/presentationml/2006/ole">
            <mc:AlternateContent xmlns:mc="http://schemas.openxmlformats.org/markup-compatibility/2006">
              <mc:Choice xmlns:v="urn:schemas-microsoft-com:vml" Requires="v">
                <p:oleObj spid="_x0000_s12668" name="公式" r:id="rId9" imgW="4457700" imgH="241300" progId="Equation.3">
                  <p:embed/>
                </p:oleObj>
              </mc:Choice>
              <mc:Fallback>
                <p:oleObj name="公式" r:id="rId9" imgW="4457700" imgH="241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884" y="4365104"/>
                        <a:ext cx="8704231" cy="481657"/>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5DAF525C-CF5B-A54B-8097-FDEF47C698D2}"/>
              </a:ext>
            </a:extLst>
          </p:cNvPr>
          <p:cNvSpPr>
            <a:spLocks noGrp="1"/>
          </p:cNvSpPr>
          <p:nvPr>
            <p:ph type="sldNum" sz="quarter" idx="12"/>
          </p:nvPr>
        </p:nvSpPr>
        <p:spPr/>
        <p:txBody>
          <a:bodyPr/>
          <a:lstStyle/>
          <a:p>
            <a:fld id="{C46E5E69-9A6D-4AF8-BC2D-C556A9893D8F}" type="slidenum">
              <a:rPr lang="zh-CN" altLang="en-US" smtClean="0"/>
              <a:pPr/>
              <a:t>24</a:t>
            </a:fld>
            <a:endParaRPr lang="zh-CN" altLang="en-US" dirty="0"/>
          </a:p>
        </p:txBody>
      </p:sp>
    </p:spTree>
    <p:extLst>
      <p:ext uri="{BB962C8B-B14F-4D97-AF65-F5344CB8AC3E}">
        <p14:creationId xmlns:p14="http://schemas.microsoft.com/office/powerpoint/2010/main" val="3951362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2.3.2  </a:t>
            </a:r>
            <a:r>
              <a:rPr lang="zh-CN" altLang="zh-CN" dirty="0"/>
              <a:t>投影</a:t>
            </a:r>
            <a:endParaRPr lang="zh-CN" altLang="en-US" i="0" u="none" strike="noStrike" kern="2200" baseline="0" dirty="0"/>
          </a:p>
        </p:txBody>
      </p:sp>
      <p:sp>
        <p:nvSpPr>
          <p:cNvPr id="3" name="文本占位符 2"/>
          <p:cNvSpPr>
            <a:spLocks noGrp="1"/>
          </p:cNvSpPr>
          <p:nvPr>
            <p:ph type="body" idx="1"/>
          </p:nvPr>
        </p:nvSpPr>
        <p:spPr>
          <a:xfrm>
            <a:off x="457200" y="1124744"/>
            <a:ext cx="8229600" cy="576064"/>
          </a:xfrm>
        </p:spPr>
        <p:txBody>
          <a:bodyPr>
            <a:noAutofit/>
          </a:bodyPr>
          <a:lstStyle/>
          <a:p>
            <a:pPr marL="0" lvl="0" indent="0">
              <a:buNone/>
            </a:pPr>
            <a:r>
              <a:rPr lang="zh-CN" altLang="zh-CN" sz="2000" dirty="0">
                <a:solidFill>
                  <a:srgbClr val="0000FF"/>
                </a:solidFill>
              </a:rPr>
              <a:t>例</a:t>
            </a:r>
            <a:r>
              <a:rPr lang="en-US" altLang="zh-CN" sz="2000" dirty="0">
                <a:solidFill>
                  <a:srgbClr val="0000FF"/>
                </a:solidFill>
              </a:rPr>
              <a:t>2.9 </a:t>
            </a:r>
            <a:r>
              <a:rPr lang="zh-CN" altLang="zh-CN" sz="2000" dirty="0"/>
              <a:t>从关系</a:t>
            </a:r>
            <a:r>
              <a:rPr lang="en-US" altLang="zh-CN" sz="2000" dirty="0"/>
              <a:t>R</a:t>
            </a:r>
            <a:r>
              <a:rPr lang="zh-CN" altLang="zh-CN" sz="2000" dirty="0"/>
              <a:t>中，查询所有人的姓名和性别</a:t>
            </a:r>
            <a:endParaRPr lang="zh-CN" altLang="en-US" sz="2000" kern="100" dirty="0"/>
          </a:p>
        </p:txBody>
      </p:sp>
      <p:grpSp>
        <p:nvGrpSpPr>
          <p:cNvPr id="8" name="组合 7"/>
          <p:cNvGrpSpPr>
            <a:grpSpLocks/>
          </p:cNvGrpSpPr>
          <p:nvPr/>
        </p:nvGrpSpPr>
        <p:grpSpPr bwMode="auto">
          <a:xfrm>
            <a:off x="506675" y="2027820"/>
            <a:ext cx="4214946" cy="2137132"/>
            <a:chOff x="6003" y="7614"/>
            <a:chExt cx="2262" cy="1288"/>
          </a:xfrm>
        </p:grpSpPr>
        <p:sp>
          <p:nvSpPr>
            <p:cNvPr id="12" name="Text Box 494"/>
            <p:cNvSpPr txBox="1">
              <a:spLocks noChangeArrowheads="1"/>
            </p:cNvSpPr>
            <p:nvPr/>
          </p:nvSpPr>
          <p:spPr bwMode="auto">
            <a:xfrm>
              <a:off x="6003" y="7614"/>
              <a:ext cx="2256" cy="128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2000" dirty="0">
                  <a:effectLst/>
                  <a:latin typeface="微软雅黑" pitchFamily="34" charset="-122"/>
                  <a:ea typeface="微软雅黑" pitchFamily="34" charset="-122"/>
                  <a:cs typeface="宋体"/>
                </a:rPr>
                <a:t>姓名</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性别</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年龄</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成绩</a:t>
              </a:r>
            </a:p>
            <a:p>
              <a:pPr indent="127000" algn="ctr">
                <a:lnSpc>
                  <a:spcPts val="2600"/>
                </a:lnSpc>
                <a:spcAft>
                  <a:spcPts val="0"/>
                </a:spcAft>
              </a:pPr>
              <a:r>
                <a:rPr lang="en-US" sz="2000" dirty="0">
                  <a:effectLst/>
                  <a:latin typeface="微软雅黑" pitchFamily="34" charset="-122"/>
                  <a:ea typeface="微软雅黑" pitchFamily="34" charset="-122"/>
                  <a:cs typeface="宋体"/>
                </a:rPr>
                <a:t> </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张军</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男</a:t>
              </a:r>
              <a:r>
                <a:rPr lang="en-US" sz="2000" dirty="0">
                  <a:effectLst/>
                  <a:latin typeface="微软雅黑" pitchFamily="34" charset="-122"/>
                  <a:ea typeface="微软雅黑" pitchFamily="34" charset="-122"/>
                  <a:cs typeface="宋体"/>
                </a:rPr>
                <a:t>     18     88</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李明</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男</a:t>
              </a:r>
              <a:r>
                <a:rPr lang="en-US" sz="2000" dirty="0">
                  <a:effectLst/>
                  <a:latin typeface="微软雅黑" pitchFamily="34" charset="-122"/>
                  <a:ea typeface="微软雅黑" pitchFamily="34" charset="-122"/>
                  <a:cs typeface="宋体"/>
                </a:rPr>
                <a:t>     16     99</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王海</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女</a:t>
              </a:r>
              <a:r>
                <a:rPr lang="en-US" sz="2000" dirty="0">
                  <a:effectLst/>
                  <a:latin typeface="微软雅黑" pitchFamily="34" charset="-122"/>
                  <a:ea typeface="微软雅黑" pitchFamily="34" charset="-122"/>
                  <a:cs typeface="宋体"/>
                </a:rPr>
                <a:t>     19     96</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孙丽</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女</a:t>
              </a:r>
              <a:r>
                <a:rPr lang="en-US" sz="2000" dirty="0">
                  <a:effectLst/>
                  <a:latin typeface="微软雅黑" pitchFamily="34" charset="-122"/>
                  <a:ea typeface="微软雅黑" pitchFamily="34" charset="-122"/>
                  <a:cs typeface="宋体"/>
                </a:rPr>
                <a:t>     18     98</a:t>
              </a:r>
              <a:endParaRPr lang="zh-CN" sz="2000" dirty="0">
                <a:effectLst/>
                <a:latin typeface="微软雅黑" pitchFamily="34" charset="-122"/>
                <a:ea typeface="微软雅黑" pitchFamily="34" charset="-122"/>
                <a:cs typeface="宋体"/>
              </a:endParaRPr>
            </a:p>
          </p:txBody>
        </p:sp>
        <p:cxnSp>
          <p:nvCxnSpPr>
            <p:cNvPr id="13" name="Line 495"/>
            <p:cNvCxnSpPr/>
            <p:nvPr/>
          </p:nvCxnSpPr>
          <p:spPr bwMode="auto">
            <a:xfrm>
              <a:off x="6003" y="7894"/>
              <a:ext cx="22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 name="组合 8"/>
          <p:cNvGrpSpPr>
            <a:grpSpLocks/>
          </p:cNvGrpSpPr>
          <p:nvPr/>
        </p:nvGrpSpPr>
        <p:grpSpPr bwMode="auto">
          <a:xfrm>
            <a:off x="5285674" y="2027938"/>
            <a:ext cx="2414929" cy="2137132"/>
            <a:chOff x="5976" y="8212"/>
            <a:chExt cx="2262" cy="1288"/>
          </a:xfrm>
        </p:grpSpPr>
        <p:sp>
          <p:nvSpPr>
            <p:cNvPr id="10" name="Text Box 498"/>
            <p:cNvSpPr txBox="1">
              <a:spLocks noChangeArrowheads="1"/>
            </p:cNvSpPr>
            <p:nvPr/>
          </p:nvSpPr>
          <p:spPr bwMode="auto">
            <a:xfrm>
              <a:off x="5982" y="8212"/>
              <a:ext cx="2256" cy="128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2000">
                  <a:effectLst/>
                  <a:latin typeface="微软雅黑" pitchFamily="34" charset="-122"/>
                  <a:ea typeface="微软雅黑" pitchFamily="34" charset="-122"/>
                  <a:cs typeface="宋体"/>
                </a:rPr>
                <a:t>姓名</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性别</a:t>
              </a:r>
            </a:p>
            <a:p>
              <a:pPr indent="127000" algn="ctr">
                <a:lnSpc>
                  <a:spcPts val="26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7000" algn="ctr">
                <a:lnSpc>
                  <a:spcPts val="2600"/>
                </a:lnSpc>
                <a:spcAft>
                  <a:spcPts val="0"/>
                </a:spcAft>
              </a:pPr>
              <a:r>
                <a:rPr lang="zh-CN" sz="2000">
                  <a:effectLst/>
                  <a:latin typeface="微软雅黑" pitchFamily="34" charset="-122"/>
                  <a:ea typeface="微软雅黑" pitchFamily="34" charset="-122"/>
                  <a:cs typeface="宋体"/>
                </a:rPr>
                <a:t>张军</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男</a:t>
              </a:r>
            </a:p>
            <a:p>
              <a:pPr indent="127000" algn="ctr">
                <a:lnSpc>
                  <a:spcPts val="2600"/>
                </a:lnSpc>
                <a:spcAft>
                  <a:spcPts val="0"/>
                </a:spcAft>
              </a:pPr>
              <a:r>
                <a:rPr lang="zh-CN" sz="2000">
                  <a:effectLst/>
                  <a:latin typeface="微软雅黑" pitchFamily="34" charset="-122"/>
                  <a:ea typeface="微软雅黑" pitchFamily="34" charset="-122"/>
                  <a:cs typeface="宋体"/>
                </a:rPr>
                <a:t>李明</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男</a:t>
              </a:r>
            </a:p>
            <a:p>
              <a:pPr indent="127000" algn="ctr">
                <a:lnSpc>
                  <a:spcPts val="2600"/>
                </a:lnSpc>
                <a:spcAft>
                  <a:spcPts val="0"/>
                </a:spcAft>
              </a:pPr>
              <a:r>
                <a:rPr lang="zh-CN" sz="2000">
                  <a:effectLst/>
                  <a:latin typeface="微软雅黑" pitchFamily="34" charset="-122"/>
                  <a:ea typeface="微软雅黑" pitchFamily="34" charset="-122"/>
                  <a:cs typeface="宋体"/>
                </a:rPr>
                <a:t>王海</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女</a:t>
              </a:r>
            </a:p>
            <a:p>
              <a:pPr indent="127000" algn="ctr">
                <a:lnSpc>
                  <a:spcPts val="2600"/>
                </a:lnSpc>
                <a:spcAft>
                  <a:spcPts val="0"/>
                </a:spcAft>
              </a:pPr>
              <a:r>
                <a:rPr lang="zh-CN" sz="2000">
                  <a:effectLst/>
                  <a:latin typeface="微软雅黑" pitchFamily="34" charset="-122"/>
                  <a:ea typeface="微软雅黑" pitchFamily="34" charset="-122"/>
                  <a:cs typeface="宋体"/>
                </a:rPr>
                <a:t>孙丽</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女</a:t>
              </a:r>
            </a:p>
          </p:txBody>
        </p:sp>
        <p:cxnSp>
          <p:nvCxnSpPr>
            <p:cNvPr id="11" name="Line 499"/>
            <p:cNvCxnSpPr/>
            <p:nvPr/>
          </p:nvCxnSpPr>
          <p:spPr bwMode="auto">
            <a:xfrm>
              <a:off x="5976" y="8492"/>
              <a:ext cx="22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14" name="对象 13"/>
          <p:cNvGraphicFramePr>
            <a:graphicFrameLocks noChangeAspect="1"/>
          </p:cNvGraphicFramePr>
          <p:nvPr>
            <p:extLst>
              <p:ext uri="{D42A27DB-BD31-4B8C-83A1-F6EECF244321}">
                <p14:modId xmlns:p14="http://schemas.microsoft.com/office/powerpoint/2010/main" val="2852091256"/>
              </p:ext>
            </p:extLst>
          </p:nvPr>
        </p:nvGraphicFramePr>
        <p:xfrm>
          <a:off x="5310503" y="4365104"/>
          <a:ext cx="2200034" cy="648072"/>
        </p:xfrm>
        <a:graphic>
          <a:graphicData uri="http://schemas.openxmlformats.org/presentationml/2006/ole">
            <mc:AlternateContent xmlns:mc="http://schemas.openxmlformats.org/markup-compatibility/2006">
              <mc:Choice xmlns:v="urn:schemas-microsoft-com:vml" Requires="v">
                <p:oleObj spid="_x0000_s13494" name="公式" r:id="rId3" imgW="799920" imgH="241200" progId="Equation.3">
                  <p:embed/>
                </p:oleObj>
              </mc:Choice>
              <mc:Fallback>
                <p:oleObj name="公式" r:id="rId3" imgW="799920" imgH="24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0503" y="4365104"/>
                        <a:ext cx="2200034" cy="648072"/>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119067171"/>
              </p:ext>
            </p:extLst>
          </p:nvPr>
        </p:nvGraphicFramePr>
        <p:xfrm>
          <a:off x="2224854" y="4437112"/>
          <a:ext cx="383704" cy="403084"/>
        </p:xfrm>
        <a:graphic>
          <a:graphicData uri="http://schemas.openxmlformats.org/presentationml/2006/ole">
            <mc:AlternateContent xmlns:mc="http://schemas.openxmlformats.org/markup-compatibility/2006">
              <mc:Choice xmlns:v="urn:schemas-microsoft-com:vml" Requires="v">
                <p:oleObj spid="_x0000_s13495" name="公式" r:id="rId5" imgW="152280" imgH="164880" progId="Equation.3">
                  <p:embed/>
                </p:oleObj>
              </mc:Choice>
              <mc:Fallback>
                <p:oleObj name="公式" r:id="rId5" imgW="152280" imgH="1648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4854" y="4437112"/>
                        <a:ext cx="383704" cy="403084"/>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EA1B88FF-84C3-344C-BF83-CDCC5B0D4A25}"/>
              </a:ext>
            </a:extLst>
          </p:cNvPr>
          <p:cNvSpPr>
            <a:spLocks noGrp="1"/>
          </p:cNvSpPr>
          <p:nvPr>
            <p:ph type="sldNum" sz="quarter" idx="12"/>
          </p:nvPr>
        </p:nvSpPr>
        <p:spPr/>
        <p:txBody>
          <a:bodyPr/>
          <a:lstStyle/>
          <a:p>
            <a:fld id="{C46E5E69-9A6D-4AF8-BC2D-C556A9893D8F}" type="slidenum">
              <a:rPr lang="zh-CN" altLang="en-US" smtClean="0"/>
              <a:pPr/>
              <a:t>25</a:t>
            </a:fld>
            <a:endParaRPr lang="zh-CN" altLang="en-US" dirty="0"/>
          </a:p>
        </p:txBody>
      </p:sp>
    </p:spTree>
    <p:extLst>
      <p:ext uri="{BB962C8B-B14F-4D97-AF65-F5344CB8AC3E}">
        <p14:creationId xmlns:p14="http://schemas.microsoft.com/office/powerpoint/2010/main" val="2448888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2.3.2  </a:t>
            </a:r>
            <a:r>
              <a:rPr lang="zh-CN" altLang="zh-CN" dirty="0"/>
              <a:t>投影</a:t>
            </a:r>
            <a:endParaRPr lang="zh-CN" altLang="en-US" i="0" u="none" strike="noStrike" kern="2200" baseline="0" dirty="0"/>
          </a:p>
        </p:txBody>
      </p:sp>
      <p:sp>
        <p:nvSpPr>
          <p:cNvPr id="3" name="文本占位符 2"/>
          <p:cNvSpPr>
            <a:spLocks noGrp="1"/>
          </p:cNvSpPr>
          <p:nvPr>
            <p:ph type="body" idx="1"/>
          </p:nvPr>
        </p:nvSpPr>
        <p:spPr>
          <a:xfrm>
            <a:off x="467544" y="1124744"/>
            <a:ext cx="8136904" cy="576064"/>
          </a:xfrm>
        </p:spPr>
        <p:txBody>
          <a:bodyPr>
            <a:noAutofit/>
          </a:bodyPr>
          <a:lstStyle/>
          <a:p>
            <a:pPr marL="0" lvl="0" indent="0">
              <a:buNone/>
            </a:pPr>
            <a:r>
              <a:rPr lang="zh-CN" altLang="zh-CN" sz="2000" dirty="0">
                <a:solidFill>
                  <a:srgbClr val="0000FF"/>
                </a:solidFill>
              </a:rPr>
              <a:t>例</a:t>
            </a:r>
            <a:r>
              <a:rPr lang="en-US" altLang="zh-CN" sz="2000" dirty="0">
                <a:solidFill>
                  <a:srgbClr val="0000FF"/>
                </a:solidFill>
              </a:rPr>
              <a:t>2.10  </a:t>
            </a:r>
            <a:r>
              <a:rPr lang="zh-CN" altLang="zh-CN" sz="2000" dirty="0"/>
              <a:t>从</a:t>
            </a:r>
            <a:r>
              <a:rPr lang="en-US" altLang="zh-CN" sz="2000" dirty="0"/>
              <a:t>R</a:t>
            </a:r>
            <a:r>
              <a:rPr lang="zh-CN" altLang="zh-CN" sz="2000" dirty="0"/>
              <a:t>中，查询所有</a:t>
            </a:r>
            <a:r>
              <a:rPr lang="en-US" altLang="zh-CN" sz="2000" dirty="0"/>
              <a:t>90</a:t>
            </a:r>
            <a:r>
              <a:rPr lang="zh-CN" altLang="zh-CN" sz="2000" dirty="0"/>
              <a:t>分以上（不含</a:t>
            </a:r>
            <a:r>
              <a:rPr lang="en-US" altLang="zh-CN" sz="2000" dirty="0"/>
              <a:t>90</a:t>
            </a:r>
            <a:r>
              <a:rPr lang="zh-CN" altLang="zh-CN" sz="2000" dirty="0"/>
              <a:t>分）的女生的姓名和性别</a:t>
            </a:r>
            <a:endParaRPr lang="zh-CN" altLang="en-US" sz="2000" kern="100" dirty="0"/>
          </a:p>
        </p:txBody>
      </p:sp>
      <p:graphicFrame>
        <p:nvGraphicFramePr>
          <p:cNvPr id="15" name="对象 14"/>
          <p:cNvGraphicFramePr>
            <a:graphicFrameLocks noChangeAspect="1"/>
          </p:cNvGraphicFramePr>
          <p:nvPr>
            <p:extLst>
              <p:ext uri="{D42A27DB-BD31-4B8C-83A1-F6EECF244321}">
                <p14:modId xmlns:p14="http://schemas.microsoft.com/office/powerpoint/2010/main" val="2993330299"/>
              </p:ext>
            </p:extLst>
          </p:nvPr>
        </p:nvGraphicFramePr>
        <p:xfrm>
          <a:off x="1979712" y="5013176"/>
          <a:ext cx="383704" cy="403084"/>
        </p:xfrm>
        <a:graphic>
          <a:graphicData uri="http://schemas.openxmlformats.org/presentationml/2006/ole">
            <mc:AlternateContent xmlns:mc="http://schemas.openxmlformats.org/markup-compatibility/2006">
              <mc:Choice xmlns:v="urn:schemas-microsoft-com:vml" Requires="v">
                <p:oleObj spid="_x0000_s14517" name="公式" r:id="rId3" imgW="152280" imgH="164880" progId="Equation.3">
                  <p:embed/>
                </p:oleObj>
              </mc:Choice>
              <mc:Fallback>
                <p:oleObj name="公式" r:id="rId3" imgW="152280" imgH="1648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5013176"/>
                        <a:ext cx="383704" cy="403084"/>
                      </a:xfrm>
                      <a:prstGeom prst="rect">
                        <a:avLst/>
                      </a:prstGeom>
                      <a:noFill/>
                    </p:spPr>
                  </p:pic>
                </p:oleObj>
              </mc:Fallback>
            </mc:AlternateContent>
          </a:graphicData>
        </a:graphic>
      </p:graphicFrame>
      <p:grpSp>
        <p:nvGrpSpPr>
          <p:cNvPr id="16" name="组合 15"/>
          <p:cNvGrpSpPr>
            <a:grpSpLocks/>
          </p:cNvGrpSpPr>
          <p:nvPr/>
        </p:nvGrpSpPr>
        <p:grpSpPr bwMode="auto">
          <a:xfrm>
            <a:off x="711690" y="2347637"/>
            <a:ext cx="3715167" cy="2238424"/>
            <a:chOff x="5982" y="8212"/>
            <a:chExt cx="2262" cy="1288"/>
          </a:xfrm>
        </p:grpSpPr>
        <p:sp>
          <p:nvSpPr>
            <p:cNvPr id="20" name="Text Box 502"/>
            <p:cNvSpPr txBox="1">
              <a:spLocks noChangeArrowheads="1"/>
            </p:cNvSpPr>
            <p:nvPr/>
          </p:nvSpPr>
          <p:spPr bwMode="auto">
            <a:xfrm>
              <a:off x="5982" y="8212"/>
              <a:ext cx="2256" cy="128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2000" dirty="0">
                  <a:effectLst/>
                  <a:latin typeface="微软雅黑" pitchFamily="34" charset="-122"/>
                  <a:ea typeface="微软雅黑" pitchFamily="34" charset="-122"/>
                  <a:cs typeface="宋体"/>
                </a:rPr>
                <a:t>姓名</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性别</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年龄</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成绩</a:t>
              </a:r>
            </a:p>
            <a:p>
              <a:pPr indent="127000" algn="ctr">
                <a:lnSpc>
                  <a:spcPts val="2600"/>
                </a:lnSpc>
                <a:spcAft>
                  <a:spcPts val="0"/>
                </a:spcAft>
              </a:pPr>
              <a:r>
                <a:rPr lang="en-US" sz="2000" dirty="0">
                  <a:effectLst/>
                  <a:latin typeface="微软雅黑" pitchFamily="34" charset="-122"/>
                  <a:ea typeface="微软雅黑" pitchFamily="34" charset="-122"/>
                  <a:cs typeface="宋体"/>
                </a:rPr>
                <a:t> </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张军</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男</a:t>
              </a:r>
              <a:r>
                <a:rPr lang="en-US" sz="2000" dirty="0">
                  <a:effectLst/>
                  <a:latin typeface="微软雅黑" pitchFamily="34" charset="-122"/>
                  <a:ea typeface="微软雅黑" pitchFamily="34" charset="-122"/>
                  <a:cs typeface="宋体"/>
                </a:rPr>
                <a:t>     18     88</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李明</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男</a:t>
              </a:r>
              <a:r>
                <a:rPr lang="en-US" sz="2000" dirty="0">
                  <a:effectLst/>
                  <a:latin typeface="微软雅黑" pitchFamily="34" charset="-122"/>
                  <a:ea typeface="微软雅黑" pitchFamily="34" charset="-122"/>
                  <a:cs typeface="宋体"/>
                </a:rPr>
                <a:t>     16     99</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王海</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女</a:t>
              </a:r>
              <a:r>
                <a:rPr lang="en-US" sz="2000" dirty="0">
                  <a:effectLst/>
                  <a:latin typeface="微软雅黑" pitchFamily="34" charset="-122"/>
                  <a:ea typeface="微软雅黑" pitchFamily="34" charset="-122"/>
                  <a:cs typeface="宋体"/>
                </a:rPr>
                <a:t>     19     96</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孙丽</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女</a:t>
              </a:r>
              <a:r>
                <a:rPr lang="en-US" sz="2000" dirty="0">
                  <a:effectLst/>
                  <a:latin typeface="微软雅黑" pitchFamily="34" charset="-122"/>
                  <a:ea typeface="微软雅黑" pitchFamily="34" charset="-122"/>
                  <a:cs typeface="宋体"/>
                </a:rPr>
                <a:t>     18     98</a:t>
              </a:r>
              <a:endParaRPr lang="zh-CN" sz="2000" dirty="0">
                <a:effectLst/>
                <a:latin typeface="微软雅黑" pitchFamily="34" charset="-122"/>
                <a:ea typeface="微软雅黑" pitchFamily="34" charset="-122"/>
                <a:cs typeface="宋体"/>
              </a:endParaRPr>
            </a:p>
          </p:txBody>
        </p:sp>
        <p:cxnSp>
          <p:nvCxnSpPr>
            <p:cNvPr id="21" name="Line 503"/>
            <p:cNvCxnSpPr/>
            <p:nvPr/>
          </p:nvCxnSpPr>
          <p:spPr bwMode="auto">
            <a:xfrm>
              <a:off x="5982" y="8572"/>
              <a:ext cx="22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17" name="组合 16"/>
          <p:cNvGrpSpPr>
            <a:grpSpLocks/>
          </p:cNvGrpSpPr>
          <p:nvPr/>
        </p:nvGrpSpPr>
        <p:grpSpPr bwMode="auto">
          <a:xfrm>
            <a:off x="5508104" y="2847452"/>
            <a:ext cx="2128584" cy="1669346"/>
            <a:chOff x="5022" y="1885"/>
            <a:chExt cx="1296" cy="919"/>
          </a:xfrm>
        </p:grpSpPr>
        <p:sp>
          <p:nvSpPr>
            <p:cNvPr id="18" name="Text Box 506"/>
            <p:cNvSpPr txBox="1">
              <a:spLocks noChangeArrowheads="1"/>
            </p:cNvSpPr>
            <p:nvPr/>
          </p:nvSpPr>
          <p:spPr bwMode="auto">
            <a:xfrm>
              <a:off x="5022" y="1885"/>
              <a:ext cx="1293" cy="91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2000">
                  <a:effectLst/>
                  <a:latin typeface="微软雅黑" pitchFamily="34" charset="-122"/>
                  <a:ea typeface="微软雅黑" pitchFamily="34" charset="-122"/>
                  <a:cs typeface="宋体"/>
                </a:rPr>
                <a:t>姓名</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性别</a:t>
              </a:r>
            </a:p>
            <a:p>
              <a:pPr indent="127000" algn="ctr">
                <a:lnSpc>
                  <a:spcPts val="26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7000" algn="ctr">
                <a:lnSpc>
                  <a:spcPts val="2600"/>
                </a:lnSpc>
                <a:spcAft>
                  <a:spcPts val="0"/>
                </a:spcAft>
              </a:pPr>
              <a:r>
                <a:rPr lang="zh-CN" sz="2000">
                  <a:effectLst/>
                  <a:latin typeface="微软雅黑" pitchFamily="34" charset="-122"/>
                  <a:ea typeface="微软雅黑" pitchFamily="34" charset="-122"/>
                  <a:cs typeface="宋体"/>
                </a:rPr>
                <a:t>王海</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女</a:t>
              </a:r>
            </a:p>
            <a:p>
              <a:pPr indent="127000" algn="ctr">
                <a:lnSpc>
                  <a:spcPts val="2600"/>
                </a:lnSpc>
                <a:spcAft>
                  <a:spcPts val="0"/>
                </a:spcAft>
              </a:pPr>
              <a:r>
                <a:rPr lang="zh-CN" sz="2000">
                  <a:effectLst/>
                  <a:latin typeface="微软雅黑" pitchFamily="34" charset="-122"/>
                  <a:ea typeface="微软雅黑" pitchFamily="34" charset="-122"/>
                  <a:cs typeface="宋体"/>
                </a:rPr>
                <a:t>孙丽</a:t>
              </a:r>
              <a:r>
                <a:rPr lang="en-US" sz="2000">
                  <a:effectLst/>
                  <a:latin typeface="微软雅黑" pitchFamily="34" charset="-122"/>
                  <a:ea typeface="微软雅黑" pitchFamily="34" charset="-122"/>
                  <a:cs typeface="宋体"/>
                </a:rPr>
                <a:t>     </a:t>
              </a:r>
              <a:r>
                <a:rPr lang="zh-CN" sz="2000">
                  <a:effectLst/>
                  <a:latin typeface="微软雅黑" pitchFamily="34" charset="-122"/>
                  <a:ea typeface="微软雅黑" pitchFamily="34" charset="-122"/>
                  <a:cs typeface="宋体"/>
                </a:rPr>
                <a:t>女</a:t>
              </a:r>
            </a:p>
          </p:txBody>
        </p:sp>
        <p:cxnSp>
          <p:nvCxnSpPr>
            <p:cNvPr id="19" name="Line 507"/>
            <p:cNvCxnSpPr/>
            <p:nvPr/>
          </p:nvCxnSpPr>
          <p:spPr bwMode="auto">
            <a:xfrm>
              <a:off x="5022" y="2246"/>
              <a:ext cx="12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7" name="对象 6"/>
          <p:cNvGraphicFramePr>
            <a:graphicFrameLocks noChangeAspect="1"/>
          </p:cNvGraphicFramePr>
          <p:nvPr>
            <p:extLst>
              <p:ext uri="{D42A27DB-BD31-4B8C-83A1-F6EECF244321}">
                <p14:modId xmlns:p14="http://schemas.microsoft.com/office/powerpoint/2010/main" val="3451088047"/>
              </p:ext>
            </p:extLst>
          </p:nvPr>
        </p:nvGraphicFramePr>
        <p:xfrm>
          <a:off x="4644008" y="4941168"/>
          <a:ext cx="4025077" cy="495394"/>
        </p:xfrm>
        <a:graphic>
          <a:graphicData uri="http://schemas.openxmlformats.org/presentationml/2006/ole">
            <mc:AlternateContent xmlns:mc="http://schemas.openxmlformats.org/markup-compatibility/2006">
              <mc:Choice xmlns:v="urn:schemas-microsoft-com:vml" Requires="v">
                <p:oleObj spid="_x0000_s14518" name="公式" r:id="rId5" imgW="1866600" imgH="241200" progId="Equation.3">
                  <p:embed/>
                </p:oleObj>
              </mc:Choice>
              <mc:Fallback>
                <p:oleObj name="公式" r:id="rId5" imgW="1866600" imgH="241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4941168"/>
                        <a:ext cx="4025077" cy="495394"/>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836A872D-C1BF-3B45-B0A0-0E605A3D9715}"/>
              </a:ext>
            </a:extLst>
          </p:cNvPr>
          <p:cNvSpPr>
            <a:spLocks noGrp="1"/>
          </p:cNvSpPr>
          <p:nvPr>
            <p:ph type="sldNum" sz="quarter" idx="12"/>
          </p:nvPr>
        </p:nvSpPr>
        <p:spPr/>
        <p:txBody>
          <a:bodyPr/>
          <a:lstStyle/>
          <a:p>
            <a:fld id="{C46E5E69-9A6D-4AF8-BC2D-C556A9893D8F}" type="slidenum">
              <a:rPr lang="zh-CN" altLang="en-US" smtClean="0"/>
              <a:pPr/>
              <a:t>26</a:t>
            </a:fld>
            <a:endParaRPr lang="zh-CN" altLang="en-US" dirty="0"/>
          </a:p>
        </p:txBody>
      </p:sp>
    </p:spTree>
    <p:extLst>
      <p:ext uri="{BB962C8B-B14F-4D97-AF65-F5344CB8AC3E}">
        <p14:creationId xmlns:p14="http://schemas.microsoft.com/office/powerpoint/2010/main" val="609453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2.3.2  </a:t>
            </a:r>
            <a:r>
              <a:rPr lang="zh-CN" altLang="zh-CN" dirty="0"/>
              <a:t>投影</a:t>
            </a:r>
            <a:endParaRPr lang="zh-CN" altLang="en-US" i="0" u="none" strike="noStrike" kern="2200" baseline="0" dirty="0"/>
          </a:p>
        </p:txBody>
      </p:sp>
      <p:sp>
        <p:nvSpPr>
          <p:cNvPr id="3" name="文本占位符 2"/>
          <p:cNvSpPr>
            <a:spLocks noGrp="1"/>
          </p:cNvSpPr>
          <p:nvPr>
            <p:ph type="body" idx="1"/>
          </p:nvPr>
        </p:nvSpPr>
        <p:spPr>
          <a:xfrm>
            <a:off x="455480" y="1124744"/>
            <a:ext cx="7560840" cy="576064"/>
          </a:xfrm>
        </p:spPr>
        <p:txBody>
          <a:bodyPr>
            <a:noAutofit/>
          </a:bodyPr>
          <a:lstStyle/>
          <a:p>
            <a:pPr marL="0" lvl="0" indent="0">
              <a:buNone/>
            </a:pPr>
            <a:r>
              <a:rPr lang="zh-CN" altLang="zh-CN" sz="2000" dirty="0">
                <a:solidFill>
                  <a:srgbClr val="0000FF"/>
                </a:solidFill>
              </a:rPr>
              <a:t>例2.11  </a:t>
            </a:r>
            <a:r>
              <a:rPr lang="zh-CN" altLang="zh-CN" sz="2000" dirty="0"/>
              <a:t>查询图书的书名、作者和定价</a:t>
            </a:r>
            <a:endParaRPr lang="zh-CN" altLang="en-US" sz="2000" kern="100" dirty="0"/>
          </a:p>
        </p:txBody>
      </p:sp>
      <mc:AlternateContent xmlns:mc="http://schemas.openxmlformats.org/markup-compatibility/2006" xmlns:a14="http://schemas.microsoft.com/office/drawing/2010/main">
        <mc:Choice Requires="a14">
          <p:sp>
            <p:nvSpPr>
              <p:cNvPr id="8" name="矩形 7"/>
              <p:cNvSpPr/>
              <p:nvPr/>
            </p:nvSpPr>
            <p:spPr>
              <a:xfrm>
                <a:off x="468406" y="1916832"/>
                <a:ext cx="7776864" cy="2875724"/>
              </a:xfrm>
              <a:prstGeom prst="rect">
                <a:avLst/>
              </a:prstGeom>
            </p:spPr>
            <p:txBody>
              <a:bodyPr wrap="square">
                <a:spAutoFit/>
              </a:bodyPr>
              <a:lstStyle/>
              <a:p>
                <a:r>
                  <a:rPr lang="zh-CN" altLang="zh-CN" sz="2000" dirty="0">
                    <a:solidFill>
                      <a:srgbClr val="0000FF"/>
                    </a:solidFill>
                    <a:latin typeface="微软雅黑" pitchFamily="34" charset="-122"/>
                    <a:ea typeface="微软雅黑" pitchFamily="34" charset="-122"/>
                  </a:rPr>
                  <a:t>关系代数：</a:t>
                </a:r>
              </a:p>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𝐵𝑁𝑎𝑚𝑒</m:t>
                          </m:r>
                          <m:r>
                            <a:rPr lang="en-US" altLang="zh-CN" sz="2000">
                              <a:latin typeface="Cambria Math"/>
                            </a:rPr>
                            <m:t>,   </m:t>
                          </m:r>
                          <m:r>
                            <a:rPr lang="en-US" altLang="zh-CN" sz="2000" i="1">
                              <a:latin typeface="Cambria Math"/>
                            </a:rPr>
                            <m:t>𝐴𝑢𝑡h𝑜𝑟</m:t>
                          </m:r>
                          <m:r>
                            <a:rPr lang="en-US" altLang="zh-CN" sz="2000" i="1">
                              <a:latin typeface="Cambria Math"/>
                            </a:rPr>
                            <m:t>,   </m:t>
                          </m:r>
                          <m:r>
                            <a:rPr lang="en-US" altLang="zh-CN" sz="2000" i="1">
                              <a:latin typeface="Cambria Math"/>
                            </a:rPr>
                            <m:t>𝑃𝑟𝑖𝑐𝑒</m:t>
                          </m:r>
                        </m:sub>
                      </m:sSub>
                      <m:r>
                        <a:rPr lang="en-US" altLang="zh-CN" sz="2000" i="1">
                          <a:latin typeface="Cambria Math"/>
                        </a:rPr>
                        <m:t>(</m:t>
                      </m:r>
                      <m:r>
                        <a:rPr lang="en-US" altLang="zh-CN" sz="2000" i="1">
                          <a:latin typeface="Cambria Math"/>
                        </a:rPr>
                        <m:t>𝐵𝑜𝑜𝑘</m:t>
                      </m:r>
                      <m:r>
                        <a:rPr lang="en-US" altLang="zh-CN" sz="2000" i="1">
                          <a:latin typeface="Cambria Math"/>
                        </a:rPr>
                        <m:t>)</m:t>
                      </m:r>
                    </m:oMath>
                  </m:oMathPara>
                </a14:m>
                <a:endParaRPr lang="zh-CN" altLang="zh-CN" sz="2000" dirty="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r>
                  <a:rPr lang="zh-CN" altLang="zh-CN" sz="2000" dirty="0">
                    <a:solidFill>
                      <a:srgbClr val="0000FF"/>
                    </a:solidFill>
                    <a:latin typeface="微软雅黑" pitchFamily="34" charset="-122"/>
                    <a:ea typeface="微软雅黑" pitchFamily="34" charset="-122"/>
                  </a:rPr>
                  <a:t>元组演算：</a:t>
                </a:r>
              </a:p>
              <a:p>
                <a:pPr/>
                <a14:m>
                  <m:oMathPara xmlns:m="http://schemas.openxmlformats.org/officeDocument/2006/math">
                    <m:oMathParaPr>
                      <m:jc m:val="centerGroup"/>
                    </m:oMathParaPr>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a:rPr>
                            <m:t>𝑡</m:t>
                          </m:r>
                          <m:r>
                            <a:rPr lang="en-US" altLang="zh-CN" sz="2000" i="1">
                              <a:latin typeface="Cambria Math"/>
                            </a:rPr>
                            <m:t>[</m:t>
                          </m:r>
                          <m:r>
                            <a:rPr lang="en-US" altLang="zh-CN" sz="2000" i="1">
                              <a:latin typeface="Cambria Math"/>
                            </a:rPr>
                            <m:t>𝐵𝑁𝑎𝑚𝑒</m:t>
                          </m:r>
                          <m:r>
                            <a:rPr lang="en-US" altLang="zh-CN" sz="2000" i="1">
                              <a:latin typeface="Cambria Math"/>
                            </a:rPr>
                            <m:t>, </m:t>
                          </m:r>
                          <m:r>
                            <a:rPr lang="en-US" altLang="zh-CN" sz="2000" i="1">
                              <a:latin typeface="Cambria Math"/>
                            </a:rPr>
                            <m:t>𝐴𝑢𝑡h𝑜𝑟</m:t>
                          </m:r>
                          <m:r>
                            <a:rPr lang="en-US" altLang="zh-CN" sz="2000" i="1">
                              <a:latin typeface="Cambria Math"/>
                            </a:rPr>
                            <m:t>, </m:t>
                          </m:r>
                          <m:r>
                            <a:rPr lang="en-US" altLang="zh-CN" sz="2000" i="1">
                              <a:latin typeface="Cambria Math"/>
                            </a:rPr>
                            <m:t>𝑃𝑟𝑖𝑐𝑒</m:t>
                          </m:r>
                          <m:r>
                            <a:rPr lang="en-US" altLang="zh-CN" sz="2000" i="1">
                              <a:latin typeface="Cambria Math"/>
                            </a:rPr>
                            <m:t>]|</m:t>
                          </m:r>
                          <m:r>
                            <a:rPr lang="en-US" altLang="zh-CN" sz="2000" i="1">
                              <a:latin typeface="Cambria Math"/>
                            </a:rPr>
                            <m:t>𝑡</m:t>
                          </m:r>
                          <m:r>
                            <a:rPr lang="en-US" altLang="zh-CN" sz="2000" i="1">
                              <a:latin typeface="Cambria Math"/>
                            </a:rPr>
                            <m:t>𝜖</m:t>
                          </m:r>
                          <m:r>
                            <a:rPr lang="en-US" altLang="zh-CN" sz="2000" i="1">
                              <a:latin typeface="Cambria Math"/>
                            </a:rPr>
                            <m:t>𝐵𝑜𝑜𝑘</m:t>
                          </m:r>
                        </m:e>
                      </m:d>
                    </m:oMath>
                  </m:oMathPara>
                </a14:m>
                <a:endParaRPr lang="zh-CN" altLang="zh-CN" sz="2000" dirty="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r>
                  <a:rPr lang="zh-CN" altLang="zh-CN" sz="2000" dirty="0">
                    <a:latin typeface="微软雅黑" pitchFamily="34" charset="-122"/>
                    <a:ea typeface="微软雅黑" pitchFamily="34" charset="-122"/>
                  </a:rPr>
                  <a:t>域演算：</a:t>
                </a:r>
              </a:p>
              <a:p>
                <a14:m>
                  <m:oMath xmlns:m="http://schemas.openxmlformats.org/officeDocument/2006/math">
                    <m:d>
                      <m:dPr>
                        <m:begChr m:val="{"/>
                        <m:endChr m:val=""/>
                        <m:ctrlPr>
                          <a:rPr lang="zh-CN" altLang="zh-CN" sz="2000" i="1">
                            <a:latin typeface="Cambria Math" panose="02040503050406030204" pitchFamily="18" charset="0"/>
                          </a:rPr>
                        </m:ctrlPr>
                      </m:dPr>
                      <m:e>
                        <m:d>
                          <m:dPr>
                            <m:ctrlPr>
                              <a:rPr lang="zh-CN" altLang="zh-CN" sz="2000" i="1">
                                <a:latin typeface="Cambria Math" panose="02040503050406030204" pitchFamily="18" charset="0"/>
                              </a:rPr>
                            </m:ctrlPr>
                          </m:dPr>
                          <m:e>
                            <m:r>
                              <a:rPr lang="en-US" altLang="zh-CN" sz="2000" i="1">
                                <a:latin typeface="Cambria Math"/>
                              </a:rPr>
                              <m:t>𝐵𝑁𝑎𝑚𝑒</m:t>
                            </m:r>
                            <m:r>
                              <a:rPr lang="en-US" altLang="zh-CN" sz="2000">
                                <a:latin typeface="Cambria Math"/>
                              </a:rPr>
                              <m:t>,</m:t>
                            </m:r>
                            <m:r>
                              <a:rPr lang="en-US" altLang="zh-CN" sz="2000" i="1">
                                <a:latin typeface="Cambria Math"/>
                              </a:rPr>
                              <m:t>𝐴𝑢𝑡h𝑜𝑟</m:t>
                            </m:r>
                            <m:r>
                              <a:rPr lang="en-US" altLang="zh-CN" sz="2000">
                                <a:latin typeface="Cambria Math"/>
                              </a:rPr>
                              <m:t>,</m:t>
                            </m:r>
                            <m:r>
                              <a:rPr lang="en-US" altLang="zh-CN" sz="2000" i="1">
                                <a:latin typeface="Cambria Math"/>
                              </a:rPr>
                              <m:t>𝑃𝑟𝑖𝑐𝑒</m:t>
                            </m:r>
                          </m:e>
                        </m:d>
                        <m:r>
                          <a:rPr lang="en-US" altLang="zh-CN" sz="2000" i="1">
                            <a:latin typeface="Cambria Math"/>
                          </a:rPr>
                          <m:t>|                                                                                             </m:t>
                        </m:r>
                      </m:e>
                    </m:d>
                  </m:oMath>
                </a14:m>
                <a:r>
                  <a:rPr lang="en-US" altLang="zh-CN" sz="2000" dirty="0">
                    <a:latin typeface="微软雅黑" pitchFamily="34" charset="-122"/>
                    <a:ea typeface="微软雅黑" pitchFamily="34" charset="-122"/>
                  </a:rPr>
                  <a:t> </a:t>
                </a:r>
                <a:endParaRPr lang="zh-CN" altLang="zh-CN" sz="2000" dirty="0">
                  <a:latin typeface="微软雅黑" pitchFamily="34" charset="-122"/>
                  <a:ea typeface="微软雅黑" pitchFamily="34" charset="-122"/>
                </a:endParaRPr>
              </a:p>
              <a:p>
                <a:pPr/>
                <a14:m>
                  <m:oMathPara xmlns:m="http://schemas.openxmlformats.org/officeDocument/2006/math">
                    <m:oMathParaPr>
                      <m:jc m:val="centerGroup"/>
                    </m:oMathParaPr>
                    <m:oMath xmlns:m="http://schemas.openxmlformats.org/officeDocument/2006/math">
                      <m:d>
                        <m:dPr>
                          <m:ctrlPr>
                            <a:rPr lang="zh-CN" altLang="zh-CN" sz="2000" i="1">
                              <a:latin typeface="Cambria Math" panose="02040503050406030204" pitchFamily="18" charset="0"/>
                            </a:rPr>
                          </m:ctrlPr>
                        </m:dPr>
                        <m:e>
                          <m:r>
                            <a:rPr lang="en-US" altLang="zh-CN" sz="2000" i="1">
                              <a:latin typeface="Cambria Math"/>
                            </a:rPr>
                            <m:t>𝐵𝑁𝑜</m:t>
                          </m:r>
                          <m:r>
                            <a:rPr lang="en-US" altLang="zh-CN" sz="2000">
                              <a:latin typeface="Cambria Math"/>
                            </a:rPr>
                            <m:t>,</m:t>
                          </m:r>
                          <m:r>
                            <a:rPr lang="en-US" altLang="zh-CN" sz="2000" i="1">
                              <a:latin typeface="Cambria Math"/>
                            </a:rPr>
                            <m:t>𝐵𝑁𝑎𝑚𝑒</m:t>
                          </m:r>
                          <m:r>
                            <a:rPr lang="en-US" altLang="zh-CN" sz="2000">
                              <a:latin typeface="Cambria Math"/>
                            </a:rPr>
                            <m:t>,</m:t>
                          </m:r>
                          <m:r>
                            <a:rPr lang="en-US" altLang="zh-CN" sz="2000" i="1">
                              <a:latin typeface="Cambria Math"/>
                            </a:rPr>
                            <m:t>𝐴𝑢𝑡h𝑜𝑟</m:t>
                          </m:r>
                          <m:r>
                            <a:rPr lang="en-US" altLang="zh-CN" sz="2000">
                              <a:latin typeface="Cambria Math"/>
                            </a:rPr>
                            <m:t>,</m:t>
                          </m:r>
                          <m:r>
                            <a:rPr lang="en-US" altLang="zh-CN" sz="2000" i="1">
                              <a:latin typeface="Cambria Math"/>
                            </a:rPr>
                            <m:t>𝑃𝑁𝑜</m:t>
                          </m:r>
                          <m:r>
                            <a:rPr lang="en-US" altLang="zh-CN" sz="2000">
                              <a:latin typeface="Cambria Math"/>
                            </a:rPr>
                            <m:t>,</m:t>
                          </m:r>
                          <m:r>
                            <a:rPr lang="en-US" altLang="zh-CN" sz="2000" i="1">
                              <a:latin typeface="Cambria Math"/>
                            </a:rPr>
                            <m:t>𝐸𝑑𝑖𝑡𝑁𝑜</m:t>
                          </m:r>
                          <m:r>
                            <a:rPr lang="en-US" altLang="zh-CN" sz="2000">
                              <a:latin typeface="Cambria Math"/>
                            </a:rPr>
                            <m:t>,</m:t>
                          </m:r>
                          <m:r>
                            <a:rPr lang="en-US" altLang="zh-CN" sz="2000" i="1">
                              <a:latin typeface="Cambria Math"/>
                            </a:rPr>
                            <m:t>𝑃𝑟𝑖𝑐𝑒</m:t>
                          </m:r>
                          <m:r>
                            <a:rPr lang="en-US" altLang="zh-CN" sz="2000">
                              <a:latin typeface="Cambria Math"/>
                            </a:rPr>
                            <m:t>,</m:t>
                          </m:r>
                          <m:r>
                            <a:rPr lang="en-US" altLang="zh-CN" sz="2000" i="1">
                              <a:latin typeface="Cambria Math"/>
                            </a:rPr>
                            <m:t>𝑃𝑃𝑟𝑖𝑐𝑒</m:t>
                          </m:r>
                          <m:r>
                            <a:rPr lang="en-US" altLang="zh-CN" sz="2000">
                              <a:latin typeface="Cambria Math"/>
                            </a:rPr>
                            <m:t>,</m:t>
                          </m:r>
                          <m:r>
                            <a:rPr lang="en-US" altLang="zh-CN" sz="2000" i="1">
                              <a:latin typeface="Cambria Math"/>
                            </a:rPr>
                            <m:t>𝑆𝑃𝑟𝑖𝑐𝑒</m:t>
                          </m:r>
                        </m:e>
                      </m:d>
                      <m:r>
                        <a:rPr lang="en-US" altLang="zh-CN" sz="2000" i="1">
                          <a:latin typeface="Cambria Math"/>
                        </a:rPr>
                        <m:t>𝜖</m:t>
                      </m:r>
                      <m:r>
                        <a:rPr lang="en-US" altLang="zh-CN" sz="2000" i="1">
                          <a:latin typeface="Cambria Math"/>
                        </a:rPr>
                        <m:t>𝐵𝑜𝑜𝑘</m:t>
                      </m:r>
                      <m:r>
                        <a:rPr lang="en-US" altLang="zh-CN" sz="2000" i="1">
                          <a:latin typeface="Cambria Math"/>
                        </a:rPr>
                        <m:t>}</m:t>
                      </m:r>
                    </m:oMath>
                  </m:oMathPara>
                </a14:m>
                <a:endParaRPr lang="zh-CN" altLang="zh-CN" sz="2000" dirty="0">
                  <a:latin typeface="微软雅黑" pitchFamily="34" charset="-122"/>
                  <a:ea typeface="微软雅黑" pitchFamily="34"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468406" y="1916832"/>
                <a:ext cx="7776864" cy="2875724"/>
              </a:xfrm>
              <a:prstGeom prst="rect">
                <a:avLst/>
              </a:prstGeom>
              <a:blipFill rotWithShape="1">
                <a:blip r:embed="rId2"/>
                <a:stretch>
                  <a:fillRect l="-5016" t="-1059" r="-4075" b="-1525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F125950D-DBEF-174C-A3F6-0B4985FCC669}"/>
              </a:ext>
            </a:extLst>
          </p:cNvPr>
          <p:cNvSpPr>
            <a:spLocks noGrp="1"/>
          </p:cNvSpPr>
          <p:nvPr>
            <p:ph type="sldNum" sz="quarter" idx="12"/>
          </p:nvPr>
        </p:nvSpPr>
        <p:spPr/>
        <p:txBody>
          <a:bodyPr/>
          <a:lstStyle/>
          <a:p>
            <a:fld id="{C46E5E69-9A6D-4AF8-BC2D-C556A9893D8F}" type="slidenum">
              <a:rPr lang="zh-CN" altLang="en-US" smtClean="0"/>
              <a:pPr/>
              <a:t>27</a:t>
            </a:fld>
            <a:endParaRPr lang="zh-CN" altLang="en-US" dirty="0"/>
          </a:p>
        </p:txBody>
      </p:sp>
    </p:spTree>
    <p:extLst>
      <p:ext uri="{BB962C8B-B14F-4D97-AF65-F5344CB8AC3E}">
        <p14:creationId xmlns:p14="http://schemas.microsoft.com/office/powerpoint/2010/main" val="2475035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2.3.2  </a:t>
            </a:r>
            <a:r>
              <a:rPr lang="zh-CN" altLang="zh-CN" dirty="0"/>
              <a:t>投影</a:t>
            </a:r>
            <a:endParaRPr lang="zh-CN" altLang="en-US" i="0" u="none" strike="noStrike" kern="2200" baseline="0" dirty="0"/>
          </a:p>
        </p:txBody>
      </p:sp>
      <p:sp>
        <p:nvSpPr>
          <p:cNvPr id="3" name="文本占位符 2"/>
          <p:cNvSpPr>
            <a:spLocks noGrp="1"/>
          </p:cNvSpPr>
          <p:nvPr>
            <p:ph type="body" idx="1"/>
          </p:nvPr>
        </p:nvSpPr>
        <p:spPr>
          <a:xfrm>
            <a:off x="468406" y="1124744"/>
            <a:ext cx="8496082" cy="576064"/>
          </a:xfrm>
        </p:spPr>
        <p:txBody>
          <a:bodyPr>
            <a:noAutofit/>
          </a:bodyPr>
          <a:lstStyle/>
          <a:p>
            <a:pPr marL="0" lvl="0" indent="0">
              <a:buNone/>
            </a:pPr>
            <a:r>
              <a:rPr lang="zh-CN" altLang="zh-CN" sz="2000" dirty="0">
                <a:solidFill>
                  <a:srgbClr val="0000FF"/>
                </a:solidFill>
              </a:rPr>
              <a:t>例2.12  </a:t>
            </a:r>
            <a:r>
              <a:rPr lang="zh-CN" altLang="zh-CN" sz="2000" dirty="0"/>
              <a:t>查询客户的户名和电话</a:t>
            </a:r>
            <a:endParaRPr lang="zh-CN" altLang="en-US" sz="2000" kern="100" dirty="0"/>
          </a:p>
        </p:txBody>
      </p:sp>
      <mc:AlternateContent xmlns:mc="http://schemas.openxmlformats.org/markup-compatibility/2006" xmlns:a14="http://schemas.microsoft.com/office/drawing/2010/main">
        <mc:Choice Requires="a14">
          <p:sp>
            <p:nvSpPr>
              <p:cNvPr id="8" name="矩形 7"/>
              <p:cNvSpPr/>
              <p:nvPr/>
            </p:nvSpPr>
            <p:spPr>
              <a:xfrm>
                <a:off x="468406" y="2204864"/>
                <a:ext cx="7776864" cy="2875724"/>
              </a:xfrm>
              <a:prstGeom prst="rect">
                <a:avLst/>
              </a:prstGeom>
            </p:spPr>
            <p:txBody>
              <a:bodyPr wrap="square">
                <a:spAutoFit/>
              </a:bodyPr>
              <a:lstStyle/>
              <a:p>
                <a:r>
                  <a:rPr lang="zh-CN" altLang="zh-CN" sz="2000" dirty="0">
                    <a:solidFill>
                      <a:srgbClr val="0000FF"/>
                    </a:solidFill>
                    <a:latin typeface="微软雅黑" pitchFamily="34" charset="-122"/>
                    <a:ea typeface="微软雅黑" pitchFamily="34" charset="-122"/>
                  </a:rPr>
                  <a:t>关系代数：</a:t>
                </a:r>
              </a:p>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𝐶𝑁𝑎𝑚𝑒</m:t>
                          </m:r>
                          <m:r>
                            <a:rPr lang="en-US" altLang="zh-CN" sz="2000">
                              <a:latin typeface="Cambria Math"/>
                            </a:rPr>
                            <m:t>, </m:t>
                          </m:r>
                          <m:r>
                            <a:rPr lang="en-US" altLang="zh-CN" sz="2000" i="1">
                              <a:latin typeface="Cambria Math"/>
                            </a:rPr>
                            <m:t>𝑃h𝑜𝑛𝑒</m:t>
                          </m:r>
                        </m:sub>
                      </m:sSub>
                      <m:r>
                        <a:rPr lang="en-US" altLang="zh-CN" sz="2000" i="1">
                          <a:latin typeface="Cambria Math"/>
                        </a:rPr>
                        <m:t>(</m:t>
                      </m:r>
                      <m:r>
                        <a:rPr lang="en-US" altLang="zh-CN" sz="2000" i="1">
                          <a:latin typeface="Cambria Math"/>
                        </a:rPr>
                        <m:t>𝐶𝑢𝑠𝑡</m:t>
                      </m:r>
                      <m:r>
                        <a:rPr lang="en-US" altLang="zh-CN" sz="2000" i="1">
                          <a:latin typeface="Cambria Math"/>
                        </a:rPr>
                        <m:t>)</m:t>
                      </m:r>
                    </m:oMath>
                  </m:oMathPara>
                </a14:m>
                <a:endParaRPr lang="zh-CN" altLang="zh-CN" sz="2000" dirty="0"/>
              </a:p>
              <a:p>
                <a:endParaRPr lang="en-US" altLang="zh-CN" sz="2000" dirty="0"/>
              </a:p>
              <a:p>
                <a:r>
                  <a:rPr lang="zh-CN" altLang="zh-CN" sz="2000" dirty="0">
                    <a:solidFill>
                      <a:srgbClr val="0000FF"/>
                    </a:solidFill>
                    <a:latin typeface="微软雅黑" pitchFamily="34" charset="-122"/>
                    <a:ea typeface="微软雅黑" pitchFamily="34" charset="-122"/>
                  </a:rPr>
                  <a:t>元组演算：</a:t>
                </a:r>
              </a:p>
              <a:p>
                <a:pPr/>
                <a14:m>
                  <m:oMathPara xmlns:m="http://schemas.openxmlformats.org/officeDocument/2006/math">
                    <m:oMathParaPr>
                      <m:jc m:val="centerGroup"/>
                    </m:oMathParaPr>
                    <m:oMath xmlns:m="http://schemas.openxmlformats.org/officeDocument/2006/math">
                      <m:d>
                        <m:dPr>
                          <m:begChr m:val="{"/>
                          <m:endChr m:val="}"/>
                          <m:ctrlPr>
                            <a:rPr lang="zh-CN" altLang="zh-CN" sz="2000" i="1">
                              <a:latin typeface="Cambria Math" panose="02040503050406030204" pitchFamily="18" charset="0"/>
                            </a:rPr>
                          </m:ctrlPr>
                        </m:dPr>
                        <m:e>
                          <m:r>
                            <a:rPr lang="en-US" altLang="zh-CN" sz="2000" i="1">
                              <a:latin typeface="Cambria Math"/>
                            </a:rPr>
                            <m:t>𝑡</m:t>
                          </m:r>
                          <m:r>
                            <a:rPr lang="en-US" altLang="zh-CN" sz="2000" i="1">
                              <a:latin typeface="Cambria Math"/>
                            </a:rPr>
                            <m:t>[</m:t>
                          </m:r>
                          <m:r>
                            <a:rPr lang="en-US" altLang="zh-CN" sz="2000" i="1">
                              <a:latin typeface="Cambria Math"/>
                            </a:rPr>
                            <m:t>𝐶𝑁𝑎𝑚𝑒</m:t>
                          </m:r>
                          <m:r>
                            <a:rPr lang="en-US" altLang="zh-CN" sz="2000" i="1">
                              <a:latin typeface="Cambria Math"/>
                            </a:rPr>
                            <m:t>, </m:t>
                          </m:r>
                          <m:r>
                            <a:rPr lang="en-US" altLang="zh-CN" sz="2000" i="1">
                              <a:latin typeface="Cambria Math"/>
                            </a:rPr>
                            <m:t>𝑃h𝑜𝑛𝑒</m:t>
                          </m:r>
                          <m:r>
                            <a:rPr lang="en-US" altLang="zh-CN" sz="2000" i="1">
                              <a:latin typeface="Cambria Math"/>
                            </a:rPr>
                            <m:t>]|</m:t>
                          </m:r>
                          <m:r>
                            <a:rPr lang="en-US" altLang="zh-CN" sz="2000" i="1">
                              <a:latin typeface="Cambria Math"/>
                            </a:rPr>
                            <m:t>𝑡</m:t>
                          </m:r>
                          <m:r>
                            <a:rPr lang="en-US" altLang="zh-CN" sz="2000" i="1">
                              <a:latin typeface="Cambria Math"/>
                            </a:rPr>
                            <m:t>𝜖</m:t>
                          </m:r>
                          <m:r>
                            <a:rPr lang="en-US" altLang="zh-CN" sz="2000" i="1">
                              <a:latin typeface="Cambria Math"/>
                            </a:rPr>
                            <m:t>𝐶𝑢𝑠𝑡</m:t>
                          </m:r>
                        </m:e>
                      </m:d>
                    </m:oMath>
                  </m:oMathPara>
                </a14:m>
                <a:endParaRPr lang="zh-CN" altLang="zh-CN" sz="2000" dirty="0"/>
              </a:p>
              <a:p>
                <a:endParaRPr lang="en-US" altLang="zh-CN" sz="2000" dirty="0"/>
              </a:p>
              <a:p>
                <a:r>
                  <a:rPr lang="zh-CN" altLang="zh-CN" sz="2000" dirty="0"/>
                  <a:t>域演算：</a:t>
                </a:r>
              </a:p>
              <a:p>
                <a14:m>
                  <m:oMath xmlns:m="http://schemas.openxmlformats.org/officeDocument/2006/math">
                    <m:d>
                      <m:dPr>
                        <m:begChr m:val="{"/>
                        <m:endChr m:val=""/>
                        <m:ctrlPr>
                          <a:rPr lang="zh-CN" altLang="zh-CN" sz="2000" i="1">
                            <a:latin typeface="Cambria Math" panose="02040503050406030204" pitchFamily="18" charset="0"/>
                          </a:rPr>
                        </m:ctrlPr>
                      </m:dPr>
                      <m:e>
                        <m:d>
                          <m:dPr>
                            <m:ctrlPr>
                              <a:rPr lang="zh-CN" altLang="zh-CN" sz="2000" i="1">
                                <a:latin typeface="Cambria Math" panose="02040503050406030204" pitchFamily="18" charset="0"/>
                              </a:rPr>
                            </m:ctrlPr>
                          </m:dPr>
                          <m:e>
                            <m:r>
                              <a:rPr lang="en-US" altLang="zh-CN" sz="2000" i="1">
                                <a:latin typeface="Cambria Math"/>
                              </a:rPr>
                              <m:t>𝐶𝑁𝑎𝑚𝑒</m:t>
                            </m:r>
                            <m:r>
                              <a:rPr lang="en-US" altLang="zh-CN" sz="2000">
                                <a:latin typeface="Cambria Math"/>
                              </a:rPr>
                              <m:t>,</m:t>
                            </m:r>
                            <m:r>
                              <a:rPr lang="en-US" altLang="zh-CN" sz="2000" i="1">
                                <a:latin typeface="Cambria Math"/>
                              </a:rPr>
                              <m:t>𝑃h𝑜𝑛𝑒</m:t>
                            </m:r>
                          </m:e>
                        </m:d>
                        <m:r>
                          <a:rPr lang="en-US" altLang="zh-CN" sz="2000" i="1">
                            <a:latin typeface="Cambria Math"/>
                          </a:rPr>
                          <m:t>|                                                                                                    </m:t>
                        </m:r>
                      </m:e>
                    </m:d>
                  </m:oMath>
                </a14:m>
                <a:r>
                  <a:rPr lang="en-US" altLang="zh-CN" sz="2000" dirty="0"/>
                  <a:t> </a:t>
                </a:r>
                <a:endParaRPr lang="zh-CN" altLang="zh-CN" sz="2000" dirty="0"/>
              </a:p>
              <a:p>
                <a:pPr/>
                <a14:m>
                  <m:oMathPara xmlns:m="http://schemas.openxmlformats.org/officeDocument/2006/math">
                    <m:oMathParaPr>
                      <m:jc m:val="centerGroup"/>
                    </m:oMathParaPr>
                    <m:oMath xmlns:m="http://schemas.openxmlformats.org/officeDocument/2006/math">
                      <m:d>
                        <m:dPr>
                          <m:ctrlPr>
                            <a:rPr lang="zh-CN" altLang="zh-CN" sz="2000" i="1">
                              <a:latin typeface="Cambria Math" panose="02040503050406030204" pitchFamily="18" charset="0"/>
                            </a:rPr>
                          </m:ctrlPr>
                        </m:dPr>
                        <m:e>
                          <m:r>
                            <a:rPr lang="en-US" altLang="zh-CN" sz="2000" i="1">
                              <a:latin typeface="Cambria Math"/>
                            </a:rPr>
                            <m:t>𝐶𝑁𝑜</m:t>
                          </m:r>
                          <m:r>
                            <a:rPr lang="en-US" altLang="zh-CN" sz="2000">
                              <a:latin typeface="Cambria Math"/>
                            </a:rPr>
                            <m:t>,</m:t>
                          </m:r>
                          <m:r>
                            <a:rPr lang="en-US" altLang="zh-CN" sz="2000" i="1">
                              <a:latin typeface="Cambria Math"/>
                            </a:rPr>
                            <m:t>𝐶𝑁𝑎𝑚𝑒</m:t>
                          </m:r>
                          <m:r>
                            <a:rPr lang="en-US" altLang="zh-CN" sz="2000">
                              <a:latin typeface="Cambria Math"/>
                            </a:rPr>
                            <m:t>,</m:t>
                          </m:r>
                          <m:r>
                            <a:rPr lang="en-US" altLang="zh-CN" sz="2000" i="1">
                              <a:latin typeface="Cambria Math"/>
                            </a:rPr>
                            <m:t>𝐶𝑆𝑒𝑥</m:t>
                          </m:r>
                          <m:r>
                            <a:rPr lang="en-US" altLang="zh-CN" sz="2000">
                              <a:latin typeface="Cambria Math"/>
                            </a:rPr>
                            <m:t>,</m:t>
                          </m:r>
                          <m:r>
                            <a:rPr lang="en-US" altLang="zh-CN" sz="2000" i="1">
                              <a:latin typeface="Cambria Math"/>
                            </a:rPr>
                            <m:t>𝐵𝑖𝑟𝑡h</m:t>
                          </m:r>
                          <m:r>
                            <a:rPr lang="en-US" altLang="zh-CN" sz="2000">
                              <a:latin typeface="Cambria Math"/>
                            </a:rPr>
                            <m:t>,</m:t>
                          </m:r>
                          <m:r>
                            <a:rPr lang="en-US" altLang="zh-CN" sz="2000" i="1">
                              <a:latin typeface="Cambria Math"/>
                            </a:rPr>
                            <m:t>𝑃h𝑜𝑛𝑒</m:t>
                          </m:r>
                          <m:r>
                            <a:rPr lang="en-US" altLang="zh-CN" sz="2000">
                              <a:latin typeface="Cambria Math"/>
                            </a:rPr>
                            <m:t>,</m:t>
                          </m:r>
                          <m:r>
                            <a:rPr lang="en-US" altLang="zh-CN" sz="2000" i="1">
                              <a:latin typeface="Cambria Math"/>
                            </a:rPr>
                            <m:t>𝑀𝑎𝑟𝑟𝑦</m:t>
                          </m:r>
                          <m:r>
                            <a:rPr lang="en-US" altLang="zh-CN" sz="2000">
                              <a:latin typeface="Cambria Math"/>
                            </a:rPr>
                            <m:t>,</m:t>
                          </m:r>
                          <m:r>
                            <a:rPr lang="en-US" altLang="zh-CN" sz="2000" i="1">
                              <a:latin typeface="Cambria Math"/>
                            </a:rPr>
                            <m:t>𝑃h𝑜𝑡𝑜</m:t>
                          </m:r>
                          <m:r>
                            <a:rPr lang="en-US" altLang="zh-CN" sz="2000">
                              <a:latin typeface="Cambria Math"/>
                            </a:rPr>
                            <m:t>,</m:t>
                          </m:r>
                          <m:r>
                            <a:rPr lang="en-US" altLang="zh-CN" sz="2000" i="1">
                              <a:latin typeface="Cambria Math"/>
                            </a:rPr>
                            <m:t>𝐸𝑀𝑎𝑖𝑙</m:t>
                          </m:r>
                        </m:e>
                      </m:d>
                      <m:r>
                        <a:rPr lang="en-US" altLang="zh-CN" sz="2000" i="1">
                          <a:latin typeface="Cambria Math"/>
                        </a:rPr>
                        <m:t>𝜖</m:t>
                      </m:r>
                      <m:r>
                        <a:rPr lang="en-US" altLang="zh-CN" sz="2000" i="1">
                          <a:latin typeface="Cambria Math"/>
                        </a:rPr>
                        <m:t>𝐶𝑢𝑠𝑡</m:t>
                      </m:r>
                      <m:r>
                        <a:rPr lang="en-US" altLang="zh-CN" sz="2000" i="1">
                          <a:latin typeface="Cambria Math"/>
                        </a:rPr>
                        <m:t>}</m:t>
                      </m:r>
                    </m:oMath>
                  </m:oMathPara>
                </a14:m>
                <a:endParaRPr lang="zh-CN" altLang="zh-CN" sz="2000" dirty="0"/>
              </a:p>
            </p:txBody>
          </p:sp>
        </mc:Choice>
        <mc:Fallback xmlns="">
          <p:sp>
            <p:nvSpPr>
              <p:cNvPr id="8" name="矩形 7"/>
              <p:cNvSpPr>
                <a:spLocks noRot="1" noChangeAspect="1" noMove="1" noResize="1" noEditPoints="1" noAdjustHandles="1" noChangeArrowheads="1" noChangeShapeType="1" noTextEdit="1"/>
              </p:cNvSpPr>
              <p:nvPr/>
            </p:nvSpPr>
            <p:spPr>
              <a:xfrm>
                <a:off x="468406" y="2204864"/>
                <a:ext cx="7776864" cy="2875724"/>
              </a:xfrm>
              <a:prstGeom prst="rect">
                <a:avLst/>
              </a:prstGeom>
              <a:blipFill rotWithShape="1">
                <a:blip r:embed="rId2"/>
                <a:stretch>
                  <a:fillRect l="-5016" t="-1062" b="-15287"/>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E514C34D-4297-F44E-ACEB-49AC7BCC3D60}"/>
              </a:ext>
            </a:extLst>
          </p:cNvPr>
          <p:cNvSpPr>
            <a:spLocks noGrp="1"/>
          </p:cNvSpPr>
          <p:nvPr>
            <p:ph type="sldNum" sz="quarter" idx="12"/>
          </p:nvPr>
        </p:nvSpPr>
        <p:spPr/>
        <p:txBody>
          <a:bodyPr/>
          <a:lstStyle/>
          <a:p>
            <a:fld id="{C46E5E69-9A6D-4AF8-BC2D-C556A9893D8F}" type="slidenum">
              <a:rPr lang="zh-CN" altLang="en-US" smtClean="0"/>
              <a:pPr/>
              <a:t>28</a:t>
            </a:fld>
            <a:endParaRPr lang="zh-CN" altLang="en-US" dirty="0"/>
          </a:p>
        </p:txBody>
      </p:sp>
    </p:spTree>
    <p:extLst>
      <p:ext uri="{BB962C8B-B14F-4D97-AF65-F5344CB8AC3E}">
        <p14:creationId xmlns:p14="http://schemas.microsoft.com/office/powerpoint/2010/main" val="3258455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219256" cy="706090"/>
          </a:xfrm>
        </p:spPr>
        <p:txBody>
          <a:bodyPr/>
          <a:lstStyle/>
          <a:p>
            <a:r>
              <a:rPr lang="en-US" altLang="zh-CN" dirty="0">
                <a:solidFill>
                  <a:srgbClr val="0000FF"/>
                </a:solidFill>
              </a:rPr>
              <a:t>2.3.3  </a:t>
            </a:r>
            <a:r>
              <a:rPr lang="zh-CN" altLang="zh-CN" dirty="0">
                <a:solidFill>
                  <a:srgbClr val="0000FF"/>
                </a:solidFill>
              </a:rPr>
              <a:t>连接</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1340768"/>
            <a:ext cx="8784976" cy="5040560"/>
          </a:xfrm>
        </p:spPr>
        <p:txBody>
          <a:bodyPr>
            <a:noAutofit/>
          </a:bodyPr>
          <a:lstStyle/>
          <a:p>
            <a:r>
              <a:rPr lang="zh-CN" altLang="zh-CN" sz="2000" dirty="0">
                <a:solidFill>
                  <a:srgbClr val="0000FF"/>
                </a:solidFill>
              </a:rPr>
              <a:t>连接（</a:t>
            </a:r>
            <a:r>
              <a:rPr lang="en-US" altLang="zh-CN" sz="2000" dirty="0">
                <a:solidFill>
                  <a:srgbClr val="0000FF"/>
                </a:solidFill>
              </a:rPr>
              <a:t>Join</a:t>
            </a:r>
            <a:r>
              <a:rPr lang="zh-CN" altLang="zh-CN" sz="2000" dirty="0">
                <a:solidFill>
                  <a:srgbClr val="0000FF"/>
                </a:solidFill>
              </a:rPr>
              <a:t>）：</a:t>
            </a:r>
            <a:r>
              <a:rPr lang="zh-CN" altLang="zh-CN" sz="2000" dirty="0"/>
              <a:t>把两个关系按照连接条件进行连接后生成一个新关系的过程。即：根据指定的连接条件，依次检测</a:t>
            </a:r>
            <a:r>
              <a:rPr lang="en-US" altLang="zh-CN" sz="2000" dirty="0"/>
              <a:t>R</a:t>
            </a:r>
            <a:r>
              <a:rPr lang="zh-CN" altLang="zh-CN" sz="2000" dirty="0"/>
              <a:t>和</a:t>
            </a:r>
            <a:r>
              <a:rPr lang="en-US" altLang="zh-CN" sz="2000" dirty="0"/>
              <a:t>S</a:t>
            </a:r>
            <a:r>
              <a:rPr lang="zh-CN" altLang="zh-CN" sz="2000" dirty="0"/>
              <a:t>中的每一个元组，如果</a:t>
            </a:r>
            <a:r>
              <a:rPr lang="en-US" altLang="zh-CN" sz="2000" dirty="0"/>
              <a:t>R</a:t>
            </a:r>
            <a:r>
              <a:rPr lang="zh-CN" altLang="zh-CN" sz="2000" dirty="0"/>
              <a:t>中的某个元组与</a:t>
            </a:r>
            <a:r>
              <a:rPr lang="en-US" altLang="zh-CN" sz="2000" dirty="0"/>
              <a:t>S</a:t>
            </a:r>
            <a:r>
              <a:rPr lang="zh-CN" altLang="zh-CN" sz="2000" dirty="0"/>
              <a:t>中的某个元组满足了连接条件，则把这两个元组对接起来，而最终所有对接后的元组的集合即为</a:t>
            </a:r>
            <a:r>
              <a:rPr lang="en-US" altLang="zh-CN" sz="2000" dirty="0"/>
              <a:t>R</a:t>
            </a:r>
            <a:r>
              <a:rPr lang="zh-CN" altLang="zh-CN" sz="2000" dirty="0"/>
              <a:t>和</a:t>
            </a:r>
            <a:r>
              <a:rPr lang="en-US" altLang="zh-CN" sz="2000" dirty="0"/>
              <a:t>S</a:t>
            </a:r>
            <a:r>
              <a:rPr lang="zh-CN" altLang="zh-CN" sz="2000" dirty="0"/>
              <a:t>的连接。</a:t>
            </a:r>
            <a:endParaRPr lang="en-US" altLang="zh-CN" sz="1800" dirty="0"/>
          </a:p>
        </p:txBody>
      </p:sp>
      <p:sp>
        <p:nvSpPr>
          <p:cNvPr id="4" name="灯片编号占位符 3">
            <a:extLst>
              <a:ext uri="{FF2B5EF4-FFF2-40B4-BE49-F238E27FC236}">
                <a16:creationId xmlns:a16="http://schemas.microsoft.com/office/drawing/2014/main" id="{5E8EB4FD-19EA-D747-8027-EE5B61AEA000}"/>
              </a:ext>
            </a:extLst>
          </p:cNvPr>
          <p:cNvSpPr>
            <a:spLocks noGrp="1"/>
          </p:cNvSpPr>
          <p:nvPr>
            <p:ph type="sldNum" sz="quarter" idx="12"/>
          </p:nvPr>
        </p:nvSpPr>
        <p:spPr/>
        <p:txBody>
          <a:bodyPr/>
          <a:lstStyle/>
          <a:p>
            <a:fld id="{C46E5E69-9A6D-4AF8-BC2D-C556A9893D8F}" type="slidenum">
              <a:rPr lang="zh-CN" altLang="en-US" smtClean="0"/>
              <a:pPr/>
              <a:t>29</a:t>
            </a:fld>
            <a:endParaRPr lang="zh-CN" altLang="en-US" dirty="0"/>
          </a:p>
        </p:txBody>
      </p:sp>
    </p:spTree>
    <p:extLst>
      <p:ext uri="{BB962C8B-B14F-4D97-AF65-F5344CB8AC3E}">
        <p14:creationId xmlns:p14="http://schemas.microsoft.com/office/powerpoint/2010/main" val="4107832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706090"/>
          </a:xfrm>
        </p:spPr>
        <p:txBody>
          <a:bodyPr/>
          <a:lstStyle/>
          <a:p>
            <a:r>
              <a:rPr lang="zh-CN" altLang="zh-CN" dirty="0"/>
              <a:t>连接方法和连接过程</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r>
              <a:rPr lang="zh-CN" altLang="zh-CN" sz="2000" dirty="0"/>
              <a:t>嵌套循环法</a:t>
            </a:r>
            <a:r>
              <a:rPr lang="en-US" altLang="zh-CN" sz="2000" dirty="0"/>
              <a:t>(Nested Loop)</a:t>
            </a:r>
            <a:endParaRPr lang="zh-CN" altLang="zh-CN" sz="2000" dirty="0"/>
          </a:p>
          <a:p>
            <a:pPr lvl="1">
              <a:lnSpc>
                <a:spcPts val="2600"/>
              </a:lnSpc>
            </a:pPr>
            <a:r>
              <a:rPr lang="zh-CN" altLang="zh-CN" sz="1800" dirty="0"/>
              <a:t>首先在</a:t>
            </a:r>
            <a:r>
              <a:rPr lang="en-US" altLang="zh-CN" sz="1800" dirty="0"/>
              <a:t>R</a:t>
            </a:r>
            <a:r>
              <a:rPr lang="zh-CN" altLang="zh-CN" sz="1800" dirty="0"/>
              <a:t>中找到第一个元组，然后从头开始扫描</a:t>
            </a:r>
            <a:r>
              <a:rPr lang="en-US" altLang="zh-CN" sz="1800" dirty="0"/>
              <a:t>S</a:t>
            </a:r>
            <a:r>
              <a:rPr lang="zh-CN" altLang="zh-CN" sz="1800" dirty="0"/>
              <a:t>逐一查找满足连接件的元组，找到后就将</a:t>
            </a:r>
            <a:r>
              <a:rPr lang="en-US" altLang="zh-CN" sz="1800" dirty="0"/>
              <a:t>R</a:t>
            </a:r>
            <a:r>
              <a:rPr lang="zh-CN" altLang="zh-CN" sz="1800" dirty="0"/>
              <a:t>中的第一个元组与该元组拼接起来，形成结果关系中一个元组。</a:t>
            </a:r>
          </a:p>
          <a:p>
            <a:pPr lvl="1">
              <a:lnSpc>
                <a:spcPts val="2600"/>
              </a:lnSpc>
            </a:pPr>
            <a:r>
              <a:rPr lang="en-US" altLang="zh-CN" sz="1800" dirty="0"/>
              <a:t>S</a:t>
            </a:r>
            <a:r>
              <a:rPr lang="zh-CN" altLang="zh-CN" sz="1800" dirty="0"/>
              <a:t>全部查找完后，再找</a:t>
            </a:r>
            <a:r>
              <a:rPr lang="en-US" altLang="zh-CN" sz="1800" dirty="0"/>
              <a:t>R</a:t>
            </a:r>
            <a:r>
              <a:rPr lang="zh-CN" altLang="zh-CN" sz="1800" dirty="0"/>
              <a:t>中第二个元组，然后再从头开始扫描</a:t>
            </a:r>
            <a:r>
              <a:rPr lang="en-US" altLang="zh-CN" sz="1800" dirty="0"/>
              <a:t>S</a:t>
            </a:r>
            <a:r>
              <a:rPr lang="zh-CN" altLang="en-US" sz="1800" dirty="0"/>
              <a:t>，</a:t>
            </a:r>
            <a:r>
              <a:rPr lang="zh-CN" altLang="zh-CN" sz="1800" dirty="0"/>
              <a:t>逐一查找满足连接条件的元组，找到后就将</a:t>
            </a:r>
            <a:r>
              <a:rPr lang="en-US" altLang="zh-CN" sz="1800" dirty="0"/>
              <a:t>R</a:t>
            </a:r>
            <a:r>
              <a:rPr lang="zh-CN" altLang="zh-CN" sz="1800" dirty="0"/>
              <a:t>中的第二个元组与该元组拼接起来，形成结果表中一个元组。</a:t>
            </a:r>
          </a:p>
          <a:p>
            <a:pPr lvl="1">
              <a:lnSpc>
                <a:spcPts val="2600"/>
              </a:lnSpc>
            </a:pPr>
            <a:r>
              <a:rPr lang="zh-CN" altLang="zh-CN" sz="1800" dirty="0"/>
              <a:t>重复上述操作，直到</a:t>
            </a:r>
            <a:r>
              <a:rPr lang="en-US" altLang="zh-CN" sz="1800" dirty="0"/>
              <a:t>R</a:t>
            </a:r>
            <a:r>
              <a:rPr lang="zh-CN" altLang="zh-CN" sz="1800" dirty="0"/>
              <a:t>中的全部元组都处理完毕。</a:t>
            </a:r>
          </a:p>
          <a:p>
            <a:r>
              <a:rPr lang="zh-CN" altLang="zh-CN" sz="2000" dirty="0"/>
              <a:t>排序合并法</a:t>
            </a:r>
            <a:r>
              <a:rPr lang="en-US" altLang="zh-CN" sz="2000" dirty="0"/>
              <a:t>(Sort Merge)</a:t>
            </a:r>
            <a:endParaRPr lang="zh-CN" altLang="zh-CN" sz="2000" dirty="0"/>
          </a:p>
          <a:p>
            <a:pPr lvl="1">
              <a:lnSpc>
                <a:spcPts val="2600"/>
              </a:lnSpc>
            </a:pPr>
            <a:r>
              <a:rPr lang="zh-CN" altLang="zh-CN" sz="1800" dirty="0"/>
              <a:t>首先按连接属性对</a:t>
            </a:r>
            <a:r>
              <a:rPr lang="en-US" altLang="zh-CN" sz="1800" dirty="0"/>
              <a:t>R</a:t>
            </a:r>
            <a:r>
              <a:rPr lang="zh-CN" altLang="zh-CN" sz="1800" dirty="0"/>
              <a:t>和</a:t>
            </a:r>
            <a:r>
              <a:rPr lang="en-US" altLang="zh-CN" sz="1800" dirty="0"/>
              <a:t>S</a:t>
            </a:r>
            <a:r>
              <a:rPr lang="zh-CN" altLang="zh-CN" sz="1800" dirty="0"/>
              <a:t>排序。</a:t>
            </a:r>
          </a:p>
          <a:p>
            <a:pPr lvl="1">
              <a:lnSpc>
                <a:spcPts val="2600"/>
              </a:lnSpc>
            </a:pPr>
            <a:r>
              <a:rPr lang="zh-CN" altLang="zh-CN" sz="1800" dirty="0"/>
              <a:t>对</a:t>
            </a:r>
            <a:r>
              <a:rPr lang="en-US" altLang="zh-CN" sz="1800" dirty="0"/>
              <a:t>R</a:t>
            </a:r>
            <a:r>
              <a:rPr lang="zh-CN" altLang="zh-CN" sz="1800" dirty="0"/>
              <a:t>的第一个元组，从头开始扫描</a:t>
            </a:r>
            <a:r>
              <a:rPr lang="en-US" altLang="zh-CN" sz="1800" dirty="0"/>
              <a:t>S</a:t>
            </a:r>
            <a:r>
              <a:rPr lang="zh-CN" altLang="zh-CN" sz="1800" dirty="0"/>
              <a:t>，顺序查找满足连接条件的元组，找到后就将</a:t>
            </a:r>
            <a:r>
              <a:rPr lang="en-US" altLang="zh-CN" sz="1800" dirty="0"/>
              <a:t>R</a:t>
            </a:r>
            <a:r>
              <a:rPr lang="zh-CN" altLang="zh-CN" sz="1800" dirty="0"/>
              <a:t>中的第一个元组与该元组拼接起来，形成结果关系中一个元组。当遇到</a:t>
            </a:r>
            <a:r>
              <a:rPr lang="en-US" altLang="zh-CN" sz="1800" dirty="0"/>
              <a:t>S</a:t>
            </a:r>
            <a:r>
              <a:rPr lang="zh-CN" altLang="zh-CN" sz="1800" dirty="0"/>
              <a:t>中第一条大于</a:t>
            </a:r>
            <a:r>
              <a:rPr lang="en-US" altLang="zh-CN" sz="1800" dirty="0"/>
              <a:t>R</a:t>
            </a:r>
            <a:r>
              <a:rPr lang="zh-CN" altLang="zh-CN" sz="1800" dirty="0"/>
              <a:t>连接字段值的元组时，对</a:t>
            </a:r>
            <a:r>
              <a:rPr lang="en-US" altLang="zh-CN" sz="1800" dirty="0"/>
              <a:t>S</a:t>
            </a:r>
            <a:r>
              <a:rPr lang="zh-CN" altLang="zh-CN" sz="1800" dirty="0"/>
              <a:t>的查询不再继续。</a:t>
            </a:r>
          </a:p>
          <a:p>
            <a:pPr lvl="1">
              <a:lnSpc>
                <a:spcPts val="2600"/>
              </a:lnSpc>
            </a:pPr>
            <a:r>
              <a:rPr lang="zh-CN" altLang="zh-CN" sz="1800" dirty="0"/>
              <a:t>找到</a:t>
            </a:r>
            <a:r>
              <a:rPr lang="en-US" altLang="zh-CN" sz="1800" dirty="0"/>
              <a:t>R</a:t>
            </a:r>
            <a:r>
              <a:rPr lang="zh-CN" altLang="zh-CN" sz="1800" dirty="0"/>
              <a:t>的第二个元组，然后从刚才的中断点处继续顺序扫描</a:t>
            </a:r>
            <a:r>
              <a:rPr lang="en-US" altLang="zh-CN" sz="1800" dirty="0"/>
              <a:t>S</a:t>
            </a:r>
            <a:r>
              <a:rPr lang="zh-CN" altLang="zh-CN" sz="1800" dirty="0"/>
              <a:t>，查找满足连接条件的元组，找到后就将</a:t>
            </a:r>
            <a:r>
              <a:rPr lang="en-US" altLang="zh-CN" sz="1800" dirty="0"/>
              <a:t>R</a:t>
            </a:r>
            <a:r>
              <a:rPr lang="zh-CN" altLang="zh-CN" sz="1800" dirty="0"/>
              <a:t>中的第二个元组与该元组拼接起来，形成结果关系中一个元组。直接遇到</a:t>
            </a:r>
            <a:r>
              <a:rPr lang="en-US" altLang="zh-CN" sz="1800" dirty="0"/>
              <a:t>S</a:t>
            </a:r>
            <a:r>
              <a:rPr lang="zh-CN" altLang="zh-CN" sz="1800" dirty="0"/>
              <a:t>中大于</a:t>
            </a:r>
            <a:r>
              <a:rPr lang="en-US" altLang="zh-CN" sz="1800" dirty="0"/>
              <a:t>R</a:t>
            </a:r>
            <a:r>
              <a:rPr lang="zh-CN" altLang="zh-CN" sz="1800" dirty="0"/>
              <a:t>连接字段值的元组时，对</a:t>
            </a:r>
            <a:r>
              <a:rPr lang="en-US" altLang="zh-CN" sz="1800" dirty="0"/>
              <a:t>S</a:t>
            </a:r>
            <a:r>
              <a:rPr lang="zh-CN" altLang="zh-CN" sz="1800" dirty="0"/>
              <a:t>的查询不再继续。</a:t>
            </a:r>
          </a:p>
          <a:p>
            <a:pPr lvl="1">
              <a:lnSpc>
                <a:spcPts val="2600"/>
              </a:lnSpc>
            </a:pPr>
            <a:r>
              <a:rPr lang="zh-CN" altLang="zh-CN" sz="1800" dirty="0"/>
              <a:t>重复上述操作，直到</a:t>
            </a:r>
            <a:r>
              <a:rPr lang="en-US" altLang="zh-CN" sz="1800" dirty="0"/>
              <a:t>R</a:t>
            </a:r>
            <a:r>
              <a:rPr lang="zh-CN" altLang="zh-CN" sz="1800" dirty="0"/>
              <a:t>或</a:t>
            </a:r>
            <a:r>
              <a:rPr lang="en-US" altLang="zh-CN" sz="1800" dirty="0"/>
              <a:t>S</a:t>
            </a:r>
            <a:r>
              <a:rPr lang="zh-CN" altLang="zh-CN" sz="1800" dirty="0"/>
              <a:t>中的全部元组都处理完毕为止。</a:t>
            </a:r>
            <a:endParaRPr lang="en-US" altLang="zh-CN" sz="1800" dirty="0"/>
          </a:p>
        </p:txBody>
      </p:sp>
      <p:sp>
        <p:nvSpPr>
          <p:cNvPr id="4" name="灯片编号占位符 3">
            <a:extLst>
              <a:ext uri="{FF2B5EF4-FFF2-40B4-BE49-F238E27FC236}">
                <a16:creationId xmlns:a16="http://schemas.microsoft.com/office/drawing/2014/main" id="{B7F9C2D5-9893-CF47-94AC-46F518089E5E}"/>
              </a:ext>
            </a:extLst>
          </p:cNvPr>
          <p:cNvSpPr>
            <a:spLocks noGrp="1"/>
          </p:cNvSpPr>
          <p:nvPr>
            <p:ph type="sldNum" sz="quarter" idx="12"/>
          </p:nvPr>
        </p:nvSpPr>
        <p:spPr/>
        <p:txBody>
          <a:bodyPr/>
          <a:lstStyle/>
          <a:p>
            <a:fld id="{C46E5E69-9A6D-4AF8-BC2D-C556A9893D8F}" type="slidenum">
              <a:rPr lang="zh-CN" altLang="en-US" smtClean="0"/>
              <a:pPr/>
              <a:t>30</a:t>
            </a:fld>
            <a:endParaRPr lang="zh-CN" altLang="en-US" dirty="0"/>
          </a:p>
        </p:txBody>
      </p:sp>
    </p:spTree>
    <p:extLst>
      <p:ext uri="{BB962C8B-B14F-4D97-AF65-F5344CB8AC3E}">
        <p14:creationId xmlns:p14="http://schemas.microsoft.com/office/powerpoint/2010/main" val="3718157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连接方法和连接过程</a:t>
            </a:r>
            <a:endParaRPr lang="zh-CN" altLang="en-US" i="0" u="none" strike="noStrike" kern="2200" baseline="0" dirty="0"/>
          </a:p>
        </p:txBody>
      </p:sp>
      <p:sp>
        <p:nvSpPr>
          <p:cNvPr id="3" name="文本占位符 2"/>
          <p:cNvSpPr>
            <a:spLocks noGrp="1"/>
          </p:cNvSpPr>
          <p:nvPr>
            <p:ph type="body" idx="1"/>
          </p:nvPr>
        </p:nvSpPr>
        <p:spPr>
          <a:xfrm>
            <a:off x="179512" y="1124744"/>
            <a:ext cx="8784976" cy="4608512"/>
          </a:xfrm>
        </p:spPr>
        <p:txBody>
          <a:bodyPr>
            <a:noAutofit/>
          </a:bodyPr>
          <a:lstStyle/>
          <a:p>
            <a:r>
              <a:rPr lang="zh-CN" altLang="zh-CN" sz="2000" dirty="0"/>
              <a:t>索引连接</a:t>
            </a:r>
            <a:r>
              <a:rPr lang="en-US" altLang="zh-CN" sz="2000" dirty="0"/>
              <a:t>(Index Join)</a:t>
            </a:r>
            <a:endParaRPr lang="zh-CN" altLang="zh-CN" sz="2000" dirty="0"/>
          </a:p>
          <a:p>
            <a:pPr lvl="1"/>
            <a:r>
              <a:rPr lang="zh-CN" altLang="zh-CN" sz="1800" dirty="0"/>
              <a:t>对</a:t>
            </a:r>
            <a:r>
              <a:rPr lang="en-US" altLang="zh-CN" sz="1800" dirty="0"/>
              <a:t>S</a:t>
            </a:r>
            <a:r>
              <a:rPr lang="zh-CN" altLang="zh-CN" sz="1800" dirty="0"/>
              <a:t>按连接字段建立索引</a:t>
            </a:r>
          </a:p>
          <a:p>
            <a:pPr lvl="1"/>
            <a:r>
              <a:rPr lang="zh-CN" altLang="zh-CN" sz="1800" dirty="0"/>
              <a:t>对</a:t>
            </a:r>
            <a:r>
              <a:rPr lang="en-US" altLang="zh-CN" sz="1800" dirty="0"/>
              <a:t>R</a:t>
            </a:r>
            <a:r>
              <a:rPr lang="zh-CN" altLang="zh-CN" sz="1800" dirty="0"/>
              <a:t>的每个元组，依次根据其连接字段值查询</a:t>
            </a:r>
            <a:r>
              <a:rPr lang="en-US" altLang="zh-CN" sz="1800" dirty="0"/>
              <a:t>S</a:t>
            </a:r>
            <a:r>
              <a:rPr lang="zh-CN" altLang="zh-CN" sz="1800" dirty="0"/>
              <a:t>的索引，从中找到满足条件的索引值，进而在</a:t>
            </a:r>
            <a:r>
              <a:rPr lang="en-US" altLang="zh-CN" sz="1800" dirty="0"/>
              <a:t>S</a:t>
            </a:r>
            <a:r>
              <a:rPr lang="zh-CN" altLang="zh-CN" sz="1800" dirty="0"/>
              <a:t>中找到与之对应的元组，找到后就将</a:t>
            </a:r>
            <a:r>
              <a:rPr lang="en-US" altLang="zh-CN" sz="1800" dirty="0"/>
              <a:t>R</a:t>
            </a:r>
            <a:r>
              <a:rPr lang="zh-CN" altLang="zh-CN" sz="1800" dirty="0"/>
              <a:t>中的第一个元组与该元组拼接起来，形成结果表中一个元组；依次进行下去，直到结束。</a:t>
            </a:r>
            <a:endParaRPr lang="zh-CN" altLang="en-US" sz="1800" kern="100" dirty="0"/>
          </a:p>
        </p:txBody>
      </p:sp>
      <p:sp>
        <p:nvSpPr>
          <p:cNvPr id="4" name="灯片编号占位符 3">
            <a:extLst>
              <a:ext uri="{FF2B5EF4-FFF2-40B4-BE49-F238E27FC236}">
                <a16:creationId xmlns:a16="http://schemas.microsoft.com/office/drawing/2014/main" id="{A804B4E6-D581-C647-8E12-7C6742BEE7AC}"/>
              </a:ext>
            </a:extLst>
          </p:cNvPr>
          <p:cNvSpPr>
            <a:spLocks noGrp="1"/>
          </p:cNvSpPr>
          <p:nvPr>
            <p:ph type="sldNum" sz="quarter" idx="12"/>
          </p:nvPr>
        </p:nvSpPr>
        <p:spPr/>
        <p:txBody>
          <a:bodyPr/>
          <a:lstStyle/>
          <a:p>
            <a:fld id="{C46E5E69-9A6D-4AF8-BC2D-C556A9893D8F}" type="slidenum">
              <a:rPr lang="zh-CN" altLang="en-US" smtClean="0"/>
              <a:pPr/>
              <a:t>31</a:t>
            </a:fld>
            <a:endParaRPr lang="zh-CN" altLang="en-US" dirty="0"/>
          </a:p>
        </p:txBody>
      </p:sp>
    </p:spTree>
    <p:extLst>
      <p:ext uri="{BB962C8B-B14F-4D97-AF65-F5344CB8AC3E}">
        <p14:creationId xmlns:p14="http://schemas.microsoft.com/office/powerpoint/2010/main" val="2030779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0000FF"/>
                </a:solidFill>
              </a:rPr>
              <a:t>连接</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980728"/>
            <a:ext cx="8784976" cy="5328592"/>
          </a:xfrm>
        </p:spPr>
        <p:txBody>
          <a:bodyPr>
            <a:noAutofit/>
          </a:bodyPr>
          <a:lstStyle/>
          <a:p>
            <a:r>
              <a:rPr lang="zh-CN" altLang="zh-CN" sz="2000" dirty="0">
                <a:solidFill>
                  <a:srgbClr val="0000FF"/>
                </a:solidFill>
              </a:rPr>
              <a:t>关系代数</a:t>
            </a:r>
            <a:r>
              <a:rPr lang="zh-CN" altLang="zh-CN" sz="2000" dirty="0"/>
              <a:t>：</a:t>
            </a:r>
          </a:p>
          <a:p>
            <a:endParaRPr lang="en-US" altLang="zh-CN" sz="2000" dirty="0"/>
          </a:p>
          <a:p>
            <a:pPr marL="0" indent="0">
              <a:buNone/>
            </a:pPr>
            <a:r>
              <a:rPr lang="en-US" altLang="zh-CN" sz="2000" dirty="0"/>
              <a:t>     R</a:t>
            </a:r>
            <a:r>
              <a:rPr lang="zh-CN" altLang="en-US" sz="2000" dirty="0"/>
              <a:t>和</a:t>
            </a:r>
            <a:r>
              <a:rPr lang="en-US" altLang="zh-CN" sz="2000" dirty="0"/>
              <a:t>S</a:t>
            </a:r>
            <a:r>
              <a:rPr lang="zh-CN" altLang="zh-CN" sz="2000" dirty="0"/>
              <a:t>的笛卡尔积中选择出满足条件的元组。</a:t>
            </a:r>
            <a:endParaRPr lang="en-US" altLang="zh-CN" sz="2000" dirty="0"/>
          </a:p>
          <a:p>
            <a:pPr marL="0" indent="0">
              <a:buNone/>
            </a:pPr>
            <a:r>
              <a:rPr lang="en-US" altLang="zh-CN" sz="2000" dirty="0"/>
              <a:t>     R</a:t>
            </a:r>
            <a:r>
              <a:rPr lang="zh-CN" altLang="en-US" sz="2000" dirty="0"/>
              <a:t>和</a:t>
            </a:r>
            <a:r>
              <a:rPr lang="en-US" altLang="zh-CN" sz="2000" dirty="0"/>
              <a:t>S</a:t>
            </a:r>
            <a:r>
              <a:rPr lang="zh-CN" altLang="zh-CN" sz="2000" dirty="0"/>
              <a:t>笛卡尔积的选择操作</a:t>
            </a:r>
            <a:r>
              <a:rPr lang="zh-CN" altLang="en-US" sz="2000" dirty="0"/>
              <a:t>；</a:t>
            </a:r>
            <a:r>
              <a:rPr lang="zh-CN" altLang="zh-CN" sz="2000" dirty="0"/>
              <a:t>由笛卡尔积和选择运算导出</a:t>
            </a:r>
          </a:p>
          <a:p>
            <a:r>
              <a:rPr lang="zh-CN" altLang="zh-CN" sz="2000" dirty="0">
                <a:solidFill>
                  <a:srgbClr val="0000FF"/>
                </a:solidFill>
              </a:rPr>
              <a:t>属性</a:t>
            </a:r>
            <a:r>
              <a:rPr lang="zh-CN" altLang="zh-CN" sz="2000" dirty="0"/>
              <a:t>： </a:t>
            </a:r>
          </a:p>
          <a:p>
            <a:r>
              <a:rPr lang="zh-CN" altLang="zh-CN" sz="2000" dirty="0">
                <a:solidFill>
                  <a:srgbClr val="0000FF"/>
                </a:solidFill>
              </a:rPr>
              <a:t>分量个数</a:t>
            </a:r>
            <a:r>
              <a:rPr lang="zh-CN" altLang="zh-CN" sz="2000" dirty="0"/>
              <a:t>：等于</a:t>
            </a:r>
            <a:r>
              <a:rPr lang="en-US" altLang="zh-CN" sz="2000" dirty="0"/>
              <a:t>R</a:t>
            </a:r>
            <a:r>
              <a:rPr lang="zh-CN" altLang="zh-CN" sz="2000" dirty="0"/>
              <a:t>和</a:t>
            </a:r>
            <a:r>
              <a:rPr lang="en-US" altLang="zh-CN" sz="2000" dirty="0"/>
              <a:t>S</a:t>
            </a:r>
            <a:r>
              <a:rPr lang="zh-CN" altLang="zh-CN" sz="2000" dirty="0"/>
              <a:t>分量个数的和</a:t>
            </a:r>
          </a:p>
          <a:p>
            <a:r>
              <a:rPr lang="zh-CN" altLang="zh-CN" sz="2000" dirty="0">
                <a:solidFill>
                  <a:srgbClr val="0000FF"/>
                </a:solidFill>
              </a:rPr>
              <a:t>元组个数</a:t>
            </a:r>
            <a:r>
              <a:rPr lang="zh-CN" altLang="zh-CN" sz="2000" dirty="0"/>
              <a:t>：小于等于</a:t>
            </a:r>
            <a:r>
              <a:rPr lang="en-US" altLang="zh-CN" sz="2000" dirty="0"/>
              <a:t>k1×k2</a:t>
            </a:r>
            <a:r>
              <a:rPr lang="zh-CN" altLang="zh-CN" sz="2000" dirty="0"/>
              <a:t> 。</a:t>
            </a:r>
            <a:r>
              <a:rPr lang="en-US" altLang="zh-CN" sz="2000" dirty="0"/>
              <a:t>k1</a:t>
            </a:r>
            <a:r>
              <a:rPr lang="zh-CN" altLang="zh-CN" sz="2000" dirty="0"/>
              <a:t>是</a:t>
            </a:r>
            <a:r>
              <a:rPr lang="en-US" altLang="zh-CN" sz="2000" dirty="0"/>
              <a:t>R</a:t>
            </a:r>
            <a:r>
              <a:rPr lang="zh-CN" altLang="zh-CN" sz="2000" dirty="0"/>
              <a:t>的元组的个数；</a:t>
            </a:r>
            <a:r>
              <a:rPr lang="en-US" altLang="zh-CN" sz="2000" dirty="0"/>
              <a:t>k2</a:t>
            </a:r>
            <a:r>
              <a:rPr lang="zh-CN" altLang="zh-CN" sz="2000" dirty="0"/>
              <a:t>是</a:t>
            </a:r>
            <a:r>
              <a:rPr lang="en-US" altLang="zh-CN" sz="2000" dirty="0"/>
              <a:t>S</a:t>
            </a:r>
            <a:r>
              <a:rPr lang="zh-CN" altLang="zh-CN" sz="2000" dirty="0"/>
              <a:t>的元组的个数</a:t>
            </a:r>
          </a:p>
          <a:p>
            <a:r>
              <a:rPr lang="zh-CN" altLang="zh-CN" sz="2000" dirty="0">
                <a:solidFill>
                  <a:srgbClr val="0000FF"/>
                </a:solidFill>
              </a:rPr>
              <a:t>元组关系演算</a:t>
            </a:r>
            <a:r>
              <a:rPr lang="zh-CN" altLang="zh-CN" sz="2000" dirty="0"/>
              <a:t>：</a:t>
            </a:r>
          </a:p>
          <a:p>
            <a:pPr marL="0" indent="0">
              <a:buNone/>
            </a:pPr>
            <a:r>
              <a:rPr lang="zh-CN" altLang="zh-CN" sz="2000" dirty="0"/>
              <a:t>      </a:t>
            </a:r>
          </a:p>
          <a:p>
            <a:r>
              <a:rPr lang="zh-CN" altLang="zh-CN" sz="2000" dirty="0"/>
              <a:t>域关系演算：</a:t>
            </a:r>
          </a:p>
        </p:txBody>
      </p:sp>
      <p:graphicFrame>
        <p:nvGraphicFramePr>
          <p:cNvPr id="7" name="对象 6"/>
          <p:cNvGraphicFramePr>
            <a:graphicFrameLocks noChangeAspect="1"/>
          </p:cNvGraphicFramePr>
          <p:nvPr>
            <p:extLst>
              <p:ext uri="{D42A27DB-BD31-4B8C-83A1-F6EECF244321}">
                <p14:modId xmlns:p14="http://schemas.microsoft.com/office/powerpoint/2010/main" val="1575930970"/>
              </p:ext>
            </p:extLst>
          </p:nvPr>
        </p:nvGraphicFramePr>
        <p:xfrm>
          <a:off x="2117725" y="1030288"/>
          <a:ext cx="1271588" cy="476250"/>
        </p:xfrm>
        <a:graphic>
          <a:graphicData uri="http://schemas.openxmlformats.org/presentationml/2006/ole">
            <mc:AlternateContent xmlns:mc="http://schemas.openxmlformats.org/markup-compatibility/2006">
              <mc:Choice xmlns:v="urn:schemas-microsoft-com:vml" Requires="v">
                <p:oleObj spid="_x0000_s16107" name="公式" r:id="rId4" imgW="558720" imgH="190440" progId="Equation.3">
                  <p:embed/>
                </p:oleObj>
              </mc:Choice>
              <mc:Fallback>
                <p:oleObj name="公式" r:id="rId4" imgW="558720" imgH="190440" progId="Equation.3">
                  <p:embed/>
                  <p:pic>
                    <p:nvPicPr>
                      <p:cNvPr id="0" name="Object 2"/>
                      <p:cNvPicPr>
                        <a:picLocks noChangeAspect="1" noChangeArrowheads="1"/>
                      </p:cNvPicPr>
                      <p:nvPr/>
                    </p:nvPicPr>
                    <p:blipFill>
                      <a:blip r:embed="rId5"/>
                      <a:srcRect/>
                      <a:stretch>
                        <a:fillRect/>
                      </a:stretch>
                    </p:blipFill>
                    <p:spPr bwMode="auto">
                      <a:xfrm>
                        <a:off x="2117725" y="1030288"/>
                        <a:ext cx="1271588" cy="47625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160324268"/>
              </p:ext>
            </p:extLst>
          </p:nvPr>
        </p:nvGraphicFramePr>
        <p:xfrm>
          <a:off x="2353535" y="1395089"/>
          <a:ext cx="755576" cy="351431"/>
        </p:xfrm>
        <a:graphic>
          <a:graphicData uri="http://schemas.openxmlformats.org/presentationml/2006/ole">
            <mc:AlternateContent xmlns:mc="http://schemas.openxmlformats.org/markup-compatibility/2006">
              <mc:Choice xmlns:v="urn:schemas-microsoft-com:vml" Requires="v">
                <p:oleObj spid="_x0000_s16108" name="公式" r:id="rId6" imgW="418918" imgH="177723" progId="Equation.3">
                  <p:embed/>
                </p:oleObj>
              </mc:Choice>
              <mc:Fallback>
                <p:oleObj name="公式" r:id="rId6" imgW="418918" imgH="177723"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3535" y="1395089"/>
                        <a:ext cx="755576" cy="351431"/>
                      </a:xfrm>
                      <a:prstGeom prst="rect">
                        <a:avLst/>
                      </a:prstGeom>
                      <a:noFill/>
                    </p:spPr>
                  </p:pic>
                </p:oleObj>
              </mc:Fallback>
            </mc:AlternateContent>
          </a:graphicData>
        </a:graphic>
      </p:graphicFrame>
      <p:sp>
        <p:nvSpPr>
          <p:cNvPr id="9" name="AutoShape 312"/>
          <p:cNvSpPr>
            <a:spLocks noChangeArrowheads="1"/>
          </p:cNvSpPr>
          <p:nvPr/>
        </p:nvSpPr>
        <p:spPr bwMode="auto">
          <a:xfrm rot="-5400000">
            <a:off x="2638658" y="1134262"/>
            <a:ext cx="185331" cy="268992"/>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4169468486"/>
              </p:ext>
            </p:extLst>
          </p:nvPr>
        </p:nvGraphicFramePr>
        <p:xfrm>
          <a:off x="5220072" y="1037574"/>
          <a:ext cx="2928730" cy="647700"/>
        </p:xfrm>
        <a:graphic>
          <a:graphicData uri="http://schemas.openxmlformats.org/presentationml/2006/ole">
            <mc:AlternateContent xmlns:mc="http://schemas.openxmlformats.org/markup-compatibility/2006">
              <mc:Choice xmlns:v="urn:schemas-microsoft-com:vml" Requires="v">
                <p:oleObj spid="_x0000_s16109" name="公式" r:id="rId8" imgW="990170" imgH="215806" progId="Equation.3">
                  <p:embed/>
                </p:oleObj>
              </mc:Choice>
              <mc:Fallback>
                <p:oleObj name="公式" r:id="rId8" imgW="990170" imgH="215806"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20072" y="1037574"/>
                        <a:ext cx="2928730" cy="647700"/>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961049002"/>
              </p:ext>
            </p:extLst>
          </p:nvPr>
        </p:nvGraphicFramePr>
        <p:xfrm>
          <a:off x="1547664" y="2924944"/>
          <a:ext cx="3096344" cy="389069"/>
        </p:xfrm>
        <a:graphic>
          <a:graphicData uri="http://schemas.openxmlformats.org/presentationml/2006/ole">
            <mc:AlternateContent xmlns:mc="http://schemas.openxmlformats.org/markup-compatibility/2006">
              <mc:Choice xmlns:v="urn:schemas-microsoft-com:vml" Requires="v">
                <p:oleObj spid="_x0000_s16110" name="公式" r:id="rId10" imgW="1816100" imgH="228600" progId="Equation.3">
                  <p:embed/>
                </p:oleObj>
              </mc:Choice>
              <mc:Fallback>
                <p:oleObj name="公式" r:id="rId10" imgW="1816100" imgH="22860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664" y="2924944"/>
                        <a:ext cx="3096344" cy="389069"/>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280311071"/>
              </p:ext>
            </p:extLst>
          </p:nvPr>
        </p:nvGraphicFramePr>
        <p:xfrm>
          <a:off x="2411760" y="4437112"/>
          <a:ext cx="5698024" cy="504056"/>
        </p:xfrm>
        <a:graphic>
          <a:graphicData uri="http://schemas.openxmlformats.org/presentationml/2006/ole">
            <mc:AlternateContent xmlns:mc="http://schemas.openxmlformats.org/markup-compatibility/2006">
              <mc:Choice xmlns:v="urn:schemas-microsoft-com:vml" Requires="v">
                <p:oleObj spid="_x0000_s16111" name="公式" r:id="rId12" imgW="2489200" imgH="215900" progId="Equation.3">
                  <p:embed/>
                </p:oleObj>
              </mc:Choice>
              <mc:Fallback>
                <p:oleObj name="公式" r:id="rId12" imgW="2489200" imgH="215900"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11760" y="4437112"/>
                        <a:ext cx="5698024" cy="504056"/>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736103102"/>
              </p:ext>
            </p:extLst>
          </p:nvPr>
        </p:nvGraphicFramePr>
        <p:xfrm>
          <a:off x="2505780" y="4941168"/>
          <a:ext cx="720080" cy="351667"/>
        </p:xfrm>
        <a:graphic>
          <a:graphicData uri="http://schemas.openxmlformats.org/presentationml/2006/ole">
            <mc:AlternateContent xmlns:mc="http://schemas.openxmlformats.org/markup-compatibility/2006">
              <mc:Choice xmlns:v="urn:schemas-microsoft-com:vml" Requires="v">
                <p:oleObj spid="_x0000_s16112" name="公式" r:id="rId14" imgW="419100" imgH="190500" progId="Equation.3">
                  <p:embed/>
                </p:oleObj>
              </mc:Choice>
              <mc:Fallback>
                <p:oleObj name="公式" r:id="rId14" imgW="419100" imgH="19050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05780" y="4941168"/>
                        <a:ext cx="720080" cy="351667"/>
                      </a:xfrm>
                      <a:prstGeom prst="rect">
                        <a:avLst/>
                      </a:prstGeom>
                      <a:noFill/>
                    </p:spPr>
                  </p:pic>
                </p:oleObj>
              </mc:Fallback>
            </mc:AlternateContent>
          </a:graphicData>
        </a:graphic>
      </p:graphicFrame>
      <p:sp>
        <p:nvSpPr>
          <p:cNvPr id="22" name="Arc 309"/>
          <p:cNvSpPr>
            <a:spLocks/>
          </p:cNvSpPr>
          <p:nvPr/>
        </p:nvSpPr>
        <p:spPr bwMode="auto">
          <a:xfrm rot="-2520000">
            <a:off x="2749272" y="4406413"/>
            <a:ext cx="229849" cy="277126"/>
          </a:xfrm>
          <a:custGeom>
            <a:avLst/>
            <a:gdLst>
              <a:gd name="G0" fmla="+- 0 0 0"/>
              <a:gd name="G1" fmla="+- 21600 0 0"/>
              <a:gd name="G2" fmla="+- 21600 0 0"/>
              <a:gd name="T0" fmla="*/ 0 w 21065"/>
              <a:gd name="T1" fmla="*/ 0 h 21600"/>
              <a:gd name="T2" fmla="*/ 21065 w 21065"/>
              <a:gd name="T3" fmla="*/ 16823 h 21600"/>
              <a:gd name="T4" fmla="*/ 0 w 21065"/>
              <a:gd name="T5" fmla="*/ 21600 h 21600"/>
            </a:gdLst>
            <a:ahLst/>
            <a:cxnLst>
              <a:cxn ang="0">
                <a:pos x="T0" y="T1"/>
              </a:cxn>
              <a:cxn ang="0">
                <a:pos x="T2" y="T3"/>
              </a:cxn>
              <a:cxn ang="0">
                <a:pos x="T4" y="T5"/>
              </a:cxn>
            </a:cxnLst>
            <a:rect l="0" t="0" r="r" b="b"/>
            <a:pathLst>
              <a:path w="21065" h="21600" fill="none" extrusionOk="0">
                <a:moveTo>
                  <a:pt x="-1" y="0"/>
                </a:moveTo>
                <a:cubicBezTo>
                  <a:pt x="10088" y="0"/>
                  <a:pt x="18833" y="6983"/>
                  <a:pt x="21065" y="16822"/>
                </a:cubicBezTo>
              </a:path>
              <a:path w="21065" h="21600" stroke="0" extrusionOk="0">
                <a:moveTo>
                  <a:pt x="-1" y="0"/>
                </a:moveTo>
                <a:cubicBezTo>
                  <a:pt x="10088" y="0"/>
                  <a:pt x="18833" y="6983"/>
                  <a:pt x="21065" y="16822"/>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3626350800"/>
              </p:ext>
            </p:extLst>
          </p:nvPr>
        </p:nvGraphicFramePr>
        <p:xfrm>
          <a:off x="2195736" y="5229200"/>
          <a:ext cx="6703602" cy="360040"/>
        </p:xfrm>
        <a:graphic>
          <a:graphicData uri="http://schemas.openxmlformats.org/presentationml/2006/ole">
            <mc:AlternateContent xmlns:mc="http://schemas.openxmlformats.org/markup-compatibility/2006">
              <mc:Choice xmlns:v="urn:schemas-microsoft-com:vml" Requires="v">
                <p:oleObj spid="_x0000_s16113" name="公式" r:id="rId16" imgW="3721100" imgH="190500" progId="Equation.3">
                  <p:embed/>
                </p:oleObj>
              </mc:Choice>
              <mc:Fallback>
                <p:oleObj name="公式" r:id="rId16" imgW="3721100" imgH="190500" progId="Equation.3">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95736" y="5229200"/>
                        <a:ext cx="6703602" cy="360040"/>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136411618"/>
              </p:ext>
            </p:extLst>
          </p:nvPr>
        </p:nvGraphicFramePr>
        <p:xfrm>
          <a:off x="5076056" y="5589240"/>
          <a:ext cx="3330370" cy="360040"/>
        </p:xfrm>
        <a:graphic>
          <a:graphicData uri="http://schemas.openxmlformats.org/presentationml/2006/ole">
            <mc:AlternateContent xmlns:mc="http://schemas.openxmlformats.org/markup-compatibility/2006">
              <mc:Choice xmlns:v="urn:schemas-microsoft-com:vml" Requires="v">
                <p:oleObj spid="_x0000_s16114" name="公式" r:id="rId18" imgW="2120900" imgH="241300" progId="Equation.3">
                  <p:embed/>
                </p:oleObj>
              </mc:Choice>
              <mc:Fallback>
                <p:oleObj name="公式" r:id="rId18" imgW="2120900" imgH="241300" progId="Equation.3">
                  <p:embed/>
                  <p:pic>
                    <p:nvPicPr>
                      <p:cNvPr id="0" name="Object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76056" y="5589240"/>
                        <a:ext cx="3330370" cy="360040"/>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577356350"/>
              </p:ext>
            </p:extLst>
          </p:nvPr>
        </p:nvGraphicFramePr>
        <p:xfrm>
          <a:off x="3635896" y="5949280"/>
          <a:ext cx="5322022" cy="357783"/>
        </p:xfrm>
        <a:graphic>
          <a:graphicData uri="http://schemas.openxmlformats.org/presentationml/2006/ole">
            <mc:AlternateContent xmlns:mc="http://schemas.openxmlformats.org/markup-compatibility/2006">
              <mc:Choice xmlns:v="urn:schemas-microsoft-com:vml" Requires="v">
                <p:oleObj spid="_x0000_s16115" name="公式" r:id="rId20" imgW="3403600" imgH="241300" progId="Equation.3">
                  <p:embed/>
                </p:oleObj>
              </mc:Choice>
              <mc:Fallback>
                <p:oleObj name="公式" r:id="rId20" imgW="3403600" imgH="241300" progId="Equation.3">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35896" y="5949280"/>
                        <a:ext cx="5322022" cy="357783"/>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FD177BD4-6C75-4946-9D80-0B3031A34A36}"/>
              </a:ext>
            </a:extLst>
          </p:cNvPr>
          <p:cNvSpPr>
            <a:spLocks noGrp="1"/>
          </p:cNvSpPr>
          <p:nvPr>
            <p:ph type="sldNum" sz="quarter" idx="12"/>
          </p:nvPr>
        </p:nvSpPr>
        <p:spPr/>
        <p:txBody>
          <a:bodyPr/>
          <a:lstStyle/>
          <a:p>
            <a:fld id="{C46E5E69-9A6D-4AF8-BC2D-C556A9893D8F}" type="slidenum">
              <a:rPr lang="zh-CN" altLang="en-US" smtClean="0"/>
              <a:pPr/>
              <a:t>32</a:t>
            </a:fld>
            <a:endParaRPr lang="zh-CN" altLang="en-US" dirty="0"/>
          </a:p>
        </p:txBody>
      </p:sp>
    </p:spTree>
    <p:extLst>
      <p:ext uri="{BB962C8B-B14F-4D97-AF65-F5344CB8AC3E}">
        <p14:creationId xmlns:p14="http://schemas.microsoft.com/office/powerpoint/2010/main" val="133634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0000FF"/>
                </a:solidFill>
              </a:rPr>
              <a:t>等值连接和自然连接</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980728"/>
            <a:ext cx="8784976" cy="5328592"/>
          </a:xfrm>
        </p:spPr>
        <p:txBody>
          <a:bodyPr>
            <a:noAutofit/>
          </a:bodyPr>
          <a:lstStyle/>
          <a:p>
            <a:r>
              <a:rPr lang="zh-CN" altLang="zh-CN" sz="2000" dirty="0">
                <a:solidFill>
                  <a:srgbClr val="0000FF"/>
                </a:solidFill>
              </a:rPr>
              <a:t>等值连接</a:t>
            </a:r>
            <a:r>
              <a:rPr lang="zh-CN" altLang="zh-CN" sz="2000" dirty="0"/>
              <a:t>：连接条件</a:t>
            </a:r>
            <a:r>
              <a:rPr lang="zh-CN" altLang="en-US" sz="2000" dirty="0"/>
              <a:t>取</a:t>
            </a:r>
            <a:r>
              <a:rPr lang="zh-CN" altLang="zh-CN" sz="2000" dirty="0"/>
              <a:t>相等的连接运算</a:t>
            </a:r>
          </a:p>
          <a:p>
            <a:endParaRPr lang="en-US" altLang="zh-CN" sz="2000" dirty="0"/>
          </a:p>
          <a:p>
            <a:r>
              <a:rPr lang="zh-CN" altLang="zh-CN" sz="2000" dirty="0">
                <a:solidFill>
                  <a:srgbClr val="0000FF"/>
                </a:solidFill>
              </a:rPr>
              <a:t>自然连接</a:t>
            </a:r>
            <a:r>
              <a:rPr lang="zh-CN" altLang="zh-CN" sz="2000" dirty="0"/>
              <a:t>：去掉重复属性列的等值连接</a:t>
            </a:r>
          </a:p>
          <a:p>
            <a:r>
              <a:rPr lang="zh-CN" altLang="zh-CN" sz="2000" dirty="0">
                <a:solidFill>
                  <a:srgbClr val="0000FF"/>
                </a:solidFill>
              </a:rPr>
              <a:t>区别与联系：</a:t>
            </a:r>
          </a:p>
          <a:p>
            <a:pPr marL="363538" indent="0">
              <a:buNone/>
            </a:pPr>
            <a:r>
              <a:rPr lang="zh-CN" altLang="zh-CN" sz="2000" dirty="0"/>
              <a:t>等值连接和自然连接都是要求属性间按照等值进行连接，而自然连接要求两个关系中相等的分量必须是相同的属性组而等值连接不需要，且自然连接要在结果中把重复的属性列去掉而等值连接不需要</a:t>
            </a:r>
          </a:p>
        </p:txBody>
      </p:sp>
      <p:graphicFrame>
        <p:nvGraphicFramePr>
          <p:cNvPr id="7" name="对象 6"/>
          <p:cNvGraphicFramePr>
            <a:graphicFrameLocks noChangeAspect="1"/>
          </p:cNvGraphicFramePr>
          <p:nvPr>
            <p:extLst>
              <p:ext uri="{D42A27DB-BD31-4B8C-83A1-F6EECF244321}">
                <p14:modId xmlns:p14="http://schemas.microsoft.com/office/powerpoint/2010/main" val="450541470"/>
              </p:ext>
            </p:extLst>
          </p:nvPr>
        </p:nvGraphicFramePr>
        <p:xfrm>
          <a:off x="5724128" y="1003337"/>
          <a:ext cx="1271588" cy="476250"/>
        </p:xfrm>
        <a:graphic>
          <a:graphicData uri="http://schemas.openxmlformats.org/presentationml/2006/ole">
            <mc:AlternateContent xmlns:mc="http://schemas.openxmlformats.org/markup-compatibility/2006">
              <mc:Choice xmlns:v="urn:schemas-microsoft-com:vml" Requires="v">
                <p:oleObj spid="_x0000_s16634" name="公式" r:id="rId4" imgW="558720" imgH="190440" progId="Equation.3">
                  <p:embed/>
                </p:oleObj>
              </mc:Choice>
              <mc:Fallback>
                <p:oleObj name="公式" r:id="rId4" imgW="558720" imgH="190440" progId="Equation.3">
                  <p:embed/>
                  <p:pic>
                    <p:nvPicPr>
                      <p:cNvPr id="0" name=""/>
                      <p:cNvPicPr>
                        <a:picLocks noChangeAspect="1" noChangeArrowheads="1"/>
                      </p:cNvPicPr>
                      <p:nvPr/>
                    </p:nvPicPr>
                    <p:blipFill>
                      <a:blip r:embed="rId5"/>
                      <a:srcRect/>
                      <a:stretch>
                        <a:fillRect/>
                      </a:stretch>
                    </p:blipFill>
                    <p:spPr bwMode="auto">
                      <a:xfrm>
                        <a:off x="5724128" y="1003337"/>
                        <a:ext cx="1271588" cy="47625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36305673"/>
              </p:ext>
            </p:extLst>
          </p:nvPr>
        </p:nvGraphicFramePr>
        <p:xfrm>
          <a:off x="5940404" y="1295661"/>
          <a:ext cx="844550" cy="400050"/>
        </p:xfrm>
        <a:graphic>
          <a:graphicData uri="http://schemas.openxmlformats.org/presentationml/2006/ole">
            <mc:AlternateContent xmlns:mc="http://schemas.openxmlformats.org/markup-compatibility/2006">
              <mc:Choice xmlns:v="urn:schemas-microsoft-com:vml" Requires="v">
                <p:oleObj spid="_x0000_s16635" name="公式" r:id="rId6" imgW="469800" imgH="203040" progId="Equation.3">
                  <p:embed/>
                </p:oleObj>
              </mc:Choice>
              <mc:Fallback>
                <p:oleObj name="公式" r:id="rId6" imgW="469800" imgH="203040" progId="Equation.3">
                  <p:embed/>
                  <p:pic>
                    <p:nvPicPr>
                      <p:cNvPr id="0" name=""/>
                      <p:cNvPicPr>
                        <a:picLocks noChangeAspect="1" noChangeArrowheads="1"/>
                      </p:cNvPicPr>
                      <p:nvPr/>
                    </p:nvPicPr>
                    <p:blipFill>
                      <a:blip r:embed="rId7"/>
                      <a:srcRect/>
                      <a:stretch>
                        <a:fillRect/>
                      </a:stretch>
                    </p:blipFill>
                    <p:spPr bwMode="auto">
                      <a:xfrm>
                        <a:off x="5940404" y="1295661"/>
                        <a:ext cx="844550" cy="400050"/>
                      </a:xfrm>
                      <a:prstGeom prst="rect">
                        <a:avLst/>
                      </a:prstGeom>
                      <a:noFill/>
                    </p:spPr>
                  </p:pic>
                </p:oleObj>
              </mc:Fallback>
            </mc:AlternateContent>
          </a:graphicData>
        </a:graphic>
      </p:graphicFrame>
      <p:sp>
        <p:nvSpPr>
          <p:cNvPr id="9" name="AutoShape 312"/>
          <p:cNvSpPr>
            <a:spLocks noChangeArrowheads="1"/>
          </p:cNvSpPr>
          <p:nvPr/>
        </p:nvSpPr>
        <p:spPr bwMode="auto">
          <a:xfrm rot="-5400000">
            <a:off x="6270014" y="1092196"/>
            <a:ext cx="185331" cy="268992"/>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1" name="Rectangle 5"/>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6"/>
          <p:cNvSpPr>
            <a:spLocks noChangeArrowheads="1"/>
          </p:cNvSpPr>
          <p:nvPr/>
        </p:nvSpPr>
        <p:spPr bwMode="auto">
          <a:xfrm>
            <a:off x="0" y="647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endParaRPr kumimoji="0" lang="zh-CN" altLang="zh-CN" sz="5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24"/>
          <p:cNvSpPr>
            <a:spLocks noChangeArrowheads="1"/>
          </p:cNvSpPr>
          <p:nvPr/>
        </p:nvSpPr>
        <p:spPr bwMode="auto">
          <a:xfrm>
            <a:off x="0" y="657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a:ln>
                  <a:noFill/>
                </a:ln>
                <a:solidFill>
                  <a:schemeClr val="tx1"/>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5"/>
          <p:cNvSpPr>
            <a:spLocks noChangeArrowheads="1"/>
          </p:cNvSpPr>
          <p:nvPr/>
        </p:nvSpPr>
        <p:spPr bwMode="auto">
          <a:xfrm>
            <a:off x="0" y="885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26"/>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1830711939"/>
              </p:ext>
            </p:extLst>
          </p:nvPr>
        </p:nvGraphicFramePr>
        <p:xfrm>
          <a:off x="5726885" y="1969711"/>
          <a:ext cx="1271588" cy="476250"/>
        </p:xfrm>
        <a:graphic>
          <a:graphicData uri="http://schemas.openxmlformats.org/presentationml/2006/ole">
            <mc:AlternateContent xmlns:mc="http://schemas.openxmlformats.org/markup-compatibility/2006">
              <mc:Choice xmlns:v="urn:schemas-microsoft-com:vml" Requires="v">
                <p:oleObj spid="_x0000_s16636" name="公式" r:id="rId8" imgW="558720" imgH="190440" progId="Equation.3">
                  <p:embed/>
                </p:oleObj>
              </mc:Choice>
              <mc:Fallback>
                <p:oleObj name="公式" r:id="rId8" imgW="558720" imgH="190440" progId="Equation.3">
                  <p:embed/>
                  <p:pic>
                    <p:nvPicPr>
                      <p:cNvPr id="0" name=""/>
                      <p:cNvPicPr>
                        <a:picLocks noChangeAspect="1" noChangeArrowheads="1"/>
                      </p:cNvPicPr>
                      <p:nvPr/>
                    </p:nvPicPr>
                    <p:blipFill>
                      <a:blip r:embed="rId5"/>
                      <a:srcRect/>
                      <a:stretch>
                        <a:fillRect/>
                      </a:stretch>
                    </p:blipFill>
                    <p:spPr bwMode="auto">
                      <a:xfrm>
                        <a:off x="5726885" y="1969711"/>
                        <a:ext cx="1271588" cy="476250"/>
                      </a:xfrm>
                      <a:prstGeom prst="rect">
                        <a:avLst/>
                      </a:prstGeom>
                      <a:noFill/>
                    </p:spPr>
                  </p:pic>
                </p:oleObj>
              </mc:Fallback>
            </mc:AlternateContent>
          </a:graphicData>
        </a:graphic>
      </p:graphicFrame>
      <p:sp>
        <p:nvSpPr>
          <p:cNvPr id="31" name="AutoShape 312"/>
          <p:cNvSpPr>
            <a:spLocks noChangeArrowheads="1"/>
          </p:cNvSpPr>
          <p:nvPr/>
        </p:nvSpPr>
        <p:spPr bwMode="auto">
          <a:xfrm rot="-5400000">
            <a:off x="6270014" y="2020546"/>
            <a:ext cx="185331" cy="268992"/>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 name="灯片编号占位符 3">
            <a:extLst>
              <a:ext uri="{FF2B5EF4-FFF2-40B4-BE49-F238E27FC236}">
                <a16:creationId xmlns:a16="http://schemas.microsoft.com/office/drawing/2014/main" id="{24FBDDA8-6698-9B41-A3F3-CB0ECFF5831D}"/>
              </a:ext>
            </a:extLst>
          </p:cNvPr>
          <p:cNvSpPr>
            <a:spLocks noGrp="1"/>
          </p:cNvSpPr>
          <p:nvPr>
            <p:ph type="sldNum" sz="quarter" idx="12"/>
          </p:nvPr>
        </p:nvSpPr>
        <p:spPr/>
        <p:txBody>
          <a:bodyPr/>
          <a:lstStyle/>
          <a:p>
            <a:fld id="{C46E5E69-9A6D-4AF8-BC2D-C556A9893D8F}" type="slidenum">
              <a:rPr lang="zh-CN" altLang="en-US" smtClean="0"/>
              <a:pPr/>
              <a:t>33</a:t>
            </a:fld>
            <a:endParaRPr lang="zh-CN" altLang="en-US" dirty="0"/>
          </a:p>
        </p:txBody>
      </p:sp>
    </p:spTree>
    <p:extLst>
      <p:ext uri="{BB962C8B-B14F-4D97-AF65-F5344CB8AC3E}">
        <p14:creationId xmlns:p14="http://schemas.microsoft.com/office/powerpoint/2010/main" val="1956336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连接</a:t>
            </a:r>
            <a:r>
              <a:rPr lang="zh-CN" altLang="en-US" dirty="0"/>
              <a:t>示例</a:t>
            </a:r>
            <a:endParaRPr lang="zh-CN" altLang="en-US" i="0" u="none" strike="noStrike" kern="2200" baseline="0" dirty="0"/>
          </a:p>
        </p:txBody>
      </p:sp>
      <p:sp>
        <p:nvSpPr>
          <p:cNvPr id="3" name="文本占位符 2"/>
          <p:cNvSpPr>
            <a:spLocks noGrp="1"/>
          </p:cNvSpPr>
          <p:nvPr>
            <p:ph type="body" idx="1"/>
          </p:nvPr>
        </p:nvSpPr>
        <p:spPr>
          <a:xfrm>
            <a:off x="179512" y="980728"/>
            <a:ext cx="8784976" cy="590897"/>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2.14  </a:t>
            </a:r>
            <a:r>
              <a:rPr lang="zh-CN" altLang="zh-CN" sz="2000" dirty="0"/>
              <a:t>已知</a:t>
            </a:r>
            <a:r>
              <a:rPr lang="en-US" altLang="zh-CN" sz="2000" dirty="0"/>
              <a:t>R</a:t>
            </a:r>
            <a:r>
              <a:rPr lang="zh-CN" altLang="zh-CN" sz="2000" dirty="0"/>
              <a:t>和</a:t>
            </a:r>
            <a:r>
              <a:rPr lang="en-US" altLang="zh-CN" sz="2000" dirty="0"/>
              <a:t>S</a:t>
            </a:r>
            <a:r>
              <a:rPr lang="zh-CN" altLang="zh-CN" sz="2000" dirty="0"/>
              <a:t>，则</a:t>
            </a:r>
            <a:r>
              <a:rPr lang="en-US" altLang="zh-CN" sz="2000" dirty="0"/>
              <a:t>R</a:t>
            </a:r>
            <a:r>
              <a:rPr lang="zh-CN" altLang="zh-CN" sz="2000" dirty="0"/>
              <a:t>和</a:t>
            </a:r>
            <a:r>
              <a:rPr lang="en-US" altLang="zh-CN" sz="2000" dirty="0"/>
              <a:t>S</a:t>
            </a:r>
            <a:r>
              <a:rPr lang="zh-CN" altLang="zh-CN" sz="2000" dirty="0"/>
              <a:t>的条件（</a:t>
            </a:r>
            <a:r>
              <a:rPr lang="en-US" altLang="zh-CN" sz="2000" dirty="0"/>
              <a:t>C&lt;D</a:t>
            </a:r>
            <a:r>
              <a:rPr lang="zh-CN" altLang="zh-CN" sz="2000" dirty="0"/>
              <a:t>）连接、等值连接和自然连接</a:t>
            </a:r>
          </a:p>
        </p:txBody>
      </p:sp>
      <p:grpSp>
        <p:nvGrpSpPr>
          <p:cNvPr id="22" name="组合 21"/>
          <p:cNvGrpSpPr>
            <a:grpSpLocks/>
          </p:cNvGrpSpPr>
          <p:nvPr/>
        </p:nvGrpSpPr>
        <p:grpSpPr bwMode="auto">
          <a:xfrm>
            <a:off x="251520" y="2276872"/>
            <a:ext cx="8424936" cy="1872208"/>
            <a:chOff x="1155" y="6941"/>
            <a:chExt cx="7308" cy="1250"/>
          </a:xfrm>
        </p:grpSpPr>
        <p:sp>
          <p:nvSpPr>
            <p:cNvPr id="23" name="Text Box 509"/>
            <p:cNvSpPr txBox="1">
              <a:spLocks noChangeArrowheads="1"/>
            </p:cNvSpPr>
            <p:nvPr/>
          </p:nvSpPr>
          <p:spPr bwMode="auto">
            <a:xfrm>
              <a:off x="1155" y="6943"/>
              <a:ext cx="1124" cy="124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dirty="0">
                  <a:effectLst/>
                  <a:latin typeface="微软雅黑" pitchFamily="34" charset="-122"/>
                  <a:ea typeface="微软雅黑" pitchFamily="34" charset="-122"/>
                  <a:cs typeface="宋体"/>
                </a:rPr>
                <a:t>A  B  C</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a1 b1 5</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a2 b1 6</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a3 b2 7</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a4 b3 9</a:t>
              </a:r>
              <a:endParaRPr lang="zh-CN" dirty="0">
                <a:effectLst/>
                <a:latin typeface="微软雅黑" pitchFamily="34" charset="-122"/>
                <a:ea typeface="微软雅黑" pitchFamily="34" charset="-122"/>
                <a:cs typeface="宋体"/>
              </a:endParaRPr>
            </a:p>
          </p:txBody>
        </p:sp>
        <p:sp>
          <p:nvSpPr>
            <p:cNvPr id="24" name="Text Box 510"/>
            <p:cNvSpPr txBox="1">
              <a:spLocks noChangeArrowheads="1"/>
            </p:cNvSpPr>
            <p:nvPr/>
          </p:nvSpPr>
          <p:spPr bwMode="auto">
            <a:xfrm>
              <a:off x="3339" y="6941"/>
              <a:ext cx="1751" cy="124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dirty="0">
                  <a:effectLst/>
                  <a:latin typeface="微软雅黑" pitchFamily="34" charset="-122"/>
                  <a:ea typeface="微软雅黑" pitchFamily="34" charset="-122"/>
                  <a:cs typeface="宋体"/>
                </a:rPr>
                <a:t>A R.B C S.B D</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a1 b1 5  b2 6</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a1 b1 5  b4 9</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a2 b1 6  b4 9</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a3 b2 7  b4 9</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 </a:t>
              </a:r>
              <a:endParaRPr lang="zh-CN" dirty="0">
                <a:effectLst/>
                <a:latin typeface="微软雅黑" pitchFamily="34" charset="-122"/>
                <a:ea typeface="微软雅黑" pitchFamily="34" charset="-122"/>
                <a:cs typeface="宋体"/>
              </a:endParaRPr>
            </a:p>
          </p:txBody>
        </p:sp>
        <p:cxnSp>
          <p:nvCxnSpPr>
            <p:cNvPr id="25" name="Line 511"/>
            <p:cNvCxnSpPr/>
            <p:nvPr/>
          </p:nvCxnSpPr>
          <p:spPr bwMode="auto">
            <a:xfrm>
              <a:off x="1155" y="7181"/>
              <a:ext cx="11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2" name="Line 512"/>
            <p:cNvCxnSpPr/>
            <p:nvPr/>
          </p:nvCxnSpPr>
          <p:spPr bwMode="auto">
            <a:xfrm>
              <a:off x="3339" y="7182"/>
              <a:ext cx="175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3" name="Text Box 513"/>
            <p:cNvSpPr txBox="1">
              <a:spLocks noChangeArrowheads="1"/>
            </p:cNvSpPr>
            <p:nvPr/>
          </p:nvSpPr>
          <p:spPr bwMode="auto">
            <a:xfrm>
              <a:off x="2373" y="6943"/>
              <a:ext cx="714" cy="124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dirty="0">
                  <a:effectLst/>
                  <a:latin typeface="微软雅黑" pitchFamily="34" charset="-122"/>
                  <a:ea typeface="微软雅黑" pitchFamily="34" charset="-122"/>
                  <a:cs typeface="宋体"/>
                </a:rPr>
                <a:t>B  D</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b1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b2 6</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b3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b4 9</a:t>
              </a:r>
              <a:endParaRPr lang="zh-CN" dirty="0">
                <a:effectLst/>
                <a:latin typeface="微软雅黑" pitchFamily="34" charset="-122"/>
                <a:ea typeface="微软雅黑" pitchFamily="34" charset="-122"/>
                <a:cs typeface="宋体"/>
              </a:endParaRPr>
            </a:p>
          </p:txBody>
        </p:sp>
        <p:cxnSp>
          <p:nvCxnSpPr>
            <p:cNvPr id="34" name="Line 514"/>
            <p:cNvCxnSpPr/>
            <p:nvPr/>
          </p:nvCxnSpPr>
          <p:spPr bwMode="auto">
            <a:xfrm>
              <a:off x="2373" y="7181"/>
              <a:ext cx="7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5" name="Text Box 515"/>
            <p:cNvSpPr txBox="1">
              <a:spLocks noChangeArrowheads="1"/>
            </p:cNvSpPr>
            <p:nvPr/>
          </p:nvSpPr>
          <p:spPr bwMode="auto">
            <a:xfrm>
              <a:off x="7077" y="6941"/>
              <a:ext cx="1386" cy="124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dirty="0">
                  <a:effectLst/>
                  <a:latin typeface="微软雅黑" pitchFamily="34" charset="-122"/>
                  <a:ea typeface="微软雅黑" pitchFamily="34" charset="-122"/>
                  <a:cs typeface="宋体"/>
                </a:rPr>
                <a:t>A   B   C  D</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a1  b1 5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a2  b1 6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a3  b2 7  6</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a4  b3 9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 </a:t>
              </a:r>
              <a:endParaRPr lang="zh-CN" dirty="0">
                <a:effectLst/>
                <a:latin typeface="微软雅黑" pitchFamily="34" charset="-122"/>
                <a:ea typeface="微软雅黑" pitchFamily="34" charset="-122"/>
                <a:cs typeface="宋体"/>
              </a:endParaRPr>
            </a:p>
          </p:txBody>
        </p:sp>
        <p:cxnSp>
          <p:nvCxnSpPr>
            <p:cNvPr id="36" name="Line 516"/>
            <p:cNvCxnSpPr/>
            <p:nvPr/>
          </p:nvCxnSpPr>
          <p:spPr bwMode="auto">
            <a:xfrm>
              <a:off x="7077" y="7182"/>
              <a:ext cx="13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7" name="Text Box 517"/>
            <p:cNvSpPr txBox="1">
              <a:spLocks noChangeArrowheads="1"/>
            </p:cNvSpPr>
            <p:nvPr/>
          </p:nvSpPr>
          <p:spPr bwMode="auto">
            <a:xfrm>
              <a:off x="5271" y="6941"/>
              <a:ext cx="1630" cy="124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dirty="0">
                  <a:effectLst/>
                  <a:latin typeface="微软雅黑" pitchFamily="34" charset="-122"/>
                  <a:ea typeface="微软雅黑" pitchFamily="34" charset="-122"/>
                  <a:cs typeface="宋体"/>
                </a:rPr>
                <a:t>A R.B C S.B D</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a1 b1 5  b1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a2 b1 6  b1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a3 b2 7  b2 6</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a4 b3 9  b3 3</a:t>
              </a:r>
              <a:endParaRPr lang="zh-CN" dirty="0">
                <a:effectLst/>
                <a:latin typeface="微软雅黑" pitchFamily="34" charset="-122"/>
                <a:ea typeface="微软雅黑" pitchFamily="34" charset="-122"/>
                <a:cs typeface="宋体"/>
              </a:endParaRPr>
            </a:p>
            <a:p>
              <a:pPr indent="127000" algn="just">
                <a:lnSpc>
                  <a:spcPts val="2600"/>
                </a:lnSpc>
                <a:spcAft>
                  <a:spcPts val="0"/>
                </a:spcAft>
              </a:pPr>
              <a:r>
                <a:rPr lang="en-US" dirty="0">
                  <a:effectLst/>
                  <a:latin typeface="微软雅黑" pitchFamily="34" charset="-122"/>
                  <a:ea typeface="微软雅黑" pitchFamily="34" charset="-122"/>
                  <a:cs typeface="宋体"/>
                </a:rPr>
                <a:t> </a:t>
              </a:r>
              <a:endParaRPr lang="zh-CN" dirty="0">
                <a:effectLst/>
                <a:latin typeface="微软雅黑" pitchFamily="34" charset="-122"/>
                <a:ea typeface="微软雅黑" pitchFamily="34" charset="-122"/>
                <a:cs typeface="宋体"/>
              </a:endParaRPr>
            </a:p>
          </p:txBody>
        </p:sp>
        <p:cxnSp>
          <p:nvCxnSpPr>
            <p:cNvPr id="38" name="Line 518"/>
            <p:cNvCxnSpPr/>
            <p:nvPr/>
          </p:nvCxnSpPr>
          <p:spPr bwMode="auto">
            <a:xfrm>
              <a:off x="5271" y="7181"/>
              <a:ext cx="1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4" name="灯片编号占位符 3">
            <a:extLst>
              <a:ext uri="{FF2B5EF4-FFF2-40B4-BE49-F238E27FC236}">
                <a16:creationId xmlns:a16="http://schemas.microsoft.com/office/drawing/2014/main" id="{3E1898BA-0B1B-0D4B-A19A-C7F8E2199D66}"/>
              </a:ext>
            </a:extLst>
          </p:cNvPr>
          <p:cNvSpPr>
            <a:spLocks noGrp="1"/>
          </p:cNvSpPr>
          <p:nvPr>
            <p:ph type="sldNum" sz="quarter" idx="12"/>
          </p:nvPr>
        </p:nvSpPr>
        <p:spPr/>
        <p:txBody>
          <a:bodyPr/>
          <a:lstStyle/>
          <a:p>
            <a:fld id="{C46E5E69-9A6D-4AF8-BC2D-C556A9893D8F}" type="slidenum">
              <a:rPr lang="zh-CN" altLang="en-US" smtClean="0"/>
              <a:pPr/>
              <a:t>34</a:t>
            </a:fld>
            <a:endParaRPr lang="zh-CN" altLang="en-US" dirty="0"/>
          </a:p>
        </p:txBody>
      </p:sp>
    </p:spTree>
    <p:extLst>
      <p:ext uri="{BB962C8B-B14F-4D97-AF65-F5344CB8AC3E}">
        <p14:creationId xmlns:p14="http://schemas.microsoft.com/office/powerpoint/2010/main" val="4117091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连接</a:t>
            </a:r>
            <a:r>
              <a:rPr lang="zh-CN" altLang="en-US" dirty="0"/>
              <a:t>示例</a:t>
            </a:r>
            <a:endParaRPr lang="zh-CN" altLang="en-US" i="0" u="none" strike="noStrike" kern="2200" baseline="0" dirty="0"/>
          </a:p>
        </p:txBody>
      </p:sp>
      <p:sp>
        <p:nvSpPr>
          <p:cNvPr id="3" name="文本占位符 2"/>
          <p:cNvSpPr>
            <a:spLocks noGrp="1"/>
          </p:cNvSpPr>
          <p:nvPr>
            <p:ph type="body" idx="1"/>
          </p:nvPr>
        </p:nvSpPr>
        <p:spPr>
          <a:xfrm>
            <a:off x="179512" y="980728"/>
            <a:ext cx="8784976" cy="590897"/>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2.15  </a:t>
            </a:r>
            <a:r>
              <a:rPr lang="zh-CN" altLang="zh-CN" sz="2000" dirty="0"/>
              <a:t>查询作者是“王珊”的书名、定价、社名和电话</a:t>
            </a:r>
          </a:p>
        </p:txBody>
      </p:sp>
      <p:sp>
        <p:nvSpPr>
          <p:cNvPr id="11" name="Rectangle 5"/>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6"/>
          <p:cNvSpPr>
            <a:spLocks noChangeArrowheads="1"/>
          </p:cNvSpPr>
          <p:nvPr/>
        </p:nvSpPr>
        <p:spPr bwMode="auto">
          <a:xfrm>
            <a:off x="0" y="647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endParaRPr kumimoji="0" lang="zh-CN" altLang="zh-CN" sz="5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24"/>
          <p:cNvSpPr>
            <a:spLocks noChangeArrowheads="1"/>
          </p:cNvSpPr>
          <p:nvPr/>
        </p:nvSpPr>
        <p:spPr bwMode="auto">
          <a:xfrm>
            <a:off x="0" y="657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a:ln>
                  <a:noFill/>
                </a:ln>
                <a:solidFill>
                  <a:schemeClr val="tx1"/>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5"/>
          <p:cNvSpPr>
            <a:spLocks noChangeArrowheads="1"/>
          </p:cNvSpPr>
          <p:nvPr/>
        </p:nvSpPr>
        <p:spPr bwMode="auto">
          <a:xfrm>
            <a:off x="0" y="885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26"/>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9" name="AutoShape 343"/>
          <p:cNvSpPr>
            <a:spLocks noChangeArrowheads="1"/>
          </p:cNvSpPr>
          <p:nvPr/>
        </p:nvSpPr>
        <p:spPr bwMode="auto">
          <a:xfrm rot="-5400000">
            <a:off x="7362296" y="1590256"/>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13" name="Rectangle 6"/>
              <p:cNvSpPr>
                <a:spLocks noChangeArrowheads="1"/>
              </p:cNvSpPr>
              <p:nvPr/>
            </p:nvSpPr>
            <p:spPr bwMode="auto">
              <a:xfrm>
                <a:off x="1777405" y="1487150"/>
                <a:ext cx="7142275" cy="78252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𝐵𝑁𝑎𝑚𝑒</m:t>
                          </m:r>
                          <m:r>
                            <a:rPr lang="en-US" altLang="zh-CN" sz="2000" i="1">
                              <a:latin typeface="Cambria Math"/>
                            </a:rPr>
                            <m:t>,</m:t>
                          </m:r>
                          <m:r>
                            <a:rPr lang="en-US" altLang="zh-CN" sz="2000" i="1">
                              <a:latin typeface="Cambria Math"/>
                            </a:rPr>
                            <m:t>𝑃𝑟𝑖𝑐𝑒</m:t>
                          </m:r>
                          <m:r>
                            <a:rPr lang="en-US" altLang="zh-CN" sz="2000" i="1">
                              <a:latin typeface="Cambria Math"/>
                            </a:rPr>
                            <m:t>,</m:t>
                          </m:r>
                          <m:r>
                            <a:rPr lang="en-US" altLang="zh-CN" sz="2000" i="1">
                              <a:latin typeface="Cambria Math"/>
                            </a:rPr>
                            <m:t>𝑃𝑁𝑎𝑚𝑒</m:t>
                          </m:r>
                          <m:r>
                            <a:rPr lang="en-US" altLang="zh-CN" sz="2000" i="1">
                              <a:latin typeface="Cambria Math"/>
                            </a:rPr>
                            <m:t>,</m:t>
                          </m:r>
                          <m:r>
                            <a:rPr lang="en-US" altLang="zh-CN" sz="2000" i="1">
                              <a:latin typeface="Cambria Math"/>
                            </a:rPr>
                            <m:t>𝑃h𝑜𝑛𝑒</m:t>
                          </m:r>
                          <m:r>
                            <a:rPr lang="en-US" altLang="zh-CN" sz="2000" i="1">
                              <a:latin typeface="Cambria Math"/>
                            </a:rPr>
                            <m:t> </m:t>
                          </m:r>
                        </m:sub>
                      </m:sSub>
                      <m:r>
                        <a:rPr lang="en-US" altLang="zh-CN" sz="2000" i="1">
                          <a:latin typeface="Cambria Math"/>
                        </a:rPr>
                        <m:t>(</m:t>
                      </m:r>
                      <m:sSub>
                        <m:sSubPr>
                          <m:ctrlPr>
                            <a:rPr lang="zh-CN" altLang="zh-CN" sz="2000" i="1">
                              <a:latin typeface="Cambria Math" panose="02040503050406030204" pitchFamily="18" charset="0"/>
                            </a:rPr>
                          </m:ctrlPr>
                        </m:sSubPr>
                        <m:e>
                          <m:r>
                            <a:rPr lang="en-US" altLang="zh-CN" sz="2000" i="1">
                              <a:latin typeface="Cambria Math"/>
                            </a:rPr>
                            <m:t>𝜎</m:t>
                          </m:r>
                        </m:e>
                        <m:sub>
                          <m:r>
                            <a:rPr lang="en-US" altLang="zh-CN" sz="2000" i="1">
                              <a:latin typeface="Cambria Math"/>
                            </a:rPr>
                            <m:t>𝐴𝑢𝑡h𝑜𝑟</m:t>
                          </m:r>
                          <m:r>
                            <a:rPr lang="en-US" altLang="zh-CN" sz="2000" i="1">
                              <a:latin typeface="Cambria Math"/>
                            </a:rPr>
                            <m:t>=</m:t>
                          </m:r>
                          <m:r>
                            <m:rPr>
                              <m:nor/>
                            </m:rPr>
                            <a:rPr lang="en-US" altLang="zh-CN" sz="2000">
                              <a:latin typeface="微软雅黑" pitchFamily="34" charset="-122"/>
                              <a:ea typeface="微软雅黑" pitchFamily="34" charset="-122"/>
                            </a:rPr>
                            <m:t> "</m:t>
                          </m:r>
                          <m:r>
                            <m:rPr>
                              <m:nor/>
                            </m:rPr>
                            <a:rPr lang="zh-CN" altLang="zh-CN" sz="2000">
                              <a:latin typeface="微软雅黑" pitchFamily="34" charset="-122"/>
                              <a:ea typeface="微软雅黑" pitchFamily="34" charset="-122"/>
                            </a:rPr>
                            <m:t>王珊</m:t>
                          </m:r>
                          <m:r>
                            <m:rPr>
                              <m:nor/>
                            </m:rPr>
                            <a:rPr lang="en-US" altLang="zh-CN" sz="2000">
                              <a:latin typeface="微软雅黑" pitchFamily="34" charset="-122"/>
                              <a:ea typeface="微软雅黑" pitchFamily="34" charset="-122"/>
                            </a:rPr>
                            <m:t>"</m:t>
                          </m:r>
                        </m:sub>
                      </m:sSub>
                      <m:d>
                        <m:dPr>
                          <m:ctrlPr>
                            <a:rPr lang="zh-CN" altLang="zh-CN" sz="2000" i="1">
                              <a:latin typeface="Cambria Math" panose="02040503050406030204" pitchFamily="18" charset="0"/>
                            </a:rPr>
                          </m:ctrlPr>
                        </m:dPr>
                        <m:e>
                          <m:r>
                            <a:rPr lang="en-US" altLang="zh-CN" sz="2000" i="1">
                              <a:latin typeface="Cambria Math"/>
                            </a:rPr>
                            <m:t>𝐵𝑜𝑜𝑘</m:t>
                          </m:r>
                          <m:r>
                            <a:rPr lang="en-US" altLang="zh-CN" sz="2000" i="1">
                              <a:latin typeface="Cambria Math"/>
                            </a:rPr>
                            <m:t>       </m:t>
                          </m:r>
                          <m:r>
                            <a:rPr lang="en-US" altLang="zh-CN" sz="2000" i="1">
                              <a:latin typeface="Cambria Math"/>
                            </a:rPr>
                            <m:t>𝑃𝑟𝑒𝑠𝑠</m:t>
                          </m:r>
                        </m:e>
                      </m:d>
                      <m:r>
                        <a:rPr lang="en-US" altLang="zh-CN" sz="2000" i="1">
                          <a:latin typeface="Cambria Math"/>
                        </a:rPr>
                        <m:t> )</m:t>
                      </m:r>
                    </m:oMath>
                  </m:oMathPara>
                </a14:m>
                <a:endParaRPr lang="zh-CN" altLang="zh-CN" sz="2000" dirty="0">
                  <a:latin typeface="微软雅黑" pitchFamily="34" charset="-122"/>
                  <a:ea typeface="微软雅黑" pitchFamily="34" charset="-122"/>
                </a:endParaRPr>
              </a:p>
              <a:p>
                <a:pPr marL="0" marR="0" lvl="0" indent="266700" algn="l" defTabSz="914400" rtl="0" eaLnBrk="0" fontAlgn="base" latinLnBrk="0" hangingPunct="0">
                  <a:lnSpc>
                    <a:spcPct val="100000"/>
                  </a:lnSpc>
                  <a:spcBef>
                    <a:spcPct val="0"/>
                  </a:spcBef>
                  <a:spcAft>
                    <a:spcPct val="0"/>
                  </a:spcAft>
                  <a:buClrTx/>
                  <a:buSzTx/>
                  <a:buFontTx/>
                  <a:buNone/>
                  <a:tabLst>
                    <a:tab pos="5257800" algn="l"/>
                  </a:tabLst>
                </a:pPr>
                <a:endPar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mc:Choice>
        <mc:Fallback xmlns="">
          <p:sp>
            <p:nvSpPr>
              <p:cNvPr id="13" name="Rectangle 6"/>
              <p:cNvSpPr>
                <a:spLocks noRot="1" noChangeAspect="1" noMove="1" noResize="1" noEditPoints="1" noAdjustHandles="1" noChangeArrowheads="1" noChangeShapeType="1" noTextEdit="1"/>
              </p:cNvSpPr>
              <p:nvPr/>
            </p:nvSpPr>
            <p:spPr bwMode="auto">
              <a:xfrm>
                <a:off x="1777405" y="1487150"/>
                <a:ext cx="7142275" cy="782522"/>
              </a:xfrm>
              <a:prstGeom prst="rect">
                <a:avLst/>
              </a:prstGeom>
              <a:blipFill rotWithShape="1">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5" name="矩形 14"/>
          <p:cNvSpPr/>
          <p:nvPr/>
        </p:nvSpPr>
        <p:spPr>
          <a:xfrm>
            <a:off x="544315" y="1499570"/>
            <a:ext cx="1467068" cy="400110"/>
          </a:xfrm>
          <a:prstGeom prst="rect">
            <a:avLst/>
          </a:prstGeom>
        </p:spPr>
        <p:txBody>
          <a:bodyPr wrap="none">
            <a:spAutoFit/>
          </a:bodyPr>
          <a:lstStyle/>
          <a:p>
            <a:r>
              <a:rPr lang="zh-CN" altLang="en-US" sz="2000" dirty="0">
                <a:solidFill>
                  <a:prstClr val="black"/>
                </a:solidFill>
                <a:latin typeface="微软雅黑" pitchFamily="34" charset="-122"/>
                <a:ea typeface="微软雅黑" pitchFamily="34" charset="-122"/>
                <a:cs typeface="Times New Roman" pitchFamily="18" charset="0"/>
              </a:rPr>
              <a:t>关系代数：</a:t>
            </a:r>
            <a:endParaRPr lang="zh-CN" altLang="en-US" sz="2000" dirty="0">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17" name="矩形 16"/>
              <p:cNvSpPr/>
              <p:nvPr/>
            </p:nvSpPr>
            <p:spPr>
              <a:xfrm>
                <a:off x="2144512" y="2284592"/>
                <a:ext cx="6318448" cy="6403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d>
                        <m:dPr>
                          <m:begChr m:val="["/>
                          <m:endChr m:val="]"/>
                          <m:ctrlPr>
                            <a:rPr lang="zh-CN" altLang="zh-CN" i="1">
                              <a:latin typeface="Cambria Math" panose="02040503050406030204" pitchFamily="18" charset="0"/>
                            </a:rPr>
                          </m:ctrlPr>
                        </m:dPr>
                        <m:e>
                          <m:r>
                            <a:rPr lang="en-US" altLang="zh-CN" i="1">
                              <a:latin typeface="Cambria Math"/>
                            </a:rPr>
                            <m:t>𝐵𝑁𝑎𝑚𝑒</m:t>
                          </m:r>
                          <m:r>
                            <a:rPr lang="en-US" altLang="zh-CN" i="1">
                              <a:latin typeface="Cambria Math"/>
                            </a:rPr>
                            <m:t>,</m:t>
                          </m:r>
                          <m:r>
                            <a:rPr lang="en-US" altLang="zh-CN" i="1">
                              <a:latin typeface="Cambria Math"/>
                            </a:rPr>
                            <m:t>𝑃𝑟𝑖𝑐𝑒</m:t>
                          </m:r>
                        </m:e>
                      </m:d>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2</m:t>
                          </m:r>
                        </m:sub>
                      </m:sSub>
                      <m:r>
                        <a:rPr lang="en-US" altLang="zh-CN" i="1">
                          <a:latin typeface="Cambria Math"/>
                        </a:rPr>
                        <m:t>[</m:t>
                      </m:r>
                      <m:r>
                        <a:rPr lang="en-US" altLang="zh-CN" i="1">
                          <a:latin typeface="Cambria Math"/>
                        </a:rPr>
                        <m:t>𝑃𝑁𝑚𝑎𝑒</m:t>
                      </m:r>
                      <m:r>
                        <a:rPr lang="en-US" altLang="zh-CN" i="1">
                          <a:latin typeface="Cambria Math"/>
                        </a:rPr>
                        <m:t>,</m:t>
                      </m:r>
                      <m:r>
                        <a:rPr lang="en-US" altLang="zh-CN" i="1">
                          <a:latin typeface="Cambria Math"/>
                        </a:rPr>
                        <m:t>𝑃h𝑜𝑛𝑒</m:t>
                      </m:r>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r>
                        <a:rPr lang="en-US" altLang="zh-CN" i="1">
                          <a:latin typeface="Cambria Math"/>
                        </a:rPr>
                        <m:t>𝜖</m:t>
                      </m:r>
                      <m:r>
                        <a:rPr lang="en-US" altLang="zh-CN" i="1">
                          <a:latin typeface="Cambria Math"/>
                        </a:rPr>
                        <m:t>𝐵𝑜𝑜𝑘</m:t>
                      </m:r>
                      <m:r>
                        <a:rPr lang="zh-CN" altLang="zh-CN" i="1">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2</m:t>
                          </m:r>
                        </m:sub>
                      </m:sSub>
                      <m:r>
                        <m:rPr>
                          <m:sty m:val="p"/>
                        </m:rPr>
                        <a:rPr lang="en-US" altLang="zh-CN" i="0">
                          <a:latin typeface="Cambria Math"/>
                        </a:rPr>
                        <m:t>ϵ</m:t>
                      </m:r>
                      <m:r>
                        <a:rPr lang="en-US" altLang="zh-CN" i="1">
                          <a:latin typeface="Cambria Math"/>
                        </a:rPr>
                        <m:t>𝑃𝑟𝑒𝑠𝑠</m:t>
                      </m:r>
                      <m:r>
                        <a:rPr lang="zh-CN" altLang="zh-CN" i="1">
                          <a:latin typeface="Cambria Math"/>
                        </a:rPr>
                        <m:t>∧ </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d>
                        <m:dPr>
                          <m:begChr m:val="["/>
                          <m:endChr m:val="]"/>
                          <m:ctrlPr>
                            <a:rPr lang="zh-CN" altLang="zh-CN" i="1">
                              <a:latin typeface="Cambria Math" panose="02040503050406030204" pitchFamily="18" charset="0"/>
                            </a:rPr>
                          </m:ctrlPr>
                        </m:dPr>
                        <m:e>
                          <m:r>
                            <a:rPr lang="en-US" altLang="zh-CN" i="1">
                              <a:latin typeface="Cambria Math"/>
                            </a:rPr>
                            <m:t>𝐴𝑢𝑡h𝑜𝑟</m:t>
                          </m:r>
                        </m:e>
                      </m:d>
                      <m:r>
                        <a:rPr lang="en-US" altLang="zh-CN" i="1">
                          <a:latin typeface="Cambria Math"/>
                        </a:rPr>
                        <m:t>="</m:t>
                      </m:r>
                      <m:r>
                        <m:rPr>
                          <m:nor/>
                        </m:rPr>
                        <a:rPr lang="zh-CN" altLang="zh-CN"/>
                        <m:t>王珊</m:t>
                      </m:r>
                      <m:r>
                        <m:rPr>
                          <m:nor/>
                        </m:rPr>
                        <a:rPr lang="en-US" altLang="zh-CN"/>
                        <m:t>"</m:t>
                      </m:r>
                      <m:r>
                        <a:rPr lang="zh-CN" altLang="zh-CN" i="1">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r>
                        <a:rPr lang="en-US" altLang="zh-CN" i="1">
                          <a:latin typeface="Cambria Math"/>
                        </a:rPr>
                        <m:t>[</m:t>
                      </m:r>
                      <m:r>
                        <a:rPr lang="en-US" altLang="zh-CN" i="1">
                          <a:latin typeface="Cambria Math"/>
                        </a:rPr>
                        <m:t>𝑃𝑁𝑜</m:t>
                      </m:r>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𝑡</m:t>
                          </m:r>
                        </m:e>
                        <m:sub>
                          <m:r>
                            <a:rPr lang="en-US" altLang="zh-CN" i="1">
                              <a:latin typeface="Cambria Math"/>
                            </a:rPr>
                            <m:t>2</m:t>
                          </m:r>
                        </m:sub>
                      </m:sSub>
                      <m:r>
                        <a:rPr lang="en-US" altLang="zh-CN" i="1">
                          <a:latin typeface="Cambria Math"/>
                        </a:rPr>
                        <m:t>[</m:t>
                      </m:r>
                      <m:r>
                        <a:rPr lang="en-US" altLang="zh-CN" i="1">
                          <a:latin typeface="Cambria Math"/>
                        </a:rPr>
                        <m:t>𝑃𝑁𝑜</m:t>
                      </m:r>
                      <m:r>
                        <a:rPr lang="en-US" altLang="zh-CN" i="1">
                          <a:latin typeface="Cambria Math"/>
                        </a:rPr>
                        <m:t>] } </m:t>
                      </m:r>
                    </m:oMath>
                  </m:oMathPara>
                </a14:m>
                <a:endParaRPr lang="zh-CN" altLang="zh-CN" dirty="0"/>
              </a:p>
            </p:txBody>
          </p:sp>
        </mc:Choice>
        <mc:Fallback xmlns="">
          <p:sp>
            <p:nvSpPr>
              <p:cNvPr id="17" name="矩形 16"/>
              <p:cNvSpPr>
                <a:spLocks noRot="1" noChangeAspect="1" noMove="1" noResize="1" noEditPoints="1" noAdjustHandles="1" noChangeArrowheads="1" noChangeShapeType="1" noTextEdit="1"/>
              </p:cNvSpPr>
              <p:nvPr/>
            </p:nvSpPr>
            <p:spPr>
              <a:xfrm>
                <a:off x="2144512" y="2284592"/>
                <a:ext cx="6318448" cy="640303"/>
              </a:xfrm>
              <a:prstGeom prst="rect">
                <a:avLst/>
              </a:prstGeom>
              <a:blipFill rotWithShape="1">
                <a:blip r:embed="rId4"/>
                <a:stretch>
                  <a:fillRect b="-8571"/>
                </a:stretch>
              </a:blipFill>
            </p:spPr>
            <p:txBody>
              <a:bodyPr/>
              <a:lstStyle/>
              <a:p>
                <a:r>
                  <a:rPr lang="zh-CN" altLang="en-US">
                    <a:noFill/>
                  </a:rPr>
                  <a:t> </a:t>
                </a:r>
              </a:p>
            </p:txBody>
          </p:sp>
        </mc:Fallback>
      </mc:AlternateContent>
      <p:sp>
        <p:nvSpPr>
          <p:cNvPr id="19" name="矩形 18"/>
          <p:cNvSpPr/>
          <p:nvPr/>
        </p:nvSpPr>
        <p:spPr>
          <a:xfrm>
            <a:off x="544315" y="2269672"/>
            <a:ext cx="1467068" cy="400110"/>
          </a:xfrm>
          <a:prstGeom prst="rect">
            <a:avLst/>
          </a:prstGeom>
        </p:spPr>
        <p:txBody>
          <a:bodyPr wrap="none">
            <a:spAutoFit/>
          </a:bodyPr>
          <a:lstStyle/>
          <a:p>
            <a:r>
              <a:rPr lang="zh-CN" altLang="zh-CN" sz="2000" dirty="0">
                <a:latin typeface="微软雅黑" pitchFamily="34" charset="-122"/>
                <a:ea typeface="微软雅黑" pitchFamily="34" charset="-122"/>
                <a:cs typeface="Times New Roman"/>
              </a:rPr>
              <a:t>元组演算</a:t>
            </a:r>
            <a:r>
              <a:rPr lang="zh-CN" altLang="en-US" sz="2000" dirty="0">
                <a:latin typeface="微软雅黑" pitchFamily="34" charset="-122"/>
                <a:ea typeface="微软雅黑" pitchFamily="34" charset="-122"/>
                <a:cs typeface="Times New Roman"/>
              </a:rPr>
              <a:t>：</a:t>
            </a:r>
            <a:endParaRPr lang="zh-CN" altLang="en-US" sz="2000" dirty="0">
              <a:latin typeface="微软雅黑" pitchFamily="34" charset="-122"/>
              <a:ea typeface="微软雅黑" pitchFamily="34" charset="-122"/>
            </a:endParaRPr>
          </a:p>
        </p:txBody>
      </p:sp>
      <p:sp>
        <p:nvSpPr>
          <p:cNvPr id="21" name="矩形 20"/>
          <p:cNvSpPr/>
          <p:nvPr/>
        </p:nvSpPr>
        <p:spPr>
          <a:xfrm>
            <a:off x="672252" y="3129532"/>
            <a:ext cx="1210588" cy="400110"/>
          </a:xfrm>
          <a:prstGeom prst="rect">
            <a:avLst/>
          </a:prstGeom>
        </p:spPr>
        <p:txBody>
          <a:bodyPr wrap="none">
            <a:spAutoFit/>
          </a:bodyPr>
          <a:lstStyle/>
          <a:p>
            <a:r>
              <a:rPr lang="zh-CN" altLang="zh-CN" sz="2000" dirty="0">
                <a:latin typeface="微软雅黑" pitchFamily="34" charset="-122"/>
                <a:ea typeface="微软雅黑" pitchFamily="34" charset="-122"/>
                <a:cs typeface="Times New Roman"/>
              </a:rPr>
              <a:t>域演算</a:t>
            </a:r>
            <a:r>
              <a:rPr lang="zh-CN" altLang="en-US" sz="2000" dirty="0">
                <a:latin typeface="微软雅黑" pitchFamily="34" charset="-122"/>
                <a:ea typeface="微软雅黑" pitchFamily="34" charset="-122"/>
                <a:cs typeface="Times New Roman"/>
              </a:rPr>
              <a:t>：</a:t>
            </a:r>
            <a:endParaRPr lang="zh-CN" altLang="en-US" sz="2000" dirty="0">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40" name="矩形 39"/>
              <p:cNvSpPr/>
              <p:nvPr/>
            </p:nvSpPr>
            <p:spPr>
              <a:xfrm>
                <a:off x="1732599" y="3209490"/>
                <a:ext cx="7231889" cy="12003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a:rPr>
                                <m:t>𝐵𝑁𝑎𝑚𝑒</m:t>
                              </m:r>
                              <m:r>
                                <a:rPr lang="en-US" altLang="zh-CN">
                                  <a:latin typeface="Cambria Math"/>
                                </a:rPr>
                                <m:t>,</m:t>
                              </m:r>
                              <m:r>
                                <a:rPr lang="en-US" altLang="zh-CN" i="1">
                                  <a:latin typeface="Cambria Math"/>
                                </a:rPr>
                                <m:t>𝑃𝑟𝑖𝑐𝑒</m:t>
                              </m:r>
                              <m:r>
                                <a:rPr lang="en-US" altLang="zh-CN">
                                  <a:latin typeface="Cambria Math"/>
                                </a:rPr>
                                <m:t>,</m:t>
                              </m:r>
                              <m:r>
                                <a:rPr lang="en-US" altLang="zh-CN" i="1">
                                  <a:latin typeface="Cambria Math"/>
                                </a:rPr>
                                <m:t>𝑃𝑁𝑎𝑚𝑒</m:t>
                              </m:r>
                              <m:r>
                                <a:rPr lang="en-US" altLang="zh-CN">
                                  <a:latin typeface="Cambria Math"/>
                                </a:rPr>
                                <m:t>,</m:t>
                              </m:r>
                              <m:r>
                                <a:rPr lang="en-US" altLang="zh-CN" i="1">
                                  <a:latin typeface="Cambria Math"/>
                                </a:rPr>
                                <m:t>𝑃h𝑜𝑛𝑒</m:t>
                              </m:r>
                            </m:e>
                          </m:d>
                          <m:r>
                            <a:rPr lang="en-US" altLang="zh-CN" i="1">
                              <a:latin typeface="Cambria Math"/>
                            </a:rPr>
                            <m:t>|                                                                                             </m:t>
                          </m:r>
                        </m:e>
                      </m:d>
                      <m:r>
                        <m:rPr>
                          <m:nor/>
                        </m:rPr>
                        <a:rPr lang="en-US" altLang="zh-CN"/>
                        <m:t> </m:t>
                      </m:r>
                    </m:oMath>
                  </m:oMathPara>
                </a14:m>
                <a:endParaRPr lang="zh-CN" altLang="zh-CN" dirty="0"/>
              </a:p>
              <a:p>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a:rPr>
                            <m:t>𝐵𝑁𝑜</m:t>
                          </m:r>
                          <m:r>
                            <a:rPr lang="en-US" altLang="zh-CN">
                              <a:latin typeface="Cambria Math"/>
                            </a:rPr>
                            <m:t>,</m:t>
                          </m:r>
                          <m:r>
                            <a:rPr lang="en-US" altLang="zh-CN" i="1">
                              <a:latin typeface="Cambria Math"/>
                            </a:rPr>
                            <m:t>𝐵𝑁𝑎𝑚𝑒</m:t>
                          </m:r>
                          <m:r>
                            <a:rPr lang="en-US" altLang="zh-CN">
                              <a:latin typeface="Cambria Math"/>
                            </a:rPr>
                            <m:t>,</m:t>
                          </m:r>
                          <m:r>
                            <a:rPr lang="en-US" altLang="zh-CN" i="1">
                              <a:latin typeface="Cambria Math"/>
                            </a:rPr>
                            <m:t>𝐴𝑢𝑡h𝑜𝑟</m:t>
                          </m:r>
                          <m:r>
                            <a:rPr lang="en-US" altLang="zh-CN">
                              <a:latin typeface="Cambria Math"/>
                            </a:rPr>
                            <m:t>,</m:t>
                          </m:r>
                          <m:r>
                            <a:rPr lang="en-US" altLang="zh-CN" i="1">
                              <a:latin typeface="Cambria Math"/>
                            </a:rPr>
                            <m:t>𝑃𝑁𝑜</m:t>
                          </m:r>
                          <m:r>
                            <a:rPr lang="en-US" altLang="zh-CN">
                              <a:latin typeface="Cambria Math"/>
                            </a:rPr>
                            <m:t>,</m:t>
                          </m:r>
                          <m:r>
                            <a:rPr lang="en-US" altLang="zh-CN" i="1">
                              <a:latin typeface="Cambria Math"/>
                            </a:rPr>
                            <m:t>𝐸𝑑𝑖𝑡𝑁𝑜</m:t>
                          </m:r>
                          <m:r>
                            <a:rPr lang="en-US" altLang="zh-CN">
                              <a:latin typeface="Cambria Math"/>
                            </a:rPr>
                            <m:t>,</m:t>
                          </m:r>
                          <m:r>
                            <a:rPr lang="en-US" altLang="zh-CN" i="1">
                              <a:latin typeface="Cambria Math"/>
                            </a:rPr>
                            <m:t>𝑃𝑟𝑖𝑐𝑒</m:t>
                          </m:r>
                          <m:r>
                            <a:rPr lang="en-US" altLang="zh-CN">
                              <a:latin typeface="Cambria Math"/>
                            </a:rPr>
                            <m:t>,</m:t>
                          </m:r>
                          <m:r>
                            <a:rPr lang="en-US" altLang="zh-CN" i="1">
                              <a:latin typeface="Cambria Math"/>
                            </a:rPr>
                            <m:t>𝑃𝑃𝑟𝑖𝑐𝑒</m:t>
                          </m:r>
                          <m:r>
                            <a:rPr lang="en-US" altLang="zh-CN">
                              <a:latin typeface="Cambria Math"/>
                            </a:rPr>
                            <m:t>,</m:t>
                          </m:r>
                          <m:r>
                            <a:rPr lang="en-US" altLang="zh-CN" i="1">
                              <a:latin typeface="Cambria Math"/>
                            </a:rPr>
                            <m:t>𝑆𝑃𝑟𝑖𝑐𝑒</m:t>
                          </m:r>
                        </m:e>
                      </m:d>
                      <m:r>
                        <m:rPr>
                          <m:sty m:val="p"/>
                        </m:rPr>
                        <a:rPr lang="en-US" altLang="zh-CN" i="0">
                          <a:latin typeface="Cambria Math"/>
                        </a:rPr>
                        <m:t>ϵ</m:t>
                      </m:r>
                      <m:r>
                        <a:rPr lang="en-US" altLang="zh-CN" i="1">
                          <a:latin typeface="Cambria Math"/>
                        </a:rPr>
                        <m:t>𝐵𝑜𝑜𝑘</m:t>
                      </m:r>
                      <m:r>
                        <a:rPr lang="zh-CN" altLang="zh-CN" i="1">
                          <a:latin typeface="Cambria Math"/>
                        </a:rPr>
                        <m:t>∧</m:t>
                      </m:r>
                    </m:oMath>
                  </m:oMathPara>
                </a14:m>
                <a:endParaRPr lang="zh-CN" altLang="zh-CN" dirty="0"/>
              </a:p>
              <a:p>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a:rPr>
                            <m:t>𝑃𝑁𝑜</m:t>
                          </m:r>
                          <m:r>
                            <a:rPr lang="en-US" altLang="zh-CN">
                              <a:latin typeface="Cambria Math"/>
                            </a:rPr>
                            <m:t>,</m:t>
                          </m:r>
                          <m:r>
                            <a:rPr lang="en-US" altLang="zh-CN" i="1">
                              <a:latin typeface="Cambria Math"/>
                            </a:rPr>
                            <m:t>𝑃𝑁𝑎𝑚𝑒</m:t>
                          </m:r>
                          <m:r>
                            <a:rPr lang="en-US" altLang="zh-CN">
                              <a:latin typeface="Cambria Math"/>
                            </a:rPr>
                            <m:t>,</m:t>
                          </m:r>
                          <m:r>
                            <a:rPr lang="en-US" altLang="zh-CN" i="1">
                              <a:latin typeface="Cambria Math"/>
                            </a:rPr>
                            <m:t>𝑃𝐶𝑜𝑑𝑒</m:t>
                          </m:r>
                          <m:r>
                            <a:rPr lang="en-US" altLang="zh-CN">
                              <a:latin typeface="Cambria Math"/>
                            </a:rPr>
                            <m:t>,</m:t>
                          </m:r>
                          <m:r>
                            <a:rPr lang="en-US" altLang="zh-CN" i="1">
                              <a:latin typeface="Cambria Math"/>
                            </a:rPr>
                            <m:t>𝑃𝐴𝑑𝑑𝑟</m:t>
                          </m:r>
                          <m:r>
                            <a:rPr lang="en-US" altLang="zh-CN">
                              <a:latin typeface="Cambria Math"/>
                            </a:rPr>
                            <m:t>,</m:t>
                          </m:r>
                          <m:r>
                            <a:rPr lang="en-US" altLang="zh-CN" i="1">
                              <a:latin typeface="Cambria Math"/>
                            </a:rPr>
                            <m:t>𝑃h𝑜𝑛𝑒</m:t>
                          </m:r>
                          <m:r>
                            <a:rPr lang="en-US" altLang="zh-CN">
                              <a:latin typeface="Cambria Math"/>
                            </a:rPr>
                            <m:t>,</m:t>
                          </m:r>
                          <m:r>
                            <a:rPr lang="en-US" altLang="zh-CN" i="1">
                              <a:latin typeface="Cambria Math"/>
                            </a:rPr>
                            <m:t>𝐸𝑀𝑎𝑖𝑙</m:t>
                          </m:r>
                          <m:r>
                            <a:rPr lang="en-US" altLang="zh-CN">
                              <a:latin typeface="Cambria Math"/>
                            </a:rPr>
                            <m:t>,</m:t>
                          </m:r>
                          <m:r>
                            <a:rPr lang="en-US" altLang="zh-CN" i="1">
                              <a:latin typeface="Cambria Math"/>
                            </a:rPr>
                            <m:t>𝐻𝑃𝑎𝑔𝑒</m:t>
                          </m:r>
                        </m:e>
                      </m:d>
                      <m:r>
                        <m:rPr>
                          <m:sty m:val="p"/>
                        </m:rPr>
                        <a:rPr lang="en-US" altLang="zh-CN" i="0">
                          <a:latin typeface="Cambria Math"/>
                        </a:rPr>
                        <m:t>ϵ</m:t>
                      </m:r>
                      <m:r>
                        <a:rPr lang="en-US" altLang="zh-CN" i="1">
                          <a:latin typeface="Cambria Math"/>
                        </a:rPr>
                        <m:t>𝑃𝑟𝑒𝑠𝑠</m:t>
                      </m:r>
                      <m:r>
                        <a:rPr lang="zh-CN" altLang="zh-CN" i="1">
                          <a:latin typeface="Cambria Math"/>
                        </a:rPr>
                        <m:t>∧</m:t>
                      </m:r>
                      <m:r>
                        <a:rPr lang="en-US" altLang="zh-CN" i="1">
                          <a:latin typeface="Cambria Math"/>
                        </a:rPr>
                        <m:t>           </m:t>
                      </m:r>
                    </m:oMath>
                  </m:oMathPara>
                </a14:m>
                <a:endParaRPr lang="zh-CN" altLang="zh-CN" dirty="0"/>
              </a:p>
              <a:p>
                <a:pPr/>
                <a14:m>
                  <m:oMathPara xmlns:m="http://schemas.openxmlformats.org/officeDocument/2006/math">
                    <m:oMathParaPr>
                      <m:jc m:val="centerGroup"/>
                    </m:oMathParaPr>
                    <m:oMath xmlns:m="http://schemas.openxmlformats.org/officeDocument/2006/math">
                      <m:r>
                        <a:rPr lang="en-US" altLang="zh-CN" i="1">
                          <a:latin typeface="Cambria Math"/>
                        </a:rPr>
                        <m:t>𝐴𝑢𝑡h𝑜𝑟</m:t>
                      </m:r>
                      <m:r>
                        <a:rPr lang="en-US" altLang="zh-CN" i="1">
                          <a:latin typeface="Cambria Math"/>
                        </a:rPr>
                        <m:t>="</m:t>
                      </m:r>
                      <m:r>
                        <m:rPr>
                          <m:nor/>
                        </m:rPr>
                        <a:rPr lang="en-US" altLang="zh-CN"/>
                        <m:t> </m:t>
                      </m:r>
                      <m:r>
                        <m:rPr>
                          <m:nor/>
                        </m:rPr>
                        <a:rPr lang="zh-CN" altLang="zh-CN"/>
                        <m:t>王珊</m:t>
                      </m:r>
                      <m:r>
                        <m:rPr>
                          <m:nor/>
                        </m:rPr>
                        <a:rPr lang="en-US" altLang="zh-CN"/>
                        <m:t>"</m:t>
                      </m:r>
                      <m:r>
                        <m:rPr>
                          <m:nor/>
                        </m:rPr>
                        <a:rPr lang="zh-CN" altLang="zh-CN"/>
                        <m:t>∧</m:t>
                      </m:r>
                      <m:r>
                        <a:rPr lang="en-US" altLang="zh-CN" i="1">
                          <a:latin typeface="Cambria Math"/>
                        </a:rPr>
                        <m:t>𝐵𝑜𝑜𝑘</m:t>
                      </m:r>
                      <m:r>
                        <a:rPr lang="en-US" altLang="zh-CN" i="1">
                          <a:latin typeface="Cambria Math"/>
                        </a:rPr>
                        <m:t>.</m:t>
                      </m:r>
                      <m:r>
                        <a:rPr lang="en-US" altLang="zh-CN" i="1">
                          <a:latin typeface="Cambria Math"/>
                        </a:rPr>
                        <m:t>𝑃𝑁𝑜</m:t>
                      </m:r>
                      <m:r>
                        <a:rPr lang="en-US" altLang="zh-CN" i="1">
                          <a:latin typeface="Cambria Math"/>
                        </a:rPr>
                        <m:t>=</m:t>
                      </m:r>
                      <m:r>
                        <a:rPr lang="en-US" altLang="zh-CN" i="1">
                          <a:latin typeface="Cambria Math"/>
                        </a:rPr>
                        <m:t>𝑃𝑟𝑒𝑠𝑠</m:t>
                      </m:r>
                      <m:r>
                        <a:rPr lang="en-US" altLang="zh-CN" i="1">
                          <a:latin typeface="Cambria Math"/>
                        </a:rPr>
                        <m:t>.</m:t>
                      </m:r>
                      <m:r>
                        <a:rPr lang="en-US" altLang="zh-CN" i="1">
                          <a:latin typeface="Cambria Math"/>
                        </a:rPr>
                        <m:t>𝑃𝑁𝑜</m:t>
                      </m:r>
                      <m:r>
                        <a:rPr lang="en-US" altLang="zh-CN" i="1">
                          <a:latin typeface="Cambria Math"/>
                        </a:rPr>
                        <m:t>}} </m:t>
                      </m:r>
                    </m:oMath>
                  </m:oMathPara>
                </a14:m>
                <a:endParaRPr lang="zh-CN" altLang="zh-CN" dirty="0"/>
              </a:p>
            </p:txBody>
          </p:sp>
        </mc:Choice>
        <mc:Fallback xmlns="">
          <p:sp>
            <p:nvSpPr>
              <p:cNvPr id="40" name="矩形 39"/>
              <p:cNvSpPr>
                <a:spLocks noRot="1" noChangeAspect="1" noMove="1" noResize="1" noEditPoints="1" noAdjustHandles="1" noChangeArrowheads="1" noChangeShapeType="1" noTextEdit="1"/>
              </p:cNvSpPr>
              <p:nvPr/>
            </p:nvSpPr>
            <p:spPr>
              <a:xfrm>
                <a:off x="1732599" y="3209490"/>
                <a:ext cx="7231889" cy="1200329"/>
              </a:xfrm>
              <a:prstGeom prst="rect">
                <a:avLst/>
              </a:prstGeom>
              <a:blipFill rotWithShape="1">
                <a:blip r:embed="rId5"/>
                <a:stretch>
                  <a:fillRect l="-4802" t="-39086" r="-12721" b="-4061"/>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769D6935-E1DE-5547-8C0B-7C4F3DDE5D64}"/>
              </a:ext>
            </a:extLst>
          </p:cNvPr>
          <p:cNvSpPr>
            <a:spLocks noGrp="1"/>
          </p:cNvSpPr>
          <p:nvPr>
            <p:ph type="sldNum" sz="quarter" idx="12"/>
          </p:nvPr>
        </p:nvSpPr>
        <p:spPr/>
        <p:txBody>
          <a:bodyPr/>
          <a:lstStyle/>
          <a:p>
            <a:fld id="{C46E5E69-9A6D-4AF8-BC2D-C556A9893D8F}" type="slidenum">
              <a:rPr lang="zh-CN" altLang="en-US" smtClean="0"/>
              <a:pPr/>
              <a:t>35</a:t>
            </a:fld>
            <a:endParaRPr lang="zh-CN" altLang="en-US" dirty="0"/>
          </a:p>
        </p:txBody>
      </p:sp>
    </p:spTree>
    <p:extLst>
      <p:ext uri="{BB962C8B-B14F-4D97-AF65-F5344CB8AC3E}">
        <p14:creationId xmlns:p14="http://schemas.microsoft.com/office/powerpoint/2010/main" val="3637754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576064"/>
          </a:xfrm>
        </p:spPr>
        <p:txBody>
          <a:bodyPr>
            <a:normAutofit fontScale="90000"/>
          </a:bodyPr>
          <a:lstStyle/>
          <a:p>
            <a:r>
              <a:rPr lang="zh-CN" altLang="en-US" dirty="0">
                <a:solidFill>
                  <a:srgbClr val="0000FF"/>
                </a:solidFill>
              </a:rPr>
              <a:t>除</a:t>
            </a:r>
          </a:p>
        </p:txBody>
      </p:sp>
      <p:sp>
        <p:nvSpPr>
          <p:cNvPr id="3" name="文本占位符 2"/>
          <p:cNvSpPr>
            <a:spLocks noGrp="1"/>
          </p:cNvSpPr>
          <p:nvPr>
            <p:ph type="body" idx="1"/>
          </p:nvPr>
        </p:nvSpPr>
        <p:spPr>
          <a:xfrm>
            <a:off x="467544" y="692696"/>
            <a:ext cx="8229600" cy="1512168"/>
          </a:xfrm>
        </p:spPr>
        <p:txBody>
          <a:bodyPr>
            <a:normAutofit/>
          </a:bodyPr>
          <a:lstStyle/>
          <a:p>
            <a:pPr marL="0" indent="0">
              <a:buNone/>
            </a:pPr>
            <a:r>
              <a:rPr lang="zh-CN" altLang="zh-CN" sz="2000" dirty="0">
                <a:solidFill>
                  <a:srgbClr val="0000FF"/>
                </a:solidFill>
              </a:rPr>
              <a:t>例</a:t>
            </a:r>
            <a:r>
              <a:rPr lang="en-US" altLang="zh-CN" sz="2000" dirty="0">
                <a:solidFill>
                  <a:srgbClr val="0000FF"/>
                </a:solidFill>
              </a:rPr>
              <a:t>2.16  </a:t>
            </a:r>
            <a:r>
              <a:rPr lang="zh-CN" altLang="zh-CN" sz="2000" dirty="0"/>
              <a:t>已知成绩</a:t>
            </a:r>
            <a:r>
              <a:rPr lang="en-US" altLang="zh-CN" sz="2000" dirty="0"/>
              <a:t>Grade</a:t>
            </a:r>
            <a:r>
              <a:rPr lang="zh-CN" altLang="zh-CN" sz="2000" dirty="0"/>
              <a:t>和条件</a:t>
            </a:r>
            <a:r>
              <a:rPr lang="en-US" altLang="zh-CN" sz="2000" dirty="0"/>
              <a:t>Cond</a:t>
            </a:r>
            <a:r>
              <a:rPr lang="zh-CN" altLang="zh-CN" sz="2000" dirty="0"/>
              <a:t>，在</a:t>
            </a:r>
            <a:r>
              <a:rPr lang="en-US" altLang="zh-CN" sz="2000" dirty="0"/>
              <a:t>Grade</a:t>
            </a:r>
            <a:r>
              <a:rPr lang="zh-CN" altLang="zh-CN" sz="2000" dirty="0"/>
              <a:t>中选择满足条件的学生</a:t>
            </a:r>
            <a:r>
              <a:rPr lang="en-US" altLang="zh-CN" sz="2000" dirty="0"/>
              <a:t>Result</a:t>
            </a:r>
            <a:r>
              <a:rPr lang="zh-CN" altLang="zh-CN" sz="2000" dirty="0"/>
              <a:t>，即在</a:t>
            </a:r>
            <a:r>
              <a:rPr lang="en-US" altLang="zh-CN" sz="2000" dirty="0"/>
              <a:t>Grade</a:t>
            </a:r>
            <a:r>
              <a:rPr lang="zh-CN" altLang="zh-CN" sz="2000" dirty="0"/>
              <a:t>中选择高等数学和数据结构均为</a:t>
            </a:r>
            <a:r>
              <a:rPr lang="en-US" altLang="zh-CN" sz="2000" dirty="0"/>
              <a:t>A</a:t>
            </a:r>
            <a:r>
              <a:rPr lang="zh-CN" altLang="zh-CN" sz="2000" dirty="0"/>
              <a:t>的学生信息</a:t>
            </a:r>
            <a:endParaRPr lang="zh-CN" altLang="en-US" sz="2000" dirty="0"/>
          </a:p>
        </p:txBody>
      </p:sp>
      <p:sp>
        <p:nvSpPr>
          <p:cNvPr id="8" name="文本占位符 2"/>
          <p:cNvSpPr txBox="1">
            <a:spLocks/>
          </p:cNvSpPr>
          <p:nvPr/>
        </p:nvSpPr>
        <p:spPr>
          <a:xfrm>
            <a:off x="469408" y="4399760"/>
            <a:ext cx="8229600" cy="201622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dirty="0"/>
              <a:t>对于</a:t>
            </a:r>
            <a:r>
              <a:rPr lang="en-US" altLang="zh-CN" dirty="0"/>
              <a:t>Grade</a:t>
            </a:r>
            <a:r>
              <a:rPr lang="zh-CN" altLang="zh-CN" dirty="0"/>
              <a:t>在</a:t>
            </a:r>
            <a:r>
              <a:rPr lang="en-US" altLang="zh-CN" dirty="0" err="1"/>
              <a:t>SName</a:t>
            </a:r>
            <a:r>
              <a:rPr lang="zh-CN" altLang="zh-CN" dirty="0"/>
              <a:t>、</a:t>
            </a:r>
            <a:r>
              <a:rPr lang="en-US" altLang="zh-CN" dirty="0" err="1"/>
              <a:t>SSex</a:t>
            </a:r>
            <a:r>
              <a:rPr lang="zh-CN" altLang="zh-CN" dirty="0"/>
              <a:t>和</a:t>
            </a:r>
            <a:r>
              <a:rPr lang="en-US" altLang="zh-CN" dirty="0" err="1"/>
              <a:t>SDept</a:t>
            </a:r>
            <a:r>
              <a:rPr lang="zh-CN" altLang="zh-CN" dirty="0"/>
              <a:t>上的投影的一个元组</a:t>
            </a:r>
            <a:r>
              <a:rPr lang="en-US" altLang="zh-CN" i="1" dirty="0"/>
              <a:t>t</a:t>
            </a:r>
            <a:r>
              <a:rPr lang="zh-CN" altLang="zh-CN" dirty="0"/>
              <a:t>，如果</a:t>
            </a:r>
            <a:r>
              <a:rPr lang="en-US" altLang="zh-CN" dirty="0"/>
              <a:t>Grade</a:t>
            </a:r>
            <a:r>
              <a:rPr lang="zh-CN" altLang="zh-CN" dirty="0"/>
              <a:t>中在</a:t>
            </a:r>
            <a:r>
              <a:rPr lang="en-US" altLang="zh-CN" dirty="0" err="1"/>
              <a:t>SName</a:t>
            </a:r>
            <a:r>
              <a:rPr lang="zh-CN" altLang="zh-CN" dirty="0"/>
              <a:t>、</a:t>
            </a:r>
            <a:r>
              <a:rPr lang="en-US" altLang="zh-CN" dirty="0" err="1"/>
              <a:t>SSex</a:t>
            </a:r>
            <a:r>
              <a:rPr lang="zh-CN" altLang="zh-CN" dirty="0"/>
              <a:t>和</a:t>
            </a:r>
            <a:r>
              <a:rPr lang="en-US" altLang="zh-CN" dirty="0" err="1"/>
              <a:t>SDept</a:t>
            </a:r>
            <a:r>
              <a:rPr lang="zh-CN" altLang="zh-CN" dirty="0"/>
              <a:t>上的投影值等于</a:t>
            </a:r>
            <a:r>
              <a:rPr lang="en-US" altLang="zh-CN" i="1" dirty="0"/>
              <a:t>t  </a:t>
            </a:r>
            <a:r>
              <a:rPr lang="zh-CN" altLang="zh-CN" dirty="0"/>
              <a:t>的诸元组，在</a:t>
            </a:r>
            <a:r>
              <a:rPr lang="en-US" altLang="zh-CN" dirty="0" err="1"/>
              <a:t>CName</a:t>
            </a:r>
            <a:r>
              <a:rPr lang="zh-CN" altLang="zh-CN" dirty="0"/>
              <a:t>和</a:t>
            </a:r>
            <a:r>
              <a:rPr lang="en-US" altLang="zh-CN" dirty="0"/>
              <a:t>Grade</a:t>
            </a:r>
            <a:r>
              <a:rPr lang="zh-CN" altLang="zh-CN" dirty="0"/>
              <a:t>上的投影包含</a:t>
            </a:r>
            <a:r>
              <a:rPr lang="en-US" altLang="zh-CN" dirty="0"/>
              <a:t>Cond</a:t>
            </a:r>
            <a:r>
              <a:rPr lang="zh-CN" altLang="zh-CN" dirty="0"/>
              <a:t>中的元组，则该元组</a:t>
            </a:r>
            <a:r>
              <a:rPr lang="en-US" altLang="zh-CN" i="1" dirty="0"/>
              <a:t>t</a:t>
            </a:r>
            <a:r>
              <a:rPr lang="en-US" altLang="zh-CN" dirty="0"/>
              <a:t> </a:t>
            </a:r>
            <a:r>
              <a:rPr lang="zh-CN" altLang="zh-CN" dirty="0"/>
              <a:t>是一个结果元组（</a:t>
            </a:r>
            <a:r>
              <a:rPr lang="en-US" altLang="zh-CN" dirty="0"/>
              <a:t>t </a:t>
            </a:r>
            <a:r>
              <a:rPr lang="en-US" altLang="zh-CN" dirty="0">
                <a:sym typeface="Symbol"/>
              </a:rPr>
              <a:t></a:t>
            </a:r>
            <a:r>
              <a:rPr lang="en-US" altLang="zh-CN" dirty="0"/>
              <a:t>Grade</a:t>
            </a:r>
            <a:r>
              <a:rPr lang="zh-CN" altLang="zh-CN" dirty="0"/>
              <a:t>÷</a:t>
            </a:r>
            <a:r>
              <a:rPr lang="en-US" altLang="zh-CN" dirty="0"/>
              <a:t>Cond</a:t>
            </a:r>
            <a:r>
              <a:rPr lang="zh-CN" altLang="zh-CN" dirty="0"/>
              <a:t>）。所有这样的</a:t>
            </a:r>
            <a:r>
              <a:rPr lang="en-US" altLang="zh-CN" dirty="0"/>
              <a:t>t</a:t>
            </a:r>
            <a:r>
              <a:rPr lang="zh-CN" altLang="zh-CN" dirty="0"/>
              <a:t>就组成了</a:t>
            </a:r>
            <a:r>
              <a:rPr lang="en-US" altLang="zh-CN" dirty="0"/>
              <a:t>Grade</a:t>
            </a:r>
            <a:r>
              <a:rPr lang="zh-CN" altLang="zh-CN" dirty="0"/>
              <a:t>÷</a:t>
            </a:r>
            <a:r>
              <a:rPr lang="en-US" altLang="zh-CN" dirty="0"/>
              <a:t>Cond</a:t>
            </a:r>
            <a:endParaRPr lang="zh-CN" altLang="en-US" dirty="0"/>
          </a:p>
        </p:txBody>
      </p:sp>
      <p:grpSp>
        <p:nvGrpSpPr>
          <p:cNvPr id="16" name="Group 344"/>
          <p:cNvGrpSpPr>
            <a:grpSpLocks/>
          </p:cNvGrpSpPr>
          <p:nvPr/>
        </p:nvGrpSpPr>
        <p:grpSpPr bwMode="auto">
          <a:xfrm>
            <a:off x="323528" y="1844824"/>
            <a:ext cx="3672408" cy="2376264"/>
            <a:chOff x="1533" y="3603"/>
            <a:chExt cx="3276" cy="2270"/>
          </a:xfrm>
        </p:grpSpPr>
        <p:sp>
          <p:nvSpPr>
            <p:cNvPr id="17" name="Text Box 345"/>
            <p:cNvSpPr txBox="1">
              <a:spLocks noChangeArrowheads="1"/>
            </p:cNvSpPr>
            <p:nvPr/>
          </p:nvSpPr>
          <p:spPr bwMode="auto">
            <a:xfrm>
              <a:off x="1536" y="3603"/>
              <a:ext cx="3273" cy="227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just">
                <a:lnSpc>
                  <a:spcPts val="2600"/>
                </a:lnSpc>
                <a:spcAft>
                  <a:spcPts val="0"/>
                </a:spcAft>
              </a:pPr>
              <a:r>
                <a:rPr lang="en-US" sz="1600" dirty="0" err="1">
                  <a:solidFill>
                    <a:srgbClr val="0000FF"/>
                  </a:solidFill>
                  <a:effectLst/>
                  <a:latin typeface="微软雅黑" pitchFamily="34" charset="-122"/>
                  <a:ea typeface="微软雅黑" pitchFamily="34" charset="-122"/>
                  <a:cs typeface="宋体"/>
                </a:rPr>
                <a:t>SName</a:t>
              </a:r>
              <a:r>
                <a:rPr lang="en-US" sz="1600" dirty="0">
                  <a:solidFill>
                    <a:srgbClr val="0000FF"/>
                  </a:solidFill>
                  <a:effectLst/>
                  <a:latin typeface="微软雅黑" pitchFamily="34" charset="-122"/>
                  <a:ea typeface="微软雅黑" pitchFamily="34" charset="-122"/>
                  <a:cs typeface="宋体"/>
                </a:rPr>
                <a:t> </a:t>
              </a:r>
              <a:r>
                <a:rPr lang="en-US" sz="1600" dirty="0" err="1">
                  <a:solidFill>
                    <a:srgbClr val="0000FF"/>
                  </a:solidFill>
                  <a:effectLst/>
                  <a:latin typeface="微软雅黑" pitchFamily="34" charset="-122"/>
                  <a:ea typeface="微软雅黑" pitchFamily="34" charset="-122"/>
                  <a:cs typeface="宋体"/>
                </a:rPr>
                <a:t>SSex</a:t>
              </a:r>
              <a:r>
                <a:rPr lang="en-US" sz="1600" dirty="0">
                  <a:solidFill>
                    <a:srgbClr val="0000FF"/>
                  </a:solidFill>
                  <a:effectLst/>
                  <a:latin typeface="微软雅黑" pitchFamily="34" charset="-122"/>
                  <a:ea typeface="微软雅黑" pitchFamily="34" charset="-122"/>
                  <a:cs typeface="宋体"/>
                </a:rPr>
                <a:t> </a:t>
              </a:r>
              <a:r>
                <a:rPr lang="en-US" sz="1600" dirty="0" err="1">
                  <a:effectLst/>
                  <a:latin typeface="微软雅黑" pitchFamily="34" charset="-122"/>
                  <a:ea typeface="微软雅黑" pitchFamily="34" charset="-122"/>
                  <a:cs typeface="宋体"/>
                </a:rPr>
                <a:t>CName</a:t>
              </a:r>
              <a:r>
                <a:rPr lang="en-US" sz="1600" dirty="0">
                  <a:effectLst/>
                  <a:latin typeface="微软雅黑" pitchFamily="34" charset="-122"/>
                  <a:ea typeface="微软雅黑" pitchFamily="34" charset="-122"/>
                  <a:cs typeface="宋体"/>
                </a:rPr>
                <a:t> </a:t>
              </a:r>
              <a:r>
                <a:rPr lang="en-US" sz="1600" dirty="0" err="1">
                  <a:solidFill>
                    <a:srgbClr val="0000FF"/>
                  </a:solidFill>
                  <a:effectLst/>
                  <a:latin typeface="微软雅黑" pitchFamily="34" charset="-122"/>
                  <a:ea typeface="微软雅黑" pitchFamily="34" charset="-122"/>
                  <a:cs typeface="宋体"/>
                </a:rPr>
                <a:t>SDept</a:t>
              </a:r>
              <a:r>
                <a:rPr lang="en-US" sz="1600" dirty="0">
                  <a:solidFill>
                    <a:srgbClr val="0000FF"/>
                  </a:solidFill>
                  <a:effectLst/>
                  <a:latin typeface="微软雅黑" pitchFamily="34" charset="-122"/>
                  <a:ea typeface="微软雅黑" pitchFamily="34" charset="-122"/>
                  <a:cs typeface="宋体"/>
                </a:rPr>
                <a:t> </a:t>
              </a:r>
              <a:r>
                <a:rPr lang="en-US" sz="1600" dirty="0">
                  <a:effectLst/>
                  <a:latin typeface="微软雅黑" pitchFamily="34" charset="-122"/>
                  <a:ea typeface="微软雅黑" pitchFamily="34" charset="-122"/>
                  <a:cs typeface="宋体"/>
                </a:rPr>
                <a:t>Grade</a:t>
              </a:r>
              <a:endParaRPr lang="zh-CN" sz="1600" dirty="0">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0000FF"/>
                  </a:solidFill>
                  <a:latin typeface="微软雅黑" pitchFamily="34" charset="-122"/>
                  <a:ea typeface="微软雅黑" pitchFamily="34" charset="-122"/>
                  <a:cs typeface="宋体"/>
                </a:rPr>
                <a:t>李思</a:t>
              </a:r>
              <a:r>
                <a:rPr lang="en-US" sz="1600" dirty="0">
                  <a:solidFill>
                    <a:srgbClr val="0000FF"/>
                  </a:solidFill>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男</a:t>
              </a:r>
              <a:r>
                <a:rPr lang="en-US" sz="1600" dirty="0">
                  <a:effectLst/>
                  <a:latin typeface="微软雅黑" pitchFamily="34" charset="-122"/>
                  <a:ea typeface="微软雅黑" pitchFamily="34" charset="-122"/>
                  <a:cs typeface="宋体"/>
                </a:rPr>
                <a:t>    </a:t>
              </a:r>
              <a:r>
                <a:rPr lang="zh-CN" sz="1600" dirty="0">
                  <a:effectLst/>
                  <a:latin typeface="微软雅黑" pitchFamily="34" charset="-122"/>
                  <a:ea typeface="微软雅黑" pitchFamily="34" charset="-122"/>
                  <a:cs typeface="宋体"/>
                </a:rPr>
                <a:t>高等数学</a:t>
              </a:r>
              <a:r>
                <a:rPr lang="en-US" sz="1600" dirty="0">
                  <a:effectLst/>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计算机</a:t>
              </a:r>
              <a:r>
                <a:rPr lang="en-US" sz="1600" dirty="0">
                  <a:effectLst/>
                  <a:latin typeface="微软雅黑" pitchFamily="34" charset="-122"/>
                  <a:ea typeface="微软雅黑" pitchFamily="34" charset="-122"/>
                  <a:cs typeface="宋体"/>
                </a:rPr>
                <a:t>   A</a:t>
              </a:r>
              <a:endParaRPr lang="zh-CN" sz="1600" dirty="0">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0000FF"/>
                  </a:solidFill>
                  <a:latin typeface="微软雅黑" pitchFamily="34" charset="-122"/>
                  <a:ea typeface="微软雅黑" pitchFamily="34" charset="-122"/>
                  <a:cs typeface="宋体"/>
                </a:rPr>
                <a:t>刘英</a:t>
              </a:r>
              <a:r>
                <a:rPr lang="en-US" sz="1600" dirty="0">
                  <a:solidFill>
                    <a:srgbClr val="0000FF"/>
                  </a:solidFill>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女</a:t>
              </a:r>
              <a:r>
                <a:rPr lang="en-US" sz="1600" dirty="0">
                  <a:solidFill>
                    <a:srgbClr val="0000FF"/>
                  </a:solidFill>
                  <a:latin typeface="微软雅黑" pitchFamily="34" charset="-122"/>
                  <a:ea typeface="微软雅黑" pitchFamily="34" charset="-122"/>
                  <a:cs typeface="宋体"/>
                </a:rPr>
                <a:t>    </a:t>
              </a:r>
              <a:r>
                <a:rPr lang="zh-CN" sz="1600" dirty="0">
                  <a:effectLst/>
                  <a:latin typeface="微软雅黑" pitchFamily="34" charset="-122"/>
                  <a:ea typeface="微软雅黑" pitchFamily="34" charset="-122"/>
                  <a:cs typeface="宋体"/>
                </a:rPr>
                <a:t>高等数学</a:t>
              </a:r>
              <a:r>
                <a:rPr lang="en-US" sz="1600" dirty="0">
                  <a:effectLst/>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数学</a:t>
              </a:r>
              <a:r>
                <a:rPr lang="en-US" sz="1600" dirty="0">
                  <a:solidFill>
                    <a:srgbClr val="0000FF"/>
                  </a:solidFill>
                  <a:latin typeface="微软雅黑" pitchFamily="34" charset="-122"/>
                  <a:ea typeface="微软雅黑" pitchFamily="34" charset="-122"/>
                  <a:cs typeface="宋体"/>
                </a:rPr>
                <a:t> </a:t>
              </a:r>
              <a:r>
                <a:rPr lang="en-US" sz="1600" dirty="0">
                  <a:effectLst/>
                  <a:latin typeface="微软雅黑" pitchFamily="34" charset="-122"/>
                  <a:ea typeface="微软雅黑" pitchFamily="34" charset="-122"/>
                  <a:cs typeface="宋体"/>
                </a:rPr>
                <a:t>    B</a:t>
              </a:r>
              <a:endParaRPr lang="zh-CN" sz="1600" dirty="0">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0000FF"/>
                  </a:solidFill>
                  <a:latin typeface="微软雅黑" pitchFamily="34" charset="-122"/>
                  <a:ea typeface="微软雅黑" pitchFamily="34" charset="-122"/>
                  <a:cs typeface="宋体"/>
                </a:rPr>
                <a:t>吴康</a:t>
              </a:r>
              <a:r>
                <a:rPr lang="en-US" sz="1600" dirty="0">
                  <a:solidFill>
                    <a:srgbClr val="0000FF"/>
                  </a:solidFill>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男</a:t>
              </a:r>
              <a:r>
                <a:rPr lang="en-US" sz="1600" dirty="0">
                  <a:solidFill>
                    <a:srgbClr val="0000FF"/>
                  </a:solidFill>
                  <a:latin typeface="微软雅黑" pitchFamily="34" charset="-122"/>
                  <a:ea typeface="微软雅黑" pitchFamily="34" charset="-122"/>
                  <a:cs typeface="宋体"/>
                </a:rPr>
                <a:t>    </a:t>
              </a:r>
              <a:r>
                <a:rPr lang="zh-CN" sz="1600" dirty="0">
                  <a:effectLst/>
                  <a:latin typeface="微软雅黑" pitchFamily="34" charset="-122"/>
                  <a:ea typeface="微软雅黑" pitchFamily="34" charset="-122"/>
                  <a:cs typeface="宋体"/>
                </a:rPr>
                <a:t>高等数学</a:t>
              </a:r>
              <a:r>
                <a:rPr lang="en-US" sz="1600" dirty="0">
                  <a:effectLst/>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计算机</a:t>
              </a:r>
              <a:r>
                <a:rPr lang="en-US" sz="1600" dirty="0">
                  <a:effectLst/>
                  <a:latin typeface="微软雅黑" pitchFamily="34" charset="-122"/>
                  <a:ea typeface="微软雅黑" pitchFamily="34" charset="-122"/>
                  <a:cs typeface="宋体"/>
                </a:rPr>
                <a:t>   A </a:t>
              </a:r>
              <a:endParaRPr lang="zh-CN" sz="1600" dirty="0">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FF00FF"/>
                  </a:solidFill>
                  <a:latin typeface="微软雅黑" pitchFamily="34" charset="-122"/>
                  <a:ea typeface="微软雅黑" pitchFamily="34" charset="-122"/>
                  <a:cs typeface="宋体"/>
                </a:rPr>
                <a:t>王晶</a:t>
              </a:r>
              <a:r>
                <a:rPr lang="en-US" sz="1600" dirty="0">
                  <a:solidFill>
                    <a:srgbClr val="FF00FF"/>
                  </a:solidFill>
                  <a:latin typeface="微软雅黑" pitchFamily="34" charset="-122"/>
                  <a:ea typeface="微软雅黑" pitchFamily="34" charset="-122"/>
                  <a:cs typeface="宋体"/>
                </a:rPr>
                <a:t>    </a:t>
              </a:r>
              <a:r>
                <a:rPr lang="zh-CN" sz="1600" dirty="0">
                  <a:solidFill>
                    <a:srgbClr val="FF00FF"/>
                  </a:solidFill>
                  <a:latin typeface="微软雅黑" pitchFamily="34" charset="-122"/>
                  <a:ea typeface="微软雅黑" pitchFamily="34" charset="-122"/>
                  <a:cs typeface="宋体"/>
                </a:rPr>
                <a:t>女</a:t>
              </a:r>
              <a:r>
                <a:rPr lang="en-US" sz="1600" dirty="0">
                  <a:solidFill>
                    <a:srgbClr val="FF00FF"/>
                  </a:solidFill>
                  <a:latin typeface="微软雅黑" pitchFamily="34" charset="-122"/>
                  <a:ea typeface="微软雅黑" pitchFamily="34" charset="-122"/>
                  <a:cs typeface="宋体"/>
                </a:rPr>
                <a:t>    </a:t>
              </a:r>
              <a:r>
                <a:rPr lang="zh-CN" sz="1600" dirty="0">
                  <a:solidFill>
                    <a:srgbClr val="00FF00"/>
                  </a:solidFill>
                  <a:effectLst/>
                  <a:latin typeface="微软雅黑" pitchFamily="34" charset="-122"/>
                  <a:ea typeface="微软雅黑" pitchFamily="34" charset="-122"/>
                  <a:cs typeface="宋体"/>
                </a:rPr>
                <a:t>数据结构</a:t>
              </a:r>
              <a:r>
                <a:rPr lang="en-US" sz="1600" dirty="0">
                  <a:effectLst/>
                  <a:latin typeface="微软雅黑" pitchFamily="34" charset="-122"/>
                  <a:ea typeface="微软雅黑" pitchFamily="34" charset="-122"/>
                  <a:cs typeface="宋体"/>
                </a:rPr>
                <a:t>     </a:t>
              </a:r>
              <a:r>
                <a:rPr lang="zh-CN" sz="1600" dirty="0">
                  <a:solidFill>
                    <a:srgbClr val="FF00FF"/>
                  </a:solidFill>
                  <a:latin typeface="微软雅黑" pitchFamily="34" charset="-122"/>
                  <a:ea typeface="微软雅黑" pitchFamily="34" charset="-122"/>
                  <a:cs typeface="宋体"/>
                </a:rPr>
                <a:t>数学</a:t>
              </a:r>
              <a:r>
                <a:rPr lang="en-US" sz="1600" dirty="0">
                  <a:solidFill>
                    <a:srgbClr val="FF00FF"/>
                  </a:solidFill>
                  <a:latin typeface="微软雅黑" pitchFamily="34" charset="-122"/>
                  <a:ea typeface="微软雅黑" pitchFamily="34" charset="-122"/>
                  <a:cs typeface="宋体"/>
                </a:rPr>
                <a:t> </a:t>
              </a:r>
              <a:r>
                <a:rPr lang="en-US" sz="1600" dirty="0">
                  <a:effectLst/>
                  <a:latin typeface="微软雅黑" pitchFamily="34" charset="-122"/>
                  <a:ea typeface="微软雅黑" pitchFamily="34" charset="-122"/>
                  <a:cs typeface="宋体"/>
                </a:rPr>
                <a:t>    </a:t>
              </a:r>
              <a:r>
                <a:rPr lang="en-US" sz="1600" dirty="0">
                  <a:solidFill>
                    <a:srgbClr val="00FF00"/>
                  </a:solidFill>
                  <a:effectLst/>
                  <a:latin typeface="微软雅黑" pitchFamily="34" charset="-122"/>
                  <a:ea typeface="微软雅黑" pitchFamily="34" charset="-122"/>
                  <a:cs typeface="宋体"/>
                </a:rPr>
                <a:t>A</a:t>
              </a:r>
              <a:endParaRPr lang="zh-CN" sz="1600" dirty="0">
                <a:solidFill>
                  <a:srgbClr val="00FF00"/>
                </a:solidFill>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0000FF"/>
                  </a:solidFill>
                  <a:latin typeface="微软雅黑" pitchFamily="34" charset="-122"/>
                  <a:ea typeface="微软雅黑" pitchFamily="34" charset="-122"/>
                  <a:cs typeface="宋体"/>
                </a:rPr>
                <a:t>吴康</a:t>
              </a:r>
              <a:r>
                <a:rPr lang="en-US" sz="1600" dirty="0">
                  <a:solidFill>
                    <a:srgbClr val="0000FF"/>
                  </a:solidFill>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男</a:t>
              </a:r>
              <a:r>
                <a:rPr lang="en-US" sz="1600" dirty="0">
                  <a:solidFill>
                    <a:srgbClr val="0000FF"/>
                  </a:solidFill>
                  <a:latin typeface="微软雅黑" pitchFamily="34" charset="-122"/>
                  <a:ea typeface="微软雅黑" pitchFamily="34" charset="-122"/>
                  <a:cs typeface="宋体"/>
                </a:rPr>
                <a:t>      </a:t>
              </a:r>
              <a:r>
                <a:rPr lang="zh-CN" sz="1600" dirty="0">
                  <a:effectLst/>
                  <a:latin typeface="微软雅黑" pitchFamily="34" charset="-122"/>
                  <a:ea typeface="微软雅黑" pitchFamily="34" charset="-122"/>
                  <a:cs typeface="宋体"/>
                </a:rPr>
                <a:t>英语</a:t>
              </a:r>
              <a:r>
                <a:rPr lang="en-US" sz="1600" dirty="0">
                  <a:effectLst/>
                  <a:latin typeface="微软雅黑" pitchFamily="34" charset="-122"/>
                  <a:ea typeface="微软雅黑" pitchFamily="34" charset="-122"/>
                  <a:cs typeface="宋体"/>
                </a:rPr>
                <a:t>         </a:t>
              </a:r>
              <a:r>
                <a:rPr lang="zh-CN" sz="1600" dirty="0">
                  <a:solidFill>
                    <a:srgbClr val="0000FF"/>
                  </a:solidFill>
                  <a:latin typeface="微软雅黑" pitchFamily="34" charset="-122"/>
                  <a:ea typeface="微软雅黑" pitchFamily="34" charset="-122"/>
                  <a:cs typeface="宋体"/>
                </a:rPr>
                <a:t>计算机</a:t>
              </a:r>
              <a:r>
                <a:rPr lang="en-US" sz="1600" dirty="0">
                  <a:effectLst/>
                  <a:latin typeface="微软雅黑" pitchFamily="34" charset="-122"/>
                  <a:ea typeface="微软雅黑" pitchFamily="34" charset="-122"/>
                  <a:cs typeface="宋体"/>
                </a:rPr>
                <a:t>   B</a:t>
              </a:r>
              <a:endParaRPr lang="zh-CN" sz="1600" dirty="0">
                <a:effectLst/>
                <a:latin typeface="微软雅黑" pitchFamily="34" charset="-122"/>
                <a:ea typeface="微软雅黑" pitchFamily="34" charset="-122"/>
                <a:cs typeface="宋体"/>
              </a:endParaRPr>
            </a:p>
            <a:p>
              <a:pPr indent="127000" algn="just">
                <a:lnSpc>
                  <a:spcPts val="2600"/>
                </a:lnSpc>
                <a:spcAft>
                  <a:spcPts val="0"/>
                </a:spcAft>
              </a:pPr>
              <a:r>
                <a:rPr lang="zh-CN" sz="1600" dirty="0">
                  <a:solidFill>
                    <a:srgbClr val="FF00FF"/>
                  </a:solidFill>
                  <a:latin typeface="微软雅黑" pitchFamily="34" charset="-122"/>
                  <a:ea typeface="微软雅黑" pitchFamily="34" charset="-122"/>
                  <a:cs typeface="宋体"/>
                </a:rPr>
                <a:t>王晶</a:t>
              </a:r>
              <a:r>
                <a:rPr lang="en-US" sz="1600" dirty="0">
                  <a:solidFill>
                    <a:srgbClr val="FF00FF"/>
                  </a:solidFill>
                  <a:latin typeface="微软雅黑" pitchFamily="34" charset="-122"/>
                  <a:ea typeface="微软雅黑" pitchFamily="34" charset="-122"/>
                  <a:cs typeface="宋体"/>
                </a:rPr>
                <a:t>    </a:t>
              </a:r>
              <a:r>
                <a:rPr lang="zh-CN" sz="1600" dirty="0">
                  <a:solidFill>
                    <a:srgbClr val="FF00FF"/>
                  </a:solidFill>
                  <a:latin typeface="微软雅黑" pitchFamily="34" charset="-122"/>
                  <a:ea typeface="微软雅黑" pitchFamily="34" charset="-122"/>
                  <a:cs typeface="宋体"/>
                </a:rPr>
                <a:t>女</a:t>
              </a:r>
              <a:r>
                <a:rPr lang="en-US" sz="1600" dirty="0">
                  <a:solidFill>
                    <a:srgbClr val="FF00FF"/>
                  </a:solidFill>
                  <a:latin typeface="微软雅黑" pitchFamily="34" charset="-122"/>
                  <a:ea typeface="微软雅黑" pitchFamily="34" charset="-122"/>
                  <a:cs typeface="宋体"/>
                </a:rPr>
                <a:t>    </a:t>
              </a:r>
              <a:r>
                <a:rPr lang="zh-CN" sz="1600" dirty="0">
                  <a:solidFill>
                    <a:srgbClr val="00FF00"/>
                  </a:solidFill>
                  <a:effectLst/>
                  <a:latin typeface="微软雅黑" pitchFamily="34" charset="-122"/>
                  <a:ea typeface="微软雅黑" pitchFamily="34" charset="-122"/>
                  <a:cs typeface="宋体"/>
                </a:rPr>
                <a:t>高等数学</a:t>
              </a:r>
              <a:r>
                <a:rPr lang="en-US" sz="1600" dirty="0">
                  <a:solidFill>
                    <a:srgbClr val="00FF00"/>
                  </a:solidFill>
                  <a:effectLst/>
                  <a:latin typeface="微软雅黑" pitchFamily="34" charset="-122"/>
                  <a:ea typeface="微软雅黑" pitchFamily="34" charset="-122"/>
                  <a:cs typeface="宋体"/>
                </a:rPr>
                <a:t>     </a:t>
              </a:r>
              <a:r>
                <a:rPr lang="zh-CN" sz="1600" dirty="0">
                  <a:solidFill>
                    <a:srgbClr val="FF00FF"/>
                  </a:solidFill>
                  <a:latin typeface="微软雅黑" pitchFamily="34" charset="-122"/>
                  <a:ea typeface="微软雅黑" pitchFamily="34" charset="-122"/>
                  <a:cs typeface="宋体"/>
                </a:rPr>
                <a:t>数学</a:t>
              </a:r>
              <a:r>
                <a:rPr lang="en-US" sz="1600" dirty="0">
                  <a:solidFill>
                    <a:srgbClr val="0000FF"/>
                  </a:solidFill>
                  <a:latin typeface="微软雅黑" pitchFamily="34" charset="-122"/>
                  <a:ea typeface="微软雅黑" pitchFamily="34" charset="-122"/>
                  <a:cs typeface="宋体"/>
                </a:rPr>
                <a:t>  </a:t>
              </a:r>
              <a:r>
                <a:rPr lang="en-US" sz="1600" dirty="0">
                  <a:effectLst/>
                  <a:latin typeface="微软雅黑" pitchFamily="34" charset="-122"/>
                  <a:ea typeface="微软雅黑" pitchFamily="34" charset="-122"/>
                  <a:cs typeface="宋体"/>
                </a:rPr>
                <a:t>   </a:t>
              </a:r>
              <a:r>
                <a:rPr lang="en-US" sz="1600" dirty="0">
                  <a:solidFill>
                    <a:srgbClr val="00FF00"/>
                  </a:solidFill>
                  <a:effectLst/>
                  <a:latin typeface="微软雅黑" pitchFamily="34" charset="-122"/>
                  <a:ea typeface="微软雅黑" pitchFamily="34" charset="-122"/>
                  <a:cs typeface="宋体"/>
                </a:rPr>
                <a:t>A</a:t>
              </a:r>
              <a:endParaRPr lang="zh-CN" sz="1600" dirty="0">
                <a:solidFill>
                  <a:srgbClr val="00FF00"/>
                </a:solidFill>
                <a:effectLst/>
                <a:latin typeface="微软雅黑" pitchFamily="34" charset="-122"/>
                <a:ea typeface="微软雅黑" pitchFamily="34" charset="-122"/>
                <a:cs typeface="宋体"/>
              </a:endParaRPr>
            </a:p>
          </p:txBody>
        </p:sp>
        <p:cxnSp>
          <p:nvCxnSpPr>
            <p:cNvPr id="18" name="Line 346"/>
            <p:cNvCxnSpPr/>
            <p:nvPr/>
          </p:nvCxnSpPr>
          <p:spPr bwMode="auto">
            <a:xfrm flipV="1">
              <a:off x="1533" y="3905"/>
              <a:ext cx="32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19" name="Group 350"/>
          <p:cNvGrpSpPr>
            <a:grpSpLocks/>
          </p:cNvGrpSpPr>
          <p:nvPr/>
        </p:nvGrpSpPr>
        <p:grpSpPr bwMode="auto">
          <a:xfrm>
            <a:off x="5243513" y="1844824"/>
            <a:ext cx="3144911" cy="1080120"/>
            <a:chOff x="6237" y="4145"/>
            <a:chExt cx="1848" cy="912"/>
          </a:xfrm>
        </p:grpSpPr>
        <p:sp>
          <p:nvSpPr>
            <p:cNvPr id="20" name="Text Box 351"/>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dirty="0" err="1">
                  <a:effectLst/>
                  <a:latin typeface="微软雅黑" pitchFamily="34" charset="-122"/>
                  <a:ea typeface="微软雅黑" pitchFamily="34" charset="-122"/>
                  <a:cs typeface="宋体"/>
                </a:rPr>
                <a:t>CName</a:t>
              </a:r>
              <a:r>
                <a:rPr lang="en-US" dirty="0">
                  <a:effectLst/>
                  <a:latin typeface="微软雅黑" pitchFamily="34" charset="-122"/>
                  <a:ea typeface="微软雅黑" pitchFamily="34" charset="-122"/>
                  <a:cs typeface="宋体"/>
                </a:rPr>
                <a:t>      Grade</a:t>
              </a:r>
              <a:endParaRPr lang="zh-CN" dirty="0">
                <a:effectLst/>
                <a:latin typeface="微软雅黑" pitchFamily="34" charset="-122"/>
                <a:ea typeface="微软雅黑" pitchFamily="34" charset="-122"/>
                <a:cs typeface="宋体"/>
              </a:endParaRPr>
            </a:p>
            <a:p>
              <a:pPr indent="127000" algn="ctr">
                <a:lnSpc>
                  <a:spcPts val="2600"/>
                </a:lnSpc>
                <a:spcAft>
                  <a:spcPts val="0"/>
                </a:spcAft>
              </a:pPr>
              <a:r>
                <a:rPr lang="zh-CN" dirty="0">
                  <a:effectLst/>
                  <a:latin typeface="微软雅黑" pitchFamily="34" charset="-122"/>
                  <a:ea typeface="微软雅黑" pitchFamily="34" charset="-122"/>
                  <a:cs typeface="宋体"/>
                </a:rPr>
                <a:t>高等数学</a:t>
              </a:r>
              <a:r>
                <a:rPr lang="en-US" dirty="0">
                  <a:effectLst/>
                  <a:latin typeface="微软雅黑" pitchFamily="34" charset="-122"/>
                  <a:ea typeface="微软雅黑" pitchFamily="34" charset="-122"/>
                  <a:cs typeface="宋体"/>
                </a:rPr>
                <a:t>      A</a:t>
              </a:r>
              <a:endParaRPr lang="zh-CN" dirty="0">
                <a:effectLst/>
                <a:latin typeface="微软雅黑" pitchFamily="34" charset="-122"/>
                <a:ea typeface="微软雅黑" pitchFamily="34" charset="-122"/>
                <a:cs typeface="宋体"/>
              </a:endParaRPr>
            </a:p>
            <a:p>
              <a:pPr indent="127000" algn="ctr">
                <a:lnSpc>
                  <a:spcPts val="2600"/>
                </a:lnSpc>
                <a:spcAft>
                  <a:spcPts val="0"/>
                </a:spcAft>
              </a:pPr>
              <a:r>
                <a:rPr lang="zh-CN" dirty="0">
                  <a:effectLst/>
                  <a:latin typeface="微软雅黑" pitchFamily="34" charset="-122"/>
                  <a:ea typeface="微软雅黑" pitchFamily="34" charset="-122"/>
                  <a:cs typeface="宋体"/>
                </a:rPr>
                <a:t>数据结构</a:t>
              </a:r>
              <a:r>
                <a:rPr lang="en-US" dirty="0">
                  <a:effectLst/>
                  <a:latin typeface="微软雅黑" pitchFamily="34" charset="-122"/>
                  <a:ea typeface="微软雅黑" pitchFamily="34" charset="-122"/>
                  <a:cs typeface="宋体"/>
                </a:rPr>
                <a:t>      A</a:t>
              </a:r>
              <a:endParaRPr lang="zh-CN" dirty="0">
                <a:effectLst/>
                <a:latin typeface="微软雅黑" pitchFamily="34" charset="-122"/>
                <a:ea typeface="微软雅黑" pitchFamily="34" charset="-122"/>
                <a:cs typeface="宋体"/>
              </a:endParaRPr>
            </a:p>
          </p:txBody>
        </p:sp>
        <p:cxnSp>
          <p:nvCxnSpPr>
            <p:cNvPr id="21" name="Line 352"/>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2" name="Group 347"/>
          <p:cNvGrpSpPr>
            <a:grpSpLocks/>
          </p:cNvGrpSpPr>
          <p:nvPr/>
        </p:nvGrpSpPr>
        <p:grpSpPr bwMode="auto">
          <a:xfrm>
            <a:off x="5257800" y="3032956"/>
            <a:ext cx="3130624" cy="1188132"/>
            <a:chOff x="5985" y="5297"/>
            <a:chExt cx="1974" cy="1022"/>
          </a:xfrm>
        </p:grpSpPr>
        <p:sp>
          <p:nvSpPr>
            <p:cNvPr id="23" name="Text Box 348"/>
            <p:cNvSpPr txBox="1">
              <a:spLocks noChangeArrowheads="1"/>
            </p:cNvSpPr>
            <p:nvPr/>
          </p:nvSpPr>
          <p:spPr bwMode="auto">
            <a:xfrm>
              <a:off x="5985" y="5297"/>
              <a:ext cx="1974" cy="102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err="1">
                  <a:effectLst/>
                  <a:latin typeface="微软雅黑" pitchFamily="34" charset="-122"/>
                  <a:ea typeface="微软雅黑" pitchFamily="34" charset="-122"/>
                  <a:cs typeface="宋体"/>
                </a:rPr>
                <a:t>SName</a:t>
              </a:r>
              <a:r>
                <a:rPr lang="en-US" sz="2000" dirty="0">
                  <a:effectLst/>
                  <a:latin typeface="微软雅黑" pitchFamily="34" charset="-122"/>
                  <a:ea typeface="微软雅黑" pitchFamily="34" charset="-122"/>
                  <a:cs typeface="宋体"/>
                </a:rPr>
                <a:t>  </a:t>
              </a:r>
              <a:r>
                <a:rPr lang="en-US" sz="2000" dirty="0" err="1">
                  <a:effectLst/>
                  <a:latin typeface="微软雅黑" pitchFamily="34" charset="-122"/>
                  <a:ea typeface="微软雅黑" pitchFamily="34" charset="-122"/>
                  <a:cs typeface="宋体"/>
                </a:rPr>
                <a:t>SSex</a:t>
              </a:r>
              <a:r>
                <a:rPr lang="en-US" sz="2000" dirty="0">
                  <a:effectLst/>
                  <a:latin typeface="微软雅黑" pitchFamily="34" charset="-122"/>
                  <a:ea typeface="微软雅黑" pitchFamily="34" charset="-122"/>
                  <a:cs typeface="宋体"/>
                </a:rPr>
                <a:t>   </a:t>
              </a:r>
              <a:r>
                <a:rPr lang="en-US" sz="2000" dirty="0" err="1">
                  <a:effectLst/>
                  <a:latin typeface="微软雅黑" pitchFamily="34" charset="-122"/>
                  <a:ea typeface="微软雅黑" pitchFamily="34" charset="-122"/>
                  <a:cs typeface="宋体"/>
                </a:rPr>
                <a:t>SDept</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endParaRPr lang="en-US" altLang="zh-CN" sz="2000" dirty="0">
                <a:effectLst/>
                <a:latin typeface="微软雅黑" pitchFamily="34" charset="-122"/>
                <a:ea typeface="微软雅黑" pitchFamily="34" charset="-122"/>
                <a:cs typeface="宋体"/>
              </a:endParaRPr>
            </a:p>
            <a:p>
              <a:pPr indent="127000" algn="ctr">
                <a:lnSpc>
                  <a:spcPts val="2600"/>
                </a:lnSpc>
                <a:spcAft>
                  <a:spcPts val="0"/>
                </a:spcAft>
              </a:pPr>
              <a:r>
                <a:rPr lang="zh-CN" sz="2000" dirty="0">
                  <a:effectLst/>
                  <a:latin typeface="微软雅黑" pitchFamily="34" charset="-122"/>
                  <a:ea typeface="微软雅黑" pitchFamily="34" charset="-122"/>
                  <a:cs typeface="宋体"/>
                </a:rPr>
                <a:t>王晶</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女</a:t>
              </a:r>
              <a:r>
                <a:rPr lang="en-US" sz="2000" dirty="0">
                  <a:effectLst/>
                  <a:latin typeface="微软雅黑" pitchFamily="34" charset="-122"/>
                  <a:ea typeface="微软雅黑" pitchFamily="34" charset="-122"/>
                  <a:cs typeface="宋体"/>
                </a:rPr>
                <a:t>     </a:t>
              </a:r>
              <a:r>
                <a:rPr lang="zh-CN" sz="2000" dirty="0">
                  <a:effectLst/>
                  <a:latin typeface="微软雅黑" pitchFamily="34" charset="-122"/>
                  <a:ea typeface="微软雅黑" pitchFamily="34" charset="-122"/>
                  <a:cs typeface="宋体"/>
                </a:rPr>
                <a:t>数学</a:t>
              </a:r>
            </a:p>
          </p:txBody>
        </p:sp>
        <p:cxnSp>
          <p:nvCxnSpPr>
            <p:cNvPr id="24" name="Line 349"/>
            <p:cNvCxnSpPr/>
            <p:nvPr/>
          </p:nvCxnSpPr>
          <p:spPr bwMode="auto">
            <a:xfrm flipV="1">
              <a:off x="5985" y="5633"/>
              <a:ext cx="19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4" name="灯片编号占位符 3">
            <a:extLst>
              <a:ext uri="{FF2B5EF4-FFF2-40B4-BE49-F238E27FC236}">
                <a16:creationId xmlns:a16="http://schemas.microsoft.com/office/drawing/2014/main" id="{35081A42-067F-1D42-865D-C78E2210C3B8}"/>
              </a:ext>
            </a:extLst>
          </p:cNvPr>
          <p:cNvSpPr>
            <a:spLocks noGrp="1"/>
          </p:cNvSpPr>
          <p:nvPr>
            <p:ph type="sldNum" sz="quarter" idx="12"/>
          </p:nvPr>
        </p:nvSpPr>
        <p:spPr/>
        <p:txBody>
          <a:bodyPr/>
          <a:lstStyle/>
          <a:p>
            <a:fld id="{C46E5E69-9A6D-4AF8-BC2D-C556A9893D8F}" type="slidenum">
              <a:rPr lang="zh-CN" altLang="en-US" smtClean="0"/>
              <a:pPr/>
              <a:t>36</a:t>
            </a:fld>
            <a:endParaRPr lang="zh-CN" altLang="en-US" dirty="0"/>
          </a:p>
        </p:txBody>
      </p:sp>
    </p:spTree>
    <p:extLst>
      <p:ext uri="{BB962C8B-B14F-4D97-AF65-F5344CB8AC3E}">
        <p14:creationId xmlns:p14="http://schemas.microsoft.com/office/powerpoint/2010/main" val="313547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634082"/>
          </a:xfrm>
        </p:spPr>
        <p:txBody>
          <a:bodyPr>
            <a:normAutofit fontScale="90000"/>
          </a:bodyPr>
          <a:lstStyle/>
          <a:p>
            <a:r>
              <a:rPr lang="zh-CN" altLang="en-US" dirty="0"/>
              <a:t>除</a:t>
            </a:r>
          </a:p>
        </p:txBody>
      </p:sp>
      <p:sp>
        <p:nvSpPr>
          <p:cNvPr id="3" name="文本占位符 2"/>
          <p:cNvSpPr>
            <a:spLocks noGrp="1"/>
          </p:cNvSpPr>
          <p:nvPr>
            <p:ph type="body" idx="1"/>
          </p:nvPr>
        </p:nvSpPr>
        <p:spPr>
          <a:xfrm>
            <a:off x="457200" y="1124744"/>
            <a:ext cx="8229600" cy="4248472"/>
          </a:xfrm>
        </p:spPr>
        <p:txBody>
          <a:bodyPr/>
          <a:lstStyle/>
          <a:p>
            <a:r>
              <a:rPr lang="zh-CN" altLang="zh-CN" dirty="0">
                <a:solidFill>
                  <a:srgbClr val="0000FF"/>
                </a:solidFill>
              </a:rPr>
              <a:t>关系</a:t>
            </a:r>
            <a:r>
              <a:rPr lang="en-US" altLang="zh-CN" dirty="0">
                <a:solidFill>
                  <a:srgbClr val="0000FF"/>
                </a:solidFill>
              </a:rPr>
              <a:t>R</a:t>
            </a:r>
            <a:r>
              <a:rPr lang="zh-CN" altLang="zh-CN" dirty="0">
                <a:solidFill>
                  <a:srgbClr val="0000FF"/>
                </a:solidFill>
              </a:rPr>
              <a:t>与</a:t>
            </a:r>
            <a:r>
              <a:rPr lang="en-US" altLang="zh-CN" dirty="0">
                <a:solidFill>
                  <a:srgbClr val="0000FF"/>
                </a:solidFill>
              </a:rPr>
              <a:t>S</a:t>
            </a:r>
            <a:r>
              <a:rPr lang="zh-CN" altLang="zh-CN" dirty="0">
                <a:solidFill>
                  <a:srgbClr val="0000FF"/>
                </a:solidFill>
              </a:rPr>
              <a:t>的除运算</a:t>
            </a:r>
            <a:r>
              <a:rPr lang="zh-CN" altLang="zh-CN" dirty="0"/>
              <a:t>：已知关系</a:t>
            </a:r>
            <a:r>
              <a:rPr lang="en-US" altLang="zh-CN" dirty="0"/>
              <a:t>R(X</a:t>
            </a:r>
            <a:r>
              <a:rPr lang="zh-CN" altLang="zh-CN" dirty="0"/>
              <a:t>，</a:t>
            </a:r>
            <a:r>
              <a:rPr lang="en-US" altLang="zh-CN" dirty="0"/>
              <a:t>Y )</a:t>
            </a:r>
            <a:r>
              <a:rPr lang="zh-CN" altLang="zh-CN" dirty="0"/>
              <a:t>和</a:t>
            </a:r>
            <a:r>
              <a:rPr lang="en-US" altLang="zh-CN" dirty="0"/>
              <a:t>S(Y</a:t>
            </a:r>
            <a:r>
              <a:rPr lang="zh-CN" altLang="zh-CN" dirty="0"/>
              <a:t>，</a:t>
            </a:r>
            <a:r>
              <a:rPr lang="en-US" altLang="zh-CN" dirty="0"/>
              <a:t>Z )</a:t>
            </a:r>
            <a:r>
              <a:rPr lang="zh-CN" altLang="zh-CN" dirty="0"/>
              <a:t>，</a:t>
            </a:r>
            <a:r>
              <a:rPr lang="en-US" altLang="zh-CN" dirty="0"/>
              <a:t>R</a:t>
            </a:r>
            <a:r>
              <a:rPr lang="zh-CN" altLang="zh-CN" dirty="0"/>
              <a:t>与</a:t>
            </a:r>
            <a:r>
              <a:rPr lang="en-US" altLang="zh-CN" dirty="0"/>
              <a:t>S</a:t>
            </a:r>
            <a:r>
              <a:rPr lang="zh-CN" altLang="zh-CN" dirty="0"/>
              <a:t>的除运算的结果是一个属性组为</a:t>
            </a:r>
            <a:r>
              <a:rPr lang="en-US" altLang="zh-CN" dirty="0"/>
              <a:t>X</a:t>
            </a:r>
            <a:r>
              <a:rPr lang="zh-CN" altLang="zh-CN" dirty="0"/>
              <a:t>的关系</a:t>
            </a:r>
            <a:r>
              <a:rPr lang="en-US" altLang="zh-CN" dirty="0"/>
              <a:t>P(X )</a:t>
            </a:r>
            <a:r>
              <a:rPr lang="zh-CN" altLang="zh-CN" dirty="0"/>
              <a:t>，并且满足：对于</a:t>
            </a:r>
            <a:r>
              <a:rPr lang="en-US" altLang="zh-CN" dirty="0"/>
              <a:t>P(X )</a:t>
            </a:r>
            <a:r>
              <a:rPr lang="zh-CN" altLang="zh-CN" dirty="0"/>
              <a:t>中的元组</a:t>
            </a:r>
            <a:r>
              <a:rPr lang="en-US" altLang="zh-CN" dirty="0"/>
              <a:t>p</a:t>
            </a:r>
            <a:r>
              <a:rPr lang="zh-CN" altLang="zh-CN" dirty="0"/>
              <a:t>，</a:t>
            </a:r>
            <a:r>
              <a:rPr lang="en-US" altLang="zh-CN" dirty="0"/>
              <a:t>R</a:t>
            </a:r>
            <a:r>
              <a:rPr lang="zh-CN" altLang="zh-CN" dirty="0"/>
              <a:t>中在</a:t>
            </a:r>
            <a:r>
              <a:rPr lang="en-US" altLang="zh-CN" dirty="0"/>
              <a:t>X</a:t>
            </a:r>
            <a:r>
              <a:rPr lang="zh-CN" altLang="zh-CN" dirty="0"/>
              <a:t>上的投影值等于</a:t>
            </a:r>
            <a:r>
              <a:rPr lang="en-US" altLang="zh-CN" dirty="0"/>
              <a:t>p</a:t>
            </a:r>
            <a:r>
              <a:rPr lang="zh-CN" altLang="zh-CN" dirty="0"/>
              <a:t>的诸元组，在</a:t>
            </a:r>
            <a:r>
              <a:rPr lang="en-US" altLang="zh-CN" dirty="0"/>
              <a:t>Y</a:t>
            </a:r>
            <a:r>
              <a:rPr lang="zh-CN" altLang="zh-CN" dirty="0"/>
              <a:t>上的投影包含</a:t>
            </a:r>
            <a:r>
              <a:rPr lang="en-US" altLang="zh-CN" dirty="0"/>
              <a:t>S</a:t>
            </a:r>
            <a:r>
              <a:rPr lang="zh-CN" altLang="zh-CN" dirty="0"/>
              <a:t>在</a:t>
            </a:r>
            <a:r>
              <a:rPr lang="en-US" altLang="zh-CN" dirty="0"/>
              <a:t>Y</a:t>
            </a:r>
            <a:r>
              <a:rPr lang="zh-CN" altLang="zh-CN" dirty="0"/>
              <a:t>上的投影。</a:t>
            </a:r>
            <a:endParaRPr lang="en-US" altLang="zh-CN" dirty="0"/>
          </a:p>
          <a:p>
            <a:r>
              <a:rPr lang="zh-CN" altLang="en-US" dirty="0">
                <a:solidFill>
                  <a:srgbClr val="0000FF"/>
                </a:solidFill>
              </a:rPr>
              <a:t>关系代数</a:t>
            </a:r>
            <a:r>
              <a:rPr lang="zh-CN" altLang="en-US" dirty="0"/>
              <a:t>：</a:t>
            </a:r>
            <a:r>
              <a:rPr lang="en-US" altLang="zh-CN" dirty="0"/>
              <a:t>R</a:t>
            </a:r>
            <a:r>
              <a:rPr lang="en-US" altLang="zh-CN" dirty="0">
                <a:sym typeface="Symbol"/>
              </a:rPr>
              <a:t></a:t>
            </a:r>
            <a:r>
              <a:rPr lang="en-US" altLang="zh-CN" dirty="0"/>
              <a:t>S</a:t>
            </a:r>
          </a:p>
          <a:p>
            <a:r>
              <a:rPr lang="zh-CN" altLang="zh-CN" dirty="0">
                <a:solidFill>
                  <a:srgbClr val="0000FF"/>
                </a:solidFill>
              </a:rPr>
              <a:t>属性</a:t>
            </a:r>
            <a:r>
              <a:rPr lang="zh-CN" altLang="zh-CN" dirty="0"/>
              <a:t>：</a:t>
            </a:r>
            <a:r>
              <a:rPr lang="en-US" altLang="zh-CN" dirty="0"/>
              <a:t>X</a:t>
            </a:r>
            <a:endParaRPr lang="zh-CN" altLang="zh-CN" dirty="0"/>
          </a:p>
          <a:p>
            <a:r>
              <a:rPr lang="zh-CN" altLang="zh-CN" dirty="0">
                <a:solidFill>
                  <a:srgbClr val="0000FF"/>
                </a:solidFill>
              </a:rPr>
              <a:t>分量个数</a:t>
            </a:r>
            <a:r>
              <a:rPr lang="zh-CN" altLang="zh-CN" dirty="0"/>
              <a:t>：</a:t>
            </a:r>
            <a:r>
              <a:rPr lang="en-US" altLang="zh-CN" dirty="0"/>
              <a:t> X</a:t>
            </a:r>
            <a:r>
              <a:rPr lang="zh-CN" altLang="zh-CN" dirty="0"/>
              <a:t>的分量个数</a:t>
            </a:r>
          </a:p>
          <a:p>
            <a:r>
              <a:rPr lang="zh-CN" altLang="zh-CN" dirty="0">
                <a:solidFill>
                  <a:srgbClr val="0000FF"/>
                </a:solidFill>
              </a:rPr>
              <a:t>元组个数</a:t>
            </a:r>
            <a:r>
              <a:rPr lang="zh-CN" altLang="zh-CN" dirty="0"/>
              <a:t>：小于等于</a:t>
            </a:r>
            <a:r>
              <a:rPr lang="en-US" altLang="zh-CN" dirty="0"/>
              <a:t>k1</a:t>
            </a:r>
            <a:r>
              <a:rPr lang="zh-CN" altLang="zh-CN" dirty="0"/>
              <a:t> 。</a:t>
            </a:r>
            <a:r>
              <a:rPr lang="en-US" altLang="zh-CN" dirty="0"/>
              <a:t>k1</a:t>
            </a:r>
            <a:r>
              <a:rPr lang="zh-CN" altLang="zh-CN" dirty="0"/>
              <a:t>是</a:t>
            </a:r>
            <a:r>
              <a:rPr lang="en-US" altLang="zh-CN" dirty="0"/>
              <a:t>R</a:t>
            </a:r>
            <a:r>
              <a:rPr lang="zh-CN" altLang="zh-CN" dirty="0"/>
              <a:t>的元组的个数</a:t>
            </a:r>
          </a:p>
          <a:p>
            <a:r>
              <a:rPr lang="zh-CN" altLang="zh-CN" dirty="0">
                <a:solidFill>
                  <a:srgbClr val="0000FF"/>
                </a:solidFill>
              </a:rPr>
              <a:t>关系演算</a:t>
            </a:r>
            <a:r>
              <a:rPr lang="zh-CN" altLang="zh-CN" dirty="0"/>
              <a:t>：</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506123023"/>
              </p:ext>
            </p:extLst>
          </p:nvPr>
        </p:nvGraphicFramePr>
        <p:xfrm>
          <a:off x="827584" y="5301208"/>
          <a:ext cx="7831208" cy="519707"/>
        </p:xfrm>
        <a:graphic>
          <a:graphicData uri="http://schemas.openxmlformats.org/presentationml/2006/ole">
            <mc:AlternateContent xmlns:mc="http://schemas.openxmlformats.org/markup-compatibility/2006">
              <mc:Choice xmlns:v="urn:schemas-microsoft-com:vml" Requires="v">
                <p:oleObj spid="_x0000_s17504" name="公式" r:id="rId3" imgW="3492360" imgH="228600" progId="Equation.3">
                  <p:embed/>
                </p:oleObj>
              </mc:Choice>
              <mc:Fallback>
                <p:oleObj name="公式" r:id="rId3" imgW="3492360" imgH="228600" progId="Equation.3">
                  <p:embed/>
                  <p:pic>
                    <p:nvPicPr>
                      <p:cNvPr id="0" name="Object 1"/>
                      <p:cNvPicPr>
                        <a:picLocks noChangeAspect="1" noChangeArrowheads="1"/>
                      </p:cNvPicPr>
                      <p:nvPr/>
                    </p:nvPicPr>
                    <p:blipFill>
                      <a:blip r:embed="rId4"/>
                      <a:srcRect/>
                      <a:stretch>
                        <a:fillRect/>
                      </a:stretch>
                    </p:blipFill>
                    <p:spPr bwMode="auto">
                      <a:xfrm>
                        <a:off x="827584" y="5301208"/>
                        <a:ext cx="7831208" cy="51970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485697974"/>
              </p:ext>
            </p:extLst>
          </p:nvPr>
        </p:nvGraphicFramePr>
        <p:xfrm>
          <a:off x="982663" y="5805488"/>
          <a:ext cx="7518400" cy="519112"/>
        </p:xfrm>
        <a:graphic>
          <a:graphicData uri="http://schemas.openxmlformats.org/presentationml/2006/ole">
            <mc:AlternateContent xmlns:mc="http://schemas.openxmlformats.org/markup-compatibility/2006">
              <mc:Choice xmlns:v="urn:schemas-microsoft-com:vml" Requires="v">
                <p:oleObj spid="_x0000_s17505" name="公式" r:id="rId5" imgW="3352680" imgH="228600" progId="Equation.3">
                  <p:embed/>
                </p:oleObj>
              </mc:Choice>
              <mc:Fallback>
                <p:oleObj name="公式" r:id="rId5" imgW="3352680" imgH="228600" progId="Equation.3">
                  <p:embed/>
                  <p:pic>
                    <p:nvPicPr>
                      <p:cNvPr id="0" name=""/>
                      <p:cNvPicPr>
                        <a:picLocks noChangeAspect="1" noChangeArrowheads="1"/>
                      </p:cNvPicPr>
                      <p:nvPr/>
                    </p:nvPicPr>
                    <p:blipFill>
                      <a:blip r:embed="rId6"/>
                      <a:srcRect/>
                      <a:stretch>
                        <a:fillRect/>
                      </a:stretch>
                    </p:blipFill>
                    <p:spPr bwMode="auto">
                      <a:xfrm>
                        <a:off x="982663" y="5805488"/>
                        <a:ext cx="7518400" cy="519112"/>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709B8883-D065-024B-955B-86A88E0BA2E9}"/>
              </a:ext>
            </a:extLst>
          </p:cNvPr>
          <p:cNvSpPr>
            <a:spLocks noGrp="1"/>
          </p:cNvSpPr>
          <p:nvPr>
            <p:ph type="sldNum" sz="quarter" idx="12"/>
          </p:nvPr>
        </p:nvSpPr>
        <p:spPr/>
        <p:txBody>
          <a:bodyPr/>
          <a:lstStyle/>
          <a:p>
            <a:fld id="{C46E5E69-9A6D-4AF8-BC2D-C556A9893D8F}" type="slidenum">
              <a:rPr lang="zh-CN" altLang="en-US" smtClean="0"/>
              <a:pPr/>
              <a:t>37</a:t>
            </a:fld>
            <a:endParaRPr lang="zh-CN" altLang="en-US" dirty="0"/>
          </a:p>
        </p:txBody>
      </p:sp>
    </p:spTree>
    <p:extLst>
      <p:ext uri="{BB962C8B-B14F-4D97-AF65-F5344CB8AC3E}">
        <p14:creationId xmlns:p14="http://schemas.microsoft.com/office/powerpoint/2010/main" val="21237809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a:t>
            </a:r>
            <a:endParaRPr lang="zh-CN" altLang="en-US" i="0" u="none" strike="noStrike" kern="2200" baseline="0" dirty="0"/>
          </a:p>
        </p:txBody>
      </p:sp>
      <p:sp>
        <p:nvSpPr>
          <p:cNvPr id="3" name="文本占位符 2"/>
          <p:cNvSpPr>
            <a:spLocks noGrp="1"/>
          </p:cNvSpPr>
          <p:nvPr>
            <p:ph type="body" idx="1"/>
          </p:nvPr>
        </p:nvSpPr>
        <p:spPr>
          <a:xfrm>
            <a:off x="179512" y="1000496"/>
            <a:ext cx="8784976" cy="590897"/>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2.17  </a:t>
            </a:r>
            <a:r>
              <a:rPr lang="zh-CN" altLang="zh-CN" sz="2000" dirty="0"/>
              <a:t>已知关系</a:t>
            </a:r>
            <a:r>
              <a:rPr lang="en-US" altLang="zh-CN" sz="2000" dirty="0"/>
              <a:t>R</a:t>
            </a:r>
            <a:r>
              <a:rPr lang="zh-CN" altLang="zh-CN" sz="2000" dirty="0"/>
              <a:t>与</a:t>
            </a:r>
            <a:r>
              <a:rPr lang="en-US" altLang="zh-CN" sz="2000" dirty="0"/>
              <a:t>S</a:t>
            </a:r>
            <a:r>
              <a:rPr lang="zh-CN" altLang="zh-CN" sz="2000" dirty="0"/>
              <a:t>，则</a:t>
            </a:r>
            <a:r>
              <a:rPr lang="en-US" altLang="zh-CN" sz="2000" dirty="0"/>
              <a:t>R</a:t>
            </a:r>
            <a:r>
              <a:rPr lang="en-US" altLang="zh-CN" sz="2000" dirty="0">
                <a:sym typeface="Symbol"/>
              </a:rPr>
              <a:t></a:t>
            </a:r>
            <a:r>
              <a:rPr lang="en-US" altLang="zh-CN" sz="2000" dirty="0"/>
              <a:t>S=</a:t>
            </a:r>
            <a:r>
              <a:rPr lang="zh-CN" altLang="en-US" sz="2000" dirty="0"/>
              <a:t>？</a:t>
            </a:r>
            <a:endParaRPr lang="zh-CN" altLang="zh-CN" sz="2000" dirty="0"/>
          </a:p>
        </p:txBody>
      </p:sp>
      <p:sp>
        <p:nvSpPr>
          <p:cNvPr id="11" name="Rectangle 5"/>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6"/>
          <p:cNvSpPr>
            <a:spLocks noChangeArrowheads="1"/>
          </p:cNvSpPr>
          <p:nvPr/>
        </p:nvSpPr>
        <p:spPr bwMode="auto">
          <a:xfrm>
            <a:off x="0" y="647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endParaRPr kumimoji="0" lang="zh-CN" altLang="zh-CN" sz="5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24"/>
          <p:cNvSpPr>
            <a:spLocks noChangeArrowheads="1"/>
          </p:cNvSpPr>
          <p:nvPr/>
        </p:nvSpPr>
        <p:spPr bwMode="auto">
          <a:xfrm>
            <a:off x="0" y="657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a:ln>
                  <a:noFill/>
                </a:ln>
                <a:solidFill>
                  <a:schemeClr val="tx1"/>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 name="Rectangle 26"/>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nvGrpSpPr>
          <p:cNvPr id="24" name="组合 23"/>
          <p:cNvGrpSpPr>
            <a:grpSpLocks/>
          </p:cNvGrpSpPr>
          <p:nvPr/>
        </p:nvGrpSpPr>
        <p:grpSpPr bwMode="auto">
          <a:xfrm>
            <a:off x="611560" y="2057400"/>
            <a:ext cx="2376264" cy="3387824"/>
            <a:chOff x="1533" y="3603"/>
            <a:chExt cx="3276" cy="2270"/>
          </a:xfrm>
        </p:grpSpPr>
        <p:sp>
          <p:nvSpPr>
            <p:cNvPr id="35" name="Text Box 520"/>
            <p:cNvSpPr txBox="1">
              <a:spLocks noChangeArrowheads="1"/>
            </p:cNvSpPr>
            <p:nvPr/>
          </p:nvSpPr>
          <p:spPr bwMode="auto">
            <a:xfrm>
              <a:off x="1536" y="3603"/>
              <a:ext cx="3273" cy="227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a:effectLst/>
                  <a:latin typeface="微软雅黑" pitchFamily="34" charset="-122"/>
                  <a:ea typeface="微软雅黑" pitchFamily="34" charset="-122"/>
                  <a:cs typeface="宋体"/>
                </a:rPr>
                <a:t>A     B</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2</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3</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3</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4</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r>
                <a:rPr lang="en-US" sz="2000" dirty="0">
                  <a:effectLst/>
                  <a:latin typeface="微软雅黑" pitchFamily="34" charset="-122"/>
                  <a:ea typeface="微软雅黑" pitchFamily="34" charset="-122"/>
                  <a:cs typeface="宋体"/>
                </a:rPr>
                <a:t>     2</a:t>
              </a:r>
              <a:endParaRPr lang="zh-CN" sz="2000" dirty="0">
                <a:effectLst/>
                <a:latin typeface="微软雅黑" pitchFamily="34" charset="-122"/>
                <a:ea typeface="微软雅黑" pitchFamily="34" charset="-122"/>
                <a:cs typeface="宋体"/>
              </a:endParaRPr>
            </a:p>
          </p:txBody>
        </p:sp>
        <p:cxnSp>
          <p:nvCxnSpPr>
            <p:cNvPr id="36" name="Line 521"/>
            <p:cNvCxnSpPr/>
            <p:nvPr/>
          </p:nvCxnSpPr>
          <p:spPr bwMode="auto">
            <a:xfrm flipV="1">
              <a:off x="1533" y="3905"/>
              <a:ext cx="32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5" name="组合 24"/>
          <p:cNvGrpSpPr>
            <a:grpSpLocks/>
          </p:cNvGrpSpPr>
          <p:nvPr/>
        </p:nvGrpSpPr>
        <p:grpSpPr bwMode="auto">
          <a:xfrm>
            <a:off x="4574466" y="2057400"/>
            <a:ext cx="1293678" cy="1227584"/>
            <a:chOff x="6237" y="4145"/>
            <a:chExt cx="1848" cy="912"/>
          </a:xfrm>
        </p:grpSpPr>
        <p:sp>
          <p:nvSpPr>
            <p:cNvPr id="33" name="Text Box 523"/>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a:effectLst/>
                  <a:latin typeface="微软雅黑" pitchFamily="34" charset="-122"/>
                  <a:ea typeface="微软雅黑" pitchFamily="34" charset="-122"/>
                  <a:cs typeface="宋体"/>
                </a:rPr>
                <a:t>B</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宋体"/>
                </a:rPr>
                <a:t>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宋体"/>
                </a:rPr>
                <a:t>2</a:t>
              </a:r>
              <a:endParaRPr lang="zh-CN" sz="2000" dirty="0">
                <a:effectLst/>
                <a:latin typeface="微软雅黑" pitchFamily="34" charset="-122"/>
                <a:ea typeface="微软雅黑" pitchFamily="34" charset="-122"/>
                <a:cs typeface="宋体"/>
              </a:endParaRPr>
            </a:p>
          </p:txBody>
        </p:sp>
        <p:cxnSp>
          <p:nvCxnSpPr>
            <p:cNvPr id="34" name="Line 524"/>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30" name="组合 29"/>
          <p:cNvGrpSpPr>
            <a:grpSpLocks/>
          </p:cNvGrpSpPr>
          <p:nvPr/>
        </p:nvGrpSpPr>
        <p:grpSpPr bwMode="auto">
          <a:xfrm>
            <a:off x="4539836" y="4091122"/>
            <a:ext cx="1293678" cy="1269651"/>
            <a:chOff x="6237" y="4145"/>
            <a:chExt cx="1848" cy="912"/>
          </a:xfrm>
        </p:grpSpPr>
        <p:sp>
          <p:nvSpPr>
            <p:cNvPr id="31" name="Text Box 526"/>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a:effectLst/>
                  <a:latin typeface="微软雅黑" pitchFamily="34" charset="-122"/>
                  <a:ea typeface="微软雅黑" pitchFamily="34" charset="-122"/>
                  <a:cs typeface="宋体"/>
                </a:rPr>
                <a:t>A</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Courier New"/>
                  <a:sym typeface="Symbol"/>
                </a:rPr>
                <a:t></a:t>
              </a:r>
              <a:endParaRPr lang="zh-CN" sz="2000" dirty="0">
                <a:effectLst/>
                <a:latin typeface="微软雅黑" pitchFamily="34" charset="-122"/>
                <a:ea typeface="微软雅黑" pitchFamily="34" charset="-122"/>
                <a:cs typeface="宋体"/>
              </a:endParaRPr>
            </a:p>
          </p:txBody>
        </p:sp>
        <p:cxnSp>
          <p:nvCxnSpPr>
            <p:cNvPr id="32" name="Line 527"/>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4" name="灯片编号占位符 3">
            <a:extLst>
              <a:ext uri="{FF2B5EF4-FFF2-40B4-BE49-F238E27FC236}">
                <a16:creationId xmlns:a16="http://schemas.microsoft.com/office/drawing/2014/main" id="{BDF3F562-3894-8948-A0E1-F779C12B82F1}"/>
              </a:ext>
            </a:extLst>
          </p:cNvPr>
          <p:cNvSpPr>
            <a:spLocks noGrp="1"/>
          </p:cNvSpPr>
          <p:nvPr>
            <p:ph type="sldNum" sz="quarter" idx="12"/>
          </p:nvPr>
        </p:nvSpPr>
        <p:spPr/>
        <p:txBody>
          <a:bodyPr/>
          <a:lstStyle/>
          <a:p>
            <a:fld id="{C46E5E69-9A6D-4AF8-BC2D-C556A9893D8F}" type="slidenum">
              <a:rPr lang="zh-CN" altLang="en-US" smtClean="0"/>
              <a:pPr/>
              <a:t>38</a:t>
            </a:fld>
            <a:endParaRPr lang="zh-CN" altLang="en-US" dirty="0"/>
          </a:p>
        </p:txBody>
      </p:sp>
    </p:spTree>
    <p:extLst>
      <p:ext uri="{BB962C8B-B14F-4D97-AF65-F5344CB8AC3E}">
        <p14:creationId xmlns:p14="http://schemas.microsoft.com/office/powerpoint/2010/main" val="2222527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a:t>
            </a:r>
            <a:endParaRPr lang="zh-CN" altLang="en-US" i="0" u="none" strike="noStrike" kern="2200" baseline="0" dirty="0"/>
          </a:p>
        </p:txBody>
      </p:sp>
      <p:sp>
        <p:nvSpPr>
          <p:cNvPr id="3" name="文本占位符 2"/>
          <p:cNvSpPr>
            <a:spLocks noGrp="1"/>
          </p:cNvSpPr>
          <p:nvPr>
            <p:ph type="body" idx="1"/>
          </p:nvPr>
        </p:nvSpPr>
        <p:spPr>
          <a:xfrm>
            <a:off x="179512" y="1000496"/>
            <a:ext cx="8784976" cy="988344"/>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2.18  </a:t>
            </a:r>
            <a:r>
              <a:rPr lang="zh-CN" altLang="zh-CN" sz="2000" dirty="0"/>
              <a:t>查询至少购买书号是</a:t>
            </a:r>
            <a:r>
              <a:rPr lang="en-US" altLang="zh-CN" sz="2000" dirty="0"/>
              <a:t>ISBN978-7-04-040664-1</a:t>
            </a:r>
            <a:r>
              <a:rPr lang="zh-CN" altLang="zh-CN" sz="2000" dirty="0"/>
              <a:t>和</a:t>
            </a:r>
            <a:r>
              <a:rPr lang="en-US" altLang="zh-CN" sz="2000" dirty="0"/>
              <a:t>ISBN978-7-302-33894-9</a:t>
            </a:r>
            <a:r>
              <a:rPr lang="zh-CN" altLang="zh-CN" sz="2000" dirty="0"/>
              <a:t>的两本书的客户的户号。</a:t>
            </a:r>
          </a:p>
        </p:txBody>
      </p:sp>
      <p:sp>
        <p:nvSpPr>
          <p:cNvPr id="11" name="Rectangle 5"/>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6"/>
          <p:cNvSpPr>
            <a:spLocks noChangeArrowheads="1"/>
          </p:cNvSpPr>
          <p:nvPr/>
        </p:nvSpPr>
        <p:spPr bwMode="auto">
          <a:xfrm>
            <a:off x="0" y="647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endParaRPr kumimoji="0" lang="zh-CN" altLang="zh-CN" sz="5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24"/>
          <p:cNvSpPr>
            <a:spLocks noChangeArrowheads="1"/>
          </p:cNvSpPr>
          <p:nvPr/>
        </p:nvSpPr>
        <p:spPr bwMode="auto">
          <a:xfrm>
            <a:off x="0" y="657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r>
              <a:rPr kumimoji="0" lang="zh-CN" altLang="zh-CN" sz="1000" b="0" i="0" u="none" strike="noStrike" cap="none" normalizeH="0" baseline="0">
                <a:ln>
                  <a:noFill/>
                </a:ln>
                <a:solidFill>
                  <a:schemeClr val="tx1"/>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 name="Rectangle 26"/>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257800" algn="l"/>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nvGrpSpPr>
          <p:cNvPr id="28" name="组合 27"/>
          <p:cNvGrpSpPr>
            <a:grpSpLocks/>
          </p:cNvGrpSpPr>
          <p:nvPr/>
        </p:nvGrpSpPr>
        <p:grpSpPr bwMode="auto">
          <a:xfrm>
            <a:off x="2267744" y="2420888"/>
            <a:ext cx="3376959" cy="1080120"/>
            <a:chOff x="6237" y="4145"/>
            <a:chExt cx="1848" cy="912"/>
          </a:xfrm>
        </p:grpSpPr>
        <p:sp>
          <p:nvSpPr>
            <p:cNvPr id="37" name="Text Box 523"/>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err="1">
                  <a:effectLst/>
                  <a:latin typeface="微软雅黑" pitchFamily="34" charset="-122"/>
                  <a:ea typeface="微软雅黑" pitchFamily="34" charset="-122"/>
                  <a:cs typeface="宋体"/>
                </a:rPr>
                <a:t>BNo</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宋体"/>
                </a:rPr>
                <a:t>ISBN978-7-04-040664-1</a:t>
              </a:r>
              <a:endParaRPr lang="zh-CN" sz="2000" dirty="0">
                <a:effectLst/>
                <a:latin typeface="微软雅黑" pitchFamily="34" charset="-122"/>
                <a:ea typeface="微软雅黑" pitchFamily="34" charset="-122"/>
                <a:cs typeface="宋体"/>
              </a:endParaRPr>
            </a:p>
            <a:p>
              <a:pPr indent="127000" algn="ctr">
                <a:lnSpc>
                  <a:spcPts val="2600"/>
                </a:lnSpc>
                <a:spcAft>
                  <a:spcPts val="0"/>
                </a:spcAft>
              </a:pPr>
              <a:r>
                <a:rPr lang="en-US" sz="2000" dirty="0">
                  <a:effectLst/>
                  <a:latin typeface="微软雅黑" pitchFamily="34" charset="-122"/>
                  <a:ea typeface="微软雅黑" pitchFamily="34" charset="-122"/>
                  <a:cs typeface="宋体"/>
                </a:rPr>
                <a:t>ISBN978-7-302-33894-9</a:t>
              </a:r>
              <a:endParaRPr lang="zh-CN" sz="2000" dirty="0">
                <a:effectLst/>
                <a:latin typeface="微软雅黑" pitchFamily="34" charset="-122"/>
                <a:ea typeface="微软雅黑" pitchFamily="34" charset="-122"/>
                <a:cs typeface="宋体"/>
              </a:endParaRPr>
            </a:p>
          </p:txBody>
        </p:sp>
        <p:cxnSp>
          <p:nvCxnSpPr>
            <p:cNvPr id="38" name="Line 524"/>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4087079495"/>
              </p:ext>
            </p:extLst>
          </p:nvPr>
        </p:nvGraphicFramePr>
        <p:xfrm>
          <a:off x="2362576" y="4005064"/>
          <a:ext cx="3448967" cy="736959"/>
        </p:xfrm>
        <a:graphic>
          <a:graphicData uri="http://schemas.openxmlformats.org/presentationml/2006/ole">
            <mc:AlternateContent xmlns:mc="http://schemas.openxmlformats.org/markup-compatibility/2006">
              <mc:Choice xmlns:v="urn:schemas-microsoft-com:vml" Requires="v">
                <p:oleObj spid="_x0000_s18502" name="公式" r:id="rId4" imgW="1117600" imgH="241300" progId="Equation.3">
                  <p:embed/>
                </p:oleObj>
              </mc:Choice>
              <mc:Fallback>
                <p:oleObj name="公式" r:id="rId4" imgW="1117600" imgH="2413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576" y="4005064"/>
                        <a:ext cx="3448967" cy="736959"/>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C183D18B-1F1E-D94A-A862-373F4C29D1CA}"/>
              </a:ext>
            </a:extLst>
          </p:cNvPr>
          <p:cNvSpPr>
            <a:spLocks noGrp="1"/>
          </p:cNvSpPr>
          <p:nvPr>
            <p:ph type="sldNum" sz="quarter" idx="12"/>
          </p:nvPr>
        </p:nvSpPr>
        <p:spPr/>
        <p:txBody>
          <a:bodyPr/>
          <a:lstStyle/>
          <a:p>
            <a:fld id="{C46E5E69-9A6D-4AF8-BC2D-C556A9893D8F}" type="slidenum">
              <a:rPr lang="zh-CN" altLang="en-US" smtClean="0"/>
              <a:pPr/>
              <a:t>39</a:t>
            </a:fld>
            <a:endParaRPr lang="zh-CN" altLang="en-US" dirty="0"/>
          </a:p>
        </p:txBody>
      </p:sp>
    </p:spTree>
    <p:extLst>
      <p:ext uri="{BB962C8B-B14F-4D97-AF65-F5344CB8AC3E}">
        <p14:creationId xmlns:p14="http://schemas.microsoft.com/office/powerpoint/2010/main" val="1782080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a:t>
            </a:r>
            <a:endParaRPr lang="zh-CN" altLang="en-US" i="0" u="none" strike="noStrike" kern="2200" baseline="0" dirty="0"/>
          </a:p>
        </p:txBody>
      </p:sp>
      <p:sp>
        <p:nvSpPr>
          <p:cNvPr id="3" name="文本占位符 2"/>
          <p:cNvSpPr>
            <a:spLocks noGrp="1"/>
          </p:cNvSpPr>
          <p:nvPr>
            <p:ph type="body" idx="1"/>
          </p:nvPr>
        </p:nvSpPr>
        <p:spPr>
          <a:xfrm>
            <a:off x="179512" y="1000496"/>
            <a:ext cx="8784976" cy="556296"/>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2.19   </a:t>
            </a:r>
            <a:r>
              <a:rPr lang="zh-CN" altLang="zh-CN" sz="2000" dirty="0"/>
              <a:t>已知关系</a:t>
            </a:r>
            <a:r>
              <a:rPr lang="en-US" altLang="zh-CN" sz="2000" dirty="0"/>
              <a:t>R</a:t>
            </a:r>
            <a:r>
              <a:rPr lang="zh-CN" altLang="zh-CN" sz="2000" dirty="0"/>
              <a:t>与</a:t>
            </a:r>
            <a:r>
              <a:rPr lang="en-US" altLang="zh-CN" sz="2000" dirty="0"/>
              <a:t>S</a:t>
            </a:r>
            <a:r>
              <a:rPr lang="zh-CN" altLang="zh-CN" sz="2000" dirty="0"/>
              <a:t>，则</a:t>
            </a:r>
            <a:r>
              <a:rPr lang="en-US" altLang="zh-CN" sz="2000" dirty="0"/>
              <a:t>R</a:t>
            </a:r>
            <a:r>
              <a:rPr lang="en-US" altLang="zh-CN" sz="2000" dirty="0">
                <a:sym typeface="Symbol"/>
              </a:rPr>
              <a:t></a:t>
            </a:r>
            <a:r>
              <a:rPr lang="en-US" altLang="zh-CN" sz="2000" dirty="0"/>
              <a:t>S=</a:t>
            </a:r>
            <a:r>
              <a:rPr lang="zh-CN" altLang="en-US" sz="2000" dirty="0"/>
              <a:t>？</a:t>
            </a:r>
            <a:r>
              <a:rPr lang="zh-CN" altLang="zh-CN" sz="2000" dirty="0"/>
              <a:t> </a:t>
            </a:r>
          </a:p>
        </p:txBody>
      </p:sp>
      <p:grpSp>
        <p:nvGrpSpPr>
          <p:cNvPr id="22" name="组合 21"/>
          <p:cNvGrpSpPr>
            <a:grpSpLocks/>
          </p:cNvGrpSpPr>
          <p:nvPr/>
        </p:nvGrpSpPr>
        <p:grpSpPr bwMode="auto">
          <a:xfrm>
            <a:off x="611560" y="1798054"/>
            <a:ext cx="3240360" cy="3503154"/>
            <a:chOff x="1533" y="3603"/>
            <a:chExt cx="3276" cy="2270"/>
          </a:xfrm>
        </p:grpSpPr>
        <p:sp>
          <p:nvSpPr>
            <p:cNvPr id="34" name="Text Box 520"/>
            <p:cNvSpPr txBox="1">
              <a:spLocks noChangeArrowheads="1"/>
            </p:cNvSpPr>
            <p:nvPr/>
          </p:nvSpPr>
          <p:spPr bwMode="auto">
            <a:xfrm>
              <a:off x="1536" y="3603"/>
              <a:ext cx="3273" cy="227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l">
                <a:lnSpc>
                  <a:spcPts val="2600"/>
                </a:lnSpc>
                <a:spcAft>
                  <a:spcPts val="0"/>
                </a:spcAft>
              </a:pPr>
              <a:r>
                <a:rPr lang="en-US" sz="2000">
                  <a:effectLst/>
                  <a:latin typeface="微软雅黑" pitchFamily="34" charset="-122"/>
                  <a:ea typeface="微软雅黑" pitchFamily="34" charset="-122"/>
                  <a:cs typeface="Courier New"/>
                </a:rPr>
                <a:t>X     Y     Z</a:t>
              </a:r>
              <a:endParaRPr lang="zh-CN" sz="2000">
                <a:effectLst/>
                <a:latin typeface="微软雅黑" pitchFamily="34" charset="-122"/>
                <a:ea typeface="微软雅黑" pitchFamily="34" charset="-122"/>
                <a:cs typeface="宋体"/>
              </a:endParaRPr>
            </a:p>
            <a:p>
              <a:pPr indent="127000" algn="l">
                <a:lnSpc>
                  <a:spcPts val="2600"/>
                </a:lnSpc>
                <a:spcBef>
                  <a:spcPts val="600"/>
                </a:spcBef>
                <a:spcAft>
                  <a:spcPts val="0"/>
                </a:spcAft>
              </a:pPr>
              <a:r>
                <a:rPr lang="en-US" sz="2000">
                  <a:effectLst/>
                  <a:latin typeface="微软雅黑" pitchFamily="34" charset="-122"/>
                  <a:ea typeface="微软雅黑" pitchFamily="34" charset="-122"/>
                  <a:cs typeface="Courier New"/>
                </a:rPr>
                <a:t>x2    y2</a:t>
              </a:r>
              <a:r>
                <a:rPr lang="en-US" sz="2000">
                  <a:effectLst/>
                  <a:latin typeface="微软雅黑" pitchFamily="34" charset="-122"/>
                  <a:ea typeface="微软雅黑" pitchFamily="34" charset="-122"/>
                  <a:cs typeface="宋体"/>
                </a:rPr>
                <a:t>    z4</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x4    y6</a:t>
              </a:r>
              <a:r>
                <a:rPr lang="en-US" sz="2000">
                  <a:effectLst/>
                  <a:latin typeface="微软雅黑" pitchFamily="34" charset="-122"/>
                  <a:ea typeface="微软雅黑" pitchFamily="34" charset="-122"/>
                  <a:cs typeface="宋体"/>
                </a:rPr>
                <a:t>    z6</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x6    y8</a:t>
              </a:r>
              <a:r>
                <a:rPr lang="en-US" sz="2000">
                  <a:effectLst/>
                  <a:latin typeface="微软雅黑" pitchFamily="34" charset="-122"/>
                  <a:ea typeface="微软雅黑" pitchFamily="34" charset="-122"/>
                  <a:cs typeface="宋体"/>
                </a:rPr>
                <a:t>    z5</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x2    y4</a:t>
              </a:r>
              <a:r>
                <a:rPr lang="en-US" sz="2000">
                  <a:effectLst/>
                  <a:latin typeface="微软雅黑" pitchFamily="34" charset="-122"/>
                  <a:ea typeface="微软雅黑" pitchFamily="34" charset="-122"/>
                  <a:cs typeface="宋体"/>
                </a:rPr>
                <a:t>    z6</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x8    y5</a:t>
              </a:r>
              <a:r>
                <a:rPr lang="en-US" sz="2000">
                  <a:effectLst/>
                  <a:latin typeface="微软雅黑" pitchFamily="34" charset="-122"/>
                  <a:ea typeface="微软雅黑" pitchFamily="34" charset="-122"/>
                  <a:cs typeface="宋体"/>
                </a:rPr>
                <a:t>    z5</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x4    y4</a:t>
              </a:r>
              <a:r>
                <a:rPr lang="en-US" sz="2000">
                  <a:effectLst/>
                  <a:latin typeface="微软雅黑" pitchFamily="34" charset="-122"/>
                  <a:ea typeface="微软雅黑" pitchFamily="34" charset="-122"/>
                  <a:cs typeface="宋体"/>
                </a:rPr>
                <a:t>    z6</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x2    y4</a:t>
              </a:r>
              <a:r>
                <a:rPr lang="en-US" sz="2000">
                  <a:effectLst/>
                  <a:latin typeface="微软雅黑" pitchFamily="34" charset="-122"/>
                  <a:ea typeface="微软雅黑" pitchFamily="34" charset="-122"/>
                  <a:cs typeface="宋体"/>
                </a:rPr>
                <a:t>    z2</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x3    y3</a:t>
              </a:r>
              <a:r>
                <a:rPr lang="en-US" sz="2000">
                  <a:effectLst/>
                  <a:latin typeface="微软雅黑" pitchFamily="34" charset="-122"/>
                  <a:ea typeface="微软雅黑" pitchFamily="34" charset="-122"/>
                  <a:cs typeface="宋体"/>
                </a:rPr>
                <a:t>    z6</a:t>
              </a:r>
              <a:endParaRPr lang="zh-CN" sz="2000">
                <a:effectLst/>
                <a:latin typeface="微软雅黑" pitchFamily="34" charset="-122"/>
                <a:ea typeface="微软雅黑" pitchFamily="34" charset="-122"/>
                <a:cs typeface="宋体"/>
              </a:endParaRPr>
            </a:p>
            <a:p>
              <a:pPr indent="127000" algn="l">
                <a:lnSpc>
                  <a:spcPts val="2600"/>
                </a:lnSpc>
                <a:spcAft>
                  <a:spcPts val="0"/>
                </a:spcAft>
              </a:pPr>
              <a:r>
                <a:rPr lang="en-US" sz="2000">
                  <a:effectLst/>
                  <a:latin typeface="微软雅黑" pitchFamily="34" charset="-122"/>
                  <a:ea typeface="微软雅黑" pitchFamily="34" charset="-122"/>
                  <a:cs typeface="Courier New"/>
                </a:rPr>
                <a:t>x1    x1</a:t>
              </a:r>
              <a:r>
                <a:rPr lang="en-US" sz="2000">
                  <a:effectLst/>
                  <a:latin typeface="微软雅黑" pitchFamily="34" charset="-122"/>
                  <a:ea typeface="微软雅黑" pitchFamily="34" charset="-122"/>
                  <a:cs typeface="宋体"/>
                </a:rPr>
                <a:t>    z3</a:t>
              </a:r>
              <a:endParaRPr lang="zh-CN" sz="2000">
                <a:effectLst/>
                <a:latin typeface="微软雅黑" pitchFamily="34" charset="-122"/>
                <a:ea typeface="微软雅黑" pitchFamily="34" charset="-122"/>
                <a:cs typeface="宋体"/>
              </a:endParaRPr>
            </a:p>
          </p:txBody>
        </p:sp>
        <p:cxnSp>
          <p:nvCxnSpPr>
            <p:cNvPr id="35" name="Line 521"/>
            <p:cNvCxnSpPr/>
            <p:nvPr/>
          </p:nvCxnSpPr>
          <p:spPr bwMode="auto">
            <a:xfrm flipV="1">
              <a:off x="1533" y="3905"/>
              <a:ext cx="32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3" name="组合 22"/>
          <p:cNvGrpSpPr>
            <a:grpSpLocks/>
          </p:cNvGrpSpPr>
          <p:nvPr/>
        </p:nvGrpSpPr>
        <p:grpSpPr bwMode="auto">
          <a:xfrm>
            <a:off x="4844414" y="1798054"/>
            <a:ext cx="2391882" cy="1846970"/>
            <a:chOff x="6237" y="4145"/>
            <a:chExt cx="1848" cy="912"/>
          </a:xfrm>
        </p:grpSpPr>
        <p:sp>
          <p:nvSpPr>
            <p:cNvPr id="31" name="Text Box 523"/>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a:effectLst/>
                  <a:latin typeface="微软雅黑" pitchFamily="34" charset="-122"/>
                  <a:ea typeface="微软雅黑" pitchFamily="34" charset="-122"/>
                  <a:cs typeface="宋体"/>
                </a:rPr>
                <a:t>Y     Z     W</a:t>
              </a:r>
              <a:endParaRPr lang="zh-CN" sz="2000" dirty="0">
                <a:effectLst/>
                <a:latin typeface="微软雅黑" pitchFamily="34" charset="-122"/>
                <a:ea typeface="微软雅黑" pitchFamily="34" charset="-122"/>
                <a:cs typeface="宋体"/>
              </a:endParaRPr>
            </a:p>
            <a:p>
              <a:pPr indent="127000" algn="ctr">
                <a:lnSpc>
                  <a:spcPts val="3900"/>
                </a:lnSpc>
                <a:spcBef>
                  <a:spcPts val="800"/>
                </a:spcBef>
                <a:spcAft>
                  <a:spcPts val="300"/>
                </a:spcAft>
              </a:pPr>
              <a:r>
                <a:rPr lang="en-US" sz="2000" dirty="0">
                  <a:effectLst/>
                  <a:latin typeface="微软雅黑" pitchFamily="34" charset="-122"/>
                  <a:ea typeface="微软雅黑" pitchFamily="34" charset="-122"/>
                  <a:cs typeface="宋体"/>
                </a:rPr>
                <a:t>y2    z4    w2</a:t>
              </a:r>
              <a:endParaRPr lang="zh-CN" sz="2000" dirty="0">
                <a:effectLst/>
                <a:latin typeface="微软雅黑" pitchFamily="34" charset="-122"/>
                <a:ea typeface="微软雅黑" pitchFamily="34" charset="-122"/>
                <a:cs typeface="宋体"/>
              </a:endParaRPr>
            </a:p>
            <a:p>
              <a:pPr indent="127000" algn="ctr">
                <a:lnSpc>
                  <a:spcPts val="2600"/>
                </a:lnSpc>
                <a:spcBef>
                  <a:spcPts val="300"/>
                </a:spcBef>
                <a:spcAft>
                  <a:spcPts val="300"/>
                </a:spcAft>
              </a:pPr>
              <a:r>
                <a:rPr lang="en-US" sz="2000" dirty="0">
                  <a:effectLst/>
                  <a:latin typeface="微软雅黑" pitchFamily="34" charset="-122"/>
                  <a:ea typeface="微软雅黑" pitchFamily="34" charset="-122"/>
                  <a:cs typeface="宋体"/>
                </a:rPr>
                <a:t>y4    z2    w2</a:t>
              </a:r>
              <a:endParaRPr lang="zh-CN" sz="2000" dirty="0">
                <a:effectLst/>
                <a:latin typeface="微软雅黑" pitchFamily="34" charset="-122"/>
                <a:ea typeface="微软雅黑" pitchFamily="34" charset="-122"/>
                <a:cs typeface="宋体"/>
              </a:endParaRPr>
            </a:p>
            <a:p>
              <a:pPr indent="127000" algn="ctr">
                <a:lnSpc>
                  <a:spcPts val="2600"/>
                </a:lnSpc>
                <a:spcBef>
                  <a:spcPts val="300"/>
                </a:spcBef>
                <a:spcAft>
                  <a:spcPts val="300"/>
                </a:spcAft>
              </a:pPr>
              <a:r>
                <a:rPr lang="en-US" sz="2000" dirty="0">
                  <a:effectLst/>
                  <a:latin typeface="微软雅黑" pitchFamily="34" charset="-122"/>
                  <a:ea typeface="微软雅黑" pitchFamily="34" charset="-122"/>
                  <a:cs typeface="宋体"/>
                </a:rPr>
                <a:t>y4    z6    w5</a:t>
              </a:r>
              <a:endParaRPr lang="zh-CN" sz="2000" dirty="0">
                <a:effectLst/>
                <a:latin typeface="微软雅黑" pitchFamily="34" charset="-122"/>
                <a:ea typeface="微软雅黑" pitchFamily="34" charset="-122"/>
                <a:cs typeface="宋体"/>
              </a:endParaRPr>
            </a:p>
          </p:txBody>
        </p:sp>
        <p:cxnSp>
          <p:nvCxnSpPr>
            <p:cNvPr id="33" name="Line 524"/>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24" name="组合 23"/>
          <p:cNvGrpSpPr>
            <a:grpSpLocks/>
          </p:cNvGrpSpPr>
          <p:nvPr/>
        </p:nvGrpSpPr>
        <p:grpSpPr bwMode="auto">
          <a:xfrm>
            <a:off x="5283538" y="4195913"/>
            <a:ext cx="1513633" cy="1105295"/>
            <a:chOff x="6237" y="4145"/>
            <a:chExt cx="1848" cy="912"/>
          </a:xfrm>
        </p:grpSpPr>
        <p:sp>
          <p:nvSpPr>
            <p:cNvPr id="25" name="Text Box 526"/>
            <p:cNvSpPr txBox="1">
              <a:spLocks noChangeArrowheads="1"/>
            </p:cNvSpPr>
            <p:nvPr/>
          </p:nvSpPr>
          <p:spPr bwMode="auto">
            <a:xfrm>
              <a:off x="6237" y="4145"/>
              <a:ext cx="1848" cy="9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en-US" sz="2000" dirty="0">
                  <a:effectLst/>
                  <a:latin typeface="微软雅黑" pitchFamily="34" charset="-122"/>
                  <a:ea typeface="微软雅黑" pitchFamily="34" charset="-122"/>
                  <a:cs typeface="宋体"/>
                </a:rPr>
                <a:t>X</a:t>
              </a:r>
              <a:endParaRPr lang="zh-CN" sz="2000" dirty="0">
                <a:effectLst/>
                <a:latin typeface="微软雅黑" pitchFamily="34" charset="-122"/>
                <a:ea typeface="微软雅黑" pitchFamily="34" charset="-122"/>
                <a:cs typeface="宋体"/>
              </a:endParaRPr>
            </a:p>
            <a:p>
              <a:pPr indent="127000" algn="ctr">
                <a:lnSpc>
                  <a:spcPts val="2600"/>
                </a:lnSpc>
                <a:spcBef>
                  <a:spcPts val="600"/>
                </a:spcBef>
                <a:spcAft>
                  <a:spcPts val="0"/>
                </a:spcAft>
              </a:pPr>
              <a:r>
                <a:rPr lang="en-US" sz="2000" dirty="0">
                  <a:effectLst/>
                  <a:latin typeface="微软雅黑" pitchFamily="34" charset="-122"/>
                  <a:ea typeface="微软雅黑" pitchFamily="34" charset="-122"/>
                  <a:cs typeface="宋体"/>
                </a:rPr>
                <a:t>X2</a:t>
              </a:r>
              <a:endParaRPr lang="zh-CN" sz="2000" dirty="0">
                <a:effectLst/>
                <a:latin typeface="微软雅黑" pitchFamily="34" charset="-122"/>
                <a:ea typeface="微软雅黑" pitchFamily="34" charset="-122"/>
                <a:cs typeface="宋体"/>
              </a:endParaRPr>
            </a:p>
          </p:txBody>
        </p:sp>
        <p:cxnSp>
          <p:nvCxnSpPr>
            <p:cNvPr id="30" name="Line 527"/>
            <p:cNvCxnSpPr/>
            <p:nvPr/>
          </p:nvCxnSpPr>
          <p:spPr bwMode="auto">
            <a:xfrm flipV="1">
              <a:off x="6237" y="4433"/>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4" name="灯片编号占位符 3">
            <a:extLst>
              <a:ext uri="{FF2B5EF4-FFF2-40B4-BE49-F238E27FC236}">
                <a16:creationId xmlns:a16="http://schemas.microsoft.com/office/drawing/2014/main" id="{EA9B13D0-D9A8-2F43-A1AC-DAE511E4F92A}"/>
              </a:ext>
            </a:extLst>
          </p:cNvPr>
          <p:cNvSpPr>
            <a:spLocks noGrp="1"/>
          </p:cNvSpPr>
          <p:nvPr>
            <p:ph type="sldNum" sz="quarter" idx="12"/>
          </p:nvPr>
        </p:nvSpPr>
        <p:spPr/>
        <p:txBody>
          <a:bodyPr/>
          <a:lstStyle/>
          <a:p>
            <a:fld id="{C46E5E69-9A6D-4AF8-BC2D-C556A9893D8F}" type="slidenum">
              <a:rPr lang="zh-CN" altLang="en-US" smtClean="0"/>
              <a:pPr/>
              <a:t>40</a:t>
            </a:fld>
            <a:endParaRPr lang="zh-CN" altLang="en-US" dirty="0"/>
          </a:p>
        </p:txBody>
      </p:sp>
    </p:spTree>
    <p:extLst>
      <p:ext uri="{BB962C8B-B14F-4D97-AF65-F5344CB8AC3E}">
        <p14:creationId xmlns:p14="http://schemas.microsoft.com/office/powerpoint/2010/main" val="3103046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t>
            </a:r>
            <a:r>
              <a:rPr lang="en-US" altLang="zh-CN" dirty="0">
                <a:sym typeface="Symbol"/>
              </a:rPr>
              <a:t></a:t>
            </a:r>
            <a:r>
              <a:rPr lang="en-US" altLang="zh-CN" dirty="0"/>
              <a:t>S</a:t>
            </a:r>
            <a:r>
              <a:rPr lang="zh-CN" altLang="zh-CN" dirty="0"/>
              <a:t>计算方法</a:t>
            </a:r>
            <a:endParaRPr lang="zh-CN" altLang="en-US" dirty="0"/>
          </a:p>
        </p:txBody>
      </p:sp>
      <p:sp>
        <p:nvSpPr>
          <p:cNvPr id="3" name="文本占位符 2"/>
          <p:cNvSpPr>
            <a:spLocks noGrp="1"/>
          </p:cNvSpPr>
          <p:nvPr>
            <p:ph type="body" idx="1"/>
          </p:nvPr>
        </p:nvSpPr>
        <p:spPr>
          <a:xfrm>
            <a:off x="457200" y="1124744"/>
            <a:ext cx="8229600" cy="2016224"/>
          </a:xfrm>
        </p:spPr>
        <p:txBody>
          <a:bodyPr>
            <a:normAutofit fontScale="92500"/>
          </a:bodyPr>
          <a:lstStyle/>
          <a:p>
            <a:r>
              <a:rPr lang="en-US" altLang="zh-CN" dirty="0"/>
              <a:t>1</a:t>
            </a:r>
            <a:r>
              <a:rPr lang="zh-CN" altLang="zh-CN" dirty="0"/>
              <a:t>）计算</a:t>
            </a:r>
            <a:endParaRPr lang="en-US" altLang="zh-CN" dirty="0"/>
          </a:p>
          <a:p>
            <a:r>
              <a:rPr lang="zh-CN" altLang="zh-CN" dirty="0"/>
              <a:t>2）计算</a:t>
            </a:r>
            <a:r>
              <a:rPr lang="en-US" altLang="zh-CN" dirty="0"/>
              <a:t>                                </a:t>
            </a:r>
            <a:r>
              <a:rPr lang="zh-CN" altLang="zh-CN" dirty="0"/>
              <a:t>即：计算</a:t>
            </a:r>
            <a:r>
              <a:rPr lang="en-US" altLang="zh-CN" dirty="0"/>
              <a:t> T×S </a:t>
            </a:r>
            <a:r>
              <a:rPr lang="zh-CN" altLang="zh-CN" dirty="0"/>
              <a:t>中不在</a:t>
            </a:r>
            <a:r>
              <a:rPr lang="en-US" altLang="zh-CN" dirty="0"/>
              <a:t>R</a:t>
            </a:r>
            <a:r>
              <a:rPr lang="zh-CN" altLang="zh-CN" dirty="0"/>
              <a:t>中的元组</a:t>
            </a:r>
          </a:p>
          <a:p>
            <a:r>
              <a:rPr lang="zh-CN" altLang="zh-CN" dirty="0"/>
              <a:t>3）计算</a:t>
            </a:r>
            <a:endParaRPr lang="en-US" altLang="zh-CN" dirty="0"/>
          </a:p>
          <a:p>
            <a:r>
              <a:rPr lang="zh-CN" altLang="zh-CN" dirty="0"/>
              <a:t>4）计算</a:t>
            </a:r>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345540246"/>
              </p:ext>
            </p:extLst>
          </p:nvPr>
        </p:nvGraphicFramePr>
        <p:xfrm>
          <a:off x="2195736" y="1196752"/>
          <a:ext cx="1702400" cy="476672"/>
        </p:xfrm>
        <a:graphic>
          <a:graphicData uri="http://schemas.openxmlformats.org/presentationml/2006/ole">
            <mc:AlternateContent xmlns:mc="http://schemas.openxmlformats.org/markup-compatibility/2006">
              <mc:Choice xmlns:v="urn:schemas-microsoft-com:vml" Requires="v">
                <p:oleObj spid="_x0000_s19865" name="公式" r:id="rId3" imgW="723586" imgH="190417" progId="Equation.3">
                  <p:embed/>
                </p:oleObj>
              </mc:Choice>
              <mc:Fallback>
                <p:oleObj name="公式" r:id="rId3" imgW="723586" imgH="190417"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196752"/>
                        <a:ext cx="1702400" cy="476672"/>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731139952"/>
              </p:ext>
            </p:extLst>
          </p:nvPr>
        </p:nvGraphicFramePr>
        <p:xfrm>
          <a:off x="2195736" y="1700808"/>
          <a:ext cx="1922154" cy="404664"/>
        </p:xfrm>
        <a:graphic>
          <a:graphicData uri="http://schemas.openxmlformats.org/presentationml/2006/ole">
            <mc:AlternateContent xmlns:mc="http://schemas.openxmlformats.org/markup-compatibility/2006">
              <mc:Choice xmlns:v="urn:schemas-microsoft-com:vml" Requires="v">
                <p:oleObj spid="_x0000_s19866" name="公式" r:id="rId5" imgW="736600" imgH="152400" progId="Equation.3">
                  <p:embed/>
                </p:oleObj>
              </mc:Choice>
              <mc:Fallback>
                <p:oleObj name="公式" r:id="rId5" imgW="736600" imgH="152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1700808"/>
                        <a:ext cx="1922154" cy="404664"/>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598362246"/>
              </p:ext>
            </p:extLst>
          </p:nvPr>
        </p:nvGraphicFramePr>
        <p:xfrm>
          <a:off x="2195736" y="2132856"/>
          <a:ext cx="1522307" cy="404664"/>
        </p:xfrm>
        <a:graphic>
          <a:graphicData uri="http://schemas.openxmlformats.org/presentationml/2006/ole">
            <mc:AlternateContent xmlns:mc="http://schemas.openxmlformats.org/markup-compatibility/2006">
              <mc:Choice xmlns:v="urn:schemas-microsoft-com:vml" Requires="v">
                <p:oleObj spid="_x0000_s19867" name="公式" r:id="rId7" imgW="749300" imgH="190500" progId="Equation.3">
                  <p:embed/>
                </p:oleObj>
              </mc:Choice>
              <mc:Fallback>
                <p:oleObj name="公式" r:id="rId7" imgW="749300" imgH="190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736" y="2132856"/>
                        <a:ext cx="1522307" cy="404664"/>
                      </a:xfrm>
                      <a:prstGeom prst="rect">
                        <a:avLst/>
                      </a:prstGeom>
                      <a:noFill/>
                    </p:spPr>
                  </p:pic>
                </p:oleObj>
              </mc:Fallback>
            </mc:AlternateContent>
          </a:graphicData>
        </a:graphic>
      </p:graphicFrame>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95058327"/>
              </p:ext>
            </p:extLst>
          </p:nvPr>
        </p:nvGraphicFramePr>
        <p:xfrm>
          <a:off x="2123728" y="2564904"/>
          <a:ext cx="2187243" cy="432048"/>
        </p:xfrm>
        <a:graphic>
          <a:graphicData uri="http://schemas.openxmlformats.org/presentationml/2006/ole">
            <mc:AlternateContent xmlns:mc="http://schemas.openxmlformats.org/markup-compatibility/2006">
              <mc:Choice xmlns:v="urn:schemas-microsoft-com:vml" Requires="v">
                <p:oleObj spid="_x0000_s19868" name="公式" r:id="rId9" imgW="774364" imgH="152334" progId="Equation.3">
                  <p:embed/>
                </p:oleObj>
              </mc:Choice>
              <mc:Fallback>
                <p:oleObj name="公式" r:id="rId9" imgW="774364" imgH="152334"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3728" y="2564904"/>
                        <a:ext cx="2187243" cy="432048"/>
                      </a:xfrm>
                      <a:prstGeom prst="rect">
                        <a:avLst/>
                      </a:prstGeom>
                      <a:noFill/>
                    </p:spPr>
                  </p:pic>
                </p:oleObj>
              </mc:Fallback>
            </mc:AlternateContent>
          </a:graphicData>
        </a:graphic>
      </p:graphicFrame>
      <p:sp>
        <p:nvSpPr>
          <p:cNvPr id="15"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2754800661"/>
              </p:ext>
            </p:extLst>
          </p:nvPr>
        </p:nvGraphicFramePr>
        <p:xfrm>
          <a:off x="899592" y="4149080"/>
          <a:ext cx="6887599" cy="504056"/>
        </p:xfrm>
        <a:graphic>
          <a:graphicData uri="http://schemas.openxmlformats.org/presentationml/2006/ole">
            <mc:AlternateContent xmlns:mc="http://schemas.openxmlformats.org/markup-compatibility/2006">
              <mc:Choice xmlns:v="urn:schemas-microsoft-com:vml" Requires="v">
                <p:oleObj spid="_x0000_s19869" name="公式" r:id="rId11" imgW="2349500" imgH="190500" progId="Equation.3">
                  <p:embed/>
                </p:oleObj>
              </mc:Choice>
              <mc:Fallback>
                <p:oleObj name="公式" r:id="rId11" imgW="2349500" imgH="1905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9592" y="4149080"/>
                        <a:ext cx="6887599" cy="504056"/>
                      </a:xfrm>
                      <a:prstGeom prst="rect">
                        <a:avLst/>
                      </a:prstGeom>
                      <a:noFill/>
                    </p:spPr>
                  </p:pic>
                </p:oleObj>
              </mc:Fallback>
            </mc:AlternateContent>
          </a:graphicData>
        </a:graphic>
      </p:graphicFrame>
      <p:sp>
        <p:nvSpPr>
          <p:cNvPr id="17"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extLst>
              <p:ext uri="{D42A27DB-BD31-4B8C-83A1-F6EECF244321}">
                <p14:modId xmlns:p14="http://schemas.microsoft.com/office/powerpoint/2010/main" val="3724883216"/>
              </p:ext>
            </p:extLst>
          </p:nvPr>
        </p:nvGraphicFramePr>
        <p:xfrm>
          <a:off x="126226" y="4869160"/>
          <a:ext cx="8891548" cy="504056"/>
        </p:xfrm>
        <a:graphic>
          <a:graphicData uri="http://schemas.openxmlformats.org/presentationml/2006/ole">
            <mc:AlternateContent xmlns:mc="http://schemas.openxmlformats.org/markup-compatibility/2006">
              <mc:Choice xmlns:v="urn:schemas-microsoft-com:vml" Requires="v">
                <p:oleObj spid="_x0000_s19870" name="公式" r:id="rId13" imgW="4203700" imgH="241300" progId="Equation.3">
                  <p:embed/>
                </p:oleObj>
              </mc:Choice>
              <mc:Fallback>
                <p:oleObj name="公式" r:id="rId13" imgW="4203700" imgH="2413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6226" y="4869160"/>
                        <a:ext cx="8891548" cy="504056"/>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665C6902-07EE-3E4A-8EAD-07920C2DE821}"/>
              </a:ext>
            </a:extLst>
          </p:cNvPr>
          <p:cNvSpPr>
            <a:spLocks noGrp="1"/>
          </p:cNvSpPr>
          <p:nvPr>
            <p:ph type="sldNum" sz="quarter" idx="12"/>
          </p:nvPr>
        </p:nvSpPr>
        <p:spPr/>
        <p:txBody>
          <a:bodyPr/>
          <a:lstStyle/>
          <a:p>
            <a:fld id="{C46E5E69-9A6D-4AF8-BC2D-C556A9893D8F}" type="slidenum">
              <a:rPr lang="zh-CN" altLang="en-US" smtClean="0"/>
              <a:pPr/>
              <a:t>41</a:t>
            </a:fld>
            <a:endParaRPr lang="zh-CN" altLang="en-US" dirty="0"/>
          </a:p>
        </p:txBody>
      </p:sp>
    </p:spTree>
    <p:extLst>
      <p:ext uri="{BB962C8B-B14F-4D97-AF65-F5344CB8AC3E}">
        <p14:creationId xmlns:p14="http://schemas.microsoft.com/office/powerpoint/2010/main" val="4205725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a:t>
            </a:r>
            <a:endParaRPr lang="zh-CN" altLang="en-US" i="0" u="none" strike="noStrike" kern="2200" baseline="0" dirty="0"/>
          </a:p>
        </p:txBody>
      </p:sp>
      <p:sp>
        <p:nvSpPr>
          <p:cNvPr id="3" name="文本占位符 2"/>
          <p:cNvSpPr>
            <a:spLocks noGrp="1"/>
          </p:cNvSpPr>
          <p:nvPr>
            <p:ph type="body" idx="1"/>
          </p:nvPr>
        </p:nvSpPr>
        <p:spPr>
          <a:xfrm>
            <a:off x="179512" y="1000496"/>
            <a:ext cx="8784976" cy="556296"/>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2.20  </a:t>
            </a:r>
            <a:r>
              <a:rPr lang="zh-CN" altLang="en-US" sz="2000" dirty="0"/>
              <a:t>对于</a:t>
            </a:r>
            <a:r>
              <a:rPr lang="zh-CN" altLang="zh-CN" sz="2000" dirty="0"/>
              <a:t>关系</a:t>
            </a:r>
            <a:r>
              <a:rPr lang="en-US" altLang="zh-CN" sz="2000" dirty="0"/>
              <a:t>R</a:t>
            </a:r>
            <a:r>
              <a:rPr lang="zh-CN" altLang="zh-CN" sz="2000" dirty="0"/>
              <a:t>和</a:t>
            </a:r>
            <a:r>
              <a:rPr lang="en-US" altLang="zh-CN" sz="2000" dirty="0"/>
              <a:t>S</a:t>
            </a:r>
            <a:r>
              <a:rPr lang="zh-CN" altLang="en-US" sz="2000" dirty="0"/>
              <a:t>，则</a:t>
            </a:r>
            <a:r>
              <a:rPr lang="en-US" altLang="zh-CN" sz="2000" dirty="0"/>
              <a:t>R</a:t>
            </a:r>
            <a:r>
              <a:rPr lang="zh-CN" altLang="zh-CN" sz="2000" dirty="0"/>
              <a:t>÷</a:t>
            </a:r>
            <a:r>
              <a:rPr lang="en-US" altLang="zh-CN" sz="2000" dirty="0"/>
              <a:t>S</a:t>
            </a:r>
            <a:r>
              <a:rPr lang="zh-CN" altLang="zh-CN" sz="2000" dirty="0"/>
              <a:t>的计算过程</a:t>
            </a: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43" y="1866900"/>
            <a:ext cx="8375329" cy="3794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a:extLst>
              <a:ext uri="{FF2B5EF4-FFF2-40B4-BE49-F238E27FC236}">
                <a16:creationId xmlns:a16="http://schemas.microsoft.com/office/drawing/2014/main" id="{9B005710-A6A2-9A42-A62A-BC7C9A1BC0C7}"/>
              </a:ext>
            </a:extLst>
          </p:cNvPr>
          <p:cNvSpPr>
            <a:spLocks noGrp="1"/>
          </p:cNvSpPr>
          <p:nvPr>
            <p:ph type="sldNum" sz="quarter" idx="12"/>
          </p:nvPr>
        </p:nvSpPr>
        <p:spPr/>
        <p:txBody>
          <a:bodyPr/>
          <a:lstStyle/>
          <a:p>
            <a:fld id="{C46E5E69-9A6D-4AF8-BC2D-C556A9893D8F}" type="slidenum">
              <a:rPr lang="zh-CN" altLang="en-US" smtClean="0"/>
              <a:pPr/>
              <a:t>42</a:t>
            </a:fld>
            <a:endParaRPr lang="zh-CN" altLang="en-US" dirty="0"/>
          </a:p>
        </p:txBody>
      </p:sp>
    </p:spTree>
    <p:extLst>
      <p:ext uri="{BB962C8B-B14F-4D97-AF65-F5344CB8AC3E}">
        <p14:creationId xmlns:p14="http://schemas.microsoft.com/office/powerpoint/2010/main" val="1018129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720080"/>
          </a:xfrm>
        </p:spPr>
        <p:txBody>
          <a:bodyPr>
            <a:normAutofit/>
          </a:bodyPr>
          <a:lstStyle/>
          <a:p>
            <a:r>
              <a:rPr lang="en-US" altLang="zh-CN" dirty="0"/>
              <a:t>2.4  </a:t>
            </a:r>
            <a:r>
              <a:rPr lang="zh-CN" altLang="zh-CN" dirty="0"/>
              <a:t>更新运算</a:t>
            </a:r>
            <a:endParaRPr lang="zh-CN" altLang="en-US" dirty="0"/>
          </a:p>
        </p:txBody>
      </p:sp>
      <p:sp>
        <p:nvSpPr>
          <p:cNvPr id="3" name="文本占位符 2"/>
          <p:cNvSpPr>
            <a:spLocks noGrp="1"/>
          </p:cNvSpPr>
          <p:nvPr>
            <p:ph type="body" idx="1"/>
          </p:nvPr>
        </p:nvSpPr>
        <p:spPr>
          <a:xfrm>
            <a:off x="457200" y="908720"/>
            <a:ext cx="8507288" cy="5472608"/>
          </a:xfrm>
        </p:spPr>
        <p:txBody>
          <a:bodyPr>
            <a:normAutofit/>
          </a:bodyPr>
          <a:lstStyle/>
          <a:p>
            <a:r>
              <a:rPr lang="zh-CN" altLang="zh-CN" dirty="0"/>
              <a:t>插入运算（</a:t>
            </a:r>
            <a:r>
              <a:rPr lang="en-US" altLang="zh-CN" dirty="0"/>
              <a:t>Insert</a:t>
            </a:r>
            <a:r>
              <a:rPr lang="zh-CN" altLang="zh-CN" dirty="0"/>
              <a:t>）：</a:t>
            </a:r>
          </a:p>
          <a:p>
            <a:pPr marL="363538" indent="0">
              <a:buNone/>
            </a:pPr>
            <a:r>
              <a:rPr lang="zh-CN" altLang="zh-CN" dirty="0"/>
              <a:t>首先用需要插入的元组，创建一个与</a:t>
            </a:r>
            <a:r>
              <a:rPr lang="en-US" altLang="zh-CN" dirty="0"/>
              <a:t>R</a:t>
            </a:r>
            <a:r>
              <a:rPr lang="zh-CN" altLang="zh-CN" dirty="0"/>
              <a:t>同属性的临时关系</a:t>
            </a:r>
            <a:r>
              <a:rPr lang="en-US" altLang="zh-CN" dirty="0"/>
              <a:t>T</a:t>
            </a:r>
            <a:r>
              <a:rPr lang="zh-CN" altLang="zh-CN" dirty="0"/>
              <a:t>，然后计算</a:t>
            </a:r>
          </a:p>
          <a:p>
            <a:r>
              <a:rPr lang="zh-CN" altLang="zh-CN" dirty="0"/>
              <a:t>修改运算（</a:t>
            </a:r>
            <a:r>
              <a:rPr lang="en-US" altLang="zh-CN" dirty="0"/>
              <a:t>Update</a:t>
            </a:r>
            <a:r>
              <a:rPr lang="zh-CN" altLang="zh-CN" dirty="0"/>
              <a:t>）：</a:t>
            </a:r>
            <a:endParaRPr lang="en-US" altLang="zh-CN" dirty="0"/>
          </a:p>
          <a:p>
            <a:pPr marL="363538" indent="0">
              <a:buNone/>
            </a:pPr>
            <a:r>
              <a:rPr lang="zh-CN" altLang="zh-CN" dirty="0"/>
              <a:t>首先用差运算把需要修改的元组从</a:t>
            </a:r>
            <a:r>
              <a:rPr lang="en-US" altLang="zh-CN" dirty="0"/>
              <a:t>R</a:t>
            </a:r>
            <a:r>
              <a:rPr lang="zh-CN" altLang="zh-CN" dirty="0"/>
              <a:t>中删除，得到</a:t>
            </a:r>
            <a:r>
              <a:rPr lang="en-US" altLang="zh-CN" dirty="0"/>
              <a:t>             </a:t>
            </a:r>
            <a:r>
              <a:rPr lang="zh-CN" altLang="zh-CN" dirty="0"/>
              <a:t>；然后利用元组的更新数据创建一个与</a:t>
            </a:r>
            <a:r>
              <a:rPr lang="en-US" altLang="zh-CN" dirty="0"/>
              <a:t> </a:t>
            </a:r>
            <a:r>
              <a:rPr lang="zh-CN" altLang="zh-CN" dirty="0"/>
              <a:t>同属性的临时关系</a:t>
            </a:r>
            <a:r>
              <a:rPr lang="en-US" altLang="zh-CN" dirty="0"/>
              <a:t> </a:t>
            </a:r>
            <a:r>
              <a:rPr lang="zh-CN" altLang="zh-CN" dirty="0"/>
              <a:t>，最后计算</a:t>
            </a:r>
          </a:p>
          <a:p>
            <a:r>
              <a:rPr lang="zh-CN" altLang="zh-CN" dirty="0"/>
              <a:t>删除运算（</a:t>
            </a:r>
            <a:r>
              <a:rPr lang="en-US" altLang="zh-CN" dirty="0"/>
              <a:t>Delete</a:t>
            </a:r>
            <a:r>
              <a:rPr lang="zh-CN" altLang="zh-CN" dirty="0"/>
              <a:t>）：</a:t>
            </a:r>
            <a:endParaRPr lang="en-US" altLang="zh-CN" dirty="0"/>
          </a:p>
          <a:p>
            <a:pPr marL="363538" indent="0">
              <a:buNone/>
            </a:pPr>
            <a:r>
              <a:rPr lang="zh-CN" altLang="zh-CN" dirty="0"/>
              <a:t>首先从</a:t>
            </a:r>
            <a:r>
              <a:rPr lang="en-US" altLang="zh-CN" dirty="0"/>
              <a:t>R </a:t>
            </a:r>
            <a:r>
              <a:rPr lang="zh-CN" altLang="zh-CN" dirty="0"/>
              <a:t>中选择出需要删除的元组，并构造一个临时关系</a:t>
            </a:r>
            <a:r>
              <a:rPr lang="en-US" altLang="zh-CN" dirty="0"/>
              <a:t>             </a:t>
            </a:r>
            <a:r>
              <a:rPr lang="zh-CN" altLang="zh-CN" dirty="0"/>
              <a:t>，创建一个与</a:t>
            </a:r>
            <a:r>
              <a:rPr lang="en-US" altLang="zh-CN" dirty="0"/>
              <a:t>R</a:t>
            </a:r>
            <a:r>
              <a:rPr lang="zh-CN" altLang="zh-CN" dirty="0"/>
              <a:t>同属性的临时关系</a:t>
            </a:r>
            <a:r>
              <a:rPr lang="en-US" altLang="zh-CN" dirty="0"/>
              <a:t>T</a:t>
            </a:r>
            <a:r>
              <a:rPr lang="zh-CN" altLang="zh-CN" dirty="0"/>
              <a:t>，然后计算</a:t>
            </a:r>
          </a:p>
          <a:p>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337278098"/>
              </p:ext>
            </p:extLst>
          </p:nvPr>
        </p:nvGraphicFramePr>
        <p:xfrm>
          <a:off x="2339752" y="1916832"/>
          <a:ext cx="777686" cy="432048"/>
        </p:xfrm>
        <a:graphic>
          <a:graphicData uri="http://schemas.openxmlformats.org/presentationml/2006/ole">
            <mc:AlternateContent xmlns:mc="http://schemas.openxmlformats.org/markup-compatibility/2006">
              <mc:Choice xmlns:v="urn:schemas-microsoft-com:vml" Requires="v">
                <p:oleObj spid="_x0000_s22864" name="公式" r:id="rId3" imgW="342603" imgH="177646" progId="Equation.3">
                  <p:embed/>
                </p:oleObj>
              </mc:Choice>
              <mc:Fallback>
                <p:oleObj name="公式" r:id="rId3" imgW="342603" imgH="177646"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916832"/>
                        <a:ext cx="777686" cy="432048"/>
                      </a:xfrm>
                      <a:prstGeom prst="rect">
                        <a:avLst/>
                      </a:prstGeom>
                      <a:noFill/>
                    </p:spPr>
                  </p:pic>
                </p:oleObj>
              </mc:Fallback>
            </mc:AlternateContent>
          </a:graphicData>
        </a:graphic>
      </p:graphicFrame>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206665424"/>
              </p:ext>
            </p:extLst>
          </p:nvPr>
        </p:nvGraphicFramePr>
        <p:xfrm>
          <a:off x="7452320" y="2852936"/>
          <a:ext cx="1266774" cy="404664"/>
        </p:xfrm>
        <a:graphic>
          <a:graphicData uri="http://schemas.openxmlformats.org/presentationml/2006/ole">
            <mc:AlternateContent xmlns:mc="http://schemas.openxmlformats.org/markup-compatibility/2006">
              <mc:Choice xmlns:v="urn:schemas-microsoft-com:vml" Requires="v">
                <p:oleObj spid="_x0000_s22865" name="公式" r:id="rId5" imgW="685502" imgH="215806" progId="Equation.3">
                  <p:embed/>
                </p:oleObj>
              </mc:Choice>
              <mc:Fallback>
                <p:oleObj name="公式" r:id="rId5" imgW="685502" imgH="21580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2852936"/>
                        <a:ext cx="1266774" cy="404664"/>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588958730"/>
              </p:ext>
            </p:extLst>
          </p:nvPr>
        </p:nvGraphicFramePr>
        <p:xfrm>
          <a:off x="2267744" y="3717032"/>
          <a:ext cx="2155386" cy="476672"/>
        </p:xfrm>
        <a:graphic>
          <a:graphicData uri="http://schemas.openxmlformats.org/presentationml/2006/ole">
            <mc:AlternateContent xmlns:mc="http://schemas.openxmlformats.org/markup-compatibility/2006">
              <mc:Choice xmlns:v="urn:schemas-microsoft-com:vml" Requires="v">
                <p:oleObj spid="_x0000_s22866" name="公式" r:id="rId7" imgW="990170" imgH="215806" progId="Equation.3">
                  <p:embed/>
                </p:oleObj>
              </mc:Choice>
              <mc:Fallback>
                <p:oleObj name="公式" r:id="rId7" imgW="990170" imgH="215806"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7744" y="3717032"/>
                        <a:ext cx="2155386" cy="476672"/>
                      </a:xfrm>
                      <a:prstGeom prst="rect">
                        <a:avLst/>
                      </a:prstGeom>
                      <a:noFill/>
                    </p:spPr>
                  </p:pic>
                </p:oleObj>
              </mc:Fallback>
            </mc:AlternateContent>
          </a:graphicData>
        </a:graphic>
      </p:graphicFrame>
      <p:sp>
        <p:nvSpPr>
          <p:cNvPr id="13"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144372765"/>
              </p:ext>
            </p:extLst>
          </p:nvPr>
        </p:nvGraphicFramePr>
        <p:xfrm>
          <a:off x="1331640" y="5085184"/>
          <a:ext cx="1043608" cy="470647"/>
        </p:xfrm>
        <a:graphic>
          <a:graphicData uri="http://schemas.openxmlformats.org/presentationml/2006/ole">
            <mc:AlternateContent xmlns:mc="http://schemas.openxmlformats.org/markup-compatibility/2006">
              <mc:Choice xmlns:v="urn:schemas-microsoft-com:vml" Requires="v">
                <p:oleObj spid="_x0000_s22867" name="公式" r:id="rId9" imgW="482181" imgH="215713" progId="Equation.3">
                  <p:embed/>
                </p:oleObj>
              </mc:Choice>
              <mc:Fallback>
                <p:oleObj name="公式" r:id="rId9" imgW="482181" imgH="215713"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640" y="5085184"/>
                        <a:ext cx="1043608" cy="470647"/>
                      </a:xfrm>
                      <a:prstGeom prst="rect">
                        <a:avLst/>
                      </a:prstGeom>
                      <a:noFill/>
                    </p:spPr>
                  </p:pic>
                </p:oleObj>
              </mc:Fallback>
            </mc:AlternateContent>
          </a:graphicData>
        </a:graphic>
      </p:graphicFrame>
      <p:sp>
        <p:nvSpPr>
          <p:cNvPr id="15"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1704405094"/>
              </p:ext>
            </p:extLst>
          </p:nvPr>
        </p:nvGraphicFramePr>
        <p:xfrm>
          <a:off x="2915816" y="5589240"/>
          <a:ext cx="1352498" cy="432048"/>
        </p:xfrm>
        <a:graphic>
          <a:graphicData uri="http://schemas.openxmlformats.org/presentationml/2006/ole">
            <mc:AlternateContent xmlns:mc="http://schemas.openxmlformats.org/markup-compatibility/2006">
              <mc:Choice xmlns:v="urn:schemas-microsoft-com:vml" Requires="v">
                <p:oleObj spid="_x0000_s22868" name="公式" r:id="rId11" imgW="685502" imgH="215806" progId="Equation.3">
                  <p:embed/>
                </p:oleObj>
              </mc:Choice>
              <mc:Fallback>
                <p:oleObj name="公式" r:id="rId11" imgW="685502" imgH="215806"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5816" y="5589240"/>
                        <a:ext cx="1352498" cy="432048"/>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4CE82A53-8431-E748-BA41-6F492BF697C2}"/>
              </a:ext>
            </a:extLst>
          </p:cNvPr>
          <p:cNvSpPr>
            <a:spLocks noGrp="1"/>
          </p:cNvSpPr>
          <p:nvPr>
            <p:ph type="sldNum" sz="quarter" idx="12"/>
          </p:nvPr>
        </p:nvSpPr>
        <p:spPr/>
        <p:txBody>
          <a:bodyPr/>
          <a:lstStyle/>
          <a:p>
            <a:fld id="{C46E5E69-9A6D-4AF8-BC2D-C556A9893D8F}" type="slidenum">
              <a:rPr lang="zh-CN" altLang="en-US" smtClean="0"/>
              <a:pPr/>
              <a:t>43</a:t>
            </a:fld>
            <a:endParaRPr lang="zh-CN" altLang="en-US" dirty="0"/>
          </a:p>
        </p:txBody>
      </p:sp>
    </p:spTree>
    <p:extLst>
      <p:ext uri="{BB962C8B-B14F-4D97-AF65-F5344CB8AC3E}">
        <p14:creationId xmlns:p14="http://schemas.microsoft.com/office/powerpoint/2010/main" val="23877811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2.5  </a:t>
            </a:r>
            <a:r>
              <a:rPr lang="zh-CN" altLang="zh-CN" dirty="0">
                <a:solidFill>
                  <a:srgbClr val="0000FF"/>
                </a:solidFill>
              </a:rPr>
              <a:t>综合实例</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1000496"/>
            <a:ext cx="8784976" cy="988344"/>
          </a:xfrm>
        </p:spPr>
        <p:txBody>
          <a:bodyPr>
            <a:noAutofit/>
          </a:bodyPr>
          <a:lstStyle/>
          <a:p>
            <a:pPr marL="1077913" indent="-1077913">
              <a:buNone/>
            </a:pPr>
            <a:r>
              <a:rPr lang="zh-CN" altLang="zh-CN" dirty="0">
                <a:solidFill>
                  <a:srgbClr val="0000FF"/>
                </a:solidFill>
              </a:rPr>
              <a:t>例</a:t>
            </a:r>
            <a:r>
              <a:rPr lang="en-US" altLang="zh-CN" dirty="0">
                <a:solidFill>
                  <a:srgbClr val="0000FF"/>
                </a:solidFill>
              </a:rPr>
              <a:t>2.21  </a:t>
            </a:r>
            <a:r>
              <a:rPr lang="zh-CN" altLang="zh-CN" dirty="0"/>
              <a:t>查询</a:t>
            </a:r>
            <a:r>
              <a:rPr lang="en-US" altLang="zh-CN" dirty="0"/>
              <a:t>Book</a:t>
            </a:r>
            <a:r>
              <a:rPr lang="zh-CN" altLang="zh-CN" dirty="0"/>
              <a:t>、</a:t>
            </a:r>
            <a:r>
              <a:rPr lang="en-US" altLang="zh-CN" dirty="0" err="1"/>
              <a:t>Cust</a:t>
            </a:r>
            <a:r>
              <a:rPr lang="zh-CN" altLang="zh-CN" dirty="0"/>
              <a:t>、</a:t>
            </a:r>
            <a:r>
              <a:rPr lang="en-US" altLang="zh-CN" dirty="0"/>
              <a:t>Buy</a:t>
            </a:r>
            <a:r>
              <a:rPr lang="zh-CN" altLang="zh-CN" dirty="0"/>
              <a:t>和</a:t>
            </a:r>
            <a:r>
              <a:rPr lang="en-US" altLang="zh-CN" dirty="0"/>
              <a:t>Press</a:t>
            </a:r>
            <a:r>
              <a:rPr lang="zh-CN" altLang="zh-CN" dirty="0"/>
              <a:t>的笛卡尔积（不难看出，该查询没有实际意义）</a:t>
            </a:r>
          </a:p>
        </p:txBody>
      </p:sp>
      <mc:AlternateContent xmlns:mc="http://schemas.openxmlformats.org/markup-compatibility/2006" xmlns:a14="http://schemas.microsoft.com/office/drawing/2010/main">
        <mc:Choice Requires="a14">
          <p:sp>
            <p:nvSpPr>
              <p:cNvPr id="7" name="矩形 6"/>
              <p:cNvSpPr/>
              <p:nvPr/>
            </p:nvSpPr>
            <p:spPr>
              <a:xfrm>
                <a:off x="2123728" y="2564904"/>
                <a:ext cx="473886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zh-CN" sz="2800" i="1">
                          <a:latin typeface="Cambria Math"/>
                        </a:rPr>
                        <m:t> </m:t>
                      </m:r>
                      <m:r>
                        <a:rPr lang="en-US" altLang="zh-CN" sz="2800" i="1" smtClean="0">
                          <a:solidFill>
                            <a:srgbClr val="0000FF"/>
                          </a:solidFill>
                          <a:latin typeface="Cambria Math"/>
                        </a:rPr>
                        <m:t>𝐵𝑜𝑜𝑘</m:t>
                      </m:r>
                      <m:r>
                        <a:rPr lang="en-US" altLang="zh-CN" sz="2800" i="1" smtClean="0">
                          <a:solidFill>
                            <a:srgbClr val="0000FF"/>
                          </a:solidFill>
                          <a:latin typeface="Cambria Math"/>
                        </a:rPr>
                        <m:t>×</m:t>
                      </m:r>
                      <m:r>
                        <a:rPr lang="en-US" altLang="zh-CN" sz="2800" i="1" smtClean="0">
                          <a:solidFill>
                            <a:srgbClr val="0000FF"/>
                          </a:solidFill>
                          <a:latin typeface="Cambria Math"/>
                        </a:rPr>
                        <m:t>𝐶𝑢𝑠𝑡</m:t>
                      </m:r>
                      <m:r>
                        <a:rPr lang="en-US" altLang="zh-CN" sz="2800" i="1" smtClean="0">
                          <a:solidFill>
                            <a:srgbClr val="0000FF"/>
                          </a:solidFill>
                          <a:latin typeface="Cambria Math"/>
                        </a:rPr>
                        <m:t>×</m:t>
                      </m:r>
                      <m:r>
                        <a:rPr lang="en-US" altLang="zh-CN" sz="2800" i="1" smtClean="0">
                          <a:solidFill>
                            <a:srgbClr val="0000FF"/>
                          </a:solidFill>
                          <a:latin typeface="Cambria Math"/>
                        </a:rPr>
                        <m:t>𝐵𝑢𝑦</m:t>
                      </m:r>
                      <m:r>
                        <a:rPr lang="en-US" altLang="zh-CN" sz="2800" i="1" smtClean="0">
                          <a:solidFill>
                            <a:srgbClr val="0000FF"/>
                          </a:solidFill>
                          <a:latin typeface="Cambria Math"/>
                        </a:rPr>
                        <m:t>×</m:t>
                      </m:r>
                      <m:r>
                        <a:rPr lang="en-US" altLang="zh-CN" sz="2800" i="1" smtClean="0">
                          <a:solidFill>
                            <a:srgbClr val="0000FF"/>
                          </a:solidFill>
                          <a:latin typeface="Cambria Math"/>
                        </a:rPr>
                        <m:t>𝑃𝑟𝑒𝑠𝑠</m:t>
                      </m:r>
                    </m:oMath>
                  </m:oMathPara>
                </a14:m>
                <a:endParaRPr lang="zh-CN" altLang="en-US" sz="2800" dirty="0">
                  <a:solidFill>
                    <a:srgbClr val="0000FF"/>
                  </a:solidFill>
                  <a:latin typeface="微软雅黑" pitchFamily="34" charset="-122"/>
                  <a:ea typeface="微软雅黑" pitchFamily="34"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123728" y="2564904"/>
                <a:ext cx="4738861" cy="523220"/>
              </a:xfrm>
              <a:prstGeom prst="rect">
                <a:avLst/>
              </a:prstGeom>
              <a:blipFill rotWithShape="1">
                <a:blip r:embed="rId3"/>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100F326-2CB0-3949-9AD2-0FC6D623BB74}"/>
              </a:ext>
            </a:extLst>
          </p:cNvPr>
          <p:cNvSpPr>
            <a:spLocks noGrp="1"/>
          </p:cNvSpPr>
          <p:nvPr>
            <p:ph type="sldNum" sz="quarter" idx="12"/>
          </p:nvPr>
        </p:nvSpPr>
        <p:spPr/>
        <p:txBody>
          <a:bodyPr/>
          <a:lstStyle/>
          <a:p>
            <a:fld id="{C46E5E69-9A6D-4AF8-BC2D-C556A9893D8F}" type="slidenum">
              <a:rPr lang="zh-CN" altLang="en-US" smtClean="0"/>
              <a:pPr/>
              <a:t>44</a:t>
            </a:fld>
            <a:endParaRPr lang="zh-CN" altLang="en-US" dirty="0"/>
          </a:p>
        </p:txBody>
      </p:sp>
    </p:spTree>
    <p:extLst>
      <p:ext uri="{BB962C8B-B14F-4D97-AF65-F5344CB8AC3E}">
        <p14:creationId xmlns:p14="http://schemas.microsoft.com/office/powerpoint/2010/main" val="1356238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988344"/>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2.22  </a:t>
            </a:r>
            <a:r>
              <a:rPr lang="zh-CN" altLang="zh-CN" sz="2000" dirty="0"/>
              <a:t>查询客户、图书和出版社的详细信息及其所有购买信息</a:t>
            </a:r>
          </a:p>
        </p:txBody>
      </p:sp>
      <p:sp>
        <p:nvSpPr>
          <p:cNvPr id="16" name="Rectangle 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0"/>
          <p:cNvSpPr>
            <a:spLocks noChangeArrowheads="1"/>
          </p:cNvSpPr>
          <p:nvPr/>
        </p:nvSpPr>
        <p:spPr bwMode="auto">
          <a:xfrm>
            <a:off x="1115616" y="2223536"/>
            <a:ext cx="6120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54000" algn="ctr" defTabSz="914400" rtl="0" eaLnBrk="1" fontAlgn="base" latinLnBrk="0" hangingPunct="1">
              <a:lnSpc>
                <a:spcPct val="100000"/>
              </a:lnSpc>
              <a:spcBef>
                <a:spcPct val="0"/>
              </a:spcBef>
              <a:spcAft>
                <a:spcPct val="0"/>
              </a:spcAft>
              <a:buClrTx/>
              <a:buSzTx/>
              <a:buFontTx/>
              <a:buNone/>
              <a:tabLst>
                <a:tab pos="5257800" algn="l"/>
              </a:tabLst>
            </a:pP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Book         </a:t>
            </a:r>
            <a:r>
              <a:rPr kumimoji="0" lang="en-US" altLang="zh-CN" sz="2400" b="0" i="1" u="none" strike="noStrike" cap="none" normalizeH="0" baseline="0" dirty="0" err="1">
                <a:ln>
                  <a:noFill/>
                </a:ln>
                <a:solidFill>
                  <a:schemeClr val="tx1"/>
                </a:solidFill>
                <a:effectLst/>
                <a:latin typeface="微软雅黑" pitchFamily="34" charset="-122"/>
                <a:ea typeface="微软雅黑" pitchFamily="34" charset="-122"/>
                <a:cs typeface="Times New Roman" pitchFamily="18" charset="0"/>
              </a:rPr>
              <a:t>Cust</a:t>
            </a: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Buy         Press</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18" name="AutoShape 343"/>
          <p:cNvSpPr>
            <a:spLocks noChangeArrowheads="1"/>
          </p:cNvSpPr>
          <p:nvPr/>
        </p:nvSpPr>
        <p:spPr bwMode="auto">
          <a:xfrm rot="-5400000">
            <a:off x="2861808" y="2346368"/>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9" name="AutoShape 343"/>
          <p:cNvSpPr>
            <a:spLocks noChangeArrowheads="1"/>
          </p:cNvSpPr>
          <p:nvPr/>
        </p:nvSpPr>
        <p:spPr bwMode="auto">
          <a:xfrm rot="-5400000">
            <a:off x="4280070" y="2346368"/>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0" name="AutoShape 343"/>
          <p:cNvSpPr>
            <a:spLocks noChangeArrowheads="1"/>
          </p:cNvSpPr>
          <p:nvPr/>
        </p:nvSpPr>
        <p:spPr bwMode="auto">
          <a:xfrm rot="-5400000">
            <a:off x="5670120" y="2346368"/>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 name="灯片编号占位符 3">
            <a:extLst>
              <a:ext uri="{FF2B5EF4-FFF2-40B4-BE49-F238E27FC236}">
                <a16:creationId xmlns:a16="http://schemas.microsoft.com/office/drawing/2014/main" id="{FE5D027E-8709-5542-B984-DD3803005F2B}"/>
              </a:ext>
            </a:extLst>
          </p:cNvPr>
          <p:cNvSpPr>
            <a:spLocks noGrp="1"/>
          </p:cNvSpPr>
          <p:nvPr>
            <p:ph type="sldNum" sz="quarter" idx="12"/>
          </p:nvPr>
        </p:nvSpPr>
        <p:spPr/>
        <p:txBody>
          <a:bodyPr/>
          <a:lstStyle/>
          <a:p>
            <a:fld id="{C46E5E69-9A6D-4AF8-BC2D-C556A9893D8F}" type="slidenum">
              <a:rPr lang="zh-CN" altLang="en-US" smtClean="0"/>
              <a:pPr/>
              <a:t>45</a:t>
            </a:fld>
            <a:endParaRPr lang="zh-CN" altLang="en-US" dirty="0"/>
          </a:p>
        </p:txBody>
      </p:sp>
    </p:spTree>
    <p:extLst>
      <p:ext uri="{BB962C8B-B14F-4D97-AF65-F5344CB8AC3E}">
        <p14:creationId xmlns:p14="http://schemas.microsoft.com/office/powerpoint/2010/main" val="28154511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988344"/>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2.23  </a:t>
            </a:r>
            <a:r>
              <a:rPr lang="zh-CN" altLang="zh-CN" sz="2000" dirty="0"/>
              <a:t>查询图书的书名、作者、社名和售价</a:t>
            </a:r>
          </a:p>
        </p:txBody>
      </p:sp>
      <p:sp>
        <p:nvSpPr>
          <p:cNvPr id="20" name="AutoShape 343"/>
          <p:cNvSpPr>
            <a:spLocks noChangeArrowheads="1"/>
          </p:cNvSpPr>
          <p:nvPr/>
        </p:nvSpPr>
        <p:spPr bwMode="auto">
          <a:xfrm rot="-5400000">
            <a:off x="5814136" y="2327696"/>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8" name="Rectangle 3"/>
          <p:cNvSpPr>
            <a:spLocks noChangeArrowheads="1"/>
          </p:cNvSpPr>
          <p:nvPr/>
        </p:nvSpPr>
        <p:spPr bwMode="auto">
          <a:xfrm>
            <a:off x="384889" y="2204864"/>
            <a:ext cx="71550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54000" algn="ctr" defTabSz="914400" rtl="0" eaLnBrk="1" fontAlgn="base" latinLnBrk="0" hangingPunct="1">
              <a:lnSpc>
                <a:spcPct val="100000"/>
              </a:lnSpc>
              <a:spcBef>
                <a:spcPct val="0"/>
              </a:spcBef>
              <a:spcAft>
                <a:spcPct val="0"/>
              </a:spcAft>
              <a:buClrTx/>
              <a:buSzTx/>
              <a:buFontTx/>
              <a:buNone/>
              <a:tabLst>
                <a:tab pos="5257800" algn="l"/>
              </a:tabLst>
            </a:pP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π</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BName</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a:t>
            </a:r>
            <a:r>
              <a:rPr kumimoji="0" lang="zh-CN" altLang="en-US" sz="24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𝑢</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t</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MS Mincho" pitchFamily="49" charset="-128"/>
              </a:rPr>
              <a:t>h</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or</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SPrice</a:t>
            </a: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(Book         Press)</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4" name="灯片编号占位符 3">
            <a:extLst>
              <a:ext uri="{FF2B5EF4-FFF2-40B4-BE49-F238E27FC236}">
                <a16:creationId xmlns:a16="http://schemas.microsoft.com/office/drawing/2014/main" id="{E9E1A362-CB5B-F446-A2CD-F9DD1C7651E6}"/>
              </a:ext>
            </a:extLst>
          </p:cNvPr>
          <p:cNvSpPr>
            <a:spLocks noGrp="1"/>
          </p:cNvSpPr>
          <p:nvPr>
            <p:ph type="sldNum" sz="quarter" idx="12"/>
          </p:nvPr>
        </p:nvSpPr>
        <p:spPr/>
        <p:txBody>
          <a:bodyPr/>
          <a:lstStyle/>
          <a:p>
            <a:fld id="{C46E5E69-9A6D-4AF8-BC2D-C556A9893D8F}" type="slidenum">
              <a:rPr lang="zh-CN" altLang="en-US" smtClean="0"/>
              <a:pPr/>
              <a:t>46</a:t>
            </a:fld>
            <a:endParaRPr lang="zh-CN" altLang="en-US" dirty="0"/>
          </a:p>
        </p:txBody>
      </p:sp>
    </p:spTree>
    <p:extLst>
      <p:ext uri="{BB962C8B-B14F-4D97-AF65-F5344CB8AC3E}">
        <p14:creationId xmlns:p14="http://schemas.microsoft.com/office/powerpoint/2010/main" val="25825080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556296"/>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2.24  </a:t>
            </a:r>
            <a:r>
              <a:rPr lang="zh-CN" altLang="zh-CN" sz="2000" dirty="0"/>
              <a:t>查询图书的书名、作者、售价、社名和购买图书的客户姓名</a:t>
            </a:r>
          </a:p>
        </p:txBody>
      </p:sp>
      <p:sp>
        <p:nvSpPr>
          <p:cNvPr id="20" name="AutoShape 343"/>
          <p:cNvSpPr>
            <a:spLocks noChangeArrowheads="1"/>
          </p:cNvSpPr>
          <p:nvPr/>
        </p:nvSpPr>
        <p:spPr bwMode="auto">
          <a:xfrm rot="-5400000">
            <a:off x="7507165" y="3071325"/>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0" name="Rectangle 5"/>
          <p:cNvSpPr>
            <a:spLocks noChangeArrowheads="1"/>
          </p:cNvSpPr>
          <p:nvPr/>
        </p:nvSpPr>
        <p:spPr bwMode="auto">
          <a:xfrm>
            <a:off x="66926" y="2948492"/>
            <a:ext cx="8712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54000" defTabSz="914400" rtl="0" eaLnBrk="1" fontAlgn="base" latinLnBrk="0" hangingPunct="1">
              <a:lnSpc>
                <a:spcPct val="100000"/>
              </a:lnSpc>
              <a:spcBef>
                <a:spcPct val="0"/>
              </a:spcBef>
              <a:spcAft>
                <a:spcPct val="0"/>
              </a:spcAft>
              <a:buClrTx/>
              <a:buSzTx/>
              <a:buFontTx/>
              <a:buNone/>
              <a:tabLst>
                <a:tab pos="5257800" algn="l"/>
              </a:tabLst>
            </a:pP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π</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BName</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Aut</a:t>
            </a:r>
            <a:r>
              <a:rPr kumimoji="0" lang="en-US" altLang="zh-CN" sz="2400" b="0" i="1" u="none" strike="noStrike" cap="none" normalizeH="0" baseline="-25000" dirty="0">
                <a:ln>
                  <a:noFill/>
                </a:ln>
                <a:solidFill>
                  <a:schemeClr val="tx1"/>
                </a:solidFill>
                <a:effectLst/>
                <a:latin typeface="微软雅黑" pitchFamily="34" charset="-122"/>
                <a:ea typeface="微软雅黑" pitchFamily="34" charset="-122"/>
                <a:cs typeface="MS Mincho" pitchFamily="49" charset="-128"/>
              </a:rPr>
              <a:t>h</a:t>
            </a:r>
            <a:r>
              <a:rPr kumimoji="0" lang="en-US" altLang="zh-CN" sz="24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or</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SPrice</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4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4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CName</a:t>
            </a: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(Book     </a:t>
            </a:r>
            <a:r>
              <a:rPr kumimoji="0" lang="en-US" altLang="zh-CN" sz="2400" b="0" i="1" u="none" strike="noStrike" cap="none" normalizeH="0" baseline="0" dirty="0" err="1">
                <a:ln>
                  <a:noFill/>
                </a:ln>
                <a:solidFill>
                  <a:schemeClr val="tx1"/>
                </a:solidFill>
                <a:effectLst/>
                <a:latin typeface="微软雅黑" pitchFamily="34" charset="-122"/>
                <a:ea typeface="微软雅黑" pitchFamily="34" charset="-122"/>
                <a:cs typeface="Times New Roman" pitchFamily="18" charset="0"/>
              </a:rPr>
              <a:t>Cust</a:t>
            </a:r>
            <a:r>
              <a:rPr kumimoji="0" lang="en-US" altLang="zh-CN" sz="24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Buy    Press)</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22" name="AutoShape 343"/>
          <p:cNvSpPr>
            <a:spLocks noChangeArrowheads="1"/>
          </p:cNvSpPr>
          <p:nvPr/>
        </p:nvSpPr>
        <p:spPr bwMode="auto">
          <a:xfrm rot="-5400000">
            <a:off x="5617678" y="3071324"/>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3" name="AutoShape 343"/>
          <p:cNvSpPr>
            <a:spLocks noChangeArrowheads="1"/>
          </p:cNvSpPr>
          <p:nvPr/>
        </p:nvSpPr>
        <p:spPr bwMode="auto">
          <a:xfrm rot="-5400000">
            <a:off x="6652738" y="3071324"/>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 name="灯片编号占位符 3">
            <a:extLst>
              <a:ext uri="{FF2B5EF4-FFF2-40B4-BE49-F238E27FC236}">
                <a16:creationId xmlns:a16="http://schemas.microsoft.com/office/drawing/2014/main" id="{E9A72990-8CDA-2E47-B907-4B6FDBE4FF88}"/>
              </a:ext>
            </a:extLst>
          </p:cNvPr>
          <p:cNvSpPr>
            <a:spLocks noGrp="1"/>
          </p:cNvSpPr>
          <p:nvPr>
            <p:ph type="sldNum" sz="quarter" idx="12"/>
          </p:nvPr>
        </p:nvSpPr>
        <p:spPr/>
        <p:txBody>
          <a:bodyPr/>
          <a:lstStyle/>
          <a:p>
            <a:fld id="{C46E5E69-9A6D-4AF8-BC2D-C556A9893D8F}" type="slidenum">
              <a:rPr lang="zh-CN" altLang="en-US" smtClean="0"/>
              <a:pPr/>
              <a:t>47</a:t>
            </a:fld>
            <a:endParaRPr lang="zh-CN" altLang="en-US" dirty="0"/>
          </a:p>
        </p:txBody>
      </p:sp>
    </p:spTree>
    <p:extLst>
      <p:ext uri="{BB962C8B-B14F-4D97-AF65-F5344CB8AC3E}">
        <p14:creationId xmlns:p14="http://schemas.microsoft.com/office/powerpoint/2010/main" val="27826372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1060352"/>
          </a:xfrm>
        </p:spPr>
        <p:txBody>
          <a:bodyPr>
            <a:noAutofit/>
          </a:bodyPr>
          <a:lstStyle/>
          <a:p>
            <a:pPr marL="901700" indent="-901700">
              <a:buNone/>
            </a:pPr>
            <a:r>
              <a:rPr lang="zh-CN" altLang="zh-CN" sz="2000" dirty="0">
                <a:solidFill>
                  <a:srgbClr val="0000FF"/>
                </a:solidFill>
              </a:rPr>
              <a:t>例</a:t>
            </a:r>
            <a:r>
              <a:rPr lang="en-US" altLang="zh-CN" sz="2000" dirty="0">
                <a:solidFill>
                  <a:srgbClr val="0000FF"/>
                </a:solidFill>
              </a:rPr>
              <a:t>2.25  </a:t>
            </a:r>
            <a:r>
              <a:rPr lang="zh-CN" altLang="zh-CN" sz="2000" dirty="0"/>
              <a:t>查询客户李明购买的作者是韩培友的出版社是浙江工商大学出版的图书的户名、书名、作者、定价、售价、社名和购买日期</a:t>
            </a:r>
          </a:p>
        </p:txBody>
      </p:sp>
      <p:sp>
        <p:nvSpPr>
          <p:cNvPr id="20" name="AutoShape 343"/>
          <p:cNvSpPr>
            <a:spLocks noChangeArrowheads="1"/>
          </p:cNvSpPr>
          <p:nvPr/>
        </p:nvSpPr>
        <p:spPr bwMode="auto">
          <a:xfrm rot="-5400000">
            <a:off x="6246184" y="3675311"/>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2" name="AutoShape 343"/>
          <p:cNvSpPr>
            <a:spLocks noChangeArrowheads="1"/>
          </p:cNvSpPr>
          <p:nvPr/>
        </p:nvSpPr>
        <p:spPr bwMode="auto">
          <a:xfrm rot="-5400000">
            <a:off x="3869920" y="3665071"/>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3" name="AutoShape 343"/>
          <p:cNvSpPr>
            <a:spLocks noChangeArrowheads="1"/>
          </p:cNvSpPr>
          <p:nvPr/>
        </p:nvSpPr>
        <p:spPr bwMode="auto">
          <a:xfrm rot="-5400000">
            <a:off x="5166064" y="3675311"/>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8" name="Rectangle 4"/>
          <p:cNvSpPr>
            <a:spLocks noChangeArrowheads="1"/>
          </p:cNvSpPr>
          <p:nvPr/>
        </p:nvSpPr>
        <p:spPr bwMode="auto">
          <a:xfrm>
            <a:off x="95250" y="2557353"/>
            <a:ext cx="858120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257800" algn="l"/>
              </a:tabLst>
            </a:pP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π</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CName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BName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Aut</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MS Mincho" pitchFamily="49" charset="-128"/>
              </a:rPr>
              <a:t>h</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or</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Price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SPrice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0" dirty="0" err="1">
                <a:ln>
                  <a:noFill/>
                </a:ln>
                <a:solidFill>
                  <a:schemeClr val="tx1"/>
                </a:solidFill>
                <a:effectLst/>
                <a:latin typeface="微软雅黑" pitchFamily="34" charset="-122"/>
                <a:ea typeface="微软雅黑" pitchFamily="34" charset="-122"/>
                <a:cs typeface="Times New Roman" pitchFamily="18" charset="0"/>
              </a:rPr>
              <a:t>σ</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CName</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李明’∧    </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Aut</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MS Mincho" pitchFamily="49" charset="-128"/>
              </a:rPr>
              <a:t>h</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or=</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韩培友’∧   </a:t>
            </a:r>
            <a:r>
              <a:rPr kumimoji="0" lang="en-US" altLang="zh-CN" sz="2000" b="0" i="1" u="none" strike="noStrike" cap="none" normalizeH="0" baseline="-25000" dirty="0" err="1">
                <a:ln>
                  <a:noFill/>
                </a:ln>
                <a:solidFill>
                  <a:schemeClr val="tx1"/>
                </a:solidFill>
                <a:effectLst/>
                <a:latin typeface="微软雅黑" pitchFamily="34" charset="-122"/>
                <a:ea typeface="微软雅黑" pitchFamily="34" charset="-122"/>
                <a:cs typeface="Times New Roman" pitchFamily="18" charset="0"/>
              </a:rPr>
              <a:t>PName</a:t>
            </a:r>
            <a:r>
              <a:rPr kumimoji="0" lang="en-US" altLang="zh-CN" sz="2000" b="0" i="1"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t>
            </a:r>
            <a:r>
              <a:rPr kumimoji="0" lang="en-US" altLang="zh-CN"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a:t>
            </a:r>
            <a:r>
              <a:rPr kumimoji="0" lang="zh-CN" altLang="en-US" sz="2000" b="0" i="0" u="none" strike="noStrike" cap="none" normalizeH="0" baseline="-25000" dirty="0">
                <a:ln>
                  <a:noFill/>
                </a:ln>
                <a:solidFill>
                  <a:schemeClr val="tx1"/>
                </a:solidFill>
                <a:effectLst/>
                <a:latin typeface="微软雅黑" pitchFamily="34" charset="-122"/>
                <a:ea typeface="微软雅黑" pitchFamily="34" charset="-122"/>
                <a:cs typeface="Times New Roman" pitchFamily="18" charset="0"/>
              </a:rPr>
              <a:t>浙江工商大学出版社’</a:t>
            </a:r>
            <a:r>
              <a:rPr kumimoji="0" lang="zh-CN" altLang="en-US"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a:p>
            <a:pPr marL="0" marR="0" lvl="0" indent="254000" algn="l" defTabSz="914400" rtl="0" eaLnBrk="0" fontAlgn="base" latinLnBrk="0" hangingPunct="0">
              <a:lnSpc>
                <a:spcPct val="100000"/>
              </a:lnSpc>
              <a:spcBef>
                <a:spcPct val="0"/>
              </a:spcBef>
              <a:spcAft>
                <a:spcPct val="0"/>
              </a:spcAft>
              <a:buClrTx/>
              <a:buSzTx/>
              <a:buFontTx/>
              <a:buNone/>
              <a:tabLst>
                <a:tab pos="5257800" algn="l"/>
              </a:tabLst>
            </a:pPr>
            <a:endPar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11" name="Rectangle 5"/>
          <p:cNvSpPr>
            <a:spLocks noChangeArrowheads="1"/>
          </p:cNvSpPr>
          <p:nvPr/>
        </p:nvSpPr>
        <p:spPr bwMode="auto">
          <a:xfrm>
            <a:off x="755576" y="3573016"/>
            <a:ext cx="75822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54000" algn="ctr" defTabSz="914400" rtl="0" eaLnBrk="1" fontAlgn="base" latinLnBrk="0" hangingPunct="1">
              <a:lnSpc>
                <a:spcPct val="100000"/>
              </a:lnSpc>
              <a:spcBef>
                <a:spcPct val="0"/>
              </a:spcBef>
              <a:spcAft>
                <a:spcPct val="0"/>
              </a:spcAft>
              <a:buClrTx/>
              <a:buSzTx/>
              <a:buFontTx/>
              <a:buNone/>
              <a:tabLst>
                <a:tab pos="5257800" algn="l"/>
              </a:tabLst>
            </a:pPr>
            <a:r>
              <a:rPr kumimoji="0" lang="en-US" altLang="zh-CN" sz="1000" b="0" i="1" u="none" strike="noStrike" cap="none" normalizeH="0" baseline="0" dirty="0">
                <a:ln>
                  <a:noFill/>
                </a:ln>
                <a:solidFill>
                  <a:schemeClr val="tx1"/>
                </a:solidFill>
                <a:effectLst/>
                <a:latin typeface="Cambria Math" pitchFamily="18" charset="0"/>
                <a:ea typeface="宋体" pitchFamily="2" charset="-122"/>
                <a:cs typeface="Times New Roman" pitchFamily="18" charset="0"/>
              </a:rPr>
              <a:t>                                                </a:t>
            </a: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Book         </a:t>
            </a:r>
            <a:r>
              <a:rPr kumimoji="0" lang="en-US" altLang="zh-CN" sz="2000" b="0" i="1" u="none" strike="noStrike" cap="none" normalizeH="0" baseline="0" dirty="0" err="1">
                <a:ln>
                  <a:noFill/>
                </a:ln>
                <a:solidFill>
                  <a:schemeClr val="tx1"/>
                </a:solidFill>
                <a:effectLst/>
                <a:latin typeface="微软雅黑" pitchFamily="34" charset="-122"/>
                <a:ea typeface="微软雅黑" pitchFamily="34" charset="-122"/>
                <a:cs typeface="Times New Roman" pitchFamily="18" charset="0"/>
              </a:rPr>
              <a:t>Cust</a:t>
            </a:r>
            <a:r>
              <a:rPr kumimoji="0" lang="en-US" altLang="zh-CN" sz="2000" b="0" i="1"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         Buy         Press   </a:t>
            </a:r>
            <a:r>
              <a:rPr kumimoji="0" lang="en-US" altLang="zh-CN" sz="2000" b="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a:t>
            </a:r>
            <a:endParaRPr kumimoji="0" lang="en-US" altLang="zh-CN" sz="2000" b="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4" name="灯片编号占位符 3">
            <a:extLst>
              <a:ext uri="{FF2B5EF4-FFF2-40B4-BE49-F238E27FC236}">
                <a16:creationId xmlns:a16="http://schemas.microsoft.com/office/drawing/2014/main" id="{59DC9A62-B65D-D042-A09A-76B4609B1D7B}"/>
              </a:ext>
            </a:extLst>
          </p:cNvPr>
          <p:cNvSpPr>
            <a:spLocks noGrp="1"/>
          </p:cNvSpPr>
          <p:nvPr>
            <p:ph type="sldNum" sz="quarter" idx="12"/>
          </p:nvPr>
        </p:nvSpPr>
        <p:spPr/>
        <p:txBody>
          <a:bodyPr/>
          <a:lstStyle/>
          <a:p>
            <a:fld id="{C46E5E69-9A6D-4AF8-BC2D-C556A9893D8F}" type="slidenum">
              <a:rPr lang="zh-CN" altLang="en-US" smtClean="0"/>
              <a:pPr/>
              <a:t>48</a:t>
            </a:fld>
            <a:endParaRPr lang="zh-CN" altLang="en-US" dirty="0"/>
          </a:p>
        </p:txBody>
      </p:sp>
    </p:spTree>
    <p:extLst>
      <p:ext uri="{BB962C8B-B14F-4D97-AF65-F5344CB8AC3E}">
        <p14:creationId xmlns:p14="http://schemas.microsoft.com/office/powerpoint/2010/main" val="2335275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1060352"/>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2.26  </a:t>
            </a:r>
            <a:r>
              <a:rPr lang="zh-CN" altLang="zh-CN" sz="2000" dirty="0"/>
              <a:t>查询购买王珊或者雍俊海书的客户的户号和户名</a:t>
            </a:r>
          </a:p>
        </p:txBody>
      </p:sp>
      <p:sp>
        <p:nvSpPr>
          <p:cNvPr id="20" name="AutoShape 343"/>
          <p:cNvSpPr>
            <a:spLocks noChangeArrowheads="1"/>
          </p:cNvSpPr>
          <p:nvPr/>
        </p:nvSpPr>
        <p:spPr bwMode="auto">
          <a:xfrm rot="-5400000">
            <a:off x="4734016" y="1952848"/>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3" name="AutoShape 343"/>
          <p:cNvSpPr>
            <a:spLocks noChangeArrowheads="1"/>
          </p:cNvSpPr>
          <p:nvPr/>
        </p:nvSpPr>
        <p:spPr bwMode="auto">
          <a:xfrm rot="-5400000">
            <a:off x="6030160" y="2315221"/>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7" name="矩形 6"/>
              <p:cNvSpPr/>
              <p:nvPr/>
            </p:nvSpPr>
            <p:spPr>
              <a:xfrm>
                <a:off x="768235" y="1944621"/>
                <a:ext cx="6837345" cy="7772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r>
                            <a:rPr lang="en-US" altLang="zh-CN" i="1">
                              <a:latin typeface="Cambria Math"/>
                            </a:rPr>
                            <m:t>,</m:t>
                          </m:r>
                          <m:r>
                            <a:rPr lang="en-US" altLang="zh-CN" i="1">
                              <a:latin typeface="Cambria Math"/>
                            </a:rPr>
                            <m:t>𝐶𝑁𝑎𝑚𝑒</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𝐴𝑢𝑡h𝑜𝑟</m:t>
                          </m:r>
                          <m:r>
                            <a:rPr lang="en-US" altLang="zh-CN" i="1">
                              <a:latin typeface="Cambria Math"/>
                            </a:rPr>
                            <m:t>=</m:t>
                          </m:r>
                          <m:r>
                            <m:rPr>
                              <m:nor/>
                            </m:rPr>
                            <a:rPr lang="en-US" altLang="zh-CN"/>
                            <m:t> "</m:t>
                          </m:r>
                          <m:r>
                            <m:rPr>
                              <m:nor/>
                            </m:rPr>
                            <a:rPr lang="zh-CN" altLang="zh-CN"/>
                            <m:t>王珊</m:t>
                          </m:r>
                          <m:r>
                            <m:rPr>
                              <m:nor/>
                            </m:rPr>
                            <a:rPr lang="en-US" altLang="zh-CN"/>
                            <m:t>"</m:t>
                          </m:r>
                        </m:sub>
                      </m:sSub>
                      <m:d>
                        <m:dPr>
                          <m:ctrlPr>
                            <a:rPr lang="zh-CN" altLang="zh-CN" i="1">
                              <a:latin typeface="Cambria Math" panose="02040503050406030204" pitchFamily="18" charset="0"/>
                            </a:rPr>
                          </m:ctrlPr>
                        </m:dPr>
                        <m:e>
                          <m:r>
                            <a:rPr lang="en-US" altLang="zh-CN" i="1">
                              <a:latin typeface="Cambria Math"/>
                            </a:rPr>
                            <m:t>𝐶𝑢𝑠𝑡</m:t>
                          </m:r>
                          <m:r>
                            <a:rPr lang="en-US" altLang="zh-CN" i="1">
                              <a:latin typeface="Cambria Math"/>
                            </a:rPr>
                            <m:t>        </m:t>
                          </m:r>
                          <m:r>
                            <a:rPr lang="en-US" altLang="zh-CN" i="1">
                              <a:latin typeface="Cambria Math"/>
                            </a:rPr>
                            <m:t>𝐵𝑢𝑦</m:t>
                          </m:r>
                        </m:e>
                      </m:d>
                      <m:r>
                        <a:rPr lang="en-US" altLang="zh-CN" i="1">
                          <a:latin typeface="Cambria Math"/>
                        </a:rPr>
                        <m:t> )∪</m:t>
                      </m:r>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r>
                            <a:rPr lang="en-US" altLang="zh-CN" i="1">
                              <a:latin typeface="Cambria Math"/>
                            </a:rPr>
                            <m:t>,</m:t>
                          </m:r>
                          <m:r>
                            <a:rPr lang="en-US" altLang="zh-CN" i="1">
                              <a:latin typeface="Cambria Math"/>
                            </a:rPr>
                            <m:t>𝐶𝑁𝑎𝑚𝑒</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𝐴𝑢𝑡h𝑜𝑟</m:t>
                          </m:r>
                          <m:r>
                            <a:rPr lang="en-US" altLang="zh-CN" i="1">
                              <a:latin typeface="Cambria Math"/>
                            </a:rPr>
                            <m:t>=</m:t>
                          </m:r>
                          <m:r>
                            <m:rPr>
                              <m:nor/>
                            </m:rPr>
                            <a:rPr lang="en-US" altLang="zh-CN"/>
                            <m:t> "</m:t>
                          </m:r>
                          <m:r>
                            <m:rPr>
                              <m:nor/>
                            </m:rPr>
                            <a:rPr lang="zh-CN" altLang="zh-CN"/>
                            <m:t>雍俊海</m:t>
                          </m:r>
                          <m:r>
                            <m:rPr>
                              <m:nor/>
                            </m:rPr>
                            <a:rPr lang="en-US" altLang="zh-CN"/>
                            <m:t>"</m:t>
                          </m:r>
                        </m:sub>
                      </m:sSub>
                      <m:d>
                        <m:dPr>
                          <m:ctrlPr>
                            <a:rPr lang="zh-CN" altLang="zh-CN" i="1">
                              <a:latin typeface="Cambria Math" panose="02040503050406030204" pitchFamily="18" charset="0"/>
                            </a:rPr>
                          </m:ctrlPr>
                        </m:dPr>
                        <m:e>
                          <m:r>
                            <a:rPr lang="en-US" altLang="zh-CN" i="1">
                              <a:latin typeface="Cambria Math"/>
                            </a:rPr>
                            <m:t>𝐶𝑢𝑠𝑡</m:t>
                          </m:r>
                          <m:r>
                            <a:rPr lang="en-US" altLang="zh-CN" i="1">
                              <a:latin typeface="Cambria Math"/>
                            </a:rPr>
                            <m:t>        </m:t>
                          </m:r>
                          <m:r>
                            <a:rPr lang="en-US" altLang="zh-CN" i="1">
                              <a:latin typeface="Cambria Math"/>
                            </a:rPr>
                            <m:t>𝐵𝑢𝑦</m:t>
                          </m:r>
                        </m:e>
                      </m:d>
                      <m:r>
                        <a:rPr lang="en-US" altLang="zh-CN" i="1">
                          <a:latin typeface="Cambria Math"/>
                        </a:rPr>
                        <m:t> )</m:t>
                      </m:r>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768235" y="1944621"/>
                <a:ext cx="6837345" cy="777200"/>
              </a:xfrm>
              <a:prstGeom prst="rect">
                <a:avLst/>
              </a:prstGeom>
              <a:blipFill rotWithShape="1">
                <a:blip r:embed="rId3"/>
                <a:stretch>
                  <a:fillRect b="-8661"/>
                </a:stretch>
              </a:blipFill>
            </p:spPr>
            <p:txBody>
              <a:bodyPr/>
              <a:lstStyle/>
              <a:p>
                <a:r>
                  <a:rPr lang="zh-CN" altLang="en-US">
                    <a:noFill/>
                  </a:rPr>
                  <a:t> </a:t>
                </a:r>
              </a:p>
            </p:txBody>
          </p:sp>
        </mc:Fallback>
      </mc:AlternateContent>
      <p:sp>
        <p:nvSpPr>
          <p:cNvPr id="13" name="文本占位符 2"/>
          <p:cNvSpPr txBox="1">
            <a:spLocks/>
          </p:cNvSpPr>
          <p:nvPr/>
        </p:nvSpPr>
        <p:spPr>
          <a:xfrm>
            <a:off x="107504" y="2996952"/>
            <a:ext cx="8784976" cy="1060352"/>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solidFill>
                  <a:srgbClr val="0000FF"/>
                </a:solidFill>
              </a:rPr>
              <a:t>思考：</a:t>
            </a:r>
            <a:r>
              <a:rPr lang="zh-CN" altLang="zh-CN" sz="2000" dirty="0"/>
              <a:t>如下关系代数表达式是否正确？</a:t>
            </a:r>
          </a:p>
        </p:txBody>
      </p:sp>
      <mc:AlternateContent xmlns:mc="http://schemas.openxmlformats.org/markup-compatibility/2006" xmlns:a14="http://schemas.microsoft.com/office/drawing/2010/main">
        <mc:Choice Requires="a14">
          <p:sp>
            <p:nvSpPr>
              <p:cNvPr id="12" name="矩形 11"/>
              <p:cNvSpPr/>
              <p:nvPr/>
            </p:nvSpPr>
            <p:spPr>
              <a:xfrm>
                <a:off x="1115616" y="3969891"/>
                <a:ext cx="6368154" cy="4388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r>
                            <a:rPr lang="en-US" altLang="zh-CN" i="1">
                              <a:latin typeface="Cambria Math"/>
                            </a:rPr>
                            <m:t>,</m:t>
                          </m:r>
                          <m:r>
                            <a:rPr lang="en-US" altLang="zh-CN" i="1">
                              <a:latin typeface="Cambria Math"/>
                            </a:rPr>
                            <m:t>𝐶𝑁𝑎𝑚𝑒</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𝐴𝑢𝑡h𝑜𝑟</m:t>
                          </m:r>
                          <m:r>
                            <a:rPr lang="en-US" altLang="zh-CN" i="1">
                              <a:latin typeface="Cambria Math"/>
                            </a:rPr>
                            <m:t>=</m:t>
                          </m:r>
                          <m:r>
                            <m:rPr>
                              <m:nor/>
                            </m:rPr>
                            <a:rPr lang="en-US" altLang="zh-CN"/>
                            <m:t> "</m:t>
                          </m:r>
                          <m:r>
                            <m:rPr>
                              <m:nor/>
                            </m:rPr>
                            <a:rPr lang="zh-CN" altLang="zh-CN"/>
                            <m:t>王珊</m:t>
                          </m:r>
                          <m:r>
                            <m:rPr>
                              <m:nor/>
                            </m:rPr>
                            <a:rPr lang="en-US" altLang="zh-CN"/>
                            <m:t>"</m:t>
                          </m:r>
                          <m:r>
                            <m:rPr>
                              <m:nor/>
                            </m:rPr>
                            <a:rPr lang="zh-CN" altLang="zh-CN"/>
                            <m:t>∨</m:t>
                          </m:r>
                          <m:r>
                            <a:rPr lang="en-US" altLang="zh-CN" i="1">
                              <a:latin typeface="Cambria Math"/>
                            </a:rPr>
                            <m:t>𝐴𝑢𝑡h𝑜𝑟</m:t>
                          </m:r>
                          <m:r>
                            <a:rPr lang="en-US" altLang="zh-CN" i="1">
                              <a:latin typeface="Cambria Math"/>
                            </a:rPr>
                            <m:t>=</m:t>
                          </m:r>
                          <m:r>
                            <m:rPr>
                              <m:nor/>
                            </m:rPr>
                            <a:rPr lang="en-US" altLang="zh-CN"/>
                            <m:t> "</m:t>
                          </m:r>
                          <m:r>
                            <m:rPr>
                              <m:nor/>
                            </m:rPr>
                            <a:rPr lang="zh-CN" altLang="zh-CN"/>
                            <m:t>雍俊海</m:t>
                          </m:r>
                          <m:r>
                            <m:rPr>
                              <m:nor/>
                            </m:rPr>
                            <a:rPr lang="en-US" altLang="zh-CN"/>
                            <m:t>"</m:t>
                          </m:r>
                        </m:sub>
                      </m:sSub>
                      <m:d>
                        <m:dPr>
                          <m:ctrlPr>
                            <a:rPr lang="zh-CN" altLang="zh-CN" i="1">
                              <a:latin typeface="Cambria Math" panose="02040503050406030204" pitchFamily="18" charset="0"/>
                            </a:rPr>
                          </m:ctrlPr>
                        </m:dPr>
                        <m:e>
                          <m:r>
                            <a:rPr lang="en-US" altLang="zh-CN" i="1">
                              <a:latin typeface="Cambria Math"/>
                            </a:rPr>
                            <m:t>𝐶𝑢𝑠𝑡</m:t>
                          </m:r>
                          <m:r>
                            <a:rPr lang="en-US" altLang="zh-CN" i="1">
                              <a:latin typeface="Cambria Math"/>
                            </a:rPr>
                            <m:t>        </m:t>
                          </m:r>
                          <m:r>
                            <a:rPr lang="en-US" altLang="zh-CN" i="1">
                              <a:latin typeface="Cambria Math"/>
                            </a:rPr>
                            <m:t>𝐵𝑢𝑦</m:t>
                          </m:r>
                        </m:e>
                      </m:d>
                      <m:r>
                        <a:rPr lang="en-US" altLang="zh-CN" i="1">
                          <a:latin typeface="Cambria Math"/>
                        </a:rPr>
                        <m:t> )</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115616" y="3969891"/>
                <a:ext cx="6368154" cy="438838"/>
              </a:xfrm>
              <a:prstGeom prst="rect">
                <a:avLst/>
              </a:prstGeom>
              <a:blipFill rotWithShape="1">
                <a:blip r:embed="rId4"/>
                <a:stretch>
                  <a:fillRect b="-15278"/>
                </a:stretch>
              </a:blipFill>
            </p:spPr>
            <p:txBody>
              <a:bodyPr/>
              <a:lstStyle/>
              <a:p>
                <a:r>
                  <a:rPr lang="zh-CN" altLang="en-US">
                    <a:noFill/>
                  </a:rPr>
                  <a:t> </a:t>
                </a:r>
              </a:p>
            </p:txBody>
          </p:sp>
        </mc:Fallback>
      </mc:AlternateContent>
      <p:sp>
        <p:nvSpPr>
          <p:cNvPr id="18" name="AutoShape 343"/>
          <p:cNvSpPr>
            <a:spLocks noChangeArrowheads="1"/>
          </p:cNvSpPr>
          <p:nvPr/>
        </p:nvSpPr>
        <p:spPr bwMode="auto">
          <a:xfrm rot="-5400000">
            <a:off x="6516302" y="4049509"/>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4" name="TextBox 13"/>
          <p:cNvSpPr txBox="1"/>
          <p:nvPr/>
        </p:nvSpPr>
        <p:spPr>
          <a:xfrm>
            <a:off x="7276021" y="2060848"/>
            <a:ext cx="415498" cy="369332"/>
          </a:xfrm>
          <a:prstGeom prst="rect">
            <a:avLst/>
          </a:prstGeom>
          <a:noFill/>
        </p:spPr>
        <p:txBody>
          <a:bodyPr wrap="none" rtlCol="0">
            <a:spAutoFit/>
          </a:bodyPr>
          <a:lstStyle/>
          <a:p>
            <a:r>
              <a:rPr lang="zh-CN" altLang="en-US" dirty="0"/>
              <a:t>？</a:t>
            </a:r>
          </a:p>
        </p:txBody>
      </p:sp>
      <p:sp>
        <p:nvSpPr>
          <p:cNvPr id="4" name="灯片编号占位符 3">
            <a:extLst>
              <a:ext uri="{FF2B5EF4-FFF2-40B4-BE49-F238E27FC236}">
                <a16:creationId xmlns:a16="http://schemas.microsoft.com/office/drawing/2014/main" id="{67510993-1D86-7245-967B-DD364DBCF83A}"/>
              </a:ext>
            </a:extLst>
          </p:cNvPr>
          <p:cNvSpPr>
            <a:spLocks noGrp="1"/>
          </p:cNvSpPr>
          <p:nvPr>
            <p:ph type="sldNum" sz="quarter" idx="12"/>
          </p:nvPr>
        </p:nvSpPr>
        <p:spPr/>
        <p:txBody>
          <a:bodyPr/>
          <a:lstStyle/>
          <a:p>
            <a:fld id="{C46E5E69-9A6D-4AF8-BC2D-C556A9893D8F}" type="slidenum">
              <a:rPr lang="zh-CN" altLang="en-US" smtClean="0"/>
              <a:pPr/>
              <a:t>49</a:t>
            </a:fld>
            <a:endParaRPr lang="zh-CN" altLang="en-US" dirty="0"/>
          </a:p>
        </p:txBody>
      </p:sp>
    </p:spTree>
    <p:extLst>
      <p:ext uri="{BB962C8B-B14F-4D97-AF65-F5344CB8AC3E}">
        <p14:creationId xmlns:p14="http://schemas.microsoft.com/office/powerpoint/2010/main" val="1100955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628304"/>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2.27  </a:t>
            </a:r>
            <a:r>
              <a:rPr lang="zh-CN" altLang="zh-CN" sz="2000" dirty="0"/>
              <a:t>查询至少购买王珊和雍俊海的书的客户的户号和户名</a:t>
            </a:r>
          </a:p>
        </p:txBody>
      </p:sp>
      <p:sp>
        <p:nvSpPr>
          <p:cNvPr id="20" name="AutoShape 343"/>
          <p:cNvSpPr>
            <a:spLocks noChangeArrowheads="1"/>
          </p:cNvSpPr>
          <p:nvPr/>
        </p:nvSpPr>
        <p:spPr bwMode="auto">
          <a:xfrm rot="-5400000">
            <a:off x="5094056" y="1754816"/>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3" name="AutoShape 343"/>
          <p:cNvSpPr>
            <a:spLocks noChangeArrowheads="1"/>
          </p:cNvSpPr>
          <p:nvPr/>
        </p:nvSpPr>
        <p:spPr bwMode="auto">
          <a:xfrm rot="-5400000">
            <a:off x="5526104" y="2069512"/>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3" name="文本占位符 2"/>
          <p:cNvSpPr txBox="1">
            <a:spLocks/>
          </p:cNvSpPr>
          <p:nvPr/>
        </p:nvSpPr>
        <p:spPr>
          <a:xfrm>
            <a:off x="98326" y="3007157"/>
            <a:ext cx="8784976" cy="1060352"/>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t>思考</a:t>
            </a:r>
            <a:r>
              <a:rPr lang="en-US" altLang="zh-CN" sz="2000" dirty="0"/>
              <a:t>1</a:t>
            </a:r>
            <a:r>
              <a:rPr lang="zh-CN" altLang="zh-CN" sz="2000" dirty="0"/>
              <a:t>：如下关系代数表达式是否正确？</a:t>
            </a:r>
          </a:p>
        </p:txBody>
      </p:sp>
      <mc:AlternateContent xmlns:mc="http://schemas.openxmlformats.org/markup-compatibility/2006" xmlns:a14="http://schemas.microsoft.com/office/drawing/2010/main">
        <mc:Choice Requires="a14">
          <p:sp>
            <p:nvSpPr>
              <p:cNvPr id="12" name="矩形 11"/>
              <p:cNvSpPr/>
              <p:nvPr/>
            </p:nvSpPr>
            <p:spPr>
              <a:xfrm>
                <a:off x="1115616" y="3969891"/>
                <a:ext cx="6893362" cy="4773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𝐶𝑁𝑜</m:t>
                          </m:r>
                          <m:r>
                            <a:rPr lang="en-US" altLang="zh-CN" sz="2000" i="1">
                              <a:latin typeface="Cambria Math"/>
                            </a:rPr>
                            <m:t>,</m:t>
                          </m:r>
                          <m:r>
                            <a:rPr lang="en-US" altLang="zh-CN" sz="2000" i="1">
                              <a:latin typeface="Cambria Math"/>
                            </a:rPr>
                            <m:t>𝐶𝑁𝑎𝑚𝑒</m:t>
                          </m:r>
                          <m:r>
                            <a:rPr lang="en-US" altLang="zh-CN" sz="2000" i="1">
                              <a:latin typeface="Cambria Math"/>
                            </a:rPr>
                            <m:t> </m:t>
                          </m:r>
                        </m:sub>
                      </m:sSub>
                      <m:r>
                        <a:rPr lang="en-US" altLang="zh-CN" sz="2000" i="1">
                          <a:latin typeface="Cambria Math"/>
                        </a:rPr>
                        <m:t>(</m:t>
                      </m:r>
                      <m:sSub>
                        <m:sSubPr>
                          <m:ctrlPr>
                            <a:rPr lang="zh-CN" altLang="zh-CN" sz="2000" i="1">
                              <a:latin typeface="Cambria Math" panose="02040503050406030204" pitchFamily="18" charset="0"/>
                            </a:rPr>
                          </m:ctrlPr>
                        </m:sSubPr>
                        <m:e>
                          <m:r>
                            <a:rPr lang="en-US" altLang="zh-CN" sz="2000" i="1">
                              <a:latin typeface="Cambria Math"/>
                            </a:rPr>
                            <m:t>𝜎</m:t>
                          </m:r>
                        </m:e>
                        <m:sub>
                          <m:r>
                            <a:rPr lang="en-US" altLang="zh-CN" sz="2000" i="1">
                              <a:latin typeface="Cambria Math"/>
                            </a:rPr>
                            <m:t>𝐴𝑢𝑡h𝑜𝑟</m:t>
                          </m:r>
                          <m:r>
                            <a:rPr lang="en-US" altLang="zh-CN" sz="2000" i="1">
                              <a:latin typeface="Cambria Math"/>
                            </a:rPr>
                            <m:t>=</m:t>
                          </m:r>
                          <m:r>
                            <m:rPr>
                              <m:nor/>
                            </m:rPr>
                            <a:rPr lang="en-US" altLang="zh-CN" sz="2000"/>
                            <m:t> "</m:t>
                          </m:r>
                          <m:r>
                            <m:rPr>
                              <m:nor/>
                            </m:rPr>
                            <a:rPr lang="zh-CN" altLang="zh-CN" sz="2000"/>
                            <m:t>王珊</m:t>
                          </m:r>
                          <m:r>
                            <m:rPr>
                              <m:nor/>
                            </m:rPr>
                            <a:rPr lang="en-US" altLang="zh-CN" sz="2000"/>
                            <m:t>"</m:t>
                          </m:r>
                          <m:r>
                            <a:rPr lang="zh-CN" altLang="en-US" sz="2000" i="1" smtClean="0">
                              <a:latin typeface="Cambria Math"/>
                            </a:rPr>
                            <m:t>∧</m:t>
                          </m:r>
                          <m:r>
                            <a:rPr lang="en-US" altLang="zh-CN" sz="2000" i="1">
                              <a:latin typeface="Cambria Math"/>
                            </a:rPr>
                            <m:t>𝐴𝑢𝑡h𝑜𝑟</m:t>
                          </m:r>
                          <m:r>
                            <a:rPr lang="en-US" altLang="zh-CN" sz="2000" i="1">
                              <a:latin typeface="Cambria Math"/>
                            </a:rPr>
                            <m:t>=</m:t>
                          </m:r>
                          <m:r>
                            <m:rPr>
                              <m:nor/>
                            </m:rPr>
                            <a:rPr lang="en-US" altLang="zh-CN" sz="2000"/>
                            <m:t> "</m:t>
                          </m:r>
                          <m:r>
                            <m:rPr>
                              <m:nor/>
                            </m:rPr>
                            <a:rPr lang="zh-CN" altLang="zh-CN" sz="2000"/>
                            <m:t>雍俊海</m:t>
                          </m:r>
                          <m:r>
                            <m:rPr>
                              <m:nor/>
                            </m:rPr>
                            <a:rPr lang="en-US" altLang="zh-CN" sz="2000"/>
                            <m:t>"</m:t>
                          </m:r>
                        </m:sub>
                      </m:sSub>
                      <m:d>
                        <m:dPr>
                          <m:ctrlPr>
                            <a:rPr lang="zh-CN" altLang="zh-CN" sz="2000" i="1">
                              <a:latin typeface="Cambria Math" panose="02040503050406030204" pitchFamily="18" charset="0"/>
                            </a:rPr>
                          </m:ctrlPr>
                        </m:dPr>
                        <m:e>
                          <m:r>
                            <a:rPr lang="en-US" altLang="zh-CN" sz="2000" i="1">
                              <a:latin typeface="Cambria Math"/>
                            </a:rPr>
                            <m:t>𝐶𝑢𝑠𝑡</m:t>
                          </m:r>
                          <m:r>
                            <a:rPr lang="en-US" altLang="zh-CN" sz="2000" i="1">
                              <a:latin typeface="Cambria Math"/>
                            </a:rPr>
                            <m:t>        </m:t>
                          </m:r>
                          <m:r>
                            <a:rPr lang="en-US" altLang="zh-CN" sz="2000" i="1">
                              <a:latin typeface="Cambria Math"/>
                            </a:rPr>
                            <m:t>𝐵𝑢𝑦</m:t>
                          </m:r>
                        </m:e>
                      </m:d>
                      <m:r>
                        <a:rPr lang="en-US" altLang="zh-CN" sz="2000" i="1">
                          <a:latin typeface="Cambria Math"/>
                        </a:rPr>
                        <m:t> )</m:t>
                      </m:r>
                    </m:oMath>
                  </m:oMathPara>
                </a14:m>
                <a:endParaRPr lang="zh-CN" altLang="en-US" sz="2000" dirty="0"/>
              </a:p>
            </p:txBody>
          </p:sp>
        </mc:Choice>
        <mc:Fallback xmlns="">
          <p:sp>
            <p:nvSpPr>
              <p:cNvPr id="12" name="矩形 11"/>
              <p:cNvSpPr>
                <a:spLocks noRot="1" noChangeAspect="1" noMove="1" noResize="1" noEditPoints="1" noAdjustHandles="1" noChangeArrowheads="1" noChangeShapeType="1" noTextEdit="1"/>
              </p:cNvSpPr>
              <p:nvPr/>
            </p:nvSpPr>
            <p:spPr>
              <a:xfrm>
                <a:off x="1115616" y="3969891"/>
                <a:ext cx="6893362" cy="477310"/>
              </a:xfrm>
              <a:prstGeom prst="rect">
                <a:avLst/>
              </a:prstGeom>
              <a:blipFill rotWithShape="1">
                <a:blip r:embed="rId3"/>
                <a:stretch>
                  <a:fillRect b="-12658"/>
                </a:stretch>
              </a:blipFill>
            </p:spPr>
            <p:txBody>
              <a:bodyPr/>
              <a:lstStyle/>
              <a:p>
                <a:r>
                  <a:rPr lang="zh-CN" altLang="en-US">
                    <a:noFill/>
                  </a:rPr>
                  <a:t> </a:t>
                </a:r>
              </a:p>
            </p:txBody>
          </p:sp>
        </mc:Fallback>
      </mc:AlternateContent>
      <p:sp>
        <p:nvSpPr>
          <p:cNvPr id="18" name="AutoShape 343"/>
          <p:cNvSpPr>
            <a:spLocks noChangeArrowheads="1"/>
          </p:cNvSpPr>
          <p:nvPr/>
        </p:nvSpPr>
        <p:spPr bwMode="auto">
          <a:xfrm rot="-5400000">
            <a:off x="6966264" y="4100546"/>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8" name="矩形 7"/>
              <p:cNvSpPr/>
              <p:nvPr/>
            </p:nvSpPr>
            <p:spPr>
              <a:xfrm>
                <a:off x="1440159" y="1679321"/>
                <a:ext cx="5385477" cy="7772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r>
                            <a:rPr lang="en-US" altLang="zh-CN" i="1">
                              <a:latin typeface="Cambria Math"/>
                            </a:rPr>
                            <m:t>,</m:t>
                          </m:r>
                          <m:r>
                            <a:rPr lang="en-US" altLang="zh-CN" i="1">
                              <a:latin typeface="Cambria Math"/>
                            </a:rPr>
                            <m:t>𝐶𝑁𝑎𝑚𝑒</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𝐴𝑢𝑡h𝑜𝑟</m:t>
                          </m:r>
                          <m:r>
                            <a:rPr lang="en-US" altLang="zh-CN" i="1">
                              <a:latin typeface="Cambria Math"/>
                            </a:rPr>
                            <m:t>=</m:t>
                          </m:r>
                          <m:r>
                            <m:rPr>
                              <m:nor/>
                            </m:rPr>
                            <a:rPr lang="en-US" altLang="zh-CN"/>
                            <m:t> "</m:t>
                          </m:r>
                          <m:r>
                            <m:rPr>
                              <m:nor/>
                            </m:rPr>
                            <a:rPr lang="zh-CN" altLang="zh-CN"/>
                            <m:t>王珊</m:t>
                          </m:r>
                          <m:r>
                            <m:rPr>
                              <m:nor/>
                            </m:rPr>
                            <a:rPr lang="en-US" altLang="zh-CN"/>
                            <m:t>"</m:t>
                          </m:r>
                        </m:sub>
                      </m:sSub>
                      <m:d>
                        <m:dPr>
                          <m:ctrlPr>
                            <a:rPr lang="zh-CN" altLang="zh-CN" i="1">
                              <a:latin typeface="Cambria Math" panose="02040503050406030204" pitchFamily="18" charset="0"/>
                            </a:rPr>
                          </m:ctrlPr>
                        </m:dPr>
                        <m:e>
                          <m:r>
                            <a:rPr lang="en-US" altLang="zh-CN" i="1">
                              <a:latin typeface="Cambria Math"/>
                            </a:rPr>
                            <m:t>𝐶𝑢𝑠𝑡</m:t>
                          </m:r>
                          <m:r>
                            <a:rPr lang="en-US" altLang="zh-CN" i="1">
                              <a:latin typeface="Cambria Math"/>
                            </a:rPr>
                            <m:t>        </m:t>
                          </m:r>
                          <m:r>
                            <a:rPr lang="en-US" altLang="zh-CN" i="1">
                              <a:latin typeface="Cambria Math"/>
                            </a:rPr>
                            <m:t>𝐵𝑢𝑦</m:t>
                          </m:r>
                        </m:e>
                      </m:d>
                      <m:r>
                        <a:rPr lang="en-US" altLang="zh-CN" i="1">
                          <a:latin typeface="Cambria Math"/>
                        </a:rPr>
                        <m:t> )∩</m:t>
                      </m:r>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r>
                            <a:rPr lang="en-US" altLang="zh-CN" i="1">
                              <a:latin typeface="Cambria Math"/>
                            </a:rPr>
                            <m:t>,</m:t>
                          </m:r>
                          <m:r>
                            <a:rPr lang="en-US" altLang="zh-CN" i="1">
                              <a:latin typeface="Cambria Math"/>
                            </a:rPr>
                            <m:t>𝐶𝑁𝑎𝑚𝑒</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𝜎</m:t>
                          </m:r>
                        </m:e>
                        <m:sub>
                          <m:r>
                            <a:rPr lang="en-US" altLang="zh-CN" i="1">
                              <a:latin typeface="Cambria Math"/>
                            </a:rPr>
                            <m:t>𝐴𝑢𝑡h𝑜𝑟</m:t>
                          </m:r>
                          <m:r>
                            <a:rPr lang="en-US" altLang="zh-CN" i="1">
                              <a:latin typeface="Cambria Math"/>
                            </a:rPr>
                            <m:t>=</m:t>
                          </m:r>
                          <m:r>
                            <m:rPr>
                              <m:nor/>
                            </m:rPr>
                            <a:rPr lang="en-US" altLang="zh-CN"/>
                            <m:t> "</m:t>
                          </m:r>
                          <m:r>
                            <m:rPr>
                              <m:nor/>
                            </m:rPr>
                            <a:rPr lang="zh-CN" altLang="zh-CN"/>
                            <m:t>雍俊海</m:t>
                          </m:r>
                          <m:r>
                            <m:rPr>
                              <m:nor/>
                            </m:rPr>
                            <a:rPr lang="en-US" altLang="zh-CN"/>
                            <m:t>"</m:t>
                          </m:r>
                        </m:sub>
                      </m:sSub>
                      <m:d>
                        <m:dPr>
                          <m:ctrlPr>
                            <a:rPr lang="zh-CN" altLang="zh-CN" i="1">
                              <a:latin typeface="Cambria Math" panose="02040503050406030204" pitchFamily="18" charset="0"/>
                            </a:rPr>
                          </m:ctrlPr>
                        </m:dPr>
                        <m:e>
                          <m:r>
                            <a:rPr lang="en-US" altLang="zh-CN" i="1">
                              <a:latin typeface="Cambria Math"/>
                            </a:rPr>
                            <m:t>𝐶𝑢𝑠𝑡</m:t>
                          </m:r>
                          <m:r>
                            <a:rPr lang="en-US" altLang="zh-CN" i="1">
                              <a:latin typeface="Cambria Math"/>
                            </a:rPr>
                            <m:t>        </m:t>
                          </m:r>
                          <m:r>
                            <a:rPr lang="en-US" altLang="zh-CN" i="1">
                              <a:latin typeface="Cambria Math"/>
                            </a:rPr>
                            <m:t>𝐵𝑢𝑦</m:t>
                          </m:r>
                        </m:e>
                      </m:d>
                      <m:r>
                        <a:rPr lang="en-US" altLang="zh-CN" i="1">
                          <a:latin typeface="Cambria Math"/>
                        </a:rPr>
                        <m:t> )</m:t>
                      </m:r>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1440159" y="1679321"/>
                <a:ext cx="5385477" cy="777200"/>
              </a:xfrm>
              <a:prstGeom prst="rect">
                <a:avLst/>
              </a:prstGeom>
              <a:blipFill rotWithShape="1">
                <a:blip r:embed="rId4"/>
                <a:stretch>
                  <a:fillRect b="-7813"/>
                </a:stretch>
              </a:blipFill>
            </p:spPr>
            <p:txBody>
              <a:bodyPr/>
              <a:lstStyle/>
              <a:p>
                <a:r>
                  <a:rPr lang="zh-CN" altLang="en-US">
                    <a:noFill/>
                  </a:rPr>
                  <a:t> </a:t>
                </a:r>
              </a:p>
            </p:txBody>
          </p:sp>
        </mc:Fallback>
      </mc:AlternateContent>
      <p:sp>
        <p:nvSpPr>
          <p:cNvPr id="14" name="文本占位符 2"/>
          <p:cNvSpPr txBox="1">
            <a:spLocks/>
          </p:cNvSpPr>
          <p:nvPr/>
        </p:nvSpPr>
        <p:spPr>
          <a:xfrm>
            <a:off x="169809" y="4653136"/>
            <a:ext cx="8784976" cy="1060352"/>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t>思考</a:t>
            </a:r>
            <a:r>
              <a:rPr lang="en-US" altLang="zh-CN" sz="2000" dirty="0"/>
              <a:t>2</a:t>
            </a:r>
            <a:r>
              <a:rPr lang="zh-CN" altLang="zh-CN" sz="2000" dirty="0"/>
              <a:t>：查询仅购买王珊和雍俊海的图书的客户的户号和户名</a:t>
            </a:r>
          </a:p>
          <a:p>
            <a:r>
              <a:rPr lang="zh-CN" altLang="zh-CN" sz="2000" dirty="0"/>
              <a:t>思考</a:t>
            </a:r>
            <a:r>
              <a:rPr lang="en-US" altLang="zh-CN" sz="2000" dirty="0"/>
              <a:t>3</a:t>
            </a:r>
            <a:r>
              <a:rPr lang="zh-CN" altLang="zh-CN" sz="2000" dirty="0"/>
              <a:t>：查询购买除王珊和雍俊海之外的图书的客户的户号和户名</a:t>
            </a:r>
          </a:p>
        </p:txBody>
      </p:sp>
      <p:sp>
        <p:nvSpPr>
          <p:cNvPr id="15" name="TextBox 14"/>
          <p:cNvSpPr txBox="1"/>
          <p:nvPr/>
        </p:nvSpPr>
        <p:spPr>
          <a:xfrm>
            <a:off x="7239503" y="1883255"/>
            <a:ext cx="415498" cy="369332"/>
          </a:xfrm>
          <a:prstGeom prst="rect">
            <a:avLst/>
          </a:prstGeom>
          <a:noFill/>
        </p:spPr>
        <p:txBody>
          <a:bodyPr wrap="none" rtlCol="0">
            <a:spAutoFit/>
          </a:bodyPr>
          <a:lstStyle/>
          <a:p>
            <a:r>
              <a:rPr lang="zh-CN" altLang="en-US" dirty="0"/>
              <a:t>？</a:t>
            </a:r>
          </a:p>
        </p:txBody>
      </p:sp>
      <p:sp>
        <p:nvSpPr>
          <p:cNvPr id="4" name="灯片编号占位符 3">
            <a:extLst>
              <a:ext uri="{FF2B5EF4-FFF2-40B4-BE49-F238E27FC236}">
                <a16:creationId xmlns:a16="http://schemas.microsoft.com/office/drawing/2014/main" id="{91F58600-53BA-F446-B3DB-29035A569385}"/>
              </a:ext>
            </a:extLst>
          </p:cNvPr>
          <p:cNvSpPr>
            <a:spLocks noGrp="1"/>
          </p:cNvSpPr>
          <p:nvPr>
            <p:ph type="sldNum" sz="quarter" idx="12"/>
          </p:nvPr>
        </p:nvSpPr>
        <p:spPr/>
        <p:txBody>
          <a:bodyPr/>
          <a:lstStyle/>
          <a:p>
            <a:fld id="{C46E5E69-9A6D-4AF8-BC2D-C556A9893D8F}" type="slidenum">
              <a:rPr lang="zh-CN" altLang="en-US" smtClean="0"/>
              <a:pPr/>
              <a:t>50</a:t>
            </a:fld>
            <a:endParaRPr lang="zh-CN" altLang="en-US" dirty="0"/>
          </a:p>
        </p:txBody>
      </p:sp>
    </p:spTree>
    <p:extLst>
      <p:ext uri="{BB962C8B-B14F-4D97-AF65-F5344CB8AC3E}">
        <p14:creationId xmlns:p14="http://schemas.microsoft.com/office/powerpoint/2010/main" val="5214458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1060352"/>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2.28  </a:t>
            </a:r>
            <a:r>
              <a:rPr lang="zh-CN" altLang="zh-CN" sz="2000" dirty="0"/>
              <a:t>查询购买过图书的客户的户名和邮箱</a:t>
            </a:r>
          </a:p>
        </p:txBody>
      </p:sp>
      <p:sp>
        <p:nvSpPr>
          <p:cNvPr id="23" name="AutoShape 343"/>
          <p:cNvSpPr>
            <a:spLocks noChangeArrowheads="1"/>
          </p:cNvSpPr>
          <p:nvPr/>
        </p:nvSpPr>
        <p:spPr bwMode="auto">
          <a:xfrm rot="-5400000">
            <a:off x="4229960" y="2071597"/>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7" name="矩形 6"/>
              <p:cNvSpPr/>
              <p:nvPr/>
            </p:nvSpPr>
            <p:spPr>
              <a:xfrm>
                <a:off x="1650975" y="1988840"/>
                <a:ext cx="3636637" cy="381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𝐶𝑁𝑎𝑚𝑒</m:t>
                          </m:r>
                          <m:r>
                            <a:rPr lang="en-US" altLang="zh-CN" i="1">
                              <a:latin typeface="Cambria Math"/>
                            </a:rPr>
                            <m:t>,</m:t>
                          </m:r>
                          <m:r>
                            <a:rPr lang="en-US" altLang="zh-CN" i="1">
                              <a:latin typeface="Cambria Math"/>
                            </a:rPr>
                            <m:t>𝐸𝑚𝑎𝑖𝑙</m:t>
                          </m:r>
                          <m:r>
                            <a:rPr lang="en-US" altLang="zh-CN" i="1">
                              <a:latin typeface="Cambria Math"/>
                            </a:rPr>
                            <m:t> </m:t>
                          </m:r>
                        </m:sub>
                      </m:sSub>
                      <m:r>
                        <a:rPr lang="en-US" altLang="zh-CN" i="1">
                          <a:latin typeface="Cambria Math"/>
                        </a:rPr>
                        <m:t>(</m:t>
                      </m:r>
                      <m:sSub>
                        <m:sSubPr>
                          <m:ctrlPr>
                            <a:rPr lang="zh-CN" altLang="zh-CN" i="1">
                              <a:latin typeface="Cambria Math" panose="02040503050406030204" pitchFamily="18" charset="0"/>
                            </a:rPr>
                          </m:ctrlPr>
                        </m:sSubPr>
                        <m:e>
                          <m:r>
                            <a:rPr lang="en-US" altLang="zh-CN" i="1">
                              <a:latin typeface="Cambria Math"/>
                            </a:rPr>
                            <m:t>𝜋</m:t>
                          </m:r>
                        </m:e>
                        <m:sub>
                          <m:r>
                            <a:rPr lang="en-US" altLang="zh-CN" i="1">
                              <a:latin typeface="Cambria Math"/>
                            </a:rPr>
                            <m:t>𝐶𝑁𝑜</m:t>
                          </m:r>
                        </m:sub>
                      </m:sSub>
                      <m:d>
                        <m:dPr>
                          <m:ctrlPr>
                            <a:rPr lang="zh-CN" altLang="zh-CN" i="1">
                              <a:latin typeface="Cambria Math" panose="02040503050406030204" pitchFamily="18" charset="0"/>
                            </a:rPr>
                          </m:ctrlPr>
                        </m:dPr>
                        <m:e>
                          <m:r>
                            <a:rPr lang="en-US" altLang="zh-CN" i="1">
                              <a:latin typeface="Cambria Math"/>
                            </a:rPr>
                            <m:t>𝐵𝑢𝑦</m:t>
                          </m:r>
                        </m:e>
                      </m:d>
                      <m:r>
                        <a:rPr lang="en-US" altLang="zh-CN" i="1">
                          <a:latin typeface="Cambria Math"/>
                        </a:rPr>
                        <m:t>        </m:t>
                      </m:r>
                      <m:r>
                        <a:rPr lang="en-US" altLang="zh-CN" i="1">
                          <a:latin typeface="Cambria Math"/>
                        </a:rPr>
                        <m:t>𝐶𝑢𝑠𝑡</m:t>
                      </m:r>
                      <m:r>
                        <a:rPr lang="en-US" altLang="zh-CN" i="1">
                          <a:latin typeface="Cambria Math"/>
                        </a:rPr>
                        <m:t> )</m:t>
                      </m:r>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650975" y="1988840"/>
                <a:ext cx="3636637" cy="381515"/>
              </a:xfrm>
              <a:prstGeom prst="rect">
                <a:avLst/>
              </a:prstGeom>
              <a:blipFill rotWithShape="1">
                <a:blip r:embed="rId3"/>
                <a:stretch>
                  <a:fillRect b="-952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BA801024-4C4C-CD48-A8CD-7BDBAD976C20}"/>
              </a:ext>
            </a:extLst>
          </p:cNvPr>
          <p:cNvSpPr>
            <a:spLocks noGrp="1"/>
          </p:cNvSpPr>
          <p:nvPr>
            <p:ph type="sldNum" sz="quarter" idx="12"/>
          </p:nvPr>
        </p:nvSpPr>
        <p:spPr/>
        <p:txBody>
          <a:bodyPr/>
          <a:lstStyle/>
          <a:p>
            <a:fld id="{C46E5E69-9A6D-4AF8-BC2D-C556A9893D8F}" type="slidenum">
              <a:rPr lang="zh-CN" altLang="en-US" smtClean="0"/>
              <a:pPr/>
              <a:t>51</a:t>
            </a:fld>
            <a:endParaRPr lang="zh-CN" altLang="en-US" dirty="0"/>
          </a:p>
        </p:txBody>
      </p:sp>
    </p:spTree>
    <p:extLst>
      <p:ext uri="{BB962C8B-B14F-4D97-AF65-F5344CB8AC3E}">
        <p14:creationId xmlns:p14="http://schemas.microsoft.com/office/powerpoint/2010/main" val="395548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1060352"/>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2.29  </a:t>
            </a:r>
            <a:r>
              <a:rPr lang="zh-CN" altLang="zh-CN" sz="2000" dirty="0"/>
              <a:t>查询没有购买任何图书的客户的户名、性别、生日、电话和邮箱</a:t>
            </a:r>
          </a:p>
        </p:txBody>
      </p:sp>
      <p:sp>
        <p:nvSpPr>
          <p:cNvPr id="20" name="AutoShape 343"/>
          <p:cNvSpPr>
            <a:spLocks noChangeArrowheads="1"/>
          </p:cNvSpPr>
          <p:nvPr/>
        </p:nvSpPr>
        <p:spPr bwMode="auto">
          <a:xfrm rot="-5400000">
            <a:off x="7182288" y="2169958"/>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7" name="矩形 6"/>
              <p:cNvSpPr/>
              <p:nvPr/>
            </p:nvSpPr>
            <p:spPr>
              <a:xfrm>
                <a:off x="899592" y="2060848"/>
                <a:ext cx="7314566" cy="434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𝐶𝑁𝑎𝑚𝑒</m:t>
                          </m:r>
                          <m:r>
                            <a:rPr lang="en-US" altLang="zh-CN" sz="2000" i="1">
                              <a:latin typeface="Cambria Math"/>
                            </a:rPr>
                            <m:t>,</m:t>
                          </m:r>
                          <m:r>
                            <a:rPr lang="en-US" altLang="zh-CN" sz="2000" i="1">
                              <a:latin typeface="Cambria Math"/>
                            </a:rPr>
                            <m:t>𝐶𝑆𝑒𝑥</m:t>
                          </m:r>
                          <m:r>
                            <a:rPr lang="en-US" altLang="zh-CN" sz="2000" i="1">
                              <a:latin typeface="Cambria Math"/>
                            </a:rPr>
                            <m:t>,</m:t>
                          </m:r>
                          <m:r>
                            <a:rPr lang="en-US" altLang="zh-CN" sz="2000" i="1">
                              <a:latin typeface="Cambria Math"/>
                            </a:rPr>
                            <m:t>𝐵𝑖𝑟𝑡h</m:t>
                          </m:r>
                          <m:r>
                            <a:rPr lang="en-US" altLang="zh-CN" sz="2000" i="1">
                              <a:latin typeface="Cambria Math"/>
                            </a:rPr>
                            <m:t>,</m:t>
                          </m:r>
                          <m:r>
                            <a:rPr lang="en-US" altLang="zh-CN" sz="2000" i="1">
                              <a:latin typeface="Cambria Math"/>
                            </a:rPr>
                            <m:t>𝑃h𝑜𝑛𝑒</m:t>
                          </m:r>
                          <m:r>
                            <a:rPr lang="en-US" altLang="zh-CN" sz="2000" i="1">
                              <a:latin typeface="Cambria Math"/>
                            </a:rPr>
                            <m:t>,</m:t>
                          </m:r>
                          <m:r>
                            <a:rPr lang="en-US" altLang="zh-CN" sz="2000" i="1">
                              <a:latin typeface="Cambria Math"/>
                            </a:rPr>
                            <m:t>𝐸𝑚𝑎𝑖𝑙</m:t>
                          </m:r>
                          <m:r>
                            <a:rPr lang="en-US" altLang="zh-CN" sz="2000" i="1">
                              <a:latin typeface="Cambria Math"/>
                            </a:rPr>
                            <m:t> </m:t>
                          </m:r>
                        </m:sub>
                      </m:sSub>
                      <m:r>
                        <a:rPr lang="en-US" altLang="zh-CN" sz="2000" i="1">
                          <a:latin typeface="Cambria Math"/>
                        </a:rPr>
                        <m:t>(</m:t>
                      </m:r>
                      <m:sSub>
                        <m:sSubPr>
                          <m:ctrlPr>
                            <a:rPr lang="zh-CN" altLang="zh-CN" sz="2000" i="1">
                              <a:latin typeface="Cambria Math" panose="02040503050406030204" pitchFamily="18" charset="0"/>
                            </a:rPr>
                          </m:ctrlPr>
                        </m:sSubPr>
                        <m:e>
                          <m:r>
                            <a:rPr lang="en-US" altLang="zh-CN" sz="2000" i="1">
                              <a:latin typeface="Cambria Math"/>
                            </a:rPr>
                            <m:t>(</m:t>
                          </m:r>
                          <m:r>
                            <a:rPr lang="en-US" altLang="zh-CN" sz="2000" i="1">
                              <a:latin typeface="Cambria Math"/>
                            </a:rPr>
                            <m:t>𝜋</m:t>
                          </m:r>
                        </m:e>
                        <m:sub>
                          <m:r>
                            <a:rPr lang="en-US" altLang="zh-CN" sz="2000" i="1">
                              <a:latin typeface="Cambria Math"/>
                            </a:rPr>
                            <m:t>𝐶𝑁𝑜</m:t>
                          </m:r>
                        </m:sub>
                      </m:sSub>
                      <m:r>
                        <a:rPr lang="en-US" altLang="zh-CN" sz="2000" i="1">
                          <a:latin typeface="Cambria Math"/>
                        </a:rPr>
                        <m:t>(</m:t>
                      </m:r>
                      <m:sSub>
                        <m:sSubPr>
                          <m:ctrlPr>
                            <a:rPr lang="zh-CN" altLang="zh-CN" sz="2000" i="1">
                              <a:latin typeface="Cambria Math" panose="02040503050406030204" pitchFamily="18" charset="0"/>
                            </a:rPr>
                          </m:ctrlPr>
                        </m:sSubPr>
                        <m:e>
                          <m:r>
                            <a:rPr lang="en-US" altLang="zh-CN" sz="2000" i="1">
                              <a:latin typeface="Cambria Math"/>
                            </a:rPr>
                            <m:t>𝐶𝑢𝑠𝑡</m:t>
                          </m:r>
                          <m:r>
                            <a:rPr lang="en-US" altLang="zh-CN" sz="2000" i="1">
                              <a:latin typeface="Cambria Math"/>
                            </a:rPr>
                            <m:t>)−</m:t>
                          </m:r>
                          <m:r>
                            <a:rPr lang="en-US" altLang="zh-CN" sz="2000" i="1">
                              <a:latin typeface="Cambria Math"/>
                            </a:rPr>
                            <m:t>𝜋</m:t>
                          </m:r>
                        </m:e>
                        <m:sub>
                          <m:r>
                            <a:rPr lang="en-US" altLang="zh-CN" sz="2000" i="1">
                              <a:latin typeface="Cambria Math"/>
                            </a:rPr>
                            <m:t>𝐶𝑁𝑜</m:t>
                          </m:r>
                        </m:sub>
                      </m:sSub>
                      <m:d>
                        <m:dPr>
                          <m:ctrlPr>
                            <a:rPr lang="zh-CN" altLang="zh-CN" sz="2000" i="1">
                              <a:latin typeface="Cambria Math" panose="02040503050406030204" pitchFamily="18" charset="0"/>
                            </a:rPr>
                          </m:ctrlPr>
                        </m:dPr>
                        <m:e>
                          <m:r>
                            <a:rPr lang="en-US" altLang="zh-CN" sz="2000" i="1">
                              <a:latin typeface="Cambria Math"/>
                            </a:rPr>
                            <m:t>𝐵𝑢𝑦</m:t>
                          </m:r>
                        </m:e>
                      </m:d>
                      <m:r>
                        <a:rPr lang="en-US" altLang="zh-CN" sz="2000" i="1">
                          <a:latin typeface="Cambria Math"/>
                        </a:rPr>
                        <m:t>)        </m:t>
                      </m:r>
                      <m:r>
                        <a:rPr lang="en-US" altLang="zh-CN" sz="2000" i="1">
                          <a:latin typeface="Cambria Math"/>
                        </a:rPr>
                        <m:t>𝐶𝑢𝑠𝑡</m:t>
                      </m:r>
                      <m:r>
                        <a:rPr lang="en-US" altLang="zh-CN" sz="2000" i="1">
                          <a:latin typeface="Cambria Math"/>
                        </a:rPr>
                        <m:t>  )</m:t>
                      </m:r>
                    </m:oMath>
                  </m:oMathPara>
                </a14:m>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899592" y="2060848"/>
                <a:ext cx="7314566" cy="434221"/>
              </a:xfrm>
              <a:prstGeom prst="rect">
                <a:avLst/>
              </a:prstGeom>
              <a:blipFill rotWithShape="1">
                <a:blip r:embed="rId3"/>
                <a:stretch>
                  <a:fillRect r="-2669" b="-704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DAB1FFC-4880-EF45-A872-31F42B94286E}"/>
              </a:ext>
            </a:extLst>
          </p:cNvPr>
          <p:cNvSpPr>
            <a:spLocks noGrp="1"/>
          </p:cNvSpPr>
          <p:nvPr>
            <p:ph type="sldNum" sz="quarter" idx="12"/>
          </p:nvPr>
        </p:nvSpPr>
        <p:spPr/>
        <p:txBody>
          <a:bodyPr/>
          <a:lstStyle/>
          <a:p>
            <a:fld id="{C46E5E69-9A6D-4AF8-BC2D-C556A9893D8F}" type="slidenum">
              <a:rPr lang="zh-CN" altLang="en-US" smtClean="0"/>
              <a:pPr/>
              <a:t>52</a:t>
            </a:fld>
            <a:endParaRPr lang="zh-CN" altLang="en-US" dirty="0"/>
          </a:p>
        </p:txBody>
      </p:sp>
    </p:spTree>
    <p:extLst>
      <p:ext uri="{BB962C8B-B14F-4D97-AF65-F5344CB8AC3E}">
        <p14:creationId xmlns:p14="http://schemas.microsoft.com/office/powerpoint/2010/main" val="2510423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zh-CN" dirty="0"/>
              <a:t>综合实例</a:t>
            </a:r>
            <a:endParaRPr lang="zh-CN" altLang="en-US" i="0" u="none" strike="noStrike" kern="2200" baseline="0" dirty="0"/>
          </a:p>
        </p:txBody>
      </p:sp>
      <p:sp>
        <p:nvSpPr>
          <p:cNvPr id="3" name="文本占位符 2"/>
          <p:cNvSpPr>
            <a:spLocks noGrp="1"/>
          </p:cNvSpPr>
          <p:nvPr>
            <p:ph type="body" idx="1"/>
          </p:nvPr>
        </p:nvSpPr>
        <p:spPr>
          <a:xfrm>
            <a:off x="179512" y="1000496"/>
            <a:ext cx="8784976" cy="1060352"/>
          </a:xfrm>
        </p:spPr>
        <p:txBody>
          <a:bodyPr>
            <a:noAutofit/>
          </a:bodyPr>
          <a:lstStyle/>
          <a:p>
            <a:pPr marL="0" indent="0">
              <a:buNone/>
            </a:pPr>
            <a:r>
              <a:rPr lang="zh-CN" altLang="zh-CN" sz="2000" dirty="0">
                <a:solidFill>
                  <a:srgbClr val="0000FF"/>
                </a:solidFill>
              </a:rPr>
              <a:t>例</a:t>
            </a:r>
            <a:r>
              <a:rPr lang="en-US" altLang="zh-CN" sz="2000" dirty="0">
                <a:solidFill>
                  <a:srgbClr val="0000FF"/>
                </a:solidFill>
              </a:rPr>
              <a:t>2.30  </a:t>
            </a:r>
            <a:r>
              <a:rPr lang="zh-CN" altLang="zh-CN" sz="2000" dirty="0"/>
              <a:t>查询购买所有图书的客户的户号、户名和电话</a:t>
            </a:r>
          </a:p>
        </p:txBody>
      </p:sp>
      <p:sp>
        <p:nvSpPr>
          <p:cNvPr id="23" name="AutoShape 343"/>
          <p:cNvSpPr>
            <a:spLocks noChangeArrowheads="1"/>
          </p:cNvSpPr>
          <p:nvPr/>
        </p:nvSpPr>
        <p:spPr bwMode="auto">
          <a:xfrm rot="-5400000">
            <a:off x="5670120" y="2240973"/>
            <a:ext cx="180000" cy="21600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mc:AlternateContent xmlns:mc="http://schemas.openxmlformats.org/markup-compatibility/2006" xmlns:a14="http://schemas.microsoft.com/office/drawing/2010/main">
        <mc:Choice Requires="a14">
          <p:sp>
            <p:nvSpPr>
              <p:cNvPr id="7" name="矩形 6"/>
              <p:cNvSpPr/>
              <p:nvPr/>
            </p:nvSpPr>
            <p:spPr>
              <a:xfrm>
                <a:off x="1187624" y="2124396"/>
                <a:ext cx="5473293" cy="4322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𝜋</m:t>
                          </m:r>
                        </m:e>
                        <m:sub>
                          <m:r>
                            <a:rPr lang="en-US" altLang="zh-CN" sz="2000" i="1">
                              <a:latin typeface="Cambria Math"/>
                            </a:rPr>
                            <m:t>𝐶𝑁𝑜</m:t>
                          </m:r>
                          <m:r>
                            <a:rPr lang="en-US" altLang="zh-CN" sz="2000" i="1">
                              <a:latin typeface="Cambria Math"/>
                            </a:rPr>
                            <m:t>,</m:t>
                          </m:r>
                          <m:r>
                            <a:rPr lang="en-US" altLang="zh-CN" sz="2000" i="1">
                              <a:latin typeface="Cambria Math"/>
                            </a:rPr>
                            <m:t>𝐶𝑁𝑎𝑚𝑒</m:t>
                          </m:r>
                          <m:r>
                            <a:rPr lang="en-US" altLang="zh-CN" sz="2000" i="1">
                              <a:latin typeface="Cambria Math"/>
                            </a:rPr>
                            <m:t>,</m:t>
                          </m:r>
                          <m:r>
                            <a:rPr lang="en-US" altLang="zh-CN" sz="2000" i="1">
                              <a:latin typeface="Cambria Math"/>
                            </a:rPr>
                            <m:t>𝑃h𝑜𝑛𝑒</m:t>
                          </m:r>
                          <m:r>
                            <a:rPr lang="en-US" altLang="zh-CN" sz="2000" i="1">
                              <a:latin typeface="Cambria Math"/>
                            </a:rPr>
                            <m:t> </m:t>
                          </m:r>
                        </m:sub>
                      </m:sSub>
                      <m:r>
                        <a:rPr lang="en-US" altLang="zh-CN" sz="2000" i="1">
                          <a:latin typeface="Cambria Math"/>
                        </a:rPr>
                        <m:t>((</m:t>
                      </m:r>
                      <m:sSub>
                        <m:sSubPr>
                          <m:ctrlPr>
                            <a:rPr lang="zh-CN" altLang="zh-CN" sz="2000" i="1">
                              <a:latin typeface="Cambria Math" panose="02040503050406030204" pitchFamily="18" charset="0"/>
                            </a:rPr>
                          </m:ctrlPr>
                        </m:sSubPr>
                        <m:e>
                          <m:r>
                            <a:rPr lang="en-US" altLang="zh-CN" sz="2000" i="1">
                              <a:latin typeface="Cambria Math"/>
                            </a:rPr>
                            <m:t>𝐵𝑢𝑦</m:t>
                          </m:r>
                          <m:r>
                            <a:rPr lang="en-US" altLang="zh-CN" sz="2000" i="1">
                              <a:latin typeface="Cambria Math"/>
                            </a:rPr>
                            <m:t>÷</m:t>
                          </m:r>
                          <m:r>
                            <a:rPr lang="en-US" altLang="zh-CN" sz="2000" i="1">
                              <a:latin typeface="Cambria Math"/>
                            </a:rPr>
                            <m:t>𝜋</m:t>
                          </m:r>
                        </m:e>
                        <m:sub>
                          <m:r>
                            <a:rPr lang="en-US" altLang="zh-CN" sz="2000" i="1">
                              <a:latin typeface="Cambria Math"/>
                            </a:rPr>
                            <m:t>𝐵𝑁𝑜</m:t>
                          </m:r>
                        </m:sub>
                      </m:sSub>
                      <m:d>
                        <m:dPr>
                          <m:ctrlPr>
                            <a:rPr lang="zh-CN" altLang="zh-CN" sz="2000" i="1">
                              <a:latin typeface="Cambria Math" panose="02040503050406030204" pitchFamily="18" charset="0"/>
                            </a:rPr>
                          </m:ctrlPr>
                        </m:dPr>
                        <m:e>
                          <m:r>
                            <a:rPr lang="en-US" altLang="zh-CN" sz="2000" i="1">
                              <a:latin typeface="Cambria Math"/>
                            </a:rPr>
                            <m:t>𝐵𝑜𝑜𝑘</m:t>
                          </m:r>
                        </m:e>
                      </m:d>
                      <m:r>
                        <a:rPr lang="en-US" altLang="zh-CN" sz="2000" i="1">
                          <a:latin typeface="Cambria Math"/>
                        </a:rPr>
                        <m:t>)       </m:t>
                      </m:r>
                      <m:r>
                        <a:rPr lang="en-US" altLang="zh-CN" sz="2000" i="1">
                          <a:latin typeface="Cambria Math"/>
                        </a:rPr>
                        <m:t>𝐶𝑢𝑠𝑡</m:t>
                      </m:r>
                      <m:r>
                        <a:rPr lang="en-US" altLang="zh-CN" sz="2000" i="1">
                          <a:latin typeface="Cambria Math"/>
                        </a:rPr>
                        <m:t> )</m:t>
                      </m:r>
                    </m:oMath>
                  </m:oMathPara>
                </a14:m>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1187624" y="2124396"/>
                <a:ext cx="5473293" cy="432234"/>
              </a:xfrm>
              <a:prstGeom prst="rect">
                <a:avLst/>
              </a:prstGeom>
              <a:blipFill rotWithShape="1">
                <a:blip r:embed="rId3"/>
                <a:stretch>
                  <a:fillRect r="-1559" b="-704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F840D7C7-BF73-C943-9AA1-0433155A925D}"/>
              </a:ext>
            </a:extLst>
          </p:cNvPr>
          <p:cNvSpPr>
            <a:spLocks noGrp="1"/>
          </p:cNvSpPr>
          <p:nvPr>
            <p:ph type="sldNum" sz="quarter" idx="12"/>
          </p:nvPr>
        </p:nvSpPr>
        <p:spPr/>
        <p:txBody>
          <a:bodyPr/>
          <a:lstStyle/>
          <a:p>
            <a:fld id="{C46E5E69-9A6D-4AF8-BC2D-C556A9893D8F}" type="slidenum">
              <a:rPr lang="zh-CN" altLang="en-US" smtClean="0"/>
              <a:pPr/>
              <a:t>53</a:t>
            </a:fld>
            <a:endParaRPr lang="zh-CN" altLang="en-US" dirty="0"/>
          </a:p>
        </p:txBody>
      </p:sp>
    </p:spTree>
    <p:extLst>
      <p:ext uri="{BB962C8B-B14F-4D97-AF65-F5344CB8AC3E}">
        <p14:creationId xmlns:p14="http://schemas.microsoft.com/office/powerpoint/2010/main" val="2510423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结论</a:t>
            </a:r>
            <a:endParaRPr lang="zh-CN" altLang="en-US" i="0" u="none" strike="noStrike" kern="2200" baseline="0" dirty="0"/>
          </a:p>
        </p:txBody>
      </p:sp>
      <p:sp>
        <p:nvSpPr>
          <p:cNvPr id="3" name="文本占位符 2"/>
          <p:cNvSpPr>
            <a:spLocks noGrp="1"/>
          </p:cNvSpPr>
          <p:nvPr>
            <p:ph type="body" idx="1"/>
          </p:nvPr>
        </p:nvSpPr>
        <p:spPr>
          <a:xfrm>
            <a:off x="179512" y="1340768"/>
            <a:ext cx="8784976" cy="2952328"/>
          </a:xfrm>
        </p:spPr>
        <p:txBody>
          <a:bodyPr>
            <a:noAutofit/>
          </a:bodyPr>
          <a:lstStyle/>
          <a:p>
            <a:pPr lvl="1">
              <a:lnSpc>
                <a:spcPct val="120000"/>
              </a:lnSpc>
              <a:spcAft>
                <a:spcPct val="20000"/>
              </a:spcAft>
            </a:pPr>
            <a:r>
              <a:rPr lang="zh-CN" altLang="en-US" dirty="0">
                <a:solidFill>
                  <a:srgbClr val="0000FF"/>
                </a:solidFill>
              </a:rPr>
              <a:t>满足指定条件的查询：一连接、二选择、三投影</a:t>
            </a:r>
            <a:endParaRPr lang="en-US" altLang="zh-CN" dirty="0">
              <a:solidFill>
                <a:srgbClr val="0000FF"/>
              </a:solidFill>
            </a:endParaRPr>
          </a:p>
          <a:p>
            <a:pPr lvl="1">
              <a:lnSpc>
                <a:spcPct val="120000"/>
              </a:lnSpc>
              <a:spcAft>
                <a:spcPct val="20000"/>
              </a:spcAft>
            </a:pPr>
            <a:endParaRPr lang="zh-CN" altLang="en-US" dirty="0">
              <a:solidFill>
                <a:srgbClr val="0000FF"/>
              </a:solidFill>
            </a:endParaRPr>
          </a:p>
          <a:p>
            <a:pPr lvl="1">
              <a:lnSpc>
                <a:spcPct val="120000"/>
              </a:lnSpc>
              <a:spcAft>
                <a:spcPct val="20000"/>
              </a:spcAft>
            </a:pPr>
            <a:r>
              <a:rPr lang="zh-CN" altLang="en-US" dirty="0">
                <a:solidFill>
                  <a:srgbClr val="0000FF"/>
                </a:solidFill>
              </a:rPr>
              <a:t>不满足指定条件的查询：一全部、二满足、三差集</a:t>
            </a:r>
            <a:endParaRPr lang="en-US" altLang="zh-CN" dirty="0">
              <a:solidFill>
                <a:srgbClr val="0000FF"/>
              </a:solidFill>
            </a:endParaRPr>
          </a:p>
          <a:p>
            <a:pPr lvl="1">
              <a:lnSpc>
                <a:spcPct val="120000"/>
              </a:lnSpc>
              <a:spcAft>
                <a:spcPct val="20000"/>
              </a:spcAft>
            </a:pPr>
            <a:endParaRPr lang="en-US" altLang="zh-CN" dirty="0">
              <a:solidFill>
                <a:srgbClr val="0000FF"/>
              </a:solidFill>
            </a:endParaRPr>
          </a:p>
          <a:p>
            <a:pPr lvl="1">
              <a:lnSpc>
                <a:spcPct val="120000"/>
              </a:lnSpc>
              <a:spcAft>
                <a:spcPct val="20000"/>
              </a:spcAft>
            </a:pPr>
            <a:r>
              <a:rPr lang="zh-CN" altLang="en-US" dirty="0">
                <a:solidFill>
                  <a:srgbClr val="0000FF"/>
                </a:solidFill>
              </a:rPr>
              <a:t>至少满足指定条件的查询：一全部、二条件、三除法</a:t>
            </a:r>
          </a:p>
        </p:txBody>
      </p:sp>
      <p:sp>
        <p:nvSpPr>
          <p:cNvPr id="4" name="灯片编号占位符 3">
            <a:extLst>
              <a:ext uri="{FF2B5EF4-FFF2-40B4-BE49-F238E27FC236}">
                <a16:creationId xmlns:a16="http://schemas.microsoft.com/office/drawing/2014/main" id="{A3A9AE64-2643-5E4B-B517-3728D628CFDF}"/>
              </a:ext>
            </a:extLst>
          </p:cNvPr>
          <p:cNvSpPr>
            <a:spLocks noGrp="1"/>
          </p:cNvSpPr>
          <p:nvPr>
            <p:ph type="sldNum" sz="quarter" idx="12"/>
          </p:nvPr>
        </p:nvSpPr>
        <p:spPr/>
        <p:txBody>
          <a:bodyPr/>
          <a:lstStyle/>
          <a:p>
            <a:fld id="{C46E5E69-9A6D-4AF8-BC2D-C556A9893D8F}" type="slidenum">
              <a:rPr lang="zh-CN" altLang="en-US" smtClean="0"/>
              <a:pPr/>
              <a:t>54</a:t>
            </a:fld>
            <a:endParaRPr lang="zh-CN" altLang="en-US" dirty="0"/>
          </a:p>
        </p:txBody>
      </p:sp>
    </p:spTree>
    <p:extLst>
      <p:ext uri="{BB962C8B-B14F-4D97-AF65-F5344CB8AC3E}">
        <p14:creationId xmlns:p14="http://schemas.microsoft.com/office/powerpoint/2010/main" val="19845893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 </a:t>
            </a:r>
            <a:r>
              <a:rPr lang="zh-CN" altLang="zh-CN" dirty="0"/>
              <a:t>查询优化</a:t>
            </a:r>
            <a:endParaRPr lang="zh-CN" altLang="en-US" i="0" u="none" strike="noStrike" kern="2200" baseline="0" dirty="0"/>
          </a:p>
        </p:txBody>
      </p:sp>
      <p:sp>
        <p:nvSpPr>
          <p:cNvPr id="3" name="文本占位符 2"/>
          <p:cNvSpPr>
            <a:spLocks noGrp="1"/>
          </p:cNvSpPr>
          <p:nvPr>
            <p:ph type="body" idx="1"/>
          </p:nvPr>
        </p:nvSpPr>
        <p:spPr/>
        <p:txBody>
          <a:bodyPr>
            <a:noAutofit/>
          </a:bodyPr>
          <a:lstStyle/>
          <a:p>
            <a:r>
              <a:rPr lang="zh-CN" altLang="zh-CN" dirty="0">
                <a:solidFill>
                  <a:srgbClr val="0000FF"/>
                </a:solidFill>
              </a:rPr>
              <a:t>查询优化器：</a:t>
            </a:r>
            <a:r>
              <a:rPr lang="zh-CN" altLang="zh-CN" dirty="0"/>
              <a:t>对于给定查询，能够自动生成与之对应的多个优化查询方案的程序，并且能够根据查询环境的改变，选择相应的优化方案实施查询。拥有高效的查询优化器是</a:t>
            </a:r>
            <a:r>
              <a:rPr lang="en-US" altLang="zh-CN" dirty="0"/>
              <a:t>DBMS</a:t>
            </a:r>
            <a:r>
              <a:rPr lang="zh-CN" altLang="zh-CN" dirty="0"/>
              <a:t>的一项重要指标，且直接提升</a:t>
            </a:r>
            <a:r>
              <a:rPr lang="en-US" altLang="zh-CN" dirty="0"/>
              <a:t>DBMS</a:t>
            </a:r>
            <a:r>
              <a:rPr lang="zh-CN" altLang="zh-CN" dirty="0"/>
              <a:t>的性能。</a:t>
            </a:r>
          </a:p>
          <a:p>
            <a:r>
              <a:rPr lang="zh-CN" altLang="zh-CN" dirty="0">
                <a:solidFill>
                  <a:srgbClr val="0000FF"/>
                </a:solidFill>
              </a:rPr>
              <a:t>优化器作用：</a:t>
            </a:r>
            <a:r>
              <a:rPr lang="zh-CN" altLang="zh-CN" dirty="0"/>
              <a:t>在执行查询时，</a:t>
            </a:r>
            <a:r>
              <a:rPr lang="en-US" altLang="zh-CN" dirty="0"/>
              <a:t>DBMS</a:t>
            </a:r>
            <a:r>
              <a:rPr lang="zh-CN" altLang="zh-CN" dirty="0"/>
              <a:t>会利用查询优化器自动生成多个查询方案，并选择最优的方案实施查询</a:t>
            </a:r>
            <a:endParaRPr lang="en-US" altLang="zh-CN" dirty="0"/>
          </a:p>
          <a:p>
            <a:endParaRPr lang="en-US" altLang="zh-CN" dirty="0"/>
          </a:p>
          <a:p>
            <a:r>
              <a:rPr lang="zh-CN" altLang="zh-CN" dirty="0">
                <a:solidFill>
                  <a:srgbClr val="0000FF"/>
                </a:solidFill>
              </a:rPr>
              <a:t>查询处理与查询优化</a:t>
            </a:r>
          </a:p>
          <a:p>
            <a:r>
              <a:rPr lang="zh-CN" altLang="zh-CN" dirty="0">
                <a:solidFill>
                  <a:srgbClr val="0000FF"/>
                </a:solidFill>
              </a:rPr>
              <a:t>查询优化等价变换</a:t>
            </a:r>
          </a:p>
          <a:p>
            <a:r>
              <a:rPr lang="zh-CN" altLang="zh-CN" dirty="0">
                <a:solidFill>
                  <a:srgbClr val="0000FF"/>
                </a:solidFill>
              </a:rPr>
              <a:t>查询优化规则</a:t>
            </a:r>
          </a:p>
          <a:p>
            <a:r>
              <a:rPr lang="zh-CN" altLang="zh-CN" dirty="0">
                <a:solidFill>
                  <a:srgbClr val="0000FF"/>
                </a:solidFill>
              </a:rPr>
              <a:t>查询优化方法</a:t>
            </a:r>
          </a:p>
          <a:p>
            <a:endParaRPr lang="zh-CN" altLang="en-US" sz="2000" i="0" u="none" strike="noStrike" kern="100" baseline="0" dirty="0"/>
          </a:p>
        </p:txBody>
      </p:sp>
      <p:sp>
        <p:nvSpPr>
          <p:cNvPr id="4" name="灯片编号占位符 3">
            <a:extLst>
              <a:ext uri="{FF2B5EF4-FFF2-40B4-BE49-F238E27FC236}">
                <a16:creationId xmlns:a16="http://schemas.microsoft.com/office/drawing/2014/main" id="{678CF054-C262-D54F-9040-A0FEB4026605}"/>
              </a:ext>
            </a:extLst>
          </p:cNvPr>
          <p:cNvSpPr>
            <a:spLocks noGrp="1"/>
          </p:cNvSpPr>
          <p:nvPr>
            <p:ph type="sldNum" sz="quarter" idx="12"/>
          </p:nvPr>
        </p:nvSpPr>
        <p:spPr/>
        <p:txBody>
          <a:bodyPr/>
          <a:lstStyle/>
          <a:p>
            <a:fld id="{C46E5E69-9A6D-4AF8-BC2D-C556A9893D8F}" type="slidenum">
              <a:rPr lang="zh-CN" altLang="en-US" smtClean="0"/>
              <a:pPr/>
              <a:t>55</a:t>
            </a:fld>
            <a:endParaRPr lang="zh-CN" altLang="en-US" dirty="0"/>
          </a:p>
        </p:txBody>
      </p:sp>
    </p:spTree>
    <p:extLst>
      <p:ext uri="{BB962C8B-B14F-4D97-AF65-F5344CB8AC3E}">
        <p14:creationId xmlns:p14="http://schemas.microsoft.com/office/powerpoint/2010/main" val="27878902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2.6.1  </a:t>
            </a:r>
            <a:r>
              <a:rPr lang="zh-CN" altLang="zh-CN" dirty="0"/>
              <a:t>查询示例分析</a:t>
            </a:r>
            <a:endParaRPr lang="zh-CN" altLang="en-US" i="0" u="none" strike="noStrike" kern="2200" baseline="0" dirty="0"/>
          </a:p>
        </p:txBody>
      </p:sp>
      <p:sp>
        <p:nvSpPr>
          <p:cNvPr id="3" name="文本占位符 2"/>
          <p:cNvSpPr>
            <a:spLocks noGrp="1"/>
          </p:cNvSpPr>
          <p:nvPr>
            <p:ph type="body" idx="1"/>
          </p:nvPr>
        </p:nvSpPr>
        <p:spPr>
          <a:xfrm>
            <a:off x="457200" y="1124744"/>
            <a:ext cx="8507288" cy="5112568"/>
          </a:xfrm>
        </p:spPr>
        <p:txBody>
          <a:bodyPr>
            <a:noAutofit/>
          </a:bodyPr>
          <a:lstStyle/>
          <a:p>
            <a:r>
              <a:rPr lang="zh-CN" altLang="zh-CN" sz="2000" dirty="0"/>
              <a:t>例</a:t>
            </a:r>
            <a:r>
              <a:rPr lang="en-US" altLang="zh-CN" sz="2000" dirty="0"/>
              <a:t>2.31  </a:t>
            </a:r>
            <a:r>
              <a:rPr lang="zh-CN" altLang="zh-CN" sz="2000" dirty="0"/>
              <a:t>查询在</a:t>
            </a:r>
            <a:r>
              <a:rPr lang="en-US" altLang="zh-CN" sz="2000" dirty="0"/>
              <a:t>2014</a:t>
            </a:r>
            <a:r>
              <a:rPr lang="zh-CN" altLang="zh-CN" sz="2000" dirty="0"/>
              <a:t>年</a:t>
            </a:r>
            <a:r>
              <a:rPr lang="en-US" altLang="zh-CN" sz="2000" dirty="0"/>
              <a:t>10</a:t>
            </a:r>
            <a:r>
              <a:rPr lang="zh-CN" altLang="zh-CN" sz="2000" dirty="0"/>
              <a:t>月</a:t>
            </a:r>
            <a:r>
              <a:rPr lang="en-US" altLang="zh-CN" sz="2000" dirty="0"/>
              <a:t>26</a:t>
            </a:r>
            <a:r>
              <a:rPr lang="zh-CN" altLang="zh-CN" sz="2000" dirty="0"/>
              <a:t>日当天，购买王珊的数据库系统概论的已婚男客户的户号和姓名查询优化器的作用：在执行查询时，</a:t>
            </a:r>
            <a:r>
              <a:rPr lang="en-US" altLang="zh-CN" sz="2000" dirty="0"/>
              <a:t>DBMS</a:t>
            </a:r>
            <a:r>
              <a:rPr lang="zh-CN" altLang="zh-CN" sz="2000" dirty="0"/>
              <a:t>会利用查询优化器自动生成多个查询方案，并选择最优的方案实施查询</a:t>
            </a:r>
            <a:endParaRPr lang="en-US" altLang="zh-CN" sz="2000" dirty="0"/>
          </a:p>
          <a:p>
            <a:r>
              <a:rPr lang="zh-CN" altLang="zh-CN" sz="2000" dirty="0"/>
              <a:t>假设</a:t>
            </a:r>
            <a:r>
              <a:rPr lang="en-US" altLang="zh-CN" sz="2000" dirty="0" err="1"/>
              <a:t>Cust</a:t>
            </a:r>
            <a:r>
              <a:rPr lang="zh-CN" altLang="zh-CN" sz="2000" dirty="0"/>
              <a:t>、</a:t>
            </a:r>
            <a:r>
              <a:rPr lang="en-US" altLang="zh-CN" sz="2000" dirty="0"/>
              <a:t>Buy</a:t>
            </a:r>
            <a:r>
              <a:rPr lang="zh-CN" altLang="zh-CN" sz="2000" dirty="0"/>
              <a:t>和</a:t>
            </a:r>
            <a:r>
              <a:rPr lang="en-US" altLang="zh-CN" sz="2000" dirty="0"/>
              <a:t>Book</a:t>
            </a:r>
            <a:r>
              <a:rPr lang="zh-CN" altLang="zh-CN" sz="2000" dirty="0"/>
              <a:t>的元组个数分别为</a:t>
            </a:r>
            <a:r>
              <a:rPr lang="en-US" altLang="zh-CN" sz="2000" dirty="0"/>
              <a:t>x</a:t>
            </a:r>
            <a:r>
              <a:rPr lang="zh-CN" altLang="zh-CN" sz="2000" dirty="0"/>
              <a:t>、</a:t>
            </a:r>
            <a:r>
              <a:rPr lang="en-US" altLang="zh-CN" sz="2000" dirty="0"/>
              <a:t>y</a:t>
            </a:r>
            <a:r>
              <a:rPr lang="zh-CN" altLang="zh-CN" sz="2000" dirty="0"/>
              <a:t>和</a:t>
            </a:r>
            <a:r>
              <a:rPr lang="en-US" altLang="zh-CN" sz="2000" dirty="0"/>
              <a:t>z</a:t>
            </a:r>
            <a:r>
              <a:rPr lang="zh-CN" altLang="zh-CN" sz="2000" dirty="0"/>
              <a:t>；已婚男客户在</a:t>
            </a:r>
            <a:r>
              <a:rPr lang="en-US" altLang="zh-CN" sz="2000" dirty="0" err="1"/>
              <a:t>Cust</a:t>
            </a:r>
            <a:r>
              <a:rPr lang="zh-CN" altLang="zh-CN" sz="2000" dirty="0"/>
              <a:t>中的元组的个数为</a:t>
            </a:r>
            <a:r>
              <a:rPr lang="en-US" altLang="zh-CN" sz="2000" dirty="0"/>
              <a:t>u</a:t>
            </a:r>
            <a:r>
              <a:rPr lang="zh-CN" altLang="zh-CN" sz="2000" dirty="0"/>
              <a:t>，</a:t>
            </a:r>
            <a:r>
              <a:rPr lang="en-US" altLang="zh-CN" sz="2000" dirty="0"/>
              <a:t>2014</a:t>
            </a:r>
            <a:r>
              <a:rPr lang="zh-CN" altLang="zh-CN" sz="2000" dirty="0"/>
              <a:t>年</a:t>
            </a:r>
            <a:r>
              <a:rPr lang="en-US" altLang="zh-CN" sz="2000" dirty="0"/>
              <a:t>10</a:t>
            </a:r>
            <a:r>
              <a:rPr lang="zh-CN" altLang="zh-CN" sz="2000" dirty="0"/>
              <a:t>月</a:t>
            </a:r>
            <a:r>
              <a:rPr lang="en-US" altLang="zh-CN" sz="2000" dirty="0"/>
              <a:t>26</a:t>
            </a:r>
            <a:r>
              <a:rPr lang="zh-CN" altLang="zh-CN" sz="2000" dirty="0"/>
              <a:t>日当天在</a:t>
            </a:r>
            <a:r>
              <a:rPr lang="en-US" altLang="zh-CN" sz="2000" dirty="0"/>
              <a:t>Buy</a:t>
            </a:r>
            <a:r>
              <a:rPr lang="zh-CN" altLang="zh-CN" sz="2000" dirty="0"/>
              <a:t>中购书的元组的个数为</a:t>
            </a:r>
            <a:r>
              <a:rPr lang="en-US" altLang="zh-CN" sz="2000" dirty="0"/>
              <a:t>v</a:t>
            </a:r>
            <a:r>
              <a:rPr lang="zh-CN" altLang="zh-CN" sz="2000" dirty="0"/>
              <a:t>，王珊的数据库系统概论在</a:t>
            </a:r>
            <a:r>
              <a:rPr lang="en-US" altLang="zh-CN" sz="2000" dirty="0"/>
              <a:t>Book</a:t>
            </a:r>
            <a:r>
              <a:rPr lang="zh-CN" altLang="zh-CN" sz="2000" dirty="0"/>
              <a:t>中的元组的个数为</a:t>
            </a:r>
            <a:r>
              <a:rPr lang="en-US" altLang="zh-CN" sz="2000" dirty="0"/>
              <a:t>w</a:t>
            </a:r>
            <a:r>
              <a:rPr lang="zh-CN" altLang="zh-CN" sz="2000" dirty="0"/>
              <a:t>；</a:t>
            </a:r>
            <a:r>
              <a:rPr lang="en-US" altLang="zh-CN" sz="2000" dirty="0"/>
              <a:t>2014</a:t>
            </a:r>
            <a:r>
              <a:rPr lang="zh-CN" altLang="zh-CN" sz="2000" dirty="0"/>
              <a:t>年</a:t>
            </a:r>
            <a:r>
              <a:rPr lang="en-US" altLang="zh-CN" sz="2000" dirty="0"/>
              <a:t>10</a:t>
            </a:r>
            <a:r>
              <a:rPr lang="zh-CN" altLang="zh-CN" sz="2000" dirty="0"/>
              <a:t>月</a:t>
            </a:r>
            <a:r>
              <a:rPr lang="en-US" altLang="zh-CN" sz="2000" dirty="0"/>
              <a:t>26</a:t>
            </a:r>
            <a:r>
              <a:rPr lang="zh-CN" altLang="zh-CN" sz="2000" dirty="0"/>
              <a:t>日当天，购买王珊的数据库系统概论的已婚男客户的元组个数为</a:t>
            </a:r>
            <a:r>
              <a:rPr lang="en-US" altLang="zh-CN" sz="2000" dirty="0"/>
              <a:t>n</a:t>
            </a:r>
          </a:p>
          <a:p>
            <a:pPr fontAlgn="base"/>
            <a:r>
              <a:rPr lang="en-US" altLang="zh-CN" sz="2000" dirty="0"/>
              <a:t>SELECT </a:t>
            </a:r>
            <a:r>
              <a:rPr lang="en-US" altLang="zh-CN" sz="2000" dirty="0" err="1"/>
              <a:t>Cust.CNo</a:t>
            </a:r>
            <a:r>
              <a:rPr lang="en-US" altLang="zh-CN" sz="2000" dirty="0"/>
              <a:t>, </a:t>
            </a:r>
            <a:r>
              <a:rPr lang="en-US" altLang="zh-CN" sz="2000" dirty="0" err="1"/>
              <a:t>Cname</a:t>
            </a:r>
            <a:r>
              <a:rPr lang="en-US" altLang="zh-CN" sz="2000" dirty="0"/>
              <a:t> FROM </a:t>
            </a:r>
            <a:r>
              <a:rPr lang="en-US" altLang="zh-CN" sz="2000" dirty="0" err="1"/>
              <a:t>Cust</a:t>
            </a:r>
            <a:r>
              <a:rPr lang="en-US" altLang="zh-CN" sz="2000" dirty="0"/>
              <a:t>, Buy, Book</a:t>
            </a:r>
            <a:endParaRPr lang="zh-CN" altLang="zh-CN" sz="2000" dirty="0"/>
          </a:p>
          <a:p>
            <a:pPr marL="0" indent="0" fontAlgn="base">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AND</a:t>
            </a:r>
            <a:endParaRPr lang="zh-CN" altLang="zh-CN" sz="2000" dirty="0"/>
          </a:p>
          <a:p>
            <a:pPr marL="0" indent="0" fontAlgn="base">
              <a:buNone/>
            </a:pPr>
            <a:r>
              <a:rPr lang="en-US" altLang="zh-CN" sz="2000" dirty="0"/>
              <a:t>      </a:t>
            </a:r>
            <a:r>
              <a:rPr lang="en-US" altLang="zh-CN" sz="2000" dirty="0" err="1"/>
              <a:t>BName</a:t>
            </a:r>
            <a:r>
              <a:rPr lang="en-US" altLang="zh-CN" sz="2000" dirty="0"/>
              <a:t>='</a:t>
            </a:r>
            <a:r>
              <a:rPr lang="zh-CN" altLang="zh-CN" sz="2000" dirty="0"/>
              <a:t>数据库系统概论</a:t>
            </a:r>
            <a:r>
              <a:rPr lang="en-US" altLang="zh-CN" sz="2000" dirty="0"/>
              <a:t>' AND Author='</a:t>
            </a:r>
            <a:r>
              <a:rPr lang="zh-CN" altLang="zh-CN" sz="2000" dirty="0"/>
              <a:t>王珊</a:t>
            </a:r>
            <a:r>
              <a:rPr lang="en-US" altLang="zh-CN" sz="2000" dirty="0"/>
              <a:t>' And</a:t>
            </a:r>
            <a:endParaRPr lang="zh-CN" altLang="zh-CN" sz="2000" dirty="0"/>
          </a:p>
          <a:p>
            <a:pPr marL="0" indent="0">
              <a:buNone/>
            </a:pPr>
            <a:r>
              <a:rPr lang="en-US" altLang="zh-CN" sz="2000" dirty="0"/>
              <a:t>      </a:t>
            </a:r>
            <a:r>
              <a:rPr lang="en-US" altLang="zh-CN" sz="2000" dirty="0" err="1"/>
              <a:t>CSex</a:t>
            </a:r>
            <a:r>
              <a:rPr lang="en-US" altLang="zh-CN" sz="2000" dirty="0"/>
              <a:t>='</a:t>
            </a:r>
            <a:r>
              <a:rPr lang="zh-CN" altLang="zh-CN" sz="2000" dirty="0"/>
              <a:t>男</a:t>
            </a:r>
            <a:r>
              <a:rPr lang="en-US" altLang="zh-CN" sz="2000" dirty="0"/>
              <a:t>' AND Marry='</a:t>
            </a:r>
            <a:r>
              <a:rPr lang="zh-CN" altLang="zh-CN" sz="2000" dirty="0"/>
              <a:t>是</a:t>
            </a:r>
            <a:r>
              <a:rPr lang="en-US" altLang="zh-CN" sz="2000" dirty="0"/>
              <a:t>' AND </a:t>
            </a:r>
            <a:r>
              <a:rPr lang="en-US" altLang="zh-CN" sz="2000" dirty="0" err="1"/>
              <a:t>PDate</a:t>
            </a:r>
            <a:r>
              <a:rPr lang="en-US" altLang="zh-CN" sz="2000" dirty="0"/>
              <a:t>='2014-10-26'</a:t>
            </a:r>
            <a:endParaRPr lang="zh-CN" altLang="en-US" sz="2000" i="0" u="none" strike="noStrike" kern="100" baseline="0" dirty="0"/>
          </a:p>
        </p:txBody>
      </p:sp>
      <p:sp>
        <p:nvSpPr>
          <p:cNvPr id="4" name="灯片编号占位符 3">
            <a:extLst>
              <a:ext uri="{FF2B5EF4-FFF2-40B4-BE49-F238E27FC236}">
                <a16:creationId xmlns:a16="http://schemas.microsoft.com/office/drawing/2014/main" id="{7DA3753F-7002-BE47-B0DC-23764FDA42DE}"/>
              </a:ext>
            </a:extLst>
          </p:cNvPr>
          <p:cNvSpPr>
            <a:spLocks noGrp="1"/>
          </p:cNvSpPr>
          <p:nvPr>
            <p:ph type="sldNum" sz="quarter" idx="12"/>
          </p:nvPr>
        </p:nvSpPr>
        <p:spPr/>
        <p:txBody>
          <a:bodyPr/>
          <a:lstStyle/>
          <a:p>
            <a:fld id="{C46E5E69-9A6D-4AF8-BC2D-C556A9893D8F}" type="slidenum">
              <a:rPr lang="zh-CN" altLang="en-US" smtClean="0"/>
              <a:pPr/>
              <a:t>56</a:t>
            </a:fld>
            <a:endParaRPr lang="zh-CN" altLang="en-US" dirty="0"/>
          </a:p>
        </p:txBody>
      </p:sp>
    </p:spTree>
    <p:extLst>
      <p:ext uri="{BB962C8B-B14F-4D97-AF65-F5344CB8AC3E}">
        <p14:creationId xmlns:p14="http://schemas.microsoft.com/office/powerpoint/2010/main" val="19557919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2.6.1  </a:t>
            </a:r>
            <a:r>
              <a:rPr lang="zh-CN" altLang="zh-CN" dirty="0"/>
              <a:t>查询示例分析</a:t>
            </a:r>
            <a:endParaRPr lang="zh-CN" altLang="en-US" i="0" u="none" strike="noStrike" kern="2200" baseline="0" dirty="0"/>
          </a:p>
        </p:txBody>
      </p:sp>
      <p:sp>
        <p:nvSpPr>
          <p:cNvPr id="3" name="文本占位符 2"/>
          <p:cNvSpPr>
            <a:spLocks noGrp="1"/>
          </p:cNvSpPr>
          <p:nvPr>
            <p:ph type="body" idx="1"/>
          </p:nvPr>
        </p:nvSpPr>
        <p:spPr>
          <a:xfrm>
            <a:off x="318356" y="1124744"/>
            <a:ext cx="8507288" cy="576064"/>
          </a:xfrm>
        </p:spPr>
        <p:txBody>
          <a:bodyPr>
            <a:noAutofit/>
          </a:bodyPr>
          <a:lstStyle/>
          <a:p>
            <a:pPr marL="0" indent="0">
              <a:buNone/>
            </a:pPr>
            <a:r>
              <a:rPr lang="zh-CN" altLang="zh-CN" sz="2000" dirty="0"/>
              <a:t>方案1</a:t>
            </a:r>
            <a:r>
              <a:rPr lang="zh-CN" altLang="en-US" sz="2000" dirty="0"/>
              <a:t>：</a:t>
            </a:r>
            <a:r>
              <a:rPr lang="zh-CN" altLang="zh-CN" sz="2000" dirty="0"/>
              <a:t>先做笛卡尔积，再做选择，最后做投影。即：</a:t>
            </a:r>
          </a:p>
          <a:p>
            <a:r>
              <a:rPr lang="zh-CN" altLang="zh-CN" sz="2000" dirty="0"/>
              <a:t>笛卡尔积结果</a:t>
            </a:r>
            <a:r>
              <a:rPr lang="zh-CN" altLang="en-US" sz="2000" dirty="0"/>
              <a:t>：</a:t>
            </a:r>
            <a:r>
              <a:rPr lang="zh-CN" altLang="zh-CN" sz="2000" dirty="0"/>
              <a:t>由</a:t>
            </a:r>
            <a:r>
              <a:rPr lang="en-US" altLang="zh-CN" sz="2000" dirty="0"/>
              <a:t>26</a:t>
            </a:r>
            <a:r>
              <a:rPr lang="zh-CN" altLang="zh-CN" sz="2000" dirty="0"/>
              <a:t>个属性，</a:t>
            </a:r>
            <a:r>
              <a:rPr lang="en-US" altLang="zh-CN" sz="2000" dirty="0"/>
              <a:t>x</a:t>
            </a:r>
            <a:r>
              <a:rPr lang="zh-CN" altLang="zh-CN" sz="2000" dirty="0"/>
              <a:t>×</a:t>
            </a:r>
            <a:r>
              <a:rPr lang="en-US" altLang="zh-CN" sz="2000" dirty="0"/>
              <a:t>y</a:t>
            </a:r>
            <a:r>
              <a:rPr lang="zh-CN" altLang="zh-CN" sz="2000" dirty="0"/>
              <a:t>×</a:t>
            </a:r>
            <a:r>
              <a:rPr lang="en-US" altLang="zh-CN" sz="2000" dirty="0"/>
              <a:t>z</a:t>
            </a:r>
            <a:r>
              <a:rPr lang="zh-CN" altLang="zh-CN" sz="2000" dirty="0"/>
              <a:t>个元组的“庞大”的临时数据。</a:t>
            </a:r>
          </a:p>
          <a:p>
            <a:r>
              <a:rPr lang="zh-CN" altLang="zh-CN" sz="2000" dirty="0"/>
              <a:t>扫描数据并进行</a:t>
            </a:r>
            <a:r>
              <a:rPr lang="en-US" altLang="zh-CN" sz="2000" dirty="0"/>
              <a:t>7</a:t>
            </a:r>
            <a:r>
              <a:rPr lang="zh-CN" altLang="zh-CN" sz="2000" dirty="0"/>
              <a:t>个条件的选择运算。</a:t>
            </a:r>
          </a:p>
          <a:p>
            <a:r>
              <a:rPr lang="zh-CN" altLang="zh-CN" sz="2000" dirty="0"/>
              <a:t>扫描数据并按户号和户名进行投影运算。</a:t>
            </a:r>
          </a:p>
          <a:p>
            <a:endParaRPr lang="en-US" altLang="zh-CN" sz="200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632398455"/>
              </p:ext>
            </p:extLst>
          </p:nvPr>
        </p:nvGraphicFramePr>
        <p:xfrm>
          <a:off x="273777" y="3933056"/>
          <a:ext cx="8596446" cy="1008112"/>
        </p:xfrm>
        <a:graphic>
          <a:graphicData uri="http://schemas.openxmlformats.org/presentationml/2006/ole">
            <mc:AlternateContent xmlns:mc="http://schemas.openxmlformats.org/markup-compatibility/2006">
              <mc:Choice xmlns:v="urn:schemas-microsoft-com:vml" Requires="v">
                <p:oleObj spid="_x0000_s33844" name="公式" r:id="rId3" imgW="4470400" imgH="508000" progId="Equation.3">
                  <p:embed/>
                </p:oleObj>
              </mc:Choice>
              <mc:Fallback>
                <p:oleObj name="公式" r:id="rId3" imgW="4470400" imgH="508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777" y="3933056"/>
                        <a:ext cx="8596446" cy="1008112"/>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灯片编号占位符 3">
            <a:extLst>
              <a:ext uri="{FF2B5EF4-FFF2-40B4-BE49-F238E27FC236}">
                <a16:creationId xmlns:a16="http://schemas.microsoft.com/office/drawing/2014/main" id="{C726D0EA-8BBF-F944-87AA-F9DEEDDA8A60}"/>
              </a:ext>
            </a:extLst>
          </p:cNvPr>
          <p:cNvSpPr>
            <a:spLocks noGrp="1"/>
          </p:cNvSpPr>
          <p:nvPr>
            <p:ph type="sldNum" sz="quarter" idx="12"/>
          </p:nvPr>
        </p:nvSpPr>
        <p:spPr/>
        <p:txBody>
          <a:bodyPr/>
          <a:lstStyle/>
          <a:p>
            <a:fld id="{C46E5E69-9A6D-4AF8-BC2D-C556A9893D8F}" type="slidenum">
              <a:rPr lang="zh-CN" altLang="en-US" smtClean="0"/>
              <a:pPr/>
              <a:t>57</a:t>
            </a:fld>
            <a:endParaRPr lang="zh-CN" altLang="en-US" dirty="0"/>
          </a:p>
        </p:txBody>
      </p:sp>
    </p:spTree>
    <p:extLst>
      <p:ext uri="{BB962C8B-B14F-4D97-AF65-F5344CB8AC3E}">
        <p14:creationId xmlns:p14="http://schemas.microsoft.com/office/powerpoint/2010/main" val="16111623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2.6.1  </a:t>
            </a:r>
            <a:r>
              <a:rPr lang="zh-CN" altLang="zh-CN" dirty="0"/>
              <a:t>查询示例分析</a:t>
            </a:r>
            <a:endParaRPr lang="zh-CN" altLang="en-US" i="0" u="none" strike="noStrike" kern="2200" baseline="0" dirty="0"/>
          </a:p>
        </p:txBody>
      </p:sp>
      <p:sp>
        <p:nvSpPr>
          <p:cNvPr id="3" name="文本占位符 2"/>
          <p:cNvSpPr>
            <a:spLocks noGrp="1"/>
          </p:cNvSpPr>
          <p:nvPr>
            <p:ph type="body" idx="1"/>
          </p:nvPr>
        </p:nvSpPr>
        <p:spPr>
          <a:xfrm>
            <a:off x="318356" y="1124744"/>
            <a:ext cx="8507288" cy="3240360"/>
          </a:xfrm>
        </p:spPr>
        <p:txBody>
          <a:bodyPr>
            <a:noAutofit/>
          </a:bodyPr>
          <a:lstStyle/>
          <a:p>
            <a:pPr marL="0" indent="0">
              <a:buNone/>
            </a:pPr>
            <a:r>
              <a:rPr lang="zh-CN" altLang="zh-CN" sz="2000" dirty="0"/>
              <a:t>方案</a:t>
            </a:r>
            <a:r>
              <a:rPr lang="en-US" altLang="zh-CN" sz="2000" dirty="0"/>
              <a:t>2</a:t>
            </a:r>
            <a:r>
              <a:rPr lang="zh-CN" altLang="en-US" sz="2000" dirty="0"/>
              <a:t>：</a:t>
            </a:r>
            <a:r>
              <a:rPr lang="zh-CN" altLang="zh-CN" sz="2000" dirty="0"/>
              <a:t>先做选择，后做笛卡尔积，再做选择，最后做投影。即：</a:t>
            </a:r>
          </a:p>
          <a:p>
            <a:r>
              <a:rPr lang="zh-CN" altLang="zh-CN" sz="2000" dirty="0"/>
              <a:t>选择结果</a:t>
            </a:r>
            <a:r>
              <a:rPr lang="zh-CN" altLang="en-US" sz="2000" dirty="0"/>
              <a:t>：</a:t>
            </a:r>
            <a:r>
              <a:rPr lang="en-US" altLang="zh-CN" sz="2000" dirty="0" err="1"/>
              <a:t>Cust</a:t>
            </a:r>
            <a:r>
              <a:rPr lang="zh-CN" altLang="zh-CN" sz="2000" dirty="0"/>
              <a:t>、</a:t>
            </a:r>
            <a:r>
              <a:rPr lang="en-US" altLang="zh-CN" sz="2000" dirty="0"/>
              <a:t>Buy</a:t>
            </a:r>
            <a:r>
              <a:rPr lang="zh-CN" altLang="zh-CN" sz="2000" dirty="0"/>
              <a:t>和</a:t>
            </a:r>
            <a:r>
              <a:rPr lang="en-US" altLang="zh-CN" sz="2000" dirty="0"/>
              <a:t>Book</a:t>
            </a:r>
            <a:r>
              <a:rPr lang="zh-CN" altLang="zh-CN" sz="2000" dirty="0"/>
              <a:t>中元组的个数由</a:t>
            </a:r>
            <a:r>
              <a:rPr lang="en-US" altLang="zh-CN" sz="2000" dirty="0"/>
              <a:t>x</a:t>
            </a:r>
            <a:r>
              <a:rPr lang="zh-CN" altLang="zh-CN" sz="2000" dirty="0"/>
              <a:t>、</a:t>
            </a:r>
            <a:r>
              <a:rPr lang="en-US" altLang="zh-CN" sz="2000" dirty="0"/>
              <a:t>y</a:t>
            </a:r>
            <a:r>
              <a:rPr lang="zh-CN" altLang="zh-CN" sz="2000" dirty="0"/>
              <a:t>和</a:t>
            </a:r>
            <a:r>
              <a:rPr lang="en-US" altLang="zh-CN" sz="2000" dirty="0"/>
              <a:t>z</a:t>
            </a:r>
            <a:r>
              <a:rPr lang="zh-CN" altLang="zh-CN" sz="2000" dirty="0"/>
              <a:t>，减少到</a:t>
            </a:r>
            <a:r>
              <a:rPr lang="en-US" altLang="zh-CN" sz="2000" dirty="0"/>
              <a:t>u</a:t>
            </a:r>
            <a:r>
              <a:rPr lang="zh-CN" altLang="zh-CN" sz="2000" dirty="0"/>
              <a:t>、</a:t>
            </a:r>
            <a:r>
              <a:rPr lang="en-US" altLang="zh-CN" sz="2000" dirty="0"/>
              <a:t>v</a:t>
            </a:r>
            <a:r>
              <a:rPr lang="zh-CN" altLang="zh-CN" sz="2000" dirty="0"/>
              <a:t>和</a:t>
            </a:r>
            <a:r>
              <a:rPr lang="en-US" altLang="zh-CN" sz="2000" dirty="0"/>
              <a:t>w</a:t>
            </a:r>
            <a:r>
              <a:rPr lang="zh-CN" altLang="zh-CN" sz="2000" dirty="0"/>
              <a:t>。显然：</a:t>
            </a:r>
            <a:r>
              <a:rPr lang="en-US" altLang="zh-CN" sz="2000" dirty="0"/>
              <a:t>u&lt;&lt;x</a:t>
            </a:r>
            <a:r>
              <a:rPr lang="zh-CN" altLang="zh-CN" sz="2000" dirty="0"/>
              <a:t>，</a:t>
            </a:r>
            <a:r>
              <a:rPr lang="en-US" altLang="zh-CN" sz="2000" dirty="0"/>
              <a:t>v&lt;&lt;y</a:t>
            </a:r>
            <a:r>
              <a:rPr lang="zh-CN" altLang="zh-CN" sz="2000" dirty="0"/>
              <a:t>，</a:t>
            </a:r>
            <a:r>
              <a:rPr lang="en-US" altLang="zh-CN" sz="2000" dirty="0"/>
              <a:t>w&lt;&lt;z</a:t>
            </a:r>
            <a:endParaRPr lang="zh-CN" altLang="zh-CN" sz="2000" dirty="0"/>
          </a:p>
          <a:p>
            <a:r>
              <a:rPr lang="zh-CN" altLang="zh-CN" sz="2000" dirty="0"/>
              <a:t>笛卡尔积结果</a:t>
            </a:r>
            <a:r>
              <a:rPr lang="zh-CN" altLang="en-US" sz="2000" dirty="0"/>
              <a:t>：</a:t>
            </a:r>
            <a:r>
              <a:rPr lang="zh-CN" altLang="zh-CN" sz="2000" dirty="0"/>
              <a:t>由</a:t>
            </a:r>
            <a:r>
              <a:rPr lang="en-US" altLang="zh-CN" sz="2000" dirty="0"/>
              <a:t>26</a:t>
            </a:r>
            <a:r>
              <a:rPr lang="zh-CN" altLang="zh-CN" sz="2000" dirty="0"/>
              <a:t>个属性，</a:t>
            </a:r>
            <a:r>
              <a:rPr lang="en-US" altLang="zh-CN" sz="2000" dirty="0"/>
              <a:t>u</a:t>
            </a:r>
            <a:r>
              <a:rPr lang="zh-CN" altLang="zh-CN" sz="2000" dirty="0"/>
              <a:t>×</a:t>
            </a:r>
            <a:r>
              <a:rPr lang="en-US" altLang="zh-CN" sz="2000" dirty="0"/>
              <a:t>v</a:t>
            </a:r>
            <a:r>
              <a:rPr lang="zh-CN" altLang="zh-CN" sz="2000" dirty="0"/>
              <a:t>×</a:t>
            </a:r>
            <a:r>
              <a:rPr lang="en-US" altLang="zh-CN" sz="2000" dirty="0"/>
              <a:t>w</a:t>
            </a:r>
            <a:r>
              <a:rPr lang="zh-CN" altLang="zh-CN" sz="2000" dirty="0"/>
              <a:t>个元组的“较大”的临时数据</a:t>
            </a:r>
          </a:p>
          <a:p>
            <a:r>
              <a:rPr lang="zh-CN" altLang="zh-CN" sz="2000" dirty="0"/>
              <a:t>扫描数据并进行等值条件</a:t>
            </a:r>
            <a:r>
              <a:rPr lang="en-US" altLang="zh-CN" sz="2000" dirty="0" err="1"/>
              <a:t>Cust.Cno</a:t>
            </a:r>
            <a:r>
              <a:rPr lang="en-US" altLang="zh-CN" sz="2000" dirty="0"/>
              <a:t>=</a:t>
            </a:r>
            <a:r>
              <a:rPr lang="en-US" altLang="zh-CN" sz="2000" dirty="0" err="1"/>
              <a:t>Buy.CNo</a:t>
            </a:r>
            <a:r>
              <a:rPr lang="zh-CN" altLang="zh-CN" sz="2000" dirty="0"/>
              <a:t>和</a:t>
            </a:r>
            <a:r>
              <a:rPr lang="en-US" altLang="zh-CN" sz="2000" dirty="0" err="1"/>
              <a:t>Book.BNo</a:t>
            </a:r>
            <a:r>
              <a:rPr lang="en-US" altLang="zh-CN" sz="2000" dirty="0"/>
              <a:t>=</a:t>
            </a:r>
            <a:r>
              <a:rPr lang="en-US" altLang="zh-CN" sz="2000" dirty="0" err="1"/>
              <a:t>Buy.BNo</a:t>
            </a:r>
            <a:r>
              <a:rPr lang="zh-CN" altLang="zh-CN" sz="2000" dirty="0"/>
              <a:t>的选择运算。</a:t>
            </a:r>
          </a:p>
          <a:p>
            <a:r>
              <a:rPr lang="zh-CN" altLang="zh-CN" sz="2000" dirty="0"/>
              <a:t>扫描数据并按户号和户名进行投影运算。</a:t>
            </a:r>
          </a:p>
          <a:p>
            <a:endParaRPr lang="en-US" altLang="zh-CN" sz="2000" dirty="0"/>
          </a:p>
          <a:p>
            <a:endParaRPr lang="en-US" altLang="zh-CN" sz="2000" dirty="0"/>
          </a:p>
          <a:p>
            <a:endParaRPr lang="en-US" altLang="zh-CN" sz="200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31423703"/>
              </p:ext>
            </p:extLst>
          </p:nvPr>
        </p:nvGraphicFramePr>
        <p:xfrm>
          <a:off x="755576" y="4437112"/>
          <a:ext cx="5810910" cy="1872208"/>
        </p:xfrm>
        <a:graphic>
          <a:graphicData uri="http://schemas.openxmlformats.org/presentationml/2006/ole">
            <mc:AlternateContent xmlns:mc="http://schemas.openxmlformats.org/markup-compatibility/2006">
              <mc:Choice xmlns:v="urn:schemas-microsoft-com:vml" Requires="v">
                <p:oleObj spid="_x0000_s28731" name="公式" r:id="rId3" imgW="3124200" imgH="990600" progId="Equation.3">
                  <p:embed/>
                </p:oleObj>
              </mc:Choice>
              <mc:Fallback>
                <p:oleObj name="公式" r:id="rId3" imgW="3124200" imgH="990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4437112"/>
                        <a:ext cx="5810910" cy="1872208"/>
                      </a:xfrm>
                      <a:prstGeom prst="rect">
                        <a:avLst/>
                      </a:prstGeom>
                      <a:noFill/>
                    </p:spPr>
                  </p:pic>
                </p:oleObj>
              </mc:Fallback>
            </mc:AlternateContent>
          </a:graphicData>
        </a:graphic>
      </p:graphicFrame>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灯片编号占位符 3">
            <a:extLst>
              <a:ext uri="{FF2B5EF4-FFF2-40B4-BE49-F238E27FC236}">
                <a16:creationId xmlns:a16="http://schemas.microsoft.com/office/drawing/2014/main" id="{2CF5A7B2-E73B-024F-AD55-CE2BACC2A226}"/>
              </a:ext>
            </a:extLst>
          </p:cNvPr>
          <p:cNvSpPr>
            <a:spLocks noGrp="1"/>
          </p:cNvSpPr>
          <p:nvPr>
            <p:ph type="sldNum" sz="quarter" idx="12"/>
          </p:nvPr>
        </p:nvSpPr>
        <p:spPr/>
        <p:txBody>
          <a:bodyPr/>
          <a:lstStyle/>
          <a:p>
            <a:fld id="{C46E5E69-9A6D-4AF8-BC2D-C556A9893D8F}" type="slidenum">
              <a:rPr lang="zh-CN" altLang="en-US" smtClean="0"/>
              <a:pPr/>
              <a:t>58</a:t>
            </a:fld>
            <a:endParaRPr lang="zh-CN" altLang="en-US" dirty="0"/>
          </a:p>
        </p:txBody>
      </p:sp>
    </p:spTree>
    <p:extLst>
      <p:ext uri="{BB962C8B-B14F-4D97-AF65-F5344CB8AC3E}">
        <p14:creationId xmlns:p14="http://schemas.microsoft.com/office/powerpoint/2010/main" val="1326763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490066"/>
          </a:xfrm>
        </p:spPr>
        <p:txBody>
          <a:bodyPr>
            <a:normAutofit fontScale="90000"/>
          </a:bodyPr>
          <a:lstStyle/>
          <a:p>
            <a:r>
              <a:rPr lang="en-US" altLang="zh-CN" dirty="0"/>
              <a:t>2.6.1  </a:t>
            </a:r>
            <a:r>
              <a:rPr lang="zh-CN" altLang="zh-CN" dirty="0"/>
              <a:t>查询示例分析</a:t>
            </a:r>
            <a:endParaRPr lang="zh-CN" altLang="en-US" i="0" u="none" strike="noStrike" kern="2200" baseline="0" dirty="0"/>
          </a:p>
        </p:txBody>
      </p:sp>
      <p:sp>
        <p:nvSpPr>
          <p:cNvPr id="3" name="文本占位符 2"/>
          <p:cNvSpPr>
            <a:spLocks noGrp="1"/>
          </p:cNvSpPr>
          <p:nvPr>
            <p:ph type="body" idx="1"/>
          </p:nvPr>
        </p:nvSpPr>
        <p:spPr>
          <a:xfrm>
            <a:off x="107504" y="692696"/>
            <a:ext cx="8928992" cy="2880320"/>
          </a:xfrm>
        </p:spPr>
        <p:txBody>
          <a:bodyPr>
            <a:noAutofit/>
          </a:bodyPr>
          <a:lstStyle/>
          <a:p>
            <a:pPr marL="0" indent="0">
              <a:buNone/>
            </a:pPr>
            <a:r>
              <a:rPr lang="zh-CN" altLang="zh-CN" sz="2000" dirty="0"/>
              <a:t>方案</a:t>
            </a:r>
            <a:r>
              <a:rPr lang="en-US" altLang="zh-CN" sz="2000" dirty="0"/>
              <a:t>3</a:t>
            </a:r>
            <a:r>
              <a:rPr lang="zh-CN" altLang="en-US" sz="2000" dirty="0"/>
              <a:t>：</a:t>
            </a:r>
            <a:r>
              <a:rPr lang="zh-CN" altLang="zh-CN" sz="2000" dirty="0"/>
              <a:t>选择且投影、自然连接和投影。即：</a:t>
            </a:r>
          </a:p>
          <a:p>
            <a:r>
              <a:rPr lang="zh-CN" altLang="zh-CN" sz="2000" dirty="0"/>
              <a:t>选择结果：</a:t>
            </a:r>
            <a:r>
              <a:rPr lang="en-US" altLang="zh-CN" sz="2000" dirty="0" err="1"/>
              <a:t>Cust</a:t>
            </a:r>
            <a:r>
              <a:rPr lang="zh-CN" altLang="zh-CN" sz="2000" dirty="0"/>
              <a:t>中元组个数由</a:t>
            </a:r>
            <a:r>
              <a:rPr lang="en-US" altLang="zh-CN" sz="2000" dirty="0"/>
              <a:t>x</a:t>
            </a:r>
            <a:r>
              <a:rPr lang="zh-CN" altLang="zh-CN" sz="2000" dirty="0"/>
              <a:t>减少到</a:t>
            </a:r>
            <a:r>
              <a:rPr lang="en-US" altLang="zh-CN" sz="2000" dirty="0"/>
              <a:t>u</a:t>
            </a:r>
            <a:r>
              <a:rPr lang="zh-CN" altLang="zh-CN" sz="2000" dirty="0"/>
              <a:t>（</a:t>
            </a:r>
            <a:r>
              <a:rPr lang="en-US" altLang="zh-CN" sz="2000" dirty="0"/>
              <a:t>u&lt;&lt;x</a:t>
            </a:r>
            <a:r>
              <a:rPr lang="zh-CN" altLang="zh-CN" sz="2000" dirty="0"/>
              <a:t>），同时向</a:t>
            </a:r>
            <a:r>
              <a:rPr lang="en-US" altLang="zh-CN" sz="2000" dirty="0" err="1"/>
              <a:t>Cust.CNo</a:t>
            </a:r>
            <a:r>
              <a:rPr lang="zh-CN" altLang="zh-CN" sz="2000" dirty="0"/>
              <a:t>投影</a:t>
            </a:r>
          </a:p>
          <a:p>
            <a:r>
              <a:rPr lang="en-US" altLang="zh-CN" sz="2000" dirty="0"/>
              <a:t>Buy</a:t>
            </a:r>
            <a:r>
              <a:rPr lang="zh-CN" altLang="zh-CN" sz="2000" dirty="0"/>
              <a:t>中元组个数由</a:t>
            </a:r>
            <a:r>
              <a:rPr lang="en-US" altLang="zh-CN" sz="2000" dirty="0"/>
              <a:t>y</a:t>
            </a:r>
            <a:r>
              <a:rPr lang="zh-CN" altLang="zh-CN" sz="2000" dirty="0"/>
              <a:t>减少到</a:t>
            </a:r>
            <a:r>
              <a:rPr lang="en-US" altLang="zh-CN" sz="2000" dirty="0"/>
              <a:t>v</a:t>
            </a:r>
            <a:r>
              <a:rPr lang="zh-CN" altLang="zh-CN" sz="2000" dirty="0"/>
              <a:t>（</a:t>
            </a:r>
            <a:r>
              <a:rPr lang="en-US" altLang="zh-CN" sz="2000" dirty="0"/>
              <a:t>v&lt;&lt;y</a:t>
            </a:r>
            <a:r>
              <a:rPr lang="zh-CN" altLang="zh-CN" sz="2000" dirty="0"/>
              <a:t>），向（</a:t>
            </a:r>
            <a:r>
              <a:rPr lang="en-US" altLang="zh-CN" sz="2000" dirty="0" err="1"/>
              <a:t>Buy.CNo</a:t>
            </a:r>
            <a:r>
              <a:rPr lang="zh-CN" altLang="zh-CN" sz="2000" dirty="0"/>
              <a:t>，</a:t>
            </a:r>
            <a:r>
              <a:rPr lang="en-US" altLang="zh-CN" sz="2000" dirty="0" err="1"/>
              <a:t>Buy.BNo</a:t>
            </a:r>
            <a:r>
              <a:rPr lang="zh-CN" altLang="zh-CN" sz="2000" dirty="0"/>
              <a:t>）投影</a:t>
            </a:r>
          </a:p>
          <a:p>
            <a:r>
              <a:rPr lang="en-US" altLang="zh-CN" sz="2000" dirty="0"/>
              <a:t>Book</a:t>
            </a:r>
            <a:r>
              <a:rPr lang="zh-CN" altLang="zh-CN" sz="2000" dirty="0"/>
              <a:t>中元组个数由</a:t>
            </a:r>
            <a:r>
              <a:rPr lang="en-US" altLang="zh-CN" sz="2000" dirty="0"/>
              <a:t>z</a:t>
            </a:r>
            <a:r>
              <a:rPr lang="zh-CN" altLang="zh-CN" sz="2000" dirty="0"/>
              <a:t>减少到</a:t>
            </a:r>
            <a:r>
              <a:rPr lang="en-US" altLang="zh-CN" sz="2000" dirty="0"/>
              <a:t>w</a:t>
            </a:r>
            <a:r>
              <a:rPr lang="zh-CN" altLang="zh-CN" sz="2000" dirty="0"/>
              <a:t>（</a:t>
            </a:r>
            <a:r>
              <a:rPr lang="en-US" altLang="zh-CN" sz="2000" dirty="0"/>
              <a:t>w&lt;&lt;z</a:t>
            </a:r>
            <a:r>
              <a:rPr lang="zh-CN" altLang="zh-CN" sz="2000" dirty="0"/>
              <a:t>），同时直接向</a:t>
            </a:r>
            <a:r>
              <a:rPr lang="en-US" altLang="zh-CN" sz="2000" dirty="0" err="1"/>
              <a:t>Book.BNo</a:t>
            </a:r>
            <a:r>
              <a:rPr lang="zh-CN" altLang="zh-CN" sz="2000" dirty="0"/>
              <a:t>投影</a:t>
            </a:r>
          </a:p>
          <a:p>
            <a:r>
              <a:rPr lang="zh-CN" altLang="zh-CN" sz="2000" dirty="0"/>
              <a:t>自然连接结果</a:t>
            </a:r>
            <a:r>
              <a:rPr lang="zh-CN" altLang="en-US" sz="2000" dirty="0"/>
              <a:t>：</a:t>
            </a:r>
            <a:r>
              <a:rPr lang="en-US" altLang="zh-CN" sz="2000" dirty="0"/>
              <a:t>3</a:t>
            </a:r>
            <a:r>
              <a:rPr lang="zh-CN" altLang="zh-CN" sz="2000" dirty="0"/>
              <a:t>个属性，</a:t>
            </a:r>
            <a:r>
              <a:rPr lang="en-US" altLang="zh-CN" sz="2000" dirty="0"/>
              <a:t>n</a:t>
            </a:r>
            <a:r>
              <a:rPr lang="zh-CN" altLang="zh-CN" sz="2000" dirty="0"/>
              <a:t>（</a:t>
            </a:r>
            <a:r>
              <a:rPr lang="en-US" altLang="zh-CN" sz="2000" dirty="0"/>
              <a:t>&lt;&lt;u</a:t>
            </a:r>
            <a:r>
              <a:rPr lang="zh-CN" altLang="zh-CN" sz="2000" dirty="0"/>
              <a:t>×</a:t>
            </a:r>
            <a:r>
              <a:rPr lang="en-US" altLang="zh-CN" sz="2000" dirty="0"/>
              <a:t>v</a:t>
            </a:r>
            <a:r>
              <a:rPr lang="zh-CN" altLang="zh-CN" sz="2000" dirty="0"/>
              <a:t>×</a:t>
            </a:r>
            <a:r>
              <a:rPr lang="en-US" altLang="zh-CN" sz="2000" dirty="0"/>
              <a:t>w</a:t>
            </a:r>
            <a:r>
              <a:rPr lang="zh-CN" altLang="zh-CN" sz="2000" dirty="0"/>
              <a:t>）个元组的“很小”的临时数据</a:t>
            </a:r>
          </a:p>
          <a:p>
            <a:r>
              <a:rPr lang="zh-CN" altLang="zh-CN" sz="2000" dirty="0"/>
              <a:t>扫描数据并按户号和户名进行投影运算。</a:t>
            </a:r>
          </a:p>
          <a:p>
            <a:endParaRPr lang="en-US" altLang="zh-CN" sz="2000"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532612210"/>
              </p:ext>
            </p:extLst>
          </p:nvPr>
        </p:nvGraphicFramePr>
        <p:xfrm>
          <a:off x="539552" y="3501008"/>
          <a:ext cx="7056784" cy="1620341"/>
        </p:xfrm>
        <a:graphic>
          <a:graphicData uri="http://schemas.openxmlformats.org/presentationml/2006/ole">
            <mc:AlternateContent xmlns:mc="http://schemas.openxmlformats.org/markup-compatibility/2006">
              <mc:Choice xmlns:v="urn:schemas-microsoft-com:vml" Requires="v">
                <p:oleObj spid="_x0000_s34870" name="公式" r:id="rId3" imgW="3556000" imgH="762000" progId="Equation.3">
                  <p:embed/>
                </p:oleObj>
              </mc:Choice>
              <mc:Fallback>
                <p:oleObj name="公式" r:id="rId3" imgW="3556000" imgH="762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3501008"/>
                        <a:ext cx="7056784" cy="1620341"/>
                      </a:xfrm>
                      <a:prstGeom prst="rect">
                        <a:avLst/>
                      </a:prstGeom>
                      <a:noFill/>
                    </p:spPr>
                  </p:pic>
                </p:oleObj>
              </mc:Fallback>
            </mc:AlternateContent>
          </a:graphicData>
        </a:graphic>
      </p:graphicFrame>
      <p:sp>
        <p:nvSpPr>
          <p:cNvPr id="9" name="矩形 8"/>
          <p:cNvSpPr/>
          <p:nvPr/>
        </p:nvSpPr>
        <p:spPr>
          <a:xfrm>
            <a:off x="285334" y="5373216"/>
            <a:ext cx="8438529" cy="923330"/>
          </a:xfrm>
          <a:prstGeom prst="rect">
            <a:avLst/>
          </a:prstGeom>
        </p:spPr>
        <p:txBody>
          <a:bodyPr wrap="none">
            <a:spAutoFit/>
          </a:bodyPr>
          <a:lstStyle/>
          <a:p>
            <a:pPr marL="285750" indent="-285750">
              <a:buFont typeface="Wingdings" pitchFamily="2" charset="2"/>
              <a:buChar char="n"/>
            </a:pPr>
            <a:r>
              <a:rPr lang="zh-CN" altLang="zh-CN" dirty="0"/>
              <a:t>方案</a:t>
            </a:r>
            <a:r>
              <a:rPr lang="en-US" altLang="zh-CN" dirty="0"/>
              <a:t>3</a:t>
            </a:r>
            <a:r>
              <a:rPr lang="zh-CN" altLang="zh-CN" dirty="0"/>
              <a:t>明显优于方案</a:t>
            </a:r>
            <a:r>
              <a:rPr lang="en-US" altLang="zh-CN" dirty="0"/>
              <a:t>1</a:t>
            </a:r>
            <a:r>
              <a:rPr lang="zh-CN" altLang="zh-CN" dirty="0"/>
              <a:t>和方案</a:t>
            </a:r>
            <a:r>
              <a:rPr lang="en-US" altLang="zh-CN" dirty="0"/>
              <a:t>2</a:t>
            </a:r>
          </a:p>
          <a:p>
            <a:pPr marL="285750" indent="-285750">
              <a:buFont typeface="Wingdings" pitchFamily="2" charset="2"/>
              <a:buChar char="n"/>
            </a:pPr>
            <a:r>
              <a:rPr lang="zh-CN" altLang="zh-CN" dirty="0"/>
              <a:t>思考1：三个方案对数据的扫描次数和比较次数，以及生成中间元组的查询费用</a:t>
            </a:r>
          </a:p>
          <a:p>
            <a:pPr marL="285750" indent="-285750">
              <a:buFont typeface="Wingdings" pitchFamily="2" charset="2"/>
              <a:buChar char="n"/>
            </a:pPr>
            <a:r>
              <a:rPr lang="zh-CN" altLang="zh-CN" dirty="0"/>
              <a:t>思考2：处理机CPU时间、磁盘存取I/O代价、内存RAM开销和网络传输硬件费用</a:t>
            </a:r>
          </a:p>
        </p:txBody>
      </p:sp>
      <p:sp>
        <p:nvSpPr>
          <p:cNvPr id="4" name="灯片编号占位符 3">
            <a:extLst>
              <a:ext uri="{FF2B5EF4-FFF2-40B4-BE49-F238E27FC236}">
                <a16:creationId xmlns:a16="http://schemas.microsoft.com/office/drawing/2014/main" id="{3806A18B-0A6E-D34A-AD73-20D3E505B1A2}"/>
              </a:ext>
            </a:extLst>
          </p:cNvPr>
          <p:cNvSpPr>
            <a:spLocks noGrp="1"/>
          </p:cNvSpPr>
          <p:nvPr>
            <p:ph type="sldNum" sz="quarter" idx="12"/>
          </p:nvPr>
        </p:nvSpPr>
        <p:spPr/>
        <p:txBody>
          <a:bodyPr/>
          <a:lstStyle/>
          <a:p>
            <a:fld id="{C46E5E69-9A6D-4AF8-BC2D-C556A9893D8F}" type="slidenum">
              <a:rPr lang="zh-CN" altLang="en-US" smtClean="0"/>
              <a:pPr/>
              <a:t>59</a:t>
            </a:fld>
            <a:endParaRPr lang="zh-CN" altLang="en-US" dirty="0"/>
          </a:p>
        </p:txBody>
      </p:sp>
    </p:spTree>
    <p:extLst>
      <p:ext uri="{BB962C8B-B14F-4D97-AF65-F5344CB8AC3E}">
        <p14:creationId xmlns:p14="http://schemas.microsoft.com/office/powerpoint/2010/main" val="1611162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648072"/>
          </a:xfrm>
        </p:spPr>
        <p:txBody>
          <a:bodyPr>
            <a:normAutofit/>
          </a:bodyPr>
          <a:lstStyle/>
          <a:p>
            <a:r>
              <a:rPr lang="en-US" altLang="zh-CN" dirty="0"/>
              <a:t>2.6.2  </a:t>
            </a:r>
            <a:r>
              <a:rPr lang="zh-CN" altLang="zh-CN" dirty="0"/>
              <a:t>查询处理与查询优化</a:t>
            </a:r>
            <a:endParaRPr lang="zh-CN" altLang="en-US" i="0" u="none" strike="noStrike" kern="2200" baseline="0" dirty="0"/>
          </a:p>
        </p:txBody>
      </p:sp>
      <p:sp>
        <p:nvSpPr>
          <p:cNvPr id="3" name="文本占位符 2"/>
          <p:cNvSpPr>
            <a:spLocks noGrp="1"/>
          </p:cNvSpPr>
          <p:nvPr>
            <p:ph type="body" idx="1"/>
          </p:nvPr>
        </p:nvSpPr>
        <p:spPr>
          <a:xfrm>
            <a:off x="107504" y="764704"/>
            <a:ext cx="8928992" cy="5544616"/>
          </a:xfrm>
        </p:spPr>
        <p:txBody>
          <a:bodyPr>
            <a:noAutofit/>
          </a:bodyPr>
          <a:lstStyle/>
          <a:p>
            <a:r>
              <a:rPr lang="zh-CN" altLang="zh-CN" sz="2000" dirty="0">
                <a:solidFill>
                  <a:srgbClr val="0000FF"/>
                </a:solidFill>
              </a:rPr>
              <a:t>查询分析。</a:t>
            </a:r>
            <a:r>
              <a:rPr lang="zh-CN" altLang="zh-CN" sz="2000" dirty="0"/>
              <a:t>扫描查询语句、进行词法分析（识别语言符号）和语法检查分析</a:t>
            </a:r>
          </a:p>
          <a:p>
            <a:r>
              <a:rPr lang="zh-CN" altLang="zh-CN" sz="2000" dirty="0">
                <a:solidFill>
                  <a:srgbClr val="0000FF"/>
                </a:solidFill>
              </a:rPr>
              <a:t>查询检查。</a:t>
            </a:r>
            <a:r>
              <a:rPr lang="zh-CN" altLang="zh-CN" sz="2000" dirty="0"/>
              <a:t>检查权限和语义；检查安全性和完整性；“视图操作”向“表操作”的转换；查询语句的内部表示，就是把</a:t>
            </a:r>
            <a:r>
              <a:rPr lang="en-US" altLang="zh-CN" sz="2000" dirty="0"/>
              <a:t>SQL</a:t>
            </a:r>
            <a:r>
              <a:rPr lang="zh-CN" altLang="zh-CN" sz="2000" dirty="0"/>
              <a:t>语句转化为等价的关系代数表达式（即：查询树，或语法（分析）树）等。</a:t>
            </a:r>
          </a:p>
          <a:p>
            <a:r>
              <a:rPr lang="zh-CN" altLang="zh-CN" sz="2000" dirty="0">
                <a:solidFill>
                  <a:srgbClr val="0000FF"/>
                </a:solidFill>
              </a:rPr>
              <a:t>查询优化</a:t>
            </a:r>
            <a:r>
              <a:rPr lang="zh-CN" altLang="en-US" sz="2000" dirty="0">
                <a:solidFill>
                  <a:srgbClr val="0000FF"/>
                </a:solidFill>
              </a:rPr>
              <a:t>。</a:t>
            </a:r>
            <a:r>
              <a:rPr lang="zh-CN" altLang="zh-CN" sz="2000" dirty="0"/>
              <a:t>利用等价变换对关系代数表达式进行优化，从而降低查询费用，提高查询效率。目标是选择高效查询策略，用最低查询费用，快速数据查询</a:t>
            </a:r>
          </a:p>
          <a:p>
            <a:pPr marL="685800" lvl="1"/>
            <a:r>
              <a:rPr lang="zh-CN" altLang="zh-CN" sz="1800" dirty="0"/>
              <a:t>提供多种查询条件下的多个查询处理策略，并形成相应的查询计划，最终生成查询优化器。</a:t>
            </a:r>
          </a:p>
          <a:p>
            <a:pPr marL="685800" lvl="1"/>
            <a:r>
              <a:rPr lang="zh-CN" altLang="zh-CN" sz="1800" dirty="0"/>
              <a:t>代数优化（关系代数表达式的优化）</a:t>
            </a:r>
            <a:r>
              <a:rPr lang="en-US" altLang="zh-CN" sz="1800" dirty="0"/>
              <a:t>+</a:t>
            </a:r>
            <a:r>
              <a:rPr lang="zh-CN" altLang="zh-CN" sz="1800" dirty="0"/>
              <a:t>物理优化（存取路径和操作算法等）</a:t>
            </a:r>
          </a:p>
          <a:p>
            <a:r>
              <a:rPr lang="zh-CN" altLang="zh-CN" sz="2000" dirty="0">
                <a:solidFill>
                  <a:srgbClr val="0000FF"/>
                </a:solidFill>
              </a:rPr>
              <a:t>查询执行。</a:t>
            </a:r>
            <a:r>
              <a:rPr lang="zh-CN" altLang="zh-CN" sz="2000" dirty="0"/>
              <a:t>利用查询优化器，形成查询策略，生成查询计划（代码生成器），执行查询，返回查询结果。</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灯片编号占位符 3">
            <a:extLst>
              <a:ext uri="{FF2B5EF4-FFF2-40B4-BE49-F238E27FC236}">
                <a16:creationId xmlns:a16="http://schemas.microsoft.com/office/drawing/2014/main" id="{EAF7E42B-9B06-5145-BCEC-496C6B9A48F7}"/>
              </a:ext>
            </a:extLst>
          </p:cNvPr>
          <p:cNvSpPr>
            <a:spLocks noGrp="1"/>
          </p:cNvSpPr>
          <p:nvPr>
            <p:ph type="sldNum" sz="quarter" idx="12"/>
          </p:nvPr>
        </p:nvSpPr>
        <p:spPr/>
        <p:txBody>
          <a:bodyPr/>
          <a:lstStyle/>
          <a:p>
            <a:fld id="{C46E5E69-9A6D-4AF8-BC2D-C556A9893D8F}" type="slidenum">
              <a:rPr lang="zh-CN" altLang="en-US" smtClean="0"/>
              <a:pPr/>
              <a:t>60</a:t>
            </a:fld>
            <a:endParaRPr lang="zh-CN" altLang="en-US" dirty="0"/>
          </a:p>
        </p:txBody>
      </p:sp>
    </p:spTree>
    <p:extLst>
      <p:ext uri="{BB962C8B-B14F-4D97-AF65-F5344CB8AC3E}">
        <p14:creationId xmlns:p14="http://schemas.microsoft.com/office/powerpoint/2010/main" val="22807559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2.6.3  </a:t>
            </a:r>
            <a:r>
              <a:rPr lang="zh-CN" altLang="zh-CN" dirty="0"/>
              <a:t>查询优化等价变换</a:t>
            </a:r>
            <a:endParaRPr lang="zh-CN" altLang="en-US" i="0" u="none" strike="noStrike" kern="2200" baseline="0" dirty="0"/>
          </a:p>
        </p:txBody>
      </p:sp>
      <p:sp>
        <p:nvSpPr>
          <p:cNvPr id="3" name="文本占位符 2"/>
          <p:cNvSpPr>
            <a:spLocks noGrp="1"/>
          </p:cNvSpPr>
          <p:nvPr>
            <p:ph type="body" idx="1"/>
          </p:nvPr>
        </p:nvSpPr>
        <p:spPr>
          <a:xfrm>
            <a:off x="107504" y="764704"/>
            <a:ext cx="8928992" cy="576064"/>
          </a:xfrm>
        </p:spPr>
        <p:txBody>
          <a:bodyPr>
            <a:noAutofit/>
          </a:bodyPr>
          <a:lstStyle/>
          <a:p>
            <a:r>
              <a:rPr lang="zh-CN" altLang="zh-CN" sz="2000" dirty="0"/>
              <a:t>笛卡尔积的交换律和结合律</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占位符 2"/>
          <p:cNvSpPr txBox="1">
            <a:spLocks/>
          </p:cNvSpPr>
          <p:nvPr/>
        </p:nvSpPr>
        <p:spPr>
          <a:xfrm>
            <a:off x="107504" y="2636912"/>
            <a:ext cx="8928992" cy="576064"/>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t>并集和交集的交换律和结合律</a:t>
            </a:r>
          </a:p>
        </p:txBody>
      </p:sp>
      <p:graphicFrame>
        <p:nvGraphicFramePr>
          <p:cNvPr id="8" name="对象 7"/>
          <p:cNvGraphicFramePr>
            <a:graphicFrameLocks noChangeAspect="1"/>
          </p:cNvGraphicFramePr>
          <p:nvPr>
            <p:extLst>
              <p:ext uri="{D42A27DB-BD31-4B8C-83A1-F6EECF244321}">
                <p14:modId xmlns:p14="http://schemas.microsoft.com/office/powerpoint/2010/main" val="319953510"/>
              </p:ext>
            </p:extLst>
          </p:nvPr>
        </p:nvGraphicFramePr>
        <p:xfrm>
          <a:off x="683567" y="1340768"/>
          <a:ext cx="2592289" cy="591718"/>
        </p:xfrm>
        <a:graphic>
          <a:graphicData uri="http://schemas.openxmlformats.org/presentationml/2006/ole">
            <mc:AlternateContent xmlns:mc="http://schemas.openxmlformats.org/markup-compatibility/2006">
              <mc:Choice xmlns:v="urn:schemas-microsoft-com:vml" Requires="v">
                <p:oleObj spid="_x0000_s36241" name="公式" r:id="rId3" imgW="889000" imgH="190500" progId="Equation.3">
                  <p:embed/>
                </p:oleObj>
              </mc:Choice>
              <mc:Fallback>
                <p:oleObj name="公式" r:id="rId3" imgW="889000" imgH="190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7" y="1340768"/>
                        <a:ext cx="2592289" cy="591718"/>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68582809"/>
              </p:ext>
            </p:extLst>
          </p:nvPr>
        </p:nvGraphicFramePr>
        <p:xfrm>
          <a:off x="683568" y="1916832"/>
          <a:ext cx="4104456" cy="528795"/>
        </p:xfrm>
        <a:graphic>
          <a:graphicData uri="http://schemas.openxmlformats.org/presentationml/2006/ole">
            <mc:AlternateContent xmlns:mc="http://schemas.openxmlformats.org/markup-compatibility/2006">
              <mc:Choice xmlns:v="urn:schemas-microsoft-com:vml" Requires="v">
                <p:oleObj spid="_x0000_s36242" name="公式" r:id="rId5" imgW="1548728" imgH="190417" progId="Equation.3">
                  <p:embed/>
                </p:oleObj>
              </mc:Choice>
              <mc:Fallback>
                <p:oleObj name="公式" r:id="rId5" imgW="1548728" imgH="190417"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1916832"/>
                        <a:ext cx="4104456" cy="528795"/>
                      </a:xfrm>
                      <a:prstGeom prst="rect">
                        <a:avLst/>
                      </a:prstGeom>
                      <a:noFill/>
                    </p:spPr>
                  </p:pic>
                </p:oleObj>
              </mc:Fallback>
            </mc:AlternateContent>
          </a:graphicData>
        </a:graphic>
      </p:graphicFrame>
      <p:sp>
        <p:nvSpPr>
          <p:cNvPr id="13" name="Rectangle 4"/>
          <p:cNvSpPr>
            <a:spLocks noChangeArrowheads="1"/>
          </p:cNvSpPr>
          <p:nvPr/>
        </p:nvSpPr>
        <p:spPr bwMode="auto">
          <a:xfrm>
            <a:off x="0" y="657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157067581"/>
              </p:ext>
            </p:extLst>
          </p:nvPr>
        </p:nvGraphicFramePr>
        <p:xfrm>
          <a:off x="611560" y="3156659"/>
          <a:ext cx="1866312" cy="388045"/>
        </p:xfrm>
        <a:graphic>
          <a:graphicData uri="http://schemas.openxmlformats.org/presentationml/2006/ole">
            <mc:AlternateContent xmlns:mc="http://schemas.openxmlformats.org/markup-compatibility/2006">
              <mc:Choice xmlns:v="urn:schemas-microsoft-com:vml" Requires="v">
                <p:oleObj spid="_x0000_s36243" name="公式" r:id="rId7" imgW="965200" imgH="190500" progId="Equation.3">
                  <p:embed/>
                </p:oleObj>
              </mc:Choice>
              <mc:Fallback>
                <p:oleObj name="公式" r:id="rId7" imgW="965200" imgH="1905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560" y="3156659"/>
                        <a:ext cx="1866312" cy="388045"/>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822669342"/>
              </p:ext>
            </p:extLst>
          </p:nvPr>
        </p:nvGraphicFramePr>
        <p:xfrm>
          <a:off x="611560" y="3573016"/>
          <a:ext cx="1731621" cy="360040"/>
        </p:xfrm>
        <a:graphic>
          <a:graphicData uri="http://schemas.openxmlformats.org/presentationml/2006/ole">
            <mc:AlternateContent xmlns:mc="http://schemas.openxmlformats.org/markup-compatibility/2006">
              <mc:Choice xmlns:v="urn:schemas-microsoft-com:vml" Requires="v">
                <p:oleObj spid="_x0000_s36244" name="公式" r:id="rId9" imgW="965200" imgH="190500" progId="Equation.3">
                  <p:embed/>
                </p:oleObj>
              </mc:Choice>
              <mc:Fallback>
                <p:oleObj name="公式" r:id="rId9" imgW="965200" imgH="1905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560" y="3573016"/>
                        <a:ext cx="1731621" cy="360040"/>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432269166"/>
              </p:ext>
            </p:extLst>
          </p:nvPr>
        </p:nvGraphicFramePr>
        <p:xfrm>
          <a:off x="611560" y="4005064"/>
          <a:ext cx="3017478" cy="360040"/>
        </p:xfrm>
        <a:graphic>
          <a:graphicData uri="http://schemas.openxmlformats.org/presentationml/2006/ole">
            <mc:AlternateContent xmlns:mc="http://schemas.openxmlformats.org/markup-compatibility/2006">
              <mc:Choice xmlns:v="urn:schemas-microsoft-com:vml" Requires="v">
                <p:oleObj spid="_x0000_s36245" name="公式" r:id="rId11" imgW="1689100" imgH="190500" progId="Equation.3">
                  <p:embed/>
                </p:oleObj>
              </mc:Choice>
              <mc:Fallback>
                <p:oleObj name="公式" r:id="rId11" imgW="1689100" imgH="1905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560" y="4005064"/>
                        <a:ext cx="3017478" cy="360040"/>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333501453"/>
              </p:ext>
            </p:extLst>
          </p:nvPr>
        </p:nvGraphicFramePr>
        <p:xfrm>
          <a:off x="611560" y="4437112"/>
          <a:ext cx="3017478" cy="360040"/>
        </p:xfrm>
        <a:graphic>
          <a:graphicData uri="http://schemas.openxmlformats.org/presentationml/2006/ole">
            <mc:AlternateContent xmlns:mc="http://schemas.openxmlformats.org/markup-compatibility/2006">
              <mc:Choice xmlns:v="urn:schemas-microsoft-com:vml" Requires="v">
                <p:oleObj spid="_x0000_s36246" name="公式" r:id="rId13" imgW="1689100" imgH="190500" progId="Equation.3">
                  <p:embed/>
                </p:oleObj>
              </mc:Choice>
              <mc:Fallback>
                <p:oleObj name="公式" r:id="rId13" imgW="1689100" imgH="1905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1560" y="4437112"/>
                        <a:ext cx="3017478" cy="360040"/>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842797534"/>
              </p:ext>
            </p:extLst>
          </p:nvPr>
        </p:nvGraphicFramePr>
        <p:xfrm>
          <a:off x="611560" y="4869160"/>
          <a:ext cx="3703269" cy="360040"/>
        </p:xfrm>
        <a:graphic>
          <a:graphicData uri="http://schemas.openxmlformats.org/presentationml/2006/ole">
            <mc:AlternateContent xmlns:mc="http://schemas.openxmlformats.org/markup-compatibility/2006">
              <mc:Choice xmlns:v="urn:schemas-microsoft-com:vml" Requires="v">
                <p:oleObj spid="_x0000_s36247" name="公式" r:id="rId15" imgW="2044700" imgH="190500" progId="Equation.3">
                  <p:embed/>
                </p:oleObj>
              </mc:Choice>
              <mc:Fallback>
                <p:oleObj name="公式" r:id="rId15" imgW="2044700" imgH="19050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1560" y="4869160"/>
                        <a:ext cx="3703269" cy="360040"/>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568372476"/>
              </p:ext>
            </p:extLst>
          </p:nvPr>
        </p:nvGraphicFramePr>
        <p:xfrm>
          <a:off x="611560" y="5301208"/>
          <a:ext cx="3703269" cy="360040"/>
        </p:xfrm>
        <a:graphic>
          <a:graphicData uri="http://schemas.openxmlformats.org/presentationml/2006/ole">
            <mc:AlternateContent xmlns:mc="http://schemas.openxmlformats.org/markup-compatibility/2006">
              <mc:Choice xmlns:v="urn:schemas-microsoft-com:vml" Requires="v">
                <p:oleObj spid="_x0000_s36248" name="公式" r:id="rId17" imgW="2044700" imgH="190500" progId="Equation.3">
                  <p:embed/>
                </p:oleObj>
              </mc:Choice>
              <mc:Fallback>
                <p:oleObj name="公式" r:id="rId17" imgW="2044700" imgH="190500" progId="Equation.3">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1560" y="5301208"/>
                        <a:ext cx="3703269" cy="360040"/>
                      </a:xfrm>
                      <a:prstGeom prst="rect">
                        <a:avLst/>
                      </a:prstGeom>
                      <a:noFill/>
                    </p:spPr>
                  </p:pic>
                </p:oleObj>
              </mc:Fallback>
            </mc:AlternateContent>
          </a:graphicData>
        </a:graphic>
      </p:graphicFrame>
      <p:sp>
        <p:nvSpPr>
          <p:cNvPr id="20" name="Rectangle 1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12"/>
          <p:cNvSpPr>
            <a:spLocks noChangeArrowheads="1"/>
          </p:cNvSpPr>
          <p:nvPr/>
        </p:nvSpPr>
        <p:spPr bwMode="auto">
          <a:xfrm>
            <a:off x="0" y="6572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16"/>
          <p:cNvSpPr>
            <a:spLocks noChangeArrowheads="1"/>
          </p:cNvSpPr>
          <p:nvPr/>
        </p:nvSpPr>
        <p:spPr bwMode="auto">
          <a:xfrm>
            <a:off x="0" y="1914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CFE1DEE4-0684-6645-9DFF-87022E83E312}"/>
              </a:ext>
            </a:extLst>
          </p:cNvPr>
          <p:cNvSpPr>
            <a:spLocks noGrp="1"/>
          </p:cNvSpPr>
          <p:nvPr>
            <p:ph type="sldNum" sz="quarter" idx="12"/>
          </p:nvPr>
        </p:nvSpPr>
        <p:spPr/>
        <p:txBody>
          <a:bodyPr/>
          <a:lstStyle/>
          <a:p>
            <a:fld id="{C46E5E69-9A6D-4AF8-BC2D-C556A9893D8F}" type="slidenum">
              <a:rPr lang="zh-CN" altLang="en-US" smtClean="0"/>
              <a:pPr/>
              <a:t>61</a:t>
            </a:fld>
            <a:endParaRPr lang="zh-CN" altLang="en-US" dirty="0"/>
          </a:p>
        </p:txBody>
      </p:sp>
    </p:spTree>
    <p:extLst>
      <p:ext uri="{BB962C8B-B14F-4D97-AF65-F5344CB8AC3E}">
        <p14:creationId xmlns:p14="http://schemas.microsoft.com/office/powerpoint/2010/main" val="42411627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2.6.3  </a:t>
            </a:r>
            <a:r>
              <a:rPr lang="zh-CN" altLang="zh-CN" dirty="0"/>
              <a:t>查询优化等价变换</a:t>
            </a:r>
            <a:endParaRPr lang="zh-CN" altLang="en-US" i="0" u="none" strike="noStrike" kern="2200" baseline="0" dirty="0"/>
          </a:p>
        </p:txBody>
      </p:sp>
      <p:sp>
        <p:nvSpPr>
          <p:cNvPr id="3" name="文本占位符 2"/>
          <p:cNvSpPr>
            <a:spLocks noGrp="1"/>
          </p:cNvSpPr>
          <p:nvPr>
            <p:ph type="body" idx="1"/>
          </p:nvPr>
        </p:nvSpPr>
        <p:spPr>
          <a:xfrm>
            <a:off x="107504" y="764704"/>
            <a:ext cx="8928992" cy="576064"/>
          </a:xfrm>
        </p:spPr>
        <p:txBody>
          <a:bodyPr>
            <a:noAutofit/>
          </a:bodyPr>
          <a:lstStyle/>
          <a:p>
            <a:r>
              <a:rPr lang="zh-CN" altLang="zh-CN" sz="2000" dirty="0"/>
              <a:t>选择运算的分配律</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占位符 2"/>
          <p:cNvSpPr txBox="1">
            <a:spLocks/>
          </p:cNvSpPr>
          <p:nvPr/>
        </p:nvSpPr>
        <p:spPr>
          <a:xfrm>
            <a:off x="108237" y="3933056"/>
            <a:ext cx="8928992" cy="576064"/>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t>投影运算的分配律</a:t>
            </a:r>
          </a:p>
        </p:txBody>
      </p:sp>
      <p:graphicFrame>
        <p:nvGraphicFramePr>
          <p:cNvPr id="12" name="对象 11"/>
          <p:cNvGraphicFramePr>
            <a:graphicFrameLocks noChangeAspect="1"/>
          </p:cNvGraphicFramePr>
          <p:nvPr>
            <p:extLst>
              <p:ext uri="{D42A27DB-BD31-4B8C-83A1-F6EECF244321}">
                <p14:modId xmlns:p14="http://schemas.microsoft.com/office/powerpoint/2010/main" val="3561310779"/>
              </p:ext>
            </p:extLst>
          </p:nvPr>
        </p:nvGraphicFramePr>
        <p:xfrm>
          <a:off x="539552" y="1382952"/>
          <a:ext cx="3286650" cy="331548"/>
        </p:xfrm>
        <a:graphic>
          <a:graphicData uri="http://schemas.openxmlformats.org/presentationml/2006/ole">
            <mc:AlternateContent xmlns:mc="http://schemas.openxmlformats.org/markup-compatibility/2006">
              <mc:Choice xmlns:v="urn:schemas-microsoft-com:vml" Requires="v">
                <p:oleObj spid="_x0000_s38381" name="公式" r:id="rId3" imgW="2159000" imgH="215900" progId="Equation.3">
                  <p:embed/>
                </p:oleObj>
              </mc:Choice>
              <mc:Fallback>
                <p:oleObj name="公式" r:id="rId3" imgW="2159000" imgH="2159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1382952"/>
                        <a:ext cx="3286650" cy="331548"/>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392876734"/>
              </p:ext>
            </p:extLst>
          </p:nvPr>
        </p:nvGraphicFramePr>
        <p:xfrm>
          <a:off x="539552" y="1746065"/>
          <a:ext cx="3736337" cy="314783"/>
        </p:xfrm>
        <a:graphic>
          <a:graphicData uri="http://schemas.openxmlformats.org/presentationml/2006/ole">
            <mc:AlternateContent xmlns:mc="http://schemas.openxmlformats.org/markup-compatibility/2006">
              <mc:Choice xmlns:v="urn:schemas-microsoft-com:vml" Requires="v">
                <p:oleObj spid="_x0000_s38382" name="公式" r:id="rId5" imgW="2590800" imgH="215900" progId="Equation.3">
                  <p:embed/>
                </p:oleObj>
              </mc:Choice>
              <mc:Fallback>
                <p:oleObj name="公式" r:id="rId5" imgW="2590800" imgH="215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552" y="1746065"/>
                        <a:ext cx="3736337" cy="314783"/>
                      </a:xfrm>
                      <a:prstGeom prst="rect">
                        <a:avLst/>
                      </a:prstGeom>
                      <a:noFill/>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526777194"/>
              </p:ext>
            </p:extLst>
          </p:nvPr>
        </p:nvGraphicFramePr>
        <p:xfrm>
          <a:off x="539552" y="2132856"/>
          <a:ext cx="4273518" cy="360040"/>
        </p:xfrm>
        <a:graphic>
          <a:graphicData uri="http://schemas.openxmlformats.org/presentationml/2006/ole">
            <mc:AlternateContent xmlns:mc="http://schemas.openxmlformats.org/markup-compatibility/2006">
              <mc:Choice xmlns:v="urn:schemas-microsoft-com:vml" Requires="v">
                <p:oleObj spid="_x0000_s38383" name="公式" r:id="rId7" imgW="2590800" imgH="215900" progId="Equation.3">
                  <p:embed/>
                </p:oleObj>
              </mc:Choice>
              <mc:Fallback>
                <p:oleObj name="公式" r:id="rId7" imgW="2590800" imgH="215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552" y="2132856"/>
                        <a:ext cx="4273518" cy="360040"/>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718989867"/>
              </p:ext>
            </p:extLst>
          </p:nvPr>
        </p:nvGraphicFramePr>
        <p:xfrm>
          <a:off x="539552" y="2564904"/>
          <a:ext cx="3137491" cy="360040"/>
        </p:xfrm>
        <a:graphic>
          <a:graphicData uri="http://schemas.openxmlformats.org/presentationml/2006/ole">
            <mc:AlternateContent xmlns:mc="http://schemas.openxmlformats.org/markup-compatibility/2006">
              <mc:Choice xmlns:v="urn:schemas-microsoft-com:vml" Requires="v">
                <p:oleObj spid="_x0000_s38384" name="公式" r:id="rId9" imgW="1739900" imgH="190500" progId="Equation.3">
                  <p:embed/>
                </p:oleObj>
              </mc:Choice>
              <mc:Fallback>
                <p:oleObj name="公式" r:id="rId9" imgW="1739900" imgH="19050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552" y="2564904"/>
                        <a:ext cx="3137491" cy="360040"/>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3434214860"/>
              </p:ext>
            </p:extLst>
          </p:nvPr>
        </p:nvGraphicFramePr>
        <p:xfrm>
          <a:off x="539552" y="2924944"/>
          <a:ext cx="3137491" cy="360040"/>
        </p:xfrm>
        <a:graphic>
          <a:graphicData uri="http://schemas.openxmlformats.org/presentationml/2006/ole">
            <mc:AlternateContent xmlns:mc="http://schemas.openxmlformats.org/markup-compatibility/2006">
              <mc:Choice xmlns:v="urn:schemas-microsoft-com:vml" Requires="v">
                <p:oleObj spid="_x0000_s38385" name="公式" r:id="rId11" imgW="1739900" imgH="190500" progId="Equation.3">
                  <p:embed/>
                </p:oleObj>
              </mc:Choice>
              <mc:Fallback>
                <p:oleObj name="公式" r:id="rId11" imgW="1739900" imgH="190500" progId="Equation.3">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552" y="2924944"/>
                        <a:ext cx="3137491" cy="360040"/>
                      </a:xfrm>
                      <a:prstGeom prst="rect">
                        <a:avLst/>
                      </a:prstGeom>
                      <a:noFill/>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940918912"/>
              </p:ext>
            </p:extLst>
          </p:nvPr>
        </p:nvGraphicFramePr>
        <p:xfrm>
          <a:off x="539551" y="3356992"/>
          <a:ext cx="3086057" cy="360040"/>
        </p:xfrm>
        <a:graphic>
          <a:graphicData uri="http://schemas.openxmlformats.org/presentationml/2006/ole">
            <mc:AlternateContent xmlns:mc="http://schemas.openxmlformats.org/markup-compatibility/2006">
              <mc:Choice xmlns:v="urn:schemas-microsoft-com:vml" Requires="v">
                <p:oleObj spid="_x0000_s38386" name="公式" r:id="rId13" imgW="1714500" imgH="190500" progId="Equation.3">
                  <p:embed/>
                </p:oleObj>
              </mc:Choice>
              <mc:Fallback>
                <p:oleObj name="公式" r:id="rId13" imgW="1714500" imgH="190500" progId="Equation.3">
                  <p:embed/>
                  <p:pic>
                    <p:nvPicPr>
                      <p:cNvPr id="0" name="Object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9551" y="3356992"/>
                        <a:ext cx="3086057" cy="360040"/>
                      </a:xfrm>
                      <a:prstGeom prst="rect">
                        <a:avLst/>
                      </a:prstGeom>
                      <a:noFill/>
                    </p:spPr>
                  </p:pic>
                </p:oleObj>
              </mc:Fallback>
            </mc:AlternateContent>
          </a:graphicData>
        </a:graphic>
      </p:graphicFrame>
      <p:sp>
        <p:nvSpPr>
          <p:cNvPr id="29" name="Rectangle 8"/>
          <p:cNvSpPr>
            <a:spLocks noChangeArrowheads="1"/>
          </p:cNvSpPr>
          <p:nvPr/>
        </p:nvSpPr>
        <p:spPr bwMode="auto">
          <a:xfrm>
            <a:off x="0" y="676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5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0" name="Rectangle 9"/>
          <p:cNvSpPr>
            <a:spLocks noChangeArrowheads="1"/>
          </p:cNvSpPr>
          <p:nvPr/>
        </p:nvSpPr>
        <p:spPr bwMode="auto">
          <a:xfrm>
            <a:off x="0" y="895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Rectangle 10"/>
          <p:cNvSpPr>
            <a:spLocks noChangeArrowheads="1"/>
          </p:cNvSpPr>
          <p:nvPr/>
        </p:nvSpPr>
        <p:spPr bwMode="auto">
          <a:xfrm>
            <a:off x="0"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Rectangle 11"/>
          <p:cNvSpPr>
            <a:spLocks noChangeArrowheads="1"/>
          </p:cNvSpPr>
          <p:nvPr/>
        </p:nvSpPr>
        <p:spPr bwMode="auto">
          <a:xfrm>
            <a:off x="0" y="1314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Rectangle 12"/>
          <p:cNvSpPr>
            <a:spLocks noChangeArrowheads="1"/>
          </p:cNvSpPr>
          <p:nvPr/>
        </p:nvSpPr>
        <p:spPr bwMode="auto">
          <a:xfrm>
            <a:off x="0" y="1514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Rectangle 13"/>
          <p:cNvSpPr>
            <a:spLocks noChangeArrowheads="1"/>
          </p:cNvSpPr>
          <p:nvPr/>
        </p:nvSpPr>
        <p:spPr bwMode="auto">
          <a:xfrm>
            <a:off x="0" y="1714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6" name="对象 35"/>
          <p:cNvGraphicFramePr>
            <a:graphicFrameLocks noChangeAspect="1"/>
          </p:cNvGraphicFramePr>
          <p:nvPr>
            <p:extLst>
              <p:ext uri="{D42A27DB-BD31-4B8C-83A1-F6EECF244321}">
                <p14:modId xmlns:p14="http://schemas.microsoft.com/office/powerpoint/2010/main" val="3973105383"/>
              </p:ext>
            </p:extLst>
          </p:nvPr>
        </p:nvGraphicFramePr>
        <p:xfrm>
          <a:off x="2903998" y="4100375"/>
          <a:ext cx="3336003" cy="402332"/>
        </p:xfrm>
        <a:graphic>
          <a:graphicData uri="http://schemas.openxmlformats.org/presentationml/2006/ole">
            <mc:AlternateContent xmlns:mc="http://schemas.openxmlformats.org/markup-compatibility/2006">
              <mc:Choice xmlns:v="urn:schemas-microsoft-com:vml" Requires="v">
                <p:oleObj spid="_x0000_s38387" name="公式" r:id="rId15" imgW="1892300" imgH="228600" progId="Equation.3">
                  <p:embed/>
                </p:oleObj>
              </mc:Choice>
              <mc:Fallback>
                <p:oleObj name="公式" r:id="rId15" imgW="1892300" imgH="2286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03998" y="4100375"/>
                        <a:ext cx="3336003" cy="402332"/>
                      </a:xfrm>
                      <a:prstGeom prst="rect">
                        <a:avLst/>
                      </a:prstGeom>
                      <a:noFill/>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325478281"/>
              </p:ext>
            </p:extLst>
          </p:nvPr>
        </p:nvGraphicFramePr>
        <p:xfrm>
          <a:off x="539552" y="4509120"/>
          <a:ext cx="5418602" cy="504056"/>
        </p:xfrm>
        <a:graphic>
          <a:graphicData uri="http://schemas.openxmlformats.org/presentationml/2006/ole">
            <mc:AlternateContent xmlns:mc="http://schemas.openxmlformats.org/markup-compatibility/2006">
              <mc:Choice xmlns:v="urn:schemas-microsoft-com:vml" Requires="v">
                <p:oleObj spid="_x0000_s38388" name="公式" r:id="rId17" imgW="2463800" imgH="228600" progId="Equation.3">
                  <p:embed/>
                </p:oleObj>
              </mc:Choice>
              <mc:Fallback>
                <p:oleObj name="公式" r:id="rId17" imgW="2463800" imgH="22860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9552" y="4509120"/>
                        <a:ext cx="5418602" cy="504056"/>
                      </a:xfrm>
                      <a:prstGeom prst="rect">
                        <a:avLst/>
                      </a:prstGeom>
                      <a:noFill/>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2000276859"/>
              </p:ext>
            </p:extLst>
          </p:nvPr>
        </p:nvGraphicFramePr>
        <p:xfrm>
          <a:off x="539552" y="5013176"/>
          <a:ext cx="5823256" cy="432048"/>
        </p:xfrm>
        <a:graphic>
          <a:graphicData uri="http://schemas.openxmlformats.org/presentationml/2006/ole">
            <mc:AlternateContent xmlns:mc="http://schemas.openxmlformats.org/markup-compatibility/2006">
              <mc:Choice xmlns:v="urn:schemas-microsoft-com:vml" Requires="v">
                <p:oleObj spid="_x0000_s38389" name="公式" r:id="rId19" imgW="2946400" imgH="215900" progId="Equation.3">
                  <p:embed/>
                </p:oleObj>
              </mc:Choice>
              <mc:Fallback>
                <p:oleObj name="公式" r:id="rId19" imgW="2946400" imgH="215900"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9552" y="5013176"/>
                        <a:ext cx="5823256" cy="432048"/>
                      </a:xfrm>
                      <a:prstGeom prst="rect">
                        <a:avLst/>
                      </a:prstGeom>
                      <a:noFill/>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991253728"/>
              </p:ext>
            </p:extLst>
          </p:nvPr>
        </p:nvGraphicFramePr>
        <p:xfrm>
          <a:off x="539552" y="5517232"/>
          <a:ext cx="5823256" cy="432048"/>
        </p:xfrm>
        <a:graphic>
          <a:graphicData uri="http://schemas.openxmlformats.org/presentationml/2006/ole">
            <mc:AlternateContent xmlns:mc="http://schemas.openxmlformats.org/markup-compatibility/2006">
              <mc:Choice xmlns:v="urn:schemas-microsoft-com:vml" Requires="v">
                <p:oleObj spid="_x0000_s38390" name="公式" r:id="rId21" imgW="2946400" imgH="215900" progId="Equation.3">
                  <p:embed/>
                </p:oleObj>
              </mc:Choice>
              <mc:Fallback>
                <p:oleObj name="公式" r:id="rId21" imgW="2946400" imgH="215900"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9552" y="5517232"/>
                        <a:ext cx="5823256" cy="432048"/>
                      </a:xfrm>
                      <a:prstGeom prst="rect">
                        <a:avLst/>
                      </a:prstGeom>
                      <a:noFill/>
                    </p:spPr>
                  </p:pic>
                </p:oleObj>
              </mc:Fallback>
            </mc:AlternateContent>
          </a:graphicData>
        </a:graphic>
      </p:graphicFrame>
      <p:sp>
        <p:nvSpPr>
          <p:cNvPr id="40" name="Rectangle 1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20"/>
          <p:cNvSpPr>
            <a:spLocks noChangeArrowheads="1"/>
          </p:cNvSpPr>
          <p:nvPr/>
        </p:nvSpPr>
        <p:spPr bwMode="auto">
          <a:xfrm>
            <a:off x="0" y="685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5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2" name="Rectangle 21"/>
          <p:cNvSpPr>
            <a:spLocks noChangeArrowheads="1"/>
          </p:cNvSpPr>
          <p:nvPr/>
        </p:nvSpPr>
        <p:spPr bwMode="auto">
          <a:xfrm>
            <a:off x="0" y="942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3" name="Rectangle 22"/>
          <p:cNvSpPr>
            <a:spLocks noChangeArrowheads="1"/>
          </p:cNvSpPr>
          <p:nvPr/>
        </p:nvSpPr>
        <p:spPr bwMode="auto">
          <a:xfrm>
            <a:off x="0" y="1162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2F939E0F-848E-E44C-9196-6D473D9E25E2}"/>
              </a:ext>
            </a:extLst>
          </p:cNvPr>
          <p:cNvSpPr>
            <a:spLocks noGrp="1"/>
          </p:cNvSpPr>
          <p:nvPr>
            <p:ph type="sldNum" sz="quarter" idx="12"/>
          </p:nvPr>
        </p:nvSpPr>
        <p:spPr/>
        <p:txBody>
          <a:bodyPr/>
          <a:lstStyle/>
          <a:p>
            <a:fld id="{C46E5E69-9A6D-4AF8-BC2D-C556A9893D8F}" type="slidenum">
              <a:rPr lang="zh-CN" altLang="en-US" smtClean="0"/>
              <a:pPr/>
              <a:t>62</a:t>
            </a:fld>
            <a:endParaRPr lang="zh-CN" altLang="en-US" dirty="0"/>
          </a:p>
        </p:txBody>
      </p:sp>
    </p:spTree>
    <p:extLst>
      <p:ext uri="{BB962C8B-B14F-4D97-AF65-F5344CB8AC3E}">
        <p14:creationId xmlns:p14="http://schemas.microsoft.com/office/powerpoint/2010/main" val="13608567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2.6.3  </a:t>
            </a:r>
            <a:r>
              <a:rPr lang="zh-CN" altLang="zh-CN" dirty="0"/>
              <a:t>查询优化等价变换</a:t>
            </a:r>
            <a:endParaRPr lang="zh-CN" altLang="en-US" i="0" u="none" strike="noStrike" kern="2200" baseline="0" dirty="0"/>
          </a:p>
        </p:txBody>
      </p:sp>
      <p:sp>
        <p:nvSpPr>
          <p:cNvPr id="3" name="文本占位符 2"/>
          <p:cNvSpPr>
            <a:spLocks noGrp="1"/>
          </p:cNvSpPr>
          <p:nvPr>
            <p:ph type="body" idx="1"/>
          </p:nvPr>
        </p:nvSpPr>
        <p:spPr>
          <a:xfrm>
            <a:off x="107504" y="764704"/>
            <a:ext cx="8928992" cy="576064"/>
          </a:xfrm>
        </p:spPr>
        <p:txBody>
          <a:bodyPr>
            <a:noAutofit/>
          </a:bodyPr>
          <a:lstStyle/>
          <a:p>
            <a:r>
              <a:rPr lang="zh-CN" altLang="zh-CN" sz="2000" dirty="0"/>
              <a:t>连接运算的交换律、结合律和分配律</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占位符 2"/>
          <p:cNvSpPr txBox="1">
            <a:spLocks/>
          </p:cNvSpPr>
          <p:nvPr/>
        </p:nvSpPr>
        <p:spPr>
          <a:xfrm>
            <a:off x="107504" y="3356992"/>
            <a:ext cx="8928992" cy="576064"/>
          </a:xfrm>
          <a:prstGeom prst="rect">
            <a:avLst/>
          </a:prstGeom>
        </p:spPr>
        <p:txBody>
          <a:bodyPr vert="horz" lIns="91440" tIns="45720" rIns="91440" bIns="45720" rtlCol="0">
            <a:no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a:t>混合运算</a:t>
            </a:r>
          </a:p>
        </p:txBody>
      </p:sp>
      <p:sp>
        <p:nvSpPr>
          <p:cNvPr id="29" name="Rectangle 8"/>
          <p:cNvSpPr>
            <a:spLocks noChangeArrowheads="1"/>
          </p:cNvSpPr>
          <p:nvPr/>
        </p:nvSpPr>
        <p:spPr bwMode="auto">
          <a:xfrm>
            <a:off x="0" y="676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5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0" name="Rectangle 9"/>
          <p:cNvSpPr>
            <a:spLocks noChangeArrowheads="1"/>
          </p:cNvSpPr>
          <p:nvPr/>
        </p:nvSpPr>
        <p:spPr bwMode="auto">
          <a:xfrm>
            <a:off x="0" y="895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Rectangle 10"/>
          <p:cNvSpPr>
            <a:spLocks noChangeArrowheads="1"/>
          </p:cNvSpPr>
          <p:nvPr/>
        </p:nvSpPr>
        <p:spPr bwMode="auto">
          <a:xfrm>
            <a:off x="0"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Rectangle 11"/>
          <p:cNvSpPr>
            <a:spLocks noChangeArrowheads="1"/>
          </p:cNvSpPr>
          <p:nvPr/>
        </p:nvSpPr>
        <p:spPr bwMode="auto">
          <a:xfrm>
            <a:off x="0" y="1314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Rectangle 12"/>
          <p:cNvSpPr>
            <a:spLocks noChangeArrowheads="1"/>
          </p:cNvSpPr>
          <p:nvPr/>
        </p:nvSpPr>
        <p:spPr bwMode="auto">
          <a:xfrm>
            <a:off x="0" y="1514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Rectangle 13"/>
          <p:cNvSpPr>
            <a:spLocks noChangeArrowheads="1"/>
          </p:cNvSpPr>
          <p:nvPr/>
        </p:nvSpPr>
        <p:spPr bwMode="auto">
          <a:xfrm>
            <a:off x="0" y="1714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0" name="Rectangle 1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20"/>
          <p:cNvSpPr>
            <a:spLocks noChangeArrowheads="1"/>
          </p:cNvSpPr>
          <p:nvPr/>
        </p:nvSpPr>
        <p:spPr bwMode="auto">
          <a:xfrm>
            <a:off x="0" y="685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5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2" name="Rectangle 21"/>
          <p:cNvSpPr>
            <a:spLocks noChangeArrowheads="1"/>
          </p:cNvSpPr>
          <p:nvPr/>
        </p:nvSpPr>
        <p:spPr bwMode="auto">
          <a:xfrm>
            <a:off x="0" y="942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3" name="Rectangle 22"/>
          <p:cNvSpPr>
            <a:spLocks noChangeArrowheads="1"/>
          </p:cNvSpPr>
          <p:nvPr/>
        </p:nvSpPr>
        <p:spPr bwMode="auto">
          <a:xfrm>
            <a:off x="0" y="1162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428450051"/>
              </p:ext>
            </p:extLst>
          </p:nvPr>
        </p:nvGraphicFramePr>
        <p:xfrm>
          <a:off x="1770439" y="3443858"/>
          <a:ext cx="3302475" cy="402332"/>
        </p:xfrm>
        <a:graphic>
          <a:graphicData uri="http://schemas.openxmlformats.org/presentationml/2006/ole">
            <mc:AlternateContent xmlns:mc="http://schemas.openxmlformats.org/markup-compatibility/2006">
              <mc:Choice xmlns:v="urn:schemas-microsoft-com:vml" Requires="v">
                <p:oleObj spid="_x0000_s39424" name="公式" r:id="rId3" imgW="1892300" imgH="228600" progId="Equation.3">
                  <p:embed/>
                </p:oleObj>
              </mc:Choice>
              <mc:Fallback>
                <p:oleObj name="公式" r:id="rId3" imgW="1892300" imgH="228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0439" y="3443858"/>
                        <a:ext cx="3302475" cy="402332"/>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910553973"/>
              </p:ext>
            </p:extLst>
          </p:nvPr>
        </p:nvGraphicFramePr>
        <p:xfrm>
          <a:off x="467544" y="1281112"/>
          <a:ext cx="2182815" cy="366713"/>
        </p:xfrm>
        <a:graphic>
          <a:graphicData uri="http://schemas.openxmlformats.org/presentationml/2006/ole">
            <mc:AlternateContent xmlns:mc="http://schemas.openxmlformats.org/markup-compatibility/2006">
              <mc:Choice xmlns:v="urn:schemas-microsoft-com:vml" Requires="v">
                <p:oleObj spid="_x0000_s39425" name="公式" r:id="rId5" imgW="1193800" imgH="190500" progId="Equation.3">
                  <p:embed/>
                </p:oleObj>
              </mc:Choice>
              <mc:Fallback>
                <p:oleObj name="公式" r:id="rId5" imgW="1193800" imgH="1905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544" y="1281112"/>
                        <a:ext cx="2182815" cy="366713"/>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526869747"/>
              </p:ext>
            </p:extLst>
          </p:nvPr>
        </p:nvGraphicFramePr>
        <p:xfrm>
          <a:off x="467544" y="1623455"/>
          <a:ext cx="2128971" cy="519670"/>
        </p:xfrm>
        <a:graphic>
          <a:graphicData uri="http://schemas.openxmlformats.org/presentationml/2006/ole">
            <mc:AlternateContent xmlns:mc="http://schemas.openxmlformats.org/markup-compatibility/2006">
              <mc:Choice xmlns:v="urn:schemas-microsoft-com:vml" Requires="v">
                <p:oleObj spid="_x0000_s39426" name="公式" r:id="rId7" imgW="1205977" imgH="304668" progId="Equation.3">
                  <p:embed/>
                </p:oleObj>
              </mc:Choice>
              <mc:Fallback>
                <p:oleObj name="公式" r:id="rId7" imgW="1205977" imgH="304668"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1623455"/>
                        <a:ext cx="2128971" cy="51967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54264129"/>
              </p:ext>
            </p:extLst>
          </p:nvPr>
        </p:nvGraphicFramePr>
        <p:xfrm>
          <a:off x="492391" y="2006904"/>
          <a:ext cx="4101568" cy="377776"/>
        </p:xfrm>
        <a:graphic>
          <a:graphicData uri="http://schemas.openxmlformats.org/presentationml/2006/ole">
            <mc:AlternateContent xmlns:mc="http://schemas.openxmlformats.org/markup-compatibility/2006">
              <mc:Choice xmlns:v="urn:schemas-microsoft-com:vml" Requires="v">
                <p:oleObj spid="_x0000_s39427" name="公式" r:id="rId9" imgW="2159000" imgH="190500" progId="Equation.3">
                  <p:embed/>
                </p:oleObj>
              </mc:Choice>
              <mc:Fallback>
                <p:oleObj name="公式" r:id="rId9" imgW="2159000" imgH="1905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2391" y="2006904"/>
                        <a:ext cx="4101568" cy="377776"/>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084487636"/>
              </p:ext>
            </p:extLst>
          </p:nvPr>
        </p:nvGraphicFramePr>
        <p:xfrm>
          <a:off x="513434" y="2420888"/>
          <a:ext cx="4042780" cy="554541"/>
        </p:xfrm>
        <a:graphic>
          <a:graphicData uri="http://schemas.openxmlformats.org/presentationml/2006/ole">
            <mc:AlternateContent xmlns:mc="http://schemas.openxmlformats.org/markup-compatibility/2006">
              <mc:Choice xmlns:v="urn:schemas-microsoft-com:vml" Requires="v">
                <p:oleObj spid="_x0000_s39428" name="公式" r:id="rId11" imgW="2145369" imgH="304668" progId="Equation.3">
                  <p:embed/>
                </p:oleObj>
              </mc:Choice>
              <mc:Fallback>
                <p:oleObj name="公式" r:id="rId11" imgW="2145369" imgH="304668"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3434" y="2420888"/>
                        <a:ext cx="4042780" cy="554541"/>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847626492"/>
              </p:ext>
            </p:extLst>
          </p:nvPr>
        </p:nvGraphicFramePr>
        <p:xfrm>
          <a:off x="518744" y="2996952"/>
          <a:ext cx="3835501" cy="389109"/>
        </p:xfrm>
        <a:graphic>
          <a:graphicData uri="http://schemas.openxmlformats.org/presentationml/2006/ole">
            <mc:AlternateContent xmlns:mc="http://schemas.openxmlformats.org/markup-compatibility/2006">
              <mc:Choice xmlns:v="urn:schemas-microsoft-com:vml" Requires="v">
                <p:oleObj spid="_x0000_s39429" name="公式" r:id="rId13" imgW="1968500" imgH="190500" progId="Equation.3">
                  <p:embed/>
                </p:oleObj>
              </mc:Choice>
              <mc:Fallback>
                <p:oleObj name="公式" r:id="rId13" imgW="1968500" imgH="190500" progId="Equation.3">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744" y="2996952"/>
                        <a:ext cx="3835501" cy="389109"/>
                      </a:xfrm>
                      <a:prstGeom prst="rect">
                        <a:avLst/>
                      </a:prstGeom>
                      <a:noFill/>
                    </p:spPr>
                  </p:pic>
                </p:oleObj>
              </mc:Fallback>
            </mc:AlternateContent>
          </a:graphicData>
        </a:graphic>
      </p:graphicFrame>
      <p:sp>
        <p:nvSpPr>
          <p:cNvPr id="44" name="流程图: 对照 43"/>
          <p:cNvSpPr>
            <a:spLocks noChangeArrowheads="1"/>
          </p:cNvSpPr>
          <p:nvPr/>
        </p:nvSpPr>
        <p:spPr bwMode="auto">
          <a:xfrm rot="-5400000">
            <a:off x="979220" y="1373505"/>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5" name="流程图: 对照 44"/>
          <p:cNvSpPr>
            <a:spLocks noChangeArrowheads="1"/>
          </p:cNvSpPr>
          <p:nvPr/>
        </p:nvSpPr>
        <p:spPr bwMode="auto">
          <a:xfrm rot="-5400000">
            <a:off x="2124075" y="1421739"/>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6" name="流程图: 对照 45"/>
          <p:cNvSpPr>
            <a:spLocks noChangeArrowheads="1"/>
          </p:cNvSpPr>
          <p:nvPr/>
        </p:nvSpPr>
        <p:spPr bwMode="auto">
          <a:xfrm rot="-5400000">
            <a:off x="945687" y="1706880"/>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7" name="流程图: 对照 46"/>
          <p:cNvSpPr>
            <a:spLocks noChangeArrowheads="1"/>
          </p:cNvSpPr>
          <p:nvPr/>
        </p:nvSpPr>
        <p:spPr bwMode="auto">
          <a:xfrm rot="-5400000">
            <a:off x="2017395" y="1706880"/>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8" name="流程图: 对照 47"/>
          <p:cNvSpPr>
            <a:spLocks noChangeArrowheads="1"/>
          </p:cNvSpPr>
          <p:nvPr/>
        </p:nvSpPr>
        <p:spPr bwMode="auto">
          <a:xfrm rot="-5400000">
            <a:off x="986501" y="2089785"/>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9" name="流程图: 对照 48"/>
          <p:cNvSpPr>
            <a:spLocks noChangeArrowheads="1"/>
          </p:cNvSpPr>
          <p:nvPr/>
        </p:nvSpPr>
        <p:spPr bwMode="auto">
          <a:xfrm rot="-5400000">
            <a:off x="1796415" y="2089785"/>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0" name="流程图: 对照 49"/>
          <p:cNvSpPr>
            <a:spLocks noChangeArrowheads="1"/>
          </p:cNvSpPr>
          <p:nvPr/>
        </p:nvSpPr>
        <p:spPr bwMode="auto">
          <a:xfrm rot="-5400000">
            <a:off x="3164205" y="2056260"/>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1" name="流程图: 对照 50"/>
          <p:cNvSpPr>
            <a:spLocks noChangeArrowheads="1"/>
          </p:cNvSpPr>
          <p:nvPr/>
        </p:nvSpPr>
        <p:spPr bwMode="auto">
          <a:xfrm rot="-5400000">
            <a:off x="4003556" y="2089785"/>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2" name="流程图: 对照 51"/>
          <p:cNvSpPr>
            <a:spLocks noChangeArrowheads="1"/>
          </p:cNvSpPr>
          <p:nvPr/>
        </p:nvSpPr>
        <p:spPr bwMode="auto">
          <a:xfrm rot="-5400000">
            <a:off x="937206" y="2557284"/>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3" name="流程图: 对照 52"/>
          <p:cNvSpPr>
            <a:spLocks noChangeArrowheads="1"/>
          </p:cNvSpPr>
          <p:nvPr/>
        </p:nvSpPr>
        <p:spPr bwMode="auto">
          <a:xfrm rot="-5400000">
            <a:off x="1849755" y="2471185"/>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4" name="流程图: 对照 53"/>
          <p:cNvSpPr>
            <a:spLocks noChangeArrowheads="1"/>
          </p:cNvSpPr>
          <p:nvPr/>
        </p:nvSpPr>
        <p:spPr bwMode="auto">
          <a:xfrm rot="-5400000">
            <a:off x="3162900" y="2542966"/>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5" name="流程图: 对照 54"/>
          <p:cNvSpPr>
            <a:spLocks noChangeArrowheads="1"/>
          </p:cNvSpPr>
          <p:nvPr/>
        </p:nvSpPr>
        <p:spPr bwMode="auto">
          <a:xfrm rot="-5400000">
            <a:off x="3957601" y="2451526"/>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6" name="流程图: 对照 55"/>
          <p:cNvSpPr>
            <a:spLocks noChangeArrowheads="1"/>
          </p:cNvSpPr>
          <p:nvPr/>
        </p:nvSpPr>
        <p:spPr bwMode="auto">
          <a:xfrm rot="-5400000">
            <a:off x="1411268" y="3133348"/>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7" name="流程图: 对照 56"/>
          <p:cNvSpPr>
            <a:spLocks noChangeArrowheads="1"/>
          </p:cNvSpPr>
          <p:nvPr/>
        </p:nvSpPr>
        <p:spPr bwMode="auto">
          <a:xfrm rot="-5400000">
            <a:off x="3278583" y="3105921"/>
            <a:ext cx="91440" cy="106680"/>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18"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3"/>
          <p:cNvSpPr>
            <a:spLocks noChangeArrowheads="1"/>
          </p:cNvSpPr>
          <p:nvPr/>
        </p:nvSpPr>
        <p:spPr bwMode="auto">
          <a:xfrm>
            <a:off x="0" y="495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24"/>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 name="Rectangle 25"/>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26"/>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7"/>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8" name="Rectangle 28"/>
          <p:cNvSpPr>
            <a:spLocks noChangeArrowheads="1"/>
          </p:cNvSpPr>
          <p:nvPr/>
        </p:nvSpPr>
        <p:spPr bwMode="auto">
          <a:xfrm>
            <a:off x="0" y="1152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29"/>
          <p:cNvSpPr>
            <a:spLocks noChangeArrowheads="1"/>
          </p:cNvSpPr>
          <p:nvPr/>
        </p:nvSpPr>
        <p:spPr bwMode="auto">
          <a:xfrm>
            <a:off x="0" y="1647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1" name="Rectangle 31"/>
          <p:cNvSpPr>
            <a:spLocks noChangeArrowheads="1"/>
          </p:cNvSpPr>
          <p:nvPr/>
        </p:nvSpPr>
        <p:spPr bwMode="auto">
          <a:xfrm>
            <a:off x="0" y="1943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2" name="Rectangle 32"/>
          <p:cNvSpPr>
            <a:spLocks noChangeArrowheads="1"/>
          </p:cNvSpPr>
          <p:nvPr/>
        </p:nvSpPr>
        <p:spPr bwMode="auto">
          <a:xfrm>
            <a:off x="0" y="2143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aphicFrame>
        <p:nvGraphicFramePr>
          <p:cNvPr id="63" name="对象 62"/>
          <p:cNvGraphicFramePr>
            <a:graphicFrameLocks noChangeAspect="1"/>
          </p:cNvGraphicFramePr>
          <p:nvPr>
            <p:extLst>
              <p:ext uri="{D42A27DB-BD31-4B8C-83A1-F6EECF244321}">
                <p14:modId xmlns:p14="http://schemas.microsoft.com/office/powerpoint/2010/main" val="1351442340"/>
              </p:ext>
            </p:extLst>
          </p:nvPr>
        </p:nvGraphicFramePr>
        <p:xfrm>
          <a:off x="584835" y="3933056"/>
          <a:ext cx="5384946" cy="360040"/>
        </p:xfrm>
        <a:graphic>
          <a:graphicData uri="http://schemas.openxmlformats.org/presentationml/2006/ole">
            <mc:AlternateContent xmlns:mc="http://schemas.openxmlformats.org/markup-compatibility/2006">
              <mc:Choice xmlns:v="urn:schemas-microsoft-com:vml" Requires="v">
                <p:oleObj spid="_x0000_s39430" name="公式" r:id="rId15" imgW="3263900" imgH="215900" progId="Equation.3">
                  <p:embed/>
                </p:oleObj>
              </mc:Choice>
              <mc:Fallback>
                <p:oleObj name="公式" r:id="rId15" imgW="3263900" imgH="215900" progId="Equation.3">
                  <p:embed/>
                  <p:pic>
                    <p:nvPicPr>
                      <p:cNvPr id="0"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4835" y="3933056"/>
                        <a:ext cx="5384946" cy="360040"/>
                      </a:xfrm>
                      <a:prstGeom prst="rect">
                        <a:avLst/>
                      </a:prstGeom>
                      <a:noFill/>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2644008619"/>
              </p:ext>
            </p:extLst>
          </p:nvPr>
        </p:nvGraphicFramePr>
        <p:xfrm>
          <a:off x="579305" y="4365104"/>
          <a:ext cx="6527682" cy="360040"/>
        </p:xfrm>
        <a:graphic>
          <a:graphicData uri="http://schemas.openxmlformats.org/presentationml/2006/ole">
            <mc:AlternateContent xmlns:mc="http://schemas.openxmlformats.org/markup-compatibility/2006">
              <mc:Choice xmlns:v="urn:schemas-microsoft-com:vml" Requires="v">
                <p:oleObj spid="_x0000_s39431" name="公式" r:id="rId17" imgW="3962400" imgH="215900" progId="Equation.3">
                  <p:embed/>
                </p:oleObj>
              </mc:Choice>
              <mc:Fallback>
                <p:oleObj name="公式" r:id="rId17" imgW="3962400" imgH="215900" progId="Equation.3">
                  <p:embed/>
                  <p:pic>
                    <p:nvPicPr>
                      <p:cNvPr id="0"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9305" y="4365104"/>
                        <a:ext cx="6527682" cy="360040"/>
                      </a:xfrm>
                      <a:prstGeom prst="rect">
                        <a:avLst/>
                      </a:prstGeom>
                      <a:noFill/>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3849738023"/>
              </p:ext>
            </p:extLst>
          </p:nvPr>
        </p:nvGraphicFramePr>
        <p:xfrm>
          <a:off x="622935" y="4725144"/>
          <a:ext cx="5626672" cy="720080"/>
        </p:xfrm>
        <a:graphic>
          <a:graphicData uri="http://schemas.openxmlformats.org/presentationml/2006/ole">
            <mc:AlternateContent xmlns:mc="http://schemas.openxmlformats.org/markup-compatibility/2006">
              <mc:Choice xmlns:v="urn:schemas-microsoft-com:vml" Requires="v">
                <p:oleObj spid="_x0000_s39432" name="公式" r:id="rId19" imgW="3200400" imgH="419100" progId="Equation.3">
                  <p:embed/>
                </p:oleObj>
              </mc:Choice>
              <mc:Fallback>
                <p:oleObj name="公式" r:id="rId19" imgW="3200400" imgH="419100"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2935" y="4725144"/>
                        <a:ext cx="5626672" cy="720080"/>
                      </a:xfrm>
                      <a:prstGeom prst="rect">
                        <a:avLst/>
                      </a:prstGeom>
                      <a:noFill/>
                    </p:spPr>
                  </p:pic>
                </p:oleObj>
              </mc:Fallback>
            </mc:AlternateContent>
          </a:graphicData>
        </a:graphic>
      </p:graphicFrame>
      <p:graphicFrame>
        <p:nvGraphicFramePr>
          <p:cNvPr id="66" name="对象 65"/>
          <p:cNvGraphicFramePr>
            <a:graphicFrameLocks noChangeAspect="1"/>
          </p:cNvGraphicFramePr>
          <p:nvPr>
            <p:extLst>
              <p:ext uri="{D42A27DB-BD31-4B8C-83A1-F6EECF244321}">
                <p14:modId xmlns:p14="http://schemas.microsoft.com/office/powerpoint/2010/main" val="3269386088"/>
              </p:ext>
            </p:extLst>
          </p:nvPr>
        </p:nvGraphicFramePr>
        <p:xfrm>
          <a:off x="611560" y="5517232"/>
          <a:ext cx="6715165" cy="720080"/>
        </p:xfrm>
        <a:graphic>
          <a:graphicData uri="http://schemas.openxmlformats.org/presentationml/2006/ole">
            <mc:AlternateContent xmlns:mc="http://schemas.openxmlformats.org/markup-compatibility/2006">
              <mc:Choice xmlns:v="urn:schemas-microsoft-com:vml" Requires="v">
                <p:oleObj spid="_x0000_s39433" name="公式" r:id="rId21" imgW="3136900" imgH="419100" progId="Equation.3">
                  <p:embed/>
                </p:oleObj>
              </mc:Choice>
              <mc:Fallback>
                <p:oleObj name="公式" r:id="rId21" imgW="3136900" imgH="419100" progId="Equation.3">
                  <p:embed/>
                  <p:pic>
                    <p:nvPicPr>
                      <p:cNvPr id="0" name="Object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1560" y="5517232"/>
                        <a:ext cx="6715165" cy="720080"/>
                      </a:xfrm>
                      <a:prstGeom prst="rect">
                        <a:avLst/>
                      </a:prstGeom>
                      <a:noFill/>
                    </p:spPr>
                  </p:pic>
                </p:oleObj>
              </mc:Fallback>
            </mc:AlternateContent>
          </a:graphicData>
        </a:graphic>
      </p:graphicFrame>
      <p:sp>
        <p:nvSpPr>
          <p:cNvPr id="67" name="Rectangle 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8" name="Rectangle 38"/>
          <p:cNvSpPr>
            <a:spLocks noChangeArrowheads="1"/>
          </p:cNvSpPr>
          <p:nvPr/>
        </p:nvSpPr>
        <p:spPr bwMode="auto">
          <a:xfrm>
            <a:off x="0" y="6762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9" name="Rectangle 39"/>
          <p:cNvSpPr>
            <a:spLocks noChangeArrowheads="1"/>
          </p:cNvSpPr>
          <p:nvPr/>
        </p:nvSpPr>
        <p:spPr bwMode="auto">
          <a:xfrm>
            <a:off x="0" y="1466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0" name="Rectangle 40"/>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1" name="Rectangle 41"/>
          <p:cNvSpPr>
            <a:spLocks noChangeArrowheads="1"/>
          </p:cNvSpPr>
          <p:nvPr/>
        </p:nvSpPr>
        <p:spPr bwMode="auto">
          <a:xfrm>
            <a:off x="0"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8B60521A-6757-4449-A7A4-D2DB9F6F8AE9}"/>
              </a:ext>
            </a:extLst>
          </p:cNvPr>
          <p:cNvSpPr>
            <a:spLocks noGrp="1"/>
          </p:cNvSpPr>
          <p:nvPr>
            <p:ph type="sldNum" sz="quarter" idx="12"/>
          </p:nvPr>
        </p:nvSpPr>
        <p:spPr/>
        <p:txBody>
          <a:bodyPr/>
          <a:lstStyle/>
          <a:p>
            <a:fld id="{C46E5E69-9A6D-4AF8-BC2D-C556A9893D8F}" type="slidenum">
              <a:rPr lang="zh-CN" altLang="en-US" smtClean="0"/>
              <a:pPr/>
              <a:t>63</a:t>
            </a:fld>
            <a:endParaRPr lang="zh-CN" altLang="en-US" dirty="0"/>
          </a:p>
        </p:txBody>
      </p:sp>
    </p:spTree>
    <p:extLst>
      <p:ext uri="{BB962C8B-B14F-4D97-AF65-F5344CB8AC3E}">
        <p14:creationId xmlns:p14="http://schemas.microsoft.com/office/powerpoint/2010/main" val="38401079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en-US" altLang="zh-CN" dirty="0"/>
              <a:t>2.6.4  </a:t>
            </a:r>
            <a:r>
              <a:rPr lang="zh-CN" altLang="zh-CN" dirty="0"/>
              <a:t>查询优化规则</a:t>
            </a:r>
            <a:endParaRPr lang="zh-CN" altLang="zh-CN" b="1" dirty="0"/>
          </a:p>
        </p:txBody>
      </p:sp>
      <p:sp>
        <p:nvSpPr>
          <p:cNvPr id="3" name="文本占位符 2"/>
          <p:cNvSpPr>
            <a:spLocks noGrp="1"/>
          </p:cNvSpPr>
          <p:nvPr>
            <p:ph type="body" idx="1"/>
          </p:nvPr>
        </p:nvSpPr>
        <p:spPr>
          <a:xfrm>
            <a:off x="107504" y="495300"/>
            <a:ext cx="8928992" cy="5976664"/>
          </a:xfrm>
        </p:spPr>
        <p:txBody>
          <a:bodyPr>
            <a:noAutofit/>
          </a:bodyPr>
          <a:lstStyle/>
          <a:p>
            <a:r>
              <a:rPr lang="zh-CN" altLang="zh-CN" sz="2000" dirty="0"/>
              <a:t>选择运算（减少元组数量）或者投影运算（减少属性个数）尽量先运算。</a:t>
            </a:r>
          </a:p>
          <a:p>
            <a:pPr marL="363538" indent="0">
              <a:buNone/>
            </a:pPr>
            <a:r>
              <a:rPr lang="zh-CN" altLang="zh-CN" sz="2000" dirty="0"/>
              <a:t>例如：在例</a:t>
            </a:r>
            <a:r>
              <a:rPr lang="en-US" altLang="zh-CN" sz="2000" dirty="0"/>
              <a:t>2.31</a:t>
            </a:r>
            <a:r>
              <a:rPr lang="zh-CN" altLang="zh-CN" sz="2000" dirty="0"/>
              <a:t>中，方案</a:t>
            </a:r>
            <a:r>
              <a:rPr lang="en-US" altLang="zh-CN" sz="2000" dirty="0"/>
              <a:t>2</a:t>
            </a:r>
            <a:r>
              <a:rPr lang="zh-CN" altLang="zh-CN" sz="2000" dirty="0"/>
              <a:t>先对三张表进行了选择操作。</a:t>
            </a:r>
          </a:p>
          <a:p>
            <a:r>
              <a:rPr lang="zh-CN" altLang="zh-CN" sz="2000" dirty="0"/>
              <a:t>选择和投影尽量同时运算。减少数据库的访问次数和对元组的扫描次数。</a:t>
            </a:r>
          </a:p>
          <a:p>
            <a:pPr marL="363538" indent="0">
              <a:buNone/>
            </a:pPr>
            <a:r>
              <a:rPr lang="zh-CN" altLang="zh-CN" sz="2000" dirty="0"/>
              <a:t>例如：在例</a:t>
            </a:r>
            <a:r>
              <a:rPr lang="en-US" altLang="zh-CN" sz="2000" dirty="0"/>
              <a:t>2.31</a:t>
            </a:r>
            <a:r>
              <a:rPr lang="zh-CN" altLang="zh-CN" sz="2000" dirty="0"/>
              <a:t>中，尽管方案</a:t>
            </a:r>
            <a:r>
              <a:rPr lang="en-US" altLang="zh-CN" sz="2000" dirty="0"/>
              <a:t>3</a:t>
            </a:r>
            <a:r>
              <a:rPr lang="zh-CN" altLang="zh-CN" sz="2000" dirty="0"/>
              <a:t>是先选择后投影，但是执行查询时，可以对数据对象进行一次扫描，并同时进行选择判断和投影运算。</a:t>
            </a:r>
          </a:p>
          <a:p>
            <a:r>
              <a:rPr lang="zh-CN" altLang="zh-CN" sz="2000" dirty="0"/>
              <a:t>投影运算尽量与其前后的双目运算同时运算（减少数据访问和扫描次数）。</a:t>
            </a:r>
          </a:p>
          <a:p>
            <a:pPr marL="363538" indent="0">
              <a:buNone/>
            </a:pPr>
            <a:r>
              <a:rPr lang="zh-CN" altLang="zh-CN" sz="2000" dirty="0"/>
              <a:t>例如：在例</a:t>
            </a:r>
            <a:r>
              <a:rPr lang="en-US" altLang="zh-CN" sz="2000" dirty="0"/>
              <a:t>2.31</a:t>
            </a:r>
            <a:r>
              <a:rPr lang="zh-CN" altLang="zh-CN" sz="2000" dirty="0"/>
              <a:t>中，方案</a:t>
            </a:r>
            <a:r>
              <a:rPr lang="en-US" altLang="zh-CN" sz="2000" dirty="0"/>
              <a:t>1</a:t>
            </a:r>
            <a:r>
              <a:rPr lang="zh-CN" altLang="zh-CN" sz="2000" dirty="0"/>
              <a:t>的三张表的笛卡尔积与七个选择条件和投影运算，可以在对数据对象的一次扫描中同时运算。</a:t>
            </a:r>
          </a:p>
          <a:p>
            <a:r>
              <a:rPr lang="zh-CN" altLang="zh-CN" sz="2000" dirty="0"/>
              <a:t>选择运算尽量与其前笛卡尔积合并为连接运算。连接运算通常比笛卡尔积生成更少的中间数据，从而节省更多时间。</a:t>
            </a:r>
          </a:p>
          <a:p>
            <a:pPr marL="363538" indent="0">
              <a:buNone/>
            </a:pPr>
            <a:r>
              <a:rPr lang="zh-CN" altLang="zh-CN" sz="2000" dirty="0"/>
              <a:t>例如：在例</a:t>
            </a:r>
            <a:r>
              <a:rPr lang="en-US" altLang="zh-CN" sz="2000" dirty="0"/>
              <a:t>2.31</a:t>
            </a:r>
            <a:r>
              <a:rPr lang="zh-CN" altLang="zh-CN" sz="2000" dirty="0"/>
              <a:t>中，方案</a:t>
            </a:r>
            <a:r>
              <a:rPr lang="en-US" altLang="zh-CN" sz="2000" dirty="0"/>
              <a:t>3</a:t>
            </a:r>
            <a:r>
              <a:rPr lang="zh-CN" altLang="zh-CN" sz="2000" dirty="0"/>
              <a:t>的等值选择运算与其前三张表的笛卡尔积合并为连接运算，并同时进行投影运算。</a:t>
            </a:r>
          </a:p>
          <a:p>
            <a:r>
              <a:rPr lang="zh-CN" altLang="zh-CN" sz="2000" dirty="0"/>
              <a:t>提取公共代数表达式（减少数据访问和扫描次数，避免重复运算）。</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8"/>
          <p:cNvSpPr>
            <a:spLocks noChangeArrowheads="1"/>
          </p:cNvSpPr>
          <p:nvPr/>
        </p:nvSpPr>
        <p:spPr bwMode="auto">
          <a:xfrm>
            <a:off x="0" y="676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itchFamily="18" charset="0"/>
              </a:rPr>
              <a:t> </a:t>
            </a:r>
            <a:endParaRPr kumimoji="0" lang="en-US" altLang="zh-CN" sz="5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0" name="Rectangle 9"/>
          <p:cNvSpPr>
            <a:spLocks noChangeArrowheads="1"/>
          </p:cNvSpPr>
          <p:nvPr/>
        </p:nvSpPr>
        <p:spPr bwMode="auto">
          <a:xfrm>
            <a:off x="0" y="895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Rectangle 10"/>
          <p:cNvSpPr>
            <a:spLocks noChangeArrowheads="1"/>
          </p:cNvSpPr>
          <p:nvPr/>
        </p:nvSpPr>
        <p:spPr bwMode="auto">
          <a:xfrm>
            <a:off x="0"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Rectangle 11"/>
          <p:cNvSpPr>
            <a:spLocks noChangeArrowheads="1"/>
          </p:cNvSpPr>
          <p:nvPr/>
        </p:nvSpPr>
        <p:spPr bwMode="auto">
          <a:xfrm>
            <a:off x="0" y="1314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Rectangle 12"/>
          <p:cNvSpPr>
            <a:spLocks noChangeArrowheads="1"/>
          </p:cNvSpPr>
          <p:nvPr/>
        </p:nvSpPr>
        <p:spPr bwMode="auto">
          <a:xfrm>
            <a:off x="0" y="1514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Rectangle 13"/>
          <p:cNvSpPr>
            <a:spLocks noChangeArrowheads="1"/>
          </p:cNvSpPr>
          <p:nvPr/>
        </p:nvSpPr>
        <p:spPr bwMode="auto">
          <a:xfrm>
            <a:off x="0" y="1714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0" name="Rectangle 1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2" name="Rectangle 21"/>
          <p:cNvSpPr>
            <a:spLocks noChangeArrowheads="1"/>
          </p:cNvSpPr>
          <p:nvPr/>
        </p:nvSpPr>
        <p:spPr bwMode="auto">
          <a:xfrm>
            <a:off x="0" y="942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3" name="Rectangle 22"/>
          <p:cNvSpPr>
            <a:spLocks noChangeArrowheads="1"/>
          </p:cNvSpPr>
          <p:nvPr/>
        </p:nvSpPr>
        <p:spPr bwMode="auto">
          <a:xfrm>
            <a:off x="0" y="1162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3"/>
          <p:cNvSpPr>
            <a:spLocks noChangeArrowheads="1"/>
          </p:cNvSpPr>
          <p:nvPr/>
        </p:nvSpPr>
        <p:spPr bwMode="auto">
          <a:xfrm>
            <a:off x="0" y="495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24"/>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 name="Rectangle 25"/>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26"/>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7"/>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8" name="Rectangle 28"/>
          <p:cNvSpPr>
            <a:spLocks noChangeArrowheads="1"/>
          </p:cNvSpPr>
          <p:nvPr/>
        </p:nvSpPr>
        <p:spPr bwMode="auto">
          <a:xfrm>
            <a:off x="0" y="1152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29"/>
          <p:cNvSpPr>
            <a:spLocks noChangeArrowheads="1"/>
          </p:cNvSpPr>
          <p:nvPr/>
        </p:nvSpPr>
        <p:spPr bwMode="auto">
          <a:xfrm>
            <a:off x="0" y="1647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1" name="Rectangle 31"/>
          <p:cNvSpPr>
            <a:spLocks noChangeArrowheads="1"/>
          </p:cNvSpPr>
          <p:nvPr/>
        </p:nvSpPr>
        <p:spPr bwMode="auto">
          <a:xfrm>
            <a:off x="0" y="1943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2" name="Rectangle 32"/>
          <p:cNvSpPr>
            <a:spLocks noChangeArrowheads="1"/>
          </p:cNvSpPr>
          <p:nvPr/>
        </p:nvSpPr>
        <p:spPr bwMode="auto">
          <a:xfrm>
            <a:off x="0" y="2143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7" name="Rectangle 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9" name="Rectangle 39"/>
          <p:cNvSpPr>
            <a:spLocks noChangeArrowheads="1"/>
          </p:cNvSpPr>
          <p:nvPr/>
        </p:nvSpPr>
        <p:spPr bwMode="auto">
          <a:xfrm>
            <a:off x="0" y="1466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0" name="Rectangle 40"/>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1" name="Rectangle 41"/>
          <p:cNvSpPr>
            <a:spLocks noChangeArrowheads="1"/>
          </p:cNvSpPr>
          <p:nvPr/>
        </p:nvSpPr>
        <p:spPr bwMode="auto">
          <a:xfrm>
            <a:off x="0"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9BCC4402-28FF-A04C-A386-7D62744DED05}"/>
              </a:ext>
            </a:extLst>
          </p:cNvPr>
          <p:cNvSpPr>
            <a:spLocks noGrp="1"/>
          </p:cNvSpPr>
          <p:nvPr>
            <p:ph type="sldNum" sz="quarter" idx="12"/>
          </p:nvPr>
        </p:nvSpPr>
        <p:spPr/>
        <p:txBody>
          <a:bodyPr/>
          <a:lstStyle/>
          <a:p>
            <a:fld id="{C46E5E69-9A6D-4AF8-BC2D-C556A9893D8F}" type="slidenum">
              <a:rPr lang="zh-CN" altLang="en-US" smtClean="0"/>
              <a:pPr/>
              <a:t>64</a:t>
            </a:fld>
            <a:endParaRPr lang="zh-CN" altLang="en-US" dirty="0"/>
          </a:p>
        </p:txBody>
      </p:sp>
    </p:spTree>
    <p:extLst>
      <p:ext uri="{BB962C8B-B14F-4D97-AF65-F5344CB8AC3E}">
        <p14:creationId xmlns:p14="http://schemas.microsoft.com/office/powerpoint/2010/main" val="38660608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en-US" altLang="zh-CN" dirty="0"/>
              <a:t>2.6.5  </a:t>
            </a:r>
            <a:r>
              <a:rPr lang="zh-CN" altLang="zh-CN" dirty="0"/>
              <a:t>查询优化方法</a:t>
            </a:r>
            <a:endParaRPr lang="zh-CN" altLang="zh-CN" b="1" dirty="0"/>
          </a:p>
        </p:txBody>
      </p:sp>
      <p:sp>
        <p:nvSpPr>
          <p:cNvPr id="3" name="文本占位符 2"/>
          <p:cNvSpPr>
            <a:spLocks noGrp="1"/>
          </p:cNvSpPr>
          <p:nvPr>
            <p:ph type="body" idx="1"/>
          </p:nvPr>
        </p:nvSpPr>
        <p:spPr>
          <a:xfrm>
            <a:off x="107504" y="495300"/>
            <a:ext cx="8928992" cy="5976664"/>
          </a:xfrm>
        </p:spPr>
        <p:txBody>
          <a:bodyPr>
            <a:noAutofit/>
          </a:bodyPr>
          <a:lstStyle/>
          <a:p>
            <a:r>
              <a:rPr lang="zh-CN" altLang="zh-CN" sz="2000" dirty="0"/>
              <a:t>查询的关系代数表示。</a:t>
            </a:r>
          </a:p>
          <a:p>
            <a:pPr marL="363538" indent="0">
              <a:buNone/>
            </a:pPr>
            <a:r>
              <a:rPr lang="zh-CN" altLang="zh-CN" sz="2000" dirty="0"/>
              <a:t>利用基本运算，写出与查询等价的关系代数表达式。</a:t>
            </a:r>
          </a:p>
          <a:p>
            <a:r>
              <a:rPr lang="zh-CN" altLang="zh-CN" sz="2000" dirty="0"/>
              <a:t>绘制初始查询树。</a:t>
            </a:r>
          </a:p>
          <a:p>
            <a:pPr marL="363538" indent="0">
              <a:buNone/>
            </a:pPr>
            <a:r>
              <a:rPr lang="zh-CN" altLang="zh-CN" sz="2000" dirty="0"/>
              <a:t>根据关系代数表达式，绘制出与之相对应的初始查询树。</a:t>
            </a:r>
          </a:p>
          <a:p>
            <a:r>
              <a:rPr lang="zh-CN" altLang="zh-CN" sz="2000" dirty="0"/>
              <a:t>分解选择和投影运算，更新查询树。</a:t>
            </a:r>
          </a:p>
          <a:p>
            <a:pPr marL="363538" indent="0">
              <a:buNone/>
            </a:pPr>
            <a:r>
              <a:rPr lang="zh-CN" altLang="zh-CN" sz="2000" dirty="0"/>
              <a:t>分解成与不同关系相关的多个子查询，并移至叶结点，更新查询树。</a:t>
            </a:r>
          </a:p>
          <a:p>
            <a:pPr marL="363538" indent="0">
              <a:buNone/>
            </a:pPr>
            <a:r>
              <a:rPr lang="zh-CN" altLang="zh-CN" sz="2000" dirty="0"/>
              <a:t>分解投影属性与不同关系相关的多个子投影，并移至叶结点，更新查询树。</a:t>
            </a:r>
          </a:p>
          <a:p>
            <a:r>
              <a:rPr lang="zh-CN" altLang="zh-CN" sz="2000" dirty="0"/>
              <a:t>合并选择和投影运算，更新查询树。</a:t>
            </a:r>
          </a:p>
          <a:p>
            <a:pPr marL="363538" indent="0">
              <a:buNone/>
            </a:pPr>
            <a:r>
              <a:rPr lang="zh-CN" altLang="zh-CN" sz="2000" dirty="0"/>
              <a:t>相同关系的相邻的选择和投影运算，在一次扫描中同时运算，更新查询树。</a:t>
            </a:r>
          </a:p>
          <a:p>
            <a:r>
              <a:rPr lang="zh-CN" altLang="zh-CN" sz="2000" dirty="0"/>
              <a:t>结点分组，连接运算，优化查询树。</a:t>
            </a:r>
          </a:p>
          <a:p>
            <a:pPr marL="363538" indent="0">
              <a:buNone/>
            </a:pPr>
            <a:r>
              <a:rPr lang="zh-CN" altLang="zh-CN" sz="2000" dirty="0"/>
              <a:t>把双目运算与相邻的单目运算分为一组，一次扫描中同时运算。优化查询树</a:t>
            </a:r>
          </a:p>
          <a:p>
            <a:r>
              <a:rPr lang="zh-CN" altLang="zh-CN" sz="2000" dirty="0"/>
              <a:t>生成查询优化器，提供查询优化方案。</a:t>
            </a: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9"/>
          <p:cNvSpPr>
            <a:spLocks noChangeArrowheads="1"/>
          </p:cNvSpPr>
          <p:nvPr/>
        </p:nvSpPr>
        <p:spPr bwMode="auto">
          <a:xfrm>
            <a:off x="0" y="895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Rectangle 10"/>
          <p:cNvSpPr>
            <a:spLocks noChangeArrowheads="1"/>
          </p:cNvSpPr>
          <p:nvPr/>
        </p:nvSpPr>
        <p:spPr bwMode="auto">
          <a:xfrm>
            <a:off x="0"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Rectangle 11"/>
          <p:cNvSpPr>
            <a:spLocks noChangeArrowheads="1"/>
          </p:cNvSpPr>
          <p:nvPr/>
        </p:nvSpPr>
        <p:spPr bwMode="auto">
          <a:xfrm>
            <a:off x="0" y="1314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Rectangle 12"/>
          <p:cNvSpPr>
            <a:spLocks noChangeArrowheads="1"/>
          </p:cNvSpPr>
          <p:nvPr/>
        </p:nvSpPr>
        <p:spPr bwMode="auto">
          <a:xfrm>
            <a:off x="0" y="1514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Rectangle 13"/>
          <p:cNvSpPr>
            <a:spLocks noChangeArrowheads="1"/>
          </p:cNvSpPr>
          <p:nvPr/>
        </p:nvSpPr>
        <p:spPr bwMode="auto">
          <a:xfrm>
            <a:off x="0" y="1714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0" name="Rectangle 19"/>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2" name="Rectangle 21"/>
          <p:cNvSpPr>
            <a:spLocks noChangeArrowheads="1"/>
          </p:cNvSpPr>
          <p:nvPr/>
        </p:nvSpPr>
        <p:spPr bwMode="auto">
          <a:xfrm>
            <a:off x="0" y="942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3" name="Rectangle 22"/>
          <p:cNvSpPr>
            <a:spLocks noChangeArrowheads="1"/>
          </p:cNvSpPr>
          <p:nvPr/>
        </p:nvSpPr>
        <p:spPr bwMode="auto">
          <a:xfrm>
            <a:off x="0" y="1162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23"/>
          <p:cNvSpPr>
            <a:spLocks noChangeArrowheads="1"/>
          </p:cNvSpPr>
          <p:nvPr/>
        </p:nvSpPr>
        <p:spPr bwMode="auto">
          <a:xfrm>
            <a:off x="0" y="495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24"/>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 name="Rectangle 25"/>
          <p:cNvSpPr>
            <a:spLocks noChangeArrowheads="1"/>
          </p:cNvSpPr>
          <p:nvPr/>
        </p:nvSpPr>
        <p:spPr bwMode="auto">
          <a:xfrm>
            <a:off x="0" y="695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26"/>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080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7"/>
          <p:cNvSpPr>
            <a:spLocks noChangeArrowheads="1"/>
          </p:cNvSpPr>
          <p:nvPr/>
        </p:nvSpPr>
        <p:spPr bwMode="auto">
          <a:xfrm>
            <a:off x="0" y="990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8" name="Rectangle 28"/>
          <p:cNvSpPr>
            <a:spLocks noChangeArrowheads="1"/>
          </p:cNvSpPr>
          <p:nvPr/>
        </p:nvSpPr>
        <p:spPr bwMode="auto">
          <a:xfrm>
            <a:off x="0" y="1152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29"/>
          <p:cNvSpPr>
            <a:spLocks noChangeArrowheads="1"/>
          </p:cNvSpPr>
          <p:nvPr/>
        </p:nvSpPr>
        <p:spPr bwMode="auto">
          <a:xfrm>
            <a:off x="0" y="1647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1" name="Rectangle 31"/>
          <p:cNvSpPr>
            <a:spLocks noChangeArrowheads="1"/>
          </p:cNvSpPr>
          <p:nvPr/>
        </p:nvSpPr>
        <p:spPr bwMode="auto">
          <a:xfrm>
            <a:off x="0" y="1943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2" name="Rectangle 32"/>
          <p:cNvSpPr>
            <a:spLocks noChangeArrowheads="1"/>
          </p:cNvSpPr>
          <p:nvPr/>
        </p:nvSpPr>
        <p:spPr bwMode="auto">
          <a:xfrm>
            <a:off x="0" y="2143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7" name="Rectangle 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9" name="Rectangle 39"/>
          <p:cNvSpPr>
            <a:spLocks noChangeArrowheads="1"/>
          </p:cNvSpPr>
          <p:nvPr/>
        </p:nvSpPr>
        <p:spPr bwMode="auto">
          <a:xfrm>
            <a:off x="0" y="1466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0" name="Rectangle 40"/>
          <p:cNvSpPr>
            <a:spLocks noChangeArrowheads="1"/>
          </p:cNvSpPr>
          <p:nvPr/>
        </p:nvSpPr>
        <p:spPr bwMode="auto">
          <a:xfrm>
            <a:off x="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340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1" name="Rectangle 41"/>
          <p:cNvSpPr>
            <a:spLocks noChangeArrowheads="1"/>
          </p:cNvSpPr>
          <p:nvPr/>
        </p:nvSpPr>
        <p:spPr bwMode="auto">
          <a:xfrm>
            <a:off x="0"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灯片编号占位符 3">
            <a:extLst>
              <a:ext uri="{FF2B5EF4-FFF2-40B4-BE49-F238E27FC236}">
                <a16:creationId xmlns:a16="http://schemas.microsoft.com/office/drawing/2014/main" id="{93151C09-98E1-7C49-8A4F-01812DF265AA}"/>
              </a:ext>
            </a:extLst>
          </p:cNvPr>
          <p:cNvSpPr>
            <a:spLocks noGrp="1"/>
          </p:cNvSpPr>
          <p:nvPr>
            <p:ph type="sldNum" sz="quarter" idx="12"/>
          </p:nvPr>
        </p:nvSpPr>
        <p:spPr/>
        <p:txBody>
          <a:bodyPr/>
          <a:lstStyle/>
          <a:p>
            <a:fld id="{C46E5E69-9A6D-4AF8-BC2D-C556A9893D8F}" type="slidenum">
              <a:rPr lang="zh-CN" altLang="en-US" smtClean="0"/>
              <a:pPr/>
              <a:t>65</a:t>
            </a:fld>
            <a:endParaRPr lang="zh-CN" altLang="en-US" dirty="0"/>
          </a:p>
        </p:txBody>
      </p:sp>
    </p:spTree>
    <p:extLst>
      <p:ext uri="{BB962C8B-B14F-4D97-AF65-F5344CB8AC3E}">
        <p14:creationId xmlns:p14="http://schemas.microsoft.com/office/powerpoint/2010/main" val="29507507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zh-CN" altLang="zh-CN" dirty="0"/>
              <a:t>查询优化</a:t>
            </a:r>
            <a:r>
              <a:rPr lang="zh-CN" altLang="en-US" dirty="0"/>
              <a:t>示例</a:t>
            </a:r>
            <a:endParaRPr lang="zh-CN" altLang="zh-CN" b="1" dirty="0"/>
          </a:p>
        </p:txBody>
      </p:sp>
      <p:sp>
        <p:nvSpPr>
          <p:cNvPr id="3" name="文本占位符 2"/>
          <p:cNvSpPr>
            <a:spLocks noGrp="1"/>
          </p:cNvSpPr>
          <p:nvPr>
            <p:ph type="body" idx="1"/>
          </p:nvPr>
        </p:nvSpPr>
        <p:spPr>
          <a:xfrm>
            <a:off x="107504" y="620688"/>
            <a:ext cx="8928992" cy="495300"/>
          </a:xfrm>
        </p:spPr>
        <p:txBody>
          <a:bodyPr>
            <a:noAutofit/>
          </a:bodyPr>
          <a:lstStyle/>
          <a:p>
            <a:r>
              <a:rPr lang="zh-CN" altLang="zh-CN" sz="2000" dirty="0"/>
              <a:t>例2.32  给出查询“购买图像技术的未婚女客户的户号和姓名”的优化方案</a:t>
            </a:r>
          </a:p>
        </p:txBody>
      </p:sp>
      <p:sp>
        <p:nvSpPr>
          <p:cNvPr id="10" name="矩形 9"/>
          <p:cNvSpPr/>
          <p:nvPr/>
        </p:nvSpPr>
        <p:spPr>
          <a:xfrm>
            <a:off x="179512" y="1196752"/>
            <a:ext cx="3648756" cy="400110"/>
          </a:xfrm>
          <a:prstGeom prst="rect">
            <a:avLst/>
          </a:prstGeom>
        </p:spPr>
        <p:txBody>
          <a:bodyPr wrap="none">
            <a:spAutoFit/>
          </a:bodyPr>
          <a:lstStyle/>
          <a:p>
            <a:r>
              <a:rPr lang="zh-CN" altLang="zh-CN"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1</a:t>
            </a:r>
            <a:r>
              <a:rPr lang="zh-CN" altLang="zh-CN" sz="2000" dirty="0">
                <a:latin typeface="微软雅黑" pitchFamily="34" charset="-122"/>
                <a:ea typeface="微软雅黑" pitchFamily="34" charset="-122"/>
              </a:rPr>
              <a:t>）查询的关系代数表达式：</a:t>
            </a:r>
          </a:p>
        </p:txBody>
      </p:sp>
      <p:sp>
        <p:nvSpPr>
          <p:cNvPr id="12" name="矩形 11"/>
          <p:cNvSpPr/>
          <p:nvPr/>
        </p:nvSpPr>
        <p:spPr>
          <a:xfrm>
            <a:off x="179512" y="2132856"/>
            <a:ext cx="4440639" cy="400110"/>
          </a:xfrm>
          <a:prstGeom prst="rect">
            <a:avLst/>
          </a:prstGeom>
        </p:spPr>
        <p:txBody>
          <a:bodyPr wrap="none">
            <a:spAutoFit/>
          </a:bodyPr>
          <a:lstStyle/>
          <a:p>
            <a:r>
              <a:rPr lang="zh-CN" altLang="zh-CN"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2</a:t>
            </a:r>
            <a:r>
              <a:rPr lang="zh-CN" altLang="zh-CN" sz="2000" dirty="0">
                <a:latin typeface="微软雅黑" pitchFamily="34" charset="-122"/>
                <a:ea typeface="微软雅黑" pitchFamily="34" charset="-122"/>
              </a:rPr>
              <a:t>）绘制初始查询树如图</a:t>
            </a:r>
            <a:r>
              <a:rPr lang="en-US" altLang="zh-CN" sz="2000" dirty="0">
                <a:latin typeface="微软雅黑" pitchFamily="34" charset="-122"/>
                <a:ea typeface="微软雅黑" pitchFamily="34" charset="-122"/>
              </a:rPr>
              <a:t>2.14</a:t>
            </a:r>
            <a:r>
              <a:rPr lang="zh-CN" altLang="zh-CN" sz="2000" dirty="0">
                <a:latin typeface="微软雅黑" pitchFamily="34" charset="-122"/>
                <a:ea typeface="微软雅黑" pitchFamily="34" charset="-122"/>
              </a:rPr>
              <a:t>所示。</a:t>
            </a:r>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3828705104"/>
              </p:ext>
            </p:extLst>
          </p:nvPr>
        </p:nvGraphicFramePr>
        <p:xfrm>
          <a:off x="265078" y="1697580"/>
          <a:ext cx="8710146" cy="378702"/>
        </p:xfrm>
        <a:graphic>
          <a:graphicData uri="http://schemas.openxmlformats.org/presentationml/2006/ole">
            <mc:AlternateContent xmlns:mc="http://schemas.openxmlformats.org/markup-compatibility/2006">
              <mc:Choice xmlns:v="urn:schemas-microsoft-com:vml" Requires="v">
                <p:oleObj spid="_x0000_s40119" name="公式" r:id="rId4" imgW="5524500" imgH="241300" progId="Equation.3">
                  <p:embed/>
                </p:oleObj>
              </mc:Choice>
              <mc:Fallback>
                <p:oleObj name="公式" r:id="rId4" imgW="5524500" imgH="2413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078" y="1697580"/>
                        <a:ext cx="8710146" cy="378702"/>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814518292"/>
              </p:ext>
            </p:extLst>
          </p:nvPr>
        </p:nvGraphicFramePr>
        <p:xfrm>
          <a:off x="2003890" y="2610387"/>
          <a:ext cx="1846015" cy="230752"/>
        </p:xfrm>
        <a:graphic>
          <a:graphicData uri="http://schemas.openxmlformats.org/presentationml/2006/ole">
            <mc:AlternateContent xmlns:mc="http://schemas.openxmlformats.org/markup-compatibility/2006">
              <mc:Choice xmlns:v="urn:schemas-microsoft-com:vml" Requires="v">
                <p:oleObj spid="_x0000_s40120" name="公式" r:id="rId6" imgW="1155700" imgH="139700" progId="Equation.3">
                  <p:embed/>
                </p:oleObj>
              </mc:Choice>
              <mc:Fallback>
                <p:oleObj name="公式" r:id="rId6" imgW="1155700" imgH="1397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3890" y="2610387"/>
                        <a:ext cx="1846015" cy="230752"/>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619738700"/>
              </p:ext>
            </p:extLst>
          </p:nvPr>
        </p:nvGraphicFramePr>
        <p:xfrm>
          <a:off x="396930" y="3068960"/>
          <a:ext cx="1606960" cy="262676"/>
        </p:xfrm>
        <a:graphic>
          <a:graphicData uri="http://schemas.openxmlformats.org/presentationml/2006/ole">
            <mc:AlternateContent xmlns:mc="http://schemas.openxmlformats.org/markup-compatibility/2006">
              <mc:Choice xmlns:v="urn:schemas-microsoft-com:vml" Requires="v">
                <p:oleObj spid="_x0000_s40121" name="公式" r:id="rId8" imgW="850531" imgH="139639" progId="Equation.3">
                  <p:embed/>
                </p:oleObj>
              </mc:Choice>
              <mc:Fallback>
                <p:oleObj name="公式" r:id="rId8" imgW="850531" imgH="139639"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930" y="3068960"/>
                        <a:ext cx="1606960" cy="262676"/>
                      </a:xfrm>
                      <a:prstGeom prst="rect">
                        <a:avLst/>
                      </a:prstGeom>
                      <a:noFill/>
                    </p:spPr>
                  </p:pic>
                </p:oleObj>
              </mc:Fallback>
            </mc:AlternateContent>
          </a:graphicData>
        </a:graphic>
      </p:graphicFrame>
      <p:sp>
        <p:nvSpPr>
          <p:cNvPr id="17" name="Rectangle 5"/>
          <p:cNvSpPr>
            <a:spLocks noChangeArrowheads="1"/>
          </p:cNvSpPr>
          <p:nvPr/>
        </p:nvSpPr>
        <p:spPr bwMode="auto">
          <a:xfrm>
            <a:off x="199398" y="2553807"/>
            <a:ext cx="23762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a:t>
            </a:r>
            <a:r>
              <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3</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）把查询条</a:t>
            </a:r>
          </a:p>
        </p:txBody>
      </p:sp>
      <p:sp>
        <p:nvSpPr>
          <p:cNvPr id="22" name="Rectangle 6"/>
          <p:cNvSpPr>
            <a:spLocks noChangeArrowheads="1"/>
          </p:cNvSpPr>
          <p:nvPr/>
        </p:nvSpPr>
        <p:spPr bwMode="auto">
          <a:xfrm>
            <a:off x="3849905" y="2532966"/>
            <a:ext cx="5091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分解出来，并移向</a:t>
            </a:r>
            <a:r>
              <a:rPr kumimoji="0" lang="en-US" altLang="zh-CN" sz="2000" b="0" i="0" u="none" strike="noStrike" cap="none" normalizeH="0" baseline="0" dirty="0" err="1">
                <a:ln>
                  <a:noFill/>
                </a:ln>
                <a:solidFill>
                  <a:schemeClr val="tx1"/>
                </a:solidFill>
                <a:effectLst/>
                <a:latin typeface="微软雅黑" pitchFamily="34" charset="-122"/>
                <a:ea typeface="微软雅黑" pitchFamily="34" charset="-122"/>
                <a:cs typeface="宋体" pitchFamily="2" charset="-122"/>
              </a:rPr>
              <a:t>Cust</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如图</a:t>
            </a:r>
            <a:r>
              <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2.15</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所示），把</a:t>
            </a:r>
          </a:p>
        </p:txBody>
      </p:sp>
      <p:sp>
        <p:nvSpPr>
          <p:cNvPr id="23" name="Rectangle 7"/>
          <p:cNvSpPr>
            <a:spLocks noChangeArrowheads="1"/>
          </p:cNvSpPr>
          <p:nvPr/>
        </p:nvSpPr>
        <p:spPr bwMode="auto">
          <a:xfrm>
            <a:off x="2120749" y="2992016"/>
            <a:ext cx="4992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分解出来，并移向</a:t>
            </a:r>
            <a:r>
              <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Book</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（图</a:t>
            </a:r>
            <a:r>
              <a:rPr kumimoji="0" lang="en-US" altLang="zh-CN"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2.16</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所示）。</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 </a:t>
            </a:r>
          </a:p>
        </p:txBody>
      </p:sp>
      <p:sp>
        <p:nvSpPr>
          <p:cNvPr id="2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p:cNvGraphicFramePr>
            <a:graphicFrameLocks noChangeAspect="1"/>
          </p:cNvGraphicFramePr>
          <p:nvPr>
            <p:extLst>
              <p:ext uri="{D42A27DB-BD31-4B8C-83A1-F6EECF244321}">
                <p14:modId xmlns:p14="http://schemas.microsoft.com/office/powerpoint/2010/main" val="2946372623"/>
              </p:ext>
            </p:extLst>
          </p:nvPr>
        </p:nvGraphicFramePr>
        <p:xfrm>
          <a:off x="467544" y="3645024"/>
          <a:ext cx="8303423" cy="1080120"/>
        </p:xfrm>
        <a:graphic>
          <a:graphicData uri="http://schemas.openxmlformats.org/presentationml/2006/ole">
            <mc:AlternateContent xmlns:mc="http://schemas.openxmlformats.org/markup-compatibility/2006">
              <mc:Choice xmlns:v="urn:schemas-microsoft-com:vml" Requires="v">
                <p:oleObj spid="_x0000_s40122" name="公式" r:id="rId10" imgW="3860800" imgH="508000" progId="Equation.3">
                  <p:embed/>
                </p:oleObj>
              </mc:Choice>
              <mc:Fallback>
                <p:oleObj name="公式" r:id="rId10" imgW="3860800" imgH="5080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7544" y="3645024"/>
                        <a:ext cx="8303423" cy="1080120"/>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ECD7F4FE-6C31-A242-AF98-E277BC2A25E4}"/>
              </a:ext>
            </a:extLst>
          </p:cNvPr>
          <p:cNvSpPr>
            <a:spLocks noGrp="1"/>
          </p:cNvSpPr>
          <p:nvPr>
            <p:ph type="sldNum" sz="quarter" idx="12"/>
          </p:nvPr>
        </p:nvSpPr>
        <p:spPr/>
        <p:txBody>
          <a:bodyPr/>
          <a:lstStyle/>
          <a:p>
            <a:fld id="{C46E5E69-9A6D-4AF8-BC2D-C556A9893D8F}" type="slidenum">
              <a:rPr lang="zh-CN" altLang="en-US" smtClean="0"/>
              <a:pPr/>
              <a:t>66</a:t>
            </a:fld>
            <a:endParaRPr lang="zh-CN" altLang="en-US" dirty="0"/>
          </a:p>
        </p:txBody>
      </p:sp>
    </p:spTree>
    <p:extLst>
      <p:ext uri="{BB962C8B-B14F-4D97-AF65-F5344CB8AC3E}">
        <p14:creationId xmlns:p14="http://schemas.microsoft.com/office/powerpoint/2010/main" val="33616033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zh-CN" altLang="zh-CN" dirty="0"/>
              <a:t>查询优化</a:t>
            </a:r>
            <a:r>
              <a:rPr lang="zh-CN" altLang="en-US" dirty="0"/>
              <a:t>示例</a:t>
            </a:r>
            <a:endParaRPr lang="zh-CN" altLang="zh-CN" b="1" dirty="0"/>
          </a:p>
        </p:txBody>
      </p:sp>
      <p:sp>
        <p:nvSpPr>
          <p:cNvPr id="3" name="文本占位符 2"/>
          <p:cNvSpPr>
            <a:spLocks noGrp="1"/>
          </p:cNvSpPr>
          <p:nvPr>
            <p:ph type="body" idx="1"/>
          </p:nvPr>
        </p:nvSpPr>
        <p:spPr>
          <a:xfrm>
            <a:off x="107504" y="620688"/>
            <a:ext cx="8928992" cy="495300"/>
          </a:xfrm>
        </p:spPr>
        <p:txBody>
          <a:bodyPr>
            <a:noAutofit/>
          </a:bodyPr>
          <a:lstStyle/>
          <a:p>
            <a:r>
              <a:rPr lang="zh-CN" altLang="zh-CN" sz="2000" dirty="0"/>
              <a:t>例2.32  给出查询“购买图像技术的未婚女客户的户号和姓名”的优化方案</a:t>
            </a:r>
          </a:p>
        </p:txBody>
      </p:sp>
      <p:sp>
        <p:nvSpPr>
          <p:cNvPr id="10" name="矩形 9"/>
          <p:cNvSpPr/>
          <p:nvPr/>
        </p:nvSpPr>
        <p:spPr>
          <a:xfrm>
            <a:off x="225459" y="1159938"/>
            <a:ext cx="8693082" cy="1015663"/>
          </a:xfrm>
          <a:prstGeom prst="rect">
            <a:avLst/>
          </a:prstGeom>
        </p:spPr>
        <p:txBody>
          <a:bodyPr wrap="square">
            <a:spAutoFit/>
          </a:bodyPr>
          <a:lstStyle/>
          <a:p>
            <a:r>
              <a:rPr lang="zh-CN" altLang="zh-CN" sz="2000" dirty="0">
                <a:latin typeface="微软雅黑" pitchFamily="34" charset="-122"/>
                <a:ea typeface="微软雅黑" pitchFamily="34" charset="-122"/>
              </a:rPr>
              <a:t>（4）投影运算和等值查询条件分为一组，并在一次数据扫描中同时执行；把底层的笛卡儿积与</a:t>
            </a:r>
            <a:r>
              <a:rPr lang="en-US" altLang="zh-CN" sz="2000" dirty="0">
                <a:latin typeface="微软雅黑" pitchFamily="34" charset="-122"/>
                <a:ea typeface="微软雅黑" pitchFamily="34" charset="-122"/>
              </a:rPr>
              <a:t>Book</a:t>
            </a:r>
            <a:r>
              <a:rPr lang="zh-CN" altLang="zh-CN" sz="2000" dirty="0">
                <a:latin typeface="微软雅黑" pitchFamily="34" charset="-122"/>
                <a:ea typeface="微软雅黑" pitchFamily="34" charset="-122"/>
              </a:rPr>
              <a:t>的选择运算分为一组，并在一次扫描同时执行（如图</a:t>
            </a:r>
            <a:r>
              <a:rPr lang="en-US" altLang="zh-CN" sz="2000" dirty="0">
                <a:latin typeface="微软雅黑" pitchFamily="34" charset="-122"/>
                <a:ea typeface="微软雅黑" pitchFamily="34" charset="-122"/>
              </a:rPr>
              <a:t>2.17</a:t>
            </a:r>
            <a:r>
              <a:rPr lang="zh-CN" altLang="zh-CN" sz="2000" dirty="0">
                <a:latin typeface="微软雅黑" pitchFamily="34" charset="-122"/>
                <a:ea typeface="微软雅黑" pitchFamily="34" charset="-122"/>
              </a:rPr>
              <a:t>所示）</a:t>
            </a:r>
          </a:p>
        </p:txBody>
      </p:sp>
      <p:sp>
        <p:nvSpPr>
          <p:cNvPr id="12" name="矩形 11"/>
          <p:cNvSpPr/>
          <p:nvPr/>
        </p:nvSpPr>
        <p:spPr>
          <a:xfrm>
            <a:off x="199398" y="2175601"/>
            <a:ext cx="8693082" cy="707886"/>
          </a:xfrm>
          <a:prstGeom prst="rect">
            <a:avLst/>
          </a:prstGeom>
        </p:spPr>
        <p:txBody>
          <a:bodyPr wrap="square">
            <a:spAutoFit/>
          </a:bodyPr>
          <a:lstStyle/>
          <a:p>
            <a:r>
              <a:rPr lang="zh-CN" altLang="zh-CN"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5</a:t>
            </a:r>
            <a:r>
              <a:rPr lang="zh-CN" altLang="zh-CN" sz="2000" dirty="0">
                <a:latin typeface="微软雅黑" pitchFamily="34" charset="-122"/>
                <a:ea typeface="微软雅黑" pitchFamily="34" charset="-122"/>
              </a:rPr>
              <a:t>）把查询条件</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分解出来，并与相邻的笛卡尔积分为一组（如图</a:t>
            </a:r>
            <a:r>
              <a:rPr lang="en-US" altLang="zh-CN" sz="2000" dirty="0">
                <a:latin typeface="微软雅黑" pitchFamily="34" charset="-122"/>
                <a:ea typeface="微软雅黑" pitchFamily="34" charset="-122"/>
              </a:rPr>
              <a:t>2.15</a:t>
            </a:r>
            <a:r>
              <a:rPr lang="zh-CN" altLang="zh-CN" sz="2000" dirty="0">
                <a:latin typeface="微软雅黑" pitchFamily="34" charset="-122"/>
                <a:ea typeface="微软雅黑" pitchFamily="34" charset="-122"/>
              </a:rPr>
              <a:t>所示），把</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分解出来，并与相邻的笛卡尔积分为一组（如图</a:t>
            </a:r>
            <a:r>
              <a:rPr lang="en-US" altLang="zh-CN" sz="2000" dirty="0">
                <a:latin typeface="微软雅黑" pitchFamily="34" charset="-122"/>
                <a:ea typeface="微软雅黑" pitchFamily="34" charset="-122"/>
              </a:rPr>
              <a:t>2.16</a:t>
            </a:r>
            <a:r>
              <a:rPr lang="zh-CN" altLang="zh-CN" sz="2000" dirty="0">
                <a:latin typeface="微软雅黑" pitchFamily="34" charset="-122"/>
                <a:ea typeface="微软雅黑" pitchFamily="34" charset="-122"/>
              </a:rPr>
              <a:t>所示）</a:t>
            </a:r>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5"/>
          <p:cNvSpPr>
            <a:spLocks noChangeArrowheads="1"/>
          </p:cNvSpPr>
          <p:nvPr/>
        </p:nvSpPr>
        <p:spPr bwMode="auto">
          <a:xfrm>
            <a:off x="186939" y="3933056"/>
            <a:ext cx="56545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zh-CN" altLang="zh-CN"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6</a:t>
            </a:r>
            <a:r>
              <a:rPr lang="zh-CN" altLang="zh-CN" sz="2000" dirty="0">
                <a:latin typeface="微软雅黑" pitchFamily="34" charset="-122"/>
                <a:ea typeface="微软雅黑" pitchFamily="34" charset="-122"/>
              </a:rPr>
              <a:t>）最终生成的优化查询树如图</a:t>
            </a:r>
            <a:r>
              <a:rPr lang="en-US" altLang="zh-CN" sz="2000" dirty="0">
                <a:latin typeface="微软雅黑" pitchFamily="34" charset="-122"/>
                <a:ea typeface="微软雅黑" pitchFamily="34" charset="-122"/>
              </a:rPr>
              <a:t>2.17</a:t>
            </a:r>
            <a:r>
              <a:rPr lang="zh-CN" altLang="zh-CN" sz="2000" dirty="0">
                <a:latin typeface="微软雅黑" pitchFamily="34" charset="-122"/>
                <a:ea typeface="微软雅黑" pitchFamily="34" charset="-122"/>
              </a:rPr>
              <a:t>所示</a:t>
            </a:r>
            <a:r>
              <a:rPr lang="zh-CN" altLang="zh-CN" sz="2000" dirty="0"/>
              <a:t>。</a:t>
            </a:r>
            <a:endPar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2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234320023"/>
              </p:ext>
            </p:extLst>
          </p:nvPr>
        </p:nvGraphicFramePr>
        <p:xfrm>
          <a:off x="150303" y="3068960"/>
          <a:ext cx="8766191" cy="504056"/>
        </p:xfrm>
        <a:graphic>
          <a:graphicData uri="http://schemas.openxmlformats.org/presentationml/2006/ole">
            <mc:AlternateContent xmlns:mc="http://schemas.openxmlformats.org/markup-compatibility/2006">
              <mc:Choice xmlns:v="urn:schemas-microsoft-com:vml" Requires="v">
                <p:oleObj spid="_x0000_s46123" name="公式" r:id="rId4" imgW="4178300" imgH="241300" progId="Equation.3">
                  <p:embed/>
                </p:oleObj>
              </mc:Choice>
              <mc:Fallback>
                <p:oleObj name="公式" r:id="rId4" imgW="4178300" imgH="2413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303" y="3068960"/>
                        <a:ext cx="8766191" cy="504056"/>
                      </a:xfrm>
                      <a:prstGeom prst="rect">
                        <a:avLst/>
                      </a:prstGeom>
                      <a:noFill/>
                    </p:spPr>
                  </p:pic>
                </p:oleObj>
              </mc:Fallback>
            </mc:AlternateContent>
          </a:graphicData>
        </a:graphic>
      </p:graphicFrame>
      <p:sp>
        <p:nvSpPr>
          <p:cNvPr id="21" name="流程图: 对照 20"/>
          <p:cNvSpPr>
            <a:spLocks noChangeArrowheads="1"/>
          </p:cNvSpPr>
          <p:nvPr/>
        </p:nvSpPr>
        <p:spPr bwMode="auto">
          <a:xfrm rot="-5400000">
            <a:off x="4577186" y="3174694"/>
            <a:ext cx="189736" cy="269364"/>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25" name="流程图: 对照 24"/>
          <p:cNvSpPr>
            <a:spLocks noChangeArrowheads="1"/>
          </p:cNvSpPr>
          <p:nvPr/>
        </p:nvSpPr>
        <p:spPr bwMode="auto">
          <a:xfrm rot="-5400000">
            <a:off x="5763942" y="3189725"/>
            <a:ext cx="189736" cy="269364"/>
          </a:xfrm>
          <a:prstGeom prst="flowChartCollate">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4" name="灯片编号占位符 3">
            <a:extLst>
              <a:ext uri="{FF2B5EF4-FFF2-40B4-BE49-F238E27FC236}">
                <a16:creationId xmlns:a16="http://schemas.microsoft.com/office/drawing/2014/main" id="{5C284CAB-DB4F-1B49-8088-ED4DBF4D1958}"/>
              </a:ext>
            </a:extLst>
          </p:cNvPr>
          <p:cNvSpPr>
            <a:spLocks noGrp="1"/>
          </p:cNvSpPr>
          <p:nvPr>
            <p:ph type="sldNum" sz="quarter" idx="12"/>
          </p:nvPr>
        </p:nvSpPr>
        <p:spPr/>
        <p:txBody>
          <a:bodyPr/>
          <a:lstStyle/>
          <a:p>
            <a:fld id="{C46E5E69-9A6D-4AF8-BC2D-C556A9893D8F}" type="slidenum">
              <a:rPr lang="zh-CN" altLang="en-US" smtClean="0"/>
              <a:pPr/>
              <a:t>67</a:t>
            </a:fld>
            <a:endParaRPr lang="zh-CN" altLang="en-US" dirty="0"/>
          </a:p>
        </p:txBody>
      </p:sp>
    </p:spTree>
    <p:extLst>
      <p:ext uri="{BB962C8B-B14F-4D97-AF65-F5344CB8AC3E}">
        <p14:creationId xmlns:p14="http://schemas.microsoft.com/office/powerpoint/2010/main" val="19449042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zh-CN" altLang="zh-CN" dirty="0"/>
              <a:t>查询优化</a:t>
            </a:r>
            <a:r>
              <a:rPr lang="zh-CN" altLang="en-US" dirty="0"/>
              <a:t>示例</a:t>
            </a:r>
            <a:endParaRPr lang="zh-CN" altLang="zh-CN" b="1" dirty="0"/>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30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42" y="1124744"/>
            <a:ext cx="8907515"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a:extLst>
              <a:ext uri="{FF2B5EF4-FFF2-40B4-BE49-F238E27FC236}">
                <a16:creationId xmlns:a16="http://schemas.microsoft.com/office/drawing/2014/main" id="{4F5EF800-02C8-D847-888D-9BBEF9515A19}"/>
              </a:ext>
            </a:extLst>
          </p:cNvPr>
          <p:cNvSpPr>
            <a:spLocks noGrp="1"/>
          </p:cNvSpPr>
          <p:nvPr>
            <p:ph type="sldNum" sz="quarter" idx="12"/>
          </p:nvPr>
        </p:nvSpPr>
        <p:spPr/>
        <p:txBody>
          <a:bodyPr/>
          <a:lstStyle/>
          <a:p>
            <a:fld id="{C46E5E69-9A6D-4AF8-BC2D-C556A9893D8F}" type="slidenum">
              <a:rPr lang="zh-CN" altLang="en-US" smtClean="0"/>
              <a:pPr/>
              <a:t>68</a:t>
            </a:fld>
            <a:endParaRPr lang="zh-CN" altLang="en-US" dirty="0"/>
          </a:p>
        </p:txBody>
      </p:sp>
    </p:spTree>
    <p:extLst>
      <p:ext uri="{BB962C8B-B14F-4D97-AF65-F5344CB8AC3E}">
        <p14:creationId xmlns:p14="http://schemas.microsoft.com/office/powerpoint/2010/main" val="1492589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zh-CN" altLang="zh-CN" dirty="0"/>
              <a:t>查询优化</a:t>
            </a:r>
            <a:r>
              <a:rPr lang="zh-CN" altLang="en-US" dirty="0"/>
              <a:t>示例</a:t>
            </a:r>
            <a:endParaRPr lang="zh-CN" altLang="zh-CN" b="1" dirty="0"/>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40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905310"/>
            <a:ext cx="8922961" cy="5043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a:extLst>
              <a:ext uri="{FF2B5EF4-FFF2-40B4-BE49-F238E27FC236}">
                <a16:creationId xmlns:a16="http://schemas.microsoft.com/office/drawing/2014/main" id="{22475ED6-62DC-424C-9C0F-9F112356658D}"/>
              </a:ext>
            </a:extLst>
          </p:cNvPr>
          <p:cNvSpPr>
            <a:spLocks noGrp="1"/>
          </p:cNvSpPr>
          <p:nvPr>
            <p:ph type="sldNum" sz="quarter" idx="12"/>
          </p:nvPr>
        </p:nvSpPr>
        <p:spPr/>
        <p:txBody>
          <a:bodyPr/>
          <a:lstStyle/>
          <a:p>
            <a:fld id="{C46E5E69-9A6D-4AF8-BC2D-C556A9893D8F}" type="slidenum">
              <a:rPr lang="zh-CN" altLang="en-US" smtClean="0"/>
              <a:pPr/>
              <a:t>69</a:t>
            </a:fld>
            <a:endParaRPr lang="zh-CN" altLang="en-US" dirty="0"/>
          </a:p>
        </p:txBody>
      </p:sp>
    </p:spTree>
    <p:extLst>
      <p:ext uri="{BB962C8B-B14F-4D97-AF65-F5344CB8AC3E}">
        <p14:creationId xmlns:p14="http://schemas.microsoft.com/office/powerpoint/2010/main" val="15002809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372" y="172219"/>
            <a:ext cx="8219256" cy="323081"/>
          </a:xfrm>
        </p:spPr>
        <p:txBody>
          <a:bodyPr>
            <a:normAutofit fontScale="90000"/>
          </a:bodyPr>
          <a:lstStyle/>
          <a:p>
            <a:r>
              <a:rPr lang="zh-CN" altLang="zh-CN" dirty="0"/>
              <a:t>查询优化</a:t>
            </a:r>
            <a:r>
              <a:rPr lang="zh-CN" altLang="en-US" dirty="0"/>
              <a:t>示例</a:t>
            </a:r>
            <a:endParaRPr lang="zh-CN" altLang="zh-CN" b="1" dirty="0"/>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50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1" y="980728"/>
            <a:ext cx="8755639"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a:extLst>
              <a:ext uri="{FF2B5EF4-FFF2-40B4-BE49-F238E27FC236}">
                <a16:creationId xmlns:a16="http://schemas.microsoft.com/office/drawing/2014/main" id="{197D08A1-6AEC-3E47-90C0-0FE88F86A381}"/>
              </a:ext>
            </a:extLst>
          </p:cNvPr>
          <p:cNvSpPr>
            <a:spLocks noGrp="1"/>
          </p:cNvSpPr>
          <p:nvPr>
            <p:ph type="sldNum" sz="quarter" idx="12"/>
          </p:nvPr>
        </p:nvSpPr>
        <p:spPr/>
        <p:txBody>
          <a:bodyPr/>
          <a:lstStyle/>
          <a:p>
            <a:fld id="{C46E5E69-9A6D-4AF8-BC2D-C556A9893D8F}" type="slidenum">
              <a:rPr lang="zh-CN" altLang="en-US" smtClean="0"/>
              <a:pPr/>
              <a:t>70</a:t>
            </a:fld>
            <a:endParaRPr lang="zh-CN" altLang="en-US" dirty="0"/>
          </a:p>
        </p:txBody>
      </p:sp>
    </p:spTree>
    <p:extLst>
      <p:ext uri="{BB962C8B-B14F-4D97-AF65-F5344CB8AC3E}">
        <p14:creationId xmlns:p14="http://schemas.microsoft.com/office/powerpoint/2010/main" val="15002809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i="0" u="none" strike="noStrike" kern="2200" baseline="0" dirty="0"/>
              <a:t>2.7</a:t>
            </a:r>
            <a:r>
              <a:rPr lang="zh-CN" altLang="en-US" i="0" u="none" strike="noStrike" kern="2200" baseline="0" dirty="0"/>
              <a:t> 小 结</a:t>
            </a:r>
          </a:p>
        </p:txBody>
      </p:sp>
      <p:sp>
        <p:nvSpPr>
          <p:cNvPr id="3" name="文本占位符 2"/>
          <p:cNvSpPr>
            <a:spLocks noGrp="1"/>
          </p:cNvSpPr>
          <p:nvPr>
            <p:ph type="body" idx="1"/>
          </p:nvPr>
        </p:nvSpPr>
        <p:spPr>
          <a:xfrm>
            <a:off x="457200" y="1340768"/>
            <a:ext cx="8229600" cy="4896544"/>
          </a:xfrm>
        </p:spPr>
        <p:txBody>
          <a:bodyPr>
            <a:noAutofit/>
          </a:bodyPr>
          <a:lstStyle/>
          <a:p>
            <a:r>
              <a:rPr lang="zh-CN" altLang="zh-CN" dirty="0"/>
              <a:t>关系数据语言的特点及其分类。</a:t>
            </a:r>
          </a:p>
          <a:p>
            <a:r>
              <a:rPr lang="en-US" altLang="zh-CN" dirty="0">
                <a:solidFill>
                  <a:srgbClr val="0000FF"/>
                </a:solidFill>
              </a:rPr>
              <a:t>8</a:t>
            </a:r>
            <a:r>
              <a:rPr lang="zh-CN" altLang="zh-CN" dirty="0">
                <a:solidFill>
                  <a:srgbClr val="0000FF"/>
                </a:solidFill>
              </a:rPr>
              <a:t>种常用关系运算的关系代数表达方法。</a:t>
            </a:r>
          </a:p>
          <a:p>
            <a:r>
              <a:rPr lang="en-US" altLang="zh-CN" dirty="0">
                <a:solidFill>
                  <a:srgbClr val="0000FF"/>
                </a:solidFill>
              </a:rPr>
              <a:t>8</a:t>
            </a:r>
            <a:r>
              <a:rPr lang="zh-CN" altLang="zh-CN" dirty="0">
                <a:solidFill>
                  <a:srgbClr val="0000FF"/>
                </a:solidFill>
              </a:rPr>
              <a:t>种常用关系运算的元组关系演算表达方法。</a:t>
            </a:r>
          </a:p>
          <a:p>
            <a:r>
              <a:rPr lang="en-US" altLang="zh-CN" dirty="0"/>
              <a:t>8</a:t>
            </a:r>
            <a:r>
              <a:rPr lang="zh-CN" altLang="zh-CN" dirty="0"/>
              <a:t>种常用关系运算的域关系演算表达方法。</a:t>
            </a:r>
          </a:p>
          <a:p>
            <a:r>
              <a:rPr lang="en-US" altLang="zh-CN" dirty="0"/>
              <a:t>3</a:t>
            </a:r>
            <a:r>
              <a:rPr lang="zh-CN" altLang="zh-CN" dirty="0"/>
              <a:t>种常用数据更新运算。</a:t>
            </a:r>
          </a:p>
          <a:p>
            <a:r>
              <a:rPr lang="zh-CN" altLang="zh-CN" dirty="0"/>
              <a:t>查询优化的概念、规则和算法。</a:t>
            </a:r>
            <a:endParaRPr lang="zh-CN" altLang="en-US" i="0" u="none" strike="noStrike" kern="100" baseline="0" dirty="0"/>
          </a:p>
        </p:txBody>
      </p:sp>
      <p:sp>
        <p:nvSpPr>
          <p:cNvPr id="4" name="灯片编号占位符 3">
            <a:extLst>
              <a:ext uri="{FF2B5EF4-FFF2-40B4-BE49-F238E27FC236}">
                <a16:creationId xmlns:a16="http://schemas.microsoft.com/office/drawing/2014/main" id="{22B0C5A5-96F9-DA45-9108-095EBF56EF49}"/>
              </a:ext>
            </a:extLst>
          </p:cNvPr>
          <p:cNvSpPr>
            <a:spLocks noGrp="1"/>
          </p:cNvSpPr>
          <p:nvPr>
            <p:ph type="sldNum" sz="quarter" idx="12"/>
          </p:nvPr>
        </p:nvSpPr>
        <p:spPr/>
        <p:txBody>
          <a:bodyPr/>
          <a:lstStyle/>
          <a:p>
            <a:fld id="{C46E5E69-9A6D-4AF8-BC2D-C556A9893D8F}" type="slidenum">
              <a:rPr lang="zh-CN" altLang="en-US" smtClean="0"/>
              <a:pPr/>
              <a:t>71</a:t>
            </a:fld>
            <a:endParaRPr lang="zh-CN" altLang="en-US" dirty="0"/>
          </a:p>
        </p:txBody>
      </p:sp>
    </p:spTree>
    <p:extLst>
      <p:ext uri="{BB962C8B-B14F-4D97-AF65-F5344CB8AC3E}">
        <p14:creationId xmlns:p14="http://schemas.microsoft.com/office/powerpoint/2010/main" val="8387892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836712"/>
            <a:ext cx="8219256" cy="1512168"/>
          </a:xfrm>
        </p:spPr>
        <p:txBody>
          <a:bodyPr>
            <a:normAutofit/>
          </a:bodyPr>
          <a:lstStyle/>
          <a:p>
            <a:pPr marR="0" rtl="0"/>
            <a:r>
              <a:rPr lang="zh-CN" altLang="en-US" sz="6600" i="0" u="none" strike="noStrike" kern="2200" baseline="0" dirty="0"/>
              <a:t>习　题</a:t>
            </a:r>
          </a:p>
        </p:txBody>
      </p:sp>
      <p:sp>
        <p:nvSpPr>
          <p:cNvPr id="3" name="文本占位符 2"/>
          <p:cNvSpPr>
            <a:spLocks noGrp="1"/>
          </p:cNvSpPr>
          <p:nvPr>
            <p:ph type="body" idx="1"/>
          </p:nvPr>
        </p:nvSpPr>
        <p:spPr>
          <a:xfrm>
            <a:off x="251520" y="2924944"/>
            <a:ext cx="8640960" cy="1152128"/>
          </a:xfrm>
        </p:spPr>
        <p:txBody>
          <a:bodyPr>
            <a:noAutofit/>
          </a:bodyPr>
          <a:lstStyle/>
          <a:p>
            <a:pPr marL="446088" indent="-446088" algn="ctr">
              <a:lnSpc>
                <a:spcPct val="100000"/>
              </a:lnSpc>
              <a:buNone/>
            </a:pPr>
            <a:r>
              <a:rPr lang="en-US" altLang="zh-CN" sz="6600" u="none" strike="noStrike" kern="100" baseline="0" dirty="0">
                <a:solidFill>
                  <a:srgbClr val="0000FF"/>
                </a:solidFill>
              </a:rPr>
              <a:t>2.2</a:t>
            </a:r>
            <a:r>
              <a:rPr lang="zh-CN" altLang="en-US" sz="6600" u="none" strike="noStrike" kern="100" baseline="0" dirty="0">
                <a:solidFill>
                  <a:srgbClr val="0000FF"/>
                </a:solidFill>
              </a:rPr>
              <a:t> ～</a:t>
            </a:r>
            <a:r>
              <a:rPr lang="en-US" altLang="zh-CN" sz="6600" u="none" strike="noStrike" kern="100" baseline="0" dirty="0">
                <a:solidFill>
                  <a:srgbClr val="0000FF"/>
                </a:solidFill>
              </a:rPr>
              <a:t>2.9</a:t>
            </a:r>
            <a:endParaRPr lang="zh-CN" altLang="en-US" sz="6600" u="none" strike="noStrike" kern="100" baseline="0" dirty="0">
              <a:solidFill>
                <a:srgbClr val="0000FF"/>
              </a:solidFill>
            </a:endParaRPr>
          </a:p>
        </p:txBody>
      </p:sp>
      <p:sp>
        <p:nvSpPr>
          <p:cNvPr id="4" name="灯片编号占位符 3">
            <a:extLst>
              <a:ext uri="{FF2B5EF4-FFF2-40B4-BE49-F238E27FC236}">
                <a16:creationId xmlns:a16="http://schemas.microsoft.com/office/drawing/2014/main" id="{FEA0DEE3-08FB-5844-A2B9-DB09DABE95B0}"/>
              </a:ext>
            </a:extLst>
          </p:cNvPr>
          <p:cNvSpPr>
            <a:spLocks noGrp="1"/>
          </p:cNvSpPr>
          <p:nvPr>
            <p:ph type="sldNum" sz="quarter" idx="12"/>
          </p:nvPr>
        </p:nvSpPr>
        <p:spPr/>
        <p:txBody>
          <a:bodyPr/>
          <a:lstStyle/>
          <a:p>
            <a:fld id="{C46E5E69-9A6D-4AF8-BC2D-C556A9893D8F}" type="slidenum">
              <a:rPr lang="zh-CN" altLang="en-US" smtClean="0"/>
              <a:pPr/>
              <a:t>72</a:t>
            </a:fld>
            <a:endParaRPr lang="zh-CN" altLang="en-US" dirty="0"/>
          </a:p>
        </p:txBody>
      </p:sp>
    </p:spTree>
    <p:extLst>
      <p:ext uri="{BB962C8B-B14F-4D97-AF65-F5344CB8AC3E}">
        <p14:creationId xmlns:p14="http://schemas.microsoft.com/office/powerpoint/2010/main" val="23165761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260648"/>
            <a:ext cx="8229600" cy="5976664"/>
          </a:xfrm>
        </p:spPr>
        <p:txBody>
          <a:bodyPr>
            <a:normAutofit/>
          </a:bodyPr>
          <a:lstStyle/>
          <a:p>
            <a:pPr>
              <a:lnSpc>
                <a:spcPts val="3000"/>
              </a:lnSpc>
            </a:pPr>
            <a:r>
              <a:rPr lang="en-US" altLang="zh-CN" dirty="0"/>
              <a:t>2.6 </a:t>
            </a:r>
            <a:r>
              <a:rPr lang="zh-CN" altLang="zh-CN" dirty="0"/>
              <a:t>已知读者订单管理数据库的关系如下：</a:t>
            </a:r>
          </a:p>
          <a:p>
            <a:pPr>
              <a:lnSpc>
                <a:spcPts val="3000"/>
              </a:lnSpc>
            </a:pPr>
            <a:r>
              <a:rPr lang="zh-CN" altLang="zh-CN" dirty="0"/>
              <a:t>读者</a:t>
            </a:r>
            <a:r>
              <a:rPr lang="en-US" altLang="zh-CN" dirty="0"/>
              <a:t>Read</a:t>
            </a:r>
            <a:r>
              <a:rPr lang="zh-CN" altLang="zh-CN" dirty="0"/>
              <a:t>（读者号</a:t>
            </a:r>
            <a:r>
              <a:rPr lang="en-US" altLang="zh-CN" dirty="0" err="1"/>
              <a:t>RNo</a:t>
            </a:r>
            <a:r>
              <a:rPr lang="zh-CN" altLang="zh-CN" dirty="0"/>
              <a:t>，读者名</a:t>
            </a:r>
            <a:r>
              <a:rPr lang="en-US" altLang="zh-CN" dirty="0" err="1"/>
              <a:t>RName</a:t>
            </a:r>
            <a:r>
              <a:rPr lang="zh-CN" altLang="zh-CN" dirty="0"/>
              <a:t>，读者身份</a:t>
            </a:r>
            <a:r>
              <a:rPr lang="en-US" altLang="zh-CN" dirty="0"/>
              <a:t>Status</a:t>
            </a:r>
            <a:r>
              <a:rPr lang="zh-CN" altLang="zh-CN" dirty="0"/>
              <a:t>，读者城市</a:t>
            </a:r>
            <a:r>
              <a:rPr lang="en-US" altLang="zh-CN" dirty="0"/>
              <a:t>City</a:t>
            </a:r>
            <a:r>
              <a:rPr lang="zh-CN" altLang="zh-CN" dirty="0"/>
              <a:t>）</a:t>
            </a:r>
          </a:p>
          <a:p>
            <a:pPr>
              <a:lnSpc>
                <a:spcPts val="3000"/>
              </a:lnSpc>
            </a:pPr>
            <a:r>
              <a:rPr lang="zh-CN" altLang="zh-CN" dirty="0"/>
              <a:t>图书</a:t>
            </a:r>
            <a:r>
              <a:rPr lang="en-US" altLang="zh-CN" dirty="0"/>
              <a:t>Book</a:t>
            </a:r>
            <a:r>
              <a:rPr lang="zh-CN" altLang="zh-CN" dirty="0"/>
              <a:t>（书号</a:t>
            </a:r>
            <a:r>
              <a:rPr lang="en-US" altLang="zh-CN" dirty="0" err="1"/>
              <a:t>BNo</a:t>
            </a:r>
            <a:r>
              <a:rPr lang="zh-CN" altLang="zh-CN" dirty="0"/>
              <a:t>，书名</a:t>
            </a:r>
            <a:r>
              <a:rPr lang="en-US" altLang="zh-CN" dirty="0" err="1"/>
              <a:t>BName</a:t>
            </a:r>
            <a:r>
              <a:rPr lang="zh-CN" altLang="zh-CN" dirty="0"/>
              <a:t>，书价</a:t>
            </a:r>
            <a:r>
              <a:rPr lang="en-US" altLang="zh-CN" dirty="0"/>
              <a:t>Price</a:t>
            </a:r>
            <a:r>
              <a:rPr lang="zh-CN" altLang="zh-CN" dirty="0"/>
              <a:t>，出版社</a:t>
            </a:r>
            <a:r>
              <a:rPr lang="en-US" altLang="zh-CN" dirty="0"/>
              <a:t>Publisher</a:t>
            </a:r>
            <a:r>
              <a:rPr lang="zh-CN" altLang="zh-CN" dirty="0"/>
              <a:t>）</a:t>
            </a:r>
          </a:p>
          <a:p>
            <a:pPr>
              <a:lnSpc>
                <a:spcPts val="3000"/>
              </a:lnSpc>
            </a:pPr>
            <a:r>
              <a:rPr lang="zh-CN" altLang="zh-CN" dirty="0"/>
              <a:t>订单</a:t>
            </a:r>
            <a:r>
              <a:rPr lang="en-US" altLang="zh-CN" dirty="0" err="1"/>
              <a:t>OrderForm</a:t>
            </a:r>
            <a:r>
              <a:rPr lang="zh-CN" altLang="zh-CN" dirty="0"/>
              <a:t>（订单号</a:t>
            </a:r>
            <a:r>
              <a:rPr lang="en-US" altLang="zh-CN" dirty="0" err="1"/>
              <a:t>ODNo</a:t>
            </a:r>
            <a:r>
              <a:rPr lang="zh-CN" altLang="zh-CN" dirty="0"/>
              <a:t>，</a:t>
            </a:r>
            <a:r>
              <a:rPr lang="en-US" altLang="zh-CN" dirty="0" err="1"/>
              <a:t>BNo</a:t>
            </a:r>
            <a:r>
              <a:rPr lang="zh-CN" altLang="zh-CN" dirty="0"/>
              <a:t>，订书数量</a:t>
            </a:r>
            <a:r>
              <a:rPr lang="en-US" altLang="zh-CN" dirty="0"/>
              <a:t>Quantity</a:t>
            </a:r>
            <a:r>
              <a:rPr lang="zh-CN" altLang="zh-CN" dirty="0"/>
              <a:t>）</a:t>
            </a:r>
          </a:p>
          <a:p>
            <a:pPr>
              <a:lnSpc>
                <a:spcPts val="3000"/>
              </a:lnSpc>
            </a:pPr>
            <a:r>
              <a:rPr lang="zh-CN" altLang="zh-CN" dirty="0"/>
              <a:t>订单读者索引</a:t>
            </a:r>
            <a:r>
              <a:rPr lang="en-US" altLang="zh-CN" dirty="0"/>
              <a:t>Index</a:t>
            </a:r>
            <a:r>
              <a:rPr lang="zh-CN" altLang="zh-CN" dirty="0"/>
              <a:t>（</a:t>
            </a:r>
            <a:r>
              <a:rPr lang="en-US" altLang="zh-CN" dirty="0" err="1"/>
              <a:t>ODNo</a:t>
            </a:r>
            <a:r>
              <a:rPr lang="zh-CN" altLang="zh-CN" dirty="0"/>
              <a:t>，</a:t>
            </a:r>
            <a:r>
              <a:rPr lang="en-US" altLang="zh-CN" dirty="0" err="1"/>
              <a:t>RNo</a:t>
            </a:r>
            <a:r>
              <a:rPr lang="zh-CN" altLang="zh-CN" dirty="0"/>
              <a:t>）</a:t>
            </a:r>
          </a:p>
          <a:p>
            <a:pPr>
              <a:lnSpc>
                <a:spcPts val="3000"/>
              </a:lnSpc>
            </a:pPr>
            <a:r>
              <a:rPr lang="zh-CN" altLang="zh-CN" dirty="0"/>
              <a:t>请完成如下查询：</a:t>
            </a:r>
          </a:p>
          <a:p>
            <a:pPr>
              <a:lnSpc>
                <a:spcPts val="3000"/>
              </a:lnSpc>
            </a:pPr>
            <a:r>
              <a:rPr lang="zh-CN" altLang="zh-CN" dirty="0"/>
              <a:t>（</a:t>
            </a:r>
            <a:r>
              <a:rPr lang="en-US" altLang="zh-CN" dirty="0"/>
              <a:t>1</a:t>
            </a:r>
            <a:r>
              <a:rPr lang="zh-CN" altLang="zh-CN" dirty="0"/>
              <a:t>）找出科学出版社出版的全部书号和价格。</a:t>
            </a:r>
          </a:p>
          <a:p>
            <a:pPr>
              <a:lnSpc>
                <a:spcPts val="3000"/>
              </a:lnSpc>
            </a:pPr>
            <a:r>
              <a:rPr lang="zh-CN" altLang="zh-CN" dirty="0"/>
              <a:t>（</a:t>
            </a:r>
            <a:r>
              <a:rPr lang="en-US" altLang="zh-CN" dirty="0"/>
              <a:t>2</a:t>
            </a:r>
            <a:r>
              <a:rPr lang="zh-CN" altLang="zh-CN" dirty="0"/>
              <a:t>）找出有订单的书名和订单号。</a:t>
            </a:r>
          </a:p>
          <a:p>
            <a:pPr>
              <a:lnSpc>
                <a:spcPts val="3000"/>
              </a:lnSpc>
            </a:pPr>
            <a:r>
              <a:rPr lang="zh-CN" altLang="zh-CN" dirty="0"/>
              <a:t>（</a:t>
            </a:r>
            <a:r>
              <a:rPr lang="en-US" altLang="zh-CN" dirty="0"/>
              <a:t>3</a:t>
            </a:r>
            <a:r>
              <a:rPr lang="zh-CN" altLang="zh-CN" dirty="0"/>
              <a:t>）找出订购数量为</a:t>
            </a:r>
            <a:r>
              <a:rPr lang="en-US" altLang="zh-CN" dirty="0"/>
              <a:t>20</a:t>
            </a:r>
            <a:r>
              <a:rPr lang="zh-CN" altLang="zh-CN" dirty="0"/>
              <a:t>的所有订单号和书号。</a:t>
            </a:r>
          </a:p>
          <a:p>
            <a:pPr>
              <a:lnSpc>
                <a:spcPts val="3000"/>
              </a:lnSpc>
            </a:pPr>
            <a:r>
              <a:rPr lang="zh-CN" altLang="zh-CN" dirty="0"/>
              <a:t>（</a:t>
            </a:r>
            <a:r>
              <a:rPr lang="en-US" altLang="zh-CN" dirty="0"/>
              <a:t>4</a:t>
            </a:r>
            <a:r>
              <a:rPr lang="zh-CN" altLang="zh-CN" dirty="0"/>
              <a:t>）找出至少订购了“数据库技术”的读者号。</a:t>
            </a:r>
          </a:p>
          <a:p>
            <a:pPr>
              <a:lnSpc>
                <a:spcPts val="3000"/>
              </a:lnSpc>
            </a:pPr>
            <a:r>
              <a:rPr lang="zh-CN" altLang="zh-CN" dirty="0"/>
              <a:t>（</a:t>
            </a:r>
            <a:r>
              <a:rPr lang="en-US" altLang="zh-CN" dirty="0"/>
              <a:t>5</a:t>
            </a:r>
            <a:r>
              <a:rPr lang="zh-CN" altLang="zh-CN" dirty="0"/>
              <a:t>）找出没有订购任何图书的读者号。</a:t>
            </a:r>
          </a:p>
          <a:p>
            <a:endParaRPr lang="zh-CN" altLang="en-US" dirty="0"/>
          </a:p>
        </p:txBody>
      </p:sp>
      <p:sp>
        <p:nvSpPr>
          <p:cNvPr id="2" name="灯片编号占位符 1">
            <a:extLst>
              <a:ext uri="{FF2B5EF4-FFF2-40B4-BE49-F238E27FC236}">
                <a16:creationId xmlns:a16="http://schemas.microsoft.com/office/drawing/2014/main" id="{818336ED-5BF9-AF40-A84D-B02A2C21DFCF}"/>
              </a:ext>
            </a:extLst>
          </p:cNvPr>
          <p:cNvSpPr>
            <a:spLocks noGrp="1"/>
          </p:cNvSpPr>
          <p:nvPr>
            <p:ph type="sldNum" sz="quarter" idx="12"/>
          </p:nvPr>
        </p:nvSpPr>
        <p:spPr/>
        <p:txBody>
          <a:bodyPr/>
          <a:lstStyle/>
          <a:p>
            <a:fld id="{C46E5E69-9A6D-4AF8-BC2D-C556A9893D8F}" type="slidenum">
              <a:rPr lang="zh-CN" altLang="en-US" smtClean="0"/>
              <a:pPr/>
              <a:t>73</a:t>
            </a:fld>
            <a:endParaRPr lang="zh-CN" altLang="en-US" dirty="0"/>
          </a:p>
        </p:txBody>
      </p:sp>
    </p:spTree>
    <p:extLst>
      <p:ext uri="{BB962C8B-B14F-4D97-AF65-F5344CB8AC3E}">
        <p14:creationId xmlns:p14="http://schemas.microsoft.com/office/powerpoint/2010/main" val="36291865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260648"/>
            <a:ext cx="8229600" cy="5976664"/>
          </a:xfrm>
        </p:spPr>
        <p:txBody>
          <a:bodyPr>
            <a:normAutofit/>
          </a:bodyPr>
          <a:lstStyle/>
          <a:p>
            <a:r>
              <a:rPr lang="en-US" altLang="zh-CN" dirty="0"/>
              <a:t>2.7 </a:t>
            </a:r>
            <a:r>
              <a:rPr lang="zh-CN" altLang="zh-CN" dirty="0"/>
              <a:t>已知商品销售数据库的关系如下：</a:t>
            </a:r>
          </a:p>
          <a:p>
            <a:r>
              <a:rPr lang="zh-CN" altLang="zh-CN" dirty="0"/>
              <a:t>商品</a:t>
            </a:r>
            <a:r>
              <a:rPr lang="en-US" altLang="zh-CN" dirty="0"/>
              <a:t>SP</a:t>
            </a:r>
            <a:r>
              <a:rPr lang="zh-CN" altLang="zh-CN" dirty="0"/>
              <a:t>（商品号</a:t>
            </a:r>
            <a:r>
              <a:rPr lang="en-US" altLang="zh-CN" dirty="0"/>
              <a:t>SPNO</a:t>
            </a:r>
            <a:r>
              <a:rPr lang="zh-CN" altLang="zh-CN" dirty="0"/>
              <a:t>，商品名</a:t>
            </a:r>
            <a:r>
              <a:rPr lang="en-US" altLang="zh-CN" dirty="0"/>
              <a:t>SPN</a:t>
            </a:r>
            <a:r>
              <a:rPr lang="zh-CN" altLang="zh-CN" dirty="0"/>
              <a:t>）、库存</a:t>
            </a:r>
            <a:r>
              <a:rPr lang="en-US" altLang="zh-CN" dirty="0"/>
              <a:t>KC</a:t>
            </a:r>
            <a:r>
              <a:rPr lang="zh-CN" altLang="zh-CN" dirty="0"/>
              <a:t>（</a:t>
            </a:r>
            <a:r>
              <a:rPr lang="en-US" altLang="zh-CN" dirty="0"/>
              <a:t>SPNO</a:t>
            </a:r>
            <a:r>
              <a:rPr lang="zh-CN" altLang="zh-CN" dirty="0"/>
              <a:t>，库存数量</a:t>
            </a:r>
            <a:r>
              <a:rPr lang="en-US" altLang="zh-CN" dirty="0"/>
              <a:t>SL1</a:t>
            </a:r>
            <a:r>
              <a:rPr lang="zh-CN" altLang="zh-CN" dirty="0"/>
              <a:t>）</a:t>
            </a:r>
          </a:p>
          <a:p>
            <a:r>
              <a:rPr lang="zh-CN" altLang="zh-CN" dirty="0"/>
              <a:t>销售</a:t>
            </a:r>
            <a:r>
              <a:rPr lang="en-US" altLang="zh-CN" dirty="0"/>
              <a:t>XS</a:t>
            </a:r>
            <a:r>
              <a:rPr lang="zh-CN" altLang="zh-CN" dirty="0"/>
              <a:t>（</a:t>
            </a:r>
            <a:r>
              <a:rPr lang="en-US" altLang="zh-CN" dirty="0"/>
              <a:t>SPNO</a:t>
            </a:r>
            <a:r>
              <a:rPr lang="zh-CN" altLang="zh-CN" dirty="0"/>
              <a:t>，</a:t>
            </a:r>
            <a:r>
              <a:rPr lang="en-US" altLang="zh-CN" dirty="0"/>
              <a:t>KHNO</a:t>
            </a:r>
            <a:r>
              <a:rPr lang="zh-CN" altLang="zh-CN" dirty="0"/>
              <a:t>，销售日期</a:t>
            </a:r>
            <a:r>
              <a:rPr lang="en-US" altLang="zh-CN" dirty="0"/>
              <a:t>RQ</a:t>
            </a:r>
            <a:r>
              <a:rPr lang="zh-CN" altLang="zh-CN" dirty="0"/>
              <a:t>，销售数量</a:t>
            </a:r>
            <a:r>
              <a:rPr lang="en-US" altLang="zh-CN" dirty="0"/>
              <a:t>SL2</a:t>
            </a:r>
            <a:r>
              <a:rPr lang="zh-CN" altLang="zh-CN" dirty="0"/>
              <a:t>，单价</a:t>
            </a:r>
            <a:r>
              <a:rPr lang="en-US" altLang="zh-CN" dirty="0"/>
              <a:t>DJ</a:t>
            </a:r>
            <a:r>
              <a:rPr lang="zh-CN" altLang="zh-CN" dirty="0"/>
              <a:t>）</a:t>
            </a:r>
          </a:p>
          <a:p>
            <a:r>
              <a:rPr lang="zh-CN" altLang="zh-CN" dirty="0"/>
              <a:t>客户</a:t>
            </a:r>
            <a:r>
              <a:rPr lang="en-US" altLang="zh-CN" dirty="0"/>
              <a:t>KH</a:t>
            </a:r>
            <a:r>
              <a:rPr lang="zh-CN" altLang="zh-CN" dirty="0"/>
              <a:t>（客户码</a:t>
            </a:r>
            <a:r>
              <a:rPr lang="en-US" altLang="zh-CN" dirty="0"/>
              <a:t>KHNO</a:t>
            </a:r>
            <a:r>
              <a:rPr lang="zh-CN" altLang="zh-CN" dirty="0"/>
              <a:t>，客户名</a:t>
            </a:r>
            <a:r>
              <a:rPr lang="en-US" altLang="zh-CN" dirty="0"/>
              <a:t>KHN</a:t>
            </a:r>
            <a:r>
              <a:rPr lang="zh-CN" altLang="zh-CN" dirty="0"/>
              <a:t>）。</a:t>
            </a:r>
          </a:p>
          <a:p>
            <a:r>
              <a:rPr lang="zh-CN" altLang="zh-CN" dirty="0"/>
              <a:t>请完成以下查询：</a:t>
            </a:r>
          </a:p>
          <a:p>
            <a:r>
              <a:rPr lang="zh-CN" altLang="zh-CN" dirty="0"/>
              <a:t>（</a:t>
            </a:r>
            <a:r>
              <a:rPr lang="en-US" altLang="zh-CN" dirty="0"/>
              <a:t>1</a:t>
            </a:r>
            <a:r>
              <a:rPr lang="zh-CN" altLang="zh-CN" dirty="0"/>
              <a:t>）查询所有商品的全部信息。</a:t>
            </a:r>
          </a:p>
          <a:p>
            <a:r>
              <a:rPr lang="zh-CN" altLang="zh-CN" dirty="0"/>
              <a:t>（</a:t>
            </a:r>
            <a:r>
              <a:rPr lang="en-US" altLang="zh-CN" dirty="0"/>
              <a:t>2</a:t>
            </a:r>
            <a:r>
              <a:rPr lang="zh-CN" altLang="zh-CN" dirty="0"/>
              <a:t>）查询客户“蓝天食品厂”所购的商品码和数量。</a:t>
            </a:r>
          </a:p>
          <a:p>
            <a:r>
              <a:rPr lang="zh-CN" altLang="zh-CN" dirty="0"/>
              <a:t>（</a:t>
            </a:r>
            <a:r>
              <a:rPr lang="en-US" altLang="zh-CN" dirty="0"/>
              <a:t>3</a:t>
            </a:r>
            <a:r>
              <a:rPr lang="zh-CN" altLang="zh-CN" dirty="0"/>
              <a:t>）查询客户‘</a:t>
            </a:r>
            <a:r>
              <a:rPr lang="en-US" altLang="zh-CN" dirty="0"/>
              <a:t>1616</a:t>
            </a:r>
            <a:r>
              <a:rPr lang="zh-CN" altLang="zh-CN" dirty="0"/>
              <a:t>’所购商品的库存数量。</a:t>
            </a:r>
          </a:p>
          <a:p>
            <a:r>
              <a:rPr lang="zh-CN" altLang="zh-CN" dirty="0"/>
              <a:t>（</a:t>
            </a:r>
            <a:r>
              <a:rPr lang="en-US" altLang="zh-CN" dirty="0"/>
              <a:t>4</a:t>
            </a:r>
            <a:r>
              <a:rPr lang="zh-CN" altLang="zh-CN" dirty="0"/>
              <a:t>）查询购买所有商品的客户名。</a:t>
            </a:r>
            <a:endParaRPr lang="zh-CN" altLang="en-US" dirty="0"/>
          </a:p>
        </p:txBody>
      </p:sp>
      <p:sp>
        <p:nvSpPr>
          <p:cNvPr id="2" name="灯片编号占位符 1">
            <a:extLst>
              <a:ext uri="{FF2B5EF4-FFF2-40B4-BE49-F238E27FC236}">
                <a16:creationId xmlns:a16="http://schemas.microsoft.com/office/drawing/2014/main" id="{2E2C3954-2520-0E49-992E-822BDE56028D}"/>
              </a:ext>
            </a:extLst>
          </p:cNvPr>
          <p:cNvSpPr>
            <a:spLocks noGrp="1"/>
          </p:cNvSpPr>
          <p:nvPr>
            <p:ph type="sldNum" sz="quarter" idx="12"/>
          </p:nvPr>
        </p:nvSpPr>
        <p:spPr/>
        <p:txBody>
          <a:bodyPr/>
          <a:lstStyle/>
          <a:p>
            <a:fld id="{C46E5E69-9A6D-4AF8-BC2D-C556A9893D8F}" type="slidenum">
              <a:rPr lang="zh-CN" altLang="en-US" smtClean="0"/>
              <a:pPr/>
              <a:t>74</a:t>
            </a:fld>
            <a:endParaRPr lang="zh-CN" altLang="en-US" dirty="0"/>
          </a:p>
        </p:txBody>
      </p:sp>
    </p:spTree>
    <p:extLst>
      <p:ext uri="{BB962C8B-B14F-4D97-AF65-F5344CB8AC3E}">
        <p14:creationId xmlns:p14="http://schemas.microsoft.com/office/powerpoint/2010/main" val="22326947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260648"/>
            <a:ext cx="8712968" cy="5976664"/>
          </a:xfrm>
        </p:spPr>
        <p:txBody>
          <a:bodyPr>
            <a:normAutofit fontScale="55000" lnSpcReduction="20000"/>
          </a:bodyPr>
          <a:lstStyle/>
          <a:p>
            <a:pPr>
              <a:lnSpc>
                <a:spcPts val="2800"/>
              </a:lnSpc>
            </a:pPr>
            <a:r>
              <a:rPr lang="en-US" altLang="zh-CN" dirty="0"/>
              <a:t>2.8 </a:t>
            </a:r>
            <a:r>
              <a:rPr lang="zh-CN" altLang="zh-CN" dirty="0"/>
              <a:t>已知运输公司数据库的关系如下：</a:t>
            </a:r>
          </a:p>
          <a:p>
            <a:pPr>
              <a:lnSpc>
                <a:spcPts val="2800"/>
              </a:lnSpc>
            </a:pPr>
            <a:r>
              <a:rPr lang="en-US" altLang="zh-CN" dirty="0"/>
              <a:t>Team</a:t>
            </a:r>
            <a:r>
              <a:rPr lang="zh-CN" altLang="zh-CN" dirty="0"/>
              <a:t>（</a:t>
            </a:r>
            <a:r>
              <a:rPr lang="en-US" altLang="zh-CN" dirty="0" err="1"/>
              <a:t>TNo</a:t>
            </a:r>
            <a:r>
              <a:rPr lang="zh-CN" altLang="zh-CN" dirty="0"/>
              <a:t>，</a:t>
            </a:r>
            <a:r>
              <a:rPr lang="en-US" altLang="zh-CN" dirty="0" err="1"/>
              <a:t>TName</a:t>
            </a:r>
            <a:r>
              <a:rPr lang="zh-CN" altLang="zh-CN" dirty="0"/>
              <a:t>，</a:t>
            </a:r>
            <a:r>
              <a:rPr lang="en-US" altLang="zh-CN" dirty="0"/>
              <a:t>Phone</a:t>
            </a:r>
            <a:r>
              <a:rPr lang="zh-CN" altLang="zh-CN" dirty="0"/>
              <a:t>）</a:t>
            </a:r>
          </a:p>
          <a:p>
            <a:pPr>
              <a:lnSpc>
                <a:spcPts val="2800"/>
              </a:lnSpc>
            </a:pPr>
            <a:r>
              <a:rPr lang="en-US" altLang="zh-CN" dirty="0"/>
              <a:t>Car</a:t>
            </a:r>
            <a:r>
              <a:rPr lang="zh-CN" altLang="zh-CN" dirty="0"/>
              <a:t>（</a:t>
            </a:r>
            <a:r>
              <a:rPr lang="en-US" altLang="zh-CN" dirty="0" err="1"/>
              <a:t>CNo</a:t>
            </a:r>
            <a:r>
              <a:rPr lang="zh-CN" altLang="zh-CN" dirty="0"/>
              <a:t>，</a:t>
            </a:r>
            <a:r>
              <a:rPr lang="en-US" altLang="zh-CN" dirty="0"/>
              <a:t>Company</a:t>
            </a:r>
            <a:r>
              <a:rPr lang="zh-CN" altLang="zh-CN" dirty="0"/>
              <a:t>，</a:t>
            </a:r>
            <a:r>
              <a:rPr lang="en-US" altLang="zh-CN" dirty="0" err="1"/>
              <a:t>CDate</a:t>
            </a:r>
            <a:r>
              <a:rPr lang="zh-CN" altLang="zh-CN" dirty="0"/>
              <a:t>，</a:t>
            </a:r>
            <a:r>
              <a:rPr lang="en-US" altLang="zh-CN" dirty="0" err="1"/>
              <a:t>TNo</a:t>
            </a:r>
            <a:r>
              <a:rPr lang="zh-CN" altLang="zh-CN" dirty="0"/>
              <a:t>）</a:t>
            </a:r>
          </a:p>
          <a:p>
            <a:pPr>
              <a:lnSpc>
                <a:spcPts val="2800"/>
              </a:lnSpc>
            </a:pPr>
            <a:r>
              <a:rPr lang="en-US" altLang="zh-CN" dirty="0"/>
              <a:t>Driver</a:t>
            </a:r>
            <a:r>
              <a:rPr lang="zh-CN" altLang="zh-CN" dirty="0"/>
              <a:t>（</a:t>
            </a:r>
            <a:r>
              <a:rPr lang="en-US" altLang="zh-CN" dirty="0" err="1"/>
              <a:t>DNo</a:t>
            </a:r>
            <a:r>
              <a:rPr lang="zh-CN" altLang="zh-CN" dirty="0"/>
              <a:t>，</a:t>
            </a:r>
            <a:r>
              <a:rPr lang="en-US" altLang="zh-CN" dirty="0" err="1"/>
              <a:t>DName</a:t>
            </a:r>
            <a:r>
              <a:rPr lang="zh-CN" altLang="zh-CN" dirty="0"/>
              <a:t>，</a:t>
            </a:r>
            <a:r>
              <a:rPr lang="en-US" altLang="zh-CN" dirty="0"/>
              <a:t>Phone</a:t>
            </a:r>
            <a:r>
              <a:rPr lang="zh-CN" altLang="zh-CN" dirty="0"/>
              <a:t>，</a:t>
            </a:r>
            <a:r>
              <a:rPr lang="en-US" altLang="zh-CN" dirty="0" err="1"/>
              <a:t>TNo</a:t>
            </a:r>
            <a:r>
              <a:rPr lang="zh-CN" altLang="zh-CN" dirty="0"/>
              <a:t>，</a:t>
            </a:r>
            <a:r>
              <a:rPr lang="en-US" altLang="zh-CN" dirty="0" err="1"/>
              <a:t>WDate</a:t>
            </a:r>
            <a:r>
              <a:rPr lang="zh-CN" altLang="zh-CN" dirty="0"/>
              <a:t>）</a:t>
            </a:r>
          </a:p>
          <a:p>
            <a:pPr>
              <a:lnSpc>
                <a:spcPts val="2800"/>
              </a:lnSpc>
            </a:pPr>
            <a:r>
              <a:rPr lang="en-US" altLang="zh-CN" dirty="0"/>
              <a:t>Team-</a:t>
            </a:r>
            <a:r>
              <a:rPr lang="zh-CN" altLang="zh-CN" dirty="0"/>
              <a:t>车队：</a:t>
            </a:r>
            <a:r>
              <a:rPr lang="en-US" altLang="zh-CN" dirty="0" err="1"/>
              <a:t>TNo</a:t>
            </a:r>
            <a:r>
              <a:rPr lang="en-US" altLang="zh-CN" dirty="0"/>
              <a:t>-</a:t>
            </a:r>
            <a:r>
              <a:rPr lang="zh-CN" altLang="zh-CN" dirty="0"/>
              <a:t>车队编号；</a:t>
            </a:r>
            <a:r>
              <a:rPr lang="en-US" altLang="zh-CN" dirty="0" err="1"/>
              <a:t>TName</a:t>
            </a:r>
            <a:r>
              <a:rPr lang="en-US" altLang="zh-CN" dirty="0"/>
              <a:t>-</a:t>
            </a:r>
            <a:r>
              <a:rPr lang="zh-CN" altLang="zh-CN" dirty="0"/>
              <a:t>车队名称；</a:t>
            </a:r>
            <a:r>
              <a:rPr lang="en-US" altLang="zh-CN" dirty="0"/>
              <a:t>Phone-</a:t>
            </a:r>
            <a:r>
              <a:rPr lang="zh-CN" altLang="zh-CN" dirty="0"/>
              <a:t>电话</a:t>
            </a:r>
          </a:p>
          <a:p>
            <a:pPr>
              <a:lnSpc>
                <a:spcPts val="2800"/>
              </a:lnSpc>
            </a:pPr>
            <a:r>
              <a:rPr lang="en-US" altLang="zh-CN" dirty="0"/>
              <a:t>Car-</a:t>
            </a:r>
            <a:r>
              <a:rPr lang="zh-CN" altLang="zh-CN" dirty="0"/>
              <a:t>车辆：</a:t>
            </a:r>
            <a:r>
              <a:rPr lang="en-US" altLang="zh-CN" dirty="0" err="1"/>
              <a:t>CNo</a:t>
            </a:r>
            <a:r>
              <a:rPr lang="en-US" altLang="zh-CN" dirty="0"/>
              <a:t>-</a:t>
            </a:r>
            <a:r>
              <a:rPr lang="zh-CN" altLang="zh-CN" dirty="0"/>
              <a:t>车辆编号；</a:t>
            </a:r>
            <a:r>
              <a:rPr lang="en-US" altLang="zh-CN" dirty="0"/>
              <a:t>Company-</a:t>
            </a:r>
            <a:r>
              <a:rPr lang="zh-CN" altLang="zh-CN" dirty="0"/>
              <a:t>生产厂家；</a:t>
            </a:r>
            <a:r>
              <a:rPr lang="en-US" altLang="zh-CN" dirty="0" err="1"/>
              <a:t>CDate</a:t>
            </a:r>
            <a:r>
              <a:rPr lang="en-US" altLang="zh-CN" dirty="0"/>
              <a:t>-</a:t>
            </a:r>
            <a:r>
              <a:rPr lang="zh-CN" altLang="zh-CN" dirty="0"/>
              <a:t>出厂日期</a:t>
            </a:r>
          </a:p>
          <a:p>
            <a:pPr>
              <a:lnSpc>
                <a:spcPts val="2800"/>
              </a:lnSpc>
            </a:pPr>
            <a:r>
              <a:rPr lang="en-US" altLang="zh-CN" dirty="0"/>
              <a:t>Driver-</a:t>
            </a:r>
            <a:r>
              <a:rPr lang="zh-CN" altLang="zh-CN" dirty="0"/>
              <a:t>司机：</a:t>
            </a:r>
            <a:r>
              <a:rPr lang="en-US" altLang="zh-CN" dirty="0" err="1"/>
              <a:t>DNo</a:t>
            </a:r>
            <a:r>
              <a:rPr lang="en-US" altLang="zh-CN" dirty="0"/>
              <a:t>-</a:t>
            </a:r>
            <a:r>
              <a:rPr lang="zh-CN" altLang="zh-CN" dirty="0"/>
              <a:t>司机编号；</a:t>
            </a:r>
            <a:r>
              <a:rPr lang="en-US" altLang="zh-CN" dirty="0" err="1"/>
              <a:t>DName</a:t>
            </a:r>
            <a:r>
              <a:rPr lang="en-US" altLang="zh-CN" dirty="0"/>
              <a:t>-</a:t>
            </a:r>
            <a:r>
              <a:rPr lang="zh-CN" altLang="zh-CN" dirty="0"/>
              <a:t>姓名；</a:t>
            </a:r>
            <a:r>
              <a:rPr lang="en-US" altLang="zh-CN" dirty="0"/>
              <a:t>Phone-</a:t>
            </a:r>
            <a:r>
              <a:rPr lang="zh-CN" altLang="zh-CN" dirty="0"/>
              <a:t>电话；</a:t>
            </a:r>
            <a:r>
              <a:rPr lang="en-US" altLang="zh-CN" dirty="0" err="1"/>
              <a:t>WDate</a:t>
            </a:r>
            <a:r>
              <a:rPr lang="en-US" altLang="zh-CN" dirty="0"/>
              <a:t>-</a:t>
            </a:r>
            <a:r>
              <a:rPr lang="zh-CN" altLang="zh-CN" dirty="0"/>
              <a:t>聘期</a:t>
            </a:r>
          </a:p>
          <a:p>
            <a:pPr>
              <a:lnSpc>
                <a:spcPts val="2800"/>
              </a:lnSpc>
            </a:pPr>
            <a:r>
              <a:rPr lang="zh-CN" altLang="zh-CN" dirty="0"/>
              <a:t>请完成如下查询：</a:t>
            </a:r>
          </a:p>
          <a:p>
            <a:pPr>
              <a:lnSpc>
                <a:spcPts val="2800"/>
              </a:lnSpc>
            </a:pPr>
            <a:r>
              <a:rPr lang="zh-CN" altLang="zh-CN" dirty="0"/>
              <a:t>（</a:t>
            </a:r>
            <a:r>
              <a:rPr lang="en-US" altLang="zh-CN" dirty="0"/>
              <a:t>1</a:t>
            </a:r>
            <a:r>
              <a:rPr lang="zh-CN" altLang="zh-CN" dirty="0"/>
              <a:t>）查询生产厂家是“金龙公司”的车辆信息，显示数据为</a:t>
            </a:r>
            <a:r>
              <a:rPr lang="en-US" altLang="zh-CN" dirty="0" err="1"/>
              <a:t>CNo</a:t>
            </a:r>
            <a:r>
              <a:rPr lang="zh-CN" altLang="zh-CN" dirty="0"/>
              <a:t>，</a:t>
            </a:r>
            <a:r>
              <a:rPr lang="en-US" altLang="zh-CN" dirty="0"/>
              <a:t>Company</a:t>
            </a:r>
            <a:r>
              <a:rPr lang="zh-CN" altLang="zh-CN" dirty="0"/>
              <a:t>，</a:t>
            </a:r>
            <a:r>
              <a:rPr lang="en-US" altLang="zh-CN" dirty="0" err="1"/>
              <a:t>CDate</a:t>
            </a:r>
            <a:r>
              <a:rPr lang="zh-CN" altLang="zh-CN" dirty="0"/>
              <a:t>，</a:t>
            </a:r>
            <a:r>
              <a:rPr lang="en-US" altLang="zh-CN" dirty="0" err="1"/>
              <a:t>TNo</a:t>
            </a:r>
            <a:r>
              <a:rPr lang="zh-CN" altLang="zh-CN" dirty="0"/>
              <a:t>。</a:t>
            </a:r>
          </a:p>
          <a:p>
            <a:pPr>
              <a:lnSpc>
                <a:spcPts val="2800"/>
              </a:lnSpc>
            </a:pPr>
            <a:r>
              <a:rPr lang="zh-CN" altLang="zh-CN" dirty="0"/>
              <a:t>（</a:t>
            </a:r>
            <a:r>
              <a:rPr lang="en-US" altLang="zh-CN" dirty="0"/>
              <a:t>2</a:t>
            </a:r>
            <a:r>
              <a:rPr lang="zh-CN" altLang="zh-CN" dirty="0"/>
              <a:t>）查询李明司机的名称、电话和聘期，显示数据为</a:t>
            </a:r>
            <a:r>
              <a:rPr lang="en-US" altLang="zh-CN" dirty="0" err="1"/>
              <a:t>DName</a:t>
            </a:r>
            <a:r>
              <a:rPr lang="zh-CN" altLang="zh-CN" dirty="0"/>
              <a:t>，</a:t>
            </a:r>
            <a:r>
              <a:rPr lang="en-US" altLang="zh-CN" dirty="0"/>
              <a:t>Phone</a:t>
            </a:r>
            <a:r>
              <a:rPr lang="zh-CN" altLang="zh-CN" dirty="0"/>
              <a:t>，和</a:t>
            </a:r>
            <a:r>
              <a:rPr lang="en-US" altLang="zh-CN" dirty="0" err="1"/>
              <a:t>WDate</a:t>
            </a:r>
            <a:r>
              <a:rPr lang="zh-CN" altLang="zh-CN" dirty="0"/>
              <a:t>。其中：</a:t>
            </a:r>
            <a:r>
              <a:rPr lang="en-US" altLang="zh-CN" dirty="0"/>
              <a:t>Phone</a:t>
            </a:r>
            <a:r>
              <a:rPr lang="zh-CN" altLang="zh-CN" dirty="0"/>
              <a:t>为司机的电话。</a:t>
            </a:r>
          </a:p>
          <a:p>
            <a:pPr>
              <a:lnSpc>
                <a:spcPts val="2800"/>
              </a:lnSpc>
            </a:pPr>
            <a:r>
              <a:rPr lang="zh-CN" altLang="zh-CN" dirty="0"/>
              <a:t>（</a:t>
            </a:r>
            <a:r>
              <a:rPr lang="en-US" altLang="zh-CN" dirty="0"/>
              <a:t>3</a:t>
            </a:r>
            <a:r>
              <a:rPr lang="zh-CN" altLang="zh-CN" dirty="0"/>
              <a:t>）查询车队编号为“</a:t>
            </a:r>
            <a:r>
              <a:rPr lang="en-US" altLang="zh-CN" dirty="0"/>
              <a:t>01</a:t>
            </a:r>
            <a:r>
              <a:rPr lang="zh-CN" altLang="zh-CN" dirty="0"/>
              <a:t>”的车辆信息，显示数据为</a:t>
            </a:r>
            <a:r>
              <a:rPr lang="en-US" altLang="zh-CN" dirty="0" err="1"/>
              <a:t>TName</a:t>
            </a:r>
            <a:r>
              <a:rPr lang="zh-CN" altLang="zh-CN" dirty="0"/>
              <a:t>，</a:t>
            </a:r>
            <a:r>
              <a:rPr lang="en-US" altLang="zh-CN" dirty="0"/>
              <a:t>Phone</a:t>
            </a:r>
            <a:r>
              <a:rPr lang="zh-CN" altLang="zh-CN" dirty="0"/>
              <a:t>，</a:t>
            </a:r>
            <a:r>
              <a:rPr lang="en-US" altLang="zh-CN" dirty="0" err="1"/>
              <a:t>CNo</a:t>
            </a:r>
            <a:r>
              <a:rPr lang="zh-CN" altLang="zh-CN" dirty="0"/>
              <a:t>，</a:t>
            </a:r>
            <a:r>
              <a:rPr lang="en-US" altLang="zh-CN" dirty="0"/>
              <a:t>Company</a:t>
            </a:r>
            <a:r>
              <a:rPr lang="zh-CN" altLang="zh-CN" dirty="0"/>
              <a:t>和</a:t>
            </a:r>
            <a:r>
              <a:rPr lang="en-US" altLang="zh-CN" dirty="0" err="1"/>
              <a:t>CDate</a:t>
            </a:r>
            <a:r>
              <a:rPr lang="zh-CN" altLang="zh-CN" dirty="0"/>
              <a:t>。其中：</a:t>
            </a:r>
            <a:r>
              <a:rPr lang="en-US" altLang="zh-CN" dirty="0"/>
              <a:t>Phone</a:t>
            </a:r>
            <a:r>
              <a:rPr lang="zh-CN" altLang="zh-CN" dirty="0"/>
              <a:t>为车队的电话。</a:t>
            </a:r>
          </a:p>
          <a:p>
            <a:pPr>
              <a:lnSpc>
                <a:spcPts val="2800"/>
              </a:lnSpc>
            </a:pPr>
            <a:r>
              <a:rPr lang="zh-CN" altLang="zh-CN" dirty="0"/>
              <a:t>（</a:t>
            </a:r>
            <a:r>
              <a:rPr lang="en-US" altLang="zh-CN" dirty="0"/>
              <a:t>4</a:t>
            </a:r>
            <a:r>
              <a:rPr lang="zh-CN" altLang="zh-CN" dirty="0"/>
              <a:t>）查询车队名称为“翔龙车队”的司机信息，显示数据为</a:t>
            </a:r>
            <a:r>
              <a:rPr lang="en-US" altLang="zh-CN" dirty="0" err="1"/>
              <a:t>TName</a:t>
            </a:r>
            <a:r>
              <a:rPr lang="zh-CN" altLang="zh-CN" dirty="0"/>
              <a:t>，</a:t>
            </a:r>
            <a:r>
              <a:rPr lang="en-US" altLang="zh-CN" dirty="0"/>
              <a:t> Phone</a:t>
            </a:r>
            <a:r>
              <a:rPr lang="zh-CN" altLang="zh-CN" dirty="0"/>
              <a:t>（该电话为车队电话，</a:t>
            </a:r>
            <a:r>
              <a:rPr lang="en-US" altLang="zh-CN" dirty="0" err="1"/>
              <a:t>DName</a:t>
            </a:r>
            <a:r>
              <a:rPr lang="zh-CN" altLang="zh-CN" dirty="0"/>
              <a:t>和</a:t>
            </a:r>
            <a:r>
              <a:rPr lang="en-US" altLang="zh-CN" dirty="0"/>
              <a:t>Phone</a:t>
            </a:r>
            <a:r>
              <a:rPr lang="zh-CN" altLang="zh-CN" dirty="0"/>
              <a:t>（该电话为司机电话）。</a:t>
            </a:r>
          </a:p>
          <a:p>
            <a:pPr>
              <a:lnSpc>
                <a:spcPts val="2800"/>
              </a:lnSpc>
            </a:pPr>
            <a:r>
              <a:rPr lang="zh-CN" altLang="zh-CN" dirty="0"/>
              <a:t>（</a:t>
            </a:r>
            <a:r>
              <a:rPr lang="en-US" altLang="zh-CN" dirty="0"/>
              <a:t>5</a:t>
            </a:r>
            <a:r>
              <a:rPr lang="zh-CN" altLang="zh-CN" dirty="0"/>
              <a:t>）查询运输公司车队、车辆和司机的信息清单，显示数据为</a:t>
            </a:r>
            <a:r>
              <a:rPr lang="en-US" altLang="zh-CN" dirty="0" err="1"/>
              <a:t>TName</a:t>
            </a:r>
            <a:r>
              <a:rPr lang="zh-CN" altLang="zh-CN" dirty="0"/>
              <a:t>，</a:t>
            </a:r>
            <a:r>
              <a:rPr lang="en-US" altLang="zh-CN" dirty="0"/>
              <a:t>Phone</a:t>
            </a:r>
            <a:r>
              <a:rPr lang="zh-CN" altLang="zh-CN" dirty="0"/>
              <a:t>（该电话为车队电话，</a:t>
            </a:r>
            <a:r>
              <a:rPr lang="en-US" altLang="zh-CN" dirty="0" err="1"/>
              <a:t>CNo</a:t>
            </a:r>
            <a:r>
              <a:rPr lang="zh-CN" altLang="zh-CN" dirty="0"/>
              <a:t>，</a:t>
            </a:r>
            <a:r>
              <a:rPr lang="en-US" altLang="zh-CN" dirty="0"/>
              <a:t>Company</a:t>
            </a:r>
            <a:r>
              <a:rPr lang="zh-CN" altLang="zh-CN" dirty="0"/>
              <a:t>，</a:t>
            </a:r>
            <a:r>
              <a:rPr lang="en-US" altLang="zh-CN" dirty="0" err="1"/>
              <a:t>CDate</a:t>
            </a:r>
            <a:r>
              <a:rPr lang="zh-CN" altLang="zh-CN" dirty="0"/>
              <a:t>，</a:t>
            </a:r>
            <a:r>
              <a:rPr lang="en-US" altLang="zh-CN" dirty="0" err="1"/>
              <a:t>DName</a:t>
            </a:r>
            <a:r>
              <a:rPr lang="zh-CN" altLang="zh-CN" dirty="0"/>
              <a:t>，</a:t>
            </a:r>
            <a:r>
              <a:rPr lang="en-US" altLang="zh-CN" dirty="0"/>
              <a:t>Phone</a:t>
            </a:r>
            <a:r>
              <a:rPr lang="zh-CN" altLang="zh-CN" dirty="0"/>
              <a:t>（该电话为司机电话）和</a:t>
            </a:r>
            <a:r>
              <a:rPr lang="en-US" altLang="zh-CN" dirty="0" err="1"/>
              <a:t>WDate</a:t>
            </a:r>
            <a:r>
              <a:rPr lang="zh-CN" altLang="zh-CN" dirty="0"/>
              <a:t>。</a:t>
            </a:r>
            <a:endParaRPr lang="zh-CN" altLang="en-US" dirty="0"/>
          </a:p>
        </p:txBody>
      </p:sp>
      <p:sp>
        <p:nvSpPr>
          <p:cNvPr id="2" name="灯片编号占位符 1">
            <a:extLst>
              <a:ext uri="{FF2B5EF4-FFF2-40B4-BE49-F238E27FC236}">
                <a16:creationId xmlns:a16="http://schemas.microsoft.com/office/drawing/2014/main" id="{42D4B668-7CF2-A74C-A237-8C2ED003F28E}"/>
              </a:ext>
            </a:extLst>
          </p:cNvPr>
          <p:cNvSpPr>
            <a:spLocks noGrp="1"/>
          </p:cNvSpPr>
          <p:nvPr>
            <p:ph type="sldNum" sz="quarter" idx="12"/>
          </p:nvPr>
        </p:nvSpPr>
        <p:spPr/>
        <p:txBody>
          <a:bodyPr/>
          <a:lstStyle/>
          <a:p>
            <a:fld id="{C46E5E69-9A6D-4AF8-BC2D-C556A9893D8F}" type="slidenum">
              <a:rPr lang="zh-CN" altLang="en-US" smtClean="0"/>
              <a:pPr/>
              <a:t>75</a:t>
            </a:fld>
            <a:endParaRPr lang="zh-CN" altLang="en-US" dirty="0"/>
          </a:p>
        </p:txBody>
      </p:sp>
    </p:spTree>
    <p:extLst>
      <p:ext uri="{BB962C8B-B14F-4D97-AF65-F5344CB8AC3E}">
        <p14:creationId xmlns:p14="http://schemas.microsoft.com/office/powerpoint/2010/main" val="14288080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260648"/>
            <a:ext cx="8712968" cy="5976664"/>
          </a:xfrm>
        </p:spPr>
        <p:txBody>
          <a:bodyPr>
            <a:normAutofit/>
          </a:bodyPr>
          <a:lstStyle/>
          <a:p>
            <a:pPr marL="0" indent="0">
              <a:buNone/>
            </a:pPr>
            <a:r>
              <a:rPr lang="en-US" altLang="zh-CN" dirty="0"/>
              <a:t>2.9 </a:t>
            </a:r>
            <a:r>
              <a:rPr lang="zh-CN" altLang="zh-CN" dirty="0"/>
              <a:t>已知学籍管理数据库的关系如下：</a:t>
            </a:r>
          </a:p>
          <a:p>
            <a:pPr marL="0" indent="0">
              <a:buNone/>
            </a:pPr>
            <a:r>
              <a:rPr lang="zh-CN" altLang="zh-CN" dirty="0"/>
              <a:t>学生</a:t>
            </a:r>
            <a:r>
              <a:rPr lang="en-US" altLang="zh-CN" dirty="0"/>
              <a:t>S</a:t>
            </a:r>
            <a:r>
              <a:rPr lang="zh-CN" altLang="zh-CN" dirty="0"/>
              <a:t>（学号</a:t>
            </a:r>
            <a:r>
              <a:rPr lang="en-US" altLang="zh-CN" dirty="0" err="1"/>
              <a:t>SNo</a:t>
            </a:r>
            <a:r>
              <a:rPr lang="zh-CN" altLang="zh-CN" dirty="0"/>
              <a:t>，姓名</a:t>
            </a:r>
            <a:r>
              <a:rPr lang="en-US" altLang="zh-CN" dirty="0" err="1"/>
              <a:t>SName</a:t>
            </a:r>
            <a:r>
              <a:rPr lang="zh-CN" altLang="zh-CN" dirty="0"/>
              <a:t>，性别</a:t>
            </a:r>
            <a:r>
              <a:rPr lang="en-US" altLang="zh-CN" dirty="0" err="1"/>
              <a:t>SSex</a:t>
            </a:r>
            <a:r>
              <a:rPr lang="zh-CN" altLang="zh-CN" dirty="0"/>
              <a:t>，年龄</a:t>
            </a:r>
            <a:r>
              <a:rPr lang="en-US" altLang="zh-CN" dirty="0" err="1"/>
              <a:t>SAge</a:t>
            </a:r>
            <a:r>
              <a:rPr lang="zh-CN" altLang="zh-CN" dirty="0"/>
              <a:t>，班级</a:t>
            </a:r>
            <a:r>
              <a:rPr lang="en-US" altLang="zh-CN" dirty="0"/>
              <a:t>Class</a:t>
            </a:r>
            <a:r>
              <a:rPr lang="zh-CN" altLang="zh-CN" dirty="0"/>
              <a:t>，学院</a:t>
            </a:r>
            <a:r>
              <a:rPr lang="en-US" altLang="zh-CN" dirty="0" err="1"/>
              <a:t>Coll</a:t>
            </a:r>
            <a:r>
              <a:rPr lang="zh-CN" altLang="zh-CN" dirty="0"/>
              <a:t>）</a:t>
            </a:r>
          </a:p>
          <a:p>
            <a:pPr marL="0" indent="0">
              <a:buNone/>
            </a:pPr>
            <a:r>
              <a:rPr lang="zh-CN" altLang="zh-CN" dirty="0"/>
              <a:t>课程</a:t>
            </a:r>
            <a:r>
              <a:rPr lang="en-US" altLang="zh-CN" dirty="0"/>
              <a:t>C</a:t>
            </a:r>
            <a:r>
              <a:rPr lang="zh-CN" altLang="zh-CN" dirty="0"/>
              <a:t>（课程号</a:t>
            </a:r>
            <a:r>
              <a:rPr lang="en-US" altLang="zh-CN" dirty="0" err="1"/>
              <a:t>CNo</a:t>
            </a:r>
            <a:r>
              <a:rPr lang="zh-CN" altLang="zh-CN" dirty="0"/>
              <a:t>，课程名</a:t>
            </a:r>
            <a:r>
              <a:rPr lang="en-US" altLang="zh-CN" dirty="0" err="1"/>
              <a:t>CName</a:t>
            </a:r>
            <a:r>
              <a:rPr lang="zh-CN" altLang="zh-CN" dirty="0"/>
              <a:t>，选修课</a:t>
            </a:r>
            <a:r>
              <a:rPr lang="en-US" altLang="zh-CN" dirty="0" err="1"/>
              <a:t>CPNo</a:t>
            </a:r>
            <a:r>
              <a:rPr lang="zh-CN" altLang="zh-CN" dirty="0"/>
              <a:t>，学分</a:t>
            </a:r>
            <a:r>
              <a:rPr lang="en-US" altLang="zh-CN" dirty="0"/>
              <a:t>Credit</a:t>
            </a:r>
            <a:r>
              <a:rPr lang="zh-CN" altLang="zh-CN" dirty="0"/>
              <a:t>）</a:t>
            </a:r>
          </a:p>
          <a:p>
            <a:pPr marL="0" indent="0">
              <a:buNone/>
            </a:pPr>
            <a:r>
              <a:rPr lang="zh-CN" altLang="zh-CN" dirty="0"/>
              <a:t>选课</a:t>
            </a:r>
            <a:r>
              <a:rPr lang="en-US" altLang="zh-CN" dirty="0"/>
              <a:t>SC</a:t>
            </a:r>
            <a:r>
              <a:rPr lang="zh-CN" altLang="zh-CN" dirty="0"/>
              <a:t>（学号</a:t>
            </a:r>
            <a:r>
              <a:rPr lang="en-US" altLang="zh-CN" dirty="0" err="1"/>
              <a:t>SNo</a:t>
            </a:r>
            <a:r>
              <a:rPr lang="zh-CN" altLang="zh-CN" dirty="0"/>
              <a:t>，课程号</a:t>
            </a:r>
            <a:r>
              <a:rPr lang="en-US" altLang="zh-CN" dirty="0" err="1"/>
              <a:t>CNo</a:t>
            </a:r>
            <a:r>
              <a:rPr lang="zh-CN" altLang="zh-CN" dirty="0"/>
              <a:t>，成绩</a:t>
            </a:r>
            <a:r>
              <a:rPr lang="en-US" altLang="zh-CN" dirty="0"/>
              <a:t>Grade</a:t>
            </a:r>
            <a:r>
              <a:rPr lang="zh-CN" altLang="zh-CN" dirty="0"/>
              <a:t>）</a:t>
            </a:r>
          </a:p>
          <a:p>
            <a:pPr marL="0" indent="0">
              <a:buNone/>
            </a:pPr>
            <a:r>
              <a:rPr lang="zh-CN" altLang="zh-CN" dirty="0"/>
              <a:t>请完成如下任务：</a:t>
            </a:r>
          </a:p>
          <a:p>
            <a:pPr marL="0" indent="0">
              <a:buNone/>
            </a:pPr>
            <a:r>
              <a:rPr lang="zh-CN" altLang="zh-CN" dirty="0"/>
              <a:t>（</a:t>
            </a:r>
            <a:r>
              <a:rPr lang="en-US" altLang="zh-CN" dirty="0"/>
              <a:t>1</a:t>
            </a:r>
            <a:r>
              <a:rPr lang="zh-CN" altLang="zh-CN" dirty="0"/>
              <a:t>）查询男生的基本信息。</a:t>
            </a:r>
          </a:p>
          <a:p>
            <a:pPr marL="0" indent="0">
              <a:buNone/>
            </a:pPr>
            <a:r>
              <a:rPr lang="zh-CN" altLang="zh-CN" dirty="0"/>
              <a:t>（</a:t>
            </a:r>
            <a:r>
              <a:rPr lang="en-US" altLang="zh-CN" dirty="0"/>
              <a:t>2</a:t>
            </a:r>
            <a:r>
              <a:rPr lang="zh-CN" altLang="zh-CN" dirty="0"/>
              <a:t>）查询学生的姓名、年龄和班级。</a:t>
            </a:r>
          </a:p>
          <a:p>
            <a:pPr marL="0" indent="0">
              <a:buNone/>
            </a:pPr>
            <a:r>
              <a:rPr lang="zh-CN" altLang="zh-CN" dirty="0"/>
              <a:t>（</a:t>
            </a:r>
            <a:r>
              <a:rPr lang="en-US" altLang="zh-CN" dirty="0"/>
              <a:t>3</a:t>
            </a:r>
            <a:r>
              <a:rPr lang="zh-CN" altLang="zh-CN" dirty="0"/>
              <a:t>）查询物流</a:t>
            </a:r>
            <a:r>
              <a:rPr lang="en-US" altLang="zh-CN" dirty="0"/>
              <a:t>1602</a:t>
            </a:r>
            <a:r>
              <a:rPr lang="zh-CN" altLang="zh-CN" dirty="0"/>
              <a:t>班的学生的学号。</a:t>
            </a:r>
          </a:p>
          <a:p>
            <a:pPr marL="0" indent="0">
              <a:buNone/>
            </a:pPr>
            <a:r>
              <a:rPr lang="zh-CN" altLang="zh-CN" dirty="0"/>
              <a:t>（</a:t>
            </a:r>
            <a:r>
              <a:rPr lang="en-US" altLang="zh-CN" dirty="0"/>
              <a:t>4</a:t>
            </a:r>
            <a:r>
              <a:rPr lang="zh-CN" altLang="zh-CN" dirty="0"/>
              <a:t>）查询选修英语的学生的姓名。</a:t>
            </a:r>
          </a:p>
          <a:p>
            <a:pPr marL="0" indent="0">
              <a:buNone/>
            </a:pPr>
            <a:r>
              <a:rPr lang="zh-CN" altLang="zh-CN" dirty="0"/>
              <a:t>（</a:t>
            </a:r>
            <a:r>
              <a:rPr lang="en-US" altLang="zh-CN" dirty="0"/>
              <a:t>5</a:t>
            </a:r>
            <a:r>
              <a:rPr lang="zh-CN" altLang="zh-CN" dirty="0"/>
              <a:t>）查询选修所有课程的学生的学号和姓名</a:t>
            </a:r>
          </a:p>
        </p:txBody>
      </p:sp>
      <p:sp>
        <p:nvSpPr>
          <p:cNvPr id="2" name="灯片编号占位符 1">
            <a:extLst>
              <a:ext uri="{FF2B5EF4-FFF2-40B4-BE49-F238E27FC236}">
                <a16:creationId xmlns:a16="http://schemas.microsoft.com/office/drawing/2014/main" id="{2F2438F9-2ED6-F443-B3E0-3052AF676A1C}"/>
              </a:ext>
            </a:extLst>
          </p:cNvPr>
          <p:cNvSpPr>
            <a:spLocks noGrp="1"/>
          </p:cNvSpPr>
          <p:nvPr>
            <p:ph type="sldNum" sz="quarter" idx="12"/>
          </p:nvPr>
        </p:nvSpPr>
        <p:spPr/>
        <p:txBody>
          <a:bodyPr/>
          <a:lstStyle/>
          <a:p>
            <a:fld id="{C46E5E69-9A6D-4AF8-BC2D-C556A9893D8F}" type="slidenum">
              <a:rPr lang="zh-CN" altLang="en-US" smtClean="0"/>
              <a:pPr/>
              <a:t>76</a:t>
            </a:fld>
            <a:endParaRPr lang="zh-CN" altLang="en-US" dirty="0"/>
          </a:p>
        </p:txBody>
      </p:sp>
    </p:spTree>
    <p:extLst>
      <p:ext uri="{BB962C8B-B14F-4D97-AF65-F5344CB8AC3E}">
        <p14:creationId xmlns:p14="http://schemas.microsoft.com/office/powerpoint/2010/main" val="13209053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260648"/>
            <a:ext cx="8712968" cy="5976664"/>
          </a:xfrm>
        </p:spPr>
        <p:txBody>
          <a:bodyPr>
            <a:normAutofit/>
          </a:bodyPr>
          <a:lstStyle/>
          <a:p>
            <a:pPr marL="0" indent="0">
              <a:buNone/>
            </a:pPr>
            <a:r>
              <a:rPr lang="zh-CN" altLang="zh-CN" dirty="0"/>
              <a:t>（</a:t>
            </a:r>
            <a:r>
              <a:rPr lang="en-US" altLang="zh-CN" dirty="0"/>
              <a:t>6</a:t>
            </a:r>
            <a:r>
              <a:rPr lang="zh-CN" altLang="zh-CN" dirty="0"/>
              <a:t>）把学号、课程号和成绩分别为</a:t>
            </a:r>
            <a:r>
              <a:rPr lang="en-US" altLang="zh-CN" dirty="0"/>
              <a:t>2016010201</a:t>
            </a:r>
            <a:r>
              <a:rPr lang="zh-CN" altLang="zh-CN" dirty="0"/>
              <a:t>、</a:t>
            </a:r>
            <a:r>
              <a:rPr lang="en-US" altLang="zh-CN" dirty="0"/>
              <a:t>020102</a:t>
            </a:r>
            <a:r>
              <a:rPr lang="zh-CN" altLang="zh-CN" dirty="0"/>
              <a:t>和</a:t>
            </a:r>
            <a:r>
              <a:rPr lang="en-US" altLang="zh-CN" dirty="0"/>
              <a:t>96</a:t>
            </a:r>
            <a:r>
              <a:rPr lang="zh-CN" altLang="zh-CN" dirty="0"/>
              <a:t>的元组添加到选课</a:t>
            </a:r>
            <a:r>
              <a:rPr lang="en-US" altLang="zh-CN" dirty="0"/>
              <a:t>SC</a:t>
            </a:r>
            <a:r>
              <a:rPr lang="zh-CN" altLang="zh-CN" dirty="0"/>
              <a:t>。</a:t>
            </a:r>
          </a:p>
          <a:p>
            <a:pPr marL="0" indent="0">
              <a:buNone/>
            </a:pPr>
            <a:r>
              <a:rPr lang="zh-CN" altLang="zh-CN" dirty="0"/>
              <a:t>（</a:t>
            </a:r>
            <a:r>
              <a:rPr lang="en-US" altLang="zh-CN" dirty="0"/>
              <a:t>7</a:t>
            </a:r>
            <a:r>
              <a:rPr lang="zh-CN" altLang="zh-CN" dirty="0"/>
              <a:t>）在选课</a:t>
            </a:r>
            <a:r>
              <a:rPr lang="en-US" altLang="zh-CN" dirty="0"/>
              <a:t>SC</a:t>
            </a:r>
            <a:r>
              <a:rPr lang="zh-CN" altLang="zh-CN" dirty="0"/>
              <a:t>中，删除学号为“</a:t>
            </a:r>
            <a:r>
              <a:rPr lang="en-US" altLang="zh-CN" dirty="0"/>
              <a:t>2016010201</a:t>
            </a:r>
            <a:r>
              <a:rPr lang="zh-CN" altLang="zh-CN" dirty="0"/>
              <a:t>”、选修课为“网球”的元组。</a:t>
            </a:r>
          </a:p>
          <a:p>
            <a:pPr marL="0" indent="0">
              <a:buNone/>
            </a:pPr>
            <a:r>
              <a:rPr lang="zh-CN" altLang="zh-CN" dirty="0"/>
              <a:t>（</a:t>
            </a:r>
            <a:r>
              <a:rPr lang="en-US" altLang="zh-CN" dirty="0"/>
              <a:t>8</a:t>
            </a:r>
            <a:r>
              <a:rPr lang="zh-CN" altLang="zh-CN" dirty="0"/>
              <a:t>）查询“信息学院”的学生信息。</a:t>
            </a:r>
          </a:p>
          <a:p>
            <a:pPr marL="0" indent="0">
              <a:buNone/>
            </a:pPr>
            <a:r>
              <a:rPr lang="zh-CN" altLang="zh-CN" dirty="0"/>
              <a:t>（</a:t>
            </a:r>
            <a:r>
              <a:rPr lang="en-US" altLang="zh-CN" dirty="0"/>
              <a:t>9</a:t>
            </a:r>
            <a:r>
              <a:rPr lang="zh-CN" altLang="zh-CN" dirty="0"/>
              <a:t>）查询“外语学院”，并且年龄小于等于</a:t>
            </a:r>
            <a:r>
              <a:rPr lang="en-US" altLang="zh-CN" dirty="0"/>
              <a:t>16</a:t>
            </a:r>
            <a:r>
              <a:rPr lang="zh-CN" altLang="zh-CN" dirty="0"/>
              <a:t>岁或者大于</a:t>
            </a:r>
            <a:r>
              <a:rPr lang="en-US" altLang="zh-CN" dirty="0"/>
              <a:t>22</a:t>
            </a:r>
            <a:r>
              <a:rPr lang="zh-CN" altLang="zh-CN" dirty="0"/>
              <a:t>岁的学生信息。</a:t>
            </a:r>
          </a:p>
          <a:p>
            <a:pPr marL="0" indent="0">
              <a:buNone/>
            </a:pPr>
            <a:r>
              <a:rPr lang="zh-CN" altLang="zh-CN" dirty="0"/>
              <a:t>（</a:t>
            </a:r>
            <a:r>
              <a:rPr lang="en-US" altLang="zh-CN" dirty="0"/>
              <a:t>10</a:t>
            </a:r>
            <a:r>
              <a:rPr lang="zh-CN" altLang="zh-CN" dirty="0"/>
              <a:t>）查询学生的姓名和所在学院。</a:t>
            </a:r>
          </a:p>
          <a:p>
            <a:pPr marL="0" indent="0">
              <a:buNone/>
            </a:pPr>
            <a:r>
              <a:rPr lang="zh-CN" altLang="zh-CN" dirty="0"/>
              <a:t>（</a:t>
            </a:r>
            <a:r>
              <a:rPr lang="en-US" altLang="zh-CN" dirty="0"/>
              <a:t>11</a:t>
            </a:r>
            <a:r>
              <a:rPr lang="zh-CN" altLang="zh-CN" dirty="0"/>
              <a:t>）查询“信息学院”的学生的学号和姓名。</a:t>
            </a:r>
          </a:p>
          <a:p>
            <a:pPr marL="0" indent="0">
              <a:buNone/>
            </a:pPr>
            <a:r>
              <a:rPr lang="zh-CN" altLang="zh-CN" dirty="0"/>
              <a:t>（</a:t>
            </a:r>
            <a:r>
              <a:rPr lang="en-US" altLang="zh-CN" dirty="0"/>
              <a:t>12</a:t>
            </a:r>
            <a:r>
              <a:rPr lang="zh-CN" altLang="zh-CN" dirty="0"/>
              <a:t>）查询“软件学院”，并且年龄小于等于</a:t>
            </a:r>
            <a:r>
              <a:rPr lang="en-US" altLang="zh-CN" dirty="0"/>
              <a:t>16</a:t>
            </a:r>
            <a:r>
              <a:rPr lang="zh-CN" altLang="zh-CN" dirty="0"/>
              <a:t>或者大于</a:t>
            </a:r>
            <a:r>
              <a:rPr lang="en-US" altLang="zh-CN" dirty="0"/>
              <a:t>22</a:t>
            </a:r>
            <a:r>
              <a:rPr lang="zh-CN" altLang="zh-CN" dirty="0"/>
              <a:t>岁的学生的姓名、性别和年龄。</a:t>
            </a:r>
          </a:p>
        </p:txBody>
      </p:sp>
      <p:sp>
        <p:nvSpPr>
          <p:cNvPr id="2" name="灯片编号占位符 1">
            <a:extLst>
              <a:ext uri="{FF2B5EF4-FFF2-40B4-BE49-F238E27FC236}">
                <a16:creationId xmlns:a16="http://schemas.microsoft.com/office/drawing/2014/main" id="{419B56D9-1B86-5A49-A788-5C5D654FC0B5}"/>
              </a:ext>
            </a:extLst>
          </p:cNvPr>
          <p:cNvSpPr>
            <a:spLocks noGrp="1"/>
          </p:cNvSpPr>
          <p:nvPr>
            <p:ph type="sldNum" sz="quarter" idx="12"/>
          </p:nvPr>
        </p:nvSpPr>
        <p:spPr/>
        <p:txBody>
          <a:bodyPr/>
          <a:lstStyle/>
          <a:p>
            <a:fld id="{C46E5E69-9A6D-4AF8-BC2D-C556A9893D8F}" type="slidenum">
              <a:rPr lang="zh-CN" altLang="en-US" smtClean="0"/>
              <a:pPr/>
              <a:t>77</a:t>
            </a:fld>
            <a:endParaRPr lang="zh-CN" altLang="en-US" dirty="0"/>
          </a:p>
        </p:txBody>
      </p:sp>
    </p:spTree>
    <p:extLst>
      <p:ext uri="{BB962C8B-B14F-4D97-AF65-F5344CB8AC3E}">
        <p14:creationId xmlns:p14="http://schemas.microsoft.com/office/powerpoint/2010/main" val="4510565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260648"/>
            <a:ext cx="8712968" cy="5976664"/>
          </a:xfrm>
        </p:spPr>
        <p:txBody>
          <a:bodyPr>
            <a:normAutofit fontScale="77500" lnSpcReduction="20000"/>
          </a:bodyPr>
          <a:lstStyle/>
          <a:p>
            <a:pPr marL="0" indent="0">
              <a:buNone/>
            </a:pPr>
            <a:r>
              <a:rPr lang="zh-CN" altLang="zh-CN" dirty="0"/>
              <a:t>（</a:t>
            </a:r>
            <a:r>
              <a:rPr lang="en-US" altLang="zh-CN" dirty="0"/>
              <a:t>13</a:t>
            </a:r>
            <a:r>
              <a:rPr lang="zh-CN" altLang="zh-CN" dirty="0"/>
              <a:t>）查询选修了课程的学生的学号。</a:t>
            </a:r>
          </a:p>
          <a:p>
            <a:pPr marL="0" indent="0">
              <a:buNone/>
            </a:pPr>
            <a:r>
              <a:rPr lang="zh-CN" altLang="zh-CN" dirty="0"/>
              <a:t>（</a:t>
            </a:r>
            <a:r>
              <a:rPr lang="en-US" altLang="zh-CN" dirty="0"/>
              <a:t>14</a:t>
            </a:r>
            <a:r>
              <a:rPr lang="zh-CN" altLang="zh-CN" dirty="0"/>
              <a:t>）查询年龄在</a:t>
            </a:r>
            <a:r>
              <a:rPr lang="en-US" altLang="zh-CN" dirty="0"/>
              <a:t>19 </a:t>
            </a:r>
            <a:r>
              <a:rPr lang="zh-CN" altLang="zh-CN" dirty="0"/>
              <a:t>～</a:t>
            </a:r>
            <a:r>
              <a:rPr lang="en-US" altLang="zh-CN" dirty="0"/>
              <a:t> 22</a:t>
            </a:r>
            <a:r>
              <a:rPr lang="zh-CN" altLang="zh-CN" dirty="0"/>
              <a:t>岁（包括</a:t>
            </a:r>
            <a:r>
              <a:rPr lang="en-US" altLang="zh-CN" dirty="0"/>
              <a:t>19</a:t>
            </a:r>
            <a:r>
              <a:rPr lang="zh-CN" altLang="zh-CN" dirty="0"/>
              <a:t>岁和</a:t>
            </a:r>
            <a:r>
              <a:rPr lang="en-US" altLang="zh-CN" dirty="0"/>
              <a:t>22</a:t>
            </a:r>
            <a:r>
              <a:rPr lang="zh-CN" altLang="zh-CN" dirty="0"/>
              <a:t>岁）之间的学生的姓名、系别和年龄。</a:t>
            </a:r>
          </a:p>
          <a:p>
            <a:pPr marL="0" indent="0">
              <a:buNone/>
            </a:pPr>
            <a:r>
              <a:rPr lang="zh-CN" altLang="zh-CN" dirty="0"/>
              <a:t>（</a:t>
            </a:r>
            <a:r>
              <a:rPr lang="en-US" altLang="zh-CN" dirty="0"/>
              <a:t>15</a:t>
            </a:r>
            <a:r>
              <a:rPr lang="zh-CN" altLang="zh-CN" dirty="0"/>
              <a:t>）查询外语学院、数学学院和工商学院学生的姓名和性别。</a:t>
            </a:r>
          </a:p>
          <a:p>
            <a:pPr marL="0" indent="0">
              <a:buNone/>
            </a:pPr>
            <a:r>
              <a:rPr lang="zh-CN" altLang="zh-CN" dirty="0"/>
              <a:t>（</a:t>
            </a:r>
            <a:r>
              <a:rPr lang="en-US" altLang="zh-CN" dirty="0"/>
              <a:t>16</a:t>
            </a:r>
            <a:r>
              <a:rPr lang="zh-CN" altLang="zh-CN" dirty="0"/>
              <a:t>）查询至少选修了课程号分别为：</a:t>
            </a:r>
            <a:r>
              <a:rPr lang="en-US" altLang="zh-CN" dirty="0"/>
              <a:t>020101</a:t>
            </a:r>
            <a:r>
              <a:rPr lang="zh-CN" altLang="zh-CN" dirty="0"/>
              <a:t>、</a:t>
            </a:r>
            <a:r>
              <a:rPr lang="en-US" altLang="zh-CN" dirty="0"/>
              <a:t>030102</a:t>
            </a:r>
            <a:r>
              <a:rPr lang="zh-CN" altLang="zh-CN" dirty="0"/>
              <a:t>和</a:t>
            </a:r>
            <a:r>
              <a:rPr lang="en-US" altLang="zh-CN" dirty="0"/>
              <a:t>060206</a:t>
            </a:r>
            <a:r>
              <a:rPr lang="zh-CN" altLang="zh-CN" dirty="0"/>
              <a:t>三门课程的学生的学号。</a:t>
            </a:r>
          </a:p>
          <a:p>
            <a:pPr marL="0" indent="0">
              <a:buNone/>
            </a:pPr>
            <a:r>
              <a:rPr lang="zh-CN" altLang="zh-CN" dirty="0"/>
              <a:t>（</a:t>
            </a:r>
            <a:r>
              <a:rPr lang="en-US" altLang="zh-CN" dirty="0"/>
              <a:t>17</a:t>
            </a:r>
            <a:r>
              <a:rPr lang="zh-CN" altLang="zh-CN" dirty="0"/>
              <a:t>）查询选修课程号为</a:t>
            </a:r>
            <a:r>
              <a:rPr lang="en-US" altLang="zh-CN" dirty="0"/>
              <a:t>020101</a:t>
            </a:r>
            <a:r>
              <a:rPr lang="zh-CN" altLang="zh-CN" dirty="0"/>
              <a:t>或者</a:t>
            </a:r>
            <a:r>
              <a:rPr lang="en-US" altLang="zh-CN" dirty="0"/>
              <a:t>030102</a:t>
            </a:r>
            <a:r>
              <a:rPr lang="zh-CN" altLang="zh-CN" dirty="0"/>
              <a:t>或者和</a:t>
            </a:r>
            <a:r>
              <a:rPr lang="en-US" altLang="zh-CN" dirty="0"/>
              <a:t>060206</a:t>
            </a:r>
            <a:r>
              <a:rPr lang="zh-CN" altLang="zh-CN" dirty="0"/>
              <a:t>的课程的学生的学号。</a:t>
            </a:r>
          </a:p>
          <a:p>
            <a:pPr marL="0" indent="0">
              <a:buNone/>
            </a:pPr>
            <a:r>
              <a:rPr lang="zh-CN" altLang="zh-CN" dirty="0"/>
              <a:t>（</a:t>
            </a:r>
            <a:r>
              <a:rPr lang="en-US" altLang="zh-CN" dirty="0"/>
              <a:t>18</a:t>
            </a:r>
            <a:r>
              <a:rPr lang="zh-CN" altLang="zh-CN" dirty="0"/>
              <a:t>）查询只选修课程号分别为：</a:t>
            </a:r>
            <a:r>
              <a:rPr lang="en-US" altLang="zh-CN" dirty="0"/>
              <a:t>020101</a:t>
            </a:r>
            <a:r>
              <a:rPr lang="zh-CN" altLang="zh-CN" dirty="0"/>
              <a:t>、</a:t>
            </a:r>
            <a:r>
              <a:rPr lang="en-US" altLang="zh-CN" dirty="0"/>
              <a:t>030102</a:t>
            </a:r>
            <a:r>
              <a:rPr lang="zh-CN" altLang="zh-CN" dirty="0"/>
              <a:t>和</a:t>
            </a:r>
            <a:r>
              <a:rPr lang="en-US" altLang="zh-CN" dirty="0"/>
              <a:t>060206</a:t>
            </a:r>
            <a:r>
              <a:rPr lang="zh-CN" altLang="zh-CN" dirty="0"/>
              <a:t>三门课程的学生的学号。</a:t>
            </a:r>
          </a:p>
          <a:p>
            <a:pPr marL="0" indent="0">
              <a:buNone/>
            </a:pPr>
            <a:r>
              <a:rPr lang="zh-CN" altLang="zh-CN" dirty="0"/>
              <a:t>（</a:t>
            </a:r>
            <a:r>
              <a:rPr lang="en-US" altLang="zh-CN" dirty="0"/>
              <a:t>19</a:t>
            </a:r>
            <a:r>
              <a:rPr lang="zh-CN" altLang="zh-CN" dirty="0"/>
              <a:t>）查询选修了“数据库原理”课程的男生的学号和姓名。</a:t>
            </a:r>
          </a:p>
          <a:p>
            <a:pPr marL="0" indent="0">
              <a:buNone/>
            </a:pPr>
            <a:r>
              <a:rPr lang="zh-CN" altLang="zh-CN" dirty="0"/>
              <a:t>（</a:t>
            </a:r>
            <a:r>
              <a:rPr lang="en-US" altLang="zh-CN" dirty="0"/>
              <a:t>20</a:t>
            </a:r>
            <a:r>
              <a:rPr lang="zh-CN" altLang="zh-CN" dirty="0"/>
              <a:t>）查询至少选修了一门课程其先修课的课程号为</a:t>
            </a:r>
            <a:r>
              <a:rPr lang="en-US" altLang="zh-CN" dirty="0"/>
              <a:t>2016010201</a:t>
            </a:r>
            <a:r>
              <a:rPr lang="zh-CN" altLang="zh-CN" dirty="0"/>
              <a:t>的学生的姓名。</a:t>
            </a:r>
          </a:p>
        </p:txBody>
      </p:sp>
      <p:sp>
        <p:nvSpPr>
          <p:cNvPr id="2" name="灯片编号占位符 1">
            <a:extLst>
              <a:ext uri="{FF2B5EF4-FFF2-40B4-BE49-F238E27FC236}">
                <a16:creationId xmlns:a16="http://schemas.microsoft.com/office/drawing/2014/main" id="{8D13042C-A140-DD4C-A55D-EC6AE3E32C40}"/>
              </a:ext>
            </a:extLst>
          </p:cNvPr>
          <p:cNvSpPr>
            <a:spLocks noGrp="1"/>
          </p:cNvSpPr>
          <p:nvPr>
            <p:ph type="sldNum" sz="quarter" idx="12"/>
          </p:nvPr>
        </p:nvSpPr>
        <p:spPr/>
        <p:txBody>
          <a:bodyPr/>
          <a:lstStyle/>
          <a:p>
            <a:fld id="{C46E5E69-9A6D-4AF8-BC2D-C556A9893D8F}" type="slidenum">
              <a:rPr lang="zh-CN" altLang="en-US" smtClean="0"/>
              <a:pPr/>
              <a:t>78</a:t>
            </a:fld>
            <a:endParaRPr lang="zh-CN" altLang="en-US" dirty="0"/>
          </a:p>
        </p:txBody>
      </p:sp>
    </p:spTree>
    <p:extLst>
      <p:ext uri="{BB962C8B-B14F-4D97-AF65-F5344CB8AC3E}">
        <p14:creationId xmlns:p14="http://schemas.microsoft.com/office/powerpoint/2010/main" val="29959304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2436</TotalTime>
  <Words>6447</Words>
  <Application>Microsoft Macintosh PowerPoint</Application>
  <PresentationFormat>全屏显示(4:3)</PresentationFormat>
  <Paragraphs>1087</Paragraphs>
  <Slides>78</Slides>
  <Notes>27</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78</vt:i4>
      </vt:variant>
    </vt:vector>
  </HeadingPairs>
  <TitlesOfParts>
    <vt:vector size="89" baseType="lpstr">
      <vt:lpstr>宋体</vt:lpstr>
      <vt:lpstr>微软雅黑</vt:lpstr>
      <vt:lpstr>Arial</vt:lpstr>
      <vt:lpstr>Arial Black</vt:lpstr>
      <vt:lpstr>Calibri</vt:lpstr>
      <vt:lpstr>Cambria Math</vt:lpstr>
      <vt:lpstr>Times New Roman</vt:lpstr>
      <vt:lpstr>Wingdings</vt:lpstr>
      <vt:lpstr>Office 主题​​</vt:lpstr>
      <vt:lpstr>公式</vt:lpstr>
      <vt:lpstr>Equation.DSMT4</vt:lpstr>
      <vt:lpstr>浙江工商大学计算机与信息工程学院</vt:lpstr>
      <vt:lpstr>第 2 章  关系运算</vt:lpstr>
      <vt:lpstr>1.1  关系数据语言</vt:lpstr>
      <vt:lpstr>1.1  关系数据语言</vt:lpstr>
      <vt:lpstr>图书Book</vt:lpstr>
      <vt:lpstr>客户Cust</vt:lpstr>
      <vt:lpstr>购买Buy</vt:lpstr>
      <vt:lpstr>出版社Press</vt:lpstr>
      <vt:lpstr>2.2  基本集合运算</vt:lpstr>
      <vt:lpstr>2.2.1  笛卡尔积</vt:lpstr>
      <vt:lpstr>2.2.1  笛卡尔积</vt:lpstr>
      <vt:lpstr>2.2.2  并集</vt:lpstr>
      <vt:lpstr>2.2.2  并集</vt:lpstr>
      <vt:lpstr>2.2.3  差集</vt:lpstr>
      <vt:lpstr>2.2.3  差集</vt:lpstr>
      <vt:lpstr>2.2.4  交集</vt:lpstr>
      <vt:lpstr>2.2.4  交集</vt:lpstr>
      <vt:lpstr>综合示例</vt:lpstr>
      <vt:lpstr>2.3 专用关系运算</vt:lpstr>
      <vt:lpstr>选择</vt:lpstr>
      <vt:lpstr>选择</vt:lpstr>
      <vt:lpstr>选择</vt:lpstr>
      <vt:lpstr>选择</vt:lpstr>
      <vt:lpstr>2.3.2  投影</vt:lpstr>
      <vt:lpstr>2.3.2  投影</vt:lpstr>
      <vt:lpstr>2.3.2  投影</vt:lpstr>
      <vt:lpstr>2.3.2  投影</vt:lpstr>
      <vt:lpstr>2.3.2  投影</vt:lpstr>
      <vt:lpstr>2.3.3  连接</vt:lpstr>
      <vt:lpstr>连接方法和连接过程</vt:lpstr>
      <vt:lpstr>连接方法和连接过程</vt:lpstr>
      <vt:lpstr>连接</vt:lpstr>
      <vt:lpstr>等值连接和自然连接</vt:lpstr>
      <vt:lpstr>连接示例</vt:lpstr>
      <vt:lpstr>连接示例</vt:lpstr>
      <vt:lpstr>除</vt:lpstr>
      <vt:lpstr>除</vt:lpstr>
      <vt:lpstr>除</vt:lpstr>
      <vt:lpstr>除</vt:lpstr>
      <vt:lpstr>除</vt:lpstr>
      <vt:lpstr>RS计算方法</vt:lpstr>
      <vt:lpstr>除</vt:lpstr>
      <vt:lpstr>2.4  更新运算</vt:lpstr>
      <vt:lpstr>2.5  综合实例</vt:lpstr>
      <vt:lpstr>2.5  综合实例</vt:lpstr>
      <vt:lpstr>2.5  综合实例</vt:lpstr>
      <vt:lpstr>2.5  综合实例</vt:lpstr>
      <vt:lpstr>2.5  综合实例</vt:lpstr>
      <vt:lpstr>2.5  综合实例</vt:lpstr>
      <vt:lpstr>2.5  综合实例</vt:lpstr>
      <vt:lpstr>2.5  综合实例</vt:lpstr>
      <vt:lpstr>2.5  综合实例</vt:lpstr>
      <vt:lpstr>2.5  综合实例</vt:lpstr>
      <vt:lpstr>结论</vt:lpstr>
      <vt:lpstr>2.6 查询优化</vt:lpstr>
      <vt:lpstr>2.6.1  查询示例分析</vt:lpstr>
      <vt:lpstr>2.6.1  查询示例分析</vt:lpstr>
      <vt:lpstr>2.6.1  查询示例分析</vt:lpstr>
      <vt:lpstr>2.6.1  查询示例分析</vt:lpstr>
      <vt:lpstr>2.6.2  查询处理与查询优化</vt:lpstr>
      <vt:lpstr>2.6.3  查询优化等价变换</vt:lpstr>
      <vt:lpstr>2.6.3  查询优化等价变换</vt:lpstr>
      <vt:lpstr>2.6.3  查询优化等价变换</vt:lpstr>
      <vt:lpstr>2.6.4  查询优化规则</vt:lpstr>
      <vt:lpstr>2.6.5  查询优化方法</vt:lpstr>
      <vt:lpstr>查询优化示例</vt:lpstr>
      <vt:lpstr>查询优化示例</vt:lpstr>
      <vt:lpstr>查询优化示例</vt:lpstr>
      <vt:lpstr>查询优化示例</vt:lpstr>
      <vt:lpstr>查询优化示例</vt:lpstr>
      <vt:lpstr>2.7 小 结</vt:lpstr>
      <vt:lpstr>习　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Happyu</dc:creator>
  <cp:lastModifiedBy>ling yun</cp:lastModifiedBy>
  <cp:revision>258</cp:revision>
  <dcterms:created xsi:type="dcterms:W3CDTF">2017-06-19T02:48:13Z</dcterms:created>
  <dcterms:modified xsi:type="dcterms:W3CDTF">2019-09-10T07:33:24Z</dcterms:modified>
</cp:coreProperties>
</file>