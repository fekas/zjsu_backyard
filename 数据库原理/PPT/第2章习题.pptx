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1"/>
  </p:notesMasterIdLst>
  <p:sldIdLst>
    <p:sldId id="377" r:id="rId2"/>
    <p:sldId id="477" r:id="rId3"/>
    <p:sldId id="478" r:id="rId4"/>
    <p:sldId id="471" r:id="rId5"/>
    <p:sldId id="472" r:id="rId6"/>
    <p:sldId id="473" r:id="rId7"/>
    <p:sldId id="474" r:id="rId8"/>
    <p:sldId id="475" r:id="rId9"/>
    <p:sldId id="476" r:id="rId10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F00"/>
    <a:srgbClr val="000099"/>
    <a:srgbClr val="FF0000"/>
    <a:srgbClr val="FF00FF"/>
    <a:srgbClr val="0000FF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75" autoAdjust="0"/>
    <p:restoredTop sz="94588" autoAdjust="0"/>
  </p:normalViewPr>
  <p:slideViewPr>
    <p:cSldViewPr>
      <p:cViewPr varScale="1">
        <p:scale>
          <a:sx n="107" d="100"/>
          <a:sy n="107" d="100"/>
        </p:scale>
        <p:origin x="1760" y="1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153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D2C98B-BCE1-473E-B4E9-1F6B27B354D6}" type="datetimeFigureOut">
              <a:rPr lang="zh-CN" altLang="en-US" smtClean="0"/>
              <a:t>2020/3/3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B2A1C5-F448-453F-AD22-060754181DD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08684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02F142-3562-044C-AFDB-32B84FD3C3B7}" type="datetime9">
              <a:rPr lang="zh-CN" altLang="en-US" smtClean="0"/>
              <a:t>2020年3月3日星期二9时39分27秒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HappyYou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4605D-91F4-41FC-B3D3-9CE68C2C45F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55914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3547CA-23CD-BE4C-A235-F4FE2258755C}" type="datetime9">
              <a:rPr lang="zh-CN" altLang="en-US" smtClean="0"/>
              <a:t>2020年3月3日星期二9时39分27秒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HappyYou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4605D-91F4-41FC-B3D3-9CE68C2C45F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17434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1ED15-73F6-B74C-B431-CF0EB44A6EAA}" type="datetime9">
              <a:rPr lang="zh-CN" altLang="en-US" smtClean="0"/>
              <a:t>2020年3月3日星期二9时39分27秒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HappyYou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4605D-91F4-41FC-B3D3-9CE68C2C45F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22342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54667-D801-F048-8203-713184D0F42F}" type="datetime9">
              <a:rPr lang="zh-CN" altLang="en-US" smtClean="0"/>
              <a:t>2020年3月3日星期二9时39分27秒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HappyYou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4605D-91F4-41FC-B3D3-9CE68C2C45F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08004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716DE5-A880-314A-900E-4F18F39E9C51}" type="datetime9">
              <a:rPr lang="zh-CN" altLang="en-US" smtClean="0"/>
              <a:t>2020年3月3日星期二9时39分27秒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HappyYou</a:t>
            </a:r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4605D-91F4-41FC-B3D3-9CE68C2C45F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13436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E3C55-9233-8E43-A1AE-CDD4BB5FECFD}" type="datetime9">
              <a:rPr lang="zh-CN" altLang="en-US" smtClean="0"/>
              <a:t>2020年3月3日星期二9时39分27秒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HappyYou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4605D-91F4-41FC-B3D3-9CE68C2C45F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66215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F3D56C-11D0-4B4B-BF34-C6A893F3AF5C}" type="datetime9">
              <a:rPr lang="zh-CN" altLang="en-US" smtClean="0"/>
              <a:t>2020年3月3日星期二9时39分27秒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HappyYou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4605D-91F4-41FC-B3D3-9CE68C2C45F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45083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B1D3CD-32DF-874A-9AD7-9ABEBE9404B2}" type="datetime9">
              <a:rPr lang="zh-CN" altLang="en-US" smtClean="0"/>
              <a:t>2020年3月3日星期二9时39分27秒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HappyYou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4605D-91F4-41FC-B3D3-9CE68C2C45F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15935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D04C9-FC5B-FA47-AA4F-71FAA7AEDC95}" type="datetime9">
              <a:rPr lang="zh-CN" altLang="en-US" smtClean="0"/>
              <a:t>2020年3月3日星期二9时39分27秒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HappyYou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4605D-91F4-41FC-B3D3-9CE68C2C45F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27390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0FDFD8-9305-7341-8B4E-39C1A76B0452}" type="datetime9">
              <a:rPr lang="zh-CN" altLang="en-US" smtClean="0"/>
              <a:t>2020年3月3日星期二9时39分27秒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HappyYou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4605D-91F4-41FC-B3D3-9CE68C2C45F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69414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70118-F347-7F42-95F9-AC6637A550D4}" type="datetime9">
              <a:rPr lang="zh-CN" altLang="en-US" smtClean="0"/>
              <a:t>2020年3月3日星期二9时39分27秒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HappyYou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4605D-91F4-41FC-B3D3-9CE68C2C45F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04468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19256" cy="706090"/>
          </a:xfrm>
        </p:spPr>
        <p:txBody>
          <a:bodyPr>
            <a:normAutofit/>
          </a:bodyPr>
          <a:lstStyle>
            <a:lvl1pPr>
              <a:defRPr sz="3600" b="0"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24744"/>
            <a:ext cx="8229600" cy="5112568"/>
          </a:xfrm>
        </p:spPr>
        <p:txBody>
          <a:bodyPr/>
          <a:lstStyle>
            <a:lvl1pPr marL="342900" indent="-342900">
              <a:lnSpc>
                <a:spcPts val="3600"/>
              </a:lnSpc>
              <a:spcBef>
                <a:spcPts val="0"/>
              </a:spcBef>
              <a:buFont typeface="Wingdings" pitchFamily="2" charset="2"/>
              <a:buChar char="n"/>
              <a:defRPr sz="2400">
                <a:latin typeface="微软雅黑" pitchFamily="34" charset="-122"/>
                <a:ea typeface="微软雅黑" pitchFamily="34" charset="-122"/>
              </a:defRPr>
            </a:lvl1pPr>
            <a:lvl2pPr marL="742950" indent="-285750">
              <a:lnSpc>
                <a:spcPts val="3600"/>
              </a:lnSpc>
              <a:spcBef>
                <a:spcPts val="0"/>
              </a:spcBef>
              <a:buFont typeface="Wingdings" pitchFamily="2" charset="2"/>
              <a:buChar char="p"/>
              <a:defRPr sz="2200">
                <a:latin typeface="微软雅黑" pitchFamily="34" charset="-122"/>
                <a:ea typeface="微软雅黑" pitchFamily="34" charset="-122"/>
              </a:defRPr>
            </a:lvl2pPr>
            <a:lvl3pPr marL="1143000" indent="-228600">
              <a:lnSpc>
                <a:spcPts val="3600"/>
              </a:lnSpc>
              <a:spcBef>
                <a:spcPts val="0"/>
              </a:spcBef>
              <a:buFont typeface="Wingdings" pitchFamily="2" charset="2"/>
              <a:buChar char="l"/>
              <a:defRPr sz="2000">
                <a:latin typeface="微软雅黑" pitchFamily="34" charset="-122"/>
                <a:ea typeface="微软雅黑" pitchFamily="34" charset="-122"/>
              </a:defRPr>
            </a:lvl3pPr>
            <a:lvl4pPr marL="1600200" indent="-228600">
              <a:lnSpc>
                <a:spcPts val="3600"/>
              </a:lnSpc>
              <a:spcBef>
                <a:spcPts val="0"/>
              </a:spcBef>
              <a:buFont typeface="Wingdings" pitchFamily="2" charset="2"/>
              <a:buChar char="u"/>
              <a:defRPr sz="1800">
                <a:latin typeface="微软雅黑" pitchFamily="34" charset="-122"/>
                <a:ea typeface="微软雅黑" pitchFamily="34" charset="-122"/>
              </a:defRPr>
            </a:lvl4pPr>
            <a:lvl5pPr marL="2057400" indent="-228600">
              <a:lnSpc>
                <a:spcPts val="3600"/>
              </a:lnSpc>
              <a:spcBef>
                <a:spcPts val="0"/>
              </a:spcBef>
              <a:buFont typeface="Wingdings" pitchFamily="2" charset="2"/>
              <a:buChar char="Ø"/>
              <a:defRPr sz="1600">
                <a:latin typeface="微软雅黑" pitchFamily="34" charset="-122"/>
                <a:ea typeface="微软雅黑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746648" cy="365125"/>
          </a:xfrm>
        </p:spPr>
        <p:txBody>
          <a:bodyPr/>
          <a:lstStyle>
            <a:lvl1pPr>
              <a:defRPr>
                <a:latin typeface="微软雅黑" pitchFamily="34" charset="-122"/>
                <a:ea typeface="微软雅黑" pitchFamily="34" charset="-122"/>
              </a:defRPr>
            </a:lvl1pPr>
          </a:lstStyle>
          <a:p>
            <a:fld id="{053C218A-8485-6441-B4DF-8A00EE5424D5}" type="datetime9">
              <a:rPr lang="zh-CN" altLang="en-US" smtClean="0"/>
              <a:t>2020年3月3日星期二9时39分27秒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923928" y="6381328"/>
            <a:ext cx="2239888" cy="365125"/>
          </a:xfrm>
        </p:spPr>
        <p:txBody>
          <a:bodyPr/>
          <a:lstStyle>
            <a:lvl1pPr>
              <a:defRPr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en-US" altLang="zh-CN" dirty="0" err="1"/>
              <a:t>HappyYou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051248" cy="365125"/>
          </a:xfrm>
        </p:spPr>
        <p:txBody>
          <a:bodyPr/>
          <a:lstStyle>
            <a:lvl1pPr algn="r">
              <a:defRPr>
                <a:latin typeface="微软雅黑" pitchFamily="34" charset="-122"/>
                <a:ea typeface="微软雅黑" pitchFamily="34" charset="-122"/>
              </a:defRPr>
            </a:lvl1pPr>
          </a:lstStyle>
          <a:p>
            <a:fld id="{C46E5E69-9A6D-4AF8-BC2D-C556A9893D8F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323465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8186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fld id="{222F970B-647E-C64C-8502-B8AEBB74952E}" type="datetime9">
              <a:rPr lang="zh-CN" altLang="en-US" smtClean="0"/>
              <a:t>2020年3月3日星期二9时39分27秒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635896" y="6356350"/>
            <a:ext cx="23839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en-US" altLang="zh-CN"/>
              <a:t>HappyYou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fld id="{87607A0D-40CE-4FFA-B03A-EB935FC429F2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642613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36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j-cs"/>
        </a:defRPr>
      </a:lvl1pPr>
    </p:titleStyle>
    <p:bodyStyle>
      <a:lvl1pPr marL="342900" indent="-342900" algn="l" defTabSz="914400" rtl="0" eaLnBrk="1" latinLnBrk="0" hangingPunct="1">
        <a:lnSpc>
          <a:spcPts val="3600"/>
        </a:lnSpc>
        <a:spcBef>
          <a:spcPts val="0"/>
        </a:spcBef>
        <a:buFont typeface="Wingdings" pitchFamily="2" charset="2"/>
        <a:buChar char="n"/>
        <a:defRPr sz="24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1pPr>
      <a:lvl2pPr marL="742950" indent="-285750" algn="l" defTabSz="914400" rtl="0" eaLnBrk="1" latinLnBrk="0" hangingPunct="1">
        <a:lnSpc>
          <a:spcPts val="3600"/>
        </a:lnSpc>
        <a:spcBef>
          <a:spcPts val="0"/>
        </a:spcBef>
        <a:buFont typeface="Wingdings" pitchFamily="2" charset="2"/>
        <a:buChar char="p"/>
        <a:defRPr sz="22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2pPr>
      <a:lvl3pPr marL="1143000" indent="-228600" algn="l" defTabSz="914400" rtl="0" eaLnBrk="1" latinLnBrk="0" hangingPunct="1">
        <a:lnSpc>
          <a:spcPts val="3600"/>
        </a:lnSpc>
        <a:spcBef>
          <a:spcPts val="0"/>
        </a:spcBef>
        <a:buFont typeface="Wingdings" pitchFamily="2" charset="2"/>
        <a:buChar char="l"/>
        <a:defRPr sz="20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3pPr>
      <a:lvl4pPr marL="1600200" indent="-228600" algn="l" defTabSz="914400" rtl="0" eaLnBrk="1" latinLnBrk="0" hangingPunct="1">
        <a:lnSpc>
          <a:spcPts val="3600"/>
        </a:lnSpc>
        <a:spcBef>
          <a:spcPts val="0"/>
        </a:spcBef>
        <a:buFont typeface="Wingdings" pitchFamily="2" charset="2"/>
        <a:buChar char="u"/>
        <a:defRPr sz="18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4pPr>
      <a:lvl5pPr marL="2057400" indent="-228600" algn="l" defTabSz="914400" rtl="0" eaLnBrk="1" latinLnBrk="0" hangingPunct="1">
        <a:lnSpc>
          <a:spcPts val="3600"/>
        </a:lnSpc>
        <a:spcBef>
          <a:spcPts val="0"/>
        </a:spcBef>
        <a:buFont typeface="Wingdings" pitchFamily="2" charset="2"/>
        <a:buChar char="Ø"/>
        <a:defRPr sz="16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7544" y="836712"/>
            <a:ext cx="8219256" cy="1512168"/>
          </a:xfrm>
        </p:spPr>
        <p:txBody>
          <a:bodyPr>
            <a:normAutofit/>
          </a:bodyPr>
          <a:lstStyle/>
          <a:p>
            <a:pPr marR="0" rtl="0"/>
            <a:r>
              <a:rPr lang="zh-CN" altLang="en-US" sz="6600" i="0" u="none" strike="noStrike" kern="2200" baseline="0" dirty="0"/>
              <a:t>习　题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251520" y="2924944"/>
            <a:ext cx="8640960" cy="2520280"/>
          </a:xfrm>
        </p:spPr>
        <p:txBody>
          <a:bodyPr>
            <a:noAutofit/>
          </a:bodyPr>
          <a:lstStyle/>
          <a:p>
            <a:pPr marL="446088" indent="-446088" algn="ctr">
              <a:lnSpc>
                <a:spcPct val="100000"/>
              </a:lnSpc>
              <a:buNone/>
            </a:pPr>
            <a:r>
              <a:rPr lang="zh-CN" altLang="en-US" sz="6600" u="none" strike="noStrike" kern="100" baseline="0" dirty="0">
                <a:solidFill>
                  <a:srgbClr val="0000FF"/>
                </a:solidFill>
              </a:rPr>
              <a:t>书中的</a:t>
            </a:r>
            <a:r>
              <a:rPr lang="en-US" altLang="zh-CN" sz="6600" u="none" strike="noStrike" kern="100" baseline="0" dirty="0">
                <a:solidFill>
                  <a:srgbClr val="0000FF"/>
                </a:solidFill>
              </a:rPr>
              <a:t>2.2</a:t>
            </a:r>
            <a:r>
              <a:rPr lang="zh-CN" altLang="en-US" sz="6600" u="none" strike="noStrike" kern="100" baseline="0" dirty="0">
                <a:solidFill>
                  <a:srgbClr val="0000FF"/>
                </a:solidFill>
              </a:rPr>
              <a:t> ～</a:t>
            </a:r>
            <a:r>
              <a:rPr lang="en-US" altLang="zh-CN" sz="6600" u="none" strike="noStrike" kern="100" baseline="0" dirty="0">
                <a:solidFill>
                  <a:srgbClr val="0000FF"/>
                </a:solidFill>
              </a:rPr>
              <a:t>2.9</a:t>
            </a:r>
            <a:r>
              <a:rPr lang="zh-CN" altLang="en-US" sz="6600" u="none" strike="noStrike" kern="100" baseline="0" dirty="0">
                <a:solidFill>
                  <a:srgbClr val="0000FF"/>
                </a:solidFill>
              </a:rPr>
              <a:t>，具体如下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EA0DEE3-08FB-5844-A2B9-DB09DABE95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E5E69-9A6D-4AF8-BC2D-C556A9893D8F}" type="slidenum">
              <a:rPr lang="zh-CN" altLang="en-US" smtClean="0"/>
              <a:pPr/>
              <a:t>1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165761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DE53E49-8D98-884F-BBCA-9F2A357B07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7504" y="136525"/>
            <a:ext cx="8928992" cy="6100787"/>
          </a:xfrm>
        </p:spPr>
        <p:txBody>
          <a:bodyPr/>
          <a:lstStyle/>
          <a:p>
            <a:pPr marL="0" indent="0">
              <a:buNone/>
            </a:pP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79255A9-34D3-4F4A-B427-3AC9F782B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E5E69-9A6D-4AF8-BC2D-C556A9893D8F}" type="slidenum">
              <a:rPr lang="zh-CN" altLang="en-US" smtClean="0"/>
              <a:pPr/>
              <a:t>2</a:t>
            </a:fld>
            <a:endParaRPr lang="zh-CN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8E92812-A8BC-0E40-9C81-5264CC8CF519}"/>
              </a:ext>
            </a:extLst>
          </p:cNvPr>
          <p:cNvSpPr/>
          <p:nvPr/>
        </p:nvSpPr>
        <p:spPr>
          <a:xfrm>
            <a:off x="457200" y="1484784"/>
            <a:ext cx="7715200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000000"/>
                </a:solidFill>
                <a:latin typeface="Helvetica" pitchFamily="2" charset="0"/>
              </a:rPr>
              <a:t> </a:t>
            </a:r>
            <a:r>
              <a:rPr lang="en-US" altLang="zh-CN" dirty="0">
                <a:solidFill>
                  <a:srgbClr val="000000"/>
                </a:solidFill>
                <a:latin typeface="Helvetica" pitchFamily="2" charset="0"/>
              </a:rPr>
              <a:t>2.2 </a:t>
            </a:r>
            <a:r>
              <a:rPr lang="zh-CN" altLang="en-US" dirty="0">
                <a:solidFill>
                  <a:srgbClr val="000000"/>
                </a:solidFill>
                <a:latin typeface="Helvetica" pitchFamily="2" charset="0"/>
              </a:rPr>
              <a:t>简述关系运算基本运算，导出运算和核心运算。给出使用基本运算表示导出运算的表 示方法。</a:t>
            </a:r>
            <a:endParaRPr lang="en-US" altLang="zh-CN" dirty="0">
              <a:solidFill>
                <a:srgbClr val="000000"/>
              </a:solidFill>
              <a:latin typeface="Helvetica" pitchFamily="2" charset="0"/>
            </a:endParaRPr>
          </a:p>
          <a:p>
            <a:endParaRPr lang="en-US" altLang="zh-CN" dirty="0">
              <a:solidFill>
                <a:srgbClr val="000000"/>
              </a:solidFill>
              <a:latin typeface="Helvetica" pitchFamily="2" charset="0"/>
            </a:endParaRPr>
          </a:p>
          <a:p>
            <a:r>
              <a:rPr lang="zh-CN" altLang="en-US" dirty="0"/>
              <a:t> </a:t>
            </a:r>
            <a:r>
              <a:rPr lang="en-US" altLang="zh-CN" dirty="0"/>
              <a:t>2.3 </a:t>
            </a:r>
            <a:r>
              <a:rPr lang="zh-CN" altLang="en-US" dirty="0"/>
              <a:t>简述等值连接和自然连接的的与区别和联系。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 </a:t>
            </a:r>
            <a:r>
              <a:rPr lang="en-US" altLang="zh-CN" dirty="0"/>
              <a:t>2.4 </a:t>
            </a:r>
            <a:r>
              <a:rPr lang="zh-CN" altLang="en-US" dirty="0"/>
              <a:t>计算 </a:t>
            </a:r>
            <a:r>
              <a:rPr lang="en" altLang="zh-CN" dirty="0"/>
              <a:t>R</a:t>
            </a:r>
            <a:r>
              <a:rPr lang="zh-CN" altLang="en" dirty="0"/>
              <a:t>（</a:t>
            </a:r>
            <a:r>
              <a:rPr lang="en" altLang="zh-CN" dirty="0"/>
              <a:t>A</a:t>
            </a:r>
            <a:r>
              <a:rPr lang="zh-CN" altLang="en" dirty="0"/>
              <a:t>，</a:t>
            </a:r>
            <a:r>
              <a:rPr lang="en" altLang="zh-CN" dirty="0"/>
              <a:t>B</a:t>
            </a:r>
            <a:r>
              <a:rPr lang="zh-CN" altLang="en" dirty="0"/>
              <a:t>，</a:t>
            </a:r>
            <a:r>
              <a:rPr lang="en" altLang="zh-CN" dirty="0"/>
              <a:t>C</a:t>
            </a:r>
            <a:r>
              <a:rPr lang="zh-CN" altLang="en" dirty="0"/>
              <a:t>，</a:t>
            </a:r>
            <a:r>
              <a:rPr lang="en" altLang="zh-CN" dirty="0"/>
              <a:t>D</a:t>
            </a:r>
            <a:r>
              <a:rPr lang="zh-CN" altLang="en" dirty="0"/>
              <a:t>，</a:t>
            </a:r>
            <a:r>
              <a:rPr lang="en" altLang="zh-CN" dirty="0"/>
              <a:t>E</a:t>
            </a:r>
            <a:r>
              <a:rPr lang="zh-CN" altLang="en" dirty="0"/>
              <a:t>）</a:t>
            </a:r>
            <a:r>
              <a:rPr lang="en" altLang="zh-CN" dirty="0"/>
              <a:t>÷ S</a:t>
            </a:r>
            <a:r>
              <a:rPr lang="zh-CN" altLang="en" dirty="0"/>
              <a:t>（</a:t>
            </a:r>
            <a:r>
              <a:rPr lang="en" altLang="zh-CN" dirty="0"/>
              <a:t>D</a:t>
            </a:r>
            <a:r>
              <a:rPr lang="zh-CN" altLang="en" dirty="0"/>
              <a:t>，</a:t>
            </a:r>
            <a:r>
              <a:rPr lang="en" altLang="zh-CN" dirty="0"/>
              <a:t>E</a:t>
            </a:r>
            <a:r>
              <a:rPr lang="zh-CN" altLang="en" dirty="0"/>
              <a:t>）</a:t>
            </a:r>
            <a:endParaRPr lang="en" altLang="zh-CN" dirty="0"/>
          </a:p>
          <a:p>
            <a:r>
              <a:rPr lang="en" altLang="zh-CN" dirty="0"/>
              <a:t>R </a:t>
            </a:r>
            <a:r>
              <a:rPr lang="zh-CN" altLang="en-US" dirty="0"/>
              <a:t>的元组如下：</a:t>
            </a:r>
          </a:p>
          <a:p>
            <a:r>
              <a:rPr lang="en-US" altLang="zh-CN" dirty="0"/>
              <a:t>{</a:t>
            </a:r>
            <a:r>
              <a:rPr lang="zh-CN" altLang="en-US" dirty="0"/>
              <a:t>（</a:t>
            </a:r>
            <a:r>
              <a:rPr lang="en" altLang="zh-CN" dirty="0"/>
              <a:t>x</a:t>
            </a:r>
            <a:r>
              <a:rPr lang="zh-CN" altLang="en" dirty="0"/>
              <a:t>，</a:t>
            </a:r>
            <a:r>
              <a:rPr lang="en" altLang="zh-CN" dirty="0"/>
              <a:t>a</a:t>
            </a:r>
            <a:r>
              <a:rPr lang="zh-CN" altLang="en" dirty="0"/>
              <a:t>，</a:t>
            </a:r>
            <a:r>
              <a:rPr lang="en" altLang="zh-CN" dirty="0"/>
              <a:t>x</a:t>
            </a:r>
            <a:r>
              <a:rPr lang="zh-CN" altLang="en" dirty="0"/>
              <a:t>，</a:t>
            </a:r>
            <a:r>
              <a:rPr lang="en" altLang="zh-CN" dirty="0"/>
              <a:t>a</a:t>
            </a:r>
            <a:r>
              <a:rPr lang="zh-CN" altLang="en" dirty="0"/>
              <a:t>，</a:t>
            </a:r>
            <a:r>
              <a:rPr lang="en" altLang="zh-CN" dirty="0"/>
              <a:t>1</a:t>
            </a:r>
            <a:r>
              <a:rPr lang="zh-CN" altLang="en" dirty="0"/>
              <a:t>），（</a:t>
            </a:r>
            <a:r>
              <a:rPr lang="en" altLang="zh-CN" dirty="0"/>
              <a:t>x</a:t>
            </a:r>
            <a:r>
              <a:rPr lang="zh-CN" altLang="en" dirty="0"/>
              <a:t>，</a:t>
            </a:r>
            <a:r>
              <a:rPr lang="en" altLang="zh-CN" dirty="0"/>
              <a:t>a</a:t>
            </a:r>
            <a:r>
              <a:rPr lang="zh-CN" altLang="en" dirty="0"/>
              <a:t>，</a:t>
            </a:r>
            <a:r>
              <a:rPr lang="en" altLang="zh-CN" dirty="0"/>
              <a:t>z</a:t>
            </a:r>
            <a:r>
              <a:rPr lang="zh-CN" altLang="en" dirty="0"/>
              <a:t>，</a:t>
            </a:r>
            <a:r>
              <a:rPr lang="en" altLang="zh-CN" dirty="0"/>
              <a:t>a</a:t>
            </a:r>
            <a:r>
              <a:rPr lang="zh-CN" altLang="en" dirty="0"/>
              <a:t>，</a:t>
            </a:r>
            <a:r>
              <a:rPr lang="en" altLang="zh-CN" dirty="0"/>
              <a:t>1</a:t>
            </a:r>
            <a:r>
              <a:rPr lang="zh-CN" altLang="en" dirty="0"/>
              <a:t>），（</a:t>
            </a:r>
            <a:r>
              <a:rPr lang="en" altLang="zh-CN" dirty="0"/>
              <a:t>x</a:t>
            </a:r>
            <a:r>
              <a:rPr lang="zh-CN" altLang="en" dirty="0"/>
              <a:t>，</a:t>
            </a:r>
            <a:r>
              <a:rPr lang="en" altLang="zh-CN" dirty="0"/>
              <a:t>a</a:t>
            </a:r>
            <a:r>
              <a:rPr lang="zh-CN" altLang="en" dirty="0"/>
              <a:t>，</a:t>
            </a:r>
            <a:r>
              <a:rPr lang="en" altLang="zh-CN" dirty="0"/>
              <a:t>z</a:t>
            </a:r>
            <a:r>
              <a:rPr lang="zh-CN" altLang="en" dirty="0"/>
              <a:t>，</a:t>
            </a:r>
            <a:r>
              <a:rPr lang="en" altLang="zh-CN" dirty="0"/>
              <a:t>b</a:t>
            </a:r>
            <a:r>
              <a:rPr lang="zh-CN" altLang="en" dirty="0"/>
              <a:t>，</a:t>
            </a:r>
            <a:r>
              <a:rPr lang="en" altLang="zh-CN" dirty="0"/>
              <a:t>1</a:t>
            </a:r>
            <a:r>
              <a:rPr lang="zh-CN" altLang="en" dirty="0"/>
              <a:t>），（</a:t>
            </a:r>
            <a:r>
              <a:rPr lang="en" altLang="zh-CN" dirty="0"/>
              <a:t>y</a:t>
            </a:r>
            <a:r>
              <a:rPr lang="zh-CN" altLang="en" dirty="0"/>
              <a:t>，</a:t>
            </a:r>
            <a:r>
              <a:rPr lang="en" altLang="zh-CN" dirty="0"/>
              <a:t>a</a:t>
            </a:r>
            <a:r>
              <a:rPr lang="zh-CN" altLang="en" dirty="0"/>
              <a:t>，</a:t>
            </a:r>
            <a:r>
              <a:rPr lang="en" altLang="zh-CN" dirty="0"/>
              <a:t>z</a:t>
            </a:r>
            <a:r>
              <a:rPr lang="zh-CN" altLang="en" dirty="0"/>
              <a:t>，</a:t>
            </a:r>
            <a:r>
              <a:rPr lang="en" altLang="zh-CN" dirty="0"/>
              <a:t>a</a:t>
            </a:r>
            <a:r>
              <a:rPr lang="zh-CN" altLang="en" dirty="0"/>
              <a:t>，</a:t>
            </a:r>
            <a:r>
              <a:rPr lang="en" altLang="zh-CN" dirty="0"/>
              <a:t>1</a:t>
            </a:r>
            <a:r>
              <a:rPr lang="zh-CN" altLang="en" dirty="0"/>
              <a:t>）</a:t>
            </a:r>
            <a:r>
              <a:rPr lang="zh-CN" altLang="en-US" dirty="0"/>
              <a:t>，（</a:t>
            </a:r>
            <a:r>
              <a:rPr lang="en" altLang="zh-CN" dirty="0"/>
              <a:t>y</a:t>
            </a:r>
            <a:r>
              <a:rPr lang="zh-CN" altLang="en" dirty="0"/>
              <a:t>，</a:t>
            </a:r>
            <a:r>
              <a:rPr lang="en" altLang="zh-CN" dirty="0"/>
              <a:t>a</a:t>
            </a:r>
            <a:r>
              <a:rPr lang="zh-CN" altLang="en" dirty="0"/>
              <a:t>，</a:t>
            </a:r>
            <a:r>
              <a:rPr lang="en" altLang="zh-CN" dirty="0"/>
              <a:t>z</a:t>
            </a:r>
            <a:r>
              <a:rPr lang="zh-CN" altLang="en" dirty="0"/>
              <a:t>，</a:t>
            </a:r>
            <a:r>
              <a:rPr lang="en" altLang="zh-CN" dirty="0"/>
              <a:t>b</a:t>
            </a:r>
            <a:r>
              <a:rPr lang="zh-CN" altLang="en" dirty="0"/>
              <a:t>，</a:t>
            </a:r>
            <a:r>
              <a:rPr lang="en" altLang="zh-CN" dirty="0"/>
              <a:t>3</a:t>
            </a:r>
            <a:r>
              <a:rPr lang="zh-CN" altLang="en" dirty="0"/>
              <a:t>），（</a:t>
            </a:r>
            <a:r>
              <a:rPr lang="en" altLang="zh-CN" dirty="0"/>
              <a:t>z</a:t>
            </a:r>
            <a:r>
              <a:rPr lang="zh-CN" altLang="en" dirty="0"/>
              <a:t>，</a:t>
            </a:r>
            <a:r>
              <a:rPr lang="en" altLang="zh-CN" dirty="0"/>
              <a:t>a</a:t>
            </a:r>
            <a:r>
              <a:rPr lang="zh-CN" altLang="en" dirty="0"/>
              <a:t>，</a:t>
            </a:r>
            <a:r>
              <a:rPr lang="en" altLang="zh-CN" dirty="0"/>
              <a:t>z</a:t>
            </a:r>
            <a:r>
              <a:rPr lang="zh-CN" altLang="en" dirty="0"/>
              <a:t>，</a:t>
            </a:r>
            <a:r>
              <a:rPr lang="en" altLang="zh-CN" dirty="0"/>
              <a:t>a</a:t>
            </a:r>
            <a:r>
              <a:rPr lang="zh-CN" altLang="en" dirty="0"/>
              <a:t>，</a:t>
            </a:r>
            <a:r>
              <a:rPr lang="en" altLang="zh-CN" dirty="0"/>
              <a:t>1</a:t>
            </a:r>
            <a:r>
              <a:rPr lang="zh-CN" altLang="en" dirty="0"/>
              <a:t>），（</a:t>
            </a:r>
            <a:r>
              <a:rPr lang="en" altLang="zh-CN" dirty="0"/>
              <a:t>z</a:t>
            </a:r>
            <a:r>
              <a:rPr lang="zh-CN" altLang="en" dirty="0"/>
              <a:t>，</a:t>
            </a:r>
            <a:r>
              <a:rPr lang="en" altLang="zh-CN" dirty="0"/>
              <a:t>a</a:t>
            </a:r>
            <a:r>
              <a:rPr lang="zh-CN" altLang="en" dirty="0"/>
              <a:t>，</a:t>
            </a:r>
            <a:r>
              <a:rPr lang="en" altLang="zh-CN" dirty="0"/>
              <a:t>z</a:t>
            </a:r>
            <a:r>
              <a:rPr lang="zh-CN" altLang="en" dirty="0"/>
              <a:t>，</a:t>
            </a:r>
            <a:r>
              <a:rPr lang="en" altLang="zh-CN" dirty="0"/>
              <a:t>b</a:t>
            </a:r>
            <a:r>
              <a:rPr lang="zh-CN" altLang="en" dirty="0"/>
              <a:t>，</a:t>
            </a:r>
            <a:r>
              <a:rPr lang="en" altLang="zh-CN" dirty="0"/>
              <a:t>1</a:t>
            </a:r>
            <a:r>
              <a:rPr lang="zh-CN" altLang="en" dirty="0"/>
              <a:t>），（</a:t>
            </a:r>
            <a:r>
              <a:rPr lang="en" altLang="zh-CN" dirty="0"/>
              <a:t>z</a:t>
            </a:r>
            <a:r>
              <a:rPr lang="zh-CN" altLang="en" dirty="0"/>
              <a:t>，</a:t>
            </a:r>
            <a:r>
              <a:rPr lang="en" altLang="zh-CN" dirty="0"/>
              <a:t>a</a:t>
            </a:r>
            <a:r>
              <a:rPr lang="zh-CN" altLang="en" dirty="0"/>
              <a:t>，</a:t>
            </a:r>
            <a:r>
              <a:rPr lang="en" altLang="zh-CN" dirty="0"/>
              <a:t>y</a:t>
            </a:r>
            <a:r>
              <a:rPr lang="zh-CN" altLang="en" dirty="0"/>
              <a:t>，</a:t>
            </a:r>
            <a:r>
              <a:rPr lang="en" altLang="zh-CN" dirty="0"/>
              <a:t>b</a:t>
            </a:r>
            <a:r>
              <a:rPr lang="zh-CN" altLang="en" dirty="0"/>
              <a:t>，</a:t>
            </a:r>
            <a:r>
              <a:rPr lang="en" altLang="zh-CN" dirty="0"/>
              <a:t>1</a:t>
            </a:r>
            <a:r>
              <a:rPr lang="zh-CN" altLang="en" dirty="0"/>
              <a:t>）</a:t>
            </a:r>
            <a:r>
              <a:rPr lang="en" altLang="zh-CN" dirty="0"/>
              <a:t>} </a:t>
            </a:r>
          </a:p>
          <a:p>
            <a:r>
              <a:rPr lang="en" altLang="zh-CN" dirty="0"/>
              <a:t>S </a:t>
            </a:r>
            <a:r>
              <a:rPr lang="zh-CN" altLang="en-US" dirty="0"/>
              <a:t>的元组如下：</a:t>
            </a:r>
          </a:p>
          <a:p>
            <a:r>
              <a:rPr lang="en-US" altLang="zh-CN" dirty="0"/>
              <a:t>{</a:t>
            </a:r>
            <a:r>
              <a:rPr lang="zh-CN" altLang="en-US" dirty="0"/>
              <a:t>（</a:t>
            </a:r>
            <a:r>
              <a:rPr lang="en" altLang="zh-CN" dirty="0"/>
              <a:t>a</a:t>
            </a:r>
            <a:r>
              <a:rPr lang="zh-CN" altLang="en" dirty="0"/>
              <a:t>，</a:t>
            </a:r>
            <a:r>
              <a:rPr lang="en" altLang="zh-CN" dirty="0"/>
              <a:t>1</a:t>
            </a:r>
            <a:r>
              <a:rPr lang="zh-CN" altLang="en" dirty="0"/>
              <a:t>），（</a:t>
            </a:r>
            <a:r>
              <a:rPr lang="en" altLang="zh-CN" dirty="0"/>
              <a:t>b,1</a:t>
            </a:r>
            <a:r>
              <a:rPr lang="zh-CN" altLang="en" dirty="0"/>
              <a:t>）</a:t>
            </a:r>
            <a:r>
              <a:rPr lang="en" altLang="zh-CN" dirty="0"/>
              <a:t>}</a:t>
            </a:r>
          </a:p>
          <a:p>
            <a:endParaRPr lang="zh-CN" altLang="en-US" dirty="0"/>
          </a:p>
          <a:p>
            <a:endParaRPr lang="zh-CN" altLang="en-US" dirty="0">
              <a:solidFill>
                <a:srgbClr val="000000"/>
              </a:solidFill>
              <a:effectLst/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82305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1B13098-7F9A-3345-A367-03C5E6D5B3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36525"/>
            <a:ext cx="8229600" cy="6100787"/>
          </a:xfrm>
        </p:spPr>
        <p:txBody>
          <a:bodyPr/>
          <a:lstStyle/>
          <a:p>
            <a:pPr marL="0" indent="0">
              <a:buNone/>
            </a:pP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7427C7D-4CEB-3E4A-992D-905EE5425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E5E69-9A6D-4AF8-BC2D-C556A9893D8F}" type="slidenum">
              <a:rPr lang="zh-CN" altLang="en-US" smtClean="0"/>
              <a:pPr/>
              <a:t>3</a:t>
            </a:fld>
            <a:endParaRPr lang="zh-CN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6D98EEF-204F-EE4F-B006-B94CC4365411}"/>
              </a:ext>
            </a:extLst>
          </p:cNvPr>
          <p:cNvSpPr/>
          <p:nvPr/>
        </p:nvSpPr>
        <p:spPr>
          <a:xfrm>
            <a:off x="457200" y="786261"/>
            <a:ext cx="8147248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000000"/>
                </a:solidFill>
                <a:latin typeface="Helvetica" pitchFamily="2" charset="0"/>
              </a:rPr>
              <a:t>2.5 </a:t>
            </a:r>
            <a:r>
              <a:rPr lang="zh-CN" altLang="en-US" dirty="0">
                <a:solidFill>
                  <a:srgbClr val="000000"/>
                </a:solidFill>
                <a:latin typeface="Helvetica" pitchFamily="2" charset="0"/>
              </a:rPr>
              <a:t>已知工程管理数据库的关系如下：</a:t>
            </a:r>
          </a:p>
          <a:p>
            <a:r>
              <a:rPr lang="zh-CN" altLang="en-US" dirty="0">
                <a:solidFill>
                  <a:srgbClr val="000000"/>
                </a:solidFill>
                <a:latin typeface="Helvetica" pitchFamily="2" charset="0"/>
              </a:rPr>
              <a:t>供应商 </a:t>
            </a:r>
            <a:r>
              <a:rPr lang="en" altLang="zh-CN" dirty="0">
                <a:solidFill>
                  <a:srgbClr val="000000"/>
                </a:solidFill>
                <a:latin typeface="Helvetica" pitchFamily="2" charset="0"/>
              </a:rPr>
              <a:t>S</a:t>
            </a:r>
            <a:r>
              <a:rPr lang="zh-CN" altLang="en" dirty="0">
                <a:solidFill>
                  <a:srgbClr val="000000"/>
                </a:solidFill>
                <a:latin typeface="Helvetica" pitchFamily="2" charset="0"/>
              </a:rPr>
              <a:t>（</a:t>
            </a:r>
            <a:r>
              <a:rPr lang="zh-CN" altLang="en-US" dirty="0">
                <a:solidFill>
                  <a:srgbClr val="000000"/>
                </a:solidFill>
                <a:latin typeface="Helvetica" pitchFamily="2" charset="0"/>
              </a:rPr>
              <a:t>供应商号 </a:t>
            </a:r>
            <a:r>
              <a:rPr lang="en" altLang="zh-CN" dirty="0" err="1">
                <a:solidFill>
                  <a:srgbClr val="000000"/>
                </a:solidFill>
                <a:latin typeface="Helvetica" pitchFamily="2" charset="0"/>
              </a:rPr>
              <a:t>SNo</a:t>
            </a:r>
            <a:r>
              <a:rPr lang="zh-CN" altLang="en" dirty="0">
                <a:solidFill>
                  <a:srgbClr val="000000"/>
                </a:solidFill>
                <a:latin typeface="Helvetica" pitchFamily="2" charset="0"/>
              </a:rPr>
              <a:t>，</a:t>
            </a:r>
            <a:r>
              <a:rPr lang="zh-CN" altLang="en-US" dirty="0">
                <a:solidFill>
                  <a:srgbClr val="000000"/>
                </a:solidFill>
                <a:latin typeface="Helvetica" pitchFamily="2" charset="0"/>
              </a:rPr>
              <a:t>供应商名 </a:t>
            </a:r>
            <a:r>
              <a:rPr lang="en" altLang="zh-CN" dirty="0" err="1">
                <a:solidFill>
                  <a:srgbClr val="000000"/>
                </a:solidFill>
                <a:latin typeface="Helvetica" pitchFamily="2" charset="0"/>
              </a:rPr>
              <a:t>SName</a:t>
            </a:r>
            <a:r>
              <a:rPr lang="zh-CN" altLang="en" dirty="0">
                <a:solidFill>
                  <a:srgbClr val="000000"/>
                </a:solidFill>
                <a:latin typeface="Helvetica" pitchFamily="2" charset="0"/>
              </a:rPr>
              <a:t>，</a:t>
            </a:r>
            <a:r>
              <a:rPr lang="zh-CN" altLang="en-US" dirty="0">
                <a:solidFill>
                  <a:srgbClr val="000000"/>
                </a:solidFill>
                <a:latin typeface="Helvetica" pitchFamily="2" charset="0"/>
              </a:rPr>
              <a:t>所在城市 </a:t>
            </a:r>
            <a:r>
              <a:rPr lang="en" altLang="zh-CN" dirty="0">
                <a:solidFill>
                  <a:srgbClr val="000000"/>
                </a:solidFill>
                <a:latin typeface="Helvetica" pitchFamily="2" charset="0"/>
              </a:rPr>
              <a:t>City</a:t>
            </a:r>
            <a:r>
              <a:rPr lang="zh-CN" altLang="en" dirty="0">
                <a:solidFill>
                  <a:srgbClr val="000000"/>
                </a:solidFill>
                <a:latin typeface="Helvetica" pitchFamily="2" charset="0"/>
              </a:rPr>
              <a:t>）</a:t>
            </a:r>
          </a:p>
          <a:p>
            <a:r>
              <a:rPr lang="zh-CN" altLang="en-US" dirty="0">
                <a:solidFill>
                  <a:srgbClr val="000000"/>
                </a:solidFill>
                <a:latin typeface="Helvetica" pitchFamily="2" charset="0"/>
              </a:rPr>
              <a:t>零件 </a:t>
            </a:r>
            <a:r>
              <a:rPr lang="en" altLang="zh-CN" dirty="0">
                <a:solidFill>
                  <a:srgbClr val="000000"/>
                </a:solidFill>
                <a:latin typeface="Helvetica" pitchFamily="2" charset="0"/>
              </a:rPr>
              <a:t>P</a:t>
            </a:r>
            <a:r>
              <a:rPr lang="zh-CN" altLang="en" dirty="0">
                <a:solidFill>
                  <a:srgbClr val="000000"/>
                </a:solidFill>
                <a:latin typeface="Helvetica" pitchFamily="2" charset="0"/>
              </a:rPr>
              <a:t>（</a:t>
            </a:r>
            <a:r>
              <a:rPr lang="zh-CN" altLang="en-US" dirty="0">
                <a:solidFill>
                  <a:srgbClr val="000000"/>
                </a:solidFill>
                <a:latin typeface="Helvetica" pitchFamily="2" charset="0"/>
              </a:rPr>
              <a:t>零件号 </a:t>
            </a:r>
            <a:r>
              <a:rPr lang="en" altLang="zh-CN" dirty="0" err="1">
                <a:solidFill>
                  <a:srgbClr val="000000"/>
                </a:solidFill>
                <a:latin typeface="Helvetica" pitchFamily="2" charset="0"/>
              </a:rPr>
              <a:t>PNo</a:t>
            </a:r>
            <a:r>
              <a:rPr lang="zh-CN" altLang="en" dirty="0">
                <a:solidFill>
                  <a:srgbClr val="000000"/>
                </a:solidFill>
                <a:latin typeface="Helvetica" pitchFamily="2" charset="0"/>
              </a:rPr>
              <a:t>，</a:t>
            </a:r>
            <a:r>
              <a:rPr lang="zh-CN" altLang="en-US" dirty="0">
                <a:solidFill>
                  <a:srgbClr val="000000"/>
                </a:solidFill>
                <a:latin typeface="Helvetica" pitchFamily="2" charset="0"/>
              </a:rPr>
              <a:t>零件名 </a:t>
            </a:r>
            <a:r>
              <a:rPr lang="en" altLang="zh-CN" dirty="0" err="1">
                <a:solidFill>
                  <a:srgbClr val="000000"/>
                </a:solidFill>
                <a:latin typeface="Helvetica" pitchFamily="2" charset="0"/>
              </a:rPr>
              <a:t>PName</a:t>
            </a:r>
            <a:r>
              <a:rPr lang="zh-CN" altLang="en" dirty="0">
                <a:solidFill>
                  <a:srgbClr val="000000"/>
                </a:solidFill>
                <a:latin typeface="Helvetica" pitchFamily="2" charset="0"/>
              </a:rPr>
              <a:t>，</a:t>
            </a:r>
            <a:r>
              <a:rPr lang="zh-CN" altLang="en-US" dirty="0">
                <a:solidFill>
                  <a:srgbClr val="000000"/>
                </a:solidFill>
                <a:latin typeface="Helvetica" pitchFamily="2" charset="0"/>
              </a:rPr>
              <a:t>颜色 </a:t>
            </a:r>
            <a:r>
              <a:rPr lang="en" altLang="zh-CN" dirty="0">
                <a:solidFill>
                  <a:srgbClr val="000000"/>
                </a:solidFill>
                <a:latin typeface="Helvetica" pitchFamily="2" charset="0"/>
              </a:rPr>
              <a:t>Color</a:t>
            </a:r>
            <a:r>
              <a:rPr lang="zh-CN" altLang="en" dirty="0">
                <a:solidFill>
                  <a:srgbClr val="000000"/>
                </a:solidFill>
                <a:latin typeface="Helvetica" pitchFamily="2" charset="0"/>
              </a:rPr>
              <a:t>，</a:t>
            </a:r>
            <a:r>
              <a:rPr lang="zh-CN" altLang="en-US" dirty="0">
                <a:solidFill>
                  <a:srgbClr val="000000"/>
                </a:solidFill>
                <a:latin typeface="Helvetica" pitchFamily="2" charset="0"/>
              </a:rPr>
              <a:t>重量 </a:t>
            </a:r>
            <a:r>
              <a:rPr lang="en" altLang="zh-CN" dirty="0">
                <a:solidFill>
                  <a:srgbClr val="000000"/>
                </a:solidFill>
                <a:latin typeface="Helvetica" pitchFamily="2" charset="0"/>
              </a:rPr>
              <a:t>Weight</a:t>
            </a:r>
            <a:r>
              <a:rPr lang="zh-CN" altLang="en" dirty="0">
                <a:solidFill>
                  <a:srgbClr val="000000"/>
                </a:solidFill>
                <a:latin typeface="Helvetica" pitchFamily="2" charset="0"/>
              </a:rPr>
              <a:t>）</a:t>
            </a:r>
          </a:p>
          <a:p>
            <a:r>
              <a:rPr lang="zh-CN" altLang="en-US" dirty="0">
                <a:solidFill>
                  <a:srgbClr val="000000"/>
                </a:solidFill>
                <a:latin typeface="Helvetica" pitchFamily="2" charset="0"/>
              </a:rPr>
              <a:t>工程 </a:t>
            </a:r>
            <a:r>
              <a:rPr lang="en" altLang="zh-CN" dirty="0">
                <a:solidFill>
                  <a:srgbClr val="000000"/>
                </a:solidFill>
                <a:latin typeface="Helvetica" pitchFamily="2" charset="0"/>
              </a:rPr>
              <a:t>J</a:t>
            </a:r>
            <a:r>
              <a:rPr lang="zh-CN" altLang="en" dirty="0">
                <a:solidFill>
                  <a:srgbClr val="000000"/>
                </a:solidFill>
                <a:latin typeface="Helvetica" pitchFamily="2" charset="0"/>
              </a:rPr>
              <a:t>（</a:t>
            </a:r>
            <a:r>
              <a:rPr lang="zh-CN" altLang="en-US" dirty="0">
                <a:solidFill>
                  <a:srgbClr val="000000"/>
                </a:solidFill>
                <a:latin typeface="Helvetica" pitchFamily="2" charset="0"/>
              </a:rPr>
              <a:t>工程号 </a:t>
            </a:r>
            <a:r>
              <a:rPr lang="en" altLang="zh-CN" dirty="0" err="1">
                <a:solidFill>
                  <a:srgbClr val="000000"/>
                </a:solidFill>
                <a:latin typeface="Helvetica" pitchFamily="2" charset="0"/>
              </a:rPr>
              <a:t>JNo</a:t>
            </a:r>
            <a:r>
              <a:rPr lang="zh-CN" altLang="en" dirty="0">
                <a:solidFill>
                  <a:srgbClr val="000000"/>
                </a:solidFill>
                <a:latin typeface="Helvetica" pitchFamily="2" charset="0"/>
              </a:rPr>
              <a:t>，</a:t>
            </a:r>
            <a:r>
              <a:rPr lang="zh-CN" altLang="en-US" dirty="0">
                <a:solidFill>
                  <a:srgbClr val="000000"/>
                </a:solidFill>
                <a:latin typeface="Helvetica" pitchFamily="2" charset="0"/>
              </a:rPr>
              <a:t>工程名 </a:t>
            </a:r>
            <a:r>
              <a:rPr lang="en" altLang="zh-CN" dirty="0" err="1">
                <a:solidFill>
                  <a:srgbClr val="000000"/>
                </a:solidFill>
                <a:latin typeface="Helvetica" pitchFamily="2" charset="0"/>
              </a:rPr>
              <a:t>JName</a:t>
            </a:r>
            <a:r>
              <a:rPr lang="zh-CN" altLang="en" dirty="0">
                <a:solidFill>
                  <a:srgbClr val="000000"/>
                </a:solidFill>
                <a:latin typeface="Helvetica" pitchFamily="2" charset="0"/>
              </a:rPr>
              <a:t>，</a:t>
            </a:r>
            <a:r>
              <a:rPr lang="zh-CN" altLang="en-US" dirty="0">
                <a:solidFill>
                  <a:srgbClr val="000000"/>
                </a:solidFill>
                <a:latin typeface="Helvetica" pitchFamily="2" charset="0"/>
              </a:rPr>
              <a:t>所在城市 </a:t>
            </a:r>
            <a:r>
              <a:rPr lang="en" altLang="zh-CN" dirty="0">
                <a:solidFill>
                  <a:srgbClr val="000000"/>
                </a:solidFill>
                <a:latin typeface="Helvetica" pitchFamily="2" charset="0"/>
              </a:rPr>
              <a:t>City</a:t>
            </a:r>
            <a:r>
              <a:rPr lang="zh-CN" altLang="en" dirty="0">
                <a:solidFill>
                  <a:srgbClr val="000000"/>
                </a:solidFill>
                <a:latin typeface="Helvetica" pitchFamily="2" charset="0"/>
              </a:rPr>
              <a:t>）</a:t>
            </a:r>
            <a:endParaRPr lang="en-US" altLang="zh-CN" dirty="0">
              <a:solidFill>
                <a:srgbClr val="000000"/>
              </a:solidFill>
              <a:latin typeface="Helvetica" pitchFamily="2" charset="0"/>
            </a:endParaRPr>
          </a:p>
          <a:p>
            <a:r>
              <a:rPr lang="zh-CN" altLang="en-US" dirty="0"/>
              <a:t>供应 </a:t>
            </a:r>
            <a:r>
              <a:rPr lang="en" altLang="zh-CN" dirty="0"/>
              <a:t>SPJ</a:t>
            </a:r>
            <a:r>
              <a:rPr lang="zh-CN" altLang="en" dirty="0"/>
              <a:t>（</a:t>
            </a:r>
            <a:r>
              <a:rPr lang="en" altLang="zh-CN" dirty="0" err="1"/>
              <a:t>SNo</a:t>
            </a:r>
            <a:r>
              <a:rPr lang="zh-CN" altLang="en" dirty="0"/>
              <a:t>，</a:t>
            </a:r>
            <a:r>
              <a:rPr lang="en" altLang="zh-CN" dirty="0" err="1"/>
              <a:t>PNo</a:t>
            </a:r>
            <a:r>
              <a:rPr lang="zh-CN" altLang="en" dirty="0"/>
              <a:t>，</a:t>
            </a:r>
            <a:r>
              <a:rPr lang="en" altLang="zh-CN" dirty="0" err="1"/>
              <a:t>JNo</a:t>
            </a:r>
            <a:r>
              <a:rPr lang="zh-CN" altLang="en" dirty="0"/>
              <a:t>，</a:t>
            </a:r>
            <a:r>
              <a:rPr lang="zh-CN" altLang="en-US" dirty="0"/>
              <a:t>供应数量 </a:t>
            </a:r>
            <a:r>
              <a:rPr lang="en" altLang="zh-CN" dirty="0"/>
              <a:t>Qty</a:t>
            </a:r>
            <a:r>
              <a:rPr lang="zh-CN" altLang="en" dirty="0"/>
              <a:t>）</a:t>
            </a:r>
          </a:p>
          <a:p>
            <a:r>
              <a:rPr lang="zh-CN" altLang="en-US" dirty="0"/>
              <a:t>请完成如下查询：</a:t>
            </a:r>
          </a:p>
          <a:p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）查找上海的各工程名。</a:t>
            </a:r>
          </a:p>
          <a:p>
            <a:r>
              <a:rPr lang="zh-CN" altLang="en-US" dirty="0"/>
              <a:t>（</a:t>
            </a:r>
            <a:r>
              <a:rPr lang="en-US" altLang="zh-CN" dirty="0"/>
              <a:t>2</a:t>
            </a:r>
            <a:r>
              <a:rPr lang="zh-CN" altLang="en-US" dirty="0"/>
              <a:t>）查询供应商 </a:t>
            </a:r>
            <a:r>
              <a:rPr lang="en" altLang="zh-CN" dirty="0"/>
              <a:t>S1 </a:t>
            </a:r>
            <a:r>
              <a:rPr lang="zh-CN" altLang="en-US" dirty="0"/>
              <a:t>给工程 </a:t>
            </a:r>
            <a:r>
              <a:rPr lang="en" altLang="zh-CN" dirty="0"/>
              <a:t>J2 </a:t>
            </a:r>
            <a:r>
              <a:rPr lang="zh-CN" altLang="en-US" dirty="0"/>
              <a:t>供应的所有零件名。</a:t>
            </a:r>
          </a:p>
          <a:p>
            <a:r>
              <a:rPr lang="zh-CN" altLang="en-US" dirty="0"/>
              <a:t>（</a:t>
            </a:r>
            <a:r>
              <a:rPr lang="en-US" altLang="zh-CN" dirty="0"/>
              <a:t>3</a:t>
            </a:r>
            <a:r>
              <a:rPr lang="zh-CN" altLang="en-US" dirty="0"/>
              <a:t>）查询北京的工程使用蓝色零件的工程号。</a:t>
            </a:r>
          </a:p>
          <a:p>
            <a:r>
              <a:rPr lang="zh-CN" altLang="en-US" dirty="0"/>
              <a:t>（</a:t>
            </a:r>
            <a:r>
              <a:rPr lang="en-US" altLang="zh-CN" dirty="0"/>
              <a:t>4</a:t>
            </a:r>
            <a:r>
              <a:rPr lang="zh-CN" altLang="en-US" dirty="0"/>
              <a:t>）查询没有使用 </a:t>
            </a:r>
            <a:r>
              <a:rPr lang="en" altLang="zh-CN" dirty="0"/>
              <a:t>S1 </a:t>
            </a:r>
            <a:r>
              <a:rPr lang="zh-CN" altLang="en-US" dirty="0"/>
              <a:t>所供应零件的工程号。</a:t>
            </a:r>
          </a:p>
          <a:p>
            <a:r>
              <a:rPr lang="zh-CN" altLang="en-US" dirty="0"/>
              <a:t>（</a:t>
            </a:r>
            <a:r>
              <a:rPr lang="en-US" altLang="zh-CN" dirty="0"/>
              <a:t>5</a:t>
            </a:r>
            <a:r>
              <a:rPr lang="zh-CN" altLang="en-US" dirty="0"/>
              <a:t>）查询找出能提供零件号为 </a:t>
            </a:r>
            <a:r>
              <a:rPr lang="en" altLang="zh-CN" dirty="0"/>
              <a:t>P3 </a:t>
            </a:r>
            <a:r>
              <a:rPr lang="zh-CN" altLang="en-US" dirty="0"/>
              <a:t>的供应商。</a:t>
            </a:r>
          </a:p>
          <a:p>
            <a:r>
              <a:rPr lang="zh-CN" altLang="en-US" dirty="0"/>
              <a:t>（</a:t>
            </a:r>
            <a:r>
              <a:rPr lang="en-US" altLang="zh-CN" dirty="0"/>
              <a:t>6</a:t>
            </a:r>
            <a:r>
              <a:rPr lang="zh-CN" altLang="en-US" dirty="0"/>
              <a:t>）查询能提供供应商 </a:t>
            </a:r>
            <a:r>
              <a:rPr lang="en" altLang="zh-CN" dirty="0"/>
              <a:t>S1 </a:t>
            </a:r>
            <a:r>
              <a:rPr lang="zh-CN" altLang="en-US" dirty="0"/>
              <a:t>所提供的所有零件的供应商</a:t>
            </a:r>
          </a:p>
          <a:p>
            <a:r>
              <a:rPr lang="zh-CN" altLang="en-US" dirty="0"/>
              <a:t>（</a:t>
            </a:r>
            <a:r>
              <a:rPr lang="en-US" altLang="zh-CN" dirty="0"/>
              <a:t>7</a:t>
            </a:r>
            <a:r>
              <a:rPr lang="zh-CN" altLang="en-US" dirty="0"/>
              <a:t>）查询不提供零件 </a:t>
            </a:r>
            <a:r>
              <a:rPr lang="en" altLang="zh-CN" dirty="0"/>
              <a:t>P1 </a:t>
            </a:r>
            <a:r>
              <a:rPr lang="zh-CN" altLang="en-US" dirty="0"/>
              <a:t>和 </a:t>
            </a:r>
            <a:r>
              <a:rPr lang="en" altLang="zh-CN" dirty="0"/>
              <a:t>P2 </a:t>
            </a:r>
            <a:r>
              <a:rPr lang="zh-CN" altLang="en-US" dirty="0"/>
              <a:t>的供应商。</a:t>
            </a:r>
          </a:p>
          <a:p>
            <a:r>
              <a:rPr lang="zh-CN" altLang="en-US" dirty="0"/>
              <a:t>（</a:t>
            </a:r>
            <a:r>
              <a:rPr lang="en-US" altLang="zh-CN" dirty="0"/>
              <a:t>8</a:t>
            </a:r>
            <a:r>
              <a:rPr lang="zh-CN" altLang="en-US" dirty="0"/>
              <a:t>）查询同时提供零件 </a:t>
            </a:r>
            <a:r>
              <a:rPr lang="en" altLang="zh-CN" dirty="0"/>
              <a:t>P1 </a:t>
            </a:r>
            <a:r>
              <a:rPr lang="zh-CN" altLang="en-US" dirty="0"/>
              <a:t>和 </a:t>
            </a:r>
            <a:r>
              <a:rPr lang="en" altLang="zh-CN" dirty="0"/>
              <a:t>P2 </a:t>
            </a:r>
            <a:r>
              <a:rPr lang="zh-CN" altLang="en-US" dirty="0"/>
              <a:t>的供应商。</a:t>
            </a:r>
          </a:p>
          <a:p>
            <a:r>
              <a:rPr lang="zh-CN" altLang="en-US" dirty="0"/>
              <a:t>（</a:t>
            </a:r>
            <a:r>
              <a:rPr lang="en-US" altLang="zh-CN" dirty="0"/>
              <a:t>9</a:t>
            </a:r>
            <a:r>
              <a:rPr lang="zh-CN" altLang="en-US" dirty="0"/>
              <a:t>） 查询同供应商 </a:t>
            </a:r>
            <a:r>
              <a:rPr lang="en" altLang="zh-CN" dirty="0"/>
              <a:t>S1 </a:t>
            </a:r>
            <a:r>
              <a:rPr lang="zh-CN" altLang="en-US" dirty="0"/>
              <a:t>在同一城市的供应商所提供的所有零件。</a:t>
            </a:r>
          </a:p>
          <a:p>
            <a:r>
              <a:rPr lang="zh-CN" altLang="en-US" dirty="0"/>
              <a:t>（</a:t>
            </a:r>
            <a:r>
              <a:rPr lang="en-US" altLang="zh-CN" dirty="0"/>
              <a:t>10</a:t>
            </a:r>
            <a:r>
              <a:rPr lang="zh-CN" altLang="en-US" dirty="0"/>
              <a:t>）查询供应红色的 </a:t>
            </a:r>
            <a:r>
              <a:rPr lang="en" altLang="zh-CN" dirty="0"/>
              <a:t>P1 </a:t>
            </a:r>
            <a:r>
              <a:rPr lang="zh-CN" altLang="en-US" dirty="0"/>
              <a:t>零件的供应商，且其供应量大于 </a:t>
            </a:r>
            <a:r>
              <a:rPr lang="en-US" altLang="zh-CN" dirty="0"/>
              <a:t>1000</a:t>
            </a:r>
            <a:r>
              <a:rPr lang="zh-CN" altLang="en-US" dirty="0"/>
              <a:t>。</a:t>
            </a:r>
          </a:p>
          <a:p>
            <a:endParaRPr lang="zh-CN" altLang="en" dirty="0">
              <a:solidFill>
                <a:srgbClr val="000000"/>
              </a:solidFill>
              <a:effectLst/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43301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260648"/>
            <a:ext cx="8229600" cy="5976664"/>
          </a:xfrm>
        </p:spPr>
        <p:txBody>
          <a:bodyPr>
            <a:normAutofit/>
          </a:bodyPr>
          <a:lstStyle/>
          <a:p>
            <a:pPr>
              <a:lnSpc>
                <a:spcPts val="3000"/>
              </a:lnSpc>
            </a:pPr>
            <a:r>
              <a:rPr lang="en-US" altLang="zh-CN" dirty="0"/>
              <a:t>2.6 </a:t>
            </a:r>
            <a:r>
              <a:rPr lang="zh-CN" altLang="zh-CN" dirty="0"/>
              <a:t>已知读者订单管理数据库的关系如下：</a:t>
            </a:r>
          </a:p>
          <a:p>
            <a:pPr>
              <a:lnSpc>
                <a:spcPts val="3000"/>
              </a:lnSpc>
            </a:pPr>
            <a:r>
              <a:rPr lang="zh-CN" altLang="zh-CN" dirty="0"/>
              <a:t>读者</a:t>
            </a:r>
            <a:r>
              <a:rPr lang="en-US" altLang="zh-CN" dirty="0"/>
              <a:t>Read</a:t>
            </a:r>
            <a:r>
              <a:rPr lang="zh-CN" altLang="zh-CN" dirty="0"/>
              <a:t>（读者号</a:t>
            </a:r>
            <a:r>
              <a:rPr lang="en-US" altLang="zh-CN" dirty="0" err="1"/>
              <a:t>RNo</a:t>
            </a:r>
            <a:r>
              <a:rPr lang="zh-CN" altLang="zh-CN" dirty="0"/>
              <a:t>，读者名</a:t>
            </a:r>
            <a:r>
              <a:rPr lang="en-US" altLang="zh-CN" dirty="0" err="1"/>
              <a:t>RName</a:t>
            </a:r>
            <a:r>
              <a:rPr lang="zh-CN" altLang="zh-CN" dirty="0"/>
              <a:t>，读者身份</a:t>
            </a:r>
            <a:r>
              <a:rPr lang="en-US" altLang="zh-CN" dirty="0"/>
              <a:t>Status</a:t>
            </a:r>
            <a:r>
              <a:rPr lang="zh-CN" altLang="zh-CN" dirty="0"/>
              <a:t>，读者城市</a:t>
            </a:r>
            <a:r>
              <a:rPr lang="en-US" altLang="zh-CN" dirty="0"/>
              <a:t>City</a:t>
            </a:r>
            <a:r>
              <a:rPr lang="zh-CN" altLang="zh-CN" dirty="0"/>
              <a:t>）</a:t>
            </a:r>
          </a:p>
          <a:p>
            <a:pPr>
              <a:lnSpc>
                <a:spcPts val="3000"/>
              </a:lnSpc>
            </a:pPr>
            <a:r>
              <a:rPr lang="zh-CN" altLang="zh-CN" dirty="0"/>
              <a:t>图书</a:t>
            </a:r>
            <a:r>
              <a:rPr lang="en-US" altLang="zh-CN" dirty="0"/>
              <a:t>Book</a:t>
            </a:r>
            <a:r>
              <a:rPr lang="zh-CN" altLang="zh-CN" dirty="0"/>
              <a:t>（书号</a:t>
            </a:r>
            <a:r>
              <a:rPr lang="en-US" altLang="zh-CN" dirty="0" err="1"/>
              <a:t>BNo</a:t>
            </a:r>
            <a:r>
              <a:rPr lang="zh-CN" altLang="zh-CN" dirty="0"/>
              <a:t>，书名</a:t>
            </a:r>
            <a:r>
              <a:rPr lang="en-US" altLang="zh-CN" dirty="0" err="1"/>
              <a:t>BName</a:t>
            </a:r>
            <a:r>
              <a:rPr lang="zh-CN" altLang="zh-CN" dirty="0"/>
              <a:t>，书价</a:t>
            </a:r>
            <a:r>
              <a:rPr lang="en-US" altLang="zh-CN" dirty="0"/>
              <a:t>Price</a:t>
            </a:r>
            <a:r>
              <a:rPr lang="zh-CN" altLang="zh-CN" dirty="0"/>
              <a:t>，出版社</a:t>
            </a:r>
            <a:r>
              <a:rPr lang="en-US" altLang="zh-CN" dirty="0"/>
              <a:t>Publisher</a:t>
            </a:r>
            <a:r>
              <a:rPr lang="zh-CN" altLang="zh-CN" dirty="0"/>
              <a:t>）</a:t>
            </a:r>
          </a:p>
          <a:p>
            <a:pPr>
              <a:lnSpc>
                <a:spcPts val="3000"/>
              </a:lnSpc>
            </a:pPr>
            <a:r>
              <a:rPr lang="zh-CN" altLang="zh-CN" dirty="0"/>
              <a:t>订单</a:t>
            </a:r>
            <a:r>
              <a:rPr lang="en-US" altLang="zh-CN" dirty="0" err="1"/>
              <a:t>OrderForm</a:t>
            </a:r>
            <a:r>
              <a:rPr lang="zh-CN" altLang="zh-CN" dirty="0"/>
              <a:t>（订单号</a:t>
            </a:r>
            <a:r>
              <a:rPr lang="en-US" altLang="zh-CN" dirty="0" err="1"/>
              <a:t>ODNo</a:t>
            </a:r>
            <a:r>
              <a:rPr lang="zh-CN" altLang="zh-CN" dirty="0"/>
              <a:t>，</a:t>
            </a:r>
            <a:r>
              <a:rPr lang="en-US" altLang="zh-CN" dirty="0" err="1"/>
              <a:t>BNo</a:t>
            </a:r>
            <a:r>
              <a:rPr lang="zh-CN" altLang="zh-CN" dirty="0"/>
              <a:t>，订书数量</a:t>
            </a:r>
            <a:r>
              <a:rPr lang="en-US" altLang="zh-CN" dirty="0"/>
              <a:t>Quantity</a:t>
            </a:r>
            <a:r>
              <a:rPr lang="zh-CN" altLang="zh-CN" dirty="0"/>
              <a:t>）</a:t>
            </a:r>
          </a:p>
          <a:p>
            <a:pPr>
              <a:lnSpc>
                <a:spcPts val="3000"/>
              </a:lnSpc>
            </a:pPr>
            <a:r>
              <a:rPr lang="zh-CN" altLang="zh-CN" dirty="0"/>
              <a:t>订单读者索引</a:t>
            </a:r>
            <a:r>
              <a:rPr lang="en-US" altLang="zh-CN" dirty="0"/>
              <a:t>Index</a:t>
            </a:r>
            <a:r>
              <a:rPr lang="zh-CN" altLang="zh-CN" dirty="0"/>
              <a:t>（</a:t>
            </a:r>
            <a:r>
              <a:rPr lang="en-US" altLang="zh-CN" dirty="0" err="1"/>
              <a:t>ODNo</a:t>
            </a:r>
            <a:r>
              <a:rPr lang="zh-CN" altLang="zh-CN" dirty="0"/>
              <a:t>，</a:t>
            </a:r>
            <a:r>
              <a:rPr lang="en-US" altLang="zh-CN" dirty="0" err="1"/>
              <a:t>RNo</a:t>
            </a:r>
            <a:r>
              <a:rPr lang="zh-CN" altLang="zh-CN" dirty="0"/>
              <a:t>）</a:t>
            </a:r>
          </a:p>
          <a:p>
            <a:pPr>
              <a:lnSpc>
                <a:spcPts val="3000"/>
              </a:lnSpc>
            </a:pPr>
            <a:r>
              <a:rPr lang="zh-CN" altLang="zh-CN" dirty="0"/>
              <a:t>请完成如下查询：</a:t>
            </a:r>
          </a:p>
          <a:p>
            <a:pPr>
              <a:lnSpc>
                <a:spcPts val="3000"/>
              </a:lnSpc>
            </a:pPr>
            <a:r>
              <a:rPr lang="zh-CN" altLang="zh-CN" dirty="0"/>
              <a:t>（</a:t>
            </a:r>
            <a:r>
              <a:rPr lang="en-US" altLang="zh-CN" dirty="0"/>
              <a:t>1</a:t>
            </a:r>
            <a:r>
              <a:rPr lang="zh-CN" altLang="zh-CN" dirty="0"/>
              <a:t>）找出科学出版社出版的全部书号和价格。</a:t>
            </a:r>
          </a:p>
          <a:p>
            <a:pPr>
              <a:lnSpc>
                <a:spcPts val="3000"/>
              </a:lnSpc>
            </a:pPr>
            <a:r>
              <a:rPr lang="zh-CN" altLang="zh-CN" dirty="0"/>
              <a:t>（</a:t>
            </a:r>
            <a:r>
              <a:rPr lang="en-US" altLang="zh-CN" dirty="0"/>
              <a:t>2</a:t>
            </a:r>
            <a:r>
              <a:rPr lang="zh-CN" altLang="zh-CN" dirty="0"/>
              <a:t>）找出有订单的书名和订单号。</a:t>
            </a:r>
          </a:p>
          <a:p>
            <a:pPr>
              <a:lnSpc>
                <a:spcPts val="3000"/>
              </a:lnSpc>
            </a:pPr>
            <a:r>
              <a:rPr lang="zh-CN" altLang="zh-CN" dirty="0"/>
              <a:t>（</a:t>
            </a:r>
            <a:r>
              <a:rPr lang="en-US" altLang="zh-CN" dirty="0"/>
              <a:t>3</a:t>
            </a:r>
            <a:r>
              <a:rPr lang="zh-CN" altLang="zh-CN" dirty="0"/>
              <a:t>）找出订购数量为</a:t>
            </a:r>
            <a:r>
              <a:rPr lang="en-US" altLang="zh-CN" dirty="0"/>
              <a:t>20</a:t>
            </a:r>
            <a:r>
              <a:rPr lang="zh-CN" altLang="zh-CN" dirty="0"/>
              <a:t>的所有订单号和书号。</a:t>
            </a:r>
          </a:p>
          <a:p>
            <a:pPr>
              <a:lnSpc>
                <a:spcPts val="3000"/>
              </a:lnSpc>
            </a:pPr>
            <a:r>
              <a:rPr lang="zh-CN" altLang="zh-CN" dirty="0"/>
              <a:t>（</a:t>
            </a:r>
            <a:r>
              <a:rPr lang="en-US" altLang="zh-CN" dirty="0"/>
              <a:t>4</a:t>
            </a:r>
            <a:r>
              <a:rPr lang="zh-CN" altLang="zh-CN" dirty="0"/>
              <a:t>）找出至少订购了“数据库技术”的读者号。</a:t>
            </a:r>
          </a:p>
          <a:p>
            <a:pPr>
              <a:lnSpc>
                <a:spcPts val="3000"/>
              </a:lnSpc>
            </a:pPr>
            <a:r>
              <a:rPr lang="zh-CN" altLang="zh-CN" dirty="0"/>
              <a:t>（</a:t>
            </a:r>
            <a:r>
              <a:rPr lang="en-US" altLang="zh-CN" dirty="0"/>
              <a:t>5</a:t>
            </a:r>
            <a:r>
              <a:rPr lang="zh-CN" altLang="zh-CN" dirty="0"/>
              <a:t>）找出没有订购任何图书的读者号。</a:t>
            </a:r>
          </a:p>
          <a:p>
            <a:endParaRPr lang="zh-CN" altLang="en-US" dirty="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818336ED-5BF9-AF40-A84D-B02A2C21DF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E5E69-9A6D-4AF8-BC2D-C556A9893D8F}" type="slidenum">
              <a:rPr lang="zh-CN" altLang="en-US" smtClean="0"/>
              <a:pPr/>
              <a:t>4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291865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260648"/>
            <a:ext cx="8229600" cy="5976664"/>
          </a:xfrm>
        </p:spPr>
        <p:txBody>
          <a:bodyPr>
            <a:normAutofit/>
          </a:bodyPr>
          <a:lstStyle/>
          <a:p>
            <a:r>
              <a:rPr lang="en-US" altLang="zh-CN" dirty="0"/>
              <a:t>2.7 </a:t>
            </a:r>
            <a:r>
              <a:rPr lang="zh-CN" altLang="zh-CN" dirty="0"/>
              <a:t>已知商品销售数据库的关系如下：</a:t>
            </a:r>
          </a:p>
          <a:p>
            <a:r>
              <a:rPr lang="zh-CN" altLang="zh-CN" dirty="0"/>
              <a:t>商品</a:t>
            </a:r>
            <a:r>
              <a:rPr lang="en-US" altLang="zh-CN" dirty="0"/>
              <a:t>SP</a:t>
            </a:r>
            <a:r>
              <a:rPr lang="zh-CN" altLang="zh-CN" dirty="0"/>
              <a:t>（商品号</a:t>
            </a:r>
            <a:r>
              <a:rPr lang="en-US" altLang="zh-CN" dirty="0"/>
              <a:t>SPNO</a:t>
            </a:r>
            <a:r>
              <a:rPr lang="zh-CN" altLang="zh-CN" dirty="0"/>
              <a:t>，商品名</a:t>
            </a:r>
            <a:r>
              <a:rPr lang="en-US" altLang="zh-CN" dirty="0"/>
              <a:t>SPN</a:t>
            </a:r>
            <a:r>
              <a:rPr lang="zh-CN" altLang="zh-CN" dirty="0"/>
              <a:t>）、库存</a:t>
            </a:r>
            <a:r>
              <a:rPr lang="en-US" altLang="zh-CN" dirty="0"/>
              <a:t>KC</a:t>
            </a:r>
            <a:r>
              <a:rPr lang="zh-CN" altLang="zh-CN" dirty="0"/>
              <a:t>（</a:t>
            </a:r>
            <a:r>
              <a:rPr lang="en-US" altLang="zh-CN" dirty="0"/>
              <a:t>SPNO</a:t>
            </a:r>
            <a:r>
              <a:rPr lang="zh-CN" altLang="zh-CN" dirty="0"/>
              <a:t>，库存数量</a:t>
            </a:r>
            <a:r>
              <a:rPr lang="en-US" altLang="zh-CN" dirty="0"/>
              <a:t>SL1</a:t>
            </a:r>
            <a:r>
              <a:rPr lang="zh-CN" altLang="zh-CN" dirty="0"/>
              <a:t>）</a:t>
            </a:r>
          </a:p>
          <a:p>
            <a:r>
              <a:rPr lang="zh-CN" altLang="zh-CN" dirty="0"/>
              <a:t>销售</a:t>
            </a:r>
            <a:r>
              <a:rPr lang="en-US" altLang="zh-CN" dirty="0"/>
              <a:t>XS</a:t>
            </a:r>
            <a:r>
              <a:rPr lang="zh-CN" altLang="zh-CN" dirty="0"/>
              <a:t>（</a:t>
            </a:r>
            <a:r>
              <a:rPr lang="en-US" altLang="zh-CN" dirty="0"/>
              <a:t>SPNO</a:t>
            </a:r>
            <a:r>
              <a:rPr lang="zh-CN" altLang="zh-CN" dirty="0"/>
              <a:t>，</a:t>
            </a:r>
            <a:r>
              <a:rPr lang="en-US" altLang="zh-CN" dirty="0"/>
              <a:t>KHNO</a:t>
            </a:r>
            <a:r>
              <a:rPr lang="zh-CN" altLang="zh-CN" dirty="0"/>
              <a:t>，销售日期</a:t>
            </a:r>
            <a:r>
              <a:rPr lang="en-US" altLang="zh-CN" dirty="0"/>
              <a:t>RQ</a:t>
            </a:r>
            <a:r>
              <a:rPr lang="zh-CN" altLang="zh-CN" dirty="0"/>
              <a:t>，销售数量</a:t>
            </a:r>
            <a:r>
              <a:rPr lang="en-US" altLang="zh-CN" dirty="0"/>
              <a:t>SL2</a:t>
            </a:r>
            <a:r>
              <a:rPr lang="zh-CN" altLang="zh-CN" dirty="0"/>
              <a:t>，单价</a:t>
            </a:r>
            <a:r>
              <a:rPr lang="en-US" altLang="zh-CN" dirty="0"/>
              <a:t>DJ</a:t>
            </a:r>
            <a:r>
              <a:rPr lang="zh-CN" altLang="zh-CN" dirty="0"/>
              <a:t>）</a:t>
            </a:r>
          </a:p>
          <a:p>
            <a:r>
              <a:rPr lang="zh-CN" altLang="zh-CN" dirty="0"/>
              <a:t>客户</a:t>
            </a:r>
            <a:r>
              <a:rPr lang="en-US" altLang="zh-CN" dirty="0"/>
              <a:t>KH</a:t>
            </a:r>
            <a:r>
              <a:rPr lang="zh-CN" altLang="zh-CN" dirty="0"/>
              <a:t>（客户码</a:t>
            </a:r>
            <a:r>
              <a:rPr lang="en-US" altLang="zh-CN" dirty="0"/>
              <a:t>KHNO</a:t>
            </a:r>
            <a:r>
              <a:rPr lang="zh-CN" altLang="zh-CN" dirty="0"/>
              <a:t>，客户名</a:t>
            </a:r>
            <a:r>
              <a:rPr lang="en-US" altLang="zh-CN" dirty="0"/>
              <a:t>KHN</a:t>
            </a:r>
            <a:r>
              <a:rPr lang="zh-CN" altLang="zh-CN" dirty="0"/>
              <a:t>）。</a:t>
            </a:r>
          </a:p>
          <a:p>
            <a:r>
              <a:rPr lang="zh-CN" altLang="zh-CN" dirty="0"/>
              <a:t>请完成以下查询：</a:t>
            </a:r>
          </a:p>
          <a:p>
            <a:r>
              <a:rPr lang="zh-CN" altLang="zh-CN" dirty="0"/>
              <a:t>（</a:t>
            </a:r>
            <a:r>
              <a:rPr lang="en-US" altLang="zh-CN" dirty="0"/>
              <a:t>1</a:t>
            </a:r>
            <a:r>
              <a:rPr lang="zh-CN" altLang="zh-CN" dirty="0"/>
              <a:t>）查询所有商品的全部信息。</a:t>
            </a:r>
          </a:p>
          <a:p>
            <a:r>
              <a:rPr lang="zh-CN" altLang="zh-CN" dirty="0"/>
              <a:t>（</a:t>
            </a:r>
            <a:r>
              <a:rPr lang="en-US" altLang="zh-CN" dirty="0"/>
              <a:t>2</a:t>
            </a:r>
            <a:r>
              <a:rPr lang="zh-CN" altLang="zh-CN" dirty="0"/>
              <a:t>）查询客户“蓝天食品厂”所购的商品码和数量。</a:t>
            </a:r>
          </a:p>
          <a:p>
            <a:r>
              <a:rPr lang="zh-CN" altLang="zh-CN" dirty="0"/>
              <a:t>（</a:t>
            </a:r>
            <a:r>
              <a:rPr lang="en-US" altLang="zh-CN" dirty="0"/>
              <a:t>3</a:t>
            </a:r>
            <a:r>
              <a:rPr lang="zh-CN" altLang="zh-CN" dirty="0"/>
              <a:t>）查询客户‘</a:t>
            </a:r>
            <a:r>
              <a:rPr lang="en-US" altLang="zh-CN" dirty="0"/>
              <a:t>1616</a:t>
            </a:r>
            <a:r>
              <a:rPr lang="zh-CN" altLang="zh-CN" dirty="0"/>
              <a:t>’所购商品的库存数量。</a:t>
            </a:r>
          </a:p>
          <a:p>
            <a:r>
              <a:rPr lang="zh-CN" altLang="zh-CN" dirty="0"/>
              <a:t>（</a:t>
            </a:r>
            <a:r>
              <a:rPr lang="en-US" altLang="zh-CN" dirty="0"/>
              <a:t>4</a:t>
            </a:r>
            <a:r>
              <a:rPr lang="zh-CN" altLang="zh-CN" dirty="0"/>
              <a:t>）查询购买所有商品的客户名。</a:t>
            </a:r>
            <a:endParaRPr lang="zh-CN" altLang="en-US" dirty="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2E2C3954-2520-0E49-992E-822BDE5602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E5E69-9A6D-4AF8-BC2D-C556A9893D8F}" type="slidenum">
              <a:rPr lang="zh-CN" altLang="en-US" smtClean="0"/>
              <a:pPr/>
              <a:t>5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326947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79512" y="260648"/>
            <a:ext cx="8712968" cy="5976664"/>
          </a:xfrm>
        </p:spPr>
        <p:txBody>
          <a:bodyPr>
            <a:normAutofit fontScale="55000" lnSpcReduction="20000"/>
          </a:bodyPr>
          <a:lstStyle/>
          <a:p>
            <a:pPr>
              <a:lnSpc>
                <a:spcPts val="2800"/>
              </a:lnSpc>
            </a:pPr>
            <a:r>
              <a:rPr lang="en-US" altLang="zh-CN" dirty="0"/>
              <a:t>2.8 </a:t>
            </a:r>
            <a:r>
              <a:rPr lang="zh-CN" altLang="zh-CN" dirty="0"/>
              <a:t>已知运输公司数据库的关系如下：</a:t>
            </a:r>
          </a:p>
          <a:p>
            <a:pPr>
              <a:lnSpc>
                <a:spcPts val="2800"/>
              </a:lnSpc>
            </a:pPr>
            <a:r>
              <a:rPr lang="en-US" altLang="zh-CN" dirty="0"/>
              <a:t>Team</a:t>
            </a:r>
            <a:r>
              <a:rPr lang="zh-CN" altLang="zh-CN" dirty="0"/>
              <a:t>（</a:t>
            </a:r>
            <a:r>
              <a:rPr lang="en-US" altLang="zh-CN" dirty="0" err="1"/>
              <a:t>TNo</a:t>
            </a:r>
            <a:r>
              <a:rPr lang="zh-CN" altLang="zh-CN" dirty="0"/>
              <a:t>，</a:t>
            </a:r>
            <a:r>
              <a:rPr lang="en-US" altLang="zh-CN" dirty="0" err="1"/>
              <a:t>TName</a:t>
            </a:r>
            <a:r>
              <a:rPr lang="zh-CN" altLang="zh-CN" dirty="0"/>
              <a:t>，</a:t>
            </a:r>
            <a:r>
              <a:rPr lang="en-US" altLang="zh-CN" dirty="0"/>
              <a:t>Phone</a:t>
            </a:r>
            <a:r>
              <a:rPr lang="zh-CN" altLang="zh-CN" dirty="0"/>
              <a:t>）</a:t>
            </a:r>
          </a:p>
          <a:p>
            <a:pPr>
              <a:lnSpc>
                <a:spcPts val="2800"/>
              </a:lnSpc>
            </a:pPr>
            <a:r>
              <a:rPr lang="en-US" altLang="zh-CN" dirty="0"/>
              <a:t>Car</a:t>
            </a:r>
            <a:r>
              <a:rPr lang="zh-CN" altLang="zh-CN" dirty="0"/>
              <a:t>（</a:t>
            </a:r>
            <a:r>
              <a:rPr lang="en-US" altLang="zh-CN" dirty="0" err="1"/>
              <a:t>CNo</a:t>
            </a:r>
            <a:r>
              <a:rPr lang="zh-CN" altLang="zh-CN" dirty="0"/>
              <a:t>，</a:t>
            </a:r>
            <a:r>
              <a:rPr lang="en-US" altLang="zh-CN" dirty="0"/>
              <a:t>Company</a:t>
            </a:r>
            <a:r>
              <a:rPr lang="zh-CN" altLang="zh-CN" dirty="0"/>
              <a:t>，</a:t>
            </a:r>
            <a:r>
              <a:rPr lang="en-US" altLang="zh-CN" dirty="0" err="1"/>
              <a:t>CDate</a:t>
            </a:r>
            <a:r>
              <a:rPr lang="zh-CN" altLang="zh-CN" dirty="0"/>
              <a:t>，</a:t>
            </a:r>
            <a:r>
              <a:rPr lang="en-US" altLang="zh-CN" dirty="0" err="1"/>
              <a:t>TNo</a:t>
            </a:r>
            <a:r>
              <a:rPr lang="zh-CN" altLang="zh-CN" dirty="0"/>
              <a:t>）</a:t>
            </a:r>
          </a:p>
          <a:p>
            <a:pPr>
              <a:lnSpc>
                <a:spcPts val="2800"/>
              </a:lnSpc>
            </a:pPr>
            <a:r>
              <a:rPr lang="en-US" altLang="zh-CN" dirty="0"/>
              <a:t>Driver</a:t>
            </a:r>
            <a:r>
              <a:rPr lang="zh-CN" altLang="zh-CN" dirty="0"/>
              <a:t>（</a:t>
            </a:r>
            <a:r>
              <a:rPr lang="en-US" altLang="zh-CN" dirty="0" err="1"/>
              <a:t>DNo</a:t>
            </a:r>
            <a:r>
              <a:rPr lang="zh-CN" altLang="zh-CN" dirty="0"/>
              <a:t>，</a:t>
            </a:r>
            <a:r>
              <a:rPr lang="en-US" altLang="zh-CN" dirty="0" err="1"/>
              <a:t>DName</a:t>
            </a:r>
            <a:r>
              <a:rPr lang="zh-CN" altLang="zh-CN" dirty="0"/>
              <a:t>，</a:t>
            </a:r>
            <a:r>
              <a:rPr lang="en-US" altLang="zh-CN" dirty="0"/>
              <a:t>Phone</a:t>
            </a:r>
            <a:r>
              <a:rPr lang="zh-CN" altLang="zh-CN" dirty="0"/>
              <a:t>，</a:t>
            </a:r>
            <a:r>
              <a:rPr lang="en-US" altLang="zh-CN" dirty="0" err="1"/>
              <a:t>TNo</a:t>
            </a:r>
            <a:r>
              <a:rPr lang="zh-CN" altLang="zh-CN" dirty="0"/>
              <a:t>，</a:t>
            </a:r>
            <a:r>
              <a:rPr lang="en-US" altLang="zh-CN" dirty="0" err="1"/>
              <a:t>WDate</a:t>
            </a:r>
            <a:r>
              <a:rPr lang="zh-CN" altLang="zh-CN" dirty="0"/>
              <a:t>）</a:t>
            </a:r>
          </a:p>
          <a:p>
            <a:pPr>
              <a:lnSpc>
                <a:spcPts val="2800"/>
              </a:lnSpc>
            </a:pPr>
            <a:r>
              <a:rPr lang="en-US" altLang="zh-CN" dirty="0"/>
              <a:t>Team-</a:t>
            </a:r>
            <a:r>
              <a:rPr lang="zh-CN" altLang="zh-CN" dirty="0"/>
              <a:t>车队：</a:t>
            </a:r>
            <a:r>
              <a:rPr lang="en-US" altLang="zh-CN" dirty="0" err="1"/>
              <a:t>TNo</a:t>
            </a:r>
            <a:r>
              <a:rPr lang="en-US" altLang="zh-CN" dirty="0"/>
              <a:t>-</a:t>
            </a:r>
            <a:r>
              <a:rPr lang="zh-CN" altLang="zh-CN" dirty="0"/>
              <a:t>车队编号；</a:t>
            </a:r>
            <a:r>
              <a:rPr lang="en-US" altLang="zh-CN" dirty="0" err="1"/>
              <a:t>TName</a:t>
            </a:r>
            <a:r>
              <a:rPr lang="en-US" altLang="zh-CN" dirty="0"/>
              <a:t>-</a:t>
            </a:r>
            <a:r>
              <a:rPr lang="zh-CN" altLang="zh-CN" dirty="0"/>
              <a:t>车队名称；</a:t>
            </a:r>
            <a:r>
              <a:rPr lang="en-US" altLang="zh-CN" dirty="0"/>
              <a:t>Phone-</a:t>
            </a:r>
            <a:r>
              <a:rPr lang="zh-CN" altLang="zh-CN" dirty="0"/>
              <a:t>电话</a:t>
            </a:r>
          </a:p>
          <a:p>
            <a:pPr>
              <a:lnSpc>
                <a:spcPts val="2800"/>
              </a:lnSpc>
            </a:pPr>
            <a:r>
              <a:rPr lang="en-US" altLang="zh-CN" dirty="0"/>
              <a:t>Car-</a:t>
            </a:r>
            <a:r>
              <a:rPr lang="zh-CN" altLang="zh-CN" dirty="0"/>
              <a:t>车辆：</a:t>
            </a:r>
            <a:r>
              <a:rPr lang="en-US" altLang="zh-CN" dirty="0" err="1"/>
              <a:t>CNo</a:t>
            </a:r>
            <a:r>
              <a:rPr lang="en-US" altLang="zh-CN" dirty="0"/>
              <a:t>-</a:t>
            </a:r>
            <a:r>
              <a:rPr lang="zh-CN" altLang="zh-CN" dirty="0"/>
              <a:t>车辆编号；</a:t>
            </a:r>
            <a:r>
              <a:rPr lang="en-US" altLang="zh-CN" dirty="0"/>
              <a:t>Company-</a:t>
            </a:r>
            <a:r>
              <a:rPr lang="zh-CN" altLang="zh-CN" dirty="0"/>
              <a:t>生产厂家；</a:t>
            </a:r>
            <a:r>
              <a:rPr lang="en-US" altLang="zh-CN" dirty="0" err="1"/>
              <a:t>CDate</a:t>
            </a:r>
            <a:r>
              <a:rPr lang="en-US" altLang="zh-CN" dirty="0"/>
              <a:t>-</a:t>
            </a:r>
            <a:r>
              <a:rPr lang="zh-CN" altLang="zh-CN" dirty="0"/>
              <a:t>出厂日期</a:t>
            </a:r>
          </a:p>
          <a:p>
            <a:pPr>
              <a:lnSpc>
                <a:spcPts val="2800"/>
              </a:lnSpc>
            </a:pPr>
            <a:r>
              <a:rPr lang="en-US" altLang="zh-CN" dirty="0"/>
              <a:t>Driver-</a:t>
            </a:r>
            <a:r>
              <a:rPr lang="zh-CN" altLang="zh-CN" dirty="0"/>
              <a:t>司机：</a:t>
            </a:r>
            <a:r>
              <a:rPr lang="en-US" altLang="zh-CN" dirty="0" err="1"/>
              <a:t>DNo</a:t>
            </a:r>
            <a:r>
              <a:rPr lang="en-US" altLang="zh-CN" dirty="0"/>
              <a:t>-</a:t>
            </a:r>
            <a:r>
              <a:rPr lang="zh-CN" altLang="zh-CN" dirty="0"/>
              <a:t>司机编号；</a:t>
            </a:r>
            <a:r>
              <a:rPr lang="en-US" altLang="zh-CN" dirty="0" err="1"/>
              <a:t>DName</a:t>
            </a:r>
            <a:r>
              <a:rPr lang="en-US" altLang="zh-CN" dirty="0"/>
              <a:t>-</a:t>
            </a:r>
            <a:r>
              <a:rPr lang="zh-CN" altLang="zh-CN" dirty="0"/>
              <a:t>姓名；</a:t>
            </a:r>
            <a:r>
              <a:rPr lang="en-US" altLang="zh-CN" dirty="0"/>
              <a:t>Phone-</a:t>
            </a:r>
            <a:r>
              <a:rPr lang="zh-CN" altLang="zh-CN" dirty="0"/>
              <a:t>电话；</a:t>
            </a:r>
            <a:r>
              <a:rPr lang="en-US" altLang="zh-CN" dirty="0" err="1"/>
              <a:t>WDate</a:t>
            </a:r>
            <a:r>
              <a:rPr lang="en-US" altLang="zh-CN" dirty="0"/>
              <a:t>-</a:t>
            </a:r>
            <a:r>
              <a:rPr lang="zh-CN" altLang="zh-CN" dirty="0"/>
              <a:t>聘期</a:t>
            </a:r>
          </a:p>
          <a:p>
            <a:pPr>
              <a:lnSpc>
                <a:spcPts val="2800"/>
              </a:lnSpc>
            </a:pPr>
            <a:r>
              <a:rPr lang="zh-CN" altLang="zh-CN" dirty="0"/>
              <a:t>请完成如下查询：</a:t>
            </a:r>
          </a:p>
          <a:p>
            <a:pPr>
              <a:lnSpc>
                <a:spcPts val="2800"/>
              </a:lnSpc>
            </a:pPr>
            <a:r>
              <a:rPr lang="zh-CN" altLang="zh-CN" dirty="0"/>
              <a:t>（</a:t>
            </a:r>
            <a:r>
              <a:rPr lang="en-US" altLang="zh-CN" dirty="0"/>
              <a:t>1</a:t>
            </a:r>
            <a:r>
              <a:rPr lang="zh-CN" altLang="zh-CN" dirty="0"/>
              <a:t>）查询生产厂家是“金龙公司”的车辆信息，显示数据为</a:t>
            </a:r>
            <a:r>
              <a:rPr lang="en-US" altLang="zh-CN" dirty="0" err="1"/>
              <a:t>CNo</a:t>
            </a:r>
            <a:r>
              <a:rPr lang="zh-CN" altLang="zh-CN" dirty="0"/>
              <a:t>，</a:t>
            </a:r>
            <a:r>
              <a:rPr lang="en-US" altLang="zh-CN" dirty="0"/>
              <a:t>Company</a:t>
            </a:r>
            <a:r>
              <a:rPr lang="zh-CN" altLang="zh-CN" dirty="0"/>
              <a:t>，</a:t>
            </a:r>
            <a:r>
              <a:rPr lang="en-US" altLang="zh-CN" dirty="0" err="1"/>
              <a:t>CDate</a:t>
            </a:r>
            <a:r>
              <a:rPr lang="zh-CN" altLang="zh-CN" dirty="0"/>
              <a:t>，</a:t>
            </a:r>
            <a:r>
              <a:rPr lang="en-US" altLang="zh-CN" dirty="0" err="1"/>
              <a:t>TNo</a:t>
            </a:r>
            <a:r>
              <a:rPr lang="zh-CN" altLang="zh-CN" dirty="0"/>
              <a:t>。</a:t>
            </a:r>
          </a:p>
          <a:p>
            <a:pPr>
              <a:lnSpc>
                <a:spcPts val="2800"/>
              </a:lnSpc>
            </a:pPr>
            <a:r>
              <a:rPr lang="zh-CN" altLang="zh-CN" dirty="0"/>
              <a:t>（</a:t>
            </a:r>
            <a:r>
              <a:rPr lang="en-US" altLang="zh-CN" dirty="0"/>
              <a:t>2</a:t>
            </a:r>
            <a:r>
              <a:rPr lang="zh-CN" altLang="zh-CN" dirty="0"/>
              <a:t>）查询李明司机的名称、电话和聘期，显示数据为</a:t>
            </a:r>
            <a:r>
              <a:rPr lang="en-US" altLang="zh-CN" dirty="0" err="1"/>
              <a:t>DName</a:t>
            </a:r>
            <a:r>
              <a:rPr lang="zh-CN" altLang="zh-CN" dirty="0"/>
              <a:t>，</a:t>
            </a:r>
            <a:r>
              <a:rPr lang="en-US" altLang="zh-CN" dirty="0"/>
              <a:t>Phone</a:t>
            </a:r>
            <a:r>
              <a:rPr lang="zh-CN" altLang="zh-CN" dirty="0"/>
              <a:t>，和</a:t>
            </a:r>
            <a:r>
              <a:rPr lang="en-US" altLang="zh-CN" dirty="0" err="1"/>
              <a:t>WDate</a:t>
            </a:r>
            <a:r>
              <a:rPr lang="zh-CN" altLang="zh-CN" dirty="0"/>
              <a:t>。其中：</a:t>
            </a:r>
            <a:r>
              <a:rPr lang="en-US" altLang="zh-CN" dirty="0"/>
              <a:t>Phone</a:t>
            </a:r>
            <a:r>
              <a:rPr lang="zh-CN" altLang="zh-CN" dirty="0"/>
              <a:t>为司机的电话。</a:t>
            </a:r>
          </a:p>
          <a:p>
            <a:pPr>
              <a:lnSpc>
                <a:spcPts val="2800"/>
              </a:lnSpc>
            </a:pPr>
            <a:r>
              <a:rPr lang="zh-CN" altLang="zh-CN" dirty="0"/>
              <a:t>（</a:t>
            </a:r>
            <a:r>
              <a:rPr lang="en-US" altLang="zh-CN" dirty="0"/>
              <a:t>3</a:t>
            </a:r>
            <a:r>
              <a:rPr lang="zh-CN" altLang="zh-CN" dirty="0"/>
              <a:t>）查询车队编号为“</a:t>
            </a:r>
            <a:r>
              <a:rPr lang="en-US" altLang="zh-CN" dirty="0"/>
              <a:t>01</a:t>
            </a:r>
            <a:r>
              <a:rPr lang="zh-CN" altLang="zh-CN" dirty="0"/>
              <a:t>”的车辆信息，显示数据为</a:t>
            </a:r>
            <a:r>
              <a:rPr lang="en-US" altLang="zh-CN" dirty="0" err="1"/>
              <a:t>TName</a:t>
            </a:r>
            <a:r>
              <a:rPr lang="zh-CN" altLang="zh-CN" dirty="0"/>
              <a:t>，</a:t>
            </a:r>
            <a:r>
              <a:rPr lang="en-US" altLang="zh-CN" dirty="0"/>
              <a:t>Phone</a:t>
            </a:r>
            <a:r>
              <a:rPr lang="zh-CN" altLang="zh-CN" dirty="0"/>
              <a:t>，</a:t>
            </a:r>
            <a:r>
              <a:rPr lang="en-US" altLang="zh-CN" dirty="0" err="1"/>
              <a:t>CNo</a:t>
            </a:r>
            <a:r>
              <a:rPr lang="zh-CN" altLang="zh-CN" dirty="0"/>
              <a:t>，</a:t>
            </a:r>
            <a:r>
              <a:rPr lang="en-US" altLang="zh-CN" dirty="0"/>
              <a:t>Company</a:t>
            </a:r>
            <a:r>
              <a:rPr lang="zh-CN" altLang="zh-CN" dirty="0"/>
              <a:t>和</a:t>
            </a:r>
            <a:r>
              <a:rPr lang="en-US" altLang="zh-CN" dirty="0" err="1"/>
              <a:t>CDate</a:t>
            </a:r>
            <a:r>
              <a:rPr lang="zh-CN" altLang="zh-CN" dirty="0"/>
              <a:t>。其中：</a:t>
            </a:r>
            <a:r>
              <a:rPr lang="en-US" altLang="zh-CN" dirty="0"/>
              <a:t>Phone</a:t>
            </a:r>
            <a:r>
              <a:rPr lang="zh-CN" altLang="zh-CN" dirty="0"/>
              <a:t>为车队的电话。</a:t>
            </a:r>
          </a:p>
          <a:p>
            <a:pPr>
              <a:lnSpc>
                <a:spcPts val="2800"/>
              </a:lnSpc>
            </a:pPr>
            <a:r>
              <a:rPr lang="zh-CN" altLang="zh-CN" dirty="0"/>
              <a:t>（</a:t>
            </a:r>
            <a:r>
              <a:rPr lang="en-US" altLang="zh-CN" dirty="0"/>
              <a:t>4</a:t>
            </a:r>
            <a:r>
              <a:rPr lang="zh-CN" altLang="zh-CN" dirty="0"/>
              <a:t>）查询车队名称为“翔龙车队”的司机信息，显示数据为</a:t>
            </a:r>
            <a:r>
              <a:rPr lang="en-US" altLang="zh-CN" dirty="0" err="1"/>
              <a:t>TName</a:t>
            </a:r>
            <a:r>
              <a:rPr lang="zh-CN" altLang="zh-CN" dirty="0"/>
              <a:t>，</a:t>
            </a:r>
            <a:r>
              <a:rPr lang="en-US" altLang="zh-CN" dirty="0"/>
              <a:t> Phone</a:t>
            </a:r>
            <a:r>
              <a:rPr lang="zh-CN" altLang="zh-CN" dirty="0"/>
              <a:t>（该电话为车队电话，</a:t>
            </a:r>
            <a:r>
              <a:rPr lang="en-US" altLang="zh-CN" dirty="0" err="1"/>
              <a:t>DName</a:t>
            </a:r>
            <a:r>
              <a:rPr lang="zh-CN" altLang="zh-CN" dirty="0"/>
              <a:t>和</a:t>
            </a:r>
            <a:r>
              <a:rPr lang="en-US" altLang="zh-CN" dirty="0"/>
              <a:t>Phone</a:t>
            </a:r>
            <a:r>
              <a:rPr lang="zh-CN" altLang="zh-CN" dirty="0"/>
              <a:t>（该电话为司机电话）。</a:t>
            </a:r>
          </a:p>
          <a:p>
            <a:pPr>
              <a:lnSpc>
                <a:spcPts val="2800"/>
              </a:lnSpc>
            </a:pPr>
            <a:r>
              <a:rPr lang="zh-CN" altLang="zh-CN" dirty="0"/>
              <a:t>（</a:t>
            </a:r>
            <a:r>
              <a:rPr lang="en-US" altLang="zh-CN" dirty="0"/>
              <a:t>5</a:t>
            </a:r>
            <a:r>
              <a:rPr lang="zh-CN" altLang="zh-CN" dirty="0"/>
              <a:t>）查询运输公司车队、车辆和司机的信息清单，显示数据为</a:t>
            </a:r>
            <a:r>
              <a:rPr lang="en-US" altLang="zh-CN" dirty="0" err="1"/>
              <a:t>TName</a:t>
            </a:r>
            <a:r>
              <a:rPr lang="zh-CN" altLang="zh-CN" dirty="0"/>
              <a:t>，</a:t>
            </a:r>
            <a:r>
              <a:rPr lang="en-US" altLang="zh-CN" dirty="0"/>
              <a:t>Phone</a:t>
            </a:r>
            <a:r>
              <a:rPr lang="zh-CN" altLang="zh-CN" dirty="0"/>
              <a:t>（该电话为车队电话，</a:t>
            </a:r>
            <a:r>
              <a:rPr lang="en-US" altLang="zh-CN" dirty="0" err="1"/>
              <a:t>CNo</a:t>
            </a:r>
            <a:r>
              <a:rPr lang="zh-CN" altLang="zh-CN" dirty="0"/>
              <a:t>，</a:t>
            </a:r>
            <a:r>
              <a:rPr lang="en-US" altLang="zh-CN" dirty="0"/>
              <a:t>Company</a:t>
            </a:r>
            <a:r>
              <a:rPr lang="zh-CN" altLang="zh-CN" dirty="0"/>
              <a:t>，</a:t>
            </a:r>
            <a:r>
              <a:rPr lang="en-US" altLang="zh-CN" dirty="0" err="1"/>
              <a:t>CDate</a:t>
            </a:r>
            <a:r>
              <a:rPr lang="zh-CN" altLang="zh-CN" dirty="0"/>
              <a:t>，</a:t>
            </a:r>
            <a:r>
              <a:rPr lang="en-US" altLang="zh-CN" dirty="0" err="1"/>
              <a:t>DName</a:t>
            </a:r>
            <a:r>
              <a:rPr lang="zh-CN" altLang="zh-CN" dirty="0"/>
              <a:t>，</a:t>
            </a:r>
            <a:r>
              <a:rPr lang="en-US" altLang="zh-CN" dirty="0"/>
              <a:t>Phone</a:t>
            </a:r>
            <a:r>
              <a:rPr lang="zh-CN" altLang="zh-CN" dirty="0"/>
              <a:t>（该电话为司机电话）和</a:t>
            </a:r>
            <a:r>
              <a:rPr lang="en-US" altLang="zh-CN" dirty="0" err="1"/>
              <a:t>WDate</a:t>
            </a:r>
            <a:r>
              <a:rPr lang="zh-CN" altLang="zh-CN" dirty="0"/>
              <a:t>。</a:t>
            </a:r>
            <a:endParaRPr lang="zh-CN" altLang="en-US" dirty="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42D4B668-7CF2-A74C-A237-8C2ED003F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E5E69-9A6D-4AF8-BC2D-C556A9893D8F}" type="slidenum">
              <a:rPr lang="zh-CN" altLang="en-US" smtClean="0"/>
              <a:pPr/>
              <a:t>6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288080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79512" y="260648"/>
            <a:ext cx="8712968" cy="597666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dirty="0"/>
              <a:t>2.9 </a:t>
            </a:r>
            <a:r>
              <a:rPr lang="zh-CN" altLang="zh-CN" dirty="0"/>
              <a:t>已知学籍管理数据库的关系如下：</a:t>
            </a:r>
          </a:p>
          <a:p>
            <a:pPr marL="0" indent="0">
              <a:buNone/>
            </a:pPr>
            <a:r>
              <a:rPr lang="zh-CN" altLang="zh-CN" dirty="0"/>
              <a:t>学生</a:t>
            </a:r>
            <a:r>
              <a:rPr lang="en-US" altLang="zh-CN" dirty="0"/>
              <a:t>S</a:t>
            </a:r>
            <a:r>
              <a:rPr lang="zh-CN" altLang="zh-CN" dirty="0"/>
              <a:t>（学号</a:t>
            </a:r>
            <a:r>
              <a:rPr lang="en-US" altLang="zh-CN" dirty="0" err="1"/>
              <a:t>SNo</a:t>
            </a:r>
            <a:r>
              <a:rPr lang="zh-CN" altLang="zh-CN" dirty="0"/>
              <a:t>，姓名</a:t>
            </a:r>
            <a:r>
              <a:rPr lang="en-US" altLang="zh-CN" dirty="0" err="1"/>
              <a:t>SName</a:t>
            </a:r>
            <a:r>
              <a:rPr lang="zh-CN" altLang="zh-CN" dirty="0"/>
              <a:t>，性别</a:t>
            </a:r>
            <a:r>
              <a:rPr lang="en-US" altLang="zh-CN" dirty="0" err="1"/>
              <a:t>SSex</a:t>
            </a:r>
            <a:r>
              <a:rPr lang="zh-CN" altLang="zh-CN" dirty="0"/>
              <a:t>，年龄</a:t>
            </a:r>
            <a:r>
              <a:rPr lang="en-US" altLang="zh-CN" dirty="0" err="1"/>
              <a:t>SAge</a:t>
            </a:r>
            <a:r>
              <a:rPr lang="zh-CN" altLang="zh-CN" dirty="0"/>
              <a:t>，班级</a:t>
            </a:r>
            <a:r>
              <a:rPr lang="en-US" altLang="zh-CN" dirty="0"/>
              <a:t>Class</a:t>
            </a:r>
            <a:r>
              <a:rPr lang="zh-CN" altLang="zh-CN" dirty="0"/>
              <a:t>，学院</a:t>
            </a:r>
            <a:r>
              <a:rPr lang="en-US" altLang="zh-CN" dirty="0" err="1"/>
              <a:t>Coll</a:t>
            </a:r>
            <a:r>
              <a:rPr lang="zh-CN" altLang="zh-CN" dirty="0"/>
              <a:t>）</a:t>
            </a:r>
          </a:p>
          <a:p>
            <a:pPr marL="0" indent="0">
              <a:buNone/>
            </a:pPr>
            <a:r>
              <a:rPr lang="zh-CN" altLang="zh-CN" dirty="0"/>
              <a:t>课程</a:t>
            </a:r>
            <a:r>
              <a:rPr lang="en-US" altLang="zh-CN" dirty="0"/>
              <a:t>C</a:t>
            </a:r>
            <a:r>
              <a:rPr lang="zh-CN" altLang="zh-CN" dirty="0"/>
              <a:t>（课程号</a:t>
            </a:r>
            <a:r>
              <a:rPr lang="en-US" altLang="zh-CN" dirty="0" err="1"/>
              <a:t>CNo</a:t>
            </a:r>
            <a:r>
              <a:rPr lang="zh-CN" altLang="zh-CN" dirty="0"/>
              <a:t>，课程名</a:t>
            </a:r>
            <a:r>
              <a:rPr lang="en-US" altLang="zh-CN" dirty="0" err="1"/>
              <a:t>CName</a:t>
            </a:r>
            <a:r>
              <a:rPr lang="zh-CN" altLang="zh-CN" dirty="0"/>
              <a:t>，选修课</a:t>
            </a:r>
            <a:r>
              <a:rPr lang="en-US" altLang="zh-CN" dirty="0" err="1"/>
              <a:t>CPNo</a:t>
            </a:r>
            <a:r>
              <a:rPr lang="zh-CN" altLang="zh-CN" dirty="0"/>
              <a:t>，学分</a:t>
            </a:r>
            <a:r>
              <a:rPr lang="en-US" altLang="zh-CN" dirty="0"/>
              <a:t>Credit</a:t>
            </a:r>
            <a:r>
              <a:rPr lang="zh-CN" altLang="zh-CN" dirty="0"/>
              <a:t>）</a:t>
            </a:r>
          </a:p>
          <a:p>
            <a:pPr marL="0" indent="0">
              <a:buNone/>
            </a:pPr>
            <a:r>
              <a:rPr lang="zh-CN" altLang="zh-CN" dirty="0"/>
              <a:t>选课</a:t>
            </a:r>
            <a:r>
              <a:rPr lang="en-US" altLang="zh-CN" dirty="0"/>
              <a:t>SC</a:t>
            </a:r>
            <a:r>
              <a:rPr lang="zh-CN" altLang="zh-CN" dirty="0"/>
              <a:t>（学号</a:t>
            </a:r>
            <a:r>
              <a:rPr lang="en-US" altLang="zh-CN" dirty="0" err="1"/>
              <a:t>SNo</a:t>
            </a:r>
            <a:r>
              <a:rPr lang="zh-CN" altLang="zh-CN" dirty="0"/>
              <a:t>，课程号</a:t>
            </a:r>
            <a:r>
              <a:rPr lang="en-US" altLang="zh-CN" dirty="0" err="1"/>
              <a:t>CNo</a:t>
            </a:r>
            <a:r>
              <a:rPr lang="zh-CN" altLang="zh-CN" dirty="0"/>
              <a:t>，成绩</a:t>
            </a:r>
            <a:r>
              <a:rPr lang="en-US" altLang="zh-CN" dirty="0"/>
              <a:t>Grade</a:t>
            </a:r>
            <a:r>
              <a:rPr lang="zh-CN" altLang="zh-CN" dirty="0"/>
              <a:t>）</a:t>
            </a:r>
          </a:p>
          <a:p>
            <a:pPr marL="0" indent="0">
              <a:buNone/>
            </a:pPr>
            <a:r>
              <a:rPr lang="zh-CN" altLang="zh-CN" dirty="0"/>
              <a:t>请完成如下任务：</a:t>
            </a:r>
          </a:p>
          <a:p>
            <a:pPr marL="0" indent="0">
              <a:buNone/>
            </a:pPr>
            <a:r>
              <a:rPr lang="zh-CN" altLang="zh-CN" dirty="0"/>
              <a:t>（</a:t>
            </a:r>
            <a:r>
              <a:rPr lang="en-US" altLang="zh-CN" dirty="0"/>
              <a:t>1</a:t>
            </a:r>
            <a:r>
              <a:rPr lang="zh-CN" altLang="zh-CN" dirty="0"/>
              <a:t>）查询男生的基本信息。</a:t>
            </a:r>
          </a:p>
          <a:p>
            <a:pPr marL="0" indent="0">
              <a:buNone/>
            </a:pPr>
            <a:r>
              <a:rPr lang="zh-CN" altLang="zh-CN" dirty="0"/>
              <a:t>（</a:t>
            </a:r>
            <a:r>
              <a:rPr lang="en-US" altLang="zh-CN" dirty="0"/>
              <a:t>2</a:t>
            </a:r>
            <a:r>
              <a:rPr lang="zh-CN" altLang="zh-CN" dirty="0"/>
              <a:t>）查询学生的姓名、年龄和班级。</a:t>
            </a:r>
          </a:p>
          <a:p>
            <a:pPr marL="0" indent="0">
              <a:buNone/>
            </a:pPr>
            <a:r>
              <a:rPr lang="zh-CN" altLang="zh-CN" dirty="0"/>
              <a:t>（</a:t>
            </a:r>
            <a:r>
              <a:rPr lang="en-US" altLang="zh-CN" dirty="0"/>
              <a:t>3</a:t>
            </a:r>
            <a:r>
              <a:rPr lang="zh-CN" altLang="zh-CN" dirty="0"/>
              <a:t>）查询物流</a:t>
            </a:r>
            <a:r>
              <a:rPr lang="en-US" altLang="zh-CN" dirty="0"/>
              <a:t>1602</a:t>
            </a:r>
            <a:r>
              <a:rPr lang="zh-CN" altLang="zh-CN" dirty="0"/>
              <a:t>班的学生的学号。</a:t>
            </a:r>
          </a:p>
          <a:p>
            <a:pPr marL="0" indent="0">
              <a:buNone/>
            </a:pPr>
            <a:r>
              <a:rPr lang="zh-CN" altLang="zh-CN" dirty="0"/>
              <a:t>（</a:t>
            </a:r>
            <a:r>
              <a:rPr lang="en-US" altLang="zh-CN" dirty="0"/>
              <a:t>4</a:t>
            </a:r>
            <a:r>
              <a:rPr lang="zh-CN" altLang="zh-CN" dirty="0"/>
              <a:t>）查询选修英语的学生的姓名。</a:t>
            </a:r>
          </a:p>
          <a:p>
            <a:pPr marL="0" indent="0">
              <a:buNone/>
            </a:pPr>
            <a:r>
              <a:rPr lang="zh-CN" altLang="zh-CN" dirty="0"/>
              <a:t>（</a:t>
            </a:r>
            <a:r>
              <a:rPr lang="en-US" altLang="zh-CN" dirty="0"/>
              <a:t>5</a:t>
            </a:r>
            <a:r>
              <a:rPr lang="zh-CN" altLang="zh-CN" dirty="0"/>
              <a:t>）查询选修所有课程的学生的学号和姓名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2F2438F9-2ED6-F443-B3E0-3052AF676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E5E69-9A6D-4AF8-BC2D-C556A9893D8F}" type="slidenum">
              <a:rPr lang="zh-CN" altLang="en-US" smtClean="0"/>
              <a:pPr/>
              <a:t>7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209053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79512" y="260648"/>
            <a:ext cx="8712968" cy="597666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zh-CN" dirty="0"/>
              <a:t>（</a:t>
            </a:r>
            <a:r>
              <a:rPr lang="en-US" altLang="zh-CN" dirty="0"/>
              <a:t>6</a:t>
            </a:r>
            <a:r>
              <a:rPr lang="zh-CN" altLang="zh-CN" dirty="0"/>
              <a:t>）把学号、课程号和成绩分别为</a:t>
            </a:r>
            <a:r>
              <a:rPr lang="en-US" altLang="zh-CN" dirty="0"/>
              <a:t>2016010201</a:t>
            </a:r>
            <a:r>
              <a:rPr lang="zh-CN" altLang="zh-CN" dirty="0"/>
              <a:t>、</a:t>
            </a:r>
            <a:r>
              <a:rPr lang="en-US" altLang="zh-CN" dirty="0"/>
              <a:t>020102</a:t>
            </a:r>
            <a:r>
              <a:rPr lang="zh-CN" altLang="zh-CN" dirty="0"/>
              <a:t>和</a:t>
            </a:r>
            <a:r>
              <a:rPr lang="en-US" altLang="zh-CN" dirty="0"/>
              <a:t>96</a:t>
            </a:r>
            <a:r>
              <a:rPr lang="zh-CN" altLang="zh-CN" dirty="0"/>
              <a:t>的元组添加到选课</a:t>
            </a:r>
            <a:r>
              <a:rPr lang="en-US" altLang="zh-CN" dirty="0"/>
              <a:t>SC</a:t>
            </a:r>
            <a:r>
              <a:rPr lang="zh-CN" altLang="zh-CN" dirty="0"/>
              <a:t>。</a:t>
            </a:r>
          </a:p>
          <a:p>
            <a:pPr marL="0" indent="0">
              <a:buNone/>
            </a:pPr>
            <a:r>
              <a:rPr lang="zh-CN" altLang="zh-CN" dirty="0"/>
              <a:t>（</a:t>
            </a:r>
            <a:r>
              <a:rPr lang="en-US" altLang="zh-CN" dirty="0"/>
              <a:t>7</a:t>
            </a:r>
            <a:r>
              <a:rPr lang="zh-CN" altLang="zh-CN" dirty="0"/>
              <a:t>）在选课</a:t>
            </a:r>
            <a:r>
              <a:rPr lang="en-US" altLang="zh-CN" dirty="0"/>
              <a:t>SC</a:t>
            </a:r>
            <a:r>
              <a:rPr lang="zh-CN" altLang="zh-CN" dirty="0"/>
              <a:t>中，删除学号为“</a:t>
            </a:r>
            <a:r>
              <a:rPr lang="en-US" altLang="zh-CN" dirty="0"/>
              <a:t>2016010201</a:t>
            </a:r>
            <a:r>
              <a:rPr lang="zh-CN" altLang="zh-CN" dirty="0"/>
              <a:t>”、选修课为“网球”的元组。</a:t>
            </a:r>
          </a:p>
          <a:p>
            <a:pPr marL="0" indent="0">
              <a:buNone/>
            </a:pPr>
            <a:r>
              <a:rPr lang="zh-CN" altLang="zh-CN" dirty="0"/>
              <a:t>（</a:t>
            </a:r>
            <a:r>
              <a:rPr lang="en-US" altLang="zh-CN" dirty="0"/>
              <a:t>8</a:t>
            </a:r>
            <a:r>
              <a:rPr lang="zh-CN" altLang="zh-CN" dirty="0"/>
              <a:t>）查询“信息学院”的学生信息。</a:t>
            </a:r>
          </a:p>
          <a:p>
            <a:pPr marL="0" indent="0">
              <a:buNone/>
            </a:pPr>
            <a:r>
              <a:rPr lang="zh-CN" altLang="zh-CN" dirty="0"/>
              <a:t>（</a:t>
            </a:r>
            <a:r>
              <a:rPr lang="en-US" altLang="zh-CN" dirty="0"/>
              <a:t>9</a:t>
            </a:r>
            <a:r>
              <a:rPr lang="zh-CN" altLang="zh-CN" dirty="0"/>
              <a:t>）查询“外语学院”，并且年龄小于等于</a:t>
            </a:r>
            <a:r>
              <a:rPr lang="en-US" altLang="zh-CN" dirty="0"/>
              <a:t>16</a:t>
            </a:r>
            <a:r>
              <a:rPr lang="zh-CN" altLang="zh-CN" dirty="0"/>
              <a:t>岁或者大于</a:t>
            </a:r>
            <a:r>
              <a:rPr lang="en-US" altLang="zh-CN" dirty="0"/>
              <a:t>22</a:t>
            </a:r>
            <a:r>
              <a:rPr lang="zh-CN" altLang="zh-CN" dirty="0"/>
              <a:t>岁的学生信息。</a:t>
            </a:r>
          </a:p>
          <a:p>
            <a:pPr marL="0" indent="0">
              <a:buNone/>
            </a:pPr>
            <a:r>
              <a:rPr lang="zh-CN" altLang="zh-CN" dirty="0"/>
              <a:t>（</a:t>
            </a:r>
            <a:r>
              <a:rPr lang="en-US" altLang="zh-CN" dirty="0"/>
              <a:t>10</a:t>
            </a:r>
            <a:r>
              <a:rPr lang="zh-CN" altLang="zh-CN" dirty="0"/>
              <a:t>）查询学生的姓名和所在学院。</a:t>
            </a:r>
          </a:p>
          <a:p>
            <a:pPr marL="0" indent="0">
              <a:buNone/>
            </a:pPr>
            <a:r>
              <a:rPr lang="zh-CN" altLang="zh-CN" dirty="0"/>
              <a:t>（</a:t>
            </a:r>
            <a:r>
              <a:rPr lang="en-US" altLang="zh-CN" dirty="0"/>
              <a:t>11</a:t>
            </a:r>
            <a:r>
              <a:rPr lang="zh-CN" altLang="zh-CN" dirty="0"/>
              <a:t>）查询“信息学院”的学生的学号和姓名。</a:t>
            </a:r>
          </a:p>
          <a:p>
            <a:pPr marL="0" indent="0">
              <a:buNone/>
            </a:pPr>
            <a:r>
              <a:rPr lang="zh-CN" altLang="zh-CN" dirty="0"/>
              <a:t>（</a:t>
            </a:r>
            <a:r>
              <a:rPr lang="en-US" altLang="zh-CN" dirty="0"/>
              <a:t>12</a:t>
            </a:r>
            <a:r>
              <a:rPr lang="zh-CN" altLang="zh-CN" dirty="0"/>
              <a:t>）查询“软件学院”，并且年龄小于等于</a:t>
            </a:r>
            <a:r>
              <a:rPr lang="en-US" altLang="zh-CN" dirty="0"/>
              <a:t>16</a:t>
            </a:r>
            <a:r>
              <a:rPr lang="zh-CN" altLang="zh-CN" dirty="0"/>
              <a:t>或者大于</a:t>
            </a:r>
            <a:r>
              <a:rPr lang="en-US" altLang="zh-CN" dirty="0"/>
              <a:t>22</a:t>
            </a:r>
            <a:r>
              <a:rPr lang="zh-CN" altLang="zh-CN" dirty="0"/>
              <a:t>岁的学生的姓名、性别和年龄。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419B56D9-1B86-5A49-A788-5C5D654FC0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E5E69-9A6D-4AF8-BC2D-C556A9893D8F}" type="slidenum">
              <a:rPr lang="zh-CN" altLang="en-US" smtClean="0"/>
              <a:pPr/>
              <a:t>8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510565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79512" y="260648"/>
            <a:ext cx="8712968" cy="5976664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zh-CN" altLang="zh-CN" dirty="0"/>
              <a:t>（</a:t>
            </a:r>
            <a:r>
              <a:rPr lang="en-US" altLang="zh-CN" dirty="0"/>
              <a:t>13</a:t>
            </a:r>
            <a:r>
              <a:rPr lang="zh-CN" altLang="zh-CN" dirty="0"/>
              <a:t>）查询选修了课程的学生的学号。</a:t>
            </a:r>
          </a:p>
          <a:p>
            <a:pPr marL="0" indent="0">
              <a:buNone/>
            </a:pPr>
            <a:r>
              <a:rPr lang="zh-CN" altLang="zh-CN" dirty="0"/>
              <a:t>（</a:t>
            </a:r>
            <a:r>
              <a:rPr lang="en-US" altLang="zh-CN" dirty="0"/>
              <a:t>14</a:t>
            </a:r>
            <a:r>
              <a:rPr lang="zh-CN" altLang="zh-CN" dirty="0"/>
              <a:t>）查询年龄在</a:t>
            </a:r>
            <a:r>
              <a:rPr lang="en-US" altLang="zh-CN" dirty="0"/>
              <a:t>19 </a:t>
            </a:r>
            <a:r>
              <a:rPr lang="zh-CN" altLang="zh-CN" dirty="0"/>
              <a:t>～</a:t>
            </a:r>
            <a:r>
              <a:rPr lang="en-US" altLang="zh-CN" dirty="0"/>
              <a:t> 22</a:t>
            </a:r>
            <a:r>
              <a:rPr lang="zh-CN" altLang="zh-CN" dirty="0"/>
              <a:t>岁（包括</a:t>
            </a:r>
            <a:r>
              <a:rPr lang="en-US" altLang="zh-CN" dirty="0"/>
              <a:t>19</a:t>
            </a:r>
            <a:r>
              <a:rPr lang="zh-CN" altLang="zh-CN" dirty="0"/>
              <a:t>岁和</a:t>
            </a:r>
            <a:r>
              <a:rPr lang="en-US" altLang="zh-CN" dirty="0"/>
              <a:t>22</a:t>
            </a:r>
            <a:r>
              <a:rPr lang="zh-CN" altLang="zh-CN" dirty="0"/>
              <a:t>岁）之间的学生的姓名、系别和年龄。</a:t>
            </a:r>
          </a:p>
          <a:p>
            <a:pPr marL="0" indent="0">
              <a:buNone/>
            </a:pPr>
            <a:r>
              <a:rPr lang="zh-CN" altLang="zh-CN" dirty="0"/>
              <a:t>（</a:t>
            </a:r>
            <a:r>
              <a:rPr lang="en-US" altLang="zh-CN" dirty="0"/>
              <a:t>15</a:t>
            </a:r>
            <a:r>
              <a:rPr lang="zh-CN" altLang="zh-CN" dirty="0"/>
              <a:t>）查询外语学院、数学学院和工商学院学生的姓名和性别。</a:t>
            </a:r>
          </a:p>
          <a:p>
            <a:pPr marL="0" indent="0">
              <a:buNone/>
            </a:pPr>
            <a:r>
              <a:rPr lang="zh-CN" altLang="zh-CN" dirty="0"/>
              <a:t>（</a:t>
            </a:r>
            <a:r>
              <a:rPr lang="en-US" altLang="zh-CN" dirty="0"/>
              <a:t>16</a:t>
            </a:r>
            <a:r>
              <a:rPr lang="zh-CN" altLang="zh-CN" dirty="0"/>
              <a:t>）查询至少选修了课程号分别为：</a:t>
            </a:r>
            <a:r>
              <a:rPr lang="en-US" altLang="zh-CN" dirty="0"/>
              <a:t>020101</a:t>
            </a:r>
            <a:r>
              <a:rPr lang="zh-CN" altLang="zh-CN" dirty="0"/>
              <a:t>、</a:t>
            </a:r>
            <a:r>
              <a:rPr lang="en-US" altLang="zh-CN" dirty="0"/>
              <a:t>030102</a:t>
            </a:r>
            <a:r>
              <a:rPr lang="zh-CN" altLang="zh-CN" dirty="0"/>
              <a:t>和</a:t>
            </a:r>
            <a:r>
              <a:rPr lang="en-US" altLang="zh-CN" dirty="0"/>
              <a:t>060206</a:t>
            </a:r>
            <a:r>
              <a:rPr lang="zh-CN" altLang="zh-CN" dirty="0"/>
              <a:t>三门课程的学生的学号。</a:t>
            </a:r>
          </a:p>
          <a:p>
            <a:pPr marL="0" indent="0">
              <a:buNone/>
            </a:pPr>
            <a:r>
              <a:rPr lang="zh-CN" altLang="zh-CN" dirty="0"/>
              <a:t>（</a:t>
            </a:r>
            <a:r>
              <a:rPr lang="en-US" altLang="zh-CN" dirty="0"/>
              <a:t>17</a:t>
            </a:r>
            <a:r>
              <a:rPr lang="zh-CN" altLang="zh-CN" dirty="0"/>
              <a:t>）查询选修课程号为</a:t>
            </a:r>
            <a:r>
              <a:rPr lang="en-US" altLang="zh-CN" dirty="0"/>
              <a:t>020101</a:t>
            </a:r>
            <a:r>
              <a:rPr lang="zh-CN" altLang="zh-CN" dirty="0"/>
              <a:t>或者</a:t>
            </a:r>
            <a:r>
              <a:rPr lang="en-US" altLang="zh-CN" dirty="0"/>
              <a:t>030102</a:t>
            </a:r>
            <a:r>
              <a:rPr lang="zh-CN" altLang="zh-CN" dirty="0"/>
              <a:t>或者和</a:t>
            </a:r>
            <a:r>
              <a:rPr lang="en-US" altLang="zh-CN" dirty="0"/>
              <a:t>060206</a:t>
            </a:r>
            <a:r>
              <a:rPr lang="zh-CN" altLang="zh-CN" dirty="0"/>
              <a:t>的课程的学生的学号。</a:t>
            </a:r>
          </a:p>
          <a:p>
            <a:pPr marL="0" indent="0">
              <a:buNone/>
            </a:pPr>
            <a:r>
              <a:rPr lang="zh-CN" altLang="zh-CN" dirty="0"/>
              <a:t>（</a:t>
            </a:r>
            <a:r>
              <a:rPr lang="en-US" altLang="zh-CN" dirty="0"/>
              <a:t>18</a:t>
            </a:r>
            <a:r>
              <a:rPr lang="zh-CN" altLang="zh-CN" dirty="0"/>
              <a:t>）查询只选修课程号分别为：</a:t>
            </a:r>
            <a:r>
              <a:rPr lang="en-US" altLang="zh-CN" dirty="0"/>
              <a:t>020101</a:t>
            </a:r>
            <a:r>
              <a:rPr lang="zh-CN" altLang="zh-CN" dirty="0"/>
              <a:t>、</a:t>
            </a:r>
            <a:r>
              <a:rPr lang="en-US" altLang="zh-CN" dirty="0"/>
              <a:t>030102</a:t>
            </a:r>
            <a:r>
              <a:rPr lang="zh-CN" altLang="zh-CN" dirty="0"/>
              <a:t>和</a:t>
            </a:r>
            <a:r>
              <a:rPr lang="en-US" altLang="zh-CN" dirty="0"/>
              <a:t>060206</a:t>
            </a:r>
            <a:r>
              <a:rPr lang="zh-CN" altLang="zh-CN" dirty="0"/>
              <a:t>三门课程的学生的学号。</a:t>
            </a:r>
          </a:p>
          <a:p>
            <a:pPr marL="0" indent="0">
              <a:buNone/>
            </a:pPr>
            <a:r>
              <a:rPr lang="zh-CN" altLang="zh-CN" dirty="0"/>
              <a:t>（</a:t>
            </a:r>
            <a:r>
              <a:rPr lang="en-US" altLang="zh-CN" dirty="0"/>
              <a:t>19</a:t>
            </a:r>
            <a:r>
              <a:rPr lang="zh-CN" altLang="zh-CN" dirty="0"/>
              <a:t>）查询选修了“数据库原理”课程的男生的学号和姓名。</a:t>
            </a:r>
          </a:p>
          <a:p>
            <a:pPr marL="0" indent="0">
              <a:buNone/>
            </a:pPr>
            <a:r>
              <a:rPr lang="zh-CN" altLang="zh-CN" dirty="0"/>
              <a:t>（</a:t>
            </a:r>
            <a:r>
              <a:rPr lang="en-US" altLang="zh-CN" dirty="0"/>
              <a:t>20</a:t>
            </a:r>
            <a:r>
              <a:rPr lang="zh-CN" altLang="zh-CN" dirty="0"/>
              <a:t>）查询至少选修了一门课程其先修课的课程号为</a:t>
            </a:r>
            <a:r>
              <a:rPr lang="en-US" altLang="zh-CN" dirty="0"/>
              <a:t>2016010201</a:t>
            </a:r>
            <a:r>
              <a:rPr lang="zh-CN" altLang="zh-CN" dirty="0"/>
              <a:t>的学生的姓名。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8D13042C-A140-DD4C-A55D-EC6AE3E32C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E5E69-9A6D-4AF8-BC2D-C556A9893D8F}" type="slidenum">
              <a:rPr lang="zh-CN" altLang="en-US" smtClean="0"/>
              <a:pPr/>
              <a:t>9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959304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2447</TotalTime>
  <Words>1386</Words>
  <Application>Microsoft Macintosh PowerPoint</Application>
  <PresentationFormat>全屏显示(4:3)</PresentationFormat>
  <Paragraphs>94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5" baseType="lpstr">
      <vt:lpstr>微软雅黑</vt:lpstr>
      <vt:lpstr>Arial</vt:lpstr>
      <vt:lpstr>Calibri</vt:lpstr>
      <vt:lpstr>Helvetica</vt:lpstr>
      <vt:lpstr>Wingdings</vt:lpstr>
      <vt:lpstr>Office 主题​​</vt:lpstr>
      <vt:lpstr>习　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第1章 概述</dc:title>
  <dc:creator>Happyu</dc:creator>
  <cp:lastModifiedBy>ling yun</cp:lastModifiedBy>
  <cp:revision>260</cp:revision>
  <dcterms:created xsi:type="dcterms:W3CDTF">2017-06-19T02:48:13Z</dcterms:created>
  <dcterms:modified xsi:type="dcterms:W3CDTF">2020-03-03T13:50:47Z</dcterms:modified>
</cp:coreProperties>
</file>