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1"/>
  </p:notesMasterIdLst>
  <p:sldIdLst>
    <p:sldId id="381" r:id="rId2"/>
    <p:sldId id="256" r:id="rId3"/>
    <p:sldId id="379" r:id="rId4"/>
    <p:sldId id="469" r:id="rId5"/>
    <p:sldId id="470" r:id="rId6"/>
    <p:sldId id="512" r:id="rId7"/>
    <p:sldId id="513" r:id="rId8"/>
    <p:sldId id="514" r:id="rId9"/>
    <p:sldId id="511" r:id="rId10"/>
    <p:sldId id="515" r:id="rId11"/>
    <p:sldId id="471" r:id="rId12"/>
    <p:sldId id="516" r:id="rId13"/>
    <p:sldId id="518" r:id="rId14"/>
    <p:sldId id="519" r:id="rId15"/>
    <p:sldId id="517" r:id="rId16"/>
    <p:sldId id="473" r:id="rId17"/>
    <p:sldId id="472" r:id="rId18"/>
    <p:sldId id="520" r:id="rId19"/>
    <p:sldId id="521" r:id="rId20"/>
    <p:sldId id="522" r:id="rId21"/>
    <p:sldId id="523" r:id="rId22"/>
    <p:sldId id="524" r:id="rId23"/>
    <p:sldId id="475" r:id="rId24"/>
    <p:sldId id="525" r:id="rId25"/>
    <p:sldId id="430" r:id="rId26"/>
    <p:sldId id="526" r:id="rId27"/>
    <p:sldId id="527" r:id="rId28"/>
    <p:sldId id="528" r:id="rId29"/>
    <p:sldId id="529" r:id="rId30"/>
    <p:sldId id="428" r:id="rId31"/>
    <p:sldId id="530" r:id="rId32"/>
    <p:sldId id="531" r:id="rId33"/>
    <p:sldId id="476" r:id="rId34"/>
    <p:sldId id="532" r:id="rId35"/>
    <p:sldId id="534" r:id="rId36"/>
    <p:sldId id="535" r:id="rId37"/>
    <p:sldId id="536" r:id="rId38"/>
    <p:sldId id="537" r:id="rId39"/>
    <p:sldId id="538" r:id="rId40"/>
    <p:sldId id="539" r:id="rId41"/>
    <p:sldId id="540" r:id="rId42"/>
    <p:sldId id="541" r:id="rId43"/>
    <p:sldId id="542" r:id="rId44"/>
    <p:sldId id="543" r:id="rId45"/>
    <p:sldId id="544" r:id="rId46"/>
    <p:sldId id="554" r:id="rId47"/>
    <p:sldId id="555" r:id="rId48"/>
    <p:sldId id="556" r:id="rId49"/>
    <p:sldId id="557" r:id="rId50"/>
    <p:sldId id="558" r:id="rId51"/>
    <p:sldId id="545" r:id="rId52"/>
    <p:sldId id="559" r:id="rId53"/>
    <p:sldId id="560" r:id="rId54"/>
    <p:sldId id="561" r:id="rId55"/>
    <p:sldId id="562" r:id="rId56"/>
    <p:sldId id="563" r:id="rId57"/>
    <p:sldId id="564" r:id="rId58"/>
    <p:sldId id="546" r:id="rId59"/>
    <p:sldId id="547" r:id="rId60"/>
    <p:sldId id="548" r:id="rId61"/>
    <p:sldId id="549" r:id="rId62"/>
    <p:sldId id="550" r:id="rId63"/>
    <p:sldId id="551" r:id="rId64"/>
    <p:sldId id="552" r:id="rId65"/>
    <p:sldId id="565" r:id="rId66"/>
    <p:sldId id="566" r:id="rId67"/>
    <p:sldId id="567" r:id="rId68"/>
    <p:sldId id="568" r:id="rId69"/>
    <p:sldId id="570" r:id="rId70"/>
    <p:sldId id="571" r:id="rId71"/>
    <p:sldId id="572" r:id="rId72"/>
    <p:sldId id="573" r:id="rId73"/>
    <p:sldId id="569" r:id="rId74"/>
    <p:sldId id="574" r:id="rId75"/>
    <p:sldId id="575" r:id="rId76"/>
    <p:sldId id="576" r:id="rId77"/>
    <p:sldId id="577" r:id="rId78"/>
    <p:sldId id="453" r:id="rId79"/>
    <p:sldId id="377" r:id="rId8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48" autoAdjust="0"/>
    <p:restoredTop sz="94591" autoAdjust="0"/>
  </p:normalViewPr>
  <p:slideViewPr>
    <p:cSldViewPr>
      <p:cViewPr varScale="1">
        <p:scale>
          <a:sx n="112" d="100"/>
          <a:sy n="112" d="100"/>
        </p:scale>
        <p:origin x="1808" y="192"/>
      </p:cViewPr>
      <p:guideLst>
        <p:guide orient="horz" pos="2160"/>
        <p:guide pos="2880"/>
      </p:guideLst>
    </p:cSldViewPr>
  </p:slideViewPr>
  <p:outlineViewPr>
    <p:cViewPr>
      <p:scale>
        <a:sx n="33" d="100"/>
        <a:sy n="33" d="100"/>
      </p:scale>
      <p:origin x="0" y="15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D2C98B-BCE1-473E-B4E9-1F6B27B354D6}" type="datetimeFigureOut">
              <a:rPr lang="zh-CN" altLang="en-US" smtClean="0"/>
              <a:t>2019/9/10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B2A1C5-F448-453F-AD22-060754181DD0}" type="slidenum">
              <a:rPr lang="zh-CN" altLang="en-US" smtClean="0"/>
              <a:t>‹#›</a:t>
            </a:fld>
            <a:endParaRPr lang="zh-CN" altLang="en-US"/>
          </a:p>
        </p:txBody>
      </p:sp>
    </p:spTree>
    <p:extLst>
      <p:ext uri="{BB962C8B-B14F-4D97-AF65-F5344CB8AC3E}">
        <p14:creationId xmlns:p14="http://schemas.microsoft.com/office/powerpoint/2010/main" val="2580868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F0FEC2D-1921-4D49-9601-5EBBBFCF4A9B}" type="slidenum">
              <a:rPr lang="en-US" altLang="zh-CN" smtClean="0"/>
              <a:pPr eaLnBrk="1" hangingPunct="1"/>
              <a:t>1</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zh-CN" altLang="zh-CN">
              <a:latin typeface="Arial"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326371-883F-D24E-AF4C-17431CFD4BAE}" type="datetime9">
              <a:rPr lang="zh-CN" altLang="en-US" smtClean="0"/>
              <a:t>2019年9月10日星期二3时34分34秒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71559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F459FF5-A45E-174C-AD93-C72C0BCC58F1}" type="datetime9">
              <a:rPr lang="zh-CN" altLang="en-US" smtClean="0"/>
              <a:t>2019年9月10日星期二3时34分34秒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081743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78EACE4-7D63-594F-A129-F2AD3375963C}" type="datetime9">
              <a:rPr lang="zh-CN" altLang="en-US" smtClean="0"/>
              <a:t>2019年9月10日星期二3时34分34秒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11223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75A5623-4D1B-634E-996B-3A068E1398D3}" type="datetime9">
              <a:rPr lang="zh-CN" altLang="en-US" smtClean="0"/>
              <a:t>2019年9月10日星期二3时34分34秒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4080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1046EFF-FB0C-BA4F-A42C-D5FE3ED02263}" type="datetime9">
              <a:rPr lang="zh-CN" altLang="en-US" smtClean="0"/>
              <a:t>2019年9月10日星期二3时34分34秒</a:t>
            </a:fld>
            <a:endParaRPr lang="zh-CN" altLang="en-US"/>
          </a:p>
        </p:txBody>
      </p:sp>
      <p:sp>
        <p:nvSpPr>
          <p:cNvPr id="8" name="页脚占位符 7"/>
          <p:cNvSpPr>
            <a:spLocks noGrp="1"/>
          </p:cNvSpPr>
          <p:nvPr>
            <p:ph type="ftr" sz="quarter" idx="11"/>
          </p:nvPr>
        </p:nvSpPr>
        <p:spPr/>
        <p:txBody>
          <a:bodyPr/>
          <a:lstStyle/>
          <a:p>
            <a:r>
              <a:rPr lang="en-US" altLang="zh-CN"/>
              <a:t>HappyYou</a:t>
            </a:r>
            <a:endParaRPr lang="zh-CN" altLang="en-US"/>
          </a:p>
        </p:txBody>
      </p:sp>
      <p:sp>
        <p:nvSpPr>
          <p:cNvPr id="9" name="灯片编号占位符 8"/>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241343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31E5BCE-58A6-D542-A64F-D49DAAFED452}" type="datetime9">
              <a:rPr lang="zh-CN" altLang="en-US" smtClean="0"/>
              <a:t>2019年9月10日星期二3时34分34秒</a:t>
            </a:fld>
            <a:endParaRPr lang="zh-CN" altLang="en-US"/>
          </a:p>
        </p:txBody>
      </p:sp>
      <p:sp>
        <p:nvSpPr>
          <p:cNvPr id="4" name="页脚占位符 3"/>
          <p:cNvSpPr>
            <a:spLocks noGrp="1"/>
          </p:cNvSpPr>
          <p:nvPr>
            <p:ph type="ftr" sz="quarter" idx="11"/>
          </p:nvPr>
        </p:nvSpPr>
        <p:spPr/>
        <p:txBody>
          <a:bodyPr/>
          <a:lstStyle/>
          <a:p>
            <a:r>
              <a:rPr lang="en-US" altLang="zh-CN"/>
              <a:t>HappyYou</a:t>
            </a:r>
            <a:endParaRPr lang="zh-CN" altLang="en-US"/>
          </a:p>
        </p:txBody>
      </p:sp>
      <p:sp>
        <p:nvSpPr>
          <p:cNvPr id="5" name="灯片编号占位符 4"/>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75662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899E77-30D6-7E4E-8188-F3C4150F112E}" type="datetime9">
              <a:rPr lang="zh-CN" altLang="en-US" smtClean="0"/>
              <a:t>2019年9月10日星期二3时34分34秒</a:t>
            </a:fld>
            <a:endParaRPr lang="zh-CN" altLang="en-US"/>
          </a:p>
        </p:txBody>
      </p:sp>
      <p:sp>
        <p:nvSpPr>
          <p:cNvPr id="3" name="页脚占位符 2"/>
          <p:cNvSpPr>
            <a:spLocks noGrp="1"/>
          </p:cNvSpPr>
          <p:nvPr>
            <p:ph type="ftr" sz="quarter" idx="11"/>
          </p:nvPr>
        </p:nvSpPr>
        <p:spPr/>
        <p:txBody>
          <a:bodyPr/>
          <a:lstStyle/>
          <a:p>
            <a:r>
              <a:rPr lang="en-US" altLang="zh-CN"/>
              <a:t>HappyYou</a:t>
            </a:r>
            <a:endParaRPr lang="zh-CN" altLang="en-US"/>
          </a:p>
        </p:txBody>
      </p:sp>
      <p:sp>
        <p:nvSpPr>
          <p:cNvPr id="4" name="灯片编号占位符 3"/>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98450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478E27-255E-0148-81D7-B55AC99DCDC9}" type="datetime9">
              <a:rPr lang="zh-CN" altLang="en-US" smtClean="0"/>
              <a:t>2019年9月10日星期二3时34分34秒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11593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36221A-121A-6241-9350-9D79D413D891}" type="datetime9">
              <a:rPr lang="zh-CN" altLang="en-US" smtClean="0"/>
              <a:t>2019年9月10日星期二3时34分34秒</a:t>
            </a:fld>
            <a:endParaRPr lang="zh-CN" altLang="en-US"/>
          </a:p>
        </p:txBody>
      </p:sp>
      <p:sp>
        <p:nvSpPr>
          <p:cNvPr id="6" name="页脚占位符 5"/>
          <p:cNvSpPr>
            <a:spLocks noGrp="1"/>
          </p:cNvSpPr>
          <p:nvPr>
            <p:ph type="ftr" sz="quarter" idx="11"/>
          </p:nvPr>
        </p:nvSpPr>
        <p:spPr/>
        <p:txBody>
          <a:bodyPr/>
          <a:lstStyle/>
          <a:p>
            <a:r>
              <a:rPr lang="en-US" altLang="zh-CN"/>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126273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A8B628-7AF0-E14F-8240-9AD975992A18}" type="datetime9">
              <a:rPr lang="zh-CN" altLang="en-US" smtClean="0"/>
              <a:t>2019年9月10日星期二3时34分34秒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39694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E51F311-979A-5D40-AFB0-7C7B51F48913}" type="datetime9">
              <a:rPr lang="zh-CN" altLang="en-US" smtClean="0"/>
              <a:t>2019年9月10日星期二3时34分34秒</a:t>
            </a:fld>
            <a:endParaRPr lang="zh-CN" altLang="en-US"/>
          </a:p>
        </p:txBody>
      </p:sp>
      <p:sp>
        <p:nvSpPr>
          <p:cNvPr id="5" name="页脚占位符 4"/>
          <p:cNvSpPr>
            <a:spLocks noGrp="1"/>
          </p:cNvSpPr>
          <p:nvPr>
            <p:ph type="ftr" sz="quarter" idx="11"/>
          </p:nvPr>
        </p:nvSpPr>
        <p:spPr/>
        <p:txBody>
          <a:bodyPr/>
          <a:lstStyle/>
          <a:p>
            <a:r>
              <a:rPr lang="en-US" altLang="zh-CN"/>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400044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706090"/>
          </a:xfrm>
        </p:spPr>
        <p:txBody>
          <a:bodyPr>
            <a:normAutofit/>
          </a:bodyPr>
          <a:lstStyle>
            <a:lvl1pPr>
              <a:defRPr sz="3600" b="0">
                <a:latin typeface="微软雅黑" pitchFamily="34" charset="-122"/>
                <a:ea typeface="微软雅黑"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124744"/>
            <a:ext cx="8229600" cy="5112568"/>
          </a:xfrm>
        </p:spPr>
        <p:txBody>
          <a:bodyPr/>
          <a:lstStyle>
            <a:lvl1pPr marL="342900" indent="-342900">
              <a:lnSpc>
                <a:spcPts val="3600"/>
              </a:lnSpc>
              <a:spcBef>
                <a:spcPts val="0"/>
              </a:spcBef>
              <a:buFont typeface="Wingdings" pitchFamily="2" charset="2"/>
              <a:buChar char="n"/>
              <a:defRPr sz="2400">
                <a:latin typeface="微软雅黑" pitchFamily="34" charset="-122"/>
                <a:ea typeface="微软雅黑" pitchFamily="34" charset="-122"/>
              </a:defRPr>
            </a:lvl1pPr>
            <a:lvl2pPr marL="742950" indent="-285750">
              <a:lnSpc>
                <a:spcPts val="3600"/>
              </a:lnSpc>
              <a:spcBef>
                <a:spcPts val="0"/>
              </a:spcBef>
              <a:buFont typeface="Wingdings" pitchFamily="2" charset="2"/>
              <a:buChar char="p"/>
              <a:defRPr sz="2200">
                <a:latin typeface="微软雅黑" pitchFamily="34" charset="-122"/>
                <a:ea typeface="微软雅黑" pitchFamily="34" charset="-122"/>
              </a:defRPr>
            </a:lvl2pPr>
            <a:lvl3pPr marL="1143000" indent="-228600">
              <a:lnSpc>
                <a:spcPts val="3600"/>
              </a:lnSpc>
              <a:spcBef>
                <a:spcPts val="0"/>
              </a:spcBef>
              <a:buFont typeface="Wingdings" pitchFamily="2" charset="2"/>
              <a:buChar char="l"/>
              <a:defRPr sz="2000">
                <a:latin typeface="微软雅黑" pitchFamily="34" charset="-122"/>
                <a:ea typeface="微软雅黑" pitchFamily="34" charset="-122"/>
              </a:defRPr>
            </a:lvl3pPr>
            <a:lvl4pPr marL="1600200" indent="-228600">
              <a:lnSpc>
                <a:spcPts val="3600"/>
              </a:lnSpc>
              <a:spcBef>
                <a:spcPts val="0"/>
              </a:spcBef>
              <a:buFont typeface="Wingdings" pitchFamily="2" charset="2"/>
              <a:buChar char="u"/>
              <a:defRPr sz="1800">
                <a:latin typeface="微软雅黑" pitchFamily="34" charset="-122"/>
                <a:ea typeface="微软雅黑" pitchFamily="34" charset="-122"/>
              </a:defRPr>
            </a:lvl4pPr>
            <a:lvl5pPr marL="2057400" indent="-228600">
              <a:lnSpc>
                <a:spcPts val="3600"/>
              </a:lnSpc>
              <a:spcBef>
                <a:spcPts val="0"/>
              </a:spcBef>
              <a:buFont typeface="Wingdings" pitchFamily="2" charset="2"/>
              <a:buChar char="Ø"/>
              <a:defRPr sz="16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0"/>
            <a:ext cx="2746648" cy="365125"/>
          </a:xfrm>
        </p:spPr>
        <p:txBody>
          <a:bodyPr/>
          <a:lstStyle>
            <a:lvl1pPr>
              <a:defRPr>
                <a:latin typeface="微软雅黑" pitchFamily="34" charset="-122"/>
                <a:ea typeface="微软雅黑" pitchFamily="34" charset="-122"/>
              </a:defRPr>
            </a:lvl1pPr>
          </a:lstStyle>
          <a:p>
            <a:fld id="{7A5953EF-1AD3-A34E-B3AD-03136D95C3BB}" type="datetime9">
              <a:rPr lang="zh-CN" altLang="en-US" smtClean="0"/>
              <a:t>2019年9月10日星期二3时34分34秒</a:t>
            </a:fld>
            <a:endParaRPr lang="zh-CN" altLang="en-US" dirty="0"/>
          </a:p>
        </p:txBody>
      </p:sp>
      <p:sp>
        <p:nvSpPr>
          <p:cNvPr id="5" name="页脚占位符 4"/>
          <p:cNvSpPr>
            <a:spLocks noGrp="1"/>
          </p:cNvSpPr>
          <p:nvPr>
            <p:ph type="ftr" sz="quarter" idx="11"/>
          </p:nvPr>
        </p:nvSpPr>
        <p:spPr>
          <a:xfrm>
            <a:off x="3923928" y="6381328"/>
            <a:ext cx="2239888" cy="365125"/>
          </a:xfrm>
        </p:spPr>
        <p:txBody>
          <a:bodyPr/>
          <a:lstStyle>
            <a:lvl1pPr>
              <a:defRPr>
                <a:latin typeface="微软雅黑" pitchFamily="34" charset="-122"/>
                <a:ea typeface="微软雅黑" pitchFamily="34" charset="-122"/>
              </a:defRPr>
            </a:lvl1pPr>
          </a:lstStyle>
          <a:p>
            <a:r>
              <a:rPr lang="en-US" altLang="zh-CN" dirty="0" err="1"/>
              <a:t>HappyYou</a:t>
            </a:r>
            <a:endParaRPr lang="zh-CN" altLang="en-US" dirty="0"/>
          </a:p>
        </p:txBody>
      </p:sp>
      <p:sp>
        <p:nvSpPr>
          <p:cNvPr id="6" name="灯片编号占位符 5"/>
          <p:cNvSpPr>
            <a:spLocks noGrp="1"/>
          </p:cNvSpPr>
          <p:nvPr>
            <p:ph type="sldNum" sz="quarter" idx="12"/>
          </p:nvPr>
        </p:nvSpPr>
        <p:spPr>
          <a:xfrm>
            <a:off x="6553200" y="6356350"/>
            <a:ext cx="2051248" cy="365125"/>
          </a:xfrm>
        </p:spPr>
        <p:txBody>
          <a:bodyPr/>
          <a:lstStyle>
            <a:lvl1pPr algn="r">
              <a:defRPr>
                <a:latin typeface="微软雅黑" pitchFamily="34" charset="-122"/>
                <a:ea typeface="微软雅黑" pitchFamily="34" charset="-122"/>
              </a:defRPr>
            </a:lvl1pPr>
          </a:lstStyle>
          <a:p>
            <a:fld id="{C46E5E69-9A6D-4AF8-BC2D-C556A9893D8F}" type="slidenum">
              <a:rPr lang="zh-CN" altLang="en-US" smtClean="0"/>
              <a:pPr/>
              <a:t>‹#›</a:t>
            </a:fld>
            <a:endParaRPr lang="zh-CN" altLang="en-US" dirty="0"/>
          </a:p>
        </p:txBody>
      </p:sp>
    </p:spTree>
    <p:extLst>
      <p:ext uri="{BB962C8B-B14F-4D97-AF65-F5344CB8AC3E}">
        <p14:creationId xmlns:p14="http://schemas.microsoft.com/office/powerpoint/2010/main" val="63234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818656" cy="365125"/>
          </a:xfrm>
          <a:prstGeom prst="rect">
            <a:avLst/>
          </a:prstGeom>
        </p:spPr>
        <p:txBody>
          <a:bodyPr vert="horz" lIns="91440" tIns="45720" rIns="91440" bIns="45720" rtlCol="0" anchor="ctr"/>
          <a:lstStyle>
            <a:lvl1pPr algn="l">
              <a:defRPr sz="1200">
                <a:solidFill>
                  <a:schemeClr val="tx1">
                    <a:tint val="75000"/>
                  </a:schemeClr>
                </a:solidFill>
                <a:latin typeface="微软雅黑" pitchFamily="34" charset="-122"/>
                <a:ea typeface="微软雅黑" pitchFamily="34" charset="-122"/>
              </a:defRPr>
            </a:lvl1pPr>
          </a:lstStyle>
          <a:p>
            <a:fld id="{0A6CDA75-F7D9-D54A-B067-EB5EFDF11F65}" type="datetime9">
              <a:rPr lang="zh-CN" altLang="en-US" smtClean="0"/>
              <a:t>2019年9月10日星期二3时34分34秒</a:t>
            </a:fld>
            <a:endParaRPr lang="zh-CN" altLang="en-US" dirty="0"/>
          </a:p>
        </p:txBody>
      </p:sp>
      <p:sp>
        <p:nvSpPr>
          <p:cNvPr id="5" name="页脚占位符 4"/>
          <p:cNvSpPr>
            <a:spLocks noGrp="1"/>
          </p:cNvSpPr>
          <p:nvPr>
            <p:ph type="ftr" sz="quarter" idx="3"/>
          </p:nvPr>
        </p:nvSpPr>
        <p:spPr>
          <a:xfrm>
            <a:off x="3635896" y="6356350"/>
            <a:ext cx="2383904" cy="365125"/>
          </a:xfrm>
          <a:prstGeom prst="rect">
            <a:avLst/>
          </a:prstGeom>
        </p:spPr>
        <p:txBody>
          <a:bodyPr vert="horz" lIns="91440" tIns="45720" rIns="91440" bIns="45720" rtlCol="0" anchor="ctr"/>
          <a:lstStyle>
            <a:lvl1pPr algn="ctr">
              <a:defRPr sz="1200">
                <a:solidFill>
                  <a:schemeClr val="tx1">
                    <a:tint val="75000"/>
                  </a:schemeClr>
                </a:solidFill>
                <a:latin typeface="微软雅黑" pitchFamily="34" charset="-122"/>
                <a:ea typeface="微软雅黑" pitchFamily="34" charset="-122"/>
              </a:defRPr>
            </a:lvl1pPr>
          </a:lstStyle>
          <a:p>
            <a:r>
              <a:rPr lang="en-US" altLang="zh-CN"/>
              <a:t>HappyYou</a:t>
            </a:r>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itchFamily="34" charset="-122"/>
                <a:ea typeface="微软雅黑" pitchFamily="34" charset="-122"/>
              </a:defRPr>
            </a:lvl1pPr>
          </a:lstStyle>
          <a:p>
            <a:fld id="{87607A0D-40CE-4FFA-B03A-EB935FC429F2}" type="slidenum">
              <a:rPr lang="zh-CN" altLang="en-US" smtClean="0"/>
              <a:t>‹#›</a:t>
            </a:fld>
            <a:endParaRPr lang="zh-CN" altLang="en-US" dirty="0"/>
          </a:p>
        </p:txBody>
      </p:sp>
    </p:spTree>
    <p:extLst>
      <p:ext uri="{BB962C8B-B14F-4D97-AF65-F5344CB8AC3E}">
        <p14:creationId xmlns:p14="http://schemas.microsoft.com/office/powerpoint/2010/main" val="1764261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3600" kern="120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9388" y="4869160"/>
            <a:ext cx="7345362" cy="574378"/>
          </a:xfrm>
          <a:noFill/>
        </p:spPr>
        <p:txBody>
          <a:bodyPr/>
          <a:lstStyle/>
          <a:p>
            <a:pPr eaLnBrk="1" hangingPunct="1"/>
            <a:r>
              <a:rPr lang="zh-CN" altLang="en-US" sz="2400" dirty="0">
                <a:solidFill>
                  <a:srgbClr val="0000FF"/>
                </a:solidFill>
              </a:rPr>
              <a:t>浙江工商大学计算机与信息工程学院</a:t>
            </a:r>
            <a:endParaRPr lang="zh-CN" altLang="en-US" sz="1800" dirty="0">
              <a:solidFill>
                <a:srgbClr val="0000FF"/>
              </a:solidFill>
            </a:endParaRPr>
          </a:p>
        </p:txBody>
      </p:sp>
      <p:sp>
        <p:nvSpPr>
          <p:cNvPr id="2051" name="Rectangle 3"/>
          <p:cNvSpPr>
            <a:spLocks noChangeArrowheads="1"/>
          </p:cNvSpPr>
          <p:nvPr/>
        </p:nvSpPr>
        <p:spPr bwMode="auto">
          <a:xfrm>
            <a:off x="320635" y="692696"/>
            <a:ext cx="82804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kumimoji="1" lang="zh-CN" altLang="en-US" sz="6600" dirty="0">
                <a:solidFill>
                  <a:srgbClr val="0000FF"/>
                </a:solidFill>
                <a:latin typeface="微软雅黑" pitchFamily="34" charset="-122"/>
                <a:ea typeface="微软雅黑" pitchFamily="34" charset="-122"/>
              </a:rPr>
              <a:t>数据库原理</a:t>
            </a:r>
          </a:p>
          <a:p>
            <a:pPr algn="ctr">
              <a:spcBef>
                <a:spcPct val="20000"/>
              </a:spcBef>
            </a:pPr>
            <a:r>
              <a:rPr kumimoji="1" lang="en-US" altLang="zh-CN" sz="4800" b="1" dirty="0">
                <a:solidFill>
                  <a:srgbClr val="0000FF"/>
                </a:solidFill>
                <a:latin typeface="Times New Roman" pitchFamily="18" charset="0"/>
              </a:rPr>
              <a:t>Database Principles</a:t>
            </a:r>
          </a:p>
        </p:txBody>
      </p:sp>
      <p:pic>
        <p:nvPicPr>
          <p:cNvPr id="2052" name="Picture 4" descr="tuli">
            <a:hlinkClick r:id="rId3"/>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7306530" y="4365104"/>
            <a:ext cx="1427163" cy="15017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3" name="Line 5"/>
          <p:cNvSpPr>
            <a:spLocks noChangeShapeType="1"/>
          </p:cNvSpPr>
          <p:nvPr/>
        </p:nvSpPr>
        <p:spPr bwMode="auto">
          <a:xfrm>
            <a:off x="-5417" y="2700715"/>
            <a:ext cx="8135938"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 name="Line 6"/>
          <p:cNvSpPr>
            <a:spLocks noChangeShapeType="1"/>
          </p:cNvSpPr>
          <p:nvPr/>
        </p:nvSpPr>
        <p:spPr bwMode="auto">
          <a:xfrm>
            <a:off x="0" y="4797425"/>
            <a:ext cx="7451725"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 name="Line 7"/>
          <p:cNvSpPr>
            <a:spLocks noChangeShapeType="1"/>
          </p:cNvSpPr>
          <p:nvPr/>
        </p:nvSpPr>
        <p:spPr bwMode="auto">
          <a:xfrm flipV="1">
            <a:off x="0" y="5445125"/>
            <a:ext cx="7451725" cy="23813"/>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6" name="Line 8"/>
          <p:cNvSpPr>
            <a:spLocks noChangeShapeType="1"/>
          </p:cNvSpPr>
          <p:nvPr/>
        </p:nvSpPr>
        <p:spPr bwMode="auto">
          <a:xfrm>
            <a:off x="3311525" y="3824288"/>
            <a:ext cx="5832475" cy="1587"/>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7" name="Line 9"/>
          <p:cNvSpPr>
            <a:spLocks noChangeShapeType="1"/>
          </p:cNvSpPr>
          <p:nvPr/>
        </p:nvSpPr>
        <p:spPr bwMode="auto">
          <a:xfrm flipV="1">
            <a:off x="1663970" y="1916832"/>
            <a:ext cx="5329237"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8" name="Rectangle 10"/>
          <p:cNvSpPr>
            <a:spLocks noChangeArrowheads="1"/>
          </p:cNvSpPr>
          <p:nvPr/>
        </p:nvSpPr>
        <p:spPr bwMode="auto">
          <a:xfrm>
            <a:off x="896938" y="5805487"/>
            <a:ext cx="723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2000" b="1" dirty="0">
                <a:solidFill>
                  <a:srgbClr val="0000FF"/>
                </a:solidFill>
                <a:latin typeface="Times New Roman" pitchFamily="18" charset="0"/>
              </a:rPr>
              <a:t>College of Computer Science and Information Engineering</a:t>
            </a:r>
          </a:p>
          <a:p>
            <a:pPr algn="r"/>
            <a:r>
              <a:rPr kumimoji="1" lang="en-US" altLang="zh-CN" sz="2000" b="1" dirty="0">
                <a:solidFill>
                  <a:srgbClr val="0000FF"/>
                </a:solidFill>
                <a:latin typeface="Times New Roman" pitchFamily="18" charset="0"/>
              </a:rPr>
              <a:t>Zhejiang </a:t>
            </a:r>
            <a:r>
              <a:rPr kumimoji="1" lang="en-US" altLang="zh-CN" sz="2000" b="1" dirty="0" err="1">
                <a:solidFill>
                  <a:srgbClr val="0000FF"/>
                </a:solidFill>
                <a:latin typeface="Times New Roman" pitchFamily="18" charset="0"/>
              </a:rPr>
              <a:t>Gongshang</a:t>
            </a:r>
            <a:r>
              <a:rPr kumimoji="1" lang="en-US" altLang="zh-CN" sz="2000" b="1" dirty="0">
                <a:solidFill>
                  <a:srgbClr val="0000FF"/>
                </a:solidFill>
                <a:latin typeface="Times New Roman" pitchFamily="18" charset="0"/>
              </a:rPr>
              <a:t> University</a:t>
            </a:r>
          </a:p>
        </p:txBody>
      </p:sp>
      <p:sp>
        <p:nvSpPr>
          <p:cNvPr id="2059" name="Rectangle 11"/>
          <p:cNvSpPr>
            <a:spLocks noChangeArrowheads="1"/>
          </p:cNvSpPr>
          <p:nvPr/>
        </p:nvSpPr>
        <p:spPr bwMode="auto">
          <a:xfrm>
            <a:off x="2320131" y="3103845"/>
            <a:ext cx="43926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3600" b="1" dirty="0">
                <a:solidFill>
                  <a:srgbClr val="3333FF"/>
                </a:solidFill>
                <a:latin typeface="Arial Black" pitchFamily="34" charset="0"/>
                <a:ea typeface="华文新魏" pitchFamily="2" charset="-122"/>
              </a:rPr>
              <a:t>凌 云</a:t>
            </a:r>
          </a:p>
        </p:txBody>
      </p:sp>
      <p:sp>
        <p:nvSpPr>
          <p:cNvPr id="2" name="日期占位符 1">
            <a:extLst>
              <a:ext uri="{FF2B5EF4-FFF2-40B4-BE49-F238E27FC236}">
                <a16:creationId xmlns:a16="http://schemas.microsoft.com/office/drawing/2014/main" id="{C2348AF2-3095-3E48-BCD6-808DB8B29CC1}"/>
              </a:ext>
            </a:extLst>
          </p:cNvPr>
          <p:cNvSpPr>
            <a:spLocks noGrp="1"/>
          </p:cNvSpPr>
          <p:nvPr>
            <p:ph type="dt" sz="half" idx="10"/>
          </p:nvPr>
        </p:nvSpPr>
        <p:spPr/>
        <p:txBody>
          <a:bodyPr/>
          <a:lstStyle/>
          <a:p>
            <a:fld id="{58AC3C49-D6CD-804D-9BFB-A0D338C8729E}" type="datetime9">
              <a:rPr lang="zh-CN" altLang="en-US" smtClean="0"/>
              <a:t>2019年9月10日星期二3时34分34秒</a:t>
            </a:fld>
            <a:endParaRPr lang="zh-CN" altLang="en-US"/>
          </a:p>
        </p:txBody>
      </p:sp>
      <p:sp>
        <p:nvSpPr>
          <p:cNvPr id="3" name="灯片编号占位符 2">
            <a:extLst>
              <a:ext uri="{FF2B5EF4-FFF2-40B4-BE49-F238E27FC236}">
                <a16:creationId xmlns:a16="http://schemas.microsoft.com/office/drawing/2014/main" id="{B58B83D6-C57D-ED48-BB76-DBF6A5727222}"/>
              </a:ext>
            </a:extLst>
          </p:cNvPr>
          <p:cNvSpPr>
            <a:spLocks noGrp="1"/>
          </p:cNvSpPr>
          <p:nvPr>
            <p:ph type="sldNum" sz="quarter" idx="12"/>
          </p:nvPr>
        </p:nvSpPr>
        <p:spPr/>
        <p:txBody>
          <a:bodyPr/>
          <a:lstStyle/>
          <a:p>
            <a:fld id="{FCE4605D-91F4-41FC-B3D3-9CE68C2C45F2}" type="slidenum">
              <a:rPr lang="zh-CN" altLang="en-US" smtClean="0"/>
              <a:t>1</a:t>
            </a:fld>
            <a:endParaRPr lang="zh-CN" altLang="en-US"/>
          </a:p>
        </p:txBody>
      </p:sp>
    </p:spTree>
    <p:extLst>
      <p:ext uri="{BB962C8B-B14F-4D97-AF65-F5344CB8AC3E}">
        <p14:creationId xmlns:p14="http://schemas.microsoft.com/office/powerpoint/2010/main" val="58051456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792088"/>
          </a:xfrm>
        </p:spPr>
        <p:txBody>
          <a:bodyPr>
            <a:normAutofit/>
          </a:bodyPr>
          <a:lstStyle/>
          <a:p>
            <a:r>
              <a:rPr lang="zh-CN" altLang="en-US" sz="3600" i="0" u="none" strike="noStrike" kern="2200" baseline="0" dirty="0">
                <a:latin typeface="微软雅黑" pitchFamily="34" charset="-122"/>
                <a:ea typeface="微软雅黑" pitchFamily="34" charset="-122"/>
              </a:rPr>
              <a:t>第 </a:t>
            </a:r>
            <a:r>
              <a:rPr lang="en-US" altLang="zh-CN" sz="3600" i="0" u="none" strike="noStrike" kern="2200" baseline="0" dirty="0">
                <a:latin typeface="微软雅黑" pitchFamily="34" charset="-122"/>
                <a:ea typeface="微软雅黑" pitchFamily="34" charset="-122"/>
              </a:rPr>
              <a:t>4 </a:t>
            </a:r>
            <a:r>
              <a:rPr lang="zh-CN" altLang="en-US" sz="3600" i="0" u="none" strike="noStrike" kern="2200" baseline="0" dirty="0">
                <a:latin typeface="微软雅黑" pitchFamily="34" charset="-122"/>
                <a:ea typeface="微软雅黑" pitchFamily="34" charset="-122"/>
              </a:rPr>
              <a:t>章  </a:t>
            </a:r>
            <a:r>
              <a:rPr lang="en-US" altLang="zh-CN" sz="3600" i="0" u="none" strike="noStrike" kern="2200" baseline="0" dirty="0">
                <a:latin typeface="微软雅黑" pitchFamily="34" charset="-122"/>
                <a:ea typeface="微软雅黑" pitchFamily="34" charset="-122"/>
              </a:rPr>
              <a:t>SQL Server</a:t>
            </a:r>
            <a:endParaRPr lang="zh-CN" altLang="en-US" sz="3600" i="0" u="none" strike="noStrike" kern="2200" baseline="0" dirty="0">
              <a:latin typeface="微软雅黑" pitchFamily="34" charset="-122"/>
              <a:ea typeface="微软雅黑" pitchFamily="34" charset="-122"/>
            </a:endParaRPr>
          </a:p>
        </p:txBody>
      </p:sp>
      <p:sp>
        <p:nvSpPr>
          <p:cNvPr id="3" name="文本占位符 2"/>
          <p:cNvSpPr>
            <a:spLocks noGrp="1"/>
          </p:cNvSpPr>
          <p:nvPr>
            <p:ph type="body" idx="1"/>
          </p:nvPr>
        </p:nvSpPr>
        <p:spPr>
          <a:xfrm>
            <a:off x="1043608" y="908720"/>
            <a:ext cx="7481886" cy="5400600"/>
          </a:xfrm>
        </p:spPr>
        <p:txBody>
          <a:bodyPr>
            <a:normAutofit/>
          </a:bodyPr>
          <a:lstStyle/>
          <a:p>
            <a:pPr>
              <a:lnSpc>
                <a:spcPts val="3900"/>
              </a:lnSpc>
            </a:pPr>
            <a:r>
              <a:rPr lang="en-US" altLang="zh-CN" sz="2800" dirty="0">
                <a:solidFill>
                  <a:srgbClr val="0000FF"/>
                </a:solidFill>
              </a:rPr>
              <a:t> </a:t>
            </a:r>
            <a:r>
              <a:rPr lang="zh-CN" altLang="zh-CN" sz="2800" dirty="0">
                <a:solidFill>
                  <a:srgbClr val="0000FF"/>
                </a:solidFill>
              </a:rPr>
              <a:t>结构查询语言</a:t>
            </a:r>
            <a:r>
              <a:rPr lang="en-US" altLang="zh-CN" sz="2800" dirty="0">
                <a:solidFill>
                  <a:srgbClr val="0000FF"/>
                </a:solidFill>
              </a:rPr>
              <a:t>SQL</a:t>
            </a:r>
            <a:endParaRPr lang="zh-CN" altLang="zh-CN" sz="2800" dirty="0">
              <a:solidFill>
                <a:srgbClr val="0000FF"/>
              </a:solidFill>
            </a:endParaRPr>
          </a:p>
          <a:p>
            <a:pPr marL="450850" indent="0">
              <a:lnSpc>
                <a:spcPts val="3900"/>
              </a:lnSpc>
              <a:buNone/>
            </a:pPr>
            <a:r>
              <a:rPr lang="en-US" altLang="zh-CN" sz="2800" dirty="0">
                <a:solidFill>
                  <a:srgbClr val="0000FF"/>
                </a:solidFill>
              </a:rPr>
              <a:t>ANSI SQL /  SQL Server</a:t>
            </a:r>
            <a:endParaRPr lang="zh-CN" altLang="zh-CN" sz="2800" dirty="0">
              <a:solidFill>
                <a:srgbClr val="0000FF"/>
              </a:solidFill>
            </a:endParaRPr>
          </a:p>
          <a:p>
            <a:pPr>
              <a:lnSpc>
                <a:spcPts val="3900"/>
              </a:lnSpc>
            </a:pPr>
            <a:r>
              <a:rPr lang="en-US" altLang="zh-CN" sz="2800" dirty="0">
                <a:solidFill>
                  <a:srgbClr val="0000FF"/>
                </a:solidFill>
              </a:rPr>
              <a:t> </a:t>
            </a:r>
            <a:r>
              <a:rPr lang="zh-CN" altLang="zh-CN" sz="2800" dirty="0">
                <a:solidFill>
                  <a:srgbClr val="0000FF"/>
                </a:solidFill>
              </a:rPr>
              <a:t>创建数据库</a:t>
            </a:r>
          </a:p>
          <a:p>
            <a:pPr marL="450850" indent="0">
              <a:lnSpc>
                <a:spcPts val="3900"/>
              </a:lnSpc>
              <a:buNone/>
            </a:pPr>
            <a:r>
              <a:rPr lang="zh-CN" altLang="zh-CN" sz="2800" dirty="0">
                <a:solidFill>
                  <a:srgbClr val="0000FF"/>
                </a:solidFill>
              </a:rPr>
              <a:t>创建数据库</a:t>
            </a:r>
            <a:r>
              <a:rPr lang="en-US" altLang="zh-CN" sz="2800" dirty="0">
                <a:solidFill>
                  <a:srgbClr val="0000FF"/>
                </a:solidFill>
              </a:rPr>
              <a:t> / </a:t>
            </a:r>
            <a:r>
              <a:rPr lang="zh-CN" altLang="zh-CN" sz="2800" dirty="0">
                <a:solidFill>
                  <a:srgbClr val="0000FF"/>
                </a:solidFill>
              </a:rPr>
              <a:t>创建表</a:t>
            </a:r>
          </a:p>
          <a:p>
            <a:pPr>
              <a:lnSpc>
                <a:spcPts val="3900"/>
              </a:lnSpc>
            </a:pPr>
            <a:r>
              <a:rPr lang="en-US" altLang="zh-CN" sz="2800" dirty="0">
                <a:solidFill>
                  <a:srgbClr val="0000FF"/>
                </a:solidFill>
              </a:rPr>
              <a:t> </a:t>
            </a:r>
            <a:r>
              <a:rPr lang="zh-CN" altLang="zh-CN" sz="2800" dirty="0">
                <a:solidFill>
                  <a:srgbClr val="0000FF"/>
                </a:solidFill>
              </a:rPr>
              <a:t>数据查询</a:t>
            </a:r>
          </a:p>
          <a:p>
            <a:pPr marL="363538" indent="0">
              <a:lnSpc>
                <a:spcPts val="3900"/>
              </a:lnSpc>
              <a:buNone/>
            </a:pPr>
            <a:r>
              <a:rPr lang="en-US" altLang="zh-CN" sz="2800" dirty="0">
                <a:solidFill>
                  <a:srgbClr val="0000FF"/>
                </a:solidFill>
              </a:rPr>
              <a:t> </a:t>
            </a:r>
            <a:r>
              <a:rPr lang="zh-CN" altLang="zh-CN" sz="2800" dirty="0">
                <a:solidFill>
                  <a:srgbClr val="0000FF"/>
                </a:solidFill>
              </a:rPr>
              <a:t>集合查询</a:t>
            </a:r>
          </a:p>
          <a:p>
            <a:pPr marL="363538" indent="0">
              <a:lnSpc>
                <a:spcPts val="3900"/>
              </a:lnSpc>
              <a:buNone/>
            </a:pPr>
            <a:r>
              <a:rPr lang="en-US" altLang="zh-CN" sz="2800" dirty="0">
                <a:solidFill>
                  <a:srgbClr val="0000FF"/>
                </a:solidFill>
              </a:rPr>
              <a:t> </a:t>
            </a:r>
            <a:r>
              <a:rPr lang="zh-CN" altLang="zh-CN" sz="2800" dirty="0">
                <a:solidFill>
                  <a:srgbClr val="0000FF"/>
                </a:solidFill>
              </a:rPr>
              <a:t>单表查询</a:t>
            </a:r>
          </a:p>
          <a:p>
            <a:pPr marL="363538" indent="0">
              <a:lnSpc>
                <a:spcPts val="3900"/>
              </a:lnSpc>
              <a:buNone/>
            </a:pPr>
            <a:r>
              <a:rPr lang="en-US" altLang="zh-CN" sz="2800" dirty="0">
                <a:solidFill>
                  <a:srgbClr val="0000FF"/>
                </a:solidFill>
              </a:rPr>
              <a:t> </a:t>
            </a:r>
            <a:r>
              <a:rPr lang="zh-CN" altLang="zh-CN" sz="2800" dirty="0">
                <a:solidFill>
                  <a:srgbClr val="0000FF"/>
                </a:solidFill>
              </a:rPr>
              <a:t>多表查询</a:t>
            </a:r>
            <a:endParaRPr lang="zh-CN" altLang="en-US" b="1" i="0" u="none" strike="noStrike" kern="100" baseline="0" dirty="0">
              <a:latin typeface="Times New Roman"/>
              <a:ea typeface="黑体"/>
            </a:endParaRPr>
          </a:p>
        </p:txBody>
      </p:sp>
      <p:sp>
        <p:nvSpPr>
          <p:cNvPr id="4" name="日期占位符 3"/>
          <p:cNvSpPr>
            <a:spLocks noGrp="1"/>
          </p:cNvSpPr>
          <p:nvPr>
            <p:ph type="dt" sz="half" idx="10"/>
          </p:nvPr>
        </p:nvSpPr>
        <p:spPr/>
        <p:txBody>
          <a:bodyPr/>
          <a:lstStyle/>
          <a:p>
            <a:fld id="{4239694F-9066-8244-8CFD-D81083EBFFBB}"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a:t>
            </a:fld>
            <a:endParaRPr lang="zh-CN" altLang="en-US" dirty="0"/>
          </a:p>
        </p:txBody>
      </p:sp>
    </p:spTree>
    <p:extLst>
      <p:ext uri="{BB962C8B-B14F-4D97-AF65-F5344CB8AC3E}">
        <p14:creationId xmlns:p14="http://schemas.microsoft.com/office/powerpoint/2010/main" val="235104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19256" cy="706090"/>
          </a:xfrm>
        </p:spPr>
        <p:txBody>
          <a:bodyPr/>
          <a:lstStyle/>
          <a:p>
            <a:pPr lvl="0">
              <a:lnSpc>
                <a:spcPts val="4600"/>
              </a:lnSpc>
            </a:pPr>
            <a:r>
              <a:rPr lang="en-US" altLang="zh-CN" b="1" dirty="0"/>
              <a:t>SQL Server</a:t>
            </a:r>
            <a:endParaRPr lang="en-US" altLang="zh-CN" dirty="0">
              <a:solidFill>
                <a:srgbClr val="0000FF"/>
              </a:solidFill>
            </a:endParaRPr>
          </a:p>
        </p:txBody>
      </p:sp>
      <p:sp>
        <p:nvSpPr>
          <p:cNvPr id="3" name="文本占位符 2"/>
          <p:cNvSpPr>
            <a:spLocks noGrp="1"/>
          </p:cNvSpPr>
          <p:nvPr>
            <p:ph type="body" idx="1"/>
          </p:nvPr>
        </p:nvSpPr>
        <p:spPr>
          <a:xfrm>
            <a:off x="107504" y="1052736"/>
            <a:ext cx="8856984" cy="5328592"/>
          </a:xfrm>
        </p:spPr>
        <p:txBody>
          <a:bodyPr>
            <a:noAutofit/>
          </a:bodyPr>
          <a:lstStyle/>
          <a:p>
            <a:r>
              <a:rPr lang="en-US" altLang="zh-CN" dirty="0"/>
              <a:t>SQL Server</a:t>
            </a:r>
            <a:r>
              <a:rPr lang="zh-CN" altLang="zh-CN" dirty="0"/>
              <a:t>是微软研发的符合国际</a:t>
            </a:r>
            <a:r>
              <a:rPr lang="en-US" altLang="zh-CN" dirty="0">
                <a:solidFill>
                  <a:srgbClr val="0000FF"/>
                </a:solidFill>
              </a:rPr>
              <a:t>SQL</a:t>
            </a:r>
            <a:r>
              <a:rPr lang="zh-CN" altLang="zh-CN" dirty="0">
                <a:solidFill>
                  <a:srgbClr val="0000FF"/>
                </a:solidFill>
              </a:rPr>
              <a:t>（</a:t>
            </a:r>
            <a:r>
              <a:rPr lang="en-US" altLang="zh-CN" dirty="0">
                <a:solidFill>
                  <a:srgbClr val="0000FF"/>
                </a:solidFill>
              </a:rPr>
              <a:t>Structured Query Language</a:t>
            </a:r>
            <a:r>
              <a:rPr lang="zh-CN" altLang="zh-CN" dirty="0">
                <a:solidFill>
                  <a:srgbClr val="0000FF"/>
                </a:solidFill>
              </a:rPr>
              <a:t>，结构化查询语言）</a:t>
            </a:r>
            <a:r>
              <a:rPr lang="zh-CN" altLang="zh-CN" dirty="0"/>
              <a:t>标准的专业级数据库管理系统，并提供了</a:t>
            </a:r>
            <a:r>
              <a:rPr lang="en-US" altLang="zh-CN" dirty="0">
                <a:solidFill>
                  <a:srgbClr val="0000FF"/>
                </a:solidFill>
              </a:rPr>
              <a:t>ODBC</a:t>
            </a:r>
            <a:r>
              <a:rPr lang="zh-CN" altLang="zh-CN" dirty="0">
                <a:solidFill>
                  <a:srgbClr val="0000FF"/>
                </a:solidFill>
              </a:rPr>
              <a:t>（</a:t>
            </a:r>
            <a:r>
              <a:rPr lang="en-US" altLang="zh-CN" dirty="0">
                <a:solidFill>
                  <a:srgbClr val="0000FF"/>
                </a:solidFill>
              </a:rPr>
              <a:t>Open Database Connectivity</a:t>
            </a:r>
            <a:r>
              <a:rPr lang="zh-CN" altLang="zh-CN" dirty="0">
                <a:solidFill>
                  <a:srgbClr val="0000FF"/>
                </a:solidFill>
              </a:rPr>
              <a:t>，开放数据库互连）</a:t>
            </a:r>
            <a:r>
              <a:rPr lang="zh-CN" altLang="zh-CN" dirty="0"/>
              <a:t>接口，其管理功能相当完善，由于通过它简单的操作就可以非常安全稳定的进行数据库管理，从而拥有很高的市场占有率。主流</a:t>
            </a:r>
            <a:r>
              <a:rPr lang="en-US" altLang="zh-CN" dirty="0"/>
              <a:t>DBMS</a:t>
            </a:r>
            <a:r>
              <a:rPr lang="zh-CN" altLang="zh-CN" dirty="0"/>
              <a:t>，最新产品是</a:t>
            </a:r>
            <a:r>
              <a:rPr lang="en-US" altLang="zh-CN" dirty="0"/>
              <a:t>SQL Server 2016。</a:t>
            </a:r>
            <a:endParaRPr lang="zh-CN" altLang="zh-CN" dirty="0"/>
          </a:p>
          <a:p>
            <a:r>
              <a:rPr lang="zh-CN" altLang="zh-CN" dirty="0"/>
              <a:t>在</a:t>
            </a:r>
            <a:r>
              <a:rPr lang="en-US" altLang="zh-CN" dirty="0"/>
              <a:t>SQL Server </a:t>
            </a:r>
            <a:r>
              <a:rPr lang="zh-CN" altLang="zh-CN" dirty="0"/>
              <a:t>中，不但可以使用系统提供的集成环境，进行数据库及其表的编辑、数据查询和用户管理等，而且可以使用数据定义语言</a:t>
            </a:r>
            <a:r>
              <a:rPr lang="en-US" altLang="zh-CN" dirty="0"/>
              <a:t>DDL</a:t>
            </a:r>
            <a:r>
              <a:rPr lang="zh-CN" altLang="zh-CN" dirty="0"/>
              <a:t>、数据操纵语言</a:t>
            </a:r>
            <a:r>
              <a:rPr lang="en-US" altLang="zh-CN" dirty="0"/>
              <a:t>DML</a:t>
            </a:r>
            <a:r>
              <a:rPr lang="zh-CN" altLang="zh-CN" dirty="0"/>
              <a:t>、数据查询语言</a:t>
            </a:r>
            <a:r>
              <a:rPr lang="en-US" altLang="zh-CN" dirty="0"/>
              <a:t>DQL</a:t>
            </a:r>
            <a:r>
              <a:rPr lang="zh-CN" altLang="zh-CN" dirty="0"/>
              <a:t>和数据控制语言</a:t>
            </a:r>
            <a:r>
              <a:rPr lang="en-US" altLang="zh-CN" dirty="0"/>
              <a:t>DCL</a:t>
            </a:r>
            <a:r>
              <a:rPr lang="zh-CN" altLang="zh-CN" dirty="0"/>
              <a:t>等子语系，完成复杂的数据处理和分析。</a:t>
            </a:r>
          </a:p>
          <a:p>
            <a:r>
              <a:rPr lang="zh-CN" altLang="zh-CN" dirty="0"/>
              <a:t>使用</a:t>
            </a:r>
            <a:r>
              <a:rPr lang="en-US" altLang="zh-CN" dirty="0"/>
              <a:t>SQL Server 2016</a:t>
            </a:r>
            <a:r>
              <a:rPr lang="zh-CN" altLang="zh-CN" dirty="0"/>
              <a:t>介绍</a:t>
            </a:r>
            <a:r>
              <a:rPr lang="en-US" altLang="zh-CN" dirty="0"/>
              <a:t>DB</a:t>
            </a:r>
            <a:r>
              <a:rPr lang="zh-CN" altLang="zh-CN" dirty="0"/>
              <a:t>及其表的设计、创建和查询。</a:t>
            </a:r>
          </a:p>
        </p:txBody>
      </p:sp>
      <p:sp>
        <p:nvSpPr>
          <p:cNvPr id="4" name="日期占位符 3"/>
          <p:cNvSpPr>
            <a:spLocks noGrp="1"/>
          </p:cNvSpPr>
          <p:nvPr>
            <p:ph type="dt" sz="half" idx="10"/>
          </p:nvPr>
        </p:nvSpPr>
        <p:spPr/>
        <p:txBody>
          <a:bodyPr/>
          <a:lstStyle/>
          <a:p>
            <a:fld id="{B1BFA328-394F-6148-9A6E-54622C2FA56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a:t>
            </a:fld>
            <a:endParaRPr lang="zh-CN" altLang="en-US" dirty="0"/>
          </a:p>
        </p:txBody>
      </p:sp>
    </p:spTree>
    <p:extLst>
      <p:ext uri="{BB962C8B-B14F-4D97-AF65-F5344CB8AC3E}">
        <p14:creationId xmlns:p14="http://schemas.microsoft.com/office/powerpoint/2010/main" val="209556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19256" cy="706090"/>
          </a:xfrm>
        </p:spPr>
        <p:txBody>
          <a:bodyPr/>
          <a:lstStyle/>
          <a:p>
            <a:pPr lvl="0">
              <a:lnSpc>
                <a:spcPts val="4600"/>
              </a:lnSpc>
            </a:pPr>
            <a:r>
              <a:rPr lang="en-US" altLang="zh-CN" dirty="0"/>
              <a:t>4.1 </a:t>
            </a:r>
            <a:r>
              <a:rPr lang="zh-CN" altLang="zh-CN" dirty="0"/>
              <a:t>结构查询语言</a:t>
            </a:r>
            <a:r>
              <a:rPr lang="en-US" altLang="zh-CN" dirty="0"/>
              <a:t>SQL</a:t>
            </a:r>
            <a:endParaRPr lang="en-US" altLang="zh-CN" dirty="0">
              <a:solidFill>
                <a:srgbClr val="0000FF"/>
              </a:solidFill>
            </a:endParaRPr>
          </a:p>
        </p:txBody>
      </p:sp>
      <p:sp>
        <p:nvSpPr>
          <p:cNvPr id="3" name="文本占位符 2"/>
          <p:cNvSpPr>
            <a:spLocks noGrp="1"/>
          </p:cNvSpPr>
          <p:nvPr>
            <p:ph type="body" idx="1"/>
          </p:nvPr>
        </p:nvSpPr>
        <p:spPr>
          <a:xfrm>
            <a:off x="107504" y="1052736"/>
            <a:ext cx="8856984" cy="5256584"/>
          </a:xfrm>
        </p:spPr>
        <p:txBody>
          <a:bodyPr>
            <a:noAutofit/>
          </a:bodyPr>
          <a:lstStyle/>
          <a:p>
            <a:pPr marL="450850" indent="-450850">
              <a:lnSpc>
                <a:spcPts val="5600"/>
              </a:lnSpc>
            </a:pPr>
            <a:r>
              <a:rPr lang="zh-CN" altLang="zh-CN" sz="2800" dirty="0"/>
              <a:t>结构化查询语言</a:t>
            </a:r>
            <a:r>
              <a:rPr lang="en-US" altLang="zh-CN" sz="2800" dirty="0"/>
              <a:t>SQL</a:t>
            </a:r>
            <a:r>
              <a:rPr lang="zh-CN" altLang="zh-CN" sz="2800" dirty="0"/>
              <a:t>是关系数据库的国际标准语言。目前流行的数据库管理系统，基本上都支持</a:t>
            </a:r>
            <a:r>
              <a:rPr lang="en-US" altLang="zh-CN" sz="2800" dirty="0"/>
              <a:t>SQL</a:t>
            </a:r>
            <a:r>
              <a:rPr lang="zh-CN" altLang="zh-CN" sz="2800" dirty="0"/>
              <a:t>。</a:t>
            </a:r>
            <a:endParaRPr lang="en-US" altLang="zh-CN" sz="2800" dirty="0"/>
          </a:p>
          <a:p>
            <a:pPr marL="450850" indent="0">
              <a:lnSpc>
                <a:spcPts val="5600"/>
              </a:lnSpc>
              <a:buNone/>
            </a:pPr>
            <a:r>
              <a:rPr lang="en-US" altLang="zh-CN" sz="2800" dirty="0">
                <a:solidFill>
                  <a:srgbClr val="0000FF"/>
                </a:solidFill>
              </a:rPr>
              <a:t>SQL</a:t>
            </a:r>
            <a:r>
              <a:rPr lang="zh-CN" altLang="zh-CN" sz="2800" dirty="0">
                <a:solidFill>
                  <a:srgbClr val="0000FF"/>
                </a:solidFill>
              </a:rPr>
              <a:t>是一个语言标准</a:t>
            </a:r>
            <a:endParaRPr lang="en-US" altLang="zh-CN" sz="2800" dirty="0">
              <a:solidFill>
                <a:srgbClr val="0000FF"/>
              </a:solidFill>
            </a:endParaRPr>
          </a:p>
          <a:p>
            <a:pPr>
              <a:lnSpc>
                <a:spcPts val="5600"/>
              </a:lnSpc>
            </a:pPr>
            <a:r>
              <a:rPr lang="en-US" altLang="zh-CN" sz="2800" dirty="0"/>
              <a:t> ANSI SQL</a:t>
            </a:r>
            <a:endParaRPr lang="zh-CN" altLang="zh-CN" sz="2800" b="1" dirty="0"/>
          </a:p>
          <a:p>
            <a:pPr>
              <a:lnSpc>
                <a:spcPts val="5600"/>
              </a:lnSpc>
            </a:pPr>
            <a:r>
              <a:rPr lang="en-US" altLang="zh-CN" sz="2800" dirty="0"/>
              <a:t> SQL Server</a:t>
            </a:r>
            <a:endParaRPr lang="zh-CN" altLang="zh-CN" dirty="0"/>
          </a:p>
        </p:txBody>
      </p:sp>
      <p:sp>
        <p:nvSpPr>
          <p:cNvPr id="4" name="日期占位符 3"/>
          <p:cNvSpPr>
            <a:spLocks noGrp="1"/>
          </p:cNvSpPr>
          <p:nvPr>
            <p:ph type="dt" sz="half" idx="10"/>
          </p:nvPr>
        </p:nvSpPr>
        <p:spPr/>
        <p:txBody>
          <a:bodyPr/>
          <a:lstStyle/>
          <a:p>
            <a:fld id="{2E8DDE50-33CC-FB4E-919A-F0FD705B150E}"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a:t>
            </a:fld>
            <a:endParaRPr lang="zh-CN" altLang="en-US" dirty="0"/>
          </a:p>
        </p:txBody>
      </p:sp>
    </p:spTree>
    <p:extLst>
      <p:ext uri="{BB962C8B-B14F-4D97-AF65-F5344CB8AC3E}">
        <p14:creationId xmlns:p14="http://schemas.microsoft.com/office/powerpoint/2010/main" val="171689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4.1.1  ANSI SQL</a:t>
            </a:r>
            <a:endParaRPr lang="zh-CN" altLang="en-US" dirty="0">
              <a:solidFill>
                <a:srgbClr val="0000FF"/>
              </a:solidFill>
            </a:endParaRPr>
          </a:p>
        </p:txBody>
      </p:sp>
      <p:sp>
        <p:nvSpPr>
          <p:cNvPr id="4" name="日期占位符 3"/>
          <p:cNvSpPr>
            <a:spLocks noGrp="1"/>
          </p:cNvSpPr>
          <p:nvPr>
            <p:ph type="dt" sz="half" idx="10"/>
          </p:nvPr>
        </p:nvSpPr>
        <p:spPr/>
        <p:txBody>
          <a:bodyPr/>
          <a:lstStyle/>
          <a:p>
            <a:fld id="{AE626CD0-0D9F-A24B-86FB-21CB28C2ECE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en-US" altLang="zh-CN" sz="2000" dirty="0"/>
              <a:t>SQL</a:t>
            </a:r>
            <a:r>
              <a:rPr lang="zh-CN" altLang="zh-CN" sz="2000" dirty="0"/>
              <a:t>由</a:t>
            </a:r>
            <a:r>
              <a:rPr lang="en-US" altLang="zh-CN" sz="2000" dirty="0"/>
              <a:t>Boyce</a:t>
            </a:r>
            <a:r>
              <a:rPr lang="zh-CN" altLang="zh-CN" sz="2000" dirty="0"/>
              <a:t>和</a:t>
            </a:r>
            <a:r>
              <a:rPr lang="en-US" altLang="zh-CN" sz="2000" dirty="0"/>
              <a:t>Chamberlin</a:t>
            </a:r>
            <a:r>
              <a:rPr lang="zh-CN" altLang="zh-CN" sz="2000" dirty="0"/>
              <a:t>于</a:t>
            </a:r>
            <a:r>
              <a:rPr lang="en-US" altLang="zh-CN" sz="2000" dirty="0"/>
              <a:t>1974</a:t>
            </a:r>
            <a:r>
              <a:rPr lang="zh-CN" altLang="zh-CN" sz="2000" dirty="0"/>
              <a:t>年提出。功能丰富、简单易学的语言，经过不断完善，最终发展成为关系数据库的标准语言。</a:t>
            </a:r>
          </a:p>
          <a:p>
            <a:r>
              <a:rPr lang="en-US" altLang="zh-CN" sz="2000" dirty="0">
                <a:solidFill>
                  <a:srgbClr val="0000FF"/>
                </a:solidFill>
              </a:rPr>
              <a:t>SQL</a:t>
            </a:r>
            <a:r>
              <a:rPr lang="zh-CN" altLang="en-US" sz="2000" dirty="0">
                <a:solidFill>
                  <a:srgbClr val="0000FF"/>
                </a:solidFill>
              </a:rPr>
              <a:t>标准：</a:t>
            </a:r>
            <a:r>
              <a:rPr lang="zh-CN" altLang="zh-CN" sz="2000" dirty="0"/>
              <a:t>美国国家标准局（</a:t>
            </a:r>
            <a:r>
              <a:rPr lang="en-US" altLang="zh-CN" sz="2000" dirty="0"/>
              <a:t>American National Standard Institute</a:t>
            </a:r>
            <a:r>
              <a:rPr lang="zh-CN" altLang="zh-CN" sz="2000" dirty="0"/>
              <a:t>，</a:t>
            </a:r>
            <a:r>
              <a:rPr lang="en-US" altLang="zh-CN" sz="2000" dirty="0"/>
              <a:t>ANSI</a:t>
            </a:r>
            <a:r>
              <a:rPr lang="zh-CN" altLang="zh-CN" sz="2000" dirty="0"/>
              <a:t>）的数据库委员会公布了</a:t>
            </a:r>
            <a:r>
              <a:rPr lang="en-US" altLang="zh-CN" sz="2000" dirty="0"/>
              <a:t>SQL-86</a:t>
            </a:r>
            <a:r>
              <a:rPr lang="zh-CN" altLang="zh-CN" sz="2000" dirty="0"/>
              <a:t>标准，批准</a:t>
            </a:r>
            <a:r>
              <a:rPr lang="en-US" altLang="zh-CN" sz="2000" dirty="0"/>
              <a:t>SQL</a:t>
            </a:r>
            <a:r>
              <a:rPr lang="zh-CN" altLang="zh-CN" sz="2000" dirty="0"/>
              <a:t>为关系数据库语言的美国标准。国际标准化组织（</a:t>
            </a:r>
            <a:r>
              <a:rPr lang="en-US" altLang="zh-CN" sz="2000" dirty="0"/>
              <a:t>International Organization for Standardization</a:t>
            </a:r>
            <a:r>
              <a:rPr lang="zh-CN" altLang="zh-CN" sz="2000" dirty="0"/>
              <a:t>，</a:t>
            </a:r>
            <a:r>
              <a:rPr lang="en-US" altLang="zh-CN" sz="2000" dirty="0"/>
              <a:t>ISO</a:t>
            </a:r>
            <a:r>
              <a:rPr lang="zh-CN" altLang="zh-CN" sz="2000" dirty="0"/>
              <a:t>）通过了</a:t>
            </a:r>
            <a:r>
              <a:rPr lang="en-US" altLang="zh-CN" sz="2000" dirty="0"/>
              <a:t>SQL-86</a:t>
            </a:r>
            <a:r>
              <a:rPr lang="zh-CN" altLang="zh-CN" sz="2000" dirty="0"/>
              <a:t>标准。</a:t>
            </a:r>
          </a:p>
          <a:p>
            <a:pPr marL="363538" indent="0">
              <a:buNone/>
            </a:pPr>
            <a:r>
              <a:rPr lang="en-US" altLang="zh-CN" sz="1800" dirty="0"/>
              <a:t>SQL-1974 Boyce IBM</a:t>
            </a:r>
            <a:r>
              <a:rPr lang="zh-CN" altLang="zh-CN" sz="1800" dirty="0"/>
              <a:t>、</a:t>
            </a:r>
            <a:r>
              <a:rPr lang="en-US" altLang="zh-CN" sz="1800" dirty="0"/>
              <a:t>SQL-86</a:t>
            </a:r>
            <a:r>
              <a:rPr lang="zh-CN" altLang="zh-CN" sz="1800" dirty="0"/>
              <a:t>、</a:t>
            </a:r>
            <a:r>
              <a:rPr lang="en-US" altLang="zh-CN" sz="1800" dirty="0"/>
              <a:t>SQL-89</a:t>
            </a:r>
            <a:r>
              <a:rPr lang="zh-CN" altLang="zh-CN" sz="1800" dirty="0"/>
              <a:t>、</a:t>
            </a:r>
            <a:r>
              <a:rPr lang="en-US" altLang="zh-CN" sz="1800" dirty="0"/>
              <a:t>SQL-92</a:t>
            </a:r>
            <a:r>
              <a:rPr lang="zh-CN" altLang="zh-CN" sz="1800" dirty="0"/>
              <a:t>、</a:t>
            </a:r>
            <a:r>
              <a:rPr lang="en-US" altLang="zh-CN" sz="1800" dirty="0"/>
              <a:t>SQL-99</a:t>
            </a:r>
            <a:r>
              <a:rPr lang="zh-CN" altLang="zh-CN" sz="1800" dirty="0"/>
              <a:t>和</a:t>
            </a:r>
            <a:r>
              <a:rPr lang="en-US" altLang="zh-CN" sz="1800" dirty="0"/>
              <a:t>SQL-2003</a:t>
            </a:r>
            <a:r>
              <a:rPr lang="zh-CN" altLang="zh-CN" sz="1800" dirty="0"/>
              <a:t>等</a:t>
            </a:r>
          </a:p>
          <a:p>
            <a:r>
              <a:rPr lang="en-US" altLang="zh-CN" sz="2000" dirty="0">
                <a:solidFill>
                  <a:srgbClr val="0000FF"/>
                </a:solidFill>
              </a:rPr>
              <a:t>SQL</a:t>
            </a:r>
            <a:r>
              <a:rPr lang="zh-CN" altLang="zh-CN" sz="2000" dirty="0">
                <a:solidFill>
                  <a:srgbClr val="0000FF"/>
                </a:solidFill>
              </a:rPr>
              <a:t>子语言</a:t>
            </a:r>
            <a:r>
              <a:rPr lang="zh-CN" altLang="en-US" sz="2000" dirty="0">
                <a:solidFill>
                  <a:srgbClr val="0000FF"/>
                </a:solidFill>
              </a:rPr>
              <a:t>：</a:t>
            </a:r>
            <a:r>
              <a:rPr lang="zh-CN" altLang="zh-CN" sz="2000" dirty="0"/>
              <a:t>数据定义语言（</a:t>
            </a:r>
            <a:r>
              <a:rPr lang="en-US" altLang="zh-CN" sz="2000" dirty="0"/>
              <a:t>Data Definition Language </a:t>
            </a:r>
            <a:r>
              <a:rPr lang="zh-CN" altLang="zh-CN" sz="2000" dirty="0"/>
              <a:t>，</a:t>
            </a:r>
            <a:r>
              <a:rPr lang="en-US" altLang="zh-CN" sz="2000" dirty="0"/>
              <a:t>DDL</a:t>
            </a:r>
            <a:r>
              <a:rPr lang="zh-CN" altLang="zh-CN" sz="2000" dirty="0"/>
              <a:t>）、数据操纵语言（</a:t>
            </a:r>
            <a:r>
              <a:rPr lang="en-US" altLang="zh-CN" sz="2000" dirty="0"/>
              <a:t>Data Manipulation Language</a:t>
            </a:r>
            <a:r>
              <a:rPr lang="zh-CN" altLang="zh-CN" sz="2000" dirty="0"/>
              <a:t>，</a:t>
            </a:r>
            <a:r>
              <a:rPr lang="en-US" altLang="zh-CN" sz="2000" dirty="0"/>
              <a:t>DML</a:t>
            </a:r>
            <a:r>
              <a:rPr lang="zh-CN" altLang="zh-CN" sz="2000" dirty="0"/>
              <a:t>）和数据控制语言（</a:t>
            </a:r>
            <a:r>
              <a:rPr lang="en-US" altLang="zh-CN" sz="2000" dirty="0"/>
              <a:t>Data Control Language</a:t>
            </a:r>
            <a:r>
              <a:rPr lang="zh-CN" altLang="zh-CN" sz="2000" dirty="0"/>
              <a:t>，</a:t>
            </a:r>
            <a:r>
              <a:rPr lang="en-US" altLang="zh-CN" sz="2000" dirty="0"/>
              <a:t>DCL</a:t>
            </a:r>
            <a:r>
              <a:rPr lang="zh-CN" altLang="zh-CN" sz="2000" dirty="0"/>
              <a:t>）等</a:t>
            </a:r>
          </a:p>
          <a:p>
            <a:r>
              <a:rPr lang="en-US" altLang="zh-CN" sz="2000" dirty="0">
                <a:solidFill>
                  <a:srgbClr val="0000FF"/>
                </a:solidFill>
              </a:rPr>
              <a:t>ODBC</a:t>
            </a:r>
            <a:r>
              <a:rPr lang="zh-CN" altLang="zh-CN" sz="2000" dirty="0">
                <a:solidFill>
                  <a:srgbClr val="0000FF"/>
                </a:solidFill>
              </a:rPr>
              <a:t>标准</a:t>
            </a:r>
            <a:r>
              <a:rPr lang="zh-CN" altLang="en-US" sz="2000" dirty="0">
                <a:solidFill>
                  <a:srgbClr val="0000FF"/>
                </a:solidFill>
              </a:rPr>
              <a:t>：</a:t>
            </a:r>
            <a:r>
              <a:rPr lang="en-US" altLang="zh-CN" sz="2000" dirty="0"/>
              <a:t>SQL</a:t>
            </a:r>
            <a:r>
              <a:rPr lang="zh-CN" altLang="zh-CN" sz="2000" dirty="0"/>
              <a:t>已经成为数据库厂家推出的数据库产品的标准数据存取语言和标准数据库接口</a:t>
            </a:r>
            <a:endParaRPr lang="zh-CN" altLang="en-US" sz="2000" dirty="0"/>
          </a:p>
        </p:txBody>
      </p:sp>
    </p:spTree>
    <p:extLst>
      <p:ext uri="{BB962C8B-B14F-4D97-AF65-F5344CB8AC3E}">
        <p14:creationId xmlns:p14="http://schemas.microsoft.com/office/powerpoint/2010/main" val="60168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4.1.2 SQL Server</a:t>
            </a:r>
            <a:endParaRPr lang="zh-CN" altLang="en-US" dirty="0">
              <a:solidFill>
                <a:srgbClr val="0000FF"/>
              </a:solidFill>
            </a:endParaRPr>
          </a:p>
        </p:txBody>
      </p:sp>
      <p:sp>
        <p:nvSpPr>
          <p:cNvPr id="4" name="日期占位符 3"/>
          <p:cNvSpPr>
            <a:spLocks noGrp="1"/>
          </p:cNvSpPr>
          <p:nvPr>
            <p:ph type="dt" sz="half" idx="10"/>
          </p:nvPr>
        </p:nvSpPr>
        <p:spPr/>
        <p:txBody>
          <a:bodyPr/>
          <a:lstStyle/>
          <a:p>
            <a:fld id="{6E189A09-2968-EF40-8F88-403D8519137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dirty="0"/>
              <a:t>正是因为</a:t>
            </a:r>
            <a:r>
              <a:rPr lang="en-US" altLang="zh-CN" dirty="0"/>
              <a:t>SQL Server 2016</a:t>
            </a:r>
            <a:r>
              <a:rPr lang="zh-CN" altLang="zh-CN" dirty="0"/>
              <a:t>自身的优点，以及它提供的功能强大的管理工作室，使得数据库管理方便、快捷、安全、稳定、高效。</a:t>
            </a:r>
          </a:p>
          <a:p>
            <a:r>
              <a:rPr lang="en-US" altLang="zh-CN" dirty="0">
                <a:solidFill>
                  <a:srgbClr val="0000FF"/>
                </a:solidFill>
              </a:rPr>
              <a:t>SQL Server</a:t>
            </a:r>
            <a:r>
              <a:rPr lang="zh-CN" altLang="zh-CN" dirty="0">
                <a:solidFill>
                  <a:srgbClr val="0000FF"/>
                </a:solidFill>
              </a:rPr>
              <a:t>的特点</a:t>
            </a:r>
            <a:endParaRPr lang="en-US" altLang="zh-CN" dirty="0">
              <a:solidFill>
                <a:srgbClr val="0000FF"/>
              </a:solidFill>
            </a:endParaRPr>
          </a:p>
          <a:p>
            <a:r>
              <a:rPr lang="en-US" altLang="zh-CN" dirty="0">
                <a:solidFill>
                  <a:srgbClr val="0000FF"/>
                </a:solidFill>
              </a:rPr>
              <a:t>SQL Server </a:t>
            </a:r>
            <a:r>
              <a:rPr lang="zh-CN" altLang="zh-CN" dirty="0">
                <a:solidFill>
                  <a:srgbClr val="0000FF"/>
                </a:solidFill>
              </a:rPr>
              <a:t>管理工作室</a:t>
            </a:r>
          </a:p>
        </p:txBody>
      </p:sp>
    </p:spTree>
    <p:extLst>
      <p:ext uri="{BB962C8B-B14F-4D97-AF65-F5344CB8AC3E}">
        <p14:creationId xmlns:p14="http://schemas.microsoft.com/office/powerpoint/2010/main" val="3111729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1. SQL Server</a:t>
            </a:r>
            <a:r>
              <a:rPr lang="zh-CN" altLang="zh-CN" dirty="0"/>
              <a:t>的</a:t>
            </a:r>
            <a:r>
              <a:rPr lang="zh-CN" altLang="zh-CN" dirty="0">
                <a:solidFill>
                  <a:srgbClr val="0000FF"/>
                </a:solidFill>
              </a:rPr>
              <a:t>特点</a:t>
            </a:r>
            <a:endParaRPr lang="zh-CN" altLang="en-US" dirty="0">
              <a:solidFill>
                <a:srgbClr val="0000FF"/>
              </a:solidFill>
            </a:endParaRPr>
          </a:p>
        </p:txBody>
      </p:sp>
      <p:sp>
        <p:nvSpPr>
          <p:cNvPr id="4" name="日期占位符 3"/>
          <p:cNvSpPr>
            <a:spLocks noGrp="1"/>
          </p:cNvSpPr>
          <p:nvPr>
            <p:ph type="dt" sz="half" idx="10"/>
          </p:nvPr>
        </p:nvSpPr>
        <p:spPr/>
        <p:txBody>
          <a:bodyPr/>
          <a:lstStyle/>
          <a:p>
            <a:fld id="{6DBA9169-968B-B646-B9B5-BC6F017F0E03}"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综合统一</a:t>
            </a:r>
          </a:p>
          <a:p>
            <a:pPr marL="363538" indent="0">
              <a:buNone/>
            </a:pPr>
            <a:r>
              <a:rPr lang="zh-CN" altLang="zh-CN" sz="2000" dirty="0"/>
              <a:t>集成</a:t>
            </a:r>
            <a:r>
              <a:rPr lang="en-US" altLang="zh-CN" sz="2000" dirty="0"/>
              <a:t>DDL</a:t>
            </a:r>
            <a:r>
              <a:rPr lang="zh-CN" altLang="zh-CN" sz="2000" dirty="0"/>
              <a:t>、</a:t>
            </a:r>
            <a:r>
              <a:rPr lang="en-US" altLang="zh-CN" sz="2000" dirty="0"/>
              <a:t>DML</a:t>
            </a:r>
            <a:r>
              <a:rPr lang="zh-CN" altLang="zh-CN" sz="2000" dirty="0"/>
              <a:t>和</a:t>
            </a:r>
            <a:r>
              <a:rPr lang="en-US" altLang="zh-CN" sz="2000" dirty="0"/>
              <a:t>DCL</a:t>
            </a:r>
            <a:r>
              <a:rPr lang="zh-CN" altLang="zh-CN" sz="2000" dirty="0"/>
              <a:t>于一身，语言风格统一，独立完成数据管理</a:t>
            </a:r>
          </a:p>
          <a:p>
            <a:r>
              <a:rPr lang="zh-CN" altLang="zh-CN" sz="2000" dirty="0">
                <a:solidFill>
                  <a:srgbClr val="0000FF"/>
                </a:solidFill>
              </a:rPr>
              <a:t>语法简单，易学易用</a:t>
            </a:r>
          </a:p>
          <a:p>
            <a:pPr marL="363538" indent="0">
              <a:buNone/>
            </a:pPr>
            <a:r>
              <a:rPr lang="zh-CN" altLang="zh-CN" sz="2000" dirty="0"/>
              <a:t>设计巧妙、语法简捷、易学易用、功能极强。完成数据库管理的核心功能仅使用了</a:t>
            </a:r>
            <a:r>
              <a:rPr lang="en-US" altLang="zh-CN" sz="2000" dirty="0"/>
              <a:t>9</a:t>
            </a:r>
            <a:r>
              <a:rPr lang="zh-CN" altLang="zh-CN" sz="2000" dirty="0"/>
              <a:t>个动词（</a:t>
            </a:r>
            <a:r>
              <a:rPr lang="en-US" altLang="zh-CN" sz="2000" dirty="0"/>
              <a:t>Create</a:t>
            </a:r>
            <a:r>
              <a:rPr lang="zh-CN" altLang="zh-CN" sz="2000" dirty="0"/>
              <a:t>、</a:t>
            </a:r>
            <a:r>
              <a:rPr lang="en-US" altLang="zh-CN" sz="2000" dirty="0"/>
              <a:t>Select</a:t>
            </a:r>
            <a:r>
              <a:rPr lang="zh-CN" altLang="zh-CN" sz="2000" dirty="0"/>
              <a:t>、</a:t>
            </a:r>
            <a:r>
              <a:rPr lang="en-US" altLang="zh-CN" sz="2000" dirty="0"/>
              <a:t>Drop</a:t>
            </a:r>
            <a:r>
              <a:rPr lang="zh-CN" altLang="zh-CN" sz="2000" dirty="0"/>
              <a:t>、</a:t>
            </a:r>
            <a:r>
              <a:rPr lang="en-US" altLang="zh-CN" sz="2000" dirty="0"/>
              <a:t>Alter</a:t>
            </a:r>
            <a:r>
              <a:rPr lang="zh-CN" altLang="zh-CN" sz="2000" dirty="0"/>
              <a:t>、</a:t>
            </a:r>
            <a:r>
              <a:rPr lang="en-US" altLang="zh-CN" sz="2000" dirty="0"/>
              <a:t>Insert</a:t>
            </a:r>
            <a:r>
              <a:rPr lang="zh-CN" altLang="zh-CN" sz="2000" dirty="0"/>
              <a:t>、</a:t>
            </a:r>
            <a:r>
              <a:rPr lang="en-US" altLang="zh-CN" sz="2000" dirty="0"/>
              <a:t>Update</a:t>
            </a:r>
            <a:r>
              <a:rPr lang="zh-CN" altLang="zh-CN" sz="2000" dirty="0"/>
              <a:t>、</a:t>
            </a:r>
            <a:r>
              <a:rPr lang="en-US" altLang="zh-CN" sz="2000" dirty="0"/>
              <a:t>Delete</a:t>
            </a:r>
            <a:r>
              <a:rPr lang="zh-CN" altLang="zh-CN" sz="2000" dirty="0"/>
              <a:t>、</a:t>
            </a:r>
            <a:r>
              <a:rPr lang="en-US" altLang="zh-CN" sz="2000" dirty="0"/>
              <a:t>Grant</a:t>
            </a:r>
            <a:r>
              <a:rPr lang="zh-CN" altLang="zh-CN" sz="2000" dirty="0"/>
              <a:t>和</a:t>
            </a:r>
            <a:r>
              <a:rPr lang="en-US" altLang="zh-CN" sz="2000" dirty="0"/>
              <a:t>Revoke</a:t>
            </a:r>
            <a:r>
              <a:rPr lang="zh-CN" altLang="zh-CN" sz="2000" dirty="0"/>
              <a:t>等）</a:t>
            </a:r>
          </a:p>
          <a:p>
            <a:r>
              <a:rPr lang="zh-CN" altLang="zh-CN" sz="2000" dirty="0">
                <a:solidFill>
                  <a:srgbClr val="0000FF"/>
                </a:solidFill>
              </a:rPr>
              <a:t>面向集合操作</a:t>
            </a:r>
            <a:r>
              <a:rPr lang="en-US" altLang="zh-CN" sz="2000" dirty="0"/>
              <a:t>	</a:t>
            </a:r>
            <a:endParaRPr lang="zh-CN" altLang="zh-CN" sz="2000" dirty="0"/>
          </a:p>
          <a:p>
            <a:pPr marL="363538" indent="0">
              <a:buNone/>
            </a:pPr>
            <a:r>
              <a:rPr lang="en-US" altLang="zh-CN" sz="2000" dirty="0"/>
              <a:t>SQL </a:t>
            </a:r>
            <a:r>
              <a:rPr lang="zh-CN" altLang="zh-CN" sz="2000" dirty="0"/>
              <a:t>全面采用集合操作方式。其查找、插入、修改和删除等操作的操作对象均是集合。</a:t>
            </a:r>
          </a:p>
          <a:p>
            <a:r>
              <a:rPr lang="zh-CN" altLang="zh-CN" sz="2000" dirty="0">
                <a:solidFill>
                  <a:srgbClr val="0000FF"/>
                </a:solidFill>
              </a:rPr>
              <a:t>高度非过程化</a:t>
            </a:r>
          </a:p>
          <a:p>
            <a:r>
              <a:rPr lang="zh-CN" altLang="zh-CN" sz="2000" dirty="0">
                <a:solidFill>
                  <a:srgbClr val="0000FF"/>
                </a:solidFill>
              </a:rPr>
              <a:t>一语多用</a:t>
            </a:r>
            <a:r>
              <a:rPr lang="zh-CN" altLang="en-US" sz="2000" dirty="0">
                <a:solidFill>
                  <a:srgbClr val="0000FF"/>
                </a:solidFill>
              </a:rPr>
              <a:t>：</a:t>
            </a:r>
            <a:r>
              <a:rPr lang="zh-CN" altLang="zh-CN" sz="2000" dirty="0"/>
              <a:t>既是自含式语言，又是嵌入式语言</a:t>
            </a:r>
            <a:endParaRPr lang="zh-CN" altLang="en-US" sz="2000" dirty="0"/>
          </a:p>
        </p:txBody>
      </p:sp>
    </p:spTree>
    <p:extLst>
      <p:ext uri="{BB962C8B-B14F-4D97-AF65-F5344CB8AC3E}">
        <p14:creationId xmlns:p14="http://schemas.microsoft.com/office/powerpoint/2010/main" val="2209893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SQL Server </a:t>
            </a:r>
            <a:r>
              <a:rPr lang="zh-CN" altLang="zh-CN" dirty="0"/>
              <a:t>管理工作室</a:t>
            </a:r>
            <a:endParaRPr lang="zh-CN" altLang="en-US" dirty="0">
              <a:solidFill>
                <a:srgbClr val="0000FF"/>
              </a:solidFill>
            </a:endParaRPr>
          </a:p>
        </p:txBody>
      </p:sp>
      <p:sp>
        <p:nvSpPr>
          <p:cNvPr id="4" name="日期占位符 3"/>
          <p:cNvSpPr>
            <a:spLocks noGrp="1"/>
          </p:cNvSpPr>
          <p:nvPr>
            <p:ph type="dt" sz="half" idx="10"/>
          </p:nvPr>
        </p:nvSpPr>
        <p:spPr/>
        <p:txBody>
          <a:bodyPr/>
          <a:lstStyle/>
          <a:p>
            <a:fld id="{68E844AB-D235-7146-844A-049FB143A33E}"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en-US" altLang="zh-CN" sz="2000" dirty="0"/>
              <a:t>SQL Server </a:t>
            </a:r>
            <a:r>
              <a:rPr lang="zh-CN" altLang="zh-CN" sz="2000" dirty="0"/>
              <a:t>的管理工作室（</a:t>
            </a:r>
            <a:r>
              <a:rPr lang="en-US" altLang="zh-CN" sz="2000" dirty="0"/>
              <a:t>SQL Server Management Studio</a:t>
            </a:r>
            <a:r>
              <a:rPr lang="zh-CN" altLang="zh-CN" sz="2000" dirty="0"/>
              <a:t>，</a:t>
            </a:r>
            <a:r>
              <a:rPr lang="en-US" altLang="zh-CN" sz="2000" dirty="0"/>
              <a:t>SSMS</a:t>
            </a:r>
            <a:r>
              <a:rPr lang="zh-CN" altLang="zh-CN" sz="2000" dirty="0"/>
              <a:t>）是为数据库管理员和开发人员提供的新工具，由</a:t>
            </a:r>
            <a:r>
              <a:rPr lang="en-US" altLang="zh-CN" sz="2000" dirty="0"/>
              <a:t> Microsoft Visual Studio </a:t>
            </a:r>
            <a:r>
              <a:rPr lang="zh-CN" altLang="zh-CN" sz="2000" dirty="0"/>
              <a:t>内部承载，提供了用于数据库管理的图形工具和功能丰富的开发环境。</a:t>
            </a:r>
            <a:r>
              <a:rPr lang="en-US" altLang="zh-CN" sz="2000" dirty="0"/>
              <a:t>SSMS</a:t>
            </a:r>
            <a:r>
              <a:rPr lang="zh-CN" altLang="zh-CN" sz="2000" dirty="0"/>
              <a:t>将</a:t>
            </a:r>
            <a:r>
              <a:rPr lang="en-US" altLang="zh-CN" sz="2000" dirty="0"/>
              <a:t>SQL Server 2000 </a:t>
            </a:r>
            <a:r>
              <a:rPr lang="zh-CN" altLang="zh-CN" sz="2000" dirty="0"/>
              <a:t>企业管理器、</a:t>
            </a:r>
            <a:r>
              <a:rPr lang="en-US" altLang="zh-CN" sz="2000" dirty="0"/>
              <a:t>Analysis Manager </a:t>
            </a:r>
            <a:r>
              <a:rPr lang="zh-CN" altLang="zh-CN" sz="2000" dirty="0"/>
              <a:t>和查询分析器等功能集成于一身。利用</a:t>
            </a:r>
            <a:r>
              <a:rPr lang="en-US" altLang="zh-CN" sz="2000" dirty="0"/>
              <a:t>SSMS</a:t>
            </a:r>
            <a:r>
              <a:rPr lang="zh-CN" altLang="zh-CN" sz="2000" dirty="0"/>
              <a:t>不但可以创建数据库、表和视图等数据库管理，而且还可用于编写</a:t>
            </a:r>
            <a:r>
              <a:rPr lang="en-US" altLang="zh-CN" sz="2000" dirty="0"/>
              <a:t> MDX</a:t>
            </a:r>
            <a:r>
              <a:rPr lang="zh-CN" altLang="zh-CN" sz="2000" dirty="0"/>
              <a:t>、</a:t>
            </a:r>
            <a:r>
              <a:rPr lang="en-US" altLang="zh-CN" sz="2000" dirty="0"/>
              <a:t>XMLA </a:t>
            </a:r>
            <a:r>
              <a:rPr lang="zh-CN" altLang="zh-CN" sz="2000" dirty="0"/>
              <a:t>和</a:t>
            </a:r>
            <a:r>
              <a:rPr lang="en-US" altLang="zh-CN" sz="2000" dirty="0"/>
              <a:t> XML </a:t>
            </a:r>
            <a:r>
              <a:rPr lang="zh-CN" altLang="zh-CN" sz="2000" dirty="0"/>
              <a:t>语句。</a:t>
            </a:r>
          </a:p>
          <a:p>
            <a:r>
              <a:rPr lang="zh-CN" altLang="zh-CN" sz="2000" dirty="0"/>
              <a:t>启动</a:t>
            </a:r>
            <a:r>
              <a:rPr lang="zh-CN" altLang="en-US" sz="2000" dirty="0"/>
              <a:t>：</a:t>
            </a:r>
            <a:r>
              <a:rPr lang="en-US" altLang="zh-CN" sz="2000" dirty="0"/>
              <a:t>GUI</a:t>
            </a:r>
            <a:r>
              <a:rPr lang="zh-CN" altLang="zh-CN" sz="2000" dirty="0"/>
              <a:t>如图</a:t>
            </a:r>
            <a:r>
              <a:rPr lang="en-US" altLang="zh-CN" sz="2000" dirty="0"/>
              <a:t>4-1</a:t>
            </a:r>
            <a:r>
              <a:rPr lang="zh-CN" altLang="zh-CN" sz="2000" dirty="0"/>
              <a:t>所示，启动方法如下：</a:t>
            </a:r>
          </a:p>
          <a:p>
            <a:pPr marL="363538" indent="0">
              <a:buNone/>
            </a:pPr>
            <a:r>
              <a:rPr lang="zh-CN" altLang="zh-CN" sz="2000" dirty="0"/>
              <a:t>开始→程序→</a:t>
            </a:r>
            <a:r>
              <a:rPr lang="en-US" altLang="zh-CN" sz="2000" dirty="0"/>
              <a:t>Microsoft SQL Server 2016</a:t>
            </a:r>
            <a:r>
              <a:rPr lang="zh-CN" altLang="zh-CN" sz="2000" dirty="0"/>
              <a:t>→</a:t>
            </a:r>
            <a:r>
              <a:rPr lang="en-US" altLang="zh-CN" sz="2000" dirty="0"/>
              <a:t>SQL Server Management Studio</a:t>
            </a:r>
            <a:r>
              <a:rPr lang="zh-CN" altLang="zh-CN" sz="2000" dirty="0"/>
              <a:t>。</a:t>
            </a:r>
          </a:p>
          <a:p>
            <a:r>
              <a:rPr lang="zh-CN" altLang="zh-CN" sz="2000" dirty="0"/>
              <a:t>组成</a:t>
            </a:r>
            <a:r>
              <a:rPr lang="zh-CN" altLang="en-US" sz="2000" dirty="0"/>
              <a:t>：</a:t>
            </a:r>
            <a:r>
              <a:rPr lang="zh-CN" altLang="zh-CN" sz="2000" dirty="0"/>
              <a:t>由对象资源管理器（图</a:t>
            </a:r>
            <a:r>
              <a:rPr lang="en-US" altLang="zh-CN" sz="2000" dirty="0"/>
              <a:t>2-1</a:t>
            </a:r>
            <a:r>
              <a:rPr lang="zh-CN" altLang="zh-CN" sz="2000" dirty="0"/>
              <a:t>的左侧）和多文档浏览与编辑区（查询分析器</a:t>
            </a:r>
            <a:r>
              <a:rPr lang="en-US" altLang="zh-CN" sz="2000" dirty="0"/>
              <a:t> + </a:t>
            </a:r>
            <a:r>
              <a:rPr lang="zh-CN" altLang="zh-CN" sz="2000" dirty="0"/>
              <a:t>表结构设计器</a:t>
            </a:r>
            <a:r>
              <a:rPr lang="en-US" altLang="zh-CN" sz="2000" dirty="0"/>
              <a:t> + </a:t>
            </a:r>
            <a:r>
              <a:rPr lang="zh-CN" altLang="zh-CN" sz="2000" dirty="0"/>
              <a:t>表记录编辑器</a:t>
            </a:r>
            <a:r>
              <a:rPr lang="en-US" altLang="zh-CN" sz="2000" dirty="0"/>
              <a:t> + </a:t>
            </a:r>
            <a:r>
              <a:rPr lang="zh-CN" altLang="zh-CN" sz="2000" dirty="0"/>
              <a:t>信息浏览等，图</a:t>
            </a:r>
            <a:r>
              <a:rPr lang="en-US" altLang="zh-CN" sz="2000" dirty="0"/>
              <a:t>4-1</a:t>
            </a:r>
            <a:r>
              <a:rPr lang="zh-CN" altLang="zh-CN" sz="2000" dirty="0"/>
              <a:t>的右侧）等。</a:t>
            </a:r>
            <a:endParaRPr lang="zh-CN" altLang="en-US" sz="2000" dirty="0"/>
          </a:p>
        </p:txBody>
      </p:sp>
    </p:spTree>
    <p:extLst>
      <p:ext uri="{BB962C8B-B14F-4D97-AF65-F5344CB8AC3E}">
        <p14:creationId xmlns:p14="http://schemas.microsoft.com/office/powerpoint/2010/main" val="160829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0456"/>
            <a:ext cx="8219256" cy="445442"/>
          </a:xfrm>
        </p:spPr>
        <p:txBody>
          <a:bodyPr>
            <a:noAutofit/>
          </a:bodyPr>
          <a:lstStyle/>
          <a:p>
            <a:r>
              <a:rPr lang="en-US" altLang="zh-CN" sz="2400" dirty="0"/>
              <a:t>2. SQL Server </a:t>
            </a:r>
            <a:r>
              <a:rPr lang="zh-CN" altLang="zh-CN" sz="2400" dirty="0"/>
              <a:t>管理工作室</a:t>
            </a:r>
            <a:endParaRPr lang="zh-CN" altLang="en-US" sz="2400" dirty="0"/>
          </a:p>
        </p:txBody>
      </p:sp>
      <p:sp>
        <p:nvSpPr>
          <p:cNvPr id="4" name="日期占位符 3"/>
          <p:cNvSpPr>
            <a:spLocks noGrp="1"/>
          </p:cNvSpPr>
          <p:nvPr>
            <p:ph type="dt" sz="half" idx="10"/>
          </p:nvPr>
        </p:nvSpPr>
        <p:spPr/>
        <p:txBody>
          <a:bodyPr/>
          <a:lstStyle/>
          <a:p>
            <a:fld id="{2AB82A18-62CC-F94F-8C30-B12A6AE76A1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9</a:t>
            </a:fld>
            <a:endParaRPr lang="zh-CN" altLang="en-US" dirty="0"/>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76672"/>
            <a:ext cx="7928895" cy="6308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8660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4.2 </a:t>
            </a:r>
            <a:r>
              <a:rPr lang="zh-CN" altLang="zh-CN" sz="3200" dirty="0"/>
              <a:t>创建数据库</a:t>
            </a:r>
            <a:endParaRPr lang="zh-CN" altLang="en-US" sz="3200" dirty="0"/>
          </a:p>
        </p:txBody>
      </p:sp>
      <p:sp>
        <p:nvSpPr>
          <p:cNvPr id="3" name="文本占位符 2"/>
          <p:cNvSpPr>
            <a:spLocks noGrp="1"/>
          </p:cNvSpPr>
          <p:nvPr>
            <p:ph type="body" idx="1"/>
          </p:nvPr>
        </p:nvSpPr>
        <p:spPr/>
        <p:txBody>
          <a:bodyPr/>
          <a:lstStyle/>
          <a:p>
            <a:r>
              <a:rPr lang="en-US" altLang="zh-CN" dirty="0"/>
              <a:t>SQL Server</a:t>
            </a:r>
            <a:r>
              <a:rPr lang="zh-CN" altLang="zh-CN" dirty="0"/>
              <a:t>的数据定义功能包括定义数据库、表、触发器、断言、视图、索引、登录、数据库角色、数据库角色和过程（如表</a:t>
            </a:r>
            <a:r>
              <a:rPr lang="en-US" altLang="zh-CN" dirty="0"/>
              <a:t>4-1</a:t>
            </a:r>
            <a:r>
              <a:rPr lang="zh-CN" altLang="zh-CN" dirty="0"/>
              <a:t>所示）等</a:t>
            </a:r>
            <a:endParaRPr lang="en-US" altLang="zh-CN" dirty="0"/>
          </a:p>
          <a:p>
            <a:r>
              <a:rPr lang="zh-CN" altLang="zh-CN" dirty="0"/>
              <a:t>数据库（存储文件）属于内模式，表属于模式，视图属于外模式，索引隶属于表，登录、数据库角色、数据库角色和登录属于数据库安全，过程属于存储过程（程序设计）</a:t>
            </a:r>
            <a:endParaRPr lang="en-US" altLang="zh-CN" dirty="0"/>
          </a:p>
          <a:p>
            <a:r>
              <a:rPr lang="zh-CN" altLang="zh-CN" dirty="0">
                <a:solidFill>
                  <a:srgbClr val="0000FF"/>
                </a:solidFill>
              </a:rPr>
              <a:t>创建数据库</a:t>
            </a:r>
            <a:r>
              <a:rPr lang="zh-CN" altLang="en-US" dirty="0">
                <a:solidFill>
                  <a:srgbClr val="0000FF"/>
                </a:solidFill>
              </a:rPr>
              <a:t>：创建 </a:t>
            </a:r>
            <a:r>
              <a:rPr lang="en-US" altLang="zh-CN" dirty="0">
                <a:solidFill>
                  <a:srgbClr val="0000FF"/>
                </a:solidFill>
              </a:rPr>
              <a:t>/ </a:t>
            </a:r>
            <a:r>
              <a:rPr lang="zh-CN" altLang="en-US" dirty="0">
                <a:solidFill>
                  <a:srgbClr val="0000FF"/>
                </a:solidFill>
              </a:rPr>
              <a:t>打开 </a:t>
            </a:r>
            <a:r>
              <a:rPr lang="en-US" altLang="zh-CN" dirty="0">
                <a:solidFill>
                  <a:srgbClr val="0000FF"/>
                </a:solidFill>
              </a:rPr>
              <a:t>/ </a:t>
            </a:r>
            <a:r>
              <a:rPr lang="zh-CN" altLang="en-US" dirty="0">
                <a:solidFill>
                  <a:srgbClr val="0000FF"/>
                </a:solidFill>
              </a:rPr>
              <a:t>关闭 </a:t>
            </a:r>
            <a:r>
              <a:rPr lang="en-US" altLang="zh-CN" dirty="0">
                <a:solidFill>
                  <a:srgbClr val="0000FF"/>
                </a:solidFill>
              </a:rPr>
              <a:t>/ </a:t>
            </a:r>
            <a:r>
              <a:rPr lang="zh-CN" altLang="en-US" dirty="0">
                <a:solidFill>
                  <a:srgbClr val="0000FF"/>
                </a:solidFill>
              </a:rPr>
              <a:t>删除</a:t>
            </a:r>
            <a:endParaRPr lang="en-US" altLang="zh-CN" dirty="0">
              <a:solidFill>
                <a:srgbClr val="0000FF"/>
              </a:solidFill>
            </a:endParaRPr>
          </a:p>
          <a:p>
            <a:r>
              <a:rPr lang="zh-CN" altLang="zh-CN" dirty="0">
                <a:solidFill>
                  <a:srgbClr val="0000FF"/>
                </a:solidFill>
              </a:rPr>
              <a:t>创建表</a:t>
            </a:r>
            <a:r>
              <a:rPr lang="zh-CN" altLang="en-US" dirty="0">
                <a:solidFill>
                  <a:srgbClr val="0000FF"/>
                </a:solidFill>
              </a:rPr>
              <a:t>：创建</a:t>
            </a:r>
            <a:r>
              <a:rPr lang="en-US" altLang="zh-CN" dirty="0">
                <a:solidFill>
                  <a:srgbClr val="0000FF"/>
                </a:solidFill>
              </a:rPr>
              <a:t>/</a:t>
            </a:r>
            <a:r>
              <a:rPr lang="zh-CN" altLang="en-US" dirty="0">
                <a:solidFill>
                  <a:srgbClr val="0000FF"/>
                </a:solidFill>
              </a:rPr>
              <a:t>修改</a:t>
            </a:r>
            <a:r>
              <a:rPr lang="en-US" altLang="zh-CN" dirty="0">
                <a:solidFill>
                  <a:srgbClr val="0000FF"/>
                </a:solidFill>
              </a:rPr>
              <a:t>/</a:t>
            </a:r>
            <a:r>
              <a:rPr lang="zh-CN" altLang="en-US" dirty="0">
                <a:solidFill>
                  <a:srgbClr val="0000FF"/>
                </a:solidFill>
              </a:rPr>
              <a:t>删除</a:t>
            </a:r>
            <a:r>
              <a:rPr lang="zh-CN" altLang="en-US" b="1" dirty="0">
                <a:solidFill>
                  <a:srgbClr val="FF00FF"/>
                </a:solidFill>
              </a:rPr>
              <a:t>结构</a:t>
            </a:r>
            <a:r>
              <a:rPr lang="zh-CN" altLang="en-US" dirty="0">
                <a:solidFill>
                  <a:srgbClr val="0000FF"/>
                </a:solidFill>
              </a:rPr>
              <a:t>； 添加</a:t>
            </a:r>
            <a:r>
              <a:rPr lang="en-US" altLang="zh-CN" dirty="0">
                <a:solidFill>
                  <a:srgbClr val="0000FF"/>
                </a:solidFill>
              </a:rPr>
              <a:t>/</a:t>
            </a:r>
            <a:r>
              <a:rPr lang="zh-CN" altLang="en-US" dirty="0">
                <a:solidFill>
                  <a:srgbClr val="0000FF"/>
                </a:solidFill>
              </a:rPr>
              <a:t>修改</a:t>
            </a:r>
            <a:r>
              <a:rPr lang="en-US" altLang="zh-CN" dirty="0">
                <a:solidFill>
                  <a:srgbClr val="0000FF"/>
                </a:solidFill>
              </a:rPr>
              <a:t>/</a:t>
            </a:r>
            <a:r>
              <a:rPr lang="zh-CN" altLang="en-US" dirty="0">
                <a:solidFill>
                  <a:srgbClr val="0000FF"/>
                </a:solidFill>
              </a:rPr>
              <a:t>删除</a:t>
            </a:r>
            <a:r>
              <a:rPr lang="zh-CN" altLang="en-US" b="1" dirty="0">
                <a:solidFill>
                  <a:srgbClr val="FF00FF"/>
                </a:solidFill>
              </a:rPr>
              <a:t>记录</a:t>
            </a:r>
            <a:endParaRPr lang="zh-CN" altLang="zh-CN" b="1" dirty="0">
              <a:solidFill>
                <a:srgbClr val="FF00FF"/>
              </a:solidFill>
            </a:endParaRPr>
          </a:p>
          <a:p>
            <a:endParaRPr lang="zh-CN" altLang="en-US" dirty="0"/>
          </a:p>
        </p:txBody>
      </p:sp>
      <p:sp>
        <p:nvSpPr>
          <p:cNvPr id="4" name="日期占位符 3"/>
          <p:cNvSpPr>
            <a:spLocks noGrp="1"/>
          </p:cNvSpPr>
          <p:nvPr>
            <p:ph type="dt" sz="half" idx="10"/>
          </p:nvPr>
        </p:nvSpPr>
        <p:spPr/>
        <p:txBody>
          <a:bodyPr/>
          <a:lstStyle/>
          <a:p>
            <a:fld id="{283C15A5-383F-464C-BBBC-44DDD6A46A9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10</a:t>
            </a:fld>
            <a:endParaRPr lang="zh-CN" altLang="en-US" dirty="0"/>
          </a:p>
        </p:txBody>
      </p:sp>
    </p:spTree>
    <p:extLst>
      <p:ext uri="{BB962C8B-B14F-4D97-AF65-F5344CB8AC3E}">
        <p14:creationId xmlns:p14="http://schemas.microsoft.com/office/powerpoint/2010/main" val="1065227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90066"/>
          </a:xfrm>
        </p:spPr>
        <p:txBody>
          <a:bodyPr>
            <a:normAutofit fontScale="90000"/>
          </a:bodyPr>
          <a:lstStyle/>
          <a:p>
            <a:r>
              <a:rPr lang="en-US" altLang="zh-CN" dirty="0"/>
              <a:t>SQL Server</a:t>
            </a:r>
            <a:r>
              <a:rPr lang="zh-CN" altLang="zh-CN" dirty="0"/>
              <a:t>的数据定义语句</a:t>
            </a:r>
            <a:endParaRPr lang="zh-CN" altLang="en-US" dirty="0">
              <a:solidFill>
                <a:srgbClr val="0000FF"/>
              </a:solidFill>
            </a:endParaRPr>
          </a:p>
        </p:txBody>
      </p:sp>
      <p:sp>
        <p:nvSpPr>
          <p:cNvPr id="4" name="日期占位符 3"/>
          <p:cNvSpPr>
            <a:spLocks noGrp="1"/>
          </p:cNvSpPr>
          <p:nvPr>
            <p:ph type="dt" sz="half" idx="10"/>
          </p:nvPr>
        </p:nvSpPr>
        <p:spPr/>
        <p:txBody>
          <a:bodyPr/>
          <a:lstStyle/>
          <a:p>
            <a:fld id="{2D5E9F9C-4BDA-1949-B5F1-5CF629BC276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11</a:t>
            </a:fld>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550185591"/>
              </p:ext>
            </p:extLst>
          </p:nvPr>
        </p:nvGraphicFramePr>
        <p:xfrm>
          <a:off x="107504" y="836710"/>
          <a:ext cx="8928992" cy="5544617"/>
        </p:xfrm>
        <a:graphic>
          <a:graphicData uri="http://schemas.openxmlformats.org/drawingml/2006/table">
            <a:tbl>
              <a:tblPr>
                <a:tableStyleId>{5C22544A-7EE6-4342-B048-85BDC9FD1C3A}</a:tableStyleId>
              </a:tblPr>
              <a:tblGrid>
                <a:gridCol w="1440160">
                  <a:extLst>
                    <a:ext uri="{9D8B030D-6E8A-4147-A177-3AD203B41FA5}">
                      <a16:colId xmlns:a16="http://schemas.microsoft.com/office/drawing/2014/main" val="20000"/>
                    </a:ext>
                  </a:extLst>
                </a:gridCol>
                <a:gridCol w="2376264">
                  <a:extLst>
                    <a:ext uri="{9D8B030D-6E8A-4147-A177-3AD203B41FA5}">
                      <a16:colId xmlns:a16="http://schemas.microsoft.com/office/drawing/2014/main" val="20001"/>
                    </a:ext>
                  </a:extLst>
                </a:gridCol>
                <a:gridCol w="2376264">
                  <a:extLst>
                    <a:ext uri="{9D8B030D-6E8A-4147-A177-3AD203B41FA5}">
                      <a16:colId xmlns:a16="http://schemas.microsoft.com/office/drawing/2014/main" val="20002"/>
                    </a:ext>
                  </a:extLst>
                </a:gridCol>
                <a:gridCol w="2736304">
                  <a:extLst>
                    <a:ext uri="{9D8B030D-6E8A-4147-A177-3AD203B41FA5}">
                      <a16:colId xmlns:a16="http://schemas.microsoft.com/office/drawing/2014/main" val="20003"/>
                    </a:ext>
                  </a:extLst>
                </a:gridCol>
              </a:tblGrid>
              <a:tr h="423313">
                <a:tc rowSpan="2">
                  <a:txBody>
                    <a:bodyPr/>
                    <a:lstStyle/>
                    <a:p>
                      <a:pPr indent="127000" algn="ctr">
                        <a:lnSpc>
                          <a:spcPts val="1600"/>
                        </a:lnSpc>
                        <a:spcAft>
                          <a:spcPts val="0"/>
                        </a:spcAft>
                      </a:pPr>
                      <a:r>
                        <a:rPr lang="zh-CN" sz="1600" dirty="0">
                          <a:solidFill>
                            <a:srgbClr val="0000FF"/>
                          </a:solidFill>
                          <a:effectLst/>
                          <a:latin typeface="微软雅黑" pitchFamily="34" charset="-122"/>
                          <a:ea typeface="微软雅黑" pitchFamily="34" charset="-122"/>
                        </a:rPr>
                        <a:t>操作对象</a:t>
                      </a:r>
                    </a:p>
                  </a:txBody>
                  <a:tcPr marL="68580" marR="68580" marT="0" marB="0" anchor="ctr"/>
                </a:tc>
                <a:tc gridSpan="3">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操作方式</a:t>
                      </a: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70400">
                <a:tc vMerge="1">
                  <a:txBody>
                    <a:bodyPr/>
                    <a:lstStyle/>
                    <a:p>
                      <a:endParaRPr lang="zh-CN" altLang="en-US"/>
                    </a:p>
                  </a:txBody>
                  <a:tcPr/>
                </a:tc>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创建</a:t>
                      </a:r>
                    </a:p>
                  </a:txBody>
                  <a:tcPr marL="68580" marR="68580" marT="0" marB="0" anchor="ctr"/>
                </a:tc>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修改</a:t>
                      </a:r>
                    </a:p>
                  </a:txBody>
                  <a:tcPr marL="68580" marR="68580" marT="0" marB="0" anchor="ctr"/>
                </a:tc>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删除</a:t>
                      </a:r>
                    </a:p>
                  </a:txBody>
                  <a:tcPr marL="68580" marR="68580" marT="0" marB="0" anchor="ctr"/>
                </a:tc>
                <a:extLst>
                  <a:ext uri="{0D108BD9-81ED-4DB2-BD59-A6C34878D82A}">
                    <a16:rowId xmlns:a16="http://schemas.microsoft.com/office/drawing/2014/main" val="10001"/>
                  </a:ext>
                </a:extLst>
              </a:tr>
              <a:tr h="443157">
                <a:tc>
                  <a:txBody>
                    <a:bodyPr/>
                    <a:lstStyle/>
                    <a:p>
                      <a:pPr indent="127000" algn="ctr">
                        <a:lnSpc>
                          <a:spcPts val="1600"/>
                        </a:lnSpc>
                        <a:spcAft>
                          <a:spcPts val="0"/>
                        </a:spcAft>
                      </a:pPr>
                      <a:r>
                        <a:rPr lang="zh-CN" sz="1600" dirty="0">
                          <a:solidFill>
                            <a:srgbClr val="0000FF"/>
                          </a:solidFill>
                          <a:effectLst/>
                          <a:latin typeface="微软雅黑" pitchFamily="34" charset="-122"/>
                          <a:ea typeface="微软雅黑" pitchFamily="34" charset="-122"/>
                        </a:rPr>
                        <a:t>数据库</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DATABASE</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 </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DROP DATABASE</a:t>
                      </a:r>
                      <a:endParaRPr lang="zh-CN" sz="160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2"/>
                  </a:ext>
                </a:extLst>
              </a:tr>
              <a:tr h="423313">
                <a:tc>
                  <a:txBody>
                    <a:bodyPr/>
                    <a:lstStyle/>
                    <a:p>
                      <a:pPr indent="127000" algn="ctr">
                        <a:lnSpc>
                          <a:spcPts val="1600"/>
                        </a:lnSpc>
                        <a:spcAft>
                          <a:spcPts val="0"/>
                        </a:spcAft>
                      </a:pPr>
                      <a:r>
                        <a:rPr lang="zh-CN" sz="1600" dirty="0">
                          <a:solidFill>
                            <a:srgbClr val="0000FF"/>
                          </a:solidFill>
                          <a:effectLst/>
                          <a:latin typeface="微软雅黑" pitchFamily="34" charset="-122"/>
                          <a:ea typeface="微软雅黑" pitchFamily="34" charset="-122"/>
                        </a:rPr>
                        <a:t>表</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TABLE</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ALTER TABLE</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DROP TABLE</a:t>
                      </a:r>
                      <a:endParaRPr lang="zh-CN" sz="1600" dirty="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3"/>
                  </a:ext>
                </a:extLst>
              </a:tr>
              <a:tr h="423313">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视图</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VIEW</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ALTER VIEW</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DROP VIEW</a:t>
                      </a:r>
                      <a:endParaRPr lang="zh-CN" sz="160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4"/>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索引</a:t>
                      </a: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CREAT INDEX</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ALTER INDEX</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DROP INDEX</a:t>
                      </a:r>
                      <a:endParaRPr lang="zh-CN" sz="1600" dirty="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5"/>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登录</a:t>
                      </a: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CREATE LOGIN</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ALTER LOGIN</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DROP LOGIN</a:t>
                      </a:r>
                      <a:endParaRPr lang="zh-CN" sz="1600" dirty="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6"/>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数据库用户</a:t>
                      </a: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CREATE USER</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ALTER USER</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DROP USER</a:t>
                      </a:r>
                      <a:endParaRPr lang="zh-CN" sz="160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7"/>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数据库角色</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ROLE</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ALTER ROLE</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DROP ROLE</a:t>
                      </a:r>
                      <a:endParaRPr lang="zh-CN" sz="160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8"/>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触发器</a:t>
                      </a: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CREATE TRIGGER</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ALTER TRIGGER</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DROP TRIGGER</a:t>
                      </a:r>
                      <a:endParaRPr lang="zh-CN" sz="160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9"/>
                  </a:ext>
                </a:extLst>
              </a:tr>
              <a:tr h="443157">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断言</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ASSERTION</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 </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DROP ASSERTION</a:t>
                      </a:r>
                      <a:endParaRPr lang="zh-CN" sz="1600" dirty="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10"/>
                  </a:ext>
                </a:extLst>
              </a:tr>
              <a:tr h="802179">
                <a:tc>
                  <a:txBody>
                    <a:bodyPr/>
                    <a:lstStyle/>
                    <a:p>
                      <a:pPr indent="127000" algn="ctr">
                        <a:lnSpc>
                          <a:spcPts val="1600"/>
                        </a:lnSpc>
                        <a:spcAft>
                          <a:spcPts val="0"/>
                        </a:spcAft>
                      </a:pPr>
                      <a:r>
                        <a:rPr lang="zh-CN" sz="1600">
                          <a:solidFill>
                            <a:srgbClr val="0000FF"/>
                          </a:solidFill>
                          <a:effectLst/>
                          <a:latin typeface="微软雅黑" pitchFamily="34" charset="-122"/>
                          <a:ea typeface="微软雅黑" pitchFamily="34" charset="-122"/>
                        </a:rPr>
                        <a:t>过程</a:t>
                      </a: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CREATE PROCEDURE</a:t>
                      </a:r>
                      <a:endParaRPr lang="zh-CN" sz="16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a:solidFill>
                            <a:srgbClr val="0000FF"/>
                          </a:solidFill>
                          <a:effectLst/>
                          <a:latin typeface="微软雅黑" pitchFamily="34" charset="-122"/>
                          <a:ea typeface="微软雅黑" pitchFamily="34" charset="-122"/>
                        </a:rPr>
                        <a:t>ALTER PROCEDURE</a:t>
                      </a:r>
                      <a:endParaRPr lang="zh-CN" sz="1600">
                        <a:solidFill>
                          <a:srgbClr val="0000FF"/>
                        </a:solidFill>
                        <a:effectLst/>
                        <a:latin typeface="微软雅黑" pitchFamily="34" charset="-122"/>
                        <a:ea typeface="微软雅黑" pitchFamily="34" charset="-122"/>
                      </a:endParaRPr>
                    </a:p>
                  </a:txBody>
                  <a:tcPr marL="68580" marR="68580" marT="0" marB="0" anchor="ctr"/>
                </a:tc>
                <a:tc>
                  <a:txBody>
                    <a:bodyPr/>
                    <a:lstStyle/>
                    <a:p>
                      <a:pPr indent="127000" algn="ctr">
                        <a:lnSpc>
                          <a:spcPts val="1600"/>
                        </a:lnSpc>
                        <a:spcAft>
                          <a:spcPts val="0"/>
                        </a:spcAft>
                      </a:pPr>
                      <a:r>
                        <a:rPr lang="en-US" sz="1600" dirty="0">
                          <a:solidFill>
                            <a:srgbClr val="0000FF"/>
                          </a:solidFill>
                          <a:effectLst/>
                          <a:latin typeface="微软雅黑" pitchFamily="34" charset="-122"/>
                          <a:ea typeface="微软雅黑" pitchFamily="34" charset="-122"/>
                        </a:rPr>
                        <a:t>DROP PROCEDURE</a:t>
                      </a:r>
                      <a:endParaRPr lang="zh-CN" sz="1600" dirty="0">
                        <a:solidFill>
                          <a:srgbClr val="0000FF"/>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268624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4.2.1 </a:t>
            </a:r>
            <a:r>
              <a:rPr lang="zh-CN" altLang="zh-CN" sz="3200" dirty="0"/>
              <a:t>创建数据库</a:t>
            </a:r>
            <a:endParaRPr lang="zh-CN" altLang="en-US" sz="3200" dirty="0"/>
          </a:p>
        </p:txBody>
      </p:sp>
      <p:sp>
        <p:nvSpPr>
          <p:cNvPr id="3" name="文本占位符 2"/>
          <p:cNvSpPr>
            <a:spLocks noGrp="1"/>
          </p:cNvSpPr>
          <p:nvPr>
            <p:ph type="body" idx="1"/>
          </p:nvPr>
        </p:nvSpPr>
        <p:spPr/>
        <p:txBody>
          <a:bodyPr>
            <a:normAutofit/>
          </a:bodyPr>
          <a:lstStyle/>
          <a:p>
            <a:r>
              <a:rPr lang="zh-CN" altLang="zh-CN" dirty="0"/>
              <a:t>使用查询分析器创建数据库的语法：</a:t>
            </a:r>
          </a:p>
          <a:p>
            <a:pPr marL="0" indent="0">
              <a:buNone/>
            </a:pPr>
            <a:r>
              <a:rPr lang="en-US" altLang="zh-CN" dirty="0">
                <a:solidFill>
                  <a:srgbClr val="0000FF"/>
                </a:solidFill>
              </a:rPr>
              <a:t>CREATE DATABASE &lt;</a:t>
            </a:r>
            <a:r>
              <a:rPr lang="zh-CN" altLang="zh-CN" dirty="0">
                <a:solidFill>
                  <a:srgbClr val="0000FF"/>
                </a:solidFill>
              </a:rPr>
              <a:t>数据库名</a:t>
            </a:r>
            <a:r>
              <a:rPr lang="en-US" altLang="zh-CN" dirty="0">
                <a:solidFill>
                  <a:srgbClr val="0000FF"/>
                </a:solidFill>
              </a:rPr>
              <a:t>&gt;</a:t>
            </a:r>
            <a:endParaRPr lang="zh-CN" altLang="zh-CN" dirty="0">
              <a:solidFill>
                <a:srgbClr val="0000FF"/>
              </a:solidFill>
            </a:endParaRPr>
          </a:p>
          <a:p>
            <a:pPr marL="0" indent="0">
              <a:buNone/>
            </a:pPr>
            <a:r>
              <a:rPr lang="en-US" altLang="zh-CN" dirty="0">
                <a:solidFill>
                  <a:srgbClr val="0000FF"/>
                </a:solidFill>
              </a:rPr>
              <a:t>    </a:t>
            </a:r>
            <a:r>
              <a:rPr lang="en-US" altLang="zh-CN" sz="2000" dirty="0">
                <a:solidFill>
                  <a:srgbClr val="0000FF"/>
                </a:solidFill>
              </a:rPr>
              <a:t>[ON (NAME=&lt;</a:t>
            </a:r>
            <a:r>
              <a:rPr lang="zh-CN" altLang="zh-CN" sz="2000" dirty="0">
                <a:solidFill>
                  <a:srgbClr val="0000FF"/>
                </a:solidFill>
              </a:rPr>
              <a:t>数据库逻辑名称</a:t>
            </a:r>
            <a:r>
              <a:rPr lang="en-US" altLang="zh-CN" sz="2000" dirty="0">
                <a:solidFill>
                  <a:srgbClr val="0000FF"/>
                </a:solidFill>
              </a:rPr>
              <a:t>&gt;,FILENAME=&lt;</a:t>
            </a:r>
            <a:r>
              <a:rPr lang="zh-CN" altLang="zh-CN" sz="2000" dirty="0">
                <a:solidFill>
                  <a:srgbClr val="0000FF"/>
                </a:solidFill>
              </a:rPr>
              <a:t>数据库物理名称</a:t>
            </a:r>
            <a:r>
              <a:rPr lang="en-US" altLang="zh-CN" sz="2000" dirty="0">
                <a:solidFill>
                  <a:srgbClr val="0000FF"/>
                </a:solidFill>
              </a:rPr>
              <a:t>&gt;</a:t>
            </a:r>
            <a:endParaRPr lang="zh-CN" altLang="zh-CN" sz="2000" dirty="0">
              <a:solidFill>
                <a:srgbClr val="0000FF"/>
              </a:solidFill>
            </a:endParaRPr>
          </a:p>
          <a:p>
            <a:pPr marL="0" indent="0">
              <a:buNone/>
            </a:pPr>
            <a:r>
              <a:rPr lang="en-US" altLang="zh-CN" sz="2000" dirty="0">
                <a:solidFill>
                  <a:srgbClr val="0000FF"/>
                </a:solidFill>
              </a:rPr>
              <a:t>    [,LOG ON (NAME=&lt;</a:t>
            </a:r>
            <a:r>
              <a:rPr lang="zh-CN" altLang="zh-CN" sz="2000" dirty="0">
                <a:solidFill>
                  <a:srgbClr val="0000FF"/>
                </a:solidFill>
              </a:rPr>
              <a:t>日志逻辑名称</a:t>
            </a:r>
            <a:r>
              <a:rPr lang="en-US" altLang="zh-CN" sz="2000" dirty="0">
                <a:solidFill>
                  <a:srgbClr val="0000FF"/>
                </a:solidFill>
              </a:rPr>
              <a:t>&gt;,FILENAME=&lt;</a:t>
            </a:r>
            <a:r>
              <a:rPr lang="zh-CN" altLang="zh-CN" sz="2000" dirty="0">
                <a:solidFill>
                  <a:srgbClr val="0000FF"/>
                </a:solidFill>
              </a:rPr>
              <a:t>日志物理名称</a:t>
            </a:r>
            <a:r>
              <a:rPr lang="en-US" altLang="zh-CN" sz="2000" dirty="0">
                <a:solidFill>
                  <a:srgbClr val="0000FF"/>
                </a:solidFill>
              </a:rPr>
              <a:t>&gt;]]</a:t>
            </a:r>
          </a:p>
          <a:p>
            <a:pPr marL="0" indent="0">
              <a:buNone/>
            </a:pPr>
            <a:endParaRPr lang="en-US" altLang="zh-CN" sz="2000" dirty="0"/>
          </a:p>
          <a:p>
            <a:pPr marL="0" indent="0">
              <a:buNone/>
            </a:pPr>
            <a:r>
              <a:rPr lang="zh-CN" altLang="zh-CN" sz="2000" dirty="0"/>
              <a:t>提示：如果使用</a:t>
            </a:r>
            <a:r>
              <a:rPr lang="en-US" altLang="zh-CN" sz="2000" dirty="0"/>
              <a:t>CREATE DATABASE EBook</a:t>
            </a:r>
            <a:r>
              <a:rPr lang="zh-CN" altLang="zh-CN" sz="2000" dirty="0"/>
              <a:t>创建数据库，则</a:t>
            </a:r>
            <a:r>
              <a:rPr lang="en-US" altLang="zh-CN" sz="2000" dirty="0"/>
              <a:t>EBook</a:t>
            </a:r>
            <a:r>
              <a:rPr lang="zh-CN" altLang="zh-CN" sz="2000" dirty="0"/>
              <a:t>按照默认参数存储在默认文件夹中。</a:t>
            </a:r>
            <a:endParaRPr lang="zh-CN" altLang="en-US" sz="2000" dirty="0"/>
          </a:p>
          <a:p>
            <a:pPr marL="0" indent="0">
              <a:buNone/>
            </a:pPr>
            <a:endParaRPr lang="zh-CN" altLang="zh-CN" sz="2000" dirty="0"/>
          </a:p>
        </p:txBody>
      </p:sp>
      <p:sp>
        <p:nvSpPr>
          <p:cNvPr id="4" name="日期占位符 3"/>
          <p:cNvSpPr>
            <a:spLocks noGrp="1"/>
          </p:cNvSpPr>
          <p:nvPr>
            <p:ph type="dt" sz="half" idx="10"/>
          </p:nvPr>
        </p:nvSpPr>
        <p:spPr/>
        <p:txBody>
          <a:bodyPr/>
          <a:lstStyle/>
          <a:p>
            <a:fld id="{A9E148C8-EFB8-6144-8472-8A10796C1AFB}"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12</a:t>
            </a:fld>
            <a:endParaRPr lang="zh-CN" altLang="en-US" dirty="0"/>
          </a:p>
        </p:txBody>
      </p:sp>
    </p:spTree>
    <p:extLst>
      <p:ext uri="{BB962C8B-B14F-4D97-AF65-F5344CB8AC3E}">
        <p14:creationId xmlns:p14="http://schemas.microsoft.com/office/powerpoint/2010/main" val="704023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3200" dirty="0"/>
              <a:t>4.2.1 </a:t>
            </a:r>
            <a:r>
              <a:rPr lang="zh-CN" altLang="zh-CN" sz="3200" dirty="0"/>
              <a:t>创建数据库</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例</a:t>
            </a:r>
            <a:r>
              <a:rPr lang="en-US" altLang="zh-CN" sz="2000" dirty="0"/>
              <a:t>4.1  </a:t>
            </a:r>
            <a:r>
              <a:rPr lang="zh-CN" altLang="zh-CN" sz="2000" dirty="0"/>
              <a:t>使用查询分析器，在</a:t>
            </a:r>
            <a:r>
              <a:rPr lang="en-US" altLang="zh-CN" sz="2000" dirty="0"/>
              <a:t>D</a:t>
            </a:r>
            <a:r>
              <a:rPr lang="zh-CN" altLang="zh-CN" sz="2000" dirty="0"/>
              <a:t>盘的</a:t>
            </a:r>
            <a:r>
              <a:rPr lang="en-US" altLang="zh-CN" sz="2000" dirty="0" err="1"/>
              <a:t>MyData</a:t>
            </a:r>
            <a:r>
              <a:rPr lang="zh-CN" altLang="zh-CN" sz="2000" dirty="0"/>
              <a:t>文件夹中，建立数据库</a:t>
            </a:r>
            <a:r>
              <a:rPr lang="en-US" altLang="zh-CN" sz="2000" dirty="0"/>
              <a:t>EBook</a:t>
            </a:r>
            <a:r>
              <a:rPr lang="zh-CN" altLang="zh-CN" sz="2000" dirty="0"/>
              <a:t>。</a:t>
            </a:r>
          </a:p>
          <a:p>
            <a:r>
              <a:rPr lang="zh-CN" altLang="zh-CN" sz="2000" dirty="0"/>
              <a:t>要求：</a:t>
            </a:r>
            <a:r>
              <a:rPr lang="en-US" altLang="zh-CN" sz="2000" dirty="0"/>
              <a:t>EBook</a:t>
            </a:r>
            <a:r>
              <a:rPr lang="zh-CN" altLang="zh-CN" sz="2000" dirty="0"/>
              <a:t>的逻辑名称为</a:t>
            </a:r>
            <a:r>
              <a:rPr lang="en-US" altLang="zh-CN" sz="2000" dirty="0"/>
              <a:t>EBook</a:t>
            </a:r>
            <a:r>
              <a:rPr lang="zh-CN" altLang="zh-CN" sz="2000" dirty="0"/>
              <a:t>，初始大小为</a:t>
            </a:r>
            <a:r>
              <a:rPr lang="en-US" altLang="zh-CN" sz="2000" dirty="0"/>
              <a:t>10MB</a:t>
            </a:r>
            <a:r>
              <a:rPr lang="zh-CN" altLang="zh-CN" sz="2000" dirty="0"/>
              <a:t>，增量为</a:t>
            </a:r>
            <a:r>
              <a:rPr lang="en-US" altLang="zh-CN" sz="2000" dirty="0"/>
              <a:t>10MB</a:t>
            </a:r>
            <a:r>
              <a:rPr lang="zh-CN" altLang="zh-CN" sz="2000" dirty="0"/>
              <a:t>，不限制增长，物理文件名称为</a:t>
            </a:r>
            <a:r>
              <a:rPr lang="en-US" altLang="zh-CN" sz="2000" dirty="0" err="1"/>
              <a:t>EBook.mdf</a:t>
            </a:r>
            <a:r>
              <a:rPr lang="zh-CN" altLang="zh-CN" sz="2000" dirty="0"/>
              <a:t>。</a:t>
            </a:r>
            <a:r>
              <a:rPr lang="en-US" altLang="zh-CN" sz="2000" dirty="0"/>
              <a:t>EBook</a:t>
            </a:r>
            <a:r>
              <a:rPr lang="zh-CN" altLang="zh-CN" sz="2000" dirty="0"/>
              <a:t>的日志的逻辑名称为</a:t>
            </a:r>
            <a:r>
              <a:rPr lang="en-US" altLang="zh-CN" sz="2000" dirty="0" err="1"/>
              <a:t>EBookLog</a:t>
            </a:r>
            <a:r>
              <a:rPr lang="zh-CN" altLang="zh-CN" sz="2000" dirty="0"/>
              <a:t>，初始大小为</a:t>
            </a:r>
            <a:r>
              <a:rPr lang="en-US" altLang="zh-CN" sz="2000" dirty="0"/>
              <a:t>5MB</a:t>
            </a:r>
            <a:r>
              <a:rPr lang="zh-CN" altLang="zh-CN" sz="2000" dirty="0"/>
              <a:t>，增量为</a:t>
            </a:r>
            <a:r>
              <a:rPr lang="en-US" altLang="zh-CN" sz="2000" dirty="0"/>
              <a:t>5%</a:t>
            </a:r>
            <a:r>
              <a:rPr lang="zh-CN" altLang="zh-CN" sz="2000" dirty="0"/>
              <a:t>，增长的最大值限制为</a:t>
            </a:r>
            <a:r>
              <a:rPr lang="en-US" altLang="zh-CN" sz="2000" dirty="0"/>
              <a:t>2000MB</a:t>
            </a:r>
            <a:r>
              <a:rPr lang="zh-CN" altLang="zh-CN" sz="2000" dirty="0"/>
              <a:t>，物理文件名称为</a:t>
            </a:r>
            <a:r>
              <a:rPr lang="en-US" altLang="zh-CN" sz="2000" dirty="0" err="1"/>
              <a:t>EBookLog.ldf</a:t>
            </a:r>
            <a:r>
              <a:rPr lang="zh-CN" altLang="zh-CN" sz="2000" dirty="0"/>
              <a:t>。</a:t>
            </a:r>
          </a:p>
          <a:p>
            <a:pPr marL="0" indent="0">
              <a:buNone/>
            </a:pPr>
            <a:r>
              <a:rPr lang="en-US" altLang="zh-CN" sz="2000" dirty="0">
                <a:solidFill>
                  <a:srgbClr val="0000FF"/>
                </a:solidFill>
              </a:rPr>
              <a:t>CREATE DATABASE EBook</a:t>
            </a:r>
            <a:endParaRPr lang="zh-CN" altLang="zh-CN" sz="2000" dirty="0">
              <a:solidFill>
                <a:srgbClr val="0000FF"/>
              </a:solidFill>
            </a:endParaRPr>
          </a:p>
          <a:p>
            <a:pPr marL="0" indent="0">
              <a:buNone/>
            </a:pPr>
            <a:r>
              <a:rPr lang="en-US" altLang="zh-CN" sz="2000" dirty="0">
                <a:solidFill>
                  <a:srgbClr val="0000FF"/>
                </a:solidFill>
              </a:rPr>
              <a:t>    ON (NAME='</a:t>
            </a:r>
            <a:r>
              <a:rPr lang="en-US" altLang="zh-CN" sz="2000" dirty="0" err="1">
                <a:solidFill>
                  <a:srgbClr val="0000FF"/>
                </a:solidFill>
              </a:rPr>
              <a:t>EBook',FILENAME</a:t>
            </a:r>
            <a:r>
              <a:rPr lang="en-US" altLang="zh-CN" sz="2000" dirty="0">
                <a:solidFill>
                  <a:srgbClr val="0000FF"/>
                </a:solidFill>
              </a:rPr>
              <a:t>='D:\</a:t>
            </a:r>
            <a:r>
              <a:rPr lang="en-US" altLang="zh-CN" sz="2000" dirty="0" err="1">
                <a:solidFill>
                  <a:srgbClr val="0000FF"/>
                </a:solidFill>
              </a:rPr>
              <a:t>MyData</a:t>
            </a:r>
            <a:r>
              <a:rPr lang="en-US" altLang="zh-CN" sz="2000" dirty="0">
                <a:solidFill>
                  <a:srgbClr val="0000FF"/>
                </a:solidFill>
              </a:rPr>
              <a:t>\</a:t>
            </a:r>
            <a:r>
              <a:rPr lang="en-US" altLang="zh-CN" sz="2000" dirty="0" err="1">
                <a:solidFill>
                  <a:srgbClr val="0000FF"/>
                </a:solidFill>
              </a:rPr>
              <a:t>EBook.mdf</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SIZE=10MB,FILEGROWTH=10MB,MAXSIZE=UNLIMITED)</a:t>
            </a:r>
            <a:endParaRPr lang="zh-CN" altLang="zh-CN" sz="2000" dirty="0">
              <a:solidFill>
                <a:srgbClr val="0000FF"/>
              </a:solidFill>
            </a:endParaRPr>
          </a:p>
          <a:p>
            <a:pPr marL="0" indent="0">
              <a:buNone/>
            </a:pPr>
            <a:r>
              <a:rPr lang="en-US" altLang="zh-CN" sz="2000" dirty="0">
                <a:solidFill>
                  <a:srgbClr val="0000FF"/>
                </a:solidFill>
              </a:rPr>
              <a:t>    LOG ON (NAME='</a:t>
            </a:r>
            <a:r>
              <a:rPr lang="en-US" altLang="zh-CN" sz="2000" dirty="0" err="1">
                <a:solidFill>
                  <a:srgbClr val="0000FF"/>
                </a:solidFill>
              </a:rPr>
              <a:t>EBookLog</a:t>
            </a:r>
            <a:r>
              <a:rPr lang="en-US" altLang="zh-CN" sz="2000" dirty="0">
                <a:solidFill>
                  <a:srgbClr val="0000FF"/>
                </a:solidFill>
              </a:rPr>
              <a:t>',FILENAME='D:\</a:t>
            </a:r>
            <a:r>
              <a:rPr lang="en-US" altLang="zh-CN" sz="2000" dirty="0" err="1">
                <a:solidFill>
                  <a:srgbClr val="0000FF"/>
                </a:solidFill>
              </a:rPr>
              <a:t>MyData</a:t>
            </a:r>
            <a:r>
              <a:rPr lang="en-US" altLang="zh-CN" sz="2000" dirty="0">
                <a:solidFill>
                  <a:srgbClr val="0000FF"/>
                </a:solidFill>
              </a:rPr>
              <a:t>\</a:t>
            </a:r>
            <a:r>
              <a:rPr lang="en-US" altLang="zh-CN" sz="2000" dirty="0" err="1">
                <a:solidFill>
                  <a:srgbClr val="0000FF"/>
                </a:solidFill>
              </a:rPr>
              <a:t>EBookLog.ldf</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SIZE=5MB,FILEGROWTH=5%,MAXSIZE=2000MB)</a:t>
            </a:r>
            <a:endParaRPr lang="zh-CN" altLang="zh-CN" sz="2000" dirty="0">
              <a:solidFill>
                <a:srgbClr val="0000FF"/>
              </a:solidFill>
            </a:endParaRPr>
          </a:p>
          <a:p>
            <a:r>
              <a:rPr lang="zh-CN" altLang="zh-CN" sz="2000" dirty="0"/>
              <a:t>说明：建立数据库</a:t>
            </a:r>
            <a:r>
              <a:rPr lang="en-US" altLang="zh-CN" sz="2000" dirty="0" err="1"/>
              <a:t>Ebook</a:t>
            </a:r>
            <a:r>
              <a:rPr lang="zh-CN" altLang="zh-CN" sz="2000" dirty="0"/>
              <a:t>之前，首先需要建立文件夹</a:t>
            </a:r>
            <a:r>
              <a:rPr lang="en-US" altLang="zh-CN" sz="2000" dirty="0"/>
              <a:t>D:\MyData</a:t>
            </a:r>
            <a:r>
              <a:rPr lang="zh-CN" altLang="zh-CN" sz="2000" dirty="0"/>
              <a:t>。</a:t>
            </a:r>
          </a:p>
        </p:txBody>
      </p:sp>
      <p:sp>
        <p:nvSpPr>
          <p:cNvPr id="4" name="日期占位符 3"/>
          <p:cNvSpPr>
            <a:spLocks noGrp="1"/>
          </p:cNvSpPr>
          <p:nvPr>
            <p:ph type="dt" sz="half" idx="10"/>
          </p:nvPr>
        </p:nvSpPr>
        <p:spPr/>
        <p:txBody>
          <a:bodyPr/>
          <a:lstStyle/>
          <a:p>
            <a:fld id="{802B2647-B989-AF41-BD88-1E443416F471}"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13</a:t>
            </a:fld>
            <a:endParaRPr lang="zh-CN" altLang="en-US" dirty="0"/>
          </a:p>
        </p:txBody>
      </p:sp>
    </p:spTree>
    <p:extLst>
      <p:ext uri="{BB962C8B-B14F-4D97-AF65-F5344CB8AC3E}">
        <p14:creationId xmlns:p14="http://schemas.microsoft.com/office/powerpoint/2010/main" val="3579636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3200" dirty="0"/>
              <a:t>4.2.1 </a:t>
            </a:r>
            <a:r>
              <a:rPr lang="zh-CN" altLang="zh-CN" sz="3200" dirty="0"/>
              <a:t>创建数据库</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打开数据库：</a:t>
            </a:r>
            <a:r>
              <a:rPr lang="en-US" altLang="zh-CN" sz="2000" dirty="0">
                <a:solidFill>
                  <a:srgbClr val="0000FF"/>
                </a:solidFill>
              </a:rPr>
              <a:t>USE &lt;</a:t>
            </a:r>
            <a:r>
              <a:rPr lang="zh-CN" altLang="zh-CN" sz="2000" dirty="0">
                <a:solidFill>
                  <a:srgbClr val="0000FF"/>
                </a:solidFill>
              </a:rPr>
              <a:t>数据库名</a:t>
            </a:r>
            <a:r>
              <a:rPr lang="en-US" altLang="zh-CN" sz="2000" dirty="0">
                <a:solidFill>
                  <a:srgbClr val="0000FF"/>
                </a:solidFill>
              </a:rPr>
              <a:t>&gt;</a:t>
            </a:r>
            <a:endParaRPr lang="zh-CN" altLang="zh-CN" sz="2000" dirty="0">
              <a:solidFill>
                <a:srgbClr val="0000FF"/>
              </a:solidFill>
            </a:endParaRPr>
          </a:p>
          <a:p>
            <a:r>
              <a:rPr lang="zh-CN" altLang="zh-CN" sz="2000" dirty="0"/>
              <a:t>例如：打开数据库</a:t>
            </a:r>
            <a:r>
              <a:rPr lang="en-US" altLang="zh-CN" sz="2000" dirty="0" err="1"/>
              <a:t>Ebook</a:t>
            </a:r>
            <a:r>
              <a:rPr lang="zh-CN" altLang="zh-CN" sz="2000" dirty="0"/>
              <a:t>。</a:t>
            </a:r>
            <a:r>
              <a:rPr lang="en-US" altLang="zh-CN" sz="2000" dirty="0"/>
              <a:t>...</a:t>
            </a:r>
            <a:endParaRPr lang="zh-CN" altLang="zh-CN" sz="2000" dirty="0"/>
          </a:p>
          <a:p>
            <a:pPr marL="901700" indent="0">
              <a:buNone/>
            </a:pPr>
            <a:r>
              <a:rPr lang="en-US" altLang="zh-CN" sz="2000" dirty="0"/>
              <a:t>-- </a:t>
            </a:r>
            <a:r>
              <a:rPr lang="zh-CN" altLang="zh-CN" sz="2000" dirty="0"/>
              <a:t>使用数据库之前，必须先打开数据库。</a:t>
            </a:r>
          </a:p>
          <a:p>
            <a:pPr marL="901700" indent="0">
              <a:buNone/>
            </a:pPr>
            <a:r>
              <a:rPr lang="en-US" altLang="zh-CN" sz="2000" dirty="0"/>
              <a:t>USE </a:t>
            </a:r>
            <a:r>
              <a:rPr lang="en-US" altLang="zh-CN" sz="2000" dirty="0" err="1"/>
              <a:t>Ebook</a:t>
            </a:r>
            <a:endParaRPr lang="zh-CN" altLang="zh-CN" sz="2000" dirty="0"/>
          </a:p>
          <a:p>
            <a:r>
              <a:rPr lang="zh-CN" altLang="zh-CN" sz="2000" dirty="0"/>
              <a:t>说明：“</a:t>
            </a:r>
            <a:r>
              <a:rPr lang="en-US" altLang="zh-CN" sz="2000" dirty="0"/>
              <a:t>--</a:t>
            </a:r>
            <a:r>
              <a:rPr lang="zh-CN" altLang="zh-CN" sz="2000" dirty="0"/>
              <a:t>”开头的为注释语句。</a:t>
            </a:r>
          </a:p>
          <a:p>
            <a:r>
              <a:rPr lang="zh-CN" altLang="zh-CN" sz="2000" dirty="0"/>
              <a:t>删除数据库：</a:t>
            </a:r>
          </a:p>
          <a:p>
            <a:pPr marL="901700" indent="0">
              <a:buNone/>
            </a:pPr>
            <a:r>
              <a:rPr lang="en-US" altLang="zh-CN" sz="2000" dirty="0">
                <a:solidFill>
                  <a:srgbClr val="0000FF"/>
                </a:solidFill>
              </a:rPr>
              <a:t>DROP DATABASE &lt;</a:t>
            </a:r>
            <a:r>
              <a:rPr lang="zh-CN" altLang="zh-CN" sz="2000" dirty="0">
                <a:solidFill>
                  <a:srgbClr val="0000FF"/>
                </a:solidFill>
              </a:rPr>
              <a:t>数据库名</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数据库名</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a:t>
            </a:r>
            <a:endParaRPr lang="zh-CN" altLang="zh-CN" sz="2000" dirty="0">
              <a:solidFill>
                <a:srgbClr val="0000FF"/>
              </a:solidFill>
            </a:endParaRPr>
          </a:p>
          <a:p>
            <a:r>
              <a:rPr lang="zh-CN" altLang="zh-CN" sz="2000" dirty="0"/>
              <a:t>例如：删除数据库</a:t>
            </a:r>
            <a:r>
              <a:rPr lang="en-US" altLang="zh-CN" sz="2000" dirty="0"/>
              <a:t>EBook</a:t>
            </a:r>
            <a:r>
              <a:rPr lang="zh-CN" altLang="zh-CN" sz="2000" dirty="0"/>
              <a:t>。</a:t>
            </a:r>
          </a:p>
          <a:p>
            <a:pPr marL="901700" indent="0">
              <a:buNone/>
            </a:pPr>
            <a:r>
              <a:rPr lang="en-US" altLang="zh-CN" sz="2000" dirty="0"/>
              <a:t>DROP DATABASE EBook</a:t>
            </a:r>
            <a:endParaRPr lang="zh-CN" altLang="zh-CN" sz="2000" dirty="0"/>
          </a:p>
          <a:p>
            <a:r>
              <a:rPr lang="zh-CN" altLang="zh-CN" sz="2000" dirty="0"/>
              <a:t>思考</a:t>
            </a:r>
            <a:r>
              <a:rPr lang="en-US" altLang="zh-CN" sz="2000" dirty="0"/>
              <a:t>1</a:t>
            </a:r>
            <a:r>
              <a:rPr lang="zh-CN" altLang="zh-CN" sz="2000" dirty="0"/>
              <a:t>：使用对象资源管理器创建上述数据库</a:t>
            </a:r>
            <a:r>
              <a:rPr lang="en-US" altLang="zh-CN" sz="2000" dirty="0"/>
              <a:t>EBook</a:t>
            </a:r>
            <a:r>
              <a:rPr lang="zh-CN" altLang="zh-CN" sz="2000" dirty="0"/>
              <a:t>，然后删除该数据库。</a:t>
            </a:r>
          </a:p>
          <a:p>
            <a:r>
              <a:rPr lang="zh-CN" altLang="zh-CN" sz="2000" dirty="0"/>
              <a:t>思考</a:t>
            </a:r>
            <a:r>
              <a:rPr lang="en-US" altLang="zh-CN" sz="2000" dirty="0"/>
              <a:t>2</a:t>
            </a:r>
            <a:r>
              <a:rPr lang="zh-CN" altLang="zh-CN" sz="2000" dirty="0"/>
              <a:t>：数据库的默认文件夹。</a:t>
            </a:r>
          </a:p>
          <a:p>
            <a:r>
              <a:rPr lang="zh-CN" altLang="zh-CN" sz="2000" dirty="0"/>
              <a:t>思考</a:t>
            </a:r>
            <a:r>
              <a:rPr lang="en-US" altLang="zh-CN" sz="2000" dirty="0"/>
              <a:t>3</a:t>
            </a:r>
            <a:r>
              <a:rPr lang="zh-CN" altLang="zh-CN" sz="2000" dirty="0"/>
              <a:t>：如何关闭数据库？</a:t>
            </a:r>
          </a:p>
          <a:p>
            <a:endParaRPr lang="zh-CN" altLang="zh-CN" sz="2000" dirty="0"/>
          </a:p>
        </p:txBody>
      </p:sp>
      <p:sp>
        <p:nvSpPr>
          <p:cNvPr id="4" name="日期占位符 3"/>
          <p:cNvSpPr>
            <a:spLocks noGrp="1"/>
          </p:cNvSpPr>
          <p:nvPr>
            <p:ph type="dt" sz="half" idx="10"/>
          </p:nvPr>
        </p:nvSpPr>
        <p:spPr/>
        <p:txBody>
          <a:bodyPr/>
          <a:lstStyle/>
          <a:p>
            <a:fld id="{5C845111-0E16-144D-80C5-E5F237F3F164}"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14</a:t>
            </a:fld>
            <a:endParaRPr lang="zh-CN" altLang="en-US" dirty="0"/>
          </a:p>
        </p:txBody>
      </p:sp>
    </p:spTree>
    <p:extLst>
      <p:ext uri="{BB962C8B-B14F-4D97-AF65-F5344CB8AC3E}">
        <p14:creationId xmlns:p14="http://schemas.microsoft.com/office/powerpoint/2010/main" val="2709326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4.2.2 </a:t>
            </a:r>
            <a:r>
              <a:rPr lang="zh-CN" altLang="zh-CN" dirty="0"/>
              <a:t>创建表</a:t>
            </a:r>
            <a:endParaRPr lang="zh-CN" altLang="en-US" dirty="0"/>
          </a:p>
        </p:txBody>
      </p:sp>
      <p:sp>
        <p:nvSpPr>
          <p:cNvPr id="3" name="文本占位符 2"/>
          <p:cNvSpPr>
            <a:spLocks noGrp="1"/>
          </p:cNvSpPr>
          <p:nvPr>
            <p:ph type="body" idx="1"/>
          </p:nvPr>
        </p:nvSpPr>
        <p:spPr/>
        <p:txBody>
          <a:bodyPr/>
          <a:lstStyle/>
          <a:p>
            <a:r>
              <a:rPr lang="zh-CN" altLang="zh-CN" dirty="0"/>
              <a:t>创建表的过程是首先创建表结构，然后编辑表记录。</a:t>
            </a:r>
          </a:p>
          <a:p>
            <a:r>
              <a:rPr lang="zh-CN" altLang="zh-CN" dirty="0"/>
              <a:t>创建表结构</a:t>
            </a:r>
            <a:endParaRPr lang="en-US" altLang="zh-CN" dirty="0"/>
          </a:p>
          <a:p>
            <a:pPr marL="363538" indent="0">
              <a:buNone/>
            </a:pPr>
            <a:r>
              <a:rPr lang="zh-CN" altLang="en-US" dirty="0">
                <a:solidFill>
                  <a:srgbClr val="0000FF"/>
                </a:solidFill>
              </a:rPr>
              <a:t>创建</a:t>
            </a:r>
            <a:r>
              <a:rPr lang="en-US" altLang="zh-CN" dirty="0">
                <a:solidFill>
                  <a:srgbClr val="0000FF"/>
                </a:solidFill>
              </a:rPr>
              <a:t>/</a:t>
            </a:r>
            <a:r>
              <a:rPr lang="zh-CN" altLang="en-US" dirty="0">
                <a:solidFill>
                  <a:srgbClr val="0000FF"/>
                </a:solidFill>
              </a:rPr>
              <a:t>修改</a:t>
            </a:r>
            <a:r>
              <a:rPr lang="en-US" altLang="zh-CN" dirty="0">
                <a:solidFill>
                  <a:srgbClr val="0000FF"/>
                </a:solidFill>
              </a:rPr>
              <a:t>/</a:t>
            </a:r>
            <a:r>
              <a:rPr lang="zh-CN" altLang="en-US" dirty="0">
                <a:solidFill>
                  <a:srgbClr val="0000FF"/>
                </a:solidFill>
              </a:rPr>
              <a:t>删除</a:t>
            </a:r>
            <a:endParaRPr lang="en-US" altLang="zh-CN" dirty="0"/>
          </a:p>
          <a:p>
            <a:r>
              <a:rPr lang="zh-CN" altLang="zh-CN" dirty="0"/>
              <a:t>编辑表记录</a:t>
            </a:r>
            <a:endParaRPr lang="en-US" altLang="zh-CN" dirty="0"/>
          </a:p>
          <a:p>
            <a:pPr marL="363538" indent="0">
              <a:buNone/>
            </a:pPr>
            <a:r>
              <a:rPr lang="zh-CN" altLang="en-US" dirty="0">
                <a:solidFill>
                  <a:srgbClr val="0000FF"/>
                </a:solidFill>
              </a:rPr>
              <a:t>创建</a:t>
            </a:r>
            <a:r>
              <a:rPr lang="en-US" altLang="zh-CN" dirty="0">
                <a:solidFill>
                  <a:srgbClr val="0000FF"/>
                </a:solidFill>
              </a:rPr>
              <a:t>/</a:t>
            </a:r>
            <a:r>
              <a:rPr lang="zh-CN" altLang="en-US" dirty="0">
                <a:solidFill>
                  <a:srgbClr val="0000FF"/>
                </a:solidFill>
              </a:rPr>
              <a:t>修改</a:t>
            </a:r>
            <a:r>
              <a:rPr lang="en-US" altLang="zh-CN" dirty="0">
                <a:solidFill>
                  <a:srgbClr val="0000FF"/>
                </a:solidFill>
              </a:rPr>
              <a:t>/</a:t>
            </a:r>
            <a:r>
              <a:rPr lang="zh-CN" altLang="en-US" dirty="0">
                <a:solidFill>
                  <a:srgbClr val="0000FF"/>
                </a:solidFill>
              </a:rPr>
              <a:t>删除</a:t>
            </a:r>
            <a:endParaRPr lang="zh-CN" altLang="zh-CN" dirty="0"/>
          </a:p>
          <a:p>
            <a:endParaRPr lang="zh-CN" altLang="zh-CN" dirty="0"/>
          </a:p>
          <a:p>
            <a:endParaRPr lang="zh-CN" altLang="en-US" dirty="0"/>
          </a:p>
        </p:txBody>
      </p:sp>
      <p:sp>
        <p:nvSpPr>
          <p:cNvPr id="4" name="日期占位符 3"/>
          <p:cNvSpPr>
            <a:spLocks noGrp="1"/>
          </p:cNvSpPr>
          <p:nvPr>
            <p:ph type="dt" sz="half" idx="10"/>
          </p:nvPr>
        </p:nvSpPr>
        <p:spPr/>
        <p:txBody>
          <a:bodyPr/>
          <a:lstStyle/>
          <a:p>
            <a:fld id="{5C97F90F-80B7-474E-AE89-61205B194E9F}"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15</a:t>
            </a:fld>
            <a:endParaRPr lang="zh-CN" altLang="en-US" dirty="0"/>
          </a:p>
        </p:txBody>
      </p:sp>
    </p:spTree>
    <p:extLst>
      <p:ext uri="{BB962C8B-B14F-4D97-AF65-F5344CB8AC3E}">
        <p14:creationId xmlns:p14="http://schemas.microsoft.com/office/powerpoint/2010/main" val="603351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64D805F-44A0-154C-90AA-AB3352B2FC2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16</a:t>
            </a:fld>
            <a:endParaRPr lang="zh-CN" altLang="en-US" dirty="0"/>
          </a:p>
        </p:txBody>
      </p:sp>
      <p:sp>
        <p:nvSpPr>
          <p:cNvPr id="7" name="文本占位符 6"/>
          <p:cNvSpPr>
            <a:spLocks noGrp="1"/>
          </p:cNvSpPr>
          <p:nvPr>
            <p:ph type="body" idx="1"/>
          </p:nvPr>
        </p:nvSpPr>
        <p:spPr>
          <a:xfrm>
            <a:off x="107504" y="836712"/>
            <a:ext cx="8856984" cy="3096344"/>
          </a:xfrm>
        </p:spPr>
        <p:txBody>
          <a:bodyPr>
            <a:normAutofit/>
          </a:bodyPr>
          <a:lstStyle/>
          <a:p>
            <a:r>
              <a:rPr lang="zh-CN" altLang="zh-CN" dirty="0"/>
              <a:t>创建表结构：</a:t>
            </a:r>
          </a:p>
          <a:p>
            <a:pPr marL="0" indent="0">
              <a:buNone/>
            </a:pPr>
            <a:r>
              <a:rPr lang="en-US" altLang="zh-CN" dirty="0">
                <a:solidFill>
                  <a:srgbClr val="0000FF"/>
                </a:solidFill>
              </a:rPr>
              <a:t>CREATE TABLE &lt;</a:t>
            </a:r>
            <a:r>
              <a:rPr lang="zh-CN" altLang="zh-CN" dirty="0">
                <a:solidFill>
                  <a:srgbClr val="0000FF"/>
                </a:solidFill>
              </a:rPr>
              <a:t>表名</a:t>
            </a:r>
            <a:r>
              <a:rPr lang="en-US" altLang="zh-CN" dirty="0">
                <a:solidFill>
                  <a:srgbClr val="0000FF"/>
                </a:solidFill>
              </a:rPr>
              <a:t>&gt;</a:t>
            </a:r>
            <a:endParaRPr lang="zh-CN" altLang="zh-CN" dirty="0">
              <a:solidFill>
                <a:srgbClr val="0000FF"/>
              </a:solidFill>
            </a:endParaRPr>
          </a:p>
          <a:p>
            <a:pPr marL="0" indent="0">
              <a:buNone/>
            </a:pPr>
            <a:r>
              <a:rPr lang="en-US" altLang="zh-CN" dirty="0">
                <a:solidFill>
                  <a:srgbClr val="0000FF"/>
                </a:solidFill>
              </a:rPr>
              <a:t>    (&lt;</a:t>
            </a:r>
            <a:r>
              <a:rPr lang="zh-CN" altLang="zh-CN" dirty="0">
                <a:solidFill>
                  <a:srgbClr val="0000FF"/>
                </a:solidFill>
              </a:rPr>
              <a:t>属性名</a:t>
            </a:r>
            <a:r>
              <a:rPr lang="en-US" altLang="zh-CN" dirty="0">
                <a:solidFill>
                  <a:srgbClr val="0000FF"/>
                </a:solidFill>
              </a:rPr>
              <a:t>&gt; &lt;</a:t>
            </a:r>
            <a:r>
              <a:rPr lang="zh-CN" altLang="zh-CN" dirty="0">
                <a:solidFill>
                  <a:srgbClr val="0000FF"/>
                </a:solidFill>
              </a:rPr>
              <a:t>数据类型</a:t>
            </a:r>
            <a:r>
              <a:rPr lang="en-US" altLang="zh-CN" dirty="0">
                <a:solidFill>
                  <a:srgbClr val="0000FF"/>
                </a:solidFill>
              </a:rPr>
              <a:t>&gt;[ &lt;</a:t>
            </a:r>
            <a:r>
              <a:rPr lang="zh-CN" altLang="zh-CN" dirty="0">
                <a:solidFill>
                  <a:srgbClr val="0000FF"/>
                </a:solidFill>
              </a:rPr>
              <a:t>属性完整性约束</a:t>
            </a:r>
            <a:r>
              <a:rPr lang="en-US" altLang="zh-CN" dirty="0">
                <a:solidFill>
                  <a:srgbClr val="0000FF"/>
                </a:solidFill>
              </a:rPr>
              <a:t>&gt; ]</a:t>
            </a:r>
            <a:endParaRPr lang="zh-CN" altLang="zh-CN" dirty="0">
              <a:solidFill>
                <a:srgbClr val="0000FF"/>
              </a:solidFill>
            </a:endParaRPr>
          </a:p>
          <a:p>
            <a:pPr marL="0" indent="0">
              <a:buNone/>
            </a:pPr>
            <a:r>
              <a:rPr lang="en-US" altLang="zh-CN" dirty="0">
                <a:solidFill>
                  <a:srgbClr val="0000FF"/>
                </a:solidFill>
              </a:rPr>
              <a:t>    [</a:t>
            </a:r>
            <a:r>
              <a:rPr lang="zh-CN" altLang="zh-CN" dirty="0">
                <a:solidFill>
                  <a:srgbClr val="0000FF"/>
                </a:solidFill>
              </a:rPr>
              <a:t>，</a:t>
            </a:r>
            <a:r>
              <a:rPr lang="en-US" altLang="zh-CN" dirty="0">
                <a:solidFill>
                  <a:srgbClr val="0000FF"/>
                </a:solidFill>
              </a:rPr>
              <a:t>&lt;</a:t>
            </a:r>
            <a:r>
              <a:rPr lang="zh-CN" altLang="zh-CN" dirty="0">
                <a:solidFill>
                  <a:srgbClr val="0000FF"/>
                </a:solidFill>
              </a:rPr>
              <a:t>属性名</a:t>
            </a:r>
            <a:r>
              <a:rPr lang="en-US" altLang="zh-CN" dirty="0">
                <a:solidFill>
                  <a:srgbClr val="0000FF"/>
                </a:solidFill>
              </a:rPr>
              <a:t>&gt; &lt;</a:t>
            </a:r>
            <a:r>
              <a:rPr lang="zh-CN" altLang="zh-CN" dirty="0">
                <a:solidFill>
                  <a:srgbClr val="0000FF"/>
                </a:solidFill>
              </a:rPr>
              <a:t>数据类型</a:t>
            </a:r>
            <a:r>
              <a:rPr lang="en-US" altLang="zh-CN" dirty="0">
                <a:solidFill>
                  <a:srgbClr val="0000FF"/>
                </a:solidFill>
              </a:rPr>
              <a:t>&gt;[ &lt;</a:t>
            </a:r>
            <a:r>
              <a:rPr lang="zh-CN" altLang="zh-CN" dirty="0">
                <a:solidFill>
                  <a:srgbClr val="0000FF"/>
                </a:solidFill>
              </a:rPr>
              <a:t>属性完整性约束</a:t>
            </a:r>
            <a:r>
              <a:rPr lang="en-US" altLang="zh-CN" dirty="0">
                <a:solidFill>
                  <a:srgbClr val="0000FF"/>
                </a:solidFill>
              </a:rPr>
              <a:t>&gt;]]</a:t>
            </a:r>
            <a:endParaRPr lang="zh-CN" altLang="zh-CN" dirty="0">
              <a:solidFill>
                <a:srgbClr val="0000FF"/>
              </a:solidFill>
            </a:endParaRPr>
          </a:p>
          <a:p>
            <a:pPr marL="0" indent="0">
              <a:buNone/>
            </a:pPr>
            <a:r>
              <a:rPr lang="en-US" altLang="zh-CN" dirty="0">
                <a:solidFill>
                  <a:srgbClr val="0000FF"/>
                </a:solidFill>
              </a:rPr>
              <a:t>    [</a:t>
            </a:r>
            <a:r>
              <a:rPr lang="zh-CN" altLang="zh-CN" dirty="0">
                <a:solidFill>
                  <a:srgbClr val="0000FF"/>
                </a:solidFill>
              </a:rPr>
              <a:t>，</a:t>
            </a:r>
            <a:r>
              <a:rPr lang="en-US" altLang="zh-CN" dirty="0">
                <a:solidFill>
                  <a:srgbClr val="0000FF"/>
                </a:solidFill>
              </a:rPr>
              <a:t>&lt;</a:t>
            </a:r>
            <a:r>
              <a:rPr lang="zh-CN" altLang="zh-CN" dirty="0">
                <a:solidFill>
                  <a:srgbClr val="0000FF"/>
                </a:solidFill>
              </a:rPr>
              <a:t>关系完整性约束</a:t>
            </a:r>
            <a:r>
              <a:rPr lang="en-US" altLang="zh-CN" dirty="0">
                <a:solidFill>
                  <a:srgbClr val="0000FF"/>
                </a:solidFill>
              </a:rPr>
              <a:t>&gt; ])</a:t>
            </a:r>
            <a:endParaRPr lang="zh-CN" altLang="zh-CN" dirty="0">
              <a:solidFill>
                <a:srgbClr val="0000FF"/>
              </a:solidFill>
            </a:endParaRPr>
          </a:p>
          <a:p>
            <a:r>
              <a:rPr lang="zh-CN" altLang="zh-CN" dirty="0"/>
              <a:t>数据类型</a:t>
            </a:r>
            <a:r>
              <a:rPr lang="zh-CN" altLang="en-US" dirty="0"/>
              <a:t>：</a:t>
            </a:r>
            <a:endParaRPr lang="zh-CN" altLang="zh-CN" dirty="0"/>
          </a:p>
        </p:txBody>
      </p:sp>
      <p:graphicFrame>
        <p:nvGraphicFramePr>
          <p:cNvPr id="3" name="表格 2"/>
          <p:cNvGraphicFramePr>
            <a:graphicFrameLocks noGrp="1"/>
          </p:cNvGraphicFramePr>
          <p:nvPr>
            <p:extLst>
              <p:ext uri="{D42A27DB-BD31-4B8C-83A1-F6EECF244321}">
                <p14:modId xmlns:p14="http://schemas.microsoft.com/office/powerpoint/2010/main" val="4275012184"/>
              </p:ext>
            </p:extLst>
          </p:nvPr>
        </p:nvGraphicFramePr>
        <p:xfrm>
          <a:off x="179512" y="3861048"/>
          <a:ext cx="8784977" cy="2304256"/>
        </p:xfrm>
        <a:graphic>
          <a:graphicData uri="http://schemas.openxmlformats.org/drawingml/2006/table">
            <a:tbl>
              <a:tblPr firstRow="1" firstCol="1" lastRow="1" lastCol="1" bandRow="1" bandCol="1">
                <a:tableStyleId>{5C22544A-7EE6-4342-B048-85BDC9FD1C3A}</a:tableStyleId>
              </a:tblPr>
              <a:tblGrid>
                <a:gridCol w="645324">
                  <a:extLst>
                    <a:ext uri="{9D8B030D-6E8A-4147-A177-3AD203B41FA5}">
                      <a16:colId xmlns:a16="http://schemas.microsoft.com/office/drawing/2014/main" val="20000"/>
                    </a:ext>
                  </a:extLst>
                </a:gridCol>
                <a:gridCol w="1298892">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gridCol w="964139">
                  <a:extLst>
                    <a:ext uri="{9D8B030D-6E8A-4147-A177-3AD203B41FA5}">
                      <a16:colId xmlns:a16="http://schemas.microsoft.com/office/drawing/2014/main" val="20004"/>
                    </a:ext>
                  </a:extLst>
                </a:gridCol>
                <a:gridCol w="1556141">
                  <a:extLst>
                    <a:ext uri="{9D8B030D-6E8A-4147-A177-3AD203B41FA5}">
                      <a16:colId xmlns:a16="http://schemas.microsoft.com/office/drawing/2014/main" val="20005"/>
                    </a:ext>
                  </a:extLst>
                </a:gridCol>
                <a:gridCol w="1224137">
                  <a:extLst>
                    <a:ext uri="{9D8B030D-6E8A-4147-A177-3AD203B41FA5}">
                      <a16:colId xmlns:a16="http://schemas.microsoft.com/office/drawing/2014/main" val="20006"/>
                    </a:ext>
                  </a:extLst>
                </a:gridCol>
              </a:tblGrid>
              <a:tr h="556046">
                <a:tc>
                  <a:txBody>
                    <a:bodyPr/>
                    <a:lstStyle/>
                    <a:p>
                      <a:pPr marL="0" indent="0" algn="ctr">
                        <a:lnSpc>
                          <a:spcPts val="1600"/>
                        </a:lnSpc>
                        <a:spcAft>
                          <a:spcPts val="0"/>
                        </a:spcAft>
                      </a:pPr>
                      <a:r>
                        <a:rPr lang="zh-CN" sz="1600" dirty="0">
                          <a:effectLst/>
                          <a:latin typeface="微软雅黑" pitchFamily="34" charset="-122"/>
                          <a:ea typeface="微软雅黑" pitchFamily="34" charset="-122"/>
                        </a:rPr>
                        <a:t>位型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整型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货币型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日期时间型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图像型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浮点型</a:t>
                      </a:r>
                    </a:p>
                  </a:txBody>
                  <a:tcPr marL="68580" marR="68580" marT="0" marB="0" anchor="ctr"/>
                </a:tc>
                <a:tc>
                  <a:txBody>
                    <a:bodyPr/>
                    <a:lstStyle/>
                    <a:p>
                      <a:pPr indent="127000" algn="ctr">
                        <a:lnSpc>
                          <a:spcPts val="1600"/>
                        </a:lnSpc>
                        <a:spcAft>
                          <a:spcPts val="0"/>
                        </a:spcAft>
                      </a:pPr>
                      <a:r>
                        <a:rPr lang="zh-CN" sz="1600" dirty="0">
                          <a:effectLst/>
                          <a:latin typeface="微软雅黑" pitchFamily="34" charset="-122"/>
                          <a:ea typeface="微软雅黑" pitchFamily="34" charset="-122"/>
                        </a:rPr>
                        <a:t>字符型</a:t>
                      </a:r>
                    </a:p>
                  </a:txBody>
                  <a:tcPr marL="68580" marR="68580" marT="0" marB="0" anchor="ctr"/>
                </a:tc>
                <a:extLst>
                  <a:ext uri="{0D108BD9-81ED-4DB2-BD59-A6C34878D82A}">
                    <a16:rowId xmlns:a16="http://schemas.microsoft.com/office/drawing/2014/main" val="10000"/>
                  </a:ext>
                </a:extLst>
              </a:tr>
              <a:tr h="1748210">
                <a:tc>
                  <a:txBody>
                    <a:bodyPr/>
                    <a:lstStyle/>
                    <a:p>
                      <a:pPr marL="0" indent="0" algn="ctr">
                        <a:lnSpc>
                          <a:spcPts val="1600"/>
                        </a:lnSpc>
                        <a:spcAft>
                          <a:spcPts val="0"/>
                        </a:spcAft>
                      </a:pPr>
                      <a:r>
                        <a:rPr lang="en-US" sz="1600" b="0" dirty="0">
                          <a:effectLst/>
                          <a:latin typeface="微软雅黑" pitchFamily="34" charset="-122"/>
                          <a:ea typeface="微软雅黑" pitchFamily="34" charset="-122"/>
                        </a:rPr>
                        <a:t>BIT</a:t>
                      </a:r>
                      <a:endParaRPr lang="zh-CN" sz="16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600" b="0" dirty="0">
                          <a:effectLst/>
                          <a:latin typeface="微软雅黑" pitchFamily="34" charset="-122"/>
                          <a:ea typeface="微软雅黑" pitchFamily="34" charset="-122"/>
                        </a:rPr>
                        <a:t>TINYINT</a:t>
                      </a:r>
                      <a:endParaRPr lang="zh-CN" sz="1600" b="0" dirty="0">
                        <a:effectLst/>
                        <a:latin typeface="微软雅黑" pitchFamily="34" charset="-122"/>
                        <a:ea typeface="微软雅黑" pitchFamily="34" charset="-122"/>
                      </a:endParaRPr>
                    </a:p>
                    <a:p>
                      <a:pPr marL="0" indent="0" algn="ctr">
                        <a:lnSpc>
                          <a:spcPts val="1600"/>
                        </a:lnSpc>
                        <a:spcAft>
                          <a:spcPts val="0"/>
                        </a:spcAft>
                      </a:pPr>
                      <a:r>
                        <a:rPr lang="en-US" sz="1600" b="0" dirty="0">
                          <a:effectLst/>
                          <a:latin typeface="微软雅黑" pitchFamily="34" charset="-122"/>
                          <a:ea typeface="微软雅黑" pitchFamily="34" charset="-122"/>
                        </a:rPr>
                        <a:t>SMALLINT</a:t>
                      </a:r>
                      <a:endParaRPr lang="zh-CN" sz="1600" b="0" dirty="0">
                        <a:effectLst/>
                        <a:latin typeface="微软雅黑" pitchFamily="34" charset="-122"/>
                        <a:ea typeface="微软雅黑" pitchFamily="34" charset="-122"/>
                      </a:endParaRPr>
                    </a:p>
                    <a:p>
                      <a:pPr marL="0" indent="0" algn="ctr">
                        <a:lnSpc>
                          <a:spcPts val="1600"/>
                        </a:lnSpc>
                        <a:spcAft>
                          <a:spcPts val="0"/>
                        </a:spcAft>
                      </a:pPr>
                      <a:r>
                        <a:rPr lang="en-US" sz="1600" b="0" dirty="0">
                          <a:effectLst/>
                          <a:latin typeface="微软雅黑" pitchFamily="34" charset="-122"/>
                          <a:ea typeface="微软雅黑" pitchFamily="34" charset="-122"/>
                        </a:rPr>
                        <a:t>INT</a:t>
                      </a:r>
                    </a:p>
                    <a:p>
                      <a:pPr marL="0" indent="0" algn="ctr">
                        <a:lnSpc>
                          <a:spcPts val="1600"/>
                        </a:lnSpc>
                        <a:spcAft>
                          <a:spcPts val="0"/>
                        </a:spcAft>
                      </a:pPr>
                      <a:r>
                        <a:rPr lang="en-US" sz="1600" b="0" dirty="0">
                          <a:effectLst/>
                          <a:latin typeface="微软雅黑" pitchFamily="34" charset="-122"/>
                          <a:ea typeface="微软雅黑" pitchFamily="34" charset="-122"/>
                        </a:rPr>
                        <a:t>BIGINT</a:t>
                      </a:r>
                      <a:endParaRPr lang="zh-CN" sz="16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400" b="0" dirty="0">
                          <a:effectLst/>
                          <a:latin typeface="微软雅黑" pitchFamily="34" charset="-122"/>
                          <a:ea typeface="微软雅黑" pitchFamily="34" charset="-122"/>
                        </a:rPr>
                        <a:t>MONEY</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SMALLMONEY</a:t>
                      </a:r>
                      <a:endParaRPr lang="zh-CN" sz="14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400" b="0" dirty="0">
                          <a:effectLst/>
                          <a:latin typeface="微软雅黑" pitchFamily="34" charset="-122"/>
                          <a:ea typeface="微软雅黑" pitchFamily="34" charset="-122"/>
                        </a:rPr>
                        <a:t>DATE/TIME</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DATETIME</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SMALLDATETIME</a:t>
                      </a:r>
                      <a:endParaRPr lang="zh-CN" sz="14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600" b="0" dirty="0">
                          <a:effectLst/>
                          <a:latin typeface="微软雅黑" pitchFamily="34" charset="-122"/>
                          <a:ea typeface="微软雅黑" pitchFamily="34" charset="-122"/>
                        </a:rPr>
                        <a:t>IMAGE</a:t>
                      </a:r>
                      <a:endParaRPr lang="zh-CN" sz="16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400" b="0" dirty="0">
                          <a:effectLst/>
                          <a:latin typeface="微软雅黑" pitchFamily="34" charset="-122"/>
                          <a:ea typeface="微软雅黑" pitchFamily="34" charset="-122"/>
                        </a:rPr>
                        <a:t>REAL/FLOAT</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DECIMAL(</a:t>
                      </a:r>
                      <a:r>
                        <a:rPr lang="en-US" sz="1400" b="0" dirty="0" err="1">
                          <a:effectLst/>
                          <a:latin typeface="微软雅黑" pitchFamily="34" charset="-122"/>
                          <a:ea typeface="微软雅黑" pitchFamily="34" charset="-122"/>
                        </a:rPr>
                        <a:t>n,m</a:t>
                      </a:r>
                      <a:r>
                        <a:rPr lang="en-US" sz="1400" b="0" dirty="0">
                          <a:effectLst/>
                          <a:latin typeface="微软雅黑" pitchFamily="34" charset="-122"/>
                          <a:ea typeface="微软雅黑" pitchFamily="34" charset="-122"/>
                        </a:rPr>
                        <a:t>)</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NUMERIC(</a:t>
                      </a:r>
                      <a:r>
                        <a:rPr lang="en-US" sz="1400" b="0" dirty="0" err="1">
                          <a:effectLst/>
                          <a:latin typeface="微软雅黑" pitchFamily="34" charset="-122"/>
                          <a:ea typeface="微软雅黑" pitchFamily="34" charset="-122"/>
                        </a:rPr>
                        <a:t>n,m</a:t>
                      </a:r>
                      <a:r>
                        <a:rPr lang="en-US" sz="1400" b="0" dirty="0">
                          <a:effectLst/>
                          <a:latin typeface="微软雅黑" pitchFamily="34" charset="-122"/>
                          <a:ea typeface="微软雅黑" pitchFamily="34" charset="-122"/>
                        </a:rPr>
                        <a:t>)</a:t>
                      </a:r>
                      <a:endParaRPr lang="zh-CN" sz="1400" b="0" dirty="0">
                        <a:effectLst/>
                        <a:latin typeface="微软雅黑" pitchFamily="34" charset="-122"/>
                        <a:ea typeface="微软雅黑" pitchFamily="34" charset="-122"/>
                      </a:endParaRPr>
                    </a:p>
                  </a:txBody>
                  <a:tcPr marL="68580" marR="68580" marT="0" marB="0" anchor="ctr"/>
                </a:tc>
                <a:tc>
                  <a:txBody>
                    <a:bodyPr/>
                    <a:lstStyle/>
                    <a:p>
                      <a:pPr marL="0" indent="0" algn="ctr">
                        <a:lnSpc>
                          <a:spcPts val="1600"/>
                        </a:lnSpc>
                        <a:spcAft>
                          <a:spcPts val="0"/>
                        </a:spcAft>
                      </a:pPr>
                      <a:r>
                        <a:rPr lang="en-US" sz="1400" b="0" dirty="0">
                          <a:effectLst/>
                          <a:latin typeface="微软雅黑" pitchFamily="34" charset="-122"/>
                          <a:ea typeface="微软雅黑" pitchFamily="34" charset="-122"/>
                        </a:rPr>
                        <a:t>CHAR(n)</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VARCHAR(n)</a:t>
                      </a:r>
                      <a:endParaRPr lang="zh-CN" sz="1400" b="0" dirty="0">
                        <a:effectLst/>
                        <a:latin typeface="微软雅黑" pitchFamily="34" charset="-122"/>
                        <a:ea typeface="微软雅黑" pitchFamily="34" charset="-122"/>
                      </a:endParaRPr>
                    </a:p>
                    <a:p>
                      <a:pPr marL="0" indent="0" algn="ctr">
                        <a:lnSpc>
                          <a:spcPts val="1600"/>
                        </a:lnSpc>
                        <a:spcAft>
                          <a:spcPts val="0"/>
                        </a:spcAft>
                      </a:pPr>
                      <a:r>
                        <a:rPr lang="en-US" sz="1400" b="0" dirty="0">
                          <a:effectLst/>
                          <a:latin typeface="微软雅黑" pitchFamily="34" charset="-122"/>
                          <a:ea typeface="微软雅黑" pitchFamily="34" charset="-122"/>
                        </a:rPr>
                        <a:t>TEXT</a:t>
                      </a:r>
                    </a:p>
                    <a:p>
                      <a:pPr marL="0" indent="0" algn="ctr">
                        <a:lnSpc>
                          <a:spcPts val="1600"/>
                        </a:lnSpc>
                        <a:spcAft>
                          <a:spcPts val="0"/>
                        </a:spcAft>
                      </a:pPr>
                      <a:r>
                        <a:rPr lang="en-US" sz="1400" b="0" dirty="0">
                          <a:effectLst/>
                          <a:latin typeface="微软雅黑" pitchFamily="34" charset="-122"/>
                          <a:ea typeface="微软雅黑" pitchFamily="34" charset="-122"/>
                        </a:rPr>
                        <a:t>NTEXT</a:t>
                      </a:r>
                      <a:endParaRPr lang="zh-CN" sz="1400" b="0" dirty="0">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04188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59A2D731-4F6E-8547-8D7F-E5E9CCC53A97}"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17</a:t>
            </a:fld>
            <a:endParaRPr lang="zh-CN" altLang="en-US" dirty="0"/>
          </a:p>
        </p:txBody>
      </p:sp>
      <p:sp>
        <p:nvSpPr>
          <p:cNvPr id="7" name="文本占位符 6"/>
          <p:cNvSpPr>
            <a:spLocks noGrp="1"/>
          </p:cNvSpPr>
          <p:nvPr>
            <p:ph type="body" idx="1"/>
          </p:nvPr>
        </p:nvSpPr>
        <p:spPr>
          <a:xfrm>
            <a:off x="3082" y="548680"/>
            <a:ext cx="9144000" cy="5760640"/>
          </a:xfrm>
        </p:spPr>
        <p:txBody>
          <a:bodyPr>
            <a:normAutofit/>
          </a:bodyPr>
          <a:lstStyle/>
          <a:p>
            <a:pPr marL="0" indent="0">
              <a:buNone/>
            </a:pPr>
            <a:r>
              <a:rPr lang="zh-CN" altLang="zh-CN" sz="2000" dirty="0"/>
              <a:t>例</a:t>
            </a:r>
            <a:r>
              <a:rPr lang="en-US" altLang="zh-CN" sz="2000" dirty="0"/>
              <a:t>4.2  </a:t>
            </a:r>
            <a:r>
              <a:rPr lang="zh-CN" altLang="zh-CN" sz="2000" dirty="0"/>
              <a:t>创建</a:t>
            </a:r>
            <a:r>
              <a:rPr lang="en-US" altLang="zh-CN" sz="2000" dirty="0" err="1"/>
              <a:t>Ebbook</a:t>
            </a:r>
            <a:r>
              <a:rPr lang="zh-CN" altLang="zh-CN" sz="2000" dirty="0"/>
              <a:t>中的</a:t>
            </a:r>
            <a:r>
              <a:rPr lang="en-US" altLang="zh-CN" sz="2000" dirty="0"/>
              <a:t>Press</a:t>
            </a:r>
            <a:r>
              <a:rPr lang="zh-CN" altLang="zh-CN" sz="2000" dirty="0"/>
              <a:t>、</a:t>
            </a:r>
            <a:r>
              <a:rPr lang="en-US" altLang="zh-CN" sz="2000" dirty="0"/>
              <a:t>Book</a:t>
            </a:r>
            <a:r>
              <a:rPr lang="zh-CN" altLang="zh-CN" sz="2000" dirty="0"/>
              <a:t>、</a:t>
            </a:r>
            <a:r>
              <a:rPr lang="en-US" altLang="zh-CN" sz="2000" dirty="0" err="1"/>
              <a:t>Cust</a:t>
            </a:r>
            <a:r>
              <a:rPr lang="zh-CN" altLang="zh-CN" sz="2000" dirty="0"/>
              <a:t>和</a:t>
            </a:r>
            <a:r>
              <a:rPr lang="en-US" altLang="zh-CN" sz="2000" dirty="0"/>
              <a:t>Buy</a:t>
            </a:r>
            <a:r>
              <a:rPr lang="zh-CN" altLang="zh-CN" sz="2000" dirty="0"/>
              <a:t>。要求如下（其它自定）：</a:t>
            </a:r>
          </a:p>
          <a:p>
            <a:pPr marL="0" indent="0">
              <a:buNone/>
            </a:pPr>
            <a:r>
              <a:rPr lang="zh-CN" altLang="zh-CN" sz="2000" dirty="0"/>
              <a:t>（</a:t>
            </a:r>
            <a:r>
              <a:rPr lang="en-US" altLang="zh-CN" sz="2000" dirty="0"/>
              <a:t>1</a:t>
            </a:r>
            <a:r>
              <a:rPr lang="zh-CN" altLang="zh-CN" sz="2000" dirty="0"/>
              <a:t>）社号、书号、户号、（户号，书号）：文本，主键。</a:t>
            </a:r>
          </a:p>
          <a:p>
            <a:pPr marL="0" indent="0">
              <a:buNone/>
            </a:pPr>
            <a:r>
              <a:rPr lang="zh-CN" altLang="zh-CN" sz="2000" dirty="0"/>
              <a:t>（</a:t>
            </a:r>
            <a:r>
              <a:rPr lang="en-US" altLang="zh-CN" sz="2000" dirty="0"/>
              <a:t>2</a:t>
            </a:r>
            <a:r>
              <a:rPr lang="zh-CN" altLang="zh-CN" sz="2000" dirty="0"/>
              <a:t>）</a:t>
            </a:r>
            <a:r>
              <a:rPr lang="en-US" altLang="zh-CN" sz="2000" dirty="0"/>
              <a:t>Book</a:t>
            </a:r>
            <a:r>
              <a:rPr lang="zh-CN" altLang="zh-CN" sz="2000" dirty="0"/>
              <a:t>的社号、</a:t>
            </a:r>
            <a:r>
              <a:rPr lang="en-US" altLang="zh-CN" sz="2000" dirty="0"/>
              <a:t>Buy</a:t>
            </a:r>
            <a:r>
              <a:rPr lang="zh-CN" altLang="zh-CN" sz="2000" dirty="0"/>
              <a:t>的户号和书号：外键，级联更新，级联删除。</a:t>
            </a:r>
          </a:p>
          <a:p>
            <a:pPr marL="0" indent="0">
              <a:buNone/>
            </a:pPr>
            <a:r>
              <a:rPr lang="zh-CN" altLang="zh-CN" sz="2000" dirty="0"/>
              <a:t>（</a:t>
            </a:r>
            <a:r>
              <a:rPr lang="en-US" altLang="zh-CN" sz="2000" dirty="0"/>
              <a:t>3</a:t>
            </a:r>
            <a:r>
              <a:rPr lang="zh-CN" altLang="zh-CN" sz="2000" dirty="0"/>
              <a:t>）社名：文本，长度</a:t>
            </a:r>
            <a:r>
              <a:rPr lang="en-US" altLang="zh-CN" sz="2000" dirty="0"/>
              <a:t>22</a:t>
            </a:r>
            <a:r>
              <a:rPr lang="zh-CN" altLang="zh-CN" sz="2000" dirty="0"/>
              <a:t>，唯一。</a:t>
            </a:r>
          </a:p>
          <a:p>
            <a:pPr marL="0" indent="0">
              <a:buNone/>
            </a:pPr>
            <a:r>
              <a:rPr lang="zh-CN" altLang="zh-CN" sz="2000" dirty="0"/>
              <a:t>（</a:t>
            </a:r>
            <a:r>
              <a:rPr lang="en-US" altLang="zh-CN" sz="2000" dirty="0"/>
              <a:t>4</a:t>
            </a:r>
            <a:r>
              <a:rPr lang="zh-CN" altLang="zh-CN" sz="2000" dirty="0"/>
              <a:t>）邮编：文本，</a:t>
            </a:r>
            <a:r>
              <a:rPr lang="en-US" altLang="zh-CN" sz="2000" dirty="0"/>
              <a:t>6</a:t>
            </a:r>
            <a:r>
              <a:rPr lang="zh-CN" altLang="zh-CN" sz="2000" dirty="0"/>
              <a:t>位数字。</a:t>
            </a:r>
          </a:p>
          <a:p>
            <a:pPr marL="0" indent="0">
              <a:buNone/>
            </a:pPr>
            <a:r>
              <a:rPr lang="zh-CN" altLang="zh-CN" sz="2000" dirty="0"/>
              <a:t>（</a:t>
            </a:r>
            <a:r>
              <a:rPr lang="en-US" altLang="zh-CN" sz="2000" dirty="0"/>
              <a:t>5</a:t>
            </a:r>
            <a:r>
              <a:rPr lang="zh-CN" altLang="zh-CN" sz="2000" dirty="0"/>
              <a:t>）电话：文本，长度不能超过</a:t>
            </a:r>
            <a:r>
              <a:rPr lang="en-US" altLang="zh-CN" sz="2000" dirty="0"/>
              <a:t>15</a:t>
            </a:r>
            <a:r>
              <a:rPr lang="zh-CN" altLang="zh-CN" sz="2000" dirty="0"/>
              <a:t>位。</a:t>
            </a:r>
          </a:p>
          <a:p>
            <a:pPr marL="0" indent="0">
              <a:buNone/>
            </a:pPr>
            <a:r>
              <a:rPr lang="zh-CN" altLang="zh-CN" sz="2000" dirty="0"/>
              <a:t>（</a:t>
            </a:r>
            <a:r>
              <a:rPr lang="en-US" altLang="zh-CN" sz="2000" dirty="0"/>
              <a:t>6</a:t>
            </a:r>
            <a:r>
              <a:rPr lang="zh-CN" altLang="zh-CN" sz="2000" dirty="0"/>
              <a:t>）邮箱：文本，包含字符“</a:t>
            </a:r>
            <a:r>
              <a:rPr lang="en-US" altLang="zh-CN" sz="2000" dirty="0"/>
              <a:t>@</a:t>
            </a:r>
            <a:r>
              <a:rPr lang="zh-CN" altLang="zh-CN" sz="2000" dirty="0"/>
              <a:t>”。</a:t>
            </a:r>
          </a:p>
          <a:p>
            <a:pPr marL="0" indent="0">
              <a:buNone/>
            </a:pPr>
            <a:r>
              <a:rPr lang="zh-CN" altLang="zh-CN" sz="2000" dirty="0"/>
              <a:t>（</a:t>
            </a:r>
            <a:r>
              <a:rPr lang="en-US" altLang="zh-CN" sz="2000" dirty="0"/>
              <a:t>7</a:t>
            </a:r>
            <a:r>
              <a:rPr lang="zh-CN" altLang="zh-CN" sz="2000" dirty="0"/>
              <a:t>）版次：短整型，</a:t>
            </a:r>
            <a:r>
              <a:rPr lang="en-US" altLang="zh-CN" sz="2000" dirty="0"/>
              <a:t>1</a:t>
            </a:r>
            <a:r>
              <a:rPr lang="zh-CN" altLang="zh-CN" sz="2000" dirty="0"/>
              <a:t>到</a:t>
            </a:r>
            <a:r>
              <a:rPr lang="en-US" altLang="zh-CN" sz="2000" dirty="0"/>
              <a:t>9</a:t>
            </a:r>
            <a:r>
              <a:rPr lang="zh-CN" altLang="zh-CN" sz="2000" dirty="0"/>
              <a:t>。</a:t>
            </a:r>
          </a:p>
          <a:p>
            <a:pPr marL="0" indent="0">
              <a:buNone/>
            </a:pPr>
            <a:r>
              <a:rPr lang="zh-CN" altLang="zh-CN" sz="2000" dirty="0"/>
              <a:t>（</a:t>
            </a:r>
            <a:r>
              <a:rPr lang="en-US" altLang="zh-CN" sz="2000" dirty="0"/>
              <a:t>8</a:t>
            </a:r>
            <a:r>
              <a:rPr lang="zh-CN" altLang="zh-CN" sz="2000" dirty="0"/>
              <a:t>）定价、进价、售价：实数，定价</a:t>
            </a:r>
            <a:r>
              <a:rPr lang="en-US" altLang="zh-CN" sz="2000" dirty="0"/>
              <a:t>&lt;</a:t>
            </a:r>
            <a:r>
              <a:rPr lang="zh-CN" altLang="zh-CN" sz="2000" dirty="0"/>
              <a:t>进价，售价</a:t>
            </a:r>
            <a:r>
              <a:rPr lang="en-US" altLang="zh-CN" sz="2000" dirty="0"/>
              <a:t>&lt;=</a:t>
            </a:r>
            <a:r>
              <a:rPr lang="zh-CN" altLang="zh-CN" sz="2000" dirty="0"/>
              <a:t>定价，售价</a:t>
            </a:r>
            <a:r>
              <a:rPr lang="en-US" altLang="zh-CN" sz="2000" dirty="0"/>
              <a:t>&gt;</a:t>
            </a:r>
            <a:r>
              <a:rPr lang="zh-CN" altLang="zh-CN" sz="2000" dirty="0"/>
              <a:t>进价。</a:t>
            </a:r>
          </a:p>
          <a:p>
            <a:pPr marL="0" indent="0">
              <a:buNone/>
            </a:pPr>
            <a:r>
              <a:rPr lang="zh-CN" altLang="zh-CN" sz="2000" dirty="0"/>
              <a:t>（</a:t>
            </a:r>
            <a:r>
              <a:rPr lang="en-US" altLang="zh-CN" sz="2000" dirty="0"/>
              <a:t>9</a:t>
            </a:r>
            <a:r>
              <a:rPr lang="zh-CN" altLang="zh-CN" sz="2000" dirty="0"/>
              <a:t>）户号：文本，首字符为</a:t>
            </a:r>
            <a:r>
              <a:rPr lang="en-US" altLang="zh-CN" sz="2000" dirty="0"/>
              <a:t>C</a:t>
            </a:r>
            <a:r>
              <a:rPr lang="zh-CN" altLang="zh-CN" sz="2000" dirty="0"/>
              <a:t>，后跟</a:t>
            </a:r>
            <a:r>
              <a:rPr lang="en-US" altLang="zh-CN" sz="2000" dirty="0"/>
              <a:t>3</a:t>
            </a:r>
            <a:r>
              <a:rPr lang="zh-CN" altLang="zh-CN" sz="2000" dirty="0"/>
              <a:t>个数字。</a:t>
            </a:r>
          </a:p>
          <a:p>
            <a:pPr marL="0" indent="0">
              <a:buNone/>
            </a:pPr>
            <a:r>
              <a:rPr lang="zh-CN" altLang="zh-CN" sz="2000" dirty="0"/>
              <a:t>（</a:t>
            </a:r>
            <a:r>
              <a:rPr lang="en-US" altLang="zh-CN" sz="2000" dirty="0"/>
              <a:t>10</a:t>
            </a:r>
            <a:r>
              <a:rPr lang="zh-CN" altLang="zh-CN" sz="2000" dirty="0"/>
              <a:t>）性别、婚否：文本，分别只能为“男”或“女”、“是”或“否”。</a:t>
            </a:r>
          </a:p>
          <a:p>
            <a:pPr marL="0" indent="0">
              <a:buNone/>
            </a:pPr>
            <a:r>
              <a:rPr lang="zh-CN" altLang="zh-CN" sz="2000" dirty="0"/>
              <a:t>（</a:t>
            </a:r>
            <a:r>
              <a:rPr lang="en-US" altLang="zh-CN" sz="2000" dirty="0"/>
              <a:t>11</a:t>
            </a:r>
            <a:r>
              <a:rPr lang="zh-CN" altLang="zh-CN" sz="2000" dirty="0"/>
              <a:t>）购买日期：日期，默认值为计算机的当前日期。</a:t>
            </a:r>
          </a:p>
        </p:txBody>
      </p:sp>
    </p:spTree>
    <p:extLst>
      <p:ext uri="{BB962C8B-B14F-4D97-AF65-F5344CB8AC3E}">
        <p14:creationId xmlns:p14="http://schemas.microsoft.com/office/powerpoint/2010/main" val="3629590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EF4DE2E8-7758-114F-8D2B-35705F281C3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18</a:t>
            </a:fld>
            <a:endParaRPr lang="zh-CN" altLang="en-US" dirty="0"/>
          </a:p>
        </p:txBody>
      </p:sp>
      <p:sp>
        <p:nvSpPr>
          <p:cNvPr id="7" name="文本占位符 6"/>
          <p:cNvSpPr>
            <a:spLocks noGrp="1"/>
          </p:cNvSpPr>
          <p:nvPr>
            <p:ph type="body" idx="1"/>
          </p:nvPr>
        </p:nvSpPr>
        <p:spPr>
          <a:xfrm>
            <a:off x="3082" y="548680"/>
            <a:ext cx="9144000" cy="5760640"/>
          </a:xfrm>
        </p:spPr>
        <p:txBody>
          <a:bodyPr>
            <a:normAutofit/>
          </a:bodyPr>
          <a:lstStyle/>
          <a:p>
            <a:pPr marL="0" indent="0">
              <a:buNone/>
            </a:pPr>
            <a:r>
              <a:rPr lang="en-US" altLang="zh-CN" sz="2000" dirty="0">
                <a:solidFill>
                  <a:srgbClr val="0000FF"/>
                </a:solidFill>
              </a:rPr>
              <a:t>CREATE TABLE Press(</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PNo</a:t>
            </a:r>
            <a:r>
              <a:rPr lang="en-US" altLang="zh-CN" sz="2000" dirty="0">
                <a:solidFill>
                  <a:srgbClr val="0000FF"/>
                </a:solidFill>
              </a:rPr>
              <a:t> CHAR(16) PRIMARY KEY,</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PName</a:t>
            </a:r>
            <a:r>
              <a:rPr lang="en-US" altLang="zh-CN" sz="2000" dirty="0">
                <a:solidFill>
                  <a:srgbClr val="0000FF"/>
                </a:solidFill>
              </a:rPr>
              <a:t> CHAR(20) UNIQUE,</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PCode</a:t>
            </a:r>
            <a:r>
              <a:rPr lang="en-US" altLang="zh-CN" sz="2000" dirty="0">
                <a:solidFill>
                  <a:srgbClr val="0000FF"/>
                </a:solidFill>
              </a:rPr>
              <a:t> CHAR(6) CHECK(</a:t>
            </a:r>
            <a:r>
              <a:rPr lang="en-US" altLang="zh-CN" sz="2000" dirty="0" err="1">
                <a:solidFill>
                  <a:srgbClr val="0000FF"/>
                </a:solidFill>
              </a:rPr>
              <a:t>PCode</a:t>
            </a:r>
            <a:r>
              <a:rPr lang="en-US" altLang="zh-CN" sz="2000" dirty="0">
                <a:solidFill>
                  <a:srgbClr val="0000FF"/>
                </a:solidFill>
              </a:rPr>
              <a:t> LIKE '[0-9][0-9][0-9][0-9][0-9][0-9]'),</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PAddr</a:t>
            </a:r>
            <a:r>
              <a:rPr lang="en-US" altLang="zh-CN" sz="2000" dirty="0">
                <a:solidFill>
                  <a:srgbClr val="0000FF"/>
                </a:solidFill>
              </a:rPr>
              <a:t> CHAR(30),</a:t>
            </a:r>
            <a:endParaRPr lang="zh-CN" altLang="zh-CN" sz="2000" dirty="0">
              <a:solidFill>
                <a:srgbClr val="0000FF"/>
              </a:solidFill>
            </a:endParaRPr>
          </a:p>
          <a:p>
            <a:pPr marL="0" indent="0">
              <a:buNone/>
            </a:pPr>
            <a:r>
              <a:rPr lang="en-US" altLang="zh-CN" sz="2000" dirty="0">
                <a:solidFill>
                  <a:srgbClr val="0000FF"/>
                </a:solidFill>
              </a:rPr>
              <a:t>    Phone CHAR(16) CHECK(LEN(Phone)&lt;=15),</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EMail</a:t>
            </a:r>
            <a:r>
              <a:rPr lang="en-US" altLang="zh-CN" sz="2000" dirty="0">
                <a:solidFill>
                  <a:srgbClr val="0000FF"/>
                </a:solidFill>
              </a:rPr>
              <a:t> CHAR(26) CHECK(CHARINDEX('@',</a:t>
            </a:r>
            <a:r>
              <a:rPr lang="en-US" altLang="zh-CN" sz="2000" dirty="0" err="1">
                <a:solidFill>
                  <a:srgbClr val="0000FF"/>
                </a:solidFill>
              </a:rPr>
              <a:t>EMail</a:t>
            </a:r>
            <a:r>
              <a:rPr lang="en-US" altLang="zh-CN" sz="2000" dirty="0">
                <a:solidFill>
                  <a:srgbClr val="0000FF"/>
                </a:solidFill>
              </a:rPr>
              <a:t>)&gt;0),</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HPage</a:t>
            </a:r>
            <a:r>
              <a:rPr lang="en-US" altLang="zh-CN" sz="2000" dirty="0">
                <a:solidFill>
                  <a:srgbClr val="0000FF"/>
                </a:solidFill>
              </a:rPr>
              <a:t> CHAR(25))</a:t>
            </a:r>
            <a:endParaRPr lang="zh-CN" altLang="zh-CN" sz="2000" dirty="0">
              <a:solidFill>
                <a:srgbClr val="0000FF"/>
              </a:solidFill>
            </a:endParaRPr>
          </a:p>
        </p:txBody>
      </p:sp>
    </p:spTree>
    <p:extLst>
      <p:ext uri="{BB962C8B-B14F-4D97-AF65-F5344CB8AC3E}">
        <p14:creationId xmlns:p14="http://schemas.microsoft.com/office/powerpoint/2010/main" val="277458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DE8137F5-E277-3D48-A02E-FCD000279AF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19</a:t>
            </a:fld>
            <a:endParaRPr lang="zh-CN" altLang="en-US" dirty="0"/>
          </a:p>
        </p:txBody>
      </p:sp>
      <p:sp>
        <p:nvSpPr>
          <p:cNvPr id="7" name="文本占位符 6"/>
          <p:cNvSpPr>
            <a:spLocks noGrp="1"/>
          </p:cNvSpPr>
          <p:nvPr>
            <p:ph type="body" idx="1"/>
          </p:nvPr>
        </p:nvSpPr>
        <p:spPr>
          <a:xfrm>
            <a:off x="3082" y="548680"/>
            <a:ext cx="9144000" cy="5760640"/>
          </a:xfrm>
        </p:spPr>
        <p:txBody>
          <a:bodyPr>
            <a:normAutofit/>
          </a:bodyPr>
          <a:lstStyle/>
          <a:p>
            <a:pPr marL="0" indent="0">
              <a:buNone/>
            </a:pPr>
            <a:r>
              <a:rPr lang="en-US" altLang="zh-CN" sz="2000" dirty="0">
                <a:solidFill>
                  <a:srgbClr val="0000FF"/>
                </a:solidFill>
              </a:rPr>
              <a:t>CREATE TABLE Book(</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BNo</a:t>
            </a:r>
            <a:r>
              <a:rPr lang="en-US" altLang="zh-CN" sz="2000" dirty="0">
                <a:solidFill>
                  <a:srgbClr val="0000FF"/>
                </a:solidFill>
              </a:rPr>
              <a:t> CHAR(22) PRIMARY KEY,</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BName</a:t>
            </a:r>
            <a:r>
              <a:rPr lang="en-US" altLang="zh-CN" sz="2000" dirty="0">
                <a:solidFill>
                  <a:srgbClr val="0000FF"/>
                </a:solidFill>
              </a:rPr>
              <a:t> CHAR(22) NOT NULL,</a:t>
            </a:r>
            <a:endParaRPr lang="zh-CN" altLang="zh-CN" sz="2000" dirty="0">
              <a:solidFill>
                <a:srgbClr val="0000FF"/>
              </a:solidFill>
            </a:endParaRPr>
          </a:p>
          <a:p>
            <a:pPr marL="0" indent="0">
              <a:buNone/>
            </a:pPr>
            <a:r>
              <a:rPr lang="en-US" altLang="zh-CN" sz="2000" dirty="0">
                <a:solidFill>
                  <a:srgbClr val="0000FF"/>
                </a:solidFill>
              </a:rPr>
              <a:t>    Author CHAR(8),</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PNo</a:t>
            </a:r>
            <a:r>
              <a:rPr lang="en-US" altLang="zh-CN" sz="2000" dirty="0">
                <a:solidFill>
                  <a:srgbClr val="0000FF"/>
                </a:solidFill>
              </a:rPr>
              <a:t> CHAR(16) REFERENCES Press(</a:t>
            </a:r>
            <a:r>
              <a:rPr lang="en-US" altLang="zh-CN" sz="2000" dirty="0" err="1">
                <a:solidFill>
                  <a:srgbClr val="0000FF"/>
                </a:solidFill>
              </a:rPr>
              <a:t>PNo</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EditNo</a:t>
            </a:r>
            <a:r>
              <a:rPr lang="en-US" altLang="zh-CN" sz="2000" dirty="0">
                <a:solidFill>
                  <a:srgbClr val="0000FF"/>
                </a:solidFill>
              </a:rPr>
              <a:t> SMALLINT CHECK(</a:t>
            </a:r>
            <a:r>
              <a:rPr lang="en-US" altLang="zh-CN" sz="2000" dirty="0" err="1">
                <a:solidFill>
                  <a:srgbClr val="0000FF"/>
                </a:solidFill>
              </a:rPr>
              <a:t>EditNo</a:t>
            </a:r>
            <a:r>
              <a:rPr lang="en-US" altLang="zh-CN" sz="2000" dirty="0">
                <a:solidFill>
                  <a:srgbClr val="0000FF"/>
                </a:solidFill>
              </a:rPr>
              <a:t>&gt;0 AND </a:t>
            </a:r>
            <a:r>
              <a:rPr lang="en-US" altLang="zh-CN" sz="2000" dirty="0" err="1">
                <a:solidFill>
                  <a:srgbClr val="0000FF"/>
                </a:solidFill>
              </a:rPr>
              <a:t>EditNo</a:t>
            </a:r>
            <a:r>
              <a:rPr lang="en-US" altLang="zh-CN" sz="2000" dirty="0">
                <a:solidFill>
                  <a:srgbClr val="0000FF"/>
                </a:solidFill>
              </a:rPr>
              <a:t>&lt;=9),</a:t>
            </a:r>
            <a:endParaRPr lang="zh-CN" altLang="zh-CN" sz="2000" dirty="0">
              <a:solidFill>
                <a:srgbClr val="0000FF"/>
              </a:solidFill>
            </a:endParaRPr>
          </a:p>
          <a:p>
            <a:pPr marL="0" indent="0">
              <a:buNone/>
            </a:pPr>
            <a:r>
              <a:rPr lang="en-US" altLang="zh-CN" sz="2000" dirty="0">
                <a:solidFill>
                  <a:srgbClr val="0000FF"/>
                </a:solidFill>
              </a:rPr>
              <a:t>    Price REAL,</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PPrice</a:t>
            </a:r>
            <a:r>
              <a:rPr lang="en-US" altLang="zh-CN" sz="2000" dirty="0">
                <a:solidFill>
                  <a:srgbClr val="0000FF"/>
                </a:solidFill>
              </a:rPr>
              <a:t> FLOAT,</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SPrice</a:t>
            </a:r>
            <a:r>
              <a:rPr lang="en-US" altLang="zh-CN" sz="2000" dirty="0">
                <a:solidFill>
                  <a:srgbClr val="0000FF"/>
                </a:solidFill>
              </a:rPr>
              <a:t> DECIMAL(6,2),</a:t>
            </a:r>
            <a:endParaRPr lang="zh-CN" altLang="zh-CN" sz="2000" dirty="0">
              <a:solidFill>
                <a:srgbClr val="0000FF"/>
              </a:solidFill>
            </a:endParaRPr>
          </a:p>
          <a:p>
            <a:pPr marL="0" indent="0">
              <a:buNone/>
            </a:pPr>
            <a:r>
              <a:rPr lang="en-US" altLang="zh-CN" sz="2000" dirty="0">
                <a:solidFill>
                  <a:srgbClr val="0000FF"/>
                </a:solidFill>
              </a:rPr>
              <a:t>    CHECK(</a:t>
            </a:r>
            <a:r>
              <a:rPr lang="en-US" altLang="zh-CN" sz="2000" dirty="0" err="1">
                <a:solidFill>
                  <a:srgbClr val="0000FF"/>
                </a:solidFill>
              </a:rPr>
              <a:t>PPrice</a:t>
            </a:r>
            <a:r>
              <a:rPr lang="en-US" altLang="zh-CN" sz="2000" dirty="0">
                <a:solidFill>
                  <a:srgbClr val="0000FF"/>
                </a:solidFill>
              </a:rPr>
              <a:t>&lt;=Price AND </a:t>
            </a:r>
            <a:r>
              <a:rPr lang="en-US" altLang="zh-CN" sz="2000" dirty="0" err="1">
                <a:solidFill>
                  <a:srgbClr val="0000FF"/>
                </a:solidFill>
              </a:rPr>
              <a:t>SPrice</a:t>
            </a:r>
            <a:r>
              <a:rPr lang="en-US" altLang="zh-CN" sz="2000" dirty="0">
                <a:solidFill>
                  <a:srgbClr val="0000FF"/>
                </a:solidFill>
              </a:rPr>
              <a:t>&lt;=Price AND </a:t>
            </a:r>
            <a:r>
              <a:rPr lang="en-US" altLang="zh-CN" sz="2000" dirty="0" err="1">
                <a:solidFill>
                  <a:srgbClr val="0000FF"/>
                </a:solidFill>
              </a:rPr>
              <a:t>SPrice</a:t>
            </a:r>
            <a:r>
              <a:rPr lang="en-US" altLang="zh-CN" sz="2000" dirty="0">
                <a:solidFill>
                  <a:srgbClr val="0000FF"/>
                </a:solidFill>
              </a:rPr>
              <a:t>&gt;=</a:t>
            </a:r>
            <a:r>
              <a:rPr lang="en-US" altLang="zh-CN" sz="2000" dirty="0" err="1">
                <a:solidFill>
                  <a:srgbClr val="0000FF"/>
                </a:solidFill>
              </a:rPr>
              <a:t>PPrice</a:t>
            </a:r>
            <a:r>
              <a:rPr lang="en-US" altLang="zh-CN" sz="2000" dirty="0">
                <a:solidFill>
                  <a:srgbClr val="0000FF"/>
                </a:solidFill>
              </a:rPr>
              <a:t>))</a:t>
            </a:r>
            <a:endParaRPr lang="zh-CN" altLang="zh-CN" sz="2000" dirty="0">
              <a:solidFill>
                <a:srgbClr val="0000FF"/>
              </a:solidFill>
            </a:endParaRPr>
          </a:p>
        </p:txBody>
      </p:sp>
    </p:spTree>
    <p:extLst>
      <p:ext uri="{BB962C8B-B14F-4D97-AF65-F5344CB8AC3E}">
        <p14:creationId xmlns:p14="http://schemas.microsoft.com/office/powerpoint/2010/main" val="4144383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B066C46A-3A56-FE46-B6B2-7FAE3C207ED9}"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20</a:t>
            </a:fld>
            <a:endParaRPr lang="zh-CN" altLang="en-US" dirty="0"/>
          </a:p>
        </p:txBody>
      </p:sp>
      <p:sp>
        <p:nvSpPr>
          <p:cNvPr id="7" name="文本占位符 6"/>
          <p:cNvSpPr>
            <a:spLocks noGrp="1"/>
          </p:cNvSpPr>
          <p:nvPr>
            <p:ph type="body" idx="1"/>
          </p:nvPr>
        </p:nvSpPr>
        <p:spPr>
          <a:xfrm>
            <a:off x="3082" y="548680"/>
            <a:ext cx="9144000" cy="5760640"/>
          </a:xfrm>
        </p:spPr>
        <p:txBody>
          <a:bodyPr>
            <a:normAutofit/>
          </a:bodyPr>
          <a:lstStyle/>
          <a:p>
            <a:pPr marL="0" indent="0">
              <a:buNone/>
            </a:pPr>
            <a:r>
              <a:rPr lang="en-US" altLang="zh-CN" sz="2000" dirty="0">
                <a:solidFill>
                  <a:srgbClr val="0000FF"/>
                </a:solidFill>
              </a:rPr>
              <a:t>CREATE TABLE </a:t>
            </a:r>
            <a:r>
              <a:rPr lang="en-US" altLang="zh-CN" sz="2000" dirty="0" err="1">
                <a:solidFill>
                  <a:srgbClr val="0000FF"/>
                </a:solidFill>
              </a:rPr>
              <a:t>Cust</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CNo</a:t>
            </a:r>
            <a:r>
              <a:rPr lang="en-US" altLang="zh-CN" sz="2000" dirty="0">
                <a:solidFill>
                  <a:srgbClr val="0000FF"/>
                </a:solidFill>
              </a:rPr>
              <a:t> CHAR(4) PRIMARY KEY CHECK(</a:t>
            </a:r>
            <a:r>
              <a:rPr lang="en-US" altLang="zh-CN" sz="2000" dirty="0" err="1">
                <a:solidFill>
                  <a:srgbClr val="0000FF"/>
                </a:solidFill>
              </a:rPr>
              <a:t>CNo</a:t>
            </a:r>
            <a:r>
              <a:rPr lang="en-US" altLang="zh-CN" sz="2000" dirty="0">
                <a:solidFill>
                  <a:srgbClr val="0000FF"/>
                </a:solidFill>
              </a:rPr>
              <a:t> LIKE 'C[0-9][0-9][0-9]'),</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CName</a:t>
            </a:r>
            <a:r>
              <a:rPr lang="en-US" altLang="zh-CN" sz="2000" dirty="0">
                <a:solidFill>
                  <a:srgbClr val="0000FF"/>
                </a:solidFill>
              </a:rPr>
              <a:t> CHAR(8),</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CSex</a:t>
            </a:r>
            <a:r>
              <a:rPr lang="en-US" altLang="zh-CN" sz="2000" dirty="0">
                <a:solidFill>
                  <a:srgbClr val="0000FF"/>
                </a:solidFill>
              </a:rPr>
              <a:t> CHAR(2) CHECK(</a:t>
            </a:r>
            <a:r>
              <a:rPr lang="en-US" altLang="zh-CN" sz="2000" dirty="0" err="1">
                <a:solidFill>
                  <a:srgbClr val="0000FF"/>
                </a:solidFill>
              </a:rPr>
              <a:t>CSex</a:t>
            </a:r>
            <a:r>
              <a:rPr lang="en-US" altLang="zh-CN" sz="2000" dirty="0">
                <a:solidFill>
                  <a:srgbClr val="0000FF"/>
                </a:solidFill>
              </a:rPr>
              <a:t>='</a:t>
            </a:r>
            <a:r>
              <a:rPr lang="zh-CN" altLang="zh-CN" sz="2000" dirty="0">
                <a:solidFill>
                  <a:srgbClr val="0000FF"/>
                </a:solidFill>
              </a:rPr>
              <a:t>男</a:t>
            </a:r>
            <a:r>
              <a:rPr lang="en-US" altLang="zh-CN" sz="2000" dirty="0">
                <a:solidFill>
                  <a:srgbClr val="0000FF"/>
                </a:solidFill>
              </a:rPr>
              <a:t>' OR </a:t>
            </a:r>
            <a:r>
              <a:rPr lang="en-US" altLang="zh-CN" sz="2000" dirty="0" err="1">
                <a:solidFill>
                  <a:srgbClr val="0000FF"/>
                </a:solidFill>
              </a:rPr>
              <a:t>CSex</a:t>
            </a:r>
            <a:r>
              <a:rPr lang="en-US" altLang="zh-CN" sz="2000" dirty="0">
                <a:solidFill>
                  <a:srgbClr val="0000FF"/>
                </a:solidFill>
              </a:rPr>
              <a:t>='</a:t>
            </a:r>
            <a:r>
              <a:rPr lang="zh-CN" altLang="zh-CN" sz="2000" dirty="0">
                <a:solidFill>
                  <a:srgbClr val="0000FF"/>
                </a:solidFill>
              </a:rPr>
              <a:t>女</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Birth DATE,</a:t>
            </a:r>
            <a:endParaRPr lang="zh-CN" altLang="zh-CN" sz="2000" dirty="0">
              <a:solidFill>
                <a:srgbClr val="0000FF"/>
              </a:solidFill>
            </a:endParaRPr>
          </a:p>
          <a:p>
            <a:pPr marL="0" indent="0">
              <a:buNone/>
            </a:pPr>
            <a:r>
              <a:rPr lang="en-US" altLang="zh-CN" sz="2000" dirty="0">
                <a:solidFill>
                  <a:srgbClr val="0000FF"/>
                </a:solidFill>
              </a:rPr>
              <a:t>    Phone CHAR(11) CHECK(LEN(Phone)&lt;=15),</a:t>
            </a:r>
            <a:endParaRPr lang="zh-CN" altLang="zh-CN" sz="2000" dirty="0">
              <a:solidFill>
                <a:srgbClr val="0000FF"/>
              </a:solidFill>
            </a:endParaRPr>
          </a:p>
          <a:p>
            <a:pPr marL="0" indent="0">
              <a:buNone/>
            </a:pPr>
            <a:r>
              <a:rPr lang="en-US" altLang="zh-CN" sz="2000" dirty="0">
                <a:solidFill>
                  <a:srgbClr val="0000FF"/>
                </a:solidFill>
              </a:rPr>
              <a:t>    Marry CHAR(2) CHECK(Marry='</a:t>
            </a:r>
            <a:r>
              <a:rPr lang="zh-CN" altLang="zh-CN" sz="2000" dirty="0">
                <a:solidFill>
                  <a:srgbClr val="0000FF"/>
                </a:solidFill>
              </a:rPr>
              <a:t>是</a:t>
            </a:r>
            <a:r>
              <a:rPr lang="en-US" altLang="zh-CN" sz="2000" dirty="0">
                <a:solidFill>
                  <a:srgbClr val="0000FF"/>
                </a:solidFill>
              </a:rPr>
              <a:t>' OR Marry='</a:t>
            </a:r>
            <a:r>
              <a:rPr lang="zh-CN" altLang="zh-CN" sz="2000" dirty="0">
                <a:solidFill>
                  <a:srgbClr val="0000FF"/>
                </a:solidFill>
              </a:rPr>
              <a:t>否</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Photo IMAGE,</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EMail</a:t>
            </a:r>
            <a:r>
              <a:rPr lang="en-US" altLang="zh-CN" sz="2000" dirty="0">
                <a:solidFill>
                  <a:srgbClr val="0000FF"/>
                </a:solidFill>
              </a:rPr>
              <a:t> CHAR(26) CHECK(CHARINDEX('@',</a:t>
            </a:r>
            <a:r>
              <a:rPr lang="en-US" altLang="zh-CN" sz="2000" dirty="0" err="1">
                <a:solidFill>
                  <a:srgbClr val="0000FF"/>
                </a:solidFill>
              </a:rPr>
              <a:t>EMail</a:t>
            </a:r>
            <a:r>
              <a:rPr lang="en-US" altLang="zh-CN" sz="2000" dirty="0">
                <a:solidFill>
                  <a:srgbClr val="0000FF"/>
                </a:solidFill>
              </a:rPr>
              <a:t>)&gt;0))</a:t>
            </a:r>
            <a:endParaRPr lang="zh-CN" altLang="zh-CN" sz="2000" dirty="0">
              <a:solidFill>
                <a:srgbClr val="0000FF"/>
              </a:solidFill>
            </a:endParaRPr>
          </a:p>
        </p:txBody>
      </p:sp>
    </p:spTree>
    <p:extLst>
      <p:ext uri="{BB962C8B-B14F-4D97-AF65-F5344CB8AC3E}">
        <p14:creationId xmlns:p14="http://schemas.microsoft.com/office/powerpoint/2010/main" val="4144383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1</a:t>
            </a:r>
            <a:r>
              <a:rPr lang="zh-CN" altLang="zh-CN" dirty="0"/>
              <a:t>．创建表结构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B343451A-D6C2-B240-8EB0-4F392F645A9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21</a:t>
            </a:fld>
            <a:endParaRPr lang="zh-CN" altLang="en-US" dirty="0"/>
          </a:p>
        </p:txBody>
      </p:sp>
      <p:sp>
        <p:nvSpPr>
          <p:cNvPr id="7" name="文本占位符 6"/>
          <p:cNvSpPr>
            <a:spLocks noGrp="1"/>
          </p:cNvSpPr>
          <p:nvPr>
            <p:ph type="body" idx="1"/>
          </p:nvPr>
        </p:nvSpPr>
        <p:spPr>
          <a:xfrm>
            <a:off x="3082" y="548680"/>
            <a:ext cx="9144000" cy="5760640"/>
          </a:xfrm>
        </p:spPr>
        <p:txBody>
          <a:bodyPr>
            <a:normAutofit/>
          </a:bodyPr>
          <a:lstStyle/>
          <a:p>
            <a:pPr marL="0" indent="0">
              <a:buNone/>
            </a:pPr>
            <a:r>
              <a:rPr lang="en-US" altLang="zh-CN" sz="2000" dirty="0">
                <a:solidFill>
                  <a:srgbClr val="0000FF"/>
                </a:solidFill>
              </a:rPr>
              <a:t>CREATE TABLE Buy(</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CNo</a:t>
            </a:r>
            <a:r>
              <a:rPr lang="en-US" altLang="zh-CN" sz="2000" dirty="0">
                <a:solidFill>
                  <a:srgbClr val="0000FF"/>
                </a:solidFill>
              </a:rPr>
              <a:t> CHAR(4) NOT NULL, </a:t>
            </a:r>
            <a:r>
              <a:rPr lang="en-US" altLang="zh-CN" sz="2000" dirty="0" err="1">
                <a:solidFill>
                  <a:srgbClr val="0000FF"/>
                </a:solidFill>
              </a:rPr>
              <a:t>BNo</a:t>
            </a:r>
            <a:r>
              <a:rPr lang="en-US" altLang="zh-CN" sz="2000" dirty="0">
                <a:solidFill>
                  <a:srgbClr val="0000FF"/>
                </a:solidFill>
              </a:rPr>
              <a:t> CHAR(22) NOT NULL,</a:t>
            </a:r>
            <a:endParaRPr lang="zh-CN" altLang="zh-CN" sz="2000" dirty="0">
              <a:solidFill>
                <a:srgbClr val="0000FF"/>
              </a:solidFill>
            </a:endParaRPr>
          </a:p>
          <a:p>
            <a:pPr marL="0" indent="0">
              <a:buNone/>
            </a:pPr>
            <a:r>
              <a:rPr lang="en-US" altLang="zh-CN" sz="2000" dirty="0">
                <a:solidFill>
                  <a:srgbClr val="0000FF"/>
                </a:solidFill>
              </a:rPr>
              <a:t>    </a:t>
            </a:r>
            <a:r>
              <a:rPr lang="en-US" altLang="zh-CN" sz="2000" dirty="0" err="1">
                <a:solidFill>
                  <a:srgbClr val="0000FF"/>
                </a:solidFill>
              </a:rPr>
              <a:t>PDate</a:t>
            </a:r>
            <a:r>
              <a:rPr lang="en-US" altLang="zh-CN" sz="2000" dirty="0">
                <a:solidFill>
                  <a:srgbClr val="0000FF"/>
                </a:solidFill>
              </a:rPr>
              <a:t> DATE DEFAULT DATENAME(YEAR,GETDATE())+'-'+</a:t>
            </a:r>
            <a:endParaRPr lang="zh-CN" altLang="zh-CN" sz="2000" dirty="0">
              <a:solidFill>
                <a:srgbClr val="0000FF"/>
              </a:solidFill>
            </a:endParaRPr>
          </a:p>
          <a:p>
            <a:pPr marL="0" indent="0">
              <a:buNone/>
            </a:pPr>
            <a:r>
              <a:rPr lang="en-US" altLang="zh-CN" sz="2000" dirty="0">
                <a:solidFill>
                  <a:srgbClr val="0000FF"/>
                </a:solidFill>
              </a:rPr>
              <a:t>                       DATENAME(MONTH,GETDATE())+'-'+</a:t>
            </a:r>
            <a:endParaRPr lang="zh-CN" altLang="zh-CN" sz="2000" dirty="0">
              <a:solidFill>
                <a:srgbClr val="0000FF"/>
              </a:solidFill>
            </a:endParaRPr>
          </a:p>
          <a:p>
            <a:pPr marL="0" indent="0">
              <a:buNone/>
            </a:pPr>
            <a:r>
              <a:rPr lang="en-US" altLang="zh-CN" sz="2000" dirty="0">
                <a:solidFill>
                  <a:srgbClr val="0000FF"/>
                </a:solidFill>
              </a:rPr>
              <a:t>                       DATENAME(DAY,GETDATE()),</a:t>
            </a:r>
            <a:endParaRPr lang="zh-CN" altLang="zh-CN" sz="2000" dirty="0">
              <a:solidFill>
                <a:srgbClr val="0000FF"/>
              </a:solidFill>
            </a:endParaRPr>
          </a:p>
          <a:p>
            <a:pPr marL="0" indent="0">
              <a:buNone/>
            </a:pPr>
            <a:r>
              <a:rPr lang="en-US" altLang="zh-CN" sz="2000" dirty="0">
                <a:solidFill>
                  <a:srgbClr val="0000FF"/>
                </a:solidFill>
              </a:rPr>
              <a:t>    PRIMARY KEY (</a:t>
            </a:r>
            <a:r>
              <a:rPr lang="en-US" altLang="zh-CN" sz="2000" dirty="0" err="1">
                <a:solidFill>
                  <a:srgbClr val="0000FF"/>
                </a:solidFill>
              </a:rPr>
              <a:t>CNo</a:t>
            </a:r>
            <a:r>
              <a:rPr lang="en-US" altLang="zh-CN" sz="2000" dirty="0">
                <a:solidFill>
                  <a:srgbClr val="0000FF"/>
                </a:solidFill>
              </a:rPr>
              <a:t>, </a:t>
            </a:r>
            <a:r>
              <a:rPr lang="en-US" altLang="zh-CN" sz="2000" dirty="0" err="1">
                <a:solidFill>
                  <a:srgbClr val="0000FF"/>
                </a:solidFill>
              </a:rPr>
              <a:t>BNo</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FOREIGN KEY (</a:t>
            </a:r>
            <a:r>
              <a:rPr lang="en-US" altLang="zh-CN" sz="2000" dirty="0" err="1">
                <a:solidFill>
                  <a:srgbClr val="0000FF"/>
                </a:solidFill>
              </a:rPr>
              <a:t>CNo</a:t>
            </a:r>
            <a:r>
              <a:rPr lang="en-US" altLang="zh-CN" sz="2000" dirty="0">
                <a:solidFill>
                  <a:srgbClr val="0000FF"/>
                </a:solidFill>
              </a:rPr>
              <a:t>) REFERENCES </a:t>
            </a:r>
            <a:r>
              <a:rPr lang="en-US" altLang="zh-CN" sz="2000" dirty="0" err="1">
                <a:solidFill>
                  <a:srgbClr val="0000FF"/>
                </a:solidFill>
              </a:rPr>
              <a:t>Cust</a:t>
            </a:r>
            <a:r>
              <a:rPr lang="en-US" altLang="zh-CN" sz="2000" dirty="0">
                <a:solidFill>
                  <a:srgbClr val="0000FF"/>
                </a:solidFill>
              </a:rPr>
              <a:t>(</a:t>
            </a:r>
            <a:r>
              <a:rPr lang="en-US" altLang="zh-CN" sz="2000" dirty="0" err="1">
                <a:solidFill>
                  <a:srgbClr val="0000FF"/>
                </a:solidFill>
              </a:rPr>
              <a:t>CNo</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ON DELETE CASCADE</a:t>
            </a:r>
            <a:endParaRPr lang="zh-CN" altLang="zh-CN" sz="2000" dirty="0">
              <a:solidFill>
                <a:srgbClr val="0000FF"/>
              </a:solidFill>
            </a:endParaRPr>
          </a:p>
          <a:p>
            <a:pPr marL="0" indent="0">
              <a:buNone/>
            </a:pPr>
            <a:r>
              <a:rPr lang="en-US" altLang="zh-CN" sz="2000" dirty="0">
                <a:solidFill>
                  <a:srgbClr val="0000FF"/>
                </a:solidFill>
              </a:rPr>
              <a:t>        ON UPDATE CASCADE,</a:t>
            </a:r>
            <a:endParaRPr lang="zh-CN" altLang="zh-CN" sz="2000" dirty="0">
              <a:solidFill>
                <a:srgbClr val="0000FF"/>
              </a:solidFill>
            </a:endParaRPr>
          </a:p>
          <a:p>
            <a:pPr marL="0" indent="0">
              <a:buNone/>
            </a:pPr>
            <a:r>
              <a:rPr lang="en-US" altLang="zh-CN" sz="2000" dirty="0">
                <a:solidFill>
                  <a:srgbClr val="0000FF"/>
                </a:solidFill>
              </a:rPr>
              <a:t>    FOREIGN KEY (</a:t>
            </a:r>
            <a:r>
              <a:rPr lang="en-US" altLang="zh-CN" sz="2000" dirty="0" err="1">
                <a:solidFill>
                  <a:srgbClr val="0000FF"/>
                </a:solidFill>
              </a:rPr>
              <a:t>BNo</a:t>
            </a:r>
            <a:r>
              <a:rPr lang="en-US" altLang="zh-CN" sz="2000" dirty="0">
                <a:solidFill>
                  <a:srgbClr val="0000FF"/>
                </a:solidFill>
              </a:rPr>
              <a:t>) REFERENCES Book(</a:t>
            </a:r>
            <a:r>
              <a:rPr lang="en-US" altLang="zh-CN" sz="2000" dirty="0" err="1">
                <a:solidFill>
                  <a:srgbClr val="0000FF"/>
                </a:solidFill>
              </a:rPr>
              <a:t>BNo</a:t>
            </a:r>
            <a:r>
              <a:rPr lang="en-US" altLang="zh-CN" sz="2000" dirty="0">
                <a:solidFill>
                  <a:srgbClr val="0000FF"/>
                </a:solidFill>
              </a:rPr>
              <a:t>)</a:t>
            </a:r>
            <a:endParaRPr lang="zh-CN" altLang="zh-CN" sz="2000" dirty="0">
              <a:solidFill>
                <a:srgbClr val="0000FF"/>
              </a:solidFill>
            </a:endParaRPr>
          </a:p>
          <a:p>
            <a:pPr marL="0" indent="0">
              <a:buNone/>
            </a:pPr>
            <a:r>
              <a:rPr lang="en-US" altLang="zh-CN" sz="2000" dirty="0">
                <a:solidFill>
                  <a:srgbClr val="0000FF"/>
                </a:solidFill>
              </a:rPr>
              <a:t>        ON DELETE CASCADE</a:t>
            </a:r>
            <a:endParaRPr lang="zh-CN" altLang="zh-CN" sz="2000" dirty="0">
              <a:solidFill>
                <a:srgbClr val="0000FF"/>
              </a:solidFill>
            </a:endParaRPr>
          </a:p>
          <a:p>
            <a:pPr marL="0" indent="0">
              <a:buNone/>
            </a:pPr>
            <a:r>
              <a:rPr lang="en-US" altLang="zh-CN" sz="2000" dirty="0">
                <a:solidFill>
                  <a:srgbClr val="0000FF"/>
                </a:solidFill>
              </a:rPr>
              <a:t>        ON UPDATE CASCADE)</a:t>
            </a:r>
            <a:endParaRPr lang="zh-CN" altLang="zh-CN" sz="2000" dirty="0">
              <a:solidFill>
                <a:srgbClr val="0000FF"/>
              </a:solidFill>
            </a:endParaRPr>
          </a:p>
        </p:txBody>
      </p:sp>
    </p:spTree>
    <p:extLst>
      <p:ext uri="{BB962C8B-B14F-4D97-AF65-F5344CB8AC3E}">
        <p14:creationId xmlns:p14="http://schemas.microsoft.com/office/powerpoint/2010/main" val="870851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zh-CN" altLang="en-US" dirty="0"/>
              <a:t>编辑</a:t>
            </a:r>
            <a:r>
              <a:rPr lang="zh-CN" altLang="zh-CN" dirty="0"/>
              <a:t>表结构</a:t>
            </a:r>
            <a:endParaRPr lang="zh-CN" altLang="en-US" dirty="0">
              <a:solidFill>
                <a:srgbClr val="0000FF"/>
              </a:solidFill>
            </a:endParaRPr>
          </a:p>
        </p:txBody>
      </p:sp>
      <p:sp>
        <p:nvSpPr>
          <p:cNvPr id="4" name="日期占位符 3"/>
          <p:cNvSpPr>
            <a:spLocks noGrp="1"/>
          </p:cNvSpPr>
          <p:nvPr>
            <p:ph type="dt" sz="half" idx="10"/>
          </p:nvPr>
        </p:nvSpPr>
        <p:spPr/>
        <p:txBody>
          <a:bodyPr/>
          <a:lstStyle/>
          <a:p>
            <a:fld id="{35F11741-28F7-224F-8E33-25FA978CFADD}"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22</a:t>
            </a:fld>
            <a:endParaRPr lang="zh-CN" altLang="en-US" dirty="0"/>
          </a:p>
        </p:txBody>
      </p:sp>
      <p:sp>
        <p:nvSpPr>
          <p:cNvPr id="7" name="文本占位符 6"/>
          <p:cNvSpPr>
            <a:spLocks noGrp="1"/>
          </p:cNvSpPr>
          <p:nvPr>
            <p:ph type="body" idx="1"/>
          </p:nvPr>
        </p:nvSpPr>
        <p:spPr>
          <a:xfrm>
            <a:off x="3082" y="548680"/>
            <a:ext cx="9144000" cy="6120680"/>
          </a:xfrm>
        </p:spPr>
        <p:txBody>
          <a:bodyPr>
            <a:normAutofit/>
          </a:bodyPr>
          <a:lstStyle/>
          <a:p>
            <a:r>
              <a:rPr lang="zh-CN" altLang="zh-CN" sz="2000" dirty="0"/>
              <a:t>添加属性：</a:t>
            </a:r>
            <a:r>
              <a:rPr lang="en-US" altLang="zh-CN" sz="2000" dirty="0">
                <a:solidFill>
                  <a:srgbClr val="0000FF"/>
                </a:solidFill>
              </a:rPr>
              <a:t>ALTER TABLE &lt;</a:t>
            </a:r>
            <a:r>
              <a:rPr lang="zh-CN" altLang="zh-CN" sz="2000" dirty="0">
                <a:solidFill>
                  <a:srgbClr val="0000FF"/>
                </a:solidFill>
              </a:rPr>
              <a:t>表名</a:t>
            </a:r>
            <a:r>
              <a:rPr lang="en-US" altLang="zh-CN" sz="2000" dirty="0">
                <a:solidFill>
                  <a:srgbClr val="0000FF"/>
                </a:solidFill>
              </a:rPr>
              <a:t>&gt;</a:t>
            </a:r>
            <a:endParaRPr lang="zh-CN" altLang="zh-CN" sz="2000" dirty="0">
              <a:solidFill>
                <a:srgbClr val="0000FF"/>
              </a:solidFill>
            </a:endParaRPr>
          </a:p>
          <a:p>
            <a:pPr marL="2154238" indent="0">
              <a:buNone/>
            </a:pPr>
            <a:r>
              <a:rPr lang="en-US" altLang="zh-CN" sz="2000" dirty="0">
                <a:solidFill>
                  <a:srgbClr val="0000FF"/>
                </a:solidFill>
              </a:rPr>
              <a:t>ADD &lt;</a:t>
            </a:r>
            <a:r>
              <a:rPr lang="zh-CN" altLang="zh-CN" sz="2000" dirty="0">
                <a:solidFill>
                  <a:srgbClr val="0000FF"/>
                </a:solidFill>
              </a:rPr>
              <a:t>属性名</a:t>
            </a:r>
            <a:r>
              <a:rPr lang="en-US" altLang="zh-CN" sz="2000" dirty="0">
                <a:solidFill>
                  <a:srgbClr val="0000FF"/>
                </a:solidFill>
              </a:rPr>
              <a:t>&gt; &lt;</a:t>
            </a:r>
            <a:r>
              <a:rPr lang="zh-CN" altLang="zh-CN" sz="2000" dirty="0">
                <a:solidFill>
                  <a:srgbClr val="0000FF"/>
                </a:solidFill>
              </a:rPr>
              <a:t>数据类型</a:t>
            </a:r>
            <a:r>
              <a:rPr lang="en-US" altLang="zh-CN" sz="2000" dirty="0">
                <a:solidFill>
                  <a:srgbClr val="0000FF"/>
                </a:solidFill>
              </a:rPr>
              <a:t>&gt; [</a:t>
            </a:r>
            <a:r>
              <a:rPr lang="zh-CN" altLang="zh-CN" sz="2000" dirty="0">
                <a:solidFill>
                  <a:srgbClr val="0000FF"/>
                </a:solidFill>
              </a:rPr>
              <a:t>完整性约束</a:t>
            </a:r>
            <a:r>
              <a:rPr lang="en-US" altLang="zh-CN" sz="2000" dirty="0">
                <a:solidFill>
                  <a:srgbClr val="0000FF"/>
                </a:solidFill>
              </a:rPr>
              <a:t>]</a:t>
            </a:r>
            <a:endParaRPr lang="zh-CN" altLang="zh-CN" sz="2000" dirty="0">
              <a:solidFill>
                <a:srgbClr val="0000FF"/>
              </a:solidFill>
            </a:endParaRPr>
          </a:p>
          <a:p>
            <a:r>
              <a:rPr lang="zh-CN" altLang="zh-CN" sz="2000" dirty="0"/>
              <a:t>例如：在</a:t>
            </a:r>
            <a:r>
              <a:rPr lang="en-US" altLang="zh-CN" sz="2000" dirty="0" err="1"/>
              <a:t>Cust</a:t>
            </a:r>
            <a:r>
              <a:rPr lang="zh-CN" altLang="zh-CN" sz="2000" dirty="0"/>
              <a:t>中，添加注册时间</a:t>
            </a:r>
            <a:r>
              <a:rPr lang="en-US" altLang="zh-CN" sz="2000" dirty="0" err="1"/>
              <a:t>CEnroll</a:t>
            </a:r>
            <a:r>
              <a:rPr lang="zh-CN" altLang="zh-CN" sz="2000" dirty="0"/>
              <a:t>，数据类型为日期时间型</a:t>
            </a:r>
            <a:r>
              <a:rPr lang="en-US" altLang="zh-CN" sz="2000" dirty="0"/>
              <a:t>,</a:t>
            </a:r>
            <a:r>
              <a:rPr lang="zh-CN" altLang="zh-CN" sz="2000" dirty="0"/>
              <a:t>。</a:t>
            </a:r>
          </a:p>
          <a:p>
            <a:pPr marL="901700" indent="0">
              <a:buNone/>
            </a:pPr>
            <a:r>
              <a:rPr lang="en-US" altLang="zh-CN" sz="2000" dirty="0"/>
              <a:t>ALTER TABLE </a:t>
            </a:r>
            <a:r>
              <a:rPr lang="en-US" altLang="zh-CN" sz="2000" dirty="0" err="1"/>
              <a:t>Cust</a:t>
            </a:r>
            <a:r>
              <a:rPr lang="en-US" altLang="zh-CN" sz="2000" dirty="0"/>
              <a:t> ADD </a:t>
            </a:r>
            <a:r>
              <a:rPr lang="en-US" altLang="zh-CN" sz="2000" dirty="0" err="1"/>
              <a:t>CEnroll</a:t>
            </a:r>
            <a:r>
              <a:rPr lang="en-US" altLang="zh-CN" sz="2000" dirty="0"/>
              <a:t> DATETIME</a:t>
            </a:r>
            <a:endParaRPr lang="zh-CN" altLang="zh-CN" sz="2000" dirty="0"/>
          </a:p>
          <a:p>
            <a:r>
              <a:rPr lang="zh-CN" altLang="zh-CN" sz="2000" dirty="0"/>
              <a:t>修改属性：</a:t>
            </a:r>
            <a:r>
              <a:rPr lang="en-US" altLang="zh-CN" sz="2000" dirty="0">
                <a:solidFill>
                  <a:srgbClr val="0000FF"/>
                </a:solidFill>
              </a:rPr>
              <a:t>ALTER TABLE &lt;</a:t>
            </a:r>
            <a:r>
              <a:rPr lang="zh-CN" altLang="zh-CN" sz="2000" dirty="0">
                <a:solidFill>
                  <a:srgbClr val="0000FF"/>
                </a:solidFill>
              </a:rPr>
              <a:t>表名</a:t>
            </a:r>
            <a:r>
              <a:rPr lang="en-US" altLang="zh-CN" sz="2000" dirty="0">
                <a:solidFill>
                  <a:srgbClr val="0000FF"/>
                </a:solidFill>
              </a:rPr>
              <a:t>&gt;</a:t>
            </a:r>
            <a:endParaRPr lang="zh-CN" altLang="zh-CN" sz="2000" dirty="0">
              <a:solidFill>
                <a:srgbClr val="0000FF"/>
              </a:solidFill>
            </a:endParaRPr>
          </a:p>
          <a:p>
            <a:pPr marL="2154238" indent="0">
              <a:buNone/>
            </a:pPr>
            <a:r>
              <a:rPr lang="en-US" altLang="zh-CN" sz="2000" dirty="0">
                <a:solidFill>
                  <a:srgbClr val="0000FF"/>
                </a:solidFill>
              </a:rPr>
              <a:t>ALTER COLUMN &lt;</a:t>
            </a:r>
            <a:r>
              <a:rPr lang="zh-CN" altLang="zh-CN" sz="2000" dirty="0">
                <a:solidFill>
                  <a:srgbClr val="0000FF"/>
                </a:solidFill>
              </a:rPr>
              <a:t>属性名</a:t>
            </a:r>
            <a:r>
              <a:rPr lang="en-US" altLang="zh-CN" sz="2000" dirty="0">
                <a:solidFill>
                  <a:srgbClr val="0000FF"/>
                </a:solidFill>
              </a:rPr>
              <a:t>&gt; &lt;</a:t>
            </a:r>
            <a:r>
              <a:rPr lang="zh-CN" altLang="zh-CN" sz="2000" dirty="0">
                <a:solidFill>
                  <a:srgbClr val="0000FF"/>
                </a:solidFill>
              </a:rPr>
              <a:t>数据类型</a:t>
            </a:r>
            <a:r>
              <a:rPr lang="en-US" altLang="zh-CN" sz="2000" dirty="0">
                <a:solidFill>
                  <a:srgbClr val="0000FF"/>
                </a:solidFill>
              </a:rPr>
              <a:t>&gt; [</a:t>
            </a:r>
            <a:r>
              <a:rPr lang="zh-CN" altLang="zh-CN" sz="2000" dirty="0">
                <a:solidFill>
                  <a:srgbClr val="0000FF"/>
                </a:solidFill>
              </a:rPr>
              <a:t>完整性约束</a:t>
            </a:r>
            <a:r>
              <a:rPr lang="en-US" altLang="zh-CN" sz="2000" dirty="0">
                <a:solidFill>
                  <a:srgbClr val="0000FF"/>
                </a:solidFill>
              </a:rPr>
              <a:t>]</a:t>
            </a:r>
            <a:endParaRPr lang="zh-CN" altLang="zh-CN" sz="2000" dirty="0">
              <a:solidFill>
                <a:srgbClr val="0000FF"/>
              </a:solidFill>
            </a:endParaRPr>
          </a:p>
          <a:p>
            <a:r>
              <a:rPr lang="zh-CN" altLang="zh-CN" sz="2000" dirty="0"/>
              <a:t>例如：在</a:t>
            </a:r>
            <a:r>
              <a:rPr lang="en-US" altLang="zh-CN" sz="2000" dirty="0" err="1"/>
              <a:t>Cust</a:t>
            </a:r>
            <a:r>
              <a:rPr lang="zh-CN" altLang="zh-CN" sz="2000" dirty="0"/>
              <a:t>中，修改注册时间的类型为</a:t>
            </a:r>
            <a:r>
              <a:rPr lang="en-US" altLang="zh-CN" sz="2000" dirty="0"/>
              <a:t>SMALLDATETIME</a:t>
            </a:r>
            <a:r>
              <a:rPr lang="zh-CN" altLang="zh-CN" sz="2000" dirty="0"/>
              <a:t>。</a:t>
            </a:r>
          </a:p>
          <a:p>
            <a:pPr marL="901700" indent="0">
              <a:buNone/>
            </a:pPr>
            <a:r>
              <a:rPr lang="en-US" altLang="zh-CN" sz="2000" dirty="0"/>
              <a:t>ALTER TABLE </a:t>
            </a:r>
            <a:r>
              <a:rPr lang="en-US" altLang="zh-CN" sz="2000" dirty="0" err="1"/>
              <a:t>Cust</a:t>
            </a:r>
            <a:r>
              <a:rPr lang="en-US" altLang="zh-CN" sz="2000" dirty="0"/>
              <a:t> ALTER COLUMN </a:t>
            </a:r>
            <a:r>
              <a:rPr lang="en-US" altLang="zh-CN" sz="2000" dirty="0" err="1"/>
              <a:t>CEnroll</a:t>
            </a:r>
            <a:r>
              <a:rPr lang="en-US" altLang="zh-CN" sz="2000" dirty="0"/>
              <a:t> SMALLDATETIME</a:t>
            </a:r>
            <a:endParaRPr lang="zh-CN" altLang="zh-CN" sz="2000" dirty="0"/>
          </a:p>
          <a:p>
            <a:r>
              <a:rPr lang="zh-CN" altLang="zh-CN" sz="2000" dirty="0"/>
              <a:t>思考：修改购买日期的类型为日期时间型，默认值为计算机的当前日期时间。</a:t>
            </a:r>
          </a:p>
          <a:p>
            <a:r>
              <a:rPr lang="zh-CN" altLang="zh-CN" sz="2000" dirty="0"/>
              <a:t>删除属性：</a:t>
            </a:r>
            <a:r>
              <a:rPr lang="en-US" altLang="zh-CN" sz="2000" dirty="0">
                <a:solidFill>
                  <a:srgbClr val="0000FF"/>
                </a:solidFill>
              </a:rPr>
              <a:t>ALTER TABLE &lt;</a:t>
            </a:r>
            <a:r>
              <a:rPr lang="zh-CN" altLang="zh-CN" sz="2000" dirty="0">
                <a:solidFill>
                  <a:srgbClr val="0000FF"/>
                </a:solidFill>
              </a:rPr>
              <a:t>表名</a:t>
            </a:r>
            <a:r>
              <a:rPr lang="en-US" altLang="zh-CN" sz="2000" dirty="0">
                <a:solidFill>
                  <a:srgbClr val="0000FF"/>
                </a:solidFill>
              </a:rPr>
              <a:t>&gt;</a:t>
            </a:r>
          </a:p>
          <a:p>
            <a:pPr marL="2154238" indent="0">
              <a:buNone/>
            </a:pPr>
            <a:r>
              <a:rPr lang="en-US" altLang="zh-CN" sz="2000" dirty="0">
                <a:solidFill>
                  <a:srgbClr val="0000FF"/>
                </a:solidFill>
              </a:rPr>
              <a:t> DROP COLUMN &lt;</a:t>
            </a:r>
            <a:r>
              <a:rPr lang="zh-CN" altLang="zh-CN" sz="2000" dirty="0">
                <a:solidFill>
                  <a:srgbClr val="0000FF"/>
                </a:solidFill>
              </a:rPr>
              <a:t>属性名</a:t>
            </a:r>
            <a:r>
              <a:rPr lang="en-US" altLang="zh-CN" sz="2000" dirty="0">
                <a:solidFill>
                  <a:srgbClr val="0000FF"/>
                </a:solidFill>
              </a:rPr>
              <a:t>&gt; | CONSTRAINT &lt;</a:t>
            </a:r>
            <a:r>
              <a:rPr lang="zh-CN" altLang="zh-CN" sz="2000" dirty="0">
                <a:solidFill>
                  <a:srgbClr val="0000FF"/>
                </a:solidFill>
              </a:rPr>
              <a:t>约束名</a:t>
            </a:r>
            <a:r>
              <a:rPr lang="en-US" altLang="zh-CN" sz="2000" dirty="0">
                <a:solidFill>
                  <a:srgbClr val="0000FF"/>
                </a:solidFill>
              </a:rPr>
              <a:t>&gt;</a:t>
            </a:r>
            <a:endParaRPr lang="zh-CN" altLang="zh-CN" sz="2000" dirty="0">
              <a:solidFill>
                <a:srgbClr val="0000FF"/>
              </a:solidFill>
            </a:endParaRPr>
          </a:p>
          <a:p>
            <a:r>
              <a:rPr lang="zh-CN" altLang="zh-CN" sz="2000" dirty="0"/>
              <a:t>例如：在</a:t>
            </a:r>
            <a:r>
              <a:rPr lang="en-US" altLang="zh-CN" sz="2000" dirty="0" err="1"/>
              <a:t>Cust</a:t>
            </a:r>
            <a:r>
              <a:rPr lang="zh-CN" altLang="zh-CN" sz="2000" dirty="0"/>
              <a:t>中，删除注册时间。</a:t>
            </a:r>
          </a:p>
          <a:p>
            <a:pPr marL="901700" indent="0">
              <a:buNone/>
            </a:pPr>
            <a:r>
              <a:rPr lang="en-US" altLang="zh-CN" sz="2000" dirty="0"/>
              <a:t>ALTER TABLE </a:t>
            </a:r>
            <a:r>
              <a:rPr lang="en-US" altLang="zh-CN" sz="2000" dirty="0" err="1"/>
              <a:t>Cust</a:t>
            </a:r>
            <a:r>
              <a:rPr lang="en-US" altLang="zh-CN" sz="2000" dirty="0"/>
              <a:t> DROP COLUMN </a:t>
            </a:r>
            <a:r>
              <a:rPr lang="en-US" altLang="zh-CN" sz="2000" dirty="0" err="1"/>
              <a:t>CEnroll</a:t>
            </a:r>
            <a:endParaRPr lang="zh-CN" altLang="zh-CN" sz="2000" dirty="0"/>
          </a:p>
          <a:p>
            <a:endParaRPr lang="zh-CN" altLang="zh-CN" sz="2000" dirty="0"/>
          </a:p>
        </p:txBody>
      </p:sp>
    </p:spTree>
    <p:extLst>
      <p:ext uri="{BB962C8B-B14F-4D97-AF65-F5344CB8AC3E}">
        <p14:creationId xmlns:p14="http://schemas.microsoft.com/office/powerpoint/2010/main" val="2590298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562074"/>
          </a:xfrm>
        </p:spPr>
        <p:txBody>
          <a:bodyPr>
            <a:normAutofit fontScale="90000"/>
          </a:bodyPr>
          <a:lstStyle/>
          <a:p>
            <a:r>
              <a:rPr lang="en-US" altLang="zh-CN" dirty="0"/>
              <a:t>2</a:t>
            </a:r>
            <a:r>
              <a:rPr lang="zh-CN" altLang="zh-CN" dirty="0"/>
              <a:t>．编辑表记录</a:t>
            </a:r>
            <a:endParaRPr lang="zh-CN" altLang="en-US" dirty="0"/>
          </a:p>
        </p:txBody>
      </p:sp>
      <p:sp>
        <p:nvSpPr>
          <p:cNvPr id="3" name="文本占位符 2"/>
          <p:cNvSpPr>
            <a:spLocks noGrp="1"/>
          </p:cNvSpPr>
          <p:nvPr>
            <p:ph type="body" idx="1"/>
          </p:nvPr>
        </p:nvSpPr>
        <p:spPr>
          <a:xfrm>
            <a:off x="107504" y="692696"/>
            <a:ext cx="8784976" cy="5688632"/>
          </a:xfrm>
        </p:spPr>
        <p:txBody>
          <a:bodyPr>
            <a:normAutofit/>
          </a:bodyPr>
          <a:lstStyle/>
          <a:p>
            <a:pPr marL="0" indent="0">
              <a:buNone/>
            </a:pPr>
            <a:r>
              <a:rPr lang="zh-CN" altLang="zh-CN" dirty="0"/>
              <a:t>（</a:t>
            </a:r>
            <a:r>
              <a:rPr lang="en-US" altLang="zh-CN" dirty="0"/>
              <a:t>1</a:t>
            </a:r>
            <a:r>
              <a:rPr lang="zh-CN" altLang="zh-CN" dirty="0"/>
              <a:t>）添加表记录的语法：</a:t>
            </a:r>
          </a:p>
          <a:p>
            <a:pPr marL="0" indent="0">
              <a:buNone/>
            </a:pPr>
            <a:r>
              <a:rPr lang="en-US" altLang="zh-CN" dirty="0">
                <a:solidFill>
                  <a:srgbClr val="0000FF"/>
                </a:solidFill>
              </a:rPr>
              <a:t>INSERT INTO &lt;</a:t>
            </a:r>
            <a:r>
              <a:rPr lang="zh-CN" altLang="zh-CN" dirty="0">
                <a:solidFill>
                  <a:srgbClr val="0000FF"/>
                </a:solidFill>
              </a:rPr>
              <a:t>表名</a:t>
            </a:r>
            <a:r>
              <a:rPr lang="en-US" altLang="zh-CN" dirty="0">
                <a:solidFill>
                  <a:srgbClr val="0000FF"/>
                </a:solidFill>
              </a:rPr>
              <a:t>&gt; [(&lt;</a:t>
            </a:r>
            <a:r>
              <a:rPr lang="zh-CN" altLang="zh-CN" dirty="0">
                <a:solidFill>
                  <a:srgbClr val="0000FF"/>
                </a:solidFill>
              </a:rPr>
              <a:t>属性</a:t>
            </a:r>
            <a:r>
              <a:rPr lang="en-US" altLang="zh-CN" dirty="0">
                <a:solidFill>
                  <a:srgbClr val="0000FF"/>
                </a:solidFill>
              </a:rPr>
              <a:t>1&gt;[</a:t>
            </a:r>
            <a:r>
              <a:rPr lang="zh-CN" altLang="zh-CN" dirty="0">
                <a:solidFill>
                  <a:srgbClr val="0000FF"/>
                </a:solidFill>
              </a:rPr>
              <a:t>，</a:t>
            </a:r>
            <a:r>
              <a:rPr lang="en-US" altLang="zh-CN" dirty="0">
                <a:solidFill>
                  <a:srgbClr val="0000FF"/>
                </a:solidFill>
              </a:rPr>
              <a:t>&lt;</a:t>
            </a:r>
            <a:r>
              <a:rPr lang="zh-CN" altLang="zh-CN" dirty="0">
                <a:solidFill>
                  <a:srgbClr val="0000FF"/>
                </a:solidFill>
              </a:rPr>
              <a:t>属性</a:t>
            </a:r>
            <a:r>
              <a:rPr lang="en-US" altLang="zh-CN" dirty="0">
                <a:solidFill>
                  <a:srgbClr val="0000FF"/>
                </a:solidFill>
              </a:rPr>
              <a:t>2 &gt; … )]</a:t>
            </a:r>
            <a:endParaRPr lang="zh-CN" altLang="zh-CN" dirty="0">
              <a:solidFill>
                <a:srgbClr val="0000FF"/>
              </a:solidFill>
            </a:endParaRPr>
          </a:p>
          <a:p>
            <a:pPr marL="0" indent="0">
              <a:buNone/>
            </a:pPr>
            <a:r>
              <a:rPr lang="en-US" altLang="zh-CN" dirty="0">
                <a:solidFill>
                  <a:srgbClr val="0000FF"/>
                </a:solidFill>
              </a:rPr>
              <a:t>    VALUES (&lt;</a:t>
            </a:r>
            <a:r>
              <a:rPr lang="zh-CN" altLang="zh-CN" dirty="0">
                <a:solidFill>
                  <a:srgbClr val="0000FF"/>
                </a:solidFill>
              </a:rPr>
              <a:t>常量</a:t>
            </a:r>
            <a:r>
              <a:rPr lang="en-US" altLang="zh-CN" dirty="0">
                <a:solidFill>
                  <a:srgbClr val="0000FF"/>
                </a:solidFill>
              </a:rPr>
              <a:t>1&gt; [</a:t>
            </a:r>
            <a:r>
              <a:rPr lang="zh-CN" altLang="zh-CN" dirty="0">
                <a:solidFill>
                  <a:srgbClr val="0000FF"/>
                </a:solidFill>
              </a:rPr>
              <a:t>，</a:t>
            </a:r>
            <a:r>
              <a:rPr lang="en-US" altLang="zh-CN" dirty="0">
                <a:solidFill>
                  <a:srgbClr val="0000FF"/>
                </a:solidFill>
              </a:rPr>
              <a:t>&lt;</a:t>
            </a:r>
            <a:r>
              <a:rPr lang="zh-CN" altLang="zh-CN" dirty="0">
                <a:solidFill>
                  <a:srgbClr val="0000FF"/>
                </a:solidFill>
              </a:rPr>
              <a:t>常量</a:t>
            </a:r>
            <a:r>
              <a:rPr lang="en-US" altLang="zh-CN" dirty="0">
                <a:solidFill>
                  <a:srgbClr val="0000FF"/>
                </a:solidFill>
              </a:rPr>
              <a:t>2&gt;] … )</a:t>
            </a:r>
            <a:endParaRPr lang="zh-CN" altLang="zh-CN" dirty="0">
              <a:solidFill>
                <a:srgbClr val="0000FF"/>
              </a:solidFill>
            </a:endParaRPr>
          </a:p>
          <a:p>
            <a:r>
              <a:rPr lang="zh-CN" altLang="zh-CN" dirty="0"/>
              <a:t>说明：如果常量的类型、个数和顺序与表的属性的类型、个数和顺序均相匹配，则表的属性部分可以省略，否则属性和常量必须给出，而且二者的类型、个数和顺序均相匹配。</a:t>
            </a:r>
          </a:p>
          <a:p>
            <a:r>
              <a:rPr lang="zh-CN" altLang="zh-CN" dirty="0"/>
              <a:t>例如：在</a:t>
            </a:r>
            <a:r>
              <a:rPr lang="en-US" altLang="zh-CN" dirty="0"/>
              <a:t>Buy</a:t>
            </a:r>
            <a:r>
              <a:rPr lang="zh-CN" altLang="zh-CN" dirty="0"/>
              <a:t>中，添加如下记录：</a:t>
            </a:r>
          </a:p>
          <a:p>
            <a:pPr marL="0" indent="0">
              <a:buNone/>
            </a:pPr>
            <a:r>
              <a:rPr lang="zh-CN" altLang="zh-CN" sz="2000" dirty="0"/>
              <a:t>户号：</a:t>
            </a:r>
            <a:r>
              <a:rPr lang="en-US" altLang="zh-CN" sz="2000" dirty="0"/>
              <a:t>C006</a:t>
            </a:r>
            <a:r>
              <a:rPr lang="zh-CN" altLang="zh-CN" sz="2000" dirty="0"/>
              <a:t>；书号：</a:t>
            </a:r>
            <a:r>
              <a:rPr lang="en-US" altLang="zh-CN" sz="2000" dirty="0"/>
              <a:t>ISBN978-7-302-33894-9</a:t>
            </a:r>
            <a:r>
              <a:rPr lang="zh-CN" altLang="zh-CN" sz="2000" dirty="0"/>
              <a:t>；购买日期：</a:t>
            </a:r>
            <a:r>
              <a:rPr lang="en-US" altLang="zh-CN" sz="2000" dirty="0"/>
              <a:t>2016-11-11</a:t>
            </a:r>
            <a:endParaRPr lang="zh-CN" altLang="zh-CN" sz="2000" dirty="0"/>
          </a:p>
          <a:p>
            <a:pPr marL="0" indent="0">
              <a:buNone/>
            </a:pPr>
            <a:r>
              <a:rPr lang="en-US" altLang="zh-CN" dirty="0"/>
              <a:t>INSERT INTO Buy</a:t>
            </a:r>
            <a:endParaRPr lang="zh-CN" altLang="zh-CN" dirty="0"/>
          </a:p>
          <a:p>
            <a:pPr marL="0" indent="0">
              <a:buNone/>
            </a:pPr>
            <a:r>
              <a:rPr lang="en-US" altLang="zh-CN" dirty="0"/>
              <a:t>    VALUES ('C006','ISBN978-7-302-33894-9','2016-11-11')</a:t>
            </a:r>
            <a:endParaRPr lang="zh-CN" altLang="zh-CN" dirty="0"/>
          </a:p>
        </p:txBody>
      </p:sp>
      <p:sp>
        <p:nvSpPr>
          <p:cNvPr id="4" name="日期占位符 3"/>
          <p:cNvSpPr>
            <a:spLocks noGrp="1"/>
          </p:cNvSpPr>
          <p:nvPr>
            <p:ph type="dt" sz="half" idx="10"/>
          </p:nvPr>
        </p:nvSpPr>
        <p:spPr/>
        <p:txBody>
          <a:bodyPr/>
          <a:lstStyle/>
          <a:p>
            <a:fld id="{15C91256-302C-6A45-934E-506F668BBEA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23</a:t>
            </a:fld>
            <a:endParaRPr lang="zh-CN" altLang="en-US" dirty="0"/>
          </a:p>
        </p:txBody>
      </p:sp>
    </p:spTree>
    <p:extLst>
      <p:ext uri="{BB962C8B-B14F-4D97-AF65-F5344CB8AC3E}">
        <p14:creationId xmlns:p14="http://schemas.microsoft.com/office/powerpoint/2010/main" val="3209844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562074"/>
          </a:xfrm>
        </p:spPr>
        <p:txBody>
          <a:bodyPr>
            <a:normAutofit fontScale="90000"/>
          </a:bodyPr>
          <a:lstStyle/>
          <a:p>
            <a:r>
              <a:rPr lang="en-US" altLang="zh-CN" dirty="0"/>
              <a:t>2</a:t>
            </a:r>
            <a:r>
              <a:rPr lang="zh-CN" altLang="zh-CN" dirty="0"/>
              <a:t>．编辑表记录</a:t>
            </a:r>
            <a:endParaRPr lang="zh-CN" altLang="en-US" dirty="0"/>
          </a:p>
        </p:txBody>
      </p:sp>
      <p:sp>
        <p:nvSpPr>
          <p:cNvPr id="3" name="文本占位符 2"/>
          <p:cNvSpPr>
            <a:spLocks noGrp="1"/>
          </p:cNvSpPr>
          <p:nvPr>
            <p:ph type="body" idx="1"/>
          </p:nvPr>
        </p:nvSpPr>
        <p:spPr>
          <a:xfrm>
            <a:off x="107504" y="692696"/>
            <a:ext cx="8784976" cy="5688632"/>
          </a:xfrm>
        </p:spPr>
        <p:txBody>
          <a:bodyPr>
            <a:normAutofit/>
          </a:bodyPr>
          <a:lstStyle/>
          <a:p>
            <a:r>
              <a:rPr lang="zh-CN" altLang="zh-CN" dirty="0"/>
              <a:t>例如：在</a:t>
            </a:r>
            <a:r>
              <a:rPr lang="en-US" altLang="zh-CN" dirty="0"/>
              <a:t>Buy</a:t>
            </a:r>
            <a:r>
              <a:rPr lang="zh-CN" altLang="zh-CN" dirty="0"/>
              <a:t>中，添加如下记录：</a:t>
            </a:r>
          </a:p>
          <a:p>
            <a:pPr marL="0" indent="0">
              <a:buNone/>
            </a:pPr>
            <a:r>
              <a:rPr lang="zh-CN" altLang="zh-CN" dirty="0"/>
              <a:t>户号：</a:t>
            </a:r>
            <a:r>
              <a:rPr lang="en-US" altLang="zh-CN" dirty="0"/>
              <a:t>C006</a:t>
            </a:r>
            <a:r>
              <a:rPr lang="zh-CN" altLang="zh-CN" dirty="0"/>
              <a:t>；书号：</a:t>
            </a:r>
            <a:r>
              <a:rPr lang="en-US" altLang="zh-CN" dirty="0"/>
              <a:t>ISBN978-7-04-040664-1</a:t>
            </a:r>
            <a:r>
              <a:rPr lang="zh-CN" altLang="zh-CN" dirty="0"/>
              <a:t>。</a:t>
            </a:r>
          </a:p>
          <a:p>
            <a:pPr marL="0" indent="0">
              <a:buNone/>
            </a:pPr>
            <a:r>
              <a:rPr lang="en-US" altLang="zh-CN" dirty="0"/>
              <a:t>INSERT INTO Buy(</a:t>
            </a:r>
            <a:r>
              <a:rPr lang="en-US" altLang="zh-CN" dirty="0" err="1"/>
              <a:t>Cno,BNo</a:t>
            </a:r>
            <a:r>
              <a:rPr lang="en-US" altLang="zh-CN" dirty="0"/>
              <a:t>)</a:t>
            </a:r>
            <a:endParaRPr lang="zh-CN" altLang="zh-CN" dirty="0"/>
          </a:p>
          <a:p>
            <a:pPr marL="0" indent="0">
              <a:buNone/>
            </a:pPr>
            <a:r>
              <a:rPr lang="en-US" altLang="zh-CN" dirty="0"/>
              <a:t>    VALUES ('C006','ISBN978-7-04-040664-1')</a:t>
            </a:r>
          </a:p>
          <a:p>
            <a:pPr marL="0" indent="0">
              <a:buNone/>
            </a:pPr>
            <a:endParaRPr lang="zh-CN" altLang="zh-CN" dirty="0"/>
          </a:p>
          <a:p>
            <a:r>
              <a:rPr lang="zh-CN" altLang="zh-CN" dirty="0"/>
              <a:t>说明：如果需要向表中添加多个元组，可以使用如下格式，或者使用主语言实现。</a:t>
            </a:r>
          </a:p>
          <a:p>
            <a:pPr marL="0" indent="0">
              <a:buNone/>
            </a:pPr>
            <a:r>
              <a:rPr lang="en-US" altLang="zh-CN" dirty="0">
                <a:solidFill>
                  <a:srgbClr val="0000FF"/>
                </a:solidFill>
              </a:rPr>
              <a:t>INSERT INTO &lt;</a:t>
            </a:r>
            <a:r>
              <a:rPr lang="zh-CN" altLang="zh-CN" dirty="0">
                <a:solidFill>
                  <a:srgbClr val="0000FF"/>
                </a:solidFill>
              </a:rPr>
              <a:t>表名</a:t>
            </a:r>
            <a:r>
              <a:rPr lang="en-US" altLang="zh-CN" dirty="0">
                <a:solidFill>
                  <a:srgbClr val="0000FF"/>
                </a:solidFill>
              </a:rPr>
              <a:t>&gt; [(&lt;</a:t>
            </a:r>
            <a:r>
              <a:rPr lang="zh-CN" altLang="zh-CN" dirty="0">
                <a:solidFill>
                  <a:srgbClr val="0000FF"/>
                </a:solidFill>
              </a:rPr>
              <a:t>属性</a:t>
            </a:r>
            <a:r>
              <a:rPr lang="en-US" altLang="zh-CN" dirty="0">
                <a:solidFill>
                  <a:srgbClr val="0000FF"/>
                </a:solidFill>
              </a:rPr>
              <a:t>1&gt;[</a:t>
            </a:r>
            <a:r>
              <a:rPr lang="zh-CN" altLang="zh-CN" dirty="0">
                <a:solidFill>
                  <a:srgbClr val="0000FF"/>
                </a:solidFill>
              </a:rPr>
              <a:t>，</a:t>
            </a:r>
            <a:r>
              <a:rPr lang="en-US" altLang="zh-CN" dirty="0">
                <a:solidFill>
                  <a:srgbClr val="0000FF"/>
                </a:solidFill>
              </a:rPr>
              <a:t>&lt;</a:t>
            </a:r>
            <a:r>
              <a:rPr lang="zh-CN" altLang="zh-CN" dirty="0">
                <a:solidFill>
                  <a:srgbClr val="0000FF"/>
                </a:solidFill>
              </a:rPr>
              <a:t>属性</a:t>
            </a:r>
            <a:r>
              <a:rPr lang="en-US" altLang="zh-CN" dirty="0">
                <a:solidFill>
                  <a:srgbClr val="0000FF"/>
                </a:solidFill>
              </a:rPr>
              <a:t>2 &gt; … )]</a:t>
            </a:r>
            <a:endParaRPr lang="zh-CN" altLang="zh-CN" dirty="0">
              <a:solidFill>
                <a:srgbClr val="0000FF"/>
              </a:solidFill>
            </a:endParaRPr>
          </a:p>
          <a:p>
            <a:pPr marL="0" indent="0">
              <a:buNone/>
            </a:pPr>
            <a:r>
              <a:rPr lang="en-US" altLang="zh-CN" dirty="0">
                <a:solidFill>
                  <a:srgbClr val="0000FF"/>
                </a:solidFill>
              </a:rPr>
              <a:t>    SELECT </a:t>
            </a:r>
            <a:r>
              <a:rPr lang="zh-CN" altLang="zh-CN" dirty="0">
                <a:solidFill>
                  <a:srgbClr val="0000FF"/>
                </a:solidFill>
              </a:rPr>
              <a:t>语句</a:t>
            </a:r>
          </a:p>
        </p:txBody>
      </p:sp>
      <p:sp>
        <p:nvSpPr>
          <p:cNvPr id="4" name="日期占位符 3"/>
          <p:cNvSpPr>
            <a:spLocks noGrp="1"/>
          </p:cNvSpPr>
          <p:nvPr>
            <p:ph type="dt" sz="half" idx="10"/>
          </p:nvPr>
        </p:nvSpPr>
        <p:spPr/>
        <p:txBody>
          <a:bodyPr/>
          <a:lstStyle/>
          <a:p>
            <a:fld id="{0DE70F7F-7BCC-014C-AF24-A5A6D13AFB5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24</a:t>
            </a:fld>
            <a:endParaRPr lang="zh-CN" altLang="en-US" dirty="0"/>
          </a:p>
        </p:txBody>
      </p:sp>
    </p:spTree>
    <p:extLst>
      <p:ext uri="{BB962C8B-B14F-4D97-AF65-F5344CB8AC3E}">
        <p14:creationId xmlns:p14="http://schemas.microsoft.com/office/powerpoint/2010/main" val="1688031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a:t>
            </a:r>
            <a:r>
              <a:rPr lang="zh-CN" altLang="zh-CN" dirty="0"/>
              <a:t>．编辑表记录</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pPr marL="0" indent="0">
              <a:buNone/>
            </a:pPr>
            <a:r>
              <a:rPr lang="zh-CN" altLang="zh-CN" sz="2000" dirty="0"/>
              <a:t>（</a:t>
            </a:r>
            <a:r>
              <a:rPr lang="en-US" altLang="zh-CN" sz="2000" dirty="0"/>
              <a:t>2</a:t>
            </a:r>
            <a:r>
              <a:rPr lang="zh-CN" altLang="zh-CN" sz="2000" dirty="0"/>
              <a:t>）修改表记录的语法：</a:t>
            </a:r>
          </a:p>
          <a:p>
            <a:pPr marL="0" indent="0">
              <a:buNone/>
            </a:pPr>
            <a:r>
              <a:rPr lang="en-US" altLang="zh-CN" sz="2000" dirty="0">
                <a:solidFill>
                  <a:srgbClr val="0000FF"/>
                </a:solidFill>
              </a:rPr>
              <a:t>UPDATE &lt;</a:t>
            </a:r>
            <a:r>
              <a:rPr lang="zh-CN" altLang="zh-CN" sz="2000" dirty="0">
                <a:solidFill>
                  <a:srgbClr val="0000FF"/>
                </a:solidFill>
              </a:rPr>
              <a:t>表名</a:t>
            </a:r>
            <a:r>
              <a:rPr lang="en-US" altLang="zh-CN" sz="2000" dirty="0">
                <a:solidFill>
                  <a:srgbClr val="0000FF"/>
                </a:solidFill>
              </a:rPr>
              <a:t>&gt;</a:t>
            </a:r>
            <a:endParaRPr lang="zh-CN" altLang="zh-CN" sz="2000" dirty="0">
              <a:solidFill>
                <a:srgbClr val="0000FF"/>
              </a:solidFill>
            </a:endParaRPr>
          </a:p>
          <a:p>
            <a:pPr marL="0" indent="0">
              <a:buNone/>
            </a:pPr>
            <a:r>
              <a:rPr lang="en-US" altLang="zh-CN" sz="2000" dirty="0">
                <a:solidFill>
                  <a:srgbClr val="0000FF"/>
                </a:solidFill>
              </a:rPr>
              <a:t>    SET &lt;</a:t>
            </a:r>
            <a:r>
              <a:rPr lang="zh-CN" altLang="zh-CN" sz="2000" dirty="0">
                <a:solidFill>
                  <a:srgbClr val="0000FF"/>
                </a:solidFill>
              </a:rPr>
              <a:t>属性</a:t>
            </a:r>
            <a:r>
              <a:rPr lang="en-US" altLang="zh-CN" sz="2000" dirty="0">
                <a:solidFill>
                  <a:srgbClr val="0000FF"/>
                </a:solidFill>
              </a:rPr>
              <a:t>1&gt;=&lt;</a:t>
            </a:r>
            <a:r>
              <a:rPr lang="zh-CN" altLang="zh-CN" sz="2000" dirty="0">
                <a:solidFill>
                  <a:srgbClr val="0000FF"/>
                </a:solidFill>
              </a:rPr>
              <a:t>表达式</a:t>
            </a:r>
            <a:r>
              <a:rPr lang="en-US" altLang="zh-CN" sz="2000" dirty="0">
                <a:solidFill>
                  <a:srgbClr val="0000FF"/>
                </a:solidFill>
              </a:rPr>
              <a:t>1&gt;[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属性</a:t>
            </a:r>
            <a:r>
              <a:rPr lang="en-US" altLang="zh-CN" sz="2000" dirty="0">
                <a:solidFill>
                  <a:srgbClr val="0000FF"/>
                </a:solidFill>
              </a:rPr>
              <a:t>2&gt;=&lt;</a:t>
            </a:r>
            <a:r>
              <a:rPr lang="zh-CN" altLang="zh-CN" sz="2000" dirty="0">
                <a:solidFill>
                  <a:srgbClr val="0000FF"/>
                </a:solidFill>
              </a:rPr>
              <a:t>表达式</a:t>
            </a:r>
            <a:r>
              <a:rPr lang="en-US" altLang="zh-CN" sz="2000" dirty="0">
                <a:solidFill>
                  <a:srgbClr val="0000FF"/>
                </a:solidFill>
              </a:rPr>
              <a:t>2&gt;</a:t>
            </a:r>
            <a:r>
              <a:rPr lang="zh-CN" altLang="zh-CN" sz="2000" dirty="0">
                <a:solidFill>
                  <a:srgbClr val="0000FF"/>
                </a:solidFill>
              </a:rPr>
              <a:t>，</a:t>
            </a:r>
            <a:r>
              <a:rPr lang="en-US" altLang="zh-CN" sz="2000" dirty="0">
                <a:solidFill>
                  <a:srgbClr val="0000FF"/>
                </a:solidFill>
              </a:rPr>
              <a:t>… ]</a:t>
            </a:r>
            <a:endParaRPr lang="zh-CN" altLang="zh-CN" sz="2000" dirty="0">
              <a:solidFill>
                <a:srgbClr val="0000FF"/>
              </a:solidFill>
            </a:endParaRPr>
          </a:p>
          <a:p>
            <a:pPr marL="0" indent="0">
              <a:buNone/>
            </a:pPr>
            <a:r>
              <a:rPr lang="en-US" altLang="zh-CN" sz="2000" dirty="0">
                <a:solidFill>
                  <a:srgbClr val="0000FF"/>
                </a:solidFill>
              </a:rPr>
              <a:t>    [WHERE &lt;</a:t>
            </a:r>
            <a:r>
              <a:rPr lang="zh-CN" altLang="zh-CN" sz="2000" dirty="0">
                <a:solidFill>
                  <a:srgbClr val="0000FF"/>
                </a:solidFill>
              </a:rPr>
              <a:t>条件</a:t>
            </a:r>
            <a:r>
              <a:rPr lang="en-US" altLang="zh-CN" sz="2000" dirty="0">
                <a:solidFill>
                  <a:srgbClr val="0000FF"/>
                </a:solidFill>
              </a:rPr>
              <a:t>&gt;]</a:t>
            </a:r>
            <a:endParaRPr lang="zh-CN" altLang="zh-CN" sz="2000" dirty="0">
              <a:solidFill>
                <a:srgbClr val="0000FF"/>
              </a:solidFill>
            </a:endParaRPr>
          </a:p>
          <a:p>
            <a:r>
              <a:rPr lang="zh-CN" altLang="zh-CN" sz="2000" dirty="0"/>
              <a:t>说明：把满足</a:t>
            </a:r>
            <a:r>
              <a:rPr lang="en-US" altLang="zh-CN" sz="2000" dirty="0"/>
              <a:t>&lt;</a:t>
            </a:r>
            <a:r>
              <a:rPr lang="zh-CN" altLang="zh-CN" sz="2000" dirty="0"/>
              <a:t>条件</a:t>
            </a:r>
            <a:r>
              <a:rPr lang="en-US" altLang="zh-CN" sz="2000" dirty="0"/>
              <a:t>&gt;</a:t>
            </a:r>
            <a:r>
              <a:rPr lang="zh-CN" altLang="zh-CN" sz="2000" dirty="0"/>
              <a:t>的记录，使用</a:t>
            </a:r>
            <a:r>
              <a:rPr lang="en-US" altLang="zh-CN" sz="2000" dirty="0"/>
              <a:t>&lt;</a:t>
            </a:r>
            <a:r>
              <a:rPr lang="zh-CN" altLang="zh-CN" sz="2000" dirty="0"/>
              <a:t>表达式</a:t>
            </a:r>
            <a:r>
              <a:rPr lang="en-US" altLang="zh-CN" sz="2000" dirty="0"/>
              <a:t>i&gt;</a:t>
            </a:r>
            <a:r>
              <a:rPr lang="zh-CN" altLang="zh-CN" sz="2000" dirty="0"/>
              <a:t>的值，修改</a:t>
            </a:r>
            <a:r>
              <a:rPr lang="en-US" altLang="zh-CN" sz="2000" dirty="0"/>
              <a:t>&lt;</a:t>
            </a:r>
            <a:r>
              <a:rPr lang="zh-CN" altLang="zh-CN" sz="2000" dirty="0"/>
              <a:t>属性</a:t>
            </a:r>
            <a:r>
              <a:rPr lang="en-US" altLang="zh-CN" sz="2000" dirty="0"/>
              <a:t>i&gt;</a:t>
            </a:r>
            <a:r>
              <a:rPr lang="zh-CN" altLang="zh-CN" sz="2000" dirty="0"/>
              <a:t>的值。</a:t>
            </a:r>
          </a:p>
          <a:p>
            <a:r>
              <a:rPr lang="zh-CN" altLang="zh-CN" sz="2000" dirty="0"/>
              <a:t>例如：在</a:t>
            </a:r>
            <a:r>
              <a:rPr lang="en-US" altLang="zh-CN" sz="2000" dirty="0" err="1"/>
              <a:t>Cust</a:t>
            </a:r>
            <a:r>
              <a:rPr lang="zh-CN" altLang="zh-CN" sz="2000" dirty="0"/>
              <a:t>中，把户号为</a:t>
            </a:r>
            <a:r>
              <a:rPr lang="en-US" altLang="zh-CN" sz="2000" dirty="0"/>
              <a:t>C003</a:t>
            </a:r>
            <a:r>
              <a:rPr lang="zh-CN" altLang="zh-CN" sz="2000" dirty="0"/>
              <a:t>的户名改为王云。</a:t>
            </a:r>
          </a:p>
          <a:p>
            <a:pPr marL="0" indent="0">
              <a:buNone/>
            </a:pPr>
            <a:r>
              <a:rPr lang="en-US" altLang="zh-CN" sz="2000" dirty="0"/>
              <a:t>UPDATE </a:t>
            </a:r>
            <a:r>
              <a:rPr lang="en-US" altLang="zh-CN" sz="2000" dirty="0" err="1"/>
              <a:t>Cust</a:t>
            </a:r>
            <a:endParaRPr lang="zh-CN" altLang="zh-CN" sz="2000" dirty="0"/>
          </a:p>
          <a:p>
            <a:pPr marL="0" indent="0">
              <a:buNone/>
            </a:pPr>
            <a:r>
              <a:rPr lang="en-US" altLang="zh-CN" sz="2000" dirty="0"/>
              <a:t>    SET </a:t>
            </a:r>
            <a:r>
              <a:rPr lang="en-US" altLang="zh-CN" sz="2000" dirty="0" err="1"/>
              <a:t>CName</a:t>
            </a:r>
            <a:r>
              <a:rPr lang="en-US" altLang="zh-CN" sz="2000" dirty="0"/>
              <a:t>= '</a:t>
            </a:r>
            <a:r>
              <a:rPr lang="zh-CN" altLang="zh-CN" sz="2000" dirty="0"/>
              <a:t>王云</a:t>
            </a:r>
            <a:r>
              <a:rPr lang="en-US" altLang="zh-CN" sz="2000" dirty="0"/>
              <a:t>'</a:t>
            </a:r>
            <a:endParaRPr lang="zh-CN" altLang="zh-CN" sz="2000" dirty="0"/>
          </a:p>
          <a:p>
            <a:pPr marL="0" indent="0">
              <a:buNone/>
            </a:pPr>
            <a:r>
              <a:rPr lang="en-US" altLang="zh-CN" sz="2000" dirty="0"/>
              <a:t>    WHERE </a:t>
            </a:r>
            <a:r>
              <a:rPr lang="en-US" altLang="zh-CN" sz="2000" dirty="0" err="1"/>
              <a:t>CNo</a:t>
            </a:r>
            <a:r>
              <a:rPr lang="en-US" altLang="zh-CN" sz="2000" dirty="0"/>
              <a:t>='C003'</a:t>
            </a:r>
            <a:endParaRPr lang="zh-CN" altLang="zh-CN" sz="2000" dirty="0"/>
          </a:p>
          <a:p>
            <a:endParaRPr lang="en-US" altLang="zh-CN" sz="2000" dirty="0"/>
          </a:p>
        </p:txBody>
      </p:sp>
      <p:sp>
        <p:nvSpPr>
          <p:cNvPr id="4" name="日期占位符 3"/>
          <p:cNvSpPr>
            <a:spLocks noGrp="1"/>
          </p:cNvSpPr>
          <p:nvPr>
            <p:ph type="dt" sz="half" idx="10"/>
          </p:nvPr>
        </p:nvSpPr>
        <p:spPr/>
        <p:txBody>
          <a:bodyPr/>
          <a:lstStyle/>
          <a:p>
            <a:fld id="{4DBD8A1A-767D-C446-9426-5463497B0379}"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25</a:t>
            </a:fld>
            <a:endParaRPr lang="zh-CN" altLang="en-US" dirty="0"/>
          </a:p>
        </p:txBody>
      </p:sp>
    </p:spTree>
    <p:extLst>
      <p:ext uri="{BB962C8B-B14F-4D97-AF65-F5344CB8AC3E}">
        <p14:creationId xmlns:p14="http://schemas.microsoft.com/office/powerpoint/2010/main" val="3718157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a:t>
            </a:r>
            <a:r>
              <a:rPr lang="zh-CN" altLang="zh-CN" dirty="0"/>
              <a:t>．编辑表记录</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r>
              <a:rPr lang="zh-CN" altLang="zh-CN" sz="2000" dirty="0"/>
              <a:t>例如：在</a:t>
            </a:r>
            <a:r>
              <a:rPr lang="en-US" altLang="zh-CN" sz="2000" dirty="0"/>
              <a:t>Book</a:t>
            </a:r>
            <a:r>
              <a:rPr lang="zh-CN" altLang="zh-CN" sz="2000" dirty="0"/>
              <a:t>中，将所有售价增加</a:t>
            </a:r>
            <a:r>
              <a:rPr lang="en-US" altLang="zh-CN" sz="2000" dirty="0"/>
              <a:t>1</a:t>
            </a:r>
            <a:r>
              <a:rPr lang="zh-CN" altLang="zh-CN" sz="2000" dirty="0"/>
              <a:t>元。</a:t>
            </a:r>
          </a:p>
          <a:p>
            <a:pPr marL="0" indent="0">
              <a:buNone/>
            </a:pPr>
            <a:r>
              <a:rPr lang="en-US" altLang="zh-CN" sz="2000" dirty="0"/>
              <a:t>UPDATE Book</a:t>
            </a:r>
            <a:endParaRPr lang="zh-CN" altLang="zh-CN" sz="2000" dirty="0"/>
          </a:p>
          <a:p>
            <a:pPr marL="0" indent="0">
              <a:buNone/>
            </a:pPr>
            <a:r>
              <a:rPr lang="en-US" altLang="zh-CN" sz="2000" dirty="0"/>
              <a:t>    SET </a:t>
            </a:r>
            <a:r>
              <a:rPr lang="en-US" altLang="zh-CN" sz="2000" dirty="0" err="1"/>
              <a:t>SPrice</a:t>
            </a:r>
            <a:r>
              <a:rPr lang="en-US" altLang="zh-CN" sz="2000" dirty="0"/>
              <a:t>=SPrice+1</a:t>
            </a:r>
            <a:endParaRPr lang="zh-CN" altLang="zh-CN" sz="2000" dirty="0"/>
          </a:p>
          <a:p>
            <a:r>
              <a:rPr lang="zh-CN" altLang="zh-CN" sz="2000" dirty="0"/>
              <a:t>例如：在</a:t>
            </a:r>
            <a:r>
              <a:rPr lang="en-US" altLang="zh-CN" sz="2000" dirty="0"/>
              <a:t>Book</a:t>
            </a:r>
            <a:r>
              <a:rPr lang="zh-CN" altLang="zh-CN" sz="2000" dirty="0"/>
              <a:t>中，把浙江工商大学出版社出版的图书的版次全部改为</a:t>
            </a:r>
            <a:r>
              <a:rPr lang="en-US" altLang="zh-CN" sz="2000" dirty="0"/>
              <a:t>2</a:t>
            </a:r>
            <a:r>
              <a:rPr lang="zh-CN" altLang="zh-CN" sz="2000" dirty="0"/>
              <a:t>。</a:t>
            </a:r>
          </a:p>
          <a:p>
            <a:pPr marL="0" indent="0">
              <a:buNone/>
            </a:pPr>
            <a:r>
              <a:rPr lang="en-US" altLang="zh-CN" sz="2000" dirty="0"/>
              <a:t>UPDATE Book</a:t>
            </a:r>
            <a:endParaRPr lang="zh-CN" altLang="zh-CN" sz="2000" dirty="0"/>
          </a:p>
          <a:p>
            <a:pPr marL="0" indent="0">
              <a:buNone/>
            </a:pPr>
            <a:r>
              <a:rPr lang="en-US" altLang="zh-CN" sz="2000" dirty="0"/>
              <a:t>    SET </a:t>
            </a:r>
            <a:r>
              <a:rPr lang="en-US" altLang="zh-CN" sz="2000" dirty="0" err="1"/>
              <a:t>EditNo</a:t>
            </a:r>
            <a:r>
              <a:rPr lang="en-US" altLang="zh-CN" sz="2000" dirty="0"/>
              <a:t>=2</a:t>
            </a:r>
            <a:endParaRPr lang="zh-CN" altLang="zh-CN" sz="2000" dirty="0"/>
          </a:p>
          <a:p>
            <a:pPr marL="0" indent="0">
              <a:buNone/>
            </a:pPr>
            <a:r>
              <a:rPr lang="en-US" altLang="zh-CN" sz="2000" dirty="0"/>
              <a:t>    WHERE </a:t>
            </a:r>
            <a:r>
              <a:rPr lang="en-US" altLang="zh-CN" sz="2000" dirty="0" err="1"/>
              <a:t>PNo</a:t>
            </a:r>
            <a:r>
              <a:rPr lang="en-US" altLang="zh-CN" sz="2000" dirty="0"/>
              <a:t>=</a:t>
            </a:r>
            <a:endParaRPr lang="zh-CN" altLang="zh-CN" sz="2000" dirty="0"/>
          </a:p>
          <a:p>
            <a:pPr marL="0" indent="0">
              <a:buNone/>
            </a:pPr>
            <a:r>
              <a:rPr lang="en-US" altLang="zh-CN" sz="2000" dirty="0"/>
              <a:t>        (SELECT </a:t>
            </a:r>
            <a:r>
              <a:rPr lang="en-US" altLang="zh-CN" sz="2000" dirty="0" err="1"/>
              <a:t>PNo</a:t>
            </a:r>
            <a:endParaRPr lang="zh-CN" altLang="zh-CN" sz="2000" dirty="0"/>
          </a:p>
          <a:p>
            <a:pPr marL="0" indent="0">
              <a:buNone/>
            </a:pPr>
            <a:r>
              <a:rPr lang="en-US" altLang="zh-CN" sz="2000" dirty="0"/>
              <a:t>         FROM Press</a:t>
            </a:r>
            <a:endParaRPr lang="zh-CN" altLang="zh-CN" sz="2000" dirty="0"/>
          </a:p>
          <a:p>
            <a:pPr marL="0" indent="0">
              <a:buNone/>
            </a:pPr>
            <a:r>
              <a:rPr lang="en-US" altLang="zh-CN" sz="2000" dirty="0"/>
              <a:t>         WHERE </a:t>
            </a:r>
            <a:r>
              <a:rPr lang="en-US" altLang="zh-CN" sz="2000" dirty="0" err="1"/>
              <a:t>PName</a:t>
            </a:r>
            <a:r>
              <a:rPr lang="en-US" altLang="zh-CN" sz="2000" dirty="0"/>
              <a:t>='</a:t>
            </a:r>
            <a:r>
              <a:rPr lang="zh-CN" altLang="zh-CN" sz="2000" dirty="0"/>
              <a:t>浙江工商大学出版社</a:t>
            </a:r>
            <a:r>
              <a:rPr lang="en-US" altLang="zh-CN" sz="2000" dirty="0"/>
              <a:t>')</a:t>
            </a:r>
            <a:endParaRPr lang="zh-CN" altLang="zh-CN" sz="2000" dirty="0"/>
          </a:p>
          <a:p>
            <a:endParaRPr lang="en-US" altLang="zh-CN" sz="2000" dirty="0"/>
          </a:p>
        </p:txBody>
      </p:sp>
      <p:sp>
        <p:nvSpPr>
          <p:cNvPr id="4" name="日期占位符 3"/>
          <p:cNvSpPr>
            <a:spLocks noGrp="1"/>
          </p:cNvSpPr>
          <p:nvPr>
            <p:ph type="dt" sz="half" idx="10"/>
          </p:nvPr>
        </p:nvSpPr>
        <p:spPr/>
        <p:txBody>
          <a:bodyPr/>
          <a:lstStyle/>
          <a:p>
            <a:fld id="{F483B89B-59AE-4B4E-A0E1-08C7DED897F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26</a:t>
            </a:fld>
            <a:endParaRPr lang="zh-CN" altLang="en-US" dirty="0"/>
          </a:p>
        </p:txBody>
      </p:sp>
    </p:spTree>
    <p:extLst>
      <p:ext uri="{BB962C8B-B14F-4D97-AF65-F5344CB8AC3E}">
        <p14:creationId xmlns:p14="http://schemas.microsoft.com/office/powerpoint/2010/main" val="3144697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a:t>
            </a:r>
            <a:r>
              <a:rPr lang="zh-CN" altLang="zh-CN" dirty="0"/>
              <a:t>．编辑表记录</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pPr marL="0" indent="0">
              <a:buNone/>
            </a:pPr>
            <a:r>
              <a:rPr lang="zh-CN" altLang="zh-CN" sz="2000" dirty="0"/>
              <a:t>（</a:t>
            </a:r>
            <a:r>
              <a:rPr lang="en-US" altLang="zh-CN" sz="2000" dirty="0"/>
              <a:t>3</a:t>
            </a:r>
            <a:r>
              <a:rPr lang="zh-CN" altLang="zh-CN" sz="2000" dirty="0"/>
              <a:t>）删除表记录的语法：</a:t>
            </a:r>
          </a:p>
          <a:p>
            <a:pPr marL="0" indent="0">
              <a:buNone/>
            </a:pPr>
            <a:r>
              <a:rPr lang="en-US" altLang="zh-CN" sz="2000" dirty="0">
                <a:solidFill>
                  <a:srgbClr val="0000FF"/>
                </a:solidFill>
              </a:rPr>
              <a:t>DELETE FROM &lt;</a:t>
            </a:r>
            <a:r>
              <a:rPr lang="zh-CN" altLang="zh-CN" sz="2000" dirty="0">
                <a:solidFill>
                  <a:srgbClr val="0000FF"/>
                </a:solidFill>
              </a:rPr>
              <a:t>表名</a:t>
            </a:r>
            <a:r>
              <a:rPr lang="en-US" altLang="zh-CN" sz="2000" dirty="0">
                <a:solidFill>
                  <a:srgbClr val="0000FF"/>
                </a:solidFill>
              </a:rPr>
              <a:t>&gt;</a:t>
            </a:r>
            <a:endParaRPr lang="zh-CN" altLang="zh-CN" sz="2000" dirty="0">
              <a:solidFill>
                <a:srgbClr val="0000FF"/>
              </a:solidFill>
            </a:endParaRPr>
          </a:p>
          <a:p>
            <a:pPr marL="0" indent="0">
              <a:buNone/>
            </a:pPr>
            <a:r>
              <a:rPr lang="en-US" altLang="zh-CN" sz="2000" dirty="0">
                <a:solidFill>
                  <a:srgbClr val="0000FF"/>
                </a:solidFill>
              </a:rPr>
              <a:t>    [WHERE &lt;</a:t>
            </a:r>
            <a:r>
              <a:rPr lang="zh-CN" altLang="zh-CN" sz="2000" dirty="0">
                <a:solidFill>
                  <a:srgbClr val="0000FF"/>
                </a:solidFill>
              </a:rPr>
              <a:t>条件</a:t>
            </a:r>
            <a:r>
              <a:rPr lang="en-US" altLang="zh-CN" sz="2000" dirty="0">
                <a:solidFill>
                  <a:srgbClr val="0000FF"/>
                </a:solidFill>
              </a:rPr>
              <a:t>&gt;]</a:t>
            </a:r>
            <a:endParaRPr lang="zh-CN" altLang="zh-CN" sz="2000" dirty="0">
              <a:solidFill>
                <a:srgbClr val="0000FF"/>
              </a:solidFill>
            </a:endParaRPr>
          </a:p>
          <a:p>
            <a:r>
              <a:rPr lang="zh-CN" altLang="zh-CN" sz="2000" dirty="0"/>
              <a:t>说明：删除满足</a:t>
            </a:r>
            <a:r>
              <a:rPr lang="en-US" altLang="zh-CN" sz="2000" dirty="0"/>
              <a:t>&lt;</a:t>
            </a:r>
            <a:r>
              <a:rPr lang="zh-CN" altLang="zh-CN" sz="2000" dirty="0"/>
              <a:t>条件</a:t>
            </a:r>
            <a:r>
              <a:rPr lang="en-US" altLang="zh-CN" sz="2000" dirty="0"/>
              <a:t>&gt;</a:t>
            </a:r>
            <a:r>
              <a:rPr lang="zh-CN" altLang="zh-CN" sz="2000" dirty="0"/>
              <a:t>的记录。省略</a:t>
            </a:r>
            <a:r>
              <a:rPr lang="en-US" altLang="zh-CN" sz="2000" dirty="0"/>
              <a:t>WHERE</a:t>
            </a:r>
            <a:r>
              <a:rPr lang="zh-CN" altLang="zh-CN" sz="2000" dirty="0"/>
              <a:t>时，则删除表中的所有记录。</a:t>
            </a:r>
          </a:p>
          <a:p>
            <a:r>
              <a:rPr lang="zh-CN" altLang="zh-CN" sz="2000" dirty="0"/>
              <a:t>例如：在</a:t>
            </a:r>
            <a:r>
              <a:rPr lang="en-US" altLang="zh-CN" sz="2000" dirty="0" err="1"/>
              <a:t>Cust</a:t>
            </a:r>
            <a:r>
              <a:rPr lang="zh-CN" altLang="zh-CN" sz="2000" dirty="0"/>
              <a:t>中，删除户号为</a:t>
            </a:r>
            <a:r>
              <a:rPr lang="en-US" altLang="zh-CN" sz="2000" dirty="0"/>
              <a:t>C004</a:t>
            </a:r>
            <a:r>
              <a:rPr lang="zh-CN" altLang="zh-CN" sz="2000" dirty="0"/>
              <a:t>的客户。</a:t>
            </a:r>
          </a:p>
          <a:p>
            <a:pPr marL="0" indent="0">
              <a:buNone/>
            </a:pPr>
            <a:r>
              <a:rPr lang="en-US" altLang="zh-CN" sz="2000" dirty="0"/>
              <a:t>DELETE FROM </a:t>
            </a:r>
            <a:r>
              <a:rPr lang="en-US" altLang="zh-CN" sz="2000" dirty="0" err="1"/>
              <a:t>Cust</a:t>
            </a:r>
            <a:endParaRPr lang="zh-CN" altLang="zh-CN" sz="2000" dirty="0"/>
          </a:p>
          <a:p>
            <a:pPr marL="0" indent="0">
              <a:buNone/>
            </a:pPr>
            <a:r>
              <a:rPr lang="en-US" altLang="zh-CN" sz="2000" dirty="0"/>
              <a:t>    WHERE </a:t>
            </a:r>
            <a:r>
              <a:rPr lang="en-US" altLang="zh-CN" sz="2000" dirty="0" err="1"/>
              <a:t>CNo</a:t>
            </a:r>
            <a:r>
              <a:rPr lang="en-US" altLang="zh-CN" sz="2000" dirty="0"/>
              <a:t>='C004'</a:t>
            </a:r>
            <a:endParaRPr lang="zh-CN" altLang="zh-CN" sz="2000" dirty="0"/>
          </a:p>
          <a:p>
            <a:r>
              <a:rPr lang="zh-CN" altLang="zh-CN" sz="2000" dirty="0"/>
              <a:t>例如：在</a:t>
            </a:r>
            <a:r>
              <a:rPr lang="en-US" altLang="zh-CN" sz="2000" dirty="0"/>
              <a:t>Buy</a:t>
            </a:r>
            <a:r>
              <a:rPr lang="zh-CN" altLang="zh-CN" sz="2000" dirty="0"/>
              <a:t>中，删除户号为</a:t>
            </a:r>
            <a:r>
              <a:rPr lang="en-US" altLang="zh-CN" sz="2000" dirty="0"/>
              <a:t>C003</a:t>
            </a:r>
            <a:r>
              <a:rPr lang="zh-CN" altLang="zh-CN" sz="2000" dirty="0"/>
              <a:t>的购买信息。</a:t>
            </a:r>
          </a:p>
          <a:p>
            <a:pPr marL="0" indent="0">
              <a:buNone/>
            </a:pPr>
            <a:r>
              <a:rPr lang="en-US" altLang="zh-CN" sz="2000" dirty="0"/>
              <a:t>DELETE FROM Buy</a:t>
            </a:r>
            <a:endParaRPr lang="zh-CN" altLang="zh-CN" sz="2000" dirty="0"/>
          </a:p>
          <a:p>
            <a:pPr marL="0" indent="0">
              <a:buNone/>
            </a:pPr>
            <a:r>
              <a:rPr lang="en-US" altLang="zh-CN" sz="2000" dirty="0"/>
              <a:t>    WHERE </a:t>
            </a:r>
            <a:r>
              <a:rPr lang="en-US" altLang="zh-CN" sz="2000" dirty="0" err="1"/>
              <a:t>CNo</a:t>
            </a:r>
            <a:r>
              <a:rPr lang="en-US" altLang="zh-CN" sz="2000" dirty="0"/>
              <a:t>='C003'</a:t>
            </a:r>
            <a:endParaRPr lang="zh-CN" altLang="zh-CN" sz="2000" dirty="0"/>
          </a:p>
          <a:p>
            <a:endParaRPr lang="en-US" altLang="zh-CN" sz="2000" dirty="0"/>
          </a:p>
        </p:txBody>
      </p:sp>
      <p:sp>
        <p:nvSpPr>
          <p:cNvPr id="4" name="日期占位符 3"/>
          <p:cNvSpPr>
            <a:spLocks noGrp="1"/>
          </p:cNvSpPr>
          <p:nvPr>
            <p:ph type="dt" sz="half" idx="10"/>
          </p:nvPr>
        </p:nvSpPr>
        <p:spPr/>
        <p:txBody>
          <a:bodyPr/>
          <a:lstStyle/>
          <a:p>
            <a:fld id="{78A4DBED-5B37-204E-936F-7E30CC5B0CA3}"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27</a:t>
            </a:fld>
            <a:endParaRPr lang="zh-CN" altLang="en-US" dirty="0"/>
          </a:p>
        </p:txBody>
      </p:sp>
    </p:spTree>
    <p:extLst>
      <p:ext uri="{BB962C8B-B14F-4D97-AF65-F5344CB8AC3E}">
        <p14:creationId xmlns:p14="http://schemas.microsoft.com/office/powerpoint/2010/main" val="3571554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2</a:t>
            </a:r>
            <a:r>
              <a:rPr lang="zh-CN" altLang="zh-CN" dirty="0"/>
              <a:t>．编辑表记录</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r>
              <a:rPr lang="zh-CN" altLang="zh-CN" sz="2000" dirty="0"/>
              <a:t>例如：在</a:t>
            </a:r>
            <a:r>
              <a:rPr lang="en-US" altLang="zh-CN" sz="2000" dirty="0"/>
              <a:t>Buy</a:t>
            </a:r>
            <a:r>
              <a:rPr lang="zh-CN" altLang="zh-CN" sz="2000" dirty="0"/>
              <a:t>中，删除所有购买信息。</a:t>
            </a:r>
          </a:p>
          <a:p>
            <a:pPr marL="0" indent="0">
              <a:buNone/>
            </a:pPr>
            <a:r>
              <a:rPr lang="en-US" altLang="zh-CN" sz="2000" dirty="0"/>
              <a:t>DELETE FROM Buy</a:t>
            </a:r>
            <a:endParaRPr lang="zh-CN" altLang="zh-CN" sz="2000" dirty="0"/>
          </a:p>
          <a:p>
            <a:r>
              <a:rPr lang="zh-CN" altLang="zh-CN" sz="2000" dirty="0"/>
              <a:t>例如：在</a:t>
            </a:r>
            <a:r>
              <a:rPr lang="en-US" altLang="zh-CN" sz="2000" dirty="0"/>
              <a:t>Book</a:t>
            </a:r>
            <a:r>
              <a:rPr lang="zh-CN" altLang="zh-CN" sz="2000" dirty="0"/>
              <a:t>中，删除所有浙江工商大学出版社出版的图书。</a:t>
            </a:r>
          </a:p>
          <a:p>
            <a:pPr marL="0" indent="0">
              <a:buNone/>
            </a:pPr>
            <a:r>
              <a:rPr lang="en-US" altLang="zh-CN" sz="2000" dirty="0"/>
              <a:t>DELETE FROM Book</a:t>
            </a:r>
            <a:endParaRPr lang="zh-CN" altLang="zh-CN" sz="2000" dirty="0"/>
          </a:p>
          <a:p>
            <a:pPr marL="0" indent="0">
              <a:buNone/>
            </a:pPr>
            <a:r>
              <a:rPr lang="en-US" altLang="zh-CN" sz="2000" dirty="0"/>
              <a:t>    WHERE </a:t>
            </a:r>
            <a:r>
              <a:rPr lang="en-US" altLang="zh-CN" sz="2000" dirty="0" err="1"/>
              <a:t>PNo</a:t>
            </a:r>
            <a:r>
              <a:rPr lang="en-US" altLang="zh-CN" sz="2000" dirty="0"/>
              <a:t>=</a:t>
            </a:r>
            <a:endParaRPr lang="zh-CN" altLang="zh-CN" sz="2000" dirty="0"/>
          </a:p>
          <a:p>
            <a:pPr marL="0" indent="0">
              <a:buNone/>
            </a:pPr>
            <a:r>
              <a:rPr lang="en-US" altLang="zh-CN" sz="2000" dirty="0"/>
              <a:t>        (SELECT </a:t>
            </a:r>
            <a:r>
              <a:rPr lang="en-US" altLang="zh-CN" sz="2000" dirty="0" err="1"/>
              <a:t>PNo</a:t>
            </a:r>
            <a:endParaRPr lang="zh-CN" altLang="zh-CN" sz="2000" dirty="0"/>
          </a:p>
          <a:p>
            <a:pPr marL="0" indent="0">
              <a:buNone/>
            </a:pPr>
            <a:r>
              <a:rPr lang="en-US" altLang="zh-CN" sz="2000" dirty="0"/>
              <a:t>         FROM Press</a:t>
            </a:r>
            <a:endParaRPr lang="zh-CN" altLang="zh-CN" sz="2000" dirty="0"/>
          </a:p>
          <a:p>
            <a:pPr marL="0" indent="0">
              <a:buNone/>
            </a:pPr>
            <a:r>
              <a:rPr lang="en-US" altLang="zh-CN" sz="2000" dirty="0"/>
              <a:t>         WHERE </a:t>
            </a:r>
            <a:r>
              <a:rPr lang="en-US" altLang="zh-CN" sz="2000" dirty="0" err="1"/>
              <a:t>PName</a:t>
            </a:r>
            <a:r>
              <a:rPr lang="en-US" altLang="zh-CN" sz="2000" dirty="0"/>
              <a:t>='</a:t>
            </a:r>
            <a:r>
              <a:rPr lang="zh-CN" altLang="zh-CN" sz="2000" dirty="0"/>
              <a:t>浙江工商大学出版社</a:t>
            </a:r>
            <a:r>
              <a:rPr lang="en-US" altLang="zh-CN" sz="2000" dirty="0"/>
              <a:t>')</a:t>
            </a:r>
            <a:endParaRPr lang="zh-CN" altLang="zh-CN" sz="2000" dirty="0"/>
          </a:p>
        </p:txBody>
      </p:sp>
      <p:sp>
        <p:nvSpPr>
          <p:cNvPr id="4" name="日期占位符 3"/>
          <p:cNvSpPr>
            <a:spLocks noGrp="1"/>
          </p:cNvSpPr>
          <p:nvPr>
            <p:ph type="dt" sz="half" idx="10"/>
          </p:nvPr>
        </p:nvSpPr>
        <p:spPr/>
        <p:txBody>
          <a:bodyPr/>
          <a:lstStyle/>
          <a:p>
            <a:fld id="{7E654EEB-0383-6C4E-B9ED-20F4DE5C10E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28</a:t>
            </a:fld>
            <a:endParaRPr lang="zh-CN" altLang="en-US" dirty="0"/>
          </a:p>
        </p:txBody>
      </p:sp>
    </p:spTree>
    <p:extLst>
      <p:ext uri="{BB962C8B-B14F-4D97-AF65-F5344CB8AC3E}">
        <p14:creationId xmlns:p14="http://schemas.microsoft.com/office/powerpoint/2010/main" val="1471569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504056"/>
          </a:xfrm>
        </p:spPr>
        <p:txBody>
          <a:bodyPr>
            <a:normAutofit fontScale="90000"/>
          </a:bodyPr>
          <a:lstStyle/>
          <a:p>
            <a:r>
              <a:rPr lang="en-US" altLang="zh-CN" dirty="0"/>
              <a:t>3</a:t>
            </a:r>
            <a:r>
              <a:rPr lang="zh-CN" altLang="zh-CN" dirty="0"/>
              <a:t>．删除表（结构</a:t>
            </a:r>
            <a:r>
              <a:rPr lang="en-US" altLang="zh-CN" dirty="0"/>
              <a:t>+</a:t>
            </a:r>
            <a:r>
              <a:rPr lang="zh-CN" altLang="zh-CN" dirty="0"/>
              <a:t>记录）</a:t>
            </a:r>
            <a:endParaRPr lang="zh-CN" altLang="en-US" i="0" u="none" strike="noStrike" kern="2200" baseline="0" dirty="0"/>
          </a:p>
        </p:txBody>
      </p:sp>
      <p:sp>
        <p:nvSpPr>
          <p:cNvPr id="3" name="文本占位符 2"/>
          <p:cNvSpPr>
            <a:spLocks noGrp="1"/>
          </p:cNvSpPr>
          <p:nvPr>
            <p:ph type="body" idx="1"/>
          </p:nvPr>
        </p:nvSpPr>
        <p:spPr>
          <a:xfrm>
            <a:off x="179512" y="692696"/>
            <a:ext cx="8784976" cy="5688632"/>
          </a:xfrm>
        </p:spPr>
        <p:txBody>
          <a:bodyPr>
            <a:noAutofit/>
          </a:bodyPr>
          <a:lstStyle/>
          <a:p>
            <a:r>
              <a:rPr lang="zh-CN" altLang="zh-CN" sz="2000" dirty="0"/>
              <a:t>删除表的语法：</a:t>
            </a:r>
          </a:p>
          <a:p>
            <a:pPr marL="801688" indent="0">
              <a:buNone/>
            </a:pPr>
            <a:r>
              <a:rPr lang="en-US" altLang="zh-CN" sz="2000" dirty="0">
                <a:solidFill>
                  <a:srgbClr val="0000FF"/>
                </a:solidFill>
              </a:rPr>
              <a:t>DROP TABLE &lt;</a:t>
            </a:r>
            <a:r>
              <a:rPr lang="zh-CN" altLang="zh-CN" sz="2000" dirty="0">
                <a:solidFill>
                  <a:srgbClr val="0000FF"/>
                </a:solidFill>
              </a:rPr>
              <a:t>表名</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表名</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a:t>
            </a:r>
            <a:endParaRPr lang="zh-CN" altLang="zh-CN" sz="2000" dirty="0">
              <a:solidFill>
                <a:srgbClr val="0000FF"/>
              </a:solidFill>
            </a:endParaRPr>
          </a:p>
          <a:p>
            <a:r>
              <a:rPr lang="zh-CN" altLang="zh-CN" sz="2000" dirty="0"/>
              <a:t>例如：删除</a:t>
            </a:r>
            <a:r>
              <a:rPr lang="en-US" altLang="zh-CN" sz="2000" dirty="0" err="1"/>
              <a:t>Press,Book,Cust</a:t>
            </a:r>
            <a:r>
              <a:rPr lang="zh-CN" altLang="zh-CN" sz="2000" dirty="0"/>
              <a:t>和</a:t>
            </a:r>
            <a:r>
              <a:rPr lang="en-US" altLang="zh-CN" sz="2000" dirty="0"/>
              <a:t>Buy</a:t>
            </a:r>
            <a:r>
              <a:rPr lang="zh-CN" altLang="zh-CN" sz="2000" dirty="0"/>
              <a:t>。</a:t>
            </a:r>
          </a:p>
          <a:p>
            <a:pPr marL="801688" indent="0">
              <a:buNone/>
            </a:pPr>
            <a:r>
              <a:rPr lang="en-US" altLang="zh-CN" sz="2000" dirty="0"/>
              <a:t>DROP TABLE </a:t>
            </a:r>
            <a:r>
              <a:rPr lang="en-US" altLang="zh-CN" sz="2000" dirty="0" err="1"/>
              <a:t>Buy,Book,Press,Cust</a:t>
            </a:r>
            <a:endParaRPr lang="zh-CN" altLang="zh-CN" sz="2000" dirty="0"/>
          </a:p>
          <a:p>
            <a:r>
              <a:rPr lang="zh-CN" altLang="zh-CN" sz="2000" dirty="0"/>
              <a:t>思考：</a:t>
            </a:r>
            <a:r>
              <a:rPr lang="en-US" altLang="zh-CN" sz="2000" dirty="0"/>
              <a:t>DROP TABLE </a:t>
            </a:r>
            <a:r>
              <a:rPr lang="en-US" altLang="zh-CN" sz="2000" dirty="0" err="1"/>
              <a:t>Press,Book,Cust,Buy</a:t>
            </a:r>
            <a:r>
              <a:rPr lang="zh-CN" altLang="zh-CN" sz="2000" dirty="0"/>
              <a:t>是否正确？</a:t>
            </a:r>
          </a:p>
          <a:p>
            <a:r>
              <a:rPr lang="zh-CN" altLang="zh-CN" sz="2000" dirty="0"/>
              <a:t>提示：在删除表时，会同时删除表的结构和记录。</a:t>
            </a:r>
          </a:p>
          <a:p>
            <a:r>
              <a:rPr lang="zh-CN" altLang="zh-CN" sz="2000" dirty="0"/>
              <a:t>思考：使用对象资源管理器创建上述表，然后进行相应的删除操作。</a:t>
            </a:r>
          </a:p>
        </p:txBody>
      </p:sp>
      <p:sp>
        <p:nvSpPr>
          <p:cNvPr id="4" name="日期占位符 3"/>
          <p:cNvSpPr>
            <a:spLocks noGrp="1"/>
          </p:cNvSpPr>
          <p:nvPr>
            <p:ph type="dt" sz="half" idx="10"/>
          </p:nvPr>
        </p:nvSpPr>
        <p:spPr/>
        <p:txBody>
          <a:bodyPr/>
          <a:lstStyle/>
          <a:p>
            <a:fld id="{760EDD61-987A-634B-8C77-FA5236955633}"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29</a:t>
            </a:fld>
            <a:endParaRPr lang="zh-CN" altLang="en-US" dirty="0"/>
          </a:p>
        </p:txBody>
      </p:sp>
    </p:spTree>
    <p:extLst>
      <p:ext uri="{BB962C8B-B14F-4D97-AF65-F5344CB8AC3E}">
        <p14:creationId xmlns:p14="http://schemas.microsoft.com/office/powerpoint/2010/main" val="1905126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634082"/>
          </a:xfrm>
        </p:spPr>
        <p:txBody>
          <a:bodyPr>
            <a:normAutofit fontScale="90000"/>
          </a:bodyPr>
          <a:lstStyle/>
          <a:p>
            <a:r>
              <a:rPr lang="en-US" altLang="zh-CN" dirty="0"/>
              <a:t>4.3 </a:t>
            </a:r>
            <a:r>
              <a:rPr lang="zh-CN" altLang="zh-CN" dirty="0"/>
              <a:t>数据查询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764704"/>
            <a:ext cx="8784976" cy="5688632"/>
          </a:xfrm>
        </p:spPr>
        <p:txBody>
          <a:bodyPr>
            <a:noAutofit/>
          </a:bodyPr>
          <a:lstStyle/>
          <a:p>
            <a:pPr marL="0" indent="0">
              <a:buNone/>
            </a:pPr>
            <a:r>
              <a:rPr lang="en-US" altLang="zh-CN" sz="2000" dirty="0">
                <a:solidFill>
                  <a:srgbClr val="0000FF"/>
                </a:solidFill>
              </a:rPr>
              <a:t>SELECT [ALL|DISTINCT|*] &lt;</a:t>
            </a:r>
            <a:r>
              <a:rPr lang="zh-CN" altLang="zh-CN" sz="2000" dirty="0">
                <a:solidFill>
                  <a:srgbClr val="0000FF"/>
                </a:solidFill>
              </a:rPr>
              <a:t>表达式</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表达式</a:t>
            </a:r>
            <a:r>
              <a:rPr lang="en-US" altLang="zh-CN" sz="2000" dirty="0">
                <a:solidFill>
                  <a:srgbClr val="0000FF"/>
                </a:solidFill>
              </a:rPr>
              <a:t>&gt;] …</a:t>
            </a:r>
            <a:endParaRPr lang="zh-CN" altLang="zh-CN" sz="2000" dirty="0">
              <a:solidFill>
                <a:srgbClr val="0000FF"/>
              </a:solidFill>
            </a:endParaRPr>
          </a:p>
          <a:p>
            <a:pPr marL="0" indent="0">
              <a:buNone/>
            </a:pPr>
            <a:r>
              <a:rPr lang="en-US" altLang="zh-CN" sz="2000" dirty="0">
                <a:solidFill>
                  <a:srgbClr val="0000FF"/>
                </a:solidFill>
              </a:rPr>
              <a:t>    FROM &lt;</a:t>
            </a:r>
            <a:r>
              <a:rPr lang="zh-CN" altLang="zh-CN" sz="2000" dirty="0">
                <a:solidFill>
                  <a:srgbClr val="0000FF"/>
                </a:solidFill>
              </a:rPr>
              <a:t>表名或视图名</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表名或视图名</a:t>
            </a:r>
            <a:r>
              <a:rPr lang="en-US" altLang="zh-CN" sz="2000" dirty="0">
                <a:solidFill>
                  <a:srgbClr val="0000FF"/>
                </a:solidFill>
              </a:rPr>
              <a:t>&gt; ] …</a:t>
            </a:r>
            <a:endParaRPr lang="zh-CN" altLang="zh-CN" sz="2000" dirty="0">
              <a:solidFill>
                <a:srgbClr val="0000FF"/>
              </a:solidFill>
            </a:endParaRPr>
          </a:p>
          <a:p>
            <a:pPr marL="0" indent="0">
              <a:buNone/>
            </a:pPr>
            <a:r>
              <a:rPr lang="en-US" altLang="zh-CN" sz="2000" dirty="0">
                <a:solidFill>
                  <a:srgbClr val="0000FF"/>
                </a:solidFill>
              </a:rPr>
              <a:t>    [ WHERE &lt;</a:t>
            </a:r>
            <a:r>
              <a:rPr lang="zh-CN" altLang="zh-CN" sz="2000" dirty="0">
                <a:solidFill>
                  <a:srgbClr val="0000FF"/>
                </a:solidFill>
              </a:rPr>
              <a:t>条件表达式</a:t>
            </a:r>
            <a:r>
              <a:rPr lang="en-US" altLang="zh-CN" sz="2000" dirty="0">
                <a:solidFill>
                  <a:srgbClr val="0000FF"/>
                </a:solidFill>
              </a:rPr>
              <a:t>&gt; ]</a:t>
            </a:r>
            <a:endParaRPr lang="zh-CN" altLang="zh-CN" sz="2000" dirty="0">
              <a:solidFill>
                <a:srgbClr val="0000FF"/>
              </a:solidFill>
            </a:endParaRPr>
          </a:p>
          <a:p>
            <a:pPr marL="0" indent="0">
              <a:buNone/>
            </a:pPr>
            <a:r>
              <a:rPr lang="en-US" altLang="zh-CN" sz="2000" dirty="0">
                <a:solidFill>
                  <a:srgbClr val="0000FF"/>
                </a:solidFill>
              </a:rPr>
              <a:t>    [ GROUP BY &lt;</a:t>
            </a:r>
            <a:r>
              <a:rPr lang="zh-CN" altLang="zh-CN" sz="2000" dirty="0">
                <a:solidFill>
                  <a:srgbClr val="0000FF"/>
                </a:solidFill>
              </a:rPr>
              <a:t>属性名</a:t>
            </a:r>
            <a:r>
              <a:rPr lang="en-US" altLang="zh-CN" sz="2000" dirty="0">
                <a:solidFill>
                  <a:srgbClr val="0000FF"/>
                </a:solidFill>
              </a:rPr>
              <a:t>&gt; [ HAVING &lt;</a:t>
            </a:r>
            <a:r>
              <a:rPr lang="zh-CN" altLang="zh-CN" sz="2000" dirty="0">
                <a:solidFill>
                  <a:srgbClr val="0000FF"/>
                </a:solidFill>
              </a:rPr>
              <a:t>条件表达式</a:t>
            </a:r>
            <a:r>
              <a:rPr lang="en-US" altLang="zh-CN" sz="2000" dirty="0">
                <a:solidFill>
                  <a:srgbClr val="0000FF"/>
                </a:solidFill>
              </a:rPr>
              <a:t>&gt; ] ]</a:t>
            </a:r>
            <a:endParaRPr lang="zh-CN" altLang="zh-CN" sz="2000" dirty="0">
              <a:solidFill>
                <a:srgbClr val="0000FF"/>
              </a:solidFill>
            </a:endParaRPr>
          </a:p>
          <a:p>
            <a:pPr marL="0" indent="0">
              <a:buNone/>
            </a:pPr>
            <a:r>
              <a:rPr lang="en-US" altLang="zh-CN" sz="2000" dirty="0">
                <a:solidFill>
                  <a:srgbClr val="0000FF"/>
                </a:solidFill>
              </a:rPr>
              <a:t>    [ ORDER BY &lt;</a:t>
            </a:r>
            <a:r>
              <a:rPr lang="zh-CN" altLang="zh-CN" sz="2000" dirty="0">
                <a:solidFill>
                  <a:srgbClr val="0000FF"/>
                </a:solidFill>
              </a:rPr>
              <a:t>属性名</a:t>
            </a:r>
            <a:r>
              <a:rPr lang="en-US" altLang="zh-CN" sz="2000" dirty="0">
                <a:solidFill>
                  <a:srgbClr val="0000FF"/>
                </a:solidFill>
              </a:rPr>
              <a:t>&gt; [ ASC|DESC ] ] </a:t>
            </a:r>
            <a:endParaRPr lang="zh-CN" altLang="zh-CN" sz="2000" dirty="0">
              <a:solidFill>
                <a:srgbClr val="0000FF"/>
              </a:solidFill>
            </a:endParaRPr>
          </a:p>
          <a:p>
            <a:pPr>
              <a:lnSpc>
                <a:spcPts val="2600"/>
              </a:lnSpc>
            </a:pPr>
            <a:r>
              <a:rPr lang="zh-CN" altLang="zh-CN" sz="1800" dirty="0"/>
              <a:t>其中：</a:t>
            </a:r>
            <a:r>
              <a:rPr lang="en-US" altLang="zh-CN" sz="1800" dirty="0"/>
              <a:t>SELECT</a:t>
            </a:r>
            <a:r>
              <a:rPr lang="zh-CN" altLang="zh-CN" sz="1800" dirty="0"/>
              <a:t>和</a:t>
            </a:r>
            <a:r>
              <a:rPr lang="en-US" altLang="zh-CN" sz="1800" dirty="0"/>
              <a:t>FROM</a:t>
            </a:r>
            <a:r>
              <a:rPr lang="zh-CN" altLang="zh-CN" sz="1800" dirty="0"/>
              <a:t>必选，其它可选。</a:t>
            </a:r>
          </a:p>
          <a:p>
            <a:pPr>
              <a:lnSpc>
                <a:spcPts val="2600"/>
              </a:lnSpc>
            </a:pPr>
            <a:r>
              <a:rPr lang="en-US" altLang="zh-CN" sz="1800" dirty="0">
                <a:solidFill>
                  <a:srgbClr val="0000FF"/>
                </a:solidFill>
              </a:rPr>
              <a:t>SELECT</a:t>
            </a:r>
            <a:r>
              <a:rPr lang="zh-CN" altLang="zh-CN" sz="1800" dirty="0"/>
              <a:t>（投影）：显示的数据列；</a:t>
            </a:r>
            <a:r>
              <a:rPr lang="en-US" altLang="zh-CN" sz="1800" dirty="0"/>
              <a:t>All</a:t>
            </a:r>
            <a:r>
              <a:rPr lang="zh-CN" altLang="zh-CN" sz="1800" dirty="0"/>
              <a:t>表示所有行；</a:t>
            </a:r>
            <a:r>
              <a:rPr lang="en-US" altLang="zh-CN" sz="1800" dirty="0"/>
              <a:t>*</a:t>
            </a:r>
            <a:r>
              <a:rPr lang="zh-CN" altLang="zh-CN" sz="1800" dirty="0"/>
              <a:t>表示所有列；</a:t>
            </a:r>
            <a:r>
              <a:rPr lang="en-US" altLang="zh-CN" sz="1800" dirty="0"/>
              <a:t>DISTINCT</a:t>
            </a:r>
            <a:r>
              <a:rPr lang="zh-CN" altLang="zh-CN" sz="1800" dirty="0"/>
              <a:t>表示去掉重复行。</a:t>
            </a:r>
          </a:p>
          <a:p>
            <a:pPr>
              <a:lnSpc>
                <a:spcPts val="2600"/>
              </a:lnSpc>
            </a:pPr>
            <a:r>
              <a:rPr lang="en-US" altLang="zh-CN" sz="1800" dirty="0">
                <a:solidFill>
                  <a:srgbClr val="0000FF"/>
                </a:solidFill>
              </a:rPr>
              <a:t>FROM</a:t>
            </a:r>
            <a:r>
              <a:rPr lang="zh-CN" altLang="zh-CN" sz="1800" dirty="0"/>
              <a:t>（连接）：查询对象（表或视图）。</a:t>
            </a:r>
          </a:p>
          <a:p>
            <a:pPr>
              <a:lnSpc>
                <a:spcPts val="2600"/>
              </a:lnSpc>
            </a:pPr>
            <a:r>
              <a:rPr lang="en-US" altLang="zh-CN" sz="1800" dirty="0">
                <a:solidFill>
                  <a:srgbClr val="0000FF"/>
                </a:solidFill>
              </a:rPr>
              <a:t>WHERE</a:t>
            </a:r>
            <a:r>
              <a:rPr lang="zh-CN" altLang="zh-CN" sz="1800" dirty="0"/>
              <a:t>（条件）：查询条件；省略</a:t>
            </a:r>
            <a:r>
              <a:rPr lang="en-US" altLang="zh-CN" sz="1800" dirty="0"/>
              <a:t>WHERE</a:t>
            </a:r>
            <a:r>
              <a:rPr lang="zh-CN" altLang="zh-CN" sz="1800" dirty="0"/>
              <a:t>条件时，查询所有行。</a:t>
            </a:r>
          </a:p>
          <a:p>
            <a:pPr>
              <a:lnSpc>
                <a:spcPts val="2600"/>
              </a:lnSpc>
            </a:pPr>
            <a:r>
              <a:rPr lang="en-US" altLang="zh-CN" sz="1800" dirty="0">
                <a:solidFill>
                  <a:srgbClr val="0000FF"/>
                </a:solidFill>
              </a:rPr>
              <a:t>GROUP BY</a:t>
            </a:r>
            <a:r>
              <a:rPr lang="zh-CN" altLang="zh-CN" sz="1800" dirty="0"/>
              <a:t>（分组）：对查询结果按指定列的值分组，该列的值相等的行为一个组。通常会在每组中作用聚集函数，即实现分类统计。</a:t>
            </a:r>
          </a:p>
          <a:p>
            <a:pPr>
              <a:lnSpc>
                <a:spcPts val="2600"/>
              </a:lnSpc>
            </a:pPr>
            <a:r>
              <a:rPr lang="en-US" altLang="zh-CN" sz="1800" dirty="0">
                <a:solidFill>
                  <a:srgbClr val="0000FF"/>
                </a:solidFill>
              </a:rPr>
              <a:t>HAVING</a:t>
            </a:r>
            <a:r>
              <a:rPr lang="zh-CN" altLang="zh-CN" sz="1800" dirty="0"/>
              <a:t>（筛选分组，隶属于分组）：筛选出满足指定条件的分组。</a:t>
            </a:r>
          </a:p>
          <a:p>
            <a:pPr>
              <a:lnSpc>
                <a:spcPts val="2600"/>
              </a:lnSpc>
            </a:pPr>
            <a:r>
              <a:rPr lang="en-US" altLang="zh-CN" sz="1800" dirty="0">
                <a:solidFill>
                  <a:srgbClr val="0000FF"/>
                </a:solidFill>
              </a:rPr>
              <a:t>ORDER BY</a:t>
            </a:r>
            <a:r>
              <a:rPr lang="zh-CN" altLang="zh-CN" sz="1800" dirty="0"/>
              <a:t>（排序）：对查询结果按照指定列值进行升序（</a:t>
            </a:r>
            <a:r>
              <a:rPr lang="en-US" altLang="zh-CN" sz="1800" dirty="0"/>
              <a:t>ASC</a:t>
            </a:r>
            <a:r>
              <a:rPr lang="zh-CN" altLang="zh-CN" sz="1800" dirty="0"/>
              <a:t>）或降序排序（</a:t>
            </a:r>
            <a:r>
              <a:rPr lang="en-US" altLang="zh-CN" sz="1800" dirty="0"/>
              <a:t>DESC</a:t>
            </a:r>
            <a:r>
              <a:rPr lang="zh-CN" altLang="zh-CN" sz="1800" dirty="0"/>
              <a:t>），默认升序。</a:t>
            </a:r>
          </a:p>
          <a:p>
            <a:endParaRPr lang="zh-CN" altLang="zh-CN" sz="2000" dirty="0">
              <a:solidFill>
                <a:srgbClr val="0000FF"/>
              </a:solidFill>
            </a:endParaRPr>
          </a:p>
        </p:txBody>
      </p:sp>
      <p:sp>
        <p:nvSpPr>
          <p:cNvPr id="4" name="日期占位符 3"/>
          <p:cNvSpPr>
            <a:spLocks noGrp="1"/>
          </p:cNvSpPr>
          <p:nvPr>
            <p:ph type="dt" sz="half" idx="10"/>
          </p:nvPr>
        </p:nvSpPr>
        <p:spPr/>
        <p:txBody>
          <a:bodyPr/>
          <a:lstStyle/>
          <a:p>
            <a:fld id="{DD09F280-40A8-FB4B-B9DF-060EFE82835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30</a:t>
            </a:fld>
            <a:endParaRPr lang="zh-CN" altLang="en-US" dirty="0"/>
          </a:p>
        </p:txBody>
      </p:sp>
    </p:spTree>
    <p:extLst>
      <p:ext uri="{BB962C8B-B14F-4D97-AF65-F5344CB8AC3E}">
        <p14:creationId xmlns:p14="http://schemas.microsoft.com/office/powerpoint/2010/main" val="2030779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634082"/>
          </a:xfrm>
        </p:spPr>
        <p:txBody>
          <a:bodyPr>
            <a:normAutofit fontScale="90000"/>
          </a:bodyPr>
          <a:lstStyle/>
          <a:p>
            <a:r>
              <a:rPr lang="en-US" altLang="zh-CN" dirty="0"/>
              <a:t>4.3 </a:t>
            </a:r>
            <a:r>
              <a:rPr lang="zh-CN" altLang="zh-CN" dirty="0"/>
              <a:t>数据查询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764704"/>
            <a:ext cx="8784976" cy="5688632"/>
          </a:xfrm>
        </p:spPr>
        <p:txBody>
          <a:bodyPr>
            <a:noAutofit/>
          </a:bodyPr>
          <a:lstStyle/>
          <a:p>
            <a:r>
              <a:rPr lang="en-US" altLang="zh-CN" sz="2000" dirty="0">
                <a:solidFill>
                  <a:srgbClr val="0000FF"/>
                </a:solidFill>
              </a:rPr>
              <a:t>&lt;</a:t>
            </a:r>
            <a:r>
              <a:rPr lang="zh-CN" altLang="zh-CN" sz="2000" dirty="0">
                <a:solidFill>
                  <a:srgbClr val="0000FF"/>
                </a:solidFill>
              </a:rPr>
              <a:t>表达式</a:t>
            </a:r>
            <a:r>
              <a:rPr lang="en-US" altLang="zh-CN" sz="2000" dirty="0">
                <a:solidFill>
                  <a:srgbClr val="0000FF"/>
                </a:solidFill>
              </a:rPr>
              <a:t>&gt;</a:t>
            </a:r>
            <a:r>
              <a:rPr lang="zh-CN" altLang="zh-CN" sz="2000" dirty="0"/>
              <a:t>：使用算术运算符（</a:t>
            </a:r>
            <a:r>
              <a:rPr lang="en-US" altLang="zh-CN" sz="2000" dirty="0"/>
              <a:t>+</a:t>
            </a:r>
            <a:r>
              <a:rPr lang="zh-CN" altLang="zh-CN" sz="2000" dirty="0"/>
              <a:t>，</a:t>
            </a:r>
            <a:r>
              <a:rPr lang="en-US" altLang="zh-CN" sz="2000" dirty="0"/>
              <a:t>-</a:t>
            </a:r>
            <a:r>
              <a:rPr lang="zh-CN" altLang="zh-CN" sz="2000" dirty="0"/>
              <a:t>，</a:t>
            </a:r>
            <a:r>
              <a:rPr lang="en-US" altLang="zh-CN" sz="2000" dirty="0"/>
              <a:t>*</a:t>
            </a:r>
            <a:r>
              <a:rPr lang="zh-CN" altLang="zh-CN" sz="2000" dirty="0"/>
              <a:t>，</a:t>
            </a:r>
            <a:r>
              <a:rPr lang="en-US" altLang="zh-CN" sz="2000" dirty="0"/>
              <a:t>/</a:t>
            </a:r>
            <a:r>
              <a:rPr lang="zh-CN" altLang="en-US" sz="2000" dirty="0"/>
              <a:t>，</a:t>
            </a:r>
            <a:r>
              <a:rPr lang="en-US" altLang="zh-CN" sz="2000" dirty="0"/>
              <a:t>Power(</a:t>
            </a:r>
            <a:r>
              <a:rPr lang="en-US" altLang="zh-CN" sz="2000" dirty="0" err="1"/>
              <a:t>x,y</a:t>
            </a:r>
            <a:r>
              <a:rPr lang="en-US" altLang="zh-CN" sz="2000" dirty="0"/>
              <a:t>)</a:t>
            </a:r>
            <a:r>
              <a:rPr lang="zh-CN" altLang="zh-CN" sz="2000" dirty="0"/>
              <a:t>等）、关系运算符（</a:t>
            </a:r>
            <a:r>
              <a:rPr lang="en-US" altLang="zh-CN" sz="2000" dirty="0"/>
              <a:t>&lt;</a:t>
            </a:r>
            <a:r>
              <a:rPr lang="zh-CN" altLang="zh-CN" sz="2000" dirty="0"/>
              <a:t>，</a:t>
            </a:r>
            <a:r>
              <a:rPr lang="en-US" altLang="zh-CN" sz="2000" dirty="0"/>
              <a:t>&lt;=</a:t>
            </a:r>
            <a:r>
              <a:rPr lang="zh-CN" altLang="zh-CN" sz="2000" dirty="0"/>
              <a:t>，</a:t>
            </a:r>
            <a:r>
              <a:rPr lang="en-US" altLang="zh-CN" sz="2000" dirty="0"/>
              <a:t>&gt;=</a:t>
            </a:r>
            <a:r>
              <a:rPr lang="zh-CN" altLang="zh-CN" sz="2000" dirty="0"/>
              <a:t>，</a:t>
            </a:r>
            <a:r>
              <a:rPr lang="en-US" altLang="zh-CN" sz="2000" dirty="0"/>
              <a:t>&gt;</a:t>
            </a:r>
            <a:r>
              <a:rPr lang="zh-CN" altLang="zh-CN" sz="2000" dirty="0"/>
              <a:t>，</a:t>
            </a:r>
            <a:r>
              <a:rPr lang="en-US" altLang="zh-CN" sz="2000" dirty="0"/>
              <a:t>!=</a:t>
            </a:r>
            <a:r>
              <a:rPr lang="zh-CN" altLang="zh-CN" sz="2000" dirty="0"/>
              <a:t>，</a:t>
            </a:r>
            <a:r>
              <a:rPr lang="en-US" altLang="zh-CN" sz="2000" dirty="0"/>
              <a:t>&lt;&gt;</a:t>
            </a:r>
            <a:r>
              <a:rPr lang="zh-CN" altLang="zh-CN" sz="2000" dirty="0"/>
              <a:t>，</a:t>
            </a:r>
            <a:r>
              <a:rPr lang="en-US" altLang="zh-CN" sz="2000" dirty="0"/>
              <a:t>=</a:t>
            </a:r>
            <a:r>
              <a:rPr lang="zh-CN" altLang="zh-CN" sz="2000" dirty="0"/>
              <a:t>，</a:t>
            </a:r>
            <a:r>
              <a:rPr lang="en-US" altLang="zh-CN" sz="2000" dirty="0"/>
              <a:t>!&gt;</a:t>
            </a:r>
            <a:r>
              <a:rPr lang="zh-CN" altLang="zh-CN" sz="2000" dirty="0"/>
              <a:t>，</a:t>
            </a:r>
            <a:r>
              <a:rPr lang="en-US" altLang="zh-CN" sz="2000" dirty="0"/>
              <a:t>!&lt;</a:t>
            </a:r>
            <a:r>
              <a:rPr lang="zh-CN" altLang="zh-CN" sz="2000" dirty="0"/>
              <a:t>等）、逻辑运算符（</a:t>
            </a:r>
            <a:r>
              <a:rPr lang="en-US" altLang="zh-CN" sz="2000" dirty="0"/>
              <a:t>NOT</a:t>
            </a:r>
            <a:r>
              <a:rPr lang="zh-CN" altLang="zh-CN" sz="2000" dirty="0"/>
              <a:t>，</a:t>
            </a:r>
            <a:r>
              <a:rPr lang="en-US" altLang="zh-CN" sz="2000" dirty="0"/>
              <a:t>AND</a:t>
            </a:r>
            <a:r>
              <a:rPr lang="zh-CN" altLang="zh-CN" sz="2000" dirty="0"/>
              <a:t>和</a:t>
            </a:r>
            <a:r>
              <a:rPr lang="en-US" altLang="zh-CN" sz="2000" dirty="0"/>
              <a:t>OR</a:t>
            </a:r>
            <a:r>
              <a:rPr lang="zh-CN" altLang="zh-CN" sz="2000" dirty="0"/>
              <a:t>等）和短语（</a:t>
            </a:r>
            <a:r>
              <a:rPr lang="en-US" altLang="zh-CN" sz="2000" dirty="0"/>
              <a:t>BETWEEN A AND B</a:t>
            </a:r>
            <a:r>
              <a:rPr lang="zh-CN" altLang="zh-CN" sz="2000" dirty="0"/>
              <a:t>，</a:t>
            </a:r>
            <a:r>
              <a:rPr lang="en-US" altLang="zh-CN" sz="2000" dirty="0"/>
              <a:t>NOT BETWEEN A AND B</a:t>
            </a:r>
            <a:r>
              <a:rPr lang="zh-CN" altLang="zh-CN" sz="2000" dirty="0"/>
              <a:t>，</a:t>
            </a:r>
            <a:r>
              <a:rPr lang="en-US" altLang="zh-CN" sz="2000" dirty="0"/>
              <a:t>IN</a:t>
            </a:r>
            <a:r>
              <a:rPr lang="zh-CN" altLang="zh-CN" sz="2000" dirty="0"/>
              <a:t>，</a:t>
            </a:r>
            <a:r>
              <a:rPr lang="en-US" altLang="zh-CN" sz="2000" dirty="0"/>
              <a:t>NOT IN</a:t>
            </a:r>
            <a:r>
              <a:rPr lang="zh-CN" altLang="zh-CN" sz="2000" dirty="0"/>
              <a:t>，</a:t>
            </a:r>
            <a:r>
              <a:rPr lang="en-US" altLang="zh-CN" sz="2000" dirty="0"/>
              <a:t>LIKE</a:t>
            </a:r>
            <a:r>
              <a:rPr lang="zh-CN" altLang="zh-CN" sz="2000" dirty="0"/>
              <a:t>，</a:t>
            </a:r>
            <a:r>
              <a:rPr lang="en-US" altLang="zh-CN" sz="2000" dirty="0"/>
              <a:t>NOT LIKE</a:t>
            </a:r>
            <a:r>
              <a:rPr lang="zh-CN" altLang="zh-CN" sz="2000" dirty="0"/>
              <a:t>，</a:t>
            </a:r>
            <a:r>
              <a:rPr lang="en-US" altLang="zh-CN" sz="2000" dirty="0"/>
              <a:t>IS NULL</a:t>
            </a:r>
            <a:r>
              <a:rPr lang="zh-CN" altLang="zh-CN" sz="2000" dirty="0"/>
              <a:t>，</a:t>
            </a:r>
            <a:r>
              <a:rPr lang="en-US" altLang="zh-CN" sz="2000" dirty="0"/>
              <a:t>IS NOT NULL</a:t>
            </a:r>
            <a:r>
              <a:rPr lang="zh-CN" altLang="zh-CN" sz="2000" dirty="0"/>
              <a:t>），把常量、属性、变量和函数，按照指定的语法规则连接起来的有意义的组合（具体用法与</a:t>
            </a:r>
            <a:r>
              <a:rPr lang="en-US" altLang="zh-CN" sz="2000" dirty="0"/>
              <a:t>C++</a:t>
            </a:r>
            <a:r>
              <a:rPr lang="zh-CN" altLang="zh-CN" sz="2000" dirty="0"/>
              <a:t>和</a:t>
            </a:r>
            <a:r>
              <a:rPr lang="en-US" altLang="zh-CN" sz="2000" dirty="0"/>
              <a:t>Java</a:t>
            </a:r>
            <a:r>
              <a:rPr lang="zh-CN" altLang="zh-CN" sz="2000" dirty="0"/>
              <a:t>的表达式雷同）。</a:t>
            </a:r>
          </a:p>
          <a:p>
            <a:r>
              <a:rPr lang="zh-CN" altLang="zh-CN" sz="2000" dirty="0">
                <a:solidFill>
                  <a:srgbClr val="0000FF"/>
                </a:solidFill>
              </a:rPr>
              <a:t>常量：</a:t>
            </a:r>
            <a:endParaRPr lang="en-US" altLang="zh-CN" sz="2000" dirty="0">
              <a:solidFill>
                <a:srgbClr val="0000FF"/>
              </a:solidFill>
            </a:endParaRPr>
          </a:p>
          <a:p>
            <a:r>
              <a:rPr lang="zh-CN" altLang="zh-CN" sz="2000" dirty="0"/>
              <a:t>文本→使用英文单引号（例如：</a:t>
            </a:r>
            <a:r>
              <a:rPr lang="en-US" altLang="zh-CN" sz="2000" dirty="0"/>
              <a:t>'C006'</a:t>
            </a:r>
            <a:r>
              <a:rPr lang="zh-CN" altLang="zh-CN" sz="2000" dirty="0"/>
              <a:t>）；</a:t>
            </a:r>
            <a:endParaRPr lang="en-US" altLang="zh-CN" sz="2000" dirty="0"/>
          </a:p>
          <a:p>
            <a:r>
              <a:rPr lang="zh-CN" altLang="zh-CN" sz="2000" dirty="0"/>
              <a:t>日期时间→使用日期格式、时间格式和英文单引号</a:t>
            </a:r>
            <a:endParaRPr lang="en-US" altLang="zh-CN" sz="2000" dirty="0"/>
          </a:p>
          <a:p>
            <a:pPr marL="0" indent="0">
              <a:buNone/>
            </a:pPr>
            <a:r>
              <a:rPr lang="en-US" altLang="zh-CN" sz="2000" dirty="0"/>
              <a:t>    </a:t>
            </a:r>
            <a:r>
              <a:rPr lang="zh-CN" altLang="zh-CN" sz="2000" dirty="0"/>
              <a:t>（例如：</a:t>
            </a:r>
            <a:r>
              <a:rPr lang="en-US" altLang="zh-CN" sz="2000" dirty="0"/>
              <a:t>'2016-6-6','16:10:10','2016-6-6 16:10:10'</a:t>
            </a:r>
            <a:r>
              <a:rPr lang="zh-CN" altLang="zh-CN" sz="2000" dirty="0"/>
              <a:t>）；</a:t>
            </a:r>
            <a:endParaRPr lang="en-US" altLang="zh-CN" sz="2000" dirty="0"/>
          </a:p>
          <a:p>
            <a:r>
              <a:rPr lang="zh-CN" altLang="zh-CN" sz="2000" dirty="0"/>
              <a:t>数值→使用</a:t>
            </a:r>
            <a:r>
              <a:rPr lang="en-US" altLang="zh-CN" sz="2000" dirty="0"/>
              <a:t>+</a:t>
            </a:r>
            <a:r>
              <a:rPr lang="zh-CN" altLang="zh-CN" sz="2000" dirty="0"/>
              <a:t>，</a:t>
            </a:r>
            <a:r>
              <a:rPr lang="en-US" altLang="zh-CN" sz="2000" dirty="0"/>
              <a:t>-</a:t>
            </a:r>
            <a:r>
              <a:rPr lang="zh-CN" altLang="zh-CN" sz="2000" dirty="0"/>
              <a:t>，数字、小数点和</a:t>
            </a:r>
            <a:r>
              <a:rPr lang="en-US" altLang="zh-CN" sz="2000" dirty="0"/>
              <a:t>E</a:t>
            </a:r>
            <a:r>
              <a:rPr lang="zh-CN" altLang="zh-CN" sz="2000" dirty="0"/>
              <a:t>等</a:t>
            </a:r>
            <a:endParaRPr lang="en-US" altLang="zh-CN" sz="2000" dirty="0"/>
          </a:p>
          <a:p>
            <a:pPr marL="0" indent="0">
              <a:buNone/>
            </a:pPr>
            <a:r>
              <a:rPr lang="en-US" altLang="zh-CN" sz="2000" dirty="0"/>
              <a:t>    </a:t>
            </a:r>
            <a:r>
              <a:rPr lang="zh-CN" altLang="zh-CN" sz="2000" dirty="0"/>
              <a:t>（例如：</a:t>
            </a:r>
            <a:r>
              <a:rPr lang="en-US" altLang="zh-CN" sz="2000" dirty="0"/>
              <a:t>60</a:t>
            </a:r>
            <a:r>
              <a:rPr lang="zh-CN" altLang="zh-CN" sz="2000" dirty="0"/>
              <a:t>，</a:t>
            </a:r>
            <a:r>
              <a:rPr lang="en-US" altLang="zh-CN" sz="2000" dirty="0"/>
              <a:t>-10.26</a:t>
            </a:r>
            <a:r>
              <a:rPr lang="zh-CN" altLang="zh-CN" sz="2000" dirty="0"/>
              <a:t>，</a:t>
            </a:r>
            <a:r>
              <a:rPr lang="en-US" altLang="zh-CN" sz="2000" dirty="0"/>
              <a:t>0.2E2</a:t>
            </a:r>
            <a:r>
              <a:rPr lang="zh-CN" altLang="zh-CN" sz="2000" dirty="0"/>
              <a:t>，</a:t>
            </a:r>
            <a:r>
              <a:rPr lang="en-US" altLang="zh-CN" sz="2000" dirty="0"/>
              <a:t>-0.6E-2</a:t>
            </a:r>
            <a:r>
              <a:rPr lang="zh-CN" altLang="zh-CN" sz="2000" dirty="0"/>
              <a:t>）。</a:t>
            </a:r>
            <a:endParaRPr lang="zh-CN" altLang="zh-CN" sz="2000" dirty="0">
              <a:solidFill>
                <a:srgbClr val="0000FF"/>
              </a:solidFill>
            </a:endParaRPr>
          </a:p>
        </p:txBody>
      </p:sp>
      <p:sp>
        <p:nvSpPr>
          <p:cNvPr id="4" name="日期占位符 3"/>
          <p:cNvSpPr>
            <a:spLocks noGrp="1"/>
          </p:cNvSpPr>
          <p:nvPr>
            <p:ph type="dt" sz="half" idx="10"/>
          </p:nvPr>
        </p:nvSpPr>
        <p:spPr/>
        <p:txBody>
          <a:bodyPr/>
          <a:lstStyle/>
          <a:p>
            <a:fld id="{AB603E80-417A-E048-9843-A8995FAF58B7}"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31</a:t>
            </a:fld>
            <a:endParaRPr lang="zh-CN" altLang="en-US" dirty="0"/>
          </a:p>
        </p:txBody>
      </p:sp>
    </p:spTree>
    <p:extLst>
      <p:ext uri="{BB962C8B-B14F-4D97-AF65-F5344CB8AC3E}">
        <p14:creationId xmlns:p14="http://schemas.microsoft.com/office/powerpoint/2010/main" val="1223655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634082"/>
          </a:xfrm>
        </p:spPr>
        <p:txBody>
          <a:bodyPr>
            <a:normAutofit fontScale="90000"/>
          </a:bodyPr>
          <a:lstStyle/>
          <a:p>
            <a:r>
              <a:rPr lang="en-US" altLang="zh-CN" dirty="0"/>
              <a:t>4.3 </a:t>
            </a:r>
            <a:r>
              <a:rPr lang="zh-CN" altLang="zh-CN" dirty="0"/>
              <a:t>数据查询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764704"/>
            <a:ext cx="8784976" cy="648072"/>
          </a:xfrm>
        </p:spPr>
        <p:txBody>
          <a:bodyPr>
            <a:noAutofit/>
          </a:bodyPr>
          <a:lstStyle/>
          <a:p>
            <a:r>
              <a:rPr lang="en-US" altLang="zh-CN" sz="2000" dirty="0">
                <a:solidFill>
                  <a:srgbClr val="0000FF"/>
                </a:solidFill>
              </a:rPr>
              <a:t>SQL Server</a:t>
            </a:r>
            <a:r>
              <a:rPr lang="zh-CN" altLang="zh-CN" sz="2000" dirty="0">
                <a:solidFill>
                  <a:srgbClr val="0000FF"/>
                </a:solidFill>
              </a:rPr>
              <a:t>的运算符和函数</a:t>
            </a:r>
          </a:p>
        </p:txBody>
      </p:sp>
      <p:sp>
        <p:nvSpPr>
          <p:cNvPr id="4" name="日期占位符 3"/>
          <p:cNvSpPr>
            <a:spLocks noGrp="1"/>
          </p:cNvSpPr>
          <p:nvPr>
            <p:ph type="dt" sz="half" idx="10"/>
          </p:nvPr>
        </p:nvSpPr>
        <p:spPr/>
        <p:txBody>
          <a:bodyPr/>
          <a:lstStyle/>
          <a:p>
            <a:fld id="{D7C61AA3-5E37-B446-B7A5-7E22EA9A68B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32</a:t>
            </a:fld>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798526504"/>
              </p:ext>
            </p:extLst>
          </p:nvPr>
        </p:nvGraphicFramePr>
        <p:xfrm>
          <a:off x="107504" y="1772814"/>
          <a:ext cx="8856985" cy="3672409"/>
        </p:xfrm>
        <a:graphic>
          <a:graphicData uri="http://schemas.openxmlformats.org/drawingml/2006/table">
            <a:tbl>
              <a:tblPr>
                <a:tableStyleId>{5C22544A-7EE6-4342-B048-85BDC9FD1C3A}</a:tableStyleId>
              </a:tblPr>
              <a:tblGrid>
                <a:gridCol w="1224136">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gridCol w="3240361">
                  <a:extLst>
                    <a:ext uri="{9D8B030D-6E8A-4147-A177-3AD203B41FA5}">
                      <a16:colId xmlns:a16="http://schemas.microsoft.com/office/drawing/2014/main" val="20002"/>
                    </a:ext>
                  </a:extLst>
                </a:gridCol>
              </a:tblGrid>
              <a:tr h="351842">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名称</a:t>
                      </a:r>
                    </a:p>
                  </a:txBody>
                  <a:tcPr marL="68580" marR="68580" marT="0" marB="0" anchor="ctr"/>
                </a:tc>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运算符</a:t>
                      </a:r>
                    </a:p>
                  </a:txBody>
                  <a:tcPr marL="68580" marR="68580" marT="0" marB="0" anchor="ctr"/>
                </a:tc>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注释</a:t>
                      </a:r>
                    </a:p>
                  </a:txBody>
                  <a:tcPr marL="68580" marR="68580" marT="0" marB="0" anchor="ctr"/>
                </a:tc>
                <a:extLst>
                  <a:ext uri="{0D108BD9-81ED-4DB2-BD59-A6C34878D82A}">
                    <a16:rowId xmlns:a16="http://schemas.microsoft.com/office/drawing/2014/main" val="10000"/>
                  </a:ext>
                </a:extLst>
              </a:tr>
              <a:tr h="358466">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比较运算</a:t>
                      </a:r>
                    </a:p>
                  </a:txBody>
                  <a:tcPr marL="68580" marR="68580" marT="0" marB="0"/>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 &lt;, &gt;, &gt;=, &lt;=, !=, &lt;&gt;, !&gt;, !&lt;</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marL="0" indent="0" algn="just">
                        <a:lnSpc>
                          <a:spcPts val="2000"/>
                        </a:lnSpc>
                        <a:spcAft>
                          <a:spcPts val="0"/>
                        </a:spcAft>
                      </a:pPr>
                      <a:r>
                        <a:rPr lang="zh-CN" sz="1800" dirty="0">
                          <a:solidFill>
                            <a:srgbClr val="0000FF"/>
                          </a:solidFill>
                          <a:effectLst/>
                          <a:latin typeface="微软雅黑" pitchFamily="34" charset="-122"/>
                          <a:ea typeface="微软雅黑" pitchFamily="34" charset="-122"/>
                        </a:rPr>
                        <a:t>等于、小于、大于、…</a:t>
                      </a:r>
                    </a:p>
                  </a:txBody>
                  <a:tcPr marL="68580" marR="68580" marT="0" marB="0" anchor="ctr"/>
                </a:tc>
                <a:extLst>
                  <a:ext uri="{0D108BD9-81ED-4DB2-BD59-A6C34878D82A}">
                    <a16:rowId xmlns:a16="http://schemas.microsoft.com/office/drawing/2014/main" val="10001"/>
                  </a:ext>
                </a:extLst>
              </a:tr>
              <a:tr h="355982">
                <a:tc rowSpan="4">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谓词</a:t>
                      </a:r>
                    </a:p>
                  </a:txBody>
                  <a:tcPr marL="68580" marR="68580" marT="0" marB="0" anchor="ctr"/>
                </a:tc>
                <a:tc>
                  <a:txBody>
                    <a:bodyPr/>
                    <a:lstStyle/>
                    <a:p>
                      <a:pPr marL="0" indent="0" algn="just">
                        <a:lnSpc>
                          <a:spcPts val="2000"/>
                        </a:lnSpc>
                        <a:spcAft>
                          <a:spcPts val="0"/>
                        </a:spcAft>
                      </a:pPr>
                      <a:r>
                        <a:rPr lang="en-US" sz="1800" dirty="0">
                          <a:solidFill>
                            <a:srgbClr val="0000FF"/>
                          </a:solidFill>
                          <a:effectLst/>
                          <a:latin typeface="微软雅黑" pitchFamily="34" charset="-122"/>
                          <a:ea typeface="微软雅黑" pitchFamily="34" charset="-122"/>
                        </a:rPr>
                        <a:t>BETWEEN AND</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 NOT BETWEEN AND</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marL="0" indent="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介于两者之间，介于两者之外</a:t>
                      </a:r>
                    </a:p>
                  </a:txBody>
                  <a:tcPr marL="68580" marR="68580" marT="0" marB="0" anchor="ctr"/>
                </a:tc>
                <a:extLst>
                  <a:ext uri="{0D108BD9-81ED-4DB2-BD59-A6C34878D82A}">
                    <a16:rowId xmlns:a16="http://schemas.microsoft.com/office/drawing/2014/main" val="10002"/>
                  </a:ext>
                </a:extLst>
              </a:tr>
              <a:tr h="355982">
                <a:tc vMerge="1">
                  <a:txBody>
                    <a:bodyPr/>
                    <a:lstStyle/>
                    <a:p>
                      <a:endParaRPr lang="zh-CN" altLang="en-US"/>
                    </a:p>
                  </a:txBody>
                  <a:tcPr/>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IN</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NOT  IN</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25400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在其中，不在其中</a:t>
                      </a:r>
                    </a:p>
                  </a:txBody>
                  <a:tcPr marL="68580" marR="68580" marT="0" marB="0" anchor="ctr"/>
                </a:tc>
                <a:extLst>
                  <a:ext uri="{0D108BD9-81ED-4DB2-BD59-A6C34878D82A}">
                    <a16:rowId xmlns:a16="http://schemas.microsoft.com/office/drawing/2014/main" val="10003"/>
                  </a:ext>
                </a:extLst>
              </a:tr>
              <a:tr h="355982">
                <a:tc vMerge="1">
                  <a:txBody>
                    <a:bodyPr/>
                    <a:lstStyle/>
                    <a:p>
                      <a:endParaRPr lang="zh-CN" altLang="en-US"/>
                    </a:p>
                  </a:txBody>
                  <a:tcPr/>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LIKE</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NOT LIKE</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[ABC]</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[^ABC]</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25400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匹配、不匹配</a:t>
                      </a:r>
                    </a:p>
                  </a:txBody>
                  <a:tcPr marL="68580" marR="68580" marT="0" marB="0" anchor="ctr"/>
                </a:tc>
                <a:extLst>
                  <a:ext uri="{0D108BD9-81ED-4DB2-BD59-A6C34878D82A}">
                    <a16:rowId xmlns:a16="http://schemas.microsoft.com/office/drawing/2014/main" val="10004"/>
                  </a:ext>
                </a:extLst>
              </a:tr>
              <a:tr h="355982">
                <a:tc vMerge="1">
                  <a:txBody>
                    <a:bodyPr/>
                    <a:lstStyle/>
                    <a:p>
                      <a:endParaRPr lang="zh-CN" altLang="en-US"/>
                    </a:p>
                  </a:txBody>
                  <a:tcPr/>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IS NULL</a:t>
                      </a:r>
                      <a:r>
                        <a:rPr lang="zh-CN" sz="1800" dirty="0">
                          <a:solidFill>
                            <a:srgbClr val="0000FF"/>
                          </a:solidFill>
                          <a:effectLst/>
                          <a:latin typeface="微软雅黑" pitchFamily="34" charset="-122"/>
                          <a:ea typeface="微软雅黑" pitchFamily="34" charset="-122"/>
                        </a:rPr>
                        <a:t>，</a:t>
                      </a:r>
                      <a:r>
                        <a:rPr lang="en-US" sz="1800" dirty="0">
                          <a:solidFill>
                            <a:srgbClr val="0000FF"/>
                          </a:solidFill>
                          <a:effectLst/>
                          <a:latin typeface="微软雅黑" pitchFamily="34" charset="-122"/>
                          <a:ea typeface="微软雅黑" pitchFamily="34" charset="-122"/>
                        </a:rPr>
                        <a:t>IS NOT NULL</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25400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是空值，不是空值</a:t>
                      </a:r>
                    </a:p>
                  </a:txBody>
                  <a:tcPr marL="68580" marR="68580" marT="0" marB="0" anchor="ctr"/>
                </a:tc>
                <a:extLst>
                  <a:ext uri="{0D108BD9-81ED-4DB2-BD59-A6C34878D82A}">
                    <a16:rowId xmlns:a16="http://schemas.microsoft.com/office/drawing/2014/main" val="10005"/>
                  </a:ext>
                </a:extLst>
              </a:tr>
              <a:tr h="358466">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逻辑运算</a:t>
                      </a:r>
                    </a:p>
                  </a:txBody>
                  <a:tcPr marL="68580" marR="68580" marT="0" marB="0"/>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NOT, AND, OR</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25400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非，与、或</a:t>
                      </a:r>
                    </a:p>
                  </a:txBody>
                  <a:tcPr marL="68580" marR="68580" marT="0" marB="0" anchor="ctr"/>
                </a:tc>
                <a:extLst>
                  <a:ext uri="{0D108BD9-81ED-4DB2-BD59-A6C34878D82A}">
                    <a16:rowId xmlns:a16="http://schemas.microsoft.com/office/drawing/2014/main" val="10006"/>
                  </a:ext>
                </a:extLst>
              </a:tr>
              <a:tr h="1179707">
                <a:tc>
                  <a:txBody>
                    <a:bodyPr/>
                    <a:lstStyle/>
                    <a:p>
                      <a:pPr marL="0" indent="0" algn="ctr">
                        <a:lnSpc>
                          <a:spcPts val="2000"/>
                        </a:lnSpc>
                        <a:spcAft>
                          <a:spcPts val="0"/>
                        </a:spcAft>
                      </a:pPr>
                      <a:r>
                        <a:rPr lang="zh-CN" sz="1800" dirty="0">
                          <a:solidFill>
                            <a:srgbClr val="0000FF"/>
                          </a:solidFill>
                          <a:effectLst/>
                          <a:latin typeface="微软雅黑" pitchFamily="34" charset="-122"/>
                          <a:ea typeface="微软雅黑" pitchFamily="34" charset="-122"/>
                        </a:rPr>
                        <a:t>集函数</a:t>
                      </a:r>
                    </a:p>
                  </a:txBody>
                  <a:tcPr marL="68580" marR="68580" marT="0" marB="0" anchor="ctr"/>
                </a:tc>
                <a:tc>
                  <a:txBody>
                    <a:bodyPr/>
                    <a:lstStyle/>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COUNT(*), COUNT(</a:t>
                      </a:r>
                      <a:r>
                        <a:rPr lang="zh-CN" sz="1800" dirty="0">
                          <a:solidFill>
                            <a:srgbClr val="0000FF"/>
                          </a:solidFill>
                          <a:effectLst/>
                          <a:latin typeface="微软雅黑" pitchFamily="34" charset="-122"/>
                          <a:ea typeface="微软雅黑" pitchFamily="34" charset="-122"/>
                        </a:rPr>
                        <a:t>列名</a:t>
                      </a:r>
                      <a:r>
                        <a:rPr lang="en-US" sz="1800" dirty="0">
                          <a:solidFill>
                            <a:srgbClr val="0000FF"/>
                          </a:solidFill>
                          <a:effectLst/>
                          <a:latin typeface="微软雅黑" pitchFamily="34" charset="-122"/>
                          <a:ea typeface="微软雅黑" pitchFamily="34" charset="-122"/>
                        </a:rPr>
                        <a:t>), SUM(</a:t>
                      </a:r>
                      <a:r>
                        <a:rPr lang="zh-CN" sz="1800" dirty="0">
                          <a:solidFill>
                            <a:srgbClr val="0000FF"/>
                          </a:solidFill>
                          <a:effectLst/>
                          <a:latin typeface="微软雅黑" pitchFamily="34" charset="-122"/>
                          <a:ea typeface="微软雅黑" pitchFamily="34" charset="-122"/>
                        </a:rPr>
                        <a:t>列名</a:t>
                      </a:r>
                      <a:r>
                        <a:rPr lang="en-US" sz="1800" dirty="0">
                          <a:solidFill>
                            <a:srgbClr val="0000FF"/>
                          </a:solidFill>
                          <a:effectLst/>
                          <a:latin typeface="微软雅黑" pitchFamily="34" charset="-122"/>
                          <a:ea typeface="微软雅黑" pitchFamily="34" charset="-122"/>
                        </a:rPr>
                        <a:t>)</a:t>
                      </a:r>
                      <a:endParaRPr lang="zh-CN" sz="1800" dirty="0">
                        <a:solidFill>
                          <a:srgbClr val="0000FF"/>
                        </a:solidFill>
                        <a:effectLst/>
                        <a:latin typeface="微软雅黑" pitchFamily="34" charset="-122"/>
                        <a:ea typeface="微软雅黑" pitchFamily="34" charset="-122"/>
                      </a:endParaRPr>
                    </a:p>
                    <a:p>
                      <a:pPr indent="254000" algn="just">
                        <a:lnSpc>
                          <a:spcPts val="2000"/>
                        </a:lnSpc>
                        <a:spcAft>
                          <a:spcPts val="0"/>
                        </a:spcAft>
                      </a:pPr>
                      <a:r>
                        <a:rPr lang="en-US" sz="1800" dirty="0">
                          <a:solidFill>
                            <a:srgbClr val="0000FF"/>
                          </a:solidFill>
                          <a:effectLst/>
                          <a:latin typeface="微软雅黑" pitchFamily="34" charset="-122"/>
                          <a:ea typeface="微软雅黑" pitchFamily="34" charset="-122"/>
                        </a:rPr>
                        <a:t>AVG(</a:t>
                      </a:r>
                      <a:r>
                        <a:rPr lang="zh-CN" sz="1800" dirty="0">
                          <a:solidFill>
                            <a:srgbClr val="0000FF"/>
                          </a:solidFill>
                          <a:effectLst/>
                          <a:latin typeface="微软雅黑" pitchFamily="34" charset="-122"/>
                          <a:ea typeface="微软雅黑" pitchFamily="34" charset="-122"/>
                        </a:rPr>
                        <a:t>列名</a:t>
                      </a:r>
                      <a:r>
                        <a:rPr lang="en-US" sz="1800" dirty="0">
                          <a:solidFill>
                            <a:srgbClr val="0000FF"/>
                          </a:solidFill>
                          <a:effectLst/>
                          <a:latin typeface="微软雅黑" pitchFamily="34" charset="-122"/>
                          <a:ea typeface="微软雅黑" pitchFamily="34" charset="-122"/>
                        </a:rPr>
                        <a:t>), MAX(</a:t>
                      </a:r>
                      <a:r>
                        <a:rPr lang="zh-CN" sz="1800" dirty="0">
                          <a:solidFill>
                            <a:srgbClr val="0000FF"/>
                          </a:solidFill>
                          <a:effectLst/>
                          <a:latin typeface="微软雅黑" pitchFamily="34" charset="-122"/>
                          <a:ea typeface="微软雅黑" pitchFamily="34" charset="-122"/>
                        </a:rPr>
                        <a:t>列名</a:t>
                      </a:r>
                      <a:r>
                        <a:rPr lang="en-US" sz="1800" dirty="0">
                          <a:solidFill>
                            <a:srgbClr val="0000FF"/>
                          </a:solidFill>
                          <a:effectLst/>
                          <a:latin typeface="微软雅黑" pitchFamily="34" charset="-122"/>
                          <a:ea typeface="微软雅黑" pitchFamily="34" charset="-122"/>
                        </a:rPr>
                        <a:t>), MIN(</a:t>
                      </a:r>
                      <a:r>
                        <a:rPr lang="zh-CN" sz="1800" dirty="0">
                          <a:solidFill>
                            <a:srgbClr val="0000FF"/>
                          </a:solidFill>
                          <a:effectLst/>
                          <a:latin typeface="微软雅黑" pitchFamily="34" charset="-122"/>
                          <a:ea typeface="微软雅黑" pitchFamily="34" charset="-122"/>
                        </a:rPr>
                        <a:t>列名</a:t>
                      </a:r>
                      <a:r>
                        <a:rPr lang="en-US" sz="1800" dirty="0">
                          <a:solidFill>
                            <a:srgbClr val="0000FF"/>
                          </a:solidFill>
                          <a:effectLst/>
                          <a:latin typeface="微软雅黑" pitchFamily="34" charset="-122"/>
                          <a:ea typeface="微软雅黑" pitchFamily="34" charset="-122"/>
                        </a:rPr>
                        <a:t>)</a:t>
                      </a:r>
                      <a:endParaRPr lang="zh-CN" sz="1800" dirty="0">
                        <a:solidFill>
                          <a:srgbClr val="0000FF"/>
                        </a:solidFill>
                        <a:effectLst/>
                        <a:latin typeface="微软雅黑" pitchFamily="34" charset="-122"/>
                        <a:ea typeface="微软雅黑" pitchFamily="34" charset="-122"/>
                      </a:endParaRPr>
                    </a:p>
                  </a:txBody>
                  <a:tcPr marL="68580" marR="68580" marT="0" marB="0" anchor="ctr"/>
                </a:tc>
                <a:tc>
                  <a:txBody>
                    <a:bodyPr/>
                    <a:lstStyle/>
                    <a:p>
                      <a:pPr indent="254000" algn="just">
                        <a:lnSpc>
                          <a:spcPts val="2000"/>
                        </a:lnSpc>
                        <a:spcAft>
                          <a:spcPts val="0"/>
                        </a:spcAft>
                      </a:pPr>
                      <a:r>
                        <a:rPr lang="zh-CN" sz="1800" kern="1200" dirty="0">
                          <a:solidFill>
                            <a:srgbClr val="0000FF"/>
                          </a:solidFill>
                          <a:effectLst/>
                          <a:latin typeface="微软雅黑" pitchFamily="34" charset="-122"/>
                          <a:ea typeface="微软雅黑" pitchFamily="34" charset="-122"/>
                          <a:cs typeface="+mn-cs"/>
                        </a:rPr>
                        <a:t>统计元组个数，统计列值个数，列值汇总，求列值平均，求列值最大，求列值最小</a:t>
                      </a:r>
                    </a:p>
                  </a:txBody>
                  <a:tcPr marL="68580" marR="68580"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5396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634082"/>
          </a:xfrm>
        </p:spPr>
        <p:txBody>
          <a:bodyPr>
            <a:normAutofit fontScale="90000"/>
          </a:bodyPr>
          <a:lstStyle/>
          <a:p>
            <a:r>
              <a:rPr lang="en-US" altLang="zh-CN" dirty="0"/>
              <a:t>4.3.1  </a:t>
            </a:r>
            <a:r>
              <a:rPr lang="zh-CN" altLang="zh-CN" dirty="0"/>
              <a:t>集合查询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1124744"/>
            <a:ext cx="8784976" cy="5328592"/>
          </a:xfrm>
        </p:spPr>
        <p:txBody>
          <a:bodyPr>
            <a:noAutofit/>
          </a:bodyPr>
          <a:lstStyle/>
          <a:p>
            <a:r>
              <a:rPr lang="zh-CN" altLang="zh-CN" sz="2000" dirty="0">
                <a:solidFill>
                  <a:srgbClr val="0000FF"/>
                </a:solidFill>
              </a:rPr>
              <a:t>集合查询</a:t>
            </a:r>
            <a:r>
              <a:rPr lang="zh-CN" altLang="en-US" sz="2000" dirty="0">
                <a:solidFill>
                  <a:srgbClr val="0000FF"/>
                </a:solidFill>
              </a:rPr>
              <a:t>：</a:t>
            </a:r>
            <a:r>
              <a:rPr lang="zh-CN" altLang="zh-CN" sz="2000" dirty="0">
                <a:solidFill>
                  <a:srgbClr val="0000FF"/>
                </a:solidFill>
              </a:rPr>
              <a:t>笛卡尔积、并集、交集和差集等。</a:t>
            </a:r>
          </a:p>
          <a:p>
            <a:r>
              <a:rPr lang="zh-CN" altLang="zh-CN" sz="2000" dirty="0">
                <a:solidFill>
                  <a:srgbClr val="0000FF"/>
                </a:solidFill>
              </a:rPr>
              <a:t>笛卡尔积</a:t>
            </a:r>
          </a:p>
          <a:p>
            <a:pPr marL="363538" indent="0">
              <a:buNone/>
            </a:pPr>
            <a:r>
              <a:rPr lang="en-US" altLang="zh-CN" sz="2000" dirty="0">
                <a:solidFill>
                  <a:srgbClr val="0000FF"/>
                </a:solidFill>
              </a:rPr>
              <a:t>SELECT * FROM &lt;</a:t>
            </a:r>
            <a:r>
              <a:rPr lang="zh-CN" altLang="zh-CN" sz="2000" dirty="0">
                <a:solidFill>
                  <a:srgbClr val="0000FF"/>
                </a:solidFill>
              </a:rPr>
              <a:t>表</a:t>
            </a:r>
            <a:r>
              <a:rPr lang="en-US" altLang="zh-CN" sz="2000" dirty="0">
                <a:solidFill>
                  <a:srgbClr val="0000FF"/>
                </a:solidFill>
              </a:rPr>
              <a:t>1&gt;, &lt;</a:t>
            </a:r>
            <a:r>
              <a:rPr lang="zh-CN" altLang="zh-CN" sz="2000" dirty="0">
                <a:solidFill>
                  <a:srgbClr val="0000FF"/>
                </a:solidFill>
              </a:rPr>
              <a:t>表</a:t>
            </a:r>
            <a:r>
              <a:rPr lang="en-US" altLang="zh-CN" sz="2000" dirty="0">
                <a:solidFill>
                  <a:srgbClr val="0000FF"/>
                </a:solidFill>
              </a:rPr>
              <a:t>2&gt;, … </a:t>
            </a:r>
            <a:endParaRPr lang="zh-CN" altLang="zh-CN" sz="2000" dirty="0">
              <a:solidFill>
                <a:srgbClr val="0000FF"/>
              </a:solidFill>
            </a:endParaRPr>
          </a:p>
          <a:p>
            <a:r>
              <a:rPr lang="zh-CN" altLang="zh-CN" sz="2000" dirty="0"/>
              <a:t>例如：查询</a:t>
            </a:r>
            <a:r>
              <a:rPr lang="en-US" altLang="zh-CN" sz="2000" dirty="0"/>
              <a:t>Press</a:t>
            </a:r>
            <a:r>
              <a:rPr lang="zh-CN" altLang="zh-CN" sz="2000" dirty="0"/>
              <a:t>和</a:t>
            </a:r>
            <a:r>
              <a:rPr lang="en-US" altLang="zh-CN" sz="2000" dirty="0"/>
              <a:t>Book</a:t>
            </a:r>
            <a:r>
              <a:rPr lang="zh-CN" altLang="zh-CN" sz="2000" dirty="0"/>
              <a:t>的笛卡尔积。</a:t>
            </a:r>
          </a:p>
          <a:p>
            <a:pPr marL="363538" indent="0">
              <a:buNone/>
            </a:pPr>
            <a:r>
              <a:rPr lang="en-US" altLang="zh-CN" sz="2000" dirty="0"/>
              <a:t>SELECT * FROM </a:t>
            </a:r>
            <a:r>
              <a:rPr lang="en-US" altLang="zh-CN" sz="2000" dirty="0" err="1"/>
              <a:t>Press,Book</a:t>
            </a:r>
            <a:endParaRPr lang="zh-CN" altLang="zh-CN" sz="2000" dirty="0"/>
          </a:p>
          <a:p>
            <a:r>
              <a:rPr lang="zh-CN" altLang="en-US" sz="2000" dirty="0"/>
              <a:t>提示：</a:t>
            </a:r>
            <a:r>
              <a:rPr lang="zh-CN" altLang="zh-CN" sz="2000" dirty="0"/>
              <a:t>关系的笛卡尔积中包含有较多无意义的记录。笛卡尔积的真正意义在于其理论价值。</a:t>
            </a:r>
          </a:p>
        </p:txBody>
      </p:sp>
      <p:sp>
        <p:nvSpPr>
          <p:cNvPr id="4" name="日期占位符 3"/>
          <p:cNvSpPr>
            <a:spLocks noGrp="1"/>
          </p:cNvSpPr>
          <p:nvPr>
            <p:ph type="dt" sz="half" idx="10"/>
          </p:nvPr>
        </p:nvSpPr>
        <p:spPr/>
        <p:txBody>
          <a:bodyPr/>
          <a:lstStyle/>
          <a:p>
            <a:fld id="{E8838C3F-56C0-DF4D-835C-2082F6DD4059}"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33</a:t>
            </a:fld>
            <a:endParaRPr lang="zh-CN" altLang="en-US" dirty="0"/>
          </a:p>
        </p:txBody>
      </p:sp>
    </p:spTree>
    <p:extLst>
      <p:ext uri="{BB962C8B-B14F-4D97-AF65-F5344CB8AC3E}">
        <p14:creationId xmlns:p14="http://schemas.microsoft.com/office/powerpoint/2010/main" val="254331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634082"/>
          </a:xfrm>
        </p:spPr>
        <p:txBody>
          <a:bodyPr>
            <a:normAutofit fontScale="90000"/>
          </a:bodyPr>
          <a:lstStyle/>
          <a:p>
            <a:r>
              <a:rPr lang="en-US" altLang="zh-CN" dirty="0"/>
              <a:t>4.3.1  </a:t>
            </a:r>
            <a:r>
              <a:rPr lang="zh-CN" altLang="zh-CN" dirty="0"/>
              <a:t>集合查询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1124744"/>
            <a:ext cx="8784976" cy="5328592"/>
          </a:xfrm>
        </p:spPr>
        <p:txBody>
          <a:bodyPr>
            <a:noAutofit/>
          </a:bodyPr>
          <a:lstStyle/>
          <a:p>
            <a:r>
              <a:rPr lang="zh-CN" altLang="zh-CN" sz="2000" dirty="0">
                <a:solidFill>
                  <a:srgbClr val="0000FF"/>
                </a:solidFill>
              </a:rPr>
              <a:t>并集</a:t>
            </a:r>
          </a:p>
          <a:p>
            <a:pPr marL="363538" indent="0">
              <a:buNone/>
            </a:pPr>
            <a:r>
              <a:rPr lang="en-US" altLang="zh-CN" sz="2000" dirty="0"/>
              <a:t>SELECT </a:t>
            </a:r>
            <a:r>
              <a:rPr lang="zh-CN" altLang="zh-CN" sz="2000" dirty="0"/>
              <a:t>… </a:t>
            </a:r>
            <a:r>
              <a:rPr lang="en-US" altLang="zh-CN" sz="2000" dirty="0"/>
              <a:t>FROM </a:t>
            </a:r>
            <a:r>
              <a:rPr lang="zh-CN" altLang="zh-CN" sz="2000" dirty="0"/>
              <a:t>…</a:t>
            </a:r>
            <a:r>
              <a:rPr lang="en-US" altLang="zh-CN" sz="2000" dirty="0"/>
              <a:t> WHERE</a:t>
            </a:r>
            <a:endParaRPr lang="zh-CN" altLang="zh-CN" sz="2000" dirty="0"/>
          </a:p>
          <a:p>
            <a:pPr marL="363538" indent="0">
              <a:buNone/>
            </a:pPr>
            <a:r>
              <a:rPr lang="en-US" altLang="zh-CN" sz="2000" dirty="0">
                <a:solidFill>
                  <a:srgbClr val="0000FF"/>
                </a:solidFill>
              </a:rPr>
              <a:t>UNION</a:t>
            </a:r>
            <a:endParaRPr lang="zh-CN" altLang="zh-CN" sz="2000" dirty="0">
              <a:solidFill>
                <a:srgbClr val="0000FF"/>
              </a:solidFill>
            </a:endParaRPr>
          </a:p>
          <a:p>
            <a:pPr marL="363538" indent="0">
              <a:buNone/>
            </a:pPr>
            <a:r>
              <a:rPr lang="en-US" altLang="zh-CN" sz="2000" dirty="0"/>
              <a:t>SELECT </a:t>
            </a:r>
            <a:r>
              <a:rPr lang="zh-CN" altLang="zh-CN" sz="2000" dirty="0"/>
              <a:t>… </a:t>
            </a:r>
            <a:r>
              <a:rPr lang="en-US" altLang="zh-CN" sz="2000" dirty="0"/>
              <a:t>FROM </a:t>
            </a:r>
            <a:r>
              <a:rPr lang="zh-CN" altLang="zh-CN" sz="2000" dirty="0"/>
              <a:t>… </a:t>
            </a:r>
            <a:r>
              <a:rPr lang="en-US" altLang="zh-CN" sz="2000" dirty="0"/>
              <a:t>WHERE</a:t>
            </a:r>
            <a:endParaRPr lang="zh-CN" altLang="zh-CN" sz="2000" dirty="0"/>
          </a:p>
          <a:p>
            <a:r>
              <a:rPr lang="zh-CN" altLang="zh-CN" sz="2000" dirty="0">
                <a:solidFill>
                  <a:srgbClr val="0000FF"/>
                </a:solidFill>
              </a:rPr>
              <a:t>例如：</a:t>
            </a:r>
            <a:r>
              <a:rPr lang="zh-CN" altLang="zh-CN" sz="2000" dirty="0"/>
              <a:t>查询购买书号为“</a:t>
            </a:r>
            <a:r>
              <a:rPr lang="en-US" altLang="zh-CN" sz="2000" dirty="0"/>
              <a:t>ISBN978-7-04-040664-1</a:t>
            </a:r>
            <a:r>
              <a:rPr lang="zh-CN" altLang="zh-CN" sz="2000" dirty="0"/>
              <a:t>”或“</a:t>
            </a:r>
            <a:r>
              <a:rPr lang="en-US" altLang="zh-CN" sz="2000" dirty="0"/>
              <a:t>ISBN978-7-81140-582-8</a:t>
            </a:r>
            <a:r>
              <a:rPr lang="zh-CN" altLang="zh-CN" sz="2000" dirty="0"/>
              <a:t>”的客户的户号。</a:t>
            </a:r>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='ISBN978-7-04-040664-1'</a:t>
            </a:r>
            <a:endParaRPr lang="zh-CN" altLang="zh-CN" sz="2000" dirty="0"/>
          </a:p>
          <a:p>
            <a:pPr marL="363538" indent="0">
              <a:buNone/>
            </a:pPr>
            <a:r>
              <a:rPr lang="en-US" altLang="zh-CN" sz="2000" dirty="0"/>
              <a:t>UNION</a:t>
            </a:r>
            <a:endParaRPr lang="zh-CN" altLang="zh-CN" sz="2000" dirty="0"/>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='ISBN978-7-81140-582-8'</a:t>
            </a:r>
            <a:endParaRPr lang="zh-CN" altLang="zh-CN" sz="2000" dirty="0"/>
          </a:p>
        </p:txBody>
      </p:sp>
      <p:sp>
        <p:nvSpPr>
          <p:cNvPr id="4" name="日期占位符 3"/>
          <p:cNvSpPr>
            <a:spLocks noGrp="1"/>
          </p:cNvSpPr>
          <p:nvPr>
            <p:ph type="dt" sz="half" idx="10"/>
          </p:nvPr>
        </p:nvSpPr>
        <p:spPr/>
        <p:txBody>
          <a:bodyPr/>
          <a:lstStyle/>
          <a:p>
            <a:fld id="{242A6F04-BA4A-C841-B5AF-AB395BA189C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34</a:t>
            </a:fld>
            <a:endParaRPr lang="zh-CN" altLang="en-US" dirty="0"/>
          </a:p>
        </p:txBody>
      </p:sp>
    </p:spTree>
    <p:extLst>
      <p:ext uri="{BB962C8B-B14F-4D97-AF65-F5344CB8AC3E}">
        <p14:creationId xmlns:p14="http://schemas.microsoft.com/office/powerpoint/2010/main" val="2304989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634082"/>
          </a:xfrm>
        </p:spPr>
        <p:txBody>
          <a:bodyPr>
            <a:normAutofit fontScale="90000"/>
          </a:bodyPr>
          <a:lstStyle/>
          <a:p>
            <a:r>
              <a:rPr lang="en-US" altLang="zh-CN" dirty="0"/>
              <a:t>4.3.1  </a:t>
            </a:r>
            <a:r>
              <a:rPr lang="zh-CN" altLang="zh-CN" dirty="0"/>
              <a:t>集合查询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1124744"/>
            <a:ext cx="8784976" cy="5328592"/>
          </a:xfrm>
        </p:spPr>
        <p:txBody>
          <a:bodyPr>
            <a:noAutofit/>
          </a:bodyPr>
          <a:lstStyle/>
          <a:p>
            <a:r>
              <a:rPr lang="zh-CN" altLang="zh-CN" sz="2000" dirty="0"/>
              <a:t>查询结果：</a:t>
            </a:r>
          </a:p>
          <a:p>
            <a:pPr marL="363538" indent="0">
              <a:buNone/>
            </a:pPr>
            <a:r>
              <a:rPr lang="en-US" altLang="zh-CN" sz="2000" dirty="0" err="1"/>
              <a:t>CNo</a:t>
            </a:r>
            <a:endParaRPr lang="zh-CN" altLang="zh-CN" sz="2000" dirty="0"/>
          </a:p>
          <a:p>
            <a:pPr marL="363538" indent="0">
              <a:buNone/>
            </a:pPr>
            <a:r>
              <a:rPr lang="en-US" altLang="zh-CN" sz="2000" dirty="0"/>
              <a:t>C001</a:t>
            </a:r>
            <a:endParaRPr lang="zh-CN" altLang="zh-CN" sz="2000" dirty="0"/>
          </a:p>
          <a:p>
            <a:pPr marL="363538" indent="0">
              <a:buNone/>
            </a:pPr>
            <a:r>
              <a:rPr lang="en-US" altLang="zh-CN" sz="2000" dirty="0"/>
              <a:t>C002</a:t>
            </a:r>
            <a:endParaRPr lang="zh-CN" altLang="zh-CN" sz="2000" dirty="0"/>
          </a:p>
          <a:p>
            <a:pPr marL="363538" indent="0">
              <a:buNone/>
            </a:pPr>
            <a:r>
              <a:rPr lang="en-US" altLang="zh-CN" sz="2000" dirty="0"/>
              <a:t>C006</a:t>
            </a:r>
            <a:endParaRPr lang="zh-CN" altLang="zh-CN" sz="2000" dirty="0"/>
          </a:p>
          <a:p>
            <a:r>
              <a:rPr lang="zh-CN" altLang="zh-CN" sz="2000" dirty="0"/>
              <a:t>提示：两个查询的属性列表必须个数相等、类型相同、顺序一致。对于关系的差集和交集，也有同样的要求。</a:t>
            </a:r>
          </a:p>
        </p:txBody>
      </p:sp>
      <p:sp>
        <p:nvSpPr>
          <p:cNvPr id="4" name="日期占位符 3"/>
          <p:cNvSpPr>
            <a:spLocks noGrp="1"/>
          </p:cNvSpPr>
          <p:nvPr>
            <p:ph type="dt" sz="half" idx="10"/>
          </p:nvPr>
        </p:nvSpPr>
        <p:spPr/>
        <p:txBody>
          <a:bodyPr/>
          <a:lstStyle/>
          <a:p>
            <a:fld id="{561AA47A-B54D-A649-89DC-D94D6F60C74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35</a:t>
            </a:fld>
            <a:endParaRPr lang="zh-CN" altLang="en-US" dirty="0"/>
          </a:p>
        </p:txBody>
      </p:sp>
    </p:spTree>
    <p:extLst>
      <p:ext uri="{BB962C8B-B14F-4D97-AF65-F5344CB8AC3E}">
        <p14:creationId xmlns:p14="http://schemas.microsoft.com/office/powerpoint/2010/main" val="217681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4.3.1  </a:t>
            </a:r>
            <a:r>
              <a:rPr lang="zh-CN" altLang="zh-CN" dirty="0"/>
              <a:t>集合查询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328592"/>
          </a:xfrm>
        </p:spPr>
        <p:txBody>
          <a:bodyPr>
            <a:noAutofit/>
          </a:bodyPr>
          <a:lstStyle/>
          <a:p>
            <a:r>
              <a:rPr lang="zh-CN" altLang="zh-CN" sz="2000" dirty="0">
                <a:solidFill>
                  <a:srgbClr val="0000FF"/>
                </a:solidFill>
              </a:rPr>
              <a:t>交集</a:t>
            </a:r>
          </a:p>
          <a:p>
            <a:pPr marL="363538" indent="0">
              <a:buNone/>
            </a:pPr>
            <a:r>
              <a:rPr lang="en-US" altLang="zh-CN" sz="2000" dirty="0"/>
              <a:t>SELECT </a:t>
            </a:r>
            <a:r>
              <a:rPr lang="zh-CN" altLang="zh-CN" sz="2000" dirty="0"/>
              <a:t>… </a:t>
            </a:r>
            <a:r>
              <a:rPr lang="en-US" altLang="zh-CN" sz="2000" dirty="0"/>
              <a:t>FROM </a:t>
            </a:r>
            <a:r>
              <a:rPr lang="zh-CN" altLang="zh-CN" sz="2000" dirty="0"/>
              <a:t>…</a:t>
            </a:r>
            <a:r>
              <a:rPr lang="en-US" altLang="zh-CN" sz="2000" dirty="0"/>
              <a:t> WHERE</a:t>
            </a:r>
            <a:endParaRPr lang="zh-CN" altLang="zh-CN" sz="2000" dirty="0"/>
          </a:p>
          <a:p>
            <a:pPr marL="363538" indent="0">
              <a:buNone/>
            </a:pPr>
            <a:r>
              <a:rPr lang="en-US" altLang="zh-CN" sz="2000" dirty="0">
                <a:solidFill>
                  <a:srgbClr val="0000FF"/>
                </a:solidFill>
              </a:rPr>
              <a:t>INTERSECT</a:t>
            </a:r>
            <a:endParaRPr lang="zh-CN" altLang="zh-CN" sz="2000" dirty="0">
              <a:solidFill>
                <a:srgbClr val="0000FF"/>
              </a:solidFill>
            </a:endParaRPr>
          </a:p>
          <a:p>
            <a:pPr marL="363538" indent="0">
              <a:buNone/>
            </a:pPr>
            <a:r>
              <a:rPr lang="en-US" altLang="zh-CN" sz="2000" dirty="0"/>
              <a:t>SELECT </a:t>
            </a:r>
            <a:r>
              <a:rPr lang="zh-CN" altLang="zh-CN" sz="2000" dirty="0"/>
              <a:t>… </a:t>
            </a:r>
            <a:r>
              <a:rPr lang="en-US" altLang="zh-CN" sz="2000" dirty="0"/>
              <a:t>FROM </a:t>
            </a:r>
            <a:r>
              <a:rPr lang="zh-CN" altLang="zh-CN" sz="2000" dirty="0"/>
              <a:t>… </a:t>
            </a:r>
            <a:r>
              <a:rPr lang="en-US" altLang="zh-CN" sz="2000" dirty="0"/>
              <a:t>WHERE</a:t>
            </a:r>
            <a:endParaRPr lang="zh-CN" altLang="zh-CN" sz="2000" dirty="0"/>
          </a:p>
          <a:p>
            <a:r>
              <a:rPr lang="zh-CN" altLang="zh-CN" sz="2000" dirty="0">
                <a:solidFill>
                  <a:srgbClr val="0000FF"/>
                </a:solidFill>
              </a:rPr>
              <a:t>例如：</a:t>
            </a:r>
            <a:r>
              <a:rPr lang="zh-CN" altLang="zh-CN" sz="2000" dirty="0"/>
              <a:t>查询购买书号为“</a:t>
            </a:r>
            <a:r>
              <a:rPr lang="en-US" altLang="zh-CN" sz="2000" dirty="0"/>
              <a:t>ISBN978-7-04-040664-1</a:t>
            </a:r>
            <a:r>
              <a:rPr lang="zh-CN" altLang="zh-CN" sz="2000" dirty="0"/>
              <a:t>”和“</a:t>
            </a:r>
            <a:r>
              <a:rPr lang="en-US" altLang="zh-CN" sz="2000" dirty="0"/>
              <a:t>ISBN978-7-81140-582-8</a:t>
            </a:r>
            <a:r>
              <a:rPr lang="zh-CN" altLang="zh-CN" sz="2000" dirty="0"/>
              <a:t>”的客户的户号。</a:t>
            </a:r>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='ISBN978-7-04-040664-1'</a:t>
            </a:r>
            <a:endParaRPr lang="zh-CN" altLang="zh-CN" sz="2000" dirty="0"/>
          </a:p>
          <a:p>
            <a:pPr marL="363538" indent="0">
              <a:buNone/>
            </a:pPr>
            <a:r>
              <a:rPr lang="en-US" altLang="zh-CN" sz="2000" dirty="0"/>
              <a:t>INTERSECT</a:t>
            </a:r>
            <a:endParaRPr lang="zh-CN" altLang="zh-CN" sz="2000" dirty="0"/>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='ISBN978-7-81140-582-8'</a:t>
            </a:r>
            <a:endParaRPr lang="zh-CN" altLang="zh-CN" sz="2000" dirty="0"/>
          </a:p>
        </p:txBody>
      </p:sp>
      <p:sp>
        <p:nvSpPr>
          <p:cNvPr id="4" name="日期占位符 3"/>
          <p:cNvSpPr>
            <a:spLocks noGrp="1"/>
          </p:cNvSpPr>
          <p:nvPr>
            <p:ph type="dt" sz="half" idx="10"/>
          </p:nvPr>
        </p:nvSpPr>
        <p:spPr/>
        <p:txBody>
          <a:bodyPr/>
          <a:lstStyle/>
          <a:p>
            <a:fld id="{CB8B04B5-70A2-0A4E-B2F4-9AD40F8C94E9}"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36</a:t>
            </a:fld>
            <a:endParaRPr lang="zh-CN" altLang="en-US" dirty="0"/>
          </a:p>
        </p:txBody>
      </p:sp>
      <p:sp>
        <p:nvSpPr>
          <p:cNvPr id="7" name="矩形 6"/>
          <p:cNvSpPr/>
          <p:nvPr/>
        </p:nvSpPr>
        <p:spPr>
          <a:xfrm>
            <a:off x="6236762" y="4581128"/>
            <a:ext cx="2141984" cy="1015663"/>
          </a:xfrm>
          <a:prstGeom prst="rect">
            <a:avLst/>
          </a:prstGeom>
        </p:spPr>
        <p:txBody>
          <a:bodyPr wrap="square">
            <a:spAutoFit/>
          </a:bodyPr>
          <a:lstStyle/>
          <a:p>
            <a:r>
              <a:rPr lang="zh-CN" altLang="zh-CN" sz="2000" dirty="0"/>
              <a:t>查询结果：</a:t>
            </a:r>
          </a:p>
          <a:p>
            <a:r>
              <a:rPr lang="en-US" altLang="zh-CN" sz="2000" dirty="0" err="1"/>
              <a:t>CNo</a:t>
            </a:r>
            <a:r>
              <a:rPr lang="en-US" altLang="zh-CN" sz="2000" dirty="0"/>
              <a:t> </a:t>
            </a:r>
            <a:endParaRPr lang="zh-CN" altLang="zh-CN" sz="2000" dirty="0"/>
          </a:p>
          <a:p>
            <a:r>
              <a:rPr lang="en-US" altLang="zh-CN" sz="2000" dirty="0"/>
              <a:t>C001</a:t>
            </a:r>
            <a:endParaRPr lang="zh-CN" altLang="zh-CN" sz="2000" dirty="0"/>
          </a:p>
        </p:txBody>
      </p:sp>
    </p:spTree>
    <p:extLst>
      <p:ext uri="{BB962C8B-B14F-4D97-AF65-F5344CB8AC3E}">
        <p14:creationId xmlns:p14="http://schemas.microsoft.com/office/powerpoint/2010/main" val="77092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4.3.1  </a:t>
            </a:r>
            <a:r>
              <a:rPr lang="zh-CN" altLang="zh-CN" dirty="0"/>
              <a:t>集合查询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6120680"/>
          </a:xfrm>
        </p:spPr>
        <p:txBody>
          <a:bodyPr>
            <a:noAutofit/>
          </a:bodyPr>
          <a:lstStyle/>
          <a:p>
            <a:r>
              <a:rPr lang="zh-CN" altLang="zh-CN" sz="2000" dirty="0">
                <a:solidFill>
                  <a:srgbClr val="0000FF"/>
                </a:solidFill>
              </a:rPr>
              <a:t>差集</a:t>
            </a:r>
          </a:p>
          <a:p>
            <a:pPr marL="363538" indent="0">
              <a:buNone/>
            </a:pPr>
            <a:r>
              <a:rPr lang="en-US" altLang="zh-CN" sz="2000" dirty="0"/>
              <a:t>SELECT </a:t>
            </a:r>
            <a:r>
              <a:rPr lang="zh-CN" altLang="zh-CN" sz="2000" dirty="0"/>
              <a:t>… </a:t>
            </a:r>
            <a:r>
              <a:rPr lang="en-US" altLang="zh-CN" sz="2000" dirty="0"/>
              <a:t>FROM </a:t>
            </a:r>
            <a:r>
              <a:rPr lang="zh-CN" altLang="zh-CN" sz="2000" dirty="0"/>
              <a:t>…</a:t>
            </a:r>
            <a:r>
              <a:rPr lang="en-US" altLang="zh-CN" sz="2000" dirty="0"/>
              <a:t> WHERE</a:t>
            </a:r>
            <a:endParaRPr lang="zh-CN" altLang="zh-CN" sz="2000" dirty="0"/>
          </a:p>
          <a:p>
            <a:pPr marL="363538" indent="0">
              <a:buNone/>
            </a:pPr>
            <a:r>
              <a:rPr lang="en-US" altLang="zh-CN" sz="2000" dirty="0">
                <a:solidFill>
                  <a:srgbClr val="0000FF"/>
                </a:solidFill>
              </a:rPr>
              <a:t>EXCEPT</a:t>
            </a:r>
            <a:endParaRPr lang="zh-CN" altLang="zh-CN" sz="2000" dirty="0">
              <a:solidFill>
                <a:srgbClr val="0000FF"/>
              </a:solidFill>
            </a:endParaRPr>
          </a:p>
          <a:p>
            <a:pPr marL="363538" indent="0">
              <a:buNone/>
            </a:pPr>
            <a:r>
              <a:rPr lang="en-US" altLang="zh-CN" sz="2000" dirty="0"/>
              <a:t>SELECT </a:t>
            </a:r>
            <a:r>
              <a:rPr lang="zh-CN" altLang="zh-CN" sz="2000" dirty="0"/>
              <a:t>… </a:t>
            </a:r>
            <a:r>
              <a:rPr lang="en-US" altLang="zh-CN" sz="2000" dirty="0"/>
              <a:t>FROM </a:t>
            </a:r>
            <a:r>
              <a:rPr lang="zh-CN" altLang="zh-CN" sz="2000" dirty="0"/>
              <a:t>… </a:t>
            </a:r>
            <a:r>
              <a:rPr lang="en-US" altLang="zh-CN" sz="2000" dirty="0"/>
              <a:t>WHERE</a:t>
            </a:r>
            <a:endParaRPr lang="zh-CN" altLang="zh-CN" sz="2000" dirty="0"/>
          </a:p>
          <a:p>
            <a:r>
              <a:rPr lang="zh-CN" altLang="zh-CN" sz="2000" dirty="0">
                <a:solidFill>
                  <a:srgbClr val="0000FF"/>
                </a:solidFill>
              </a:rPr>
              <a:t>例如：</a:t>
            </a:r>
            <a:r>
              <a:rPr lang="zh-CN" altLang="zh-CN" sz="2000" dirty="0"/>
              <a:t>查询购买书号为“</a:t>
            </a:r>
            <a:r>
              <a:rPr lang="en-US" altLang="zh-CN" sz="2000" dirty="0"/>
              <a:t>ISBN978-7-04-040664-1</a:t>
            </a:r>
            <a:r>
              <a:rPr lang="zh-CN" altLang="zh-CN" sz="2000" dirty="0"/>
              <a:t>”，但没有购买书号为“</a:t>
            </a:r>
            <a:r>
              <a:rPr lang="en-US" altLang="zh-CN" sz="2000" dirty="0"/>
              <a:t>ISBN978-7-81140-582-8</a:t>
            </a:r>
            <a:r>
              <a:rPr lang="zh-CN" altLang="zh-CN" sz="2000" dirty="0"/>
              <a:t>”的客户的户号。</a:t>
            </a:r>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='ISBN978-7-04-040664-1'</a:t>
            </a:r>
            <a:endParaRPr lang="zh-CN" altLang="zh-CN" sz="2000" dirty="0"/>
          </a:p>
          <a:p>
            <a:pPr marL="363538" indent="0">
              <a:buNone/>
            </a:pPr>
            <a:r>
              <a:rPr lang="en-US" altLang="zh-CN" sz="2000" dirty="0"/>
              <a:t>EXCEPT</a:t>
            </a:r>
            <a:endParaRPr lang="zh-CN" altLang="zh-CN" sz="2000" dirty="0"/>
          </a:p>
          <a:p>
            <a:pPr marL="363538" indent="0">
              <a:buNone/>
            </a:pPr>
            <a:r>
              <a:rPr lang="en-US" altLang="zh-CN" sz="2000" dirty="0"/>
              <a:t>SELECT </a:t>
            </a:r>
            <a:r>
              <a:rPr lang="en-US" altLang="zh-CN" sz="2000" dirty="0" err="1"/>
              <a:t>CNo</a:t>
            </a:r>
            <a:r>
              <a:rPr lang="en-US" altLang="zh-CN" sz="2000" dirty="0"/>
              <a:t> FROM Buy</a:t>
            </a:r>
            <a:endParaRPr lang="zh-CN" altLang="zh-CN" sz="2000" dirty="0"/>
          </a:p>
          <a:p>
            <a:pPr marL="363538" indent="0">
              <a:buNone/>
            </a:pPr>
            <a:r>
              <a:rPr lang="en-US" altLang="zh-CN" sz="2000" dirty="0"/>
              <a:t>    WHERE </a:t>
            </a:r>
            <a:r>
              <a:rPr lang="en-US" altLang="zh-CN" sz="2000" dirty="0" err="1"/>
              <a:t>Bno</a:t>
            </a:r>
            <a:r>
              <a:rPr lang="en-US" altLang="zh-CN" sz="2000" dirty="0"/>
              <a:t>='ISBN978-7-81140-582-8‘</a:t>
            </a:r>
          </a:p>
          <a:p>
            <a:r>
              <a:rPr lang="zh-CN" altLang="zh-CN" sz="2000" dirty="0">
                <a:solidFill>
                  <a:srgbClr val="0000FF"/>
                </a:solidFill>
              </a:rPr>
              <a:t>思考：</a:t>
            </a:r>
            <a:r>
              <a:rPr lang="zh-CN" altLang="zh-CN" sz="2000" dirty="0"/>
              <a:t>查询仅购买书号为“</a:t>
            </a:r>
            <a:r>
              <a:rPr lang="en-US" altLang="zh-CN" sz="2000" dirty="0"/>
              <a:t>ISBN978-7-04-040664-1</a:t>
            </a:r>
            <a:r>
              <a:rPr lang="zh-CN" altLang="zh-CN" sz="2000" dirty="0"/>
              <a:t>”和“</a:t>
            </a:r>
            <a:r>
              <a:rPr lang="en-US" altLang="zh-CN" sz="2000" dirty="0"/>
              <a:t>ISBN978-7-81140-582-8</a:t>
            </a:r>
            <a:r>
              <a:rPr lang="zh-CN" altLang="zh-CN" sz="2000" dirty="0"/>
              <a:t>”的客户的户号。</a:t>
            </a:r>
          </a:p>
          <a:p>
            <a:pPr marL="363538" indent="0">
              <a:buNone/>
            </a:pPr>
            <a:endParaRPr lang="zh-CN" altLang="zh-CN" sz="2000" dirty="0"/>
          </a:p>
        </p:txBody>
      </p:sp>
      <p:sp>
        <p:nvSpPr>
          <p:cNvPr id="4" name="日期占位符 3"/>
          <p:cNvSpPr>
            <a:spLocks noGrp="1"/>
          </p:cNvSpPr>
          <p:nvPr>
            <p:ph type="dt" sz="half" idx="10"/>
          </p:nvPr>
        </p:nvSpPr>
        <p:spPr/>
        <p:txBody>
          <a:bodyPr/>
          <a:lstStyle/>
          <a:p>
            <a:fld id="{A349AE9D-EEF4-3F41-823C-0DF399805BFE}"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37</a:t>
            </a:fld>
            <a:endParaRPr lang="zh-CN" altLang="en-US" dirty="0"/>
          </a:p>
        </p:txBody>
      </p:sp>
      <p:sp>
        <p:nvSpPr>
          <p:cNvPr id="7" name="矩形 6"/>
          <p:cNvSpPr/>
          <p:nvPr/>
        </p:nvSpPr>
        <p:spPr>
          <a:xfrm>
            <a:off x="6516216" y="3861048"/>
            <a:ext cx="2141984" cy="1015663"/>
          </a:xfrm>
          <a:prstGeom prst="rect">
            <a:avLst/>
          </a:prstGeom>
        </p:spPr>
        <p:txBody>
          <a:bodyPr wrap="square">
            <a:spAutoFit/>
          </a:bodyPr>
          <a:lstStyle/>
          <a:p>
            <a:r>
              <a:rPr lang="zh-CN" altLang="zh-CN" sz="2000" dirty="0"/>
              <a:t>查询结果：</a:t>
            </a:r>
          </a:p>
          <a:p>
            <a:r>
              <a:rPr lang="en-US" altLang="zh-CN" sz="2000" dirty="0" err="1"/>
              <a:t>CNo</a:t>
            </a:r>
            <a:endParaRPr lang="zh-CN" altLang="zh-CN" sz="2000" dirty="0"/>
          </a:p>
          <a:p>
            <a:r>
              <a:rPr lang="en-US" altLang="zh-CN" sz="2000" dirty="0"/>
              <a:t>C002</a:t>
            </a:r>
            <a:endParaRPr lang="zh-CN" altLang="zh-CN" sz="2000" dirty="0"/>
          </a:p>
        </p:txBody>
      </p:sp>
    </p:spTree>
    <p:extLst>
      <p:ext uri="{BB962C8B-B14F-4D97-AF65-F5344CB8AC3E}">
        <p14:creationId xmlns:p14="http://schemas.microsoft.com/office/powerpoint/2010/main" val="3524405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6120680"/>
          </a:xfrm>
        </p:spPr>
        <p:txBody>
          <a:bodyPr>
            <a:noAutofit/>
          </a:bodyPr>
          <a:lstStyle/>
          <a:p>
            <a:r>
              <a:rPr lang="zh-CN" altLang="zh-CN" sz="2000" dirty="0">
                <a:solidFill>
                  <a:srgbClr val="0000FF"/>
                </a:solidFill>
              </a:rPr>
              <a:t>选择、投影、更名、区间、枚举、模糊、统计、排序和空值等。</a:t>
            </a:r>
          </a:p>
          <a:p>
            <a:r>
              <a:rPr lang="zh-CN" altLang="zh-CN" sz="2000" dirty="0">
                <a:solidFill>
                  <a:srgbClr val="0000FF"/>
                </a:solidFill>
              </a:rPr>
              <a:t>选择</a:t>
            </a:r>
          </a:p>
          <a:p>
            <a:pPr marL="363538" indent="0">
              <a:buNone/>
            </a:pPr>
            <a:r>
              <a:rPr lang="en-US" altLang="zh-CN" sz="2000" dirty="0">
                <a:solidFill>
                  <a:srgbClr val="0000FF"/>
                </a:solidFill>
              </a:rPr>
              <a:t>SELECT * FROM &lt;</a:t>
            </a:r>
            <a:r>
              <a:rPr lang="zh-CN" altLang="zh-CN" sz="2000" dirty="0">
                <a:solidFill>
                  <a:srgbClr val="0000FF"/>
                </a:solidFill>
              </a:rPr>
              <a:t>表名</a:t>
            </a:r>
            <a:r>
              <a:rPr lang="en-US" altLang="zh-CN" sz="2000" dirty="0">
                <a:solidFill>
                  <a:srgbClr val="0000FF"/>
                </a:solidFill>
              </a:rPr>
              <a:t>&gt;</a:t>
            </a:r>
            <a:endParaRPr lang="zh-CN" altLang="zh-CN" sz="2000" dirty="0">
              <a:solidFill>
                <a:srgbClr val="0000FF"/>
              </a:solidFill>
            </a:endParaRPr>
          </a:p>
          <a:p>
            <a:pPr marL="363538" indent="0">
              <a:buNone/>
            </a:pPr>
            <a:r>
              <a:rPr lang="en-US" altLang="zh-CN" sz="2000" dirty="0">
                <a:solidFill>
                  <a:srgbClr val="0000FF"/>
                </a:solidFill>
              </a:rPr>
              <a:t>    WHERE &lt;</a:t>
            </a:r>
            <a:r>
              <a:rPr lang="zh-CN" altLang="zh-CN" sz="2000" dirty="0">
                <a:solidFill>
                  <a:srgbClr val="0000FF"/>
                </a:solidFill>
              </a:rPr>
              <a:t>逻辑表达式</a:t>
            </a:r>
            <a:r>
              <a:rPr lang="en-US" altLang="zh-CN" sz="2000" dirty="0">
                <a:solidFill>
                  <a:srgbClr val="0000FF"/>
                </a:solidFill>
              </a:rPr>
              <a:t>&gt;</a:t>
            </a:r>
            <a:endParaRPr lang="zh-CN" altLang="zh-CN" sz="2000" dirty="0">
              <a:solidFill>
                <a:srgbClr val="0000FF"/>
              </a:solidFill>
            </a:endParaRPr>
          </a:p>
          <a:p>
            <a:r>
              <a:rPr lang="zh-CN" altLang="zh-CN" sz="2000" dirty="0">
                <a:solidFill>
                  <a:srgbClr val="0000FF"/>
                </a:solidFill>
              </a:rPr>
              <a:t>例如：</a:t>
            </a:r>
            <a:r>
              <a:rPr lang="zh-CN" altLang="zh-CN" sz="2000" dirty="0"/>
              <a:t>在</a:t>
            </a:r>
            <a:r>
              <a:rPr lang="en-US" altLang="zh-CN" sz="2000" dirty="0"/>
              <a:t>Buy</a:t>
            </a:r>
            <a:r>
              <a:rPr lang="zh-CN" altLang="zh-CN" sz="2000" dirty="0"/>
              <a:t>中，查询</a:t>
            </a:r>
            <a:r>
              <a:rPr lang="en-US" altLang="zh-CN" sz="2000" dirty="0"/>
              <a:t>2012</a:t>
            </a:r>
            <a:r>
              <a:rPr lang="zh-CN" altLang="zh-CN" sz="2000" dirty="0"/>
              <a:t>年</a:t>
            </a:r>
            <a:r>
              <a:rPr lang="en-US" altLang="zh-CN" sz="2000" dirty="0"/>
              <a:t>1</a:t>
            </a:r>
            <a:r>
              <a:rPr lang="zh-CN" altLang="zh-CN" sz="2000" dirty="0"/>
              <a:t>月</a:t>
            </a:r>
            <a:r>
              <a:rPr lang="en-US" altLang="zh-CN" sz="2000" dirty="0"/>
              <a:t>1</a:t>
            </a:r>
            <a:r>
              <a:rPr lang="zh-CN" altLang="zh-CN" sz="2000" dirty="0"/>
              <a:t>日（含本日）之前客户的购买信息。</a:t>
            </a:r>
          </a:p>
          <a:p>
            <a:pPr marL="363538" indent="0">
              <a:buNone/>
            </a:pPr>
            <a:r>
              <a:rPr lang="en-US" altLang="zh-CN" sz="2000" dirty="0"/>
              <a:t>SELECT * FROM Buy</a:t>
            </a:r>
            <a:endParaRPr lang="zh-CN" altLang="zh-CN" sz="2000" dirty="0"/>
          </a:p>
          <a:p>
            <a:pPr marL="363538" indent="0">
              <a:buNone/>
            </a:pPr>
            <a:r>
              <a:rPr lang="en-US" altLang="zh-CN" sz="2000" dirty="0"/>
              <a:t>    WHERE </a:t>
            </a:r>
            <a:r>
              <a:rPr lang="en-US" altLang="zh-CN" sz="2000" dirty="0" err="1"/>
              <a:t>Pdate</a:t>
            </a:r>
            <a:r>
              <a:rPr lang="en-US" altLang="zh-CN" sz="2000" dirty="0"/>
              <a:t>&lt;='2012-1-1'</a:t>
            </a:r>
            <a:endParaRPr lang="zh-CN" altLang="zh-CN" sz="2000" dirty="0"/>
          </a:p>
          <a:p>
            <a:r>
              <a:rPr lang="zh-CN" altLang="zh-CN" sz="2000" dirty="0">
                <a:solidFill>
                  <a:srgbClr val="0000FF"/>
                </a:solidFill>
              </a:rPr>
              <a:t>例如：</a:t>
            </a:r>
            <a:r>
              <a:rPr lang="zh-CN" altLang="zh-CN" sz="2000" dirty="0"/>
              <a:t>在</a:t>
            </a:r>
            <a:r>
              <a:rPr lang="en-US" altLang="zh-CN" sz="2000" dirty="0" err="1"/>
              <a:t>Cust</a:t>
            </a:r>
            <a:r>
              <a:rPr lang="zh-CN" altLang="zh-CN" sz="2000" dirty="0"/>
              <a:t>中，查询未婚女客户的信息。</a:t>
            </a:r>
          </a:p>
          <a:p>
            <a:pPr marL="363538" indent="0">
              <a:buNone/>
            </a:pPr>
            <a:r>
              <a:rPr lang="en-US" altLang="zh-CN" sz="2000" dirty="0"/>
              <a:t>SELECT * FROM </a:t>
            </a:r>
            <a:r>
              <a:rPr lang="en-US" altLang="zh-CN" sz="2000" dirty="0" err="1"/>
              <a:t>Cust</a:t>
            </a:r>
            <a:endParaRPr lang="zh-CN" altLang="zh-CN" sz="2000" dirty="0"/>
          </a:p>
          <a:p>
            <a:pPr marL="363538" indent="0">
              <a:buNone/>
            </a:pPr>
            <a:r>
              <a:rPr lang="en-US" altLang="zh-CN" sz="2000" dirty="0"/>
              <a:t>    WHERE </a:t>
            </a:r>
            <a:r>
              <a:rPr lang="en-US" altLang="zh-CN" sz="2000" dirty="0" err="1"/>
              <a:t>CSex</a:t>
            </a:r>
            <a:r>
              <a:rPr lang="en-US" altLang="zh-CN" sz="2000" dirty="0"/>
              <a:t>='</a:t>
            </a:r>
            <a:r>
              <a:rPr lang="zh-CN" altLang="zh-CN" sz="2000" dirty="0"/>
              <a:t>女</a:t>
            </a:r>
            <a:r>
              <a:rPr lang="en-US" altLang="zh-CN" sz="2000" dirty="0"/>
              <a:t>' AND Marry='</a:t>
            </a:r>
            <a:r>
              <a:rPr lang="zh-CN" altLang="zh-CN" sz="2000" dirty="0"/>
              <a:t>否</a:t>
            </a:r>
            <a:r>
              <a:rPr lang="en-US" altLang="zh-CN" sz="2000" dirty="0"/>
              <a:t>'</a:t>
            </a:r>
            <a:endParaRPr lang="zh-CN" altLang="zh-CN" sz="2000" dirty="0"/>
          </a:p>
          <a:p>
            <a:r>
              <a:rPr lang="zh-CN" altLang="zh-CN" sz="2000" dirty="0"/>
              <a:t>思考</a:t>
            </a:r>
            <a:r>
              <a:rPr lang="en-US" altLang="zh-CN" sz="2000" dirty="0"/>
              <a:t>1</a:t>
            </a:r>
            <a:r>
              <a:rPr lang="zh-CN" altLang="zh-CN" sz="2000" dirty="0"/>
              <a:t>：查询</a:t>
            </a:r>
            <a:r>
              <a:rPr lang="en-US" altLang="zh-CN" sz="2000" dirty="0"/>
              <a:t>1988</a:t>
            </a:r>
            <a:r>
              <a:rPr lang="zh-CN" altLang="zh-CN" sz="2000" dirty="0"/>
              <a:t>年</a:t>
            </a:r>
            <a:r>
              <a:rPr lang="en-US" altLang="zh-CN" sz="2000" dirty="0"/>
              <a:t>1</a:t>
            </a:r>
            <a:r>
              <a:rPr lang="zh-CN" altLang="zh-CN" sz="2000" dirty="0"/>
              <a:t>月</a:t>
            </a:r>
            <a:r>
              <a:rPr lang="en-US" altLang="zh-CN" sz="2000" dirty="0"/>
              <a:t>1</a:t>
            </a:r>
            <a:r>
              <a:rPr lang="zh-CN" altLang="zh-CN" sz="2000" dirty="0"/>
              <a:t>日之前出生的男客户信息和未婚女客户的信息。</a:t>
            </a:r>
          </a:p>
          <a:p>
            <a:r>
              <a:rPr lang="zh-CN" altLang="zh-CN" sz="2000" dirty="0"/>
              <a:t>思考</a:t>
            </a:r>
            <a:r>
              <a:rPr lang="en-US" altLang="zh-CN" sz="2000" dirty="0"/>
              <a:t>2</a:t>
            </a:r>
            <a:r>
              <a:rPr lang="zh-CN" altLang="zh-CN" sz="2000" dirty="0"/>
              <a:t>：关系代数的选择运算对应于</a:t>
            </a:r>
            <a:r>
              <a:rPr lang="en-US" altLang="zh-CN" sz="2000" dirty="0"/>
              <a:t>SELECT</a:t>
            </a:r>
            <a:r>
              <a:rPr lang="zh-CN" altLang="zh-CN" sz="2000" dirty="0"/>
              <a:t>…</a:t>
            </a:r>
            <a:r>
              <a:rPr lang="en-US" altLang="zh-CN" sz="2000" dirty="0"/>
              <a:t>FROM</a:t>
            </a:r>
            <a:r>
              <a:rPr lang="zh-CN" altLang="zh-CN" sz="2000" dirty="0"/>
              <a:t>…</a:t>
            </a:r>
            <a:r>
              <a:rPr lang="en-US" altLang="zh-CN" sz="2000" dirty="0"/>
              <a:t>WHERE</a:t>
            </a:r>
            <a:r>
              <a:rPr lang="zh-CN" altLang="zh-CN" sz="2000" dirty="0"/>
              <a:t>的哪个短语？</a:t>
            </a:r>
          </a:p>
          <a:p>
            <a:pPr marL="363538" indent="0">
              <a:buNone/>
            </a:pPr>
            <a:endParaRPr lang="zh-CN" altLang="zh-CN" sz="2000" dirty="0"/>
          </a:p>
        </p:txBody>
      </p:sp>
      <p:sp>
        <p:nvSpPr>
          <p:cNvPr id="4" name="日期占位符 3"/>
          <p:cNvSpPr>
            <a:spLocks noGrp="1"/>
          </p:cNvSpPr>
          <p:nvPr>
            <p:ph type="dt" sz="half" idx="10"/>
          </p:nvPr>
        </p:nvSpPr>
        <p:spPr/>
        <p:txBody>
          <a:bodyPr/>
          <a:lstStyle/>
          <a:p>
            <a:fld id="{08CA8F9B-4962-E84D-9BB1-BA3A8FE3F167}"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38</a:t>
            </a:fld>
            <a:endParaRPr lang="zh-CN" altLang="en-US" dirty="0"/>
          </a:p>
        </p:txBody>
      </p:sp>
    </p:spTree>
    <p:extLst>
      <p:ext uri="{BB962C8B-B14F-4D97-AF65-F5344CB8AC3E}">
        <p14:creationId xmlns:p14="http://schemas.microsoft.com/office/powerpoint/2010/main" val="3529481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solidFill>
                  <a:srgbClr val="0000FF"/>
                </a:solidFill>
              </a:rPr>
              <a:t>投影</a:t>
            </a:r>
          </a:p>
          <a:p>
            <a:pPr marL="363538" indent="0">
              <a:buNone/>
            </a:pPr>
            <a:r>
              <a:rPr lang="en-US" altLang="zh-CN" sz="2000" dirty="0">
                <a:solidFill>
                  <a:srgbClr val="0000FF"/>
                </a:solidFill>
              </a:rPr>
              <a:t>SELECT [*] &lt;</a:t>
            </a:r>
            <a:r>
              <a:rPr lang="zh-CN" altLang="zh-CN" sz="2000" dirty="0">
                <a:solidFill>
                  <a:srgbClr val="0000FF"/>
                </a:solidFill>
              </a:rPr>
              <a:t>表达式</a:t>
            </a:r>
            <a:r>
              <a:rPr lang="en-US" altLang="zh-CN" sz="2000" dirty="0">
                <a:solidFill>
                  <a:srgbClr val="0000FF"/>
                </a:solidFill>
              </a:rPr>
              <a:t>1&gt;[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表达式</a:t>
            </a:r>
            <a:r>
              <a:rPr lang="en-US" altLang="zh-CN" sz="2000" dirty="0">
                <a:solidFill>
                  <a:srgbClr val="0000FF"/>
                </a:solidFill>
              </a:rPr>
              <a:t>2&gt;] </a:t>
            </a:r>
            <a:r>
              <a:rPr lang="zh-CN" altLang="zh-CN" sz="2000" dirty="0">
                <a:solidFill>
                  <a:srgbClr val="0000FF"/>
                </a:solidFill>
              </a:rPr>
              <a:t>…</a:t>
            </a:r>
          </a:p>
          <a:p>
            <a:pPr marL="363538" indent="0">
              <a:buNone/>
            </a:pPr>
            <a:r>
              <a:rPr lang="en-US" altLang="zh-CN" sz="2000" dirty="0">
                <a:solidFill>
                  <a:srgbClr val="0000FF"/>
                </a:solidFill>
              </a:rPr>
              <a:t>    FROM &lt;</a:t>
            </a:r>
            <a:r>
              <a:rPr lang="zh-CN" altLang="zh-CN" sz="2000" dirty="0">
                <a:solidFill>
                  <a:srgbClr val="0000FF"/>
                </a:solidFill>
              </a:rPr>
              <a:t>表</a:t>
            </a:r>
            <a:r>
              <a:rPr lang="en-US" altLang="zh-CN" sz="2000" dirty="0">
                <a:solidFill>
                  <a:srgbClr val="0000FF"/>
                </a:solidFill>
              </a:rPr>
              <a:t>&gt;</a:t>
            </a:r>
            <a:endParaRPr lang="zh-CN" altLang="zh-CN" sz="2000" dirty="0">
              <a:solidFill>
                <a:srgbClr val="0000FF"/>
              </a:solidFill>
            </a:endParaRPr>
          </a:p>
          <a:p>
            <a:pPr marL="363538" indent="0">
              <a:buNone/>
            </a:pPr>
            <a:r>
              <a:rPr lang="en-US" altLang="zh-CN" sz="2000" dirty="0">
                <a:solidFill>
                  <a:srgbClr val="0000FF"/>
                </a:solidFill>
              </a:rPr>
              <a:t>    [WHERE &lt;</a:t>
            </a:r>
            <a:r>
              <a:rPr lang="zh-CN" altLang="zh-CN" sz="2000" dirty="0">
                <a:solidFill>
                  <a:srgbClr val="0000FF"/>
                </a:solidFill>
              </a:rPr>
              <a:t>逻辑表达式</a:t>
            </a:r>
            <a:r>
              <a:rPr lang="en-US" altLang="zh-CN" sz="2000" dirty="0">
                <a:solidFill>
                  <a:srgbClr val="0000FF"/>
                </a:solidFill>
              </a:rPr>
              <a:t>&gt;]</a:t>
            </a:r>
            <a:endParaRPr lang="zh-CN" altLang="zh-CN" sz="2000" dirty="0">
              <a:solidFill>
                <a:srgbClr val="0000FF"/>
              </a:solidFill>
            </a:endParaRPr>
          </a:p>
          <a:p>
            <a:r>
              <a:rPr lang="zh-CN" altLang="zh-CN" sz="2000" dirty="0">
                <a:solidFill>
                  <a:srgbClr val="0000FF"/>
                </a:solidFill>
              </a:rPr>
              <a:t>例如：</a:t>
            </a:r>
            <a:r>
              <a:rPr lang="zh-CN" altLang="zh-CN" sz="2000" dirty="0"/>
              <a:t>在</a:t>
            </a:r>
            <a:r>
              <a:rPr lang="en-US" altLang="zh-CN" sz="2000" dirty="0" err="1"/>
              <a:t>Cust</a:t>
            </a:r>
            <a:r>
              <a:rPr lang="zh-CN" altLang="zh-CN" sz="2000" dirty="0"/>
              <a:t>中，查询客户的户名、生日和电话。</a:t>
            </a:r>
          </a:p>
          <a:p>
            <a:pPr marL="363538" indent="0">
              <a:buNone/>
            </a:pPr>
            <a:r>
              <a:rPr lang="en-US" altLang="zh-CN" sz="2000" dirty="0"/>
              <a:t>SELECT </a:t>
            </a:r>
            <a:r>
              <a:rPr lang="en-US" altLang="zh-CN" sz="2000" dirty="0" err="1"/>
              <a:t>CName,Birth,Phone</a:t>
            </a:r>
            <a:endParaRPr lang="zh-CN" altLang="zh-CN" sz="2000" dirty="0"/>
          </a:p>
          <a:p>
            <a:pPr marL="363538" indent="0">
              <a:buNone/>
            </a:pPr>
            <a:r>
              <a:rPr lang="en-US" altLang="zh-CN" sz="2000" dirty="0"/>
              <a:t>    FROM </a:t>
            </a:r>
            <a:r>
              <a:rPr lang="en-US" altLang="zh-CN" sz="2000" dirty="0" err="1"/>
              <a:t>Cust</a:t>
            </a:r>
            <a:endParaRPr lang="zh-CN" altLang="zh-CN" sz="2000" dirty="0"/>
          </a:p>
          <a:p>
            <a:r>
              <a:rPr lang="zh-CN" altLang="zh-CN" sz="2000" dirty="0"/>
              <a:t>如果需要在查询结果中去掉重复记录，则可以使用</a:t>
            </a:r>
            <a:r>
              <a:rPr lang="en-US" altLang="zh-CN" sz="2000" dirty="0"/>
              <a:t>DISTINCT</a:t>
            </a:r>
            <a:r>
              <a:rPr lang="zh-CN" altLang="zh-CN" sz="2000" dirty="0"/>
              <a:t>。</a:t>
            </a:r>
          </a:p>
          <a:p>
            <a:r>
              <a:rPr lang="zh-CN" altLang="zh-CN" sz="2000" dirty="0">
                <a:solidFill>
                  <a:srgbClr val="0000FF"/>
                </a:solidFill>
              </a:rPr>
              <a:t>例如：</a:t>
            </a:r>
            <a:r>
              <a:rPr lang="zh-CN" altLang="zh-CN" sz="2000" dirty="0"/>
              <a:t>查询购买过图书的客户的户号。</a:t>
            </a:r>
          </a:p>
          <a:p>
            <a:pPr marL="363538" indent="0">
              <a:buNone/>
            </a:pPr>
            <a:r>
              <a:rPr lang="en-US" altLang="zh-CN" sz="2000" dirty="0"/>
              <a:t>SELECT DISTINCT </a:t>
            </a:r>
            <a:r>
              <a:rPr lang="en-US" altLang="zh-CN" sz="2000" dirty="0" err="1"/>
              <a:t>CNo</a:t>
            </a:r>
            <a:endParaRPr lang="zh-CN" altLang="zh-CN" sz="2000" dirty="0"/>
          </a:p>
          <a:p>
            <a:pPr marL="363538" indent="0">
              <a:buNone/>
            </a:pPr>
            <a:r>
              <a:rPr lang="en-US" altLang="zh-CN" sz="2000" dirty="0"/>
              <a:t>    FROM Buy</a:t>
            </a:r>
            <a:endParaRPr lang="zh-CN" altLang="zh-CN" sz="2000" dirty="0"/>
          </a:p>
          <a:p>
            <a:r>
              <a:rPr lang="zh-CN" altLang="zh-CN" sz="2000" dirty="0"/>
              <a:t>思考：分析</a:t>
            </a:r>
            <a:r>
              <a:rPr lang="en-US" altLang="zh-CN" sz="2000" dirty="0"/>
              <a:t>SELECT </a:t>
            </a:r>
            <a:r>
              <a:rPr lang="en-US" altLang="zh-CN" sz="2000" dirty="0" err="1"/>
              <a:t>CNo</a:t>
            </a:r>
            <a:r>
              <a:rPr lang="en-US" altLang="zh-CN" sz="2000" dirty="0"/>
              <a:t> FROM Buy</a:t>
            </a:r>
            <a:r>
              <a:rPr lang="zh-CN" altLang="zh-CN" sz="2000" dirty="0"/>
              <a:t>的查询结果。</a:t>
            </a:r>
          </a:p>
          <a:p>
            <a:pPr marL="363538" indent="0">
              <a:buNone/>
            </a:pPr>
            <a:endParaRPr lang="zh-CN" altLang="zh-CN" sz="2000" dirty="0"/>
          </a:p>
        </p:txBody>
      </p:sp>
      <p:sp>
        <p:nvSpPr>
          <p:cNvPr id="4" name="日期占位符 3"/>
          <p:cNvSpPr>
            <a:spLocks noGrp="1"/>
          </p:cNvSpPr>
          <p:nvPr>
            <p:ph type="dt" sz="half" idx="10"/>
          </p:nvPr>
        </p:nvSpPr>
        <p:spPr/>
        <p:txBody>
          <a:bodyPr/>
          <a:lstStyle/>
          <a:p>
            <a:fld id="{FF27A70C-7184-4D43-8A0B-4666B88BAAF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39</a:t>
            </a:fld>
            <a:endParaRPr lang="zh-CN" altLang="en-US" dirty="0"/>
          </a:p>
        </p:txBody>
      </p:sp>
    </p:spTree>
    <p:extLst>
      <p:ext uri="{BB962C8B-B14F-4D97-AF65-F5344CB8AC3E}">
        <p14:creationId xmlns:p14="http://schemas.microsoft.com/office/powerpoint/2010/main" val="3655717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a:t>
            </a:r>
            <a:r>
              <a:rPr lang="en-US" altLang="zh-CN" sz="2000" dirty="0"/>
              <a:t>1990</a:t>
            </a:r>
            <a:r>
              <a:rPr lang="zh-CN" altLang="zh-CN" sz="2000" dirty="0"/>
              <a:t>年之后出生的未婚男客户的户号、户名、生日和邮箱。</a:t>
            </a:r>
          </a:p>
          <a:p>
            <a:pPr marL="363538" indent="0">
              <a:buNone/>
            </a:pPr>
            <a:r>
              <a:rPr lang="en-US" altLang="zh-CN" sz="2000" dirty="0"/>
              <a:t>SELECT </a:t>
            </a:r>
            <a:r>
              <a:rPr lang="en-US" altLang="zh-CN" sz="2000" dirty="0" err="1"/>
              <a:t>Cno,CName,Birth,EMail</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Birth&gt;='1990-1-1' AND </a:t>
            </a:r>
            <a:r>
              <a:rPr lang="en-US" altLang="zh-CN" sz="2000" dirty="0" err="1"/>
              <a:t>CSex</a:t>
            </a:r>
            <a:r>
              <a:rPr lang="en-US" altLang="zh-CN" sz="2000" dirty="0"/>
              <a:t>='</a:t>
            </a:r>
            <a:r>
              <a:rPr lang="zh-CN" altLang="zh-CN" sz="2000" dirty="0"/>
              <a:t>男</a:t>
            </a:r>
            <a:r>
              <a:rPr lang="en-US" altLang="zh-CN" sz="2000" dirty="0"/>
              <a:t>' AND Marry='</a:t>
            </a:r>
            <a:r>
              <a:rPr lang="zh-CN" altLang="zh-CN" sz="2000" dirty="0"/>
              <a:t>否</a:t>
            </a:r>
            <a:r>
              <a:rPr lang="en-US" altLang="zh-CN" sz="2000" dirty="0"/>
              <a:t>'</a:t>
            </a:r>
            <a:endParaRPr lang="zh-CN" altLang="zh-CN" sz="2000" dirty="0"/>
          </a:p>
          <a:p>
            <a:r>
              <a:rPr lang="zh-CN" altLang="zh-CN" sz="2000" dirty="0"/>
              <a:t>例如：查询客户的所有属性的详细信息。</a:t>
            </a:r>
          </a:p>
          <a:p>
            <a:pPr marL="363538" indent="0">
              <a:buNone/>
            </a:pPr>
            <a:r>
              <a:rPr lang="en-US" altLang="zh-CN" sz="2000" dirty="0"/>
              <a:t>SELECT *</a:t>
            </a:r>
            <a:endParaRPr lang="zh-CN" altLang="zh-CN" sz="2000" dirty="0"/>
          </a:p>
          <a:p>
            <a:pPr marL="363538" indent="0">
              <a:buNone/>
            </a:pPr>
            <a:r>
              <a:rPr lang="en-US" altLang="zh-CN" sz="2000" dirty="0"/>
              <a:t>    FROM </a:t>
            </a:r>
            <a:r>
              <a:rPr lang="en-US" altLang="zh-CN" sz="2000" dirty="0" err="1"/>
              <a:t>Cust</a:t>
            </a:r>
            <a:endParaRPr lang="zh-CN" altLang="zh-CN" sz="2000" dirty="0"/>
          </a:p>
          <a:p>
            <a:r>
              <a:rPr lang="zh-CN" altLang="zh-CN" sz="2000" dirty="0"/>
              <a:t>思考：关系代数的投影运算对应于</a:t>
            </a:r>
            <a:r>
              <a:rPr lang="en-US" altLang="zh-CN" sz="2000" dirty="0"/>
              <a:t>SELECT</a:t>
            </a:r>
            <a:r>
              <a:rPr lang="zh-CN" altLang="zh-CN" sz="2000" dirty="0"/>
              <a:t>…</a:t>
            </a:r>
            <a:r>
              <a:rPr lang="en-US" altLang="zh-CN" sz="2000" dirty="0"/>
              <a:t>FROM</a:t>
            </a:r>
            <a:r>
              <a:rPr lang="zh-CN" altLang="zh-CN" sz="2000" dirty="0"/>
              <a:t>…</a:t>
            </a:r>
            <a:r>
              <a:rPr lang="en-US" altLang="zh-CN" sz="2000" dirty="0"/>
              <a:t>WHERE</a:t>
            </a:r>
            <a:r>
              <a:rPr lang="zh-CN" altLang="zh-CN" sz="2000" dirty="0"/>
              <a:t>的哪个短语？</a:t>
            </a:r>
          </a:p>
          <a:p>
            <a:pPr marL="363538" indent="0">
              <a:buNone/>
            </a:pPr>
            <a:endParaRPr lang="zh-CN" altLang="zh-CN" sz="2000" dirty="0"/>
          </a:p>
        </p:txBody>
      </p:sp>
      <p:sp>
        <p:nvSpPr>
          <p:cNvPr id="4" name="日期占位符 3"/>
          <p:cNvSpPr>
            <a:spLocks noGrp="1"/>
          </p:cNvSpPr>
          <p:nvPr>
            <p:ph type="dt" sz="half" idx="10"/>
          </p:nvPr>
        </p:nvSpPr>
        <p:spPr/>
        <p:txBody>
          <a:bodyPr/>
          <a:lstStyle/>
          <a:p>
            <a:fld id="{89431028-A2E4-2144-831B-07A06E18E9E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40</a:t>
            </a:fld>
            <a:endParaRPr lang="zh-CN" altLang="en-US" dirty="0"/>
          </a:p>
        </p:txBody>
      </p:sp>
    </p:spTree>
    <p:extLst>
      <p:ext uri="{BB962C8B-B14F-4D97-AF65-F5344CB8AC3E}">
        <p14:creationId xmlns:p14="http://schemas.microsoft.com/office/powerpoint/2010/main" val="2284284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solidFill>
                  <a:srgbClr val="0000FF"/>
                </a:solidFill>
              </a:rPr>
              <a:t>更名</a:t>
            </a:r>
          </a:p>
          <a:p>
            <a:r>
              <a:rPr lang="zh-CN" altLang="zh-CN" sz="2000" dirty="0"/>
              <a:t>如果给查询的</a:t>
            </a:r>
            <a:r>
              <a:rPr lang="en-US" altLang="zh-CN" sz="2000" dirty="0"/>
              <a:t>&lt;</a:t>
            </a:r>
            <a:r>
              <a:rPr lang="zh-CN" altLang="zh-CN" sz="2000" dirty="0"/>
              <a:t>表达式</a:t>
            </a:r>
            <a:r>
              <a:rPr lang="en-US" altLang="zh-CN" sz="2000" dirty="0"/>
              <a:t>&gt;</a:t>
            </a:r>
            <a:r>
              <a:rPr lang="zh-CN" altLang="zh-CN" sz="2000" dirty="0"/>
              <a:t>命名，则可以在</a:t>
            </a:r>
            <a:r>
              <a:rPr lang="en-US" altLang="zh-CN" sz="2000" dirty="0"/>
              <a:t>&lt;</a:t>
            </a:r>
            <a:r>
              <a:rPr lang="zh-CN" altLang="zh-CN" sz="2000" dirty="0"/>
              <a:t>表达式</a:t>
            </a:r>
            <a:r>
              <a:rPr lang="en-US" altLang="zh-CN" sz="2000" dirty="0"/>
              <a:t>&gt;</a:t>
            </a:r>
            <a:r>
              <a:rPr lang="zh-CN" altLang="zh-CN" sz="2000" dirty="0"/>
              <a:t>之后给出指定的名称。</a:t>
            </a:r>
            <a:r>
              <a:rPr lang="en-US" altLang="zh-CN" sz="2000" dirty="0">
                <a:solidFill>
                  <a:srgbClr val="0000FF"/>
                </a:solidFill>
              </a:rPr>
              <a:t>SELECT &lt;</a:t>
            </a:r>
            <a:r>
              <a:rPr lang="zh-CN" altLang="zh-CN" sz="2000" dirty="0">
                <a:solidFill>
                  <a:srgbClr val="0000FF"/>
                </a:solidFill>
              </a:rPr>
              <a:t>表达式</a:t>
            </a:r>
            <a:r>
              <a:rPr lang="en-US" altLang="zh-CN" sz="2000" dirty="0">
                <a:solidFill>
                  <a:srgbClr val="0000FF"/>
                </a:solidFill>
              </a:rPr>
              <a:t>1&gt; </a:t>
            </a:r>
            <a:r>
              <a:rPr lang="zh-CN" altLang="zh-CN" sz="2000" dirty="0">
                <a:solidFill>
                  <a:srgbClr val="0000FF"/>
                </a:solidFill>
              </a:rPr>
              <a:t>名称</a:t>
            </a:r>
            <a:r>
              <a:rPr lang="en-US" altLang="zh-CN" sz="2000" dirty="0">
                <a:solidFill>
                  <a:srgbClr val="0000FF"/>
                </a:solidFill>
              </a:rPr>
              <a: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表达式</a:t>
            </a:r>
            <a:r>
              <a:rPr lang="en-US" altLang="zh-CN" sz="2000" dirty="0">
                <a:solidFill>
                  <a:srgbClr val="0000FF"/>
                </a:solidFill>
              </a:rPr>
              <a:t>2&gt; </a:t>
            </a:r>
            <a:r>
              <a:rPr lang="zh-CN" altLang="zh-CN" sz="2000" dirty="0">
                <a:solidFill>
                  <a:srgbClr val="0000FF"/>
                </a:solidFill>
              </a:rPr>
              <a:t>名称</a:t>
            </a:r>
            <a:r>
              <a:rPr lang="en-US" altLang="zh-CN" sz="2000" dirty="0">
                <a:solidFill>
                  <a:srgbClr val="0000FF"/>
                </a:solidFill>
              </a:rPr>
              <a:t>] </a:t>
            </a:r>
            <a:r>
              <a:rPr lang="zh-CN" altLang="zh-CN" sz="2000" dirty="0">
                <a:solidFill>
                  <a:srgbClr val="0000FF"/>
                </a:solidFill>
              </a:rPr>
              <a:t>…</a:t>
            </a:r>
          </a:p>
          <a:p>
            <a:r>
              <a:rPr lang="zh-CN" altLang="zh-CN" sz="2000" dirty="0"/>
              <a:t>例如：在</a:t>
            </a:r>
            <a:r>
              <a:rPr lang="en-US" altLang="zh-CN" sz="2000" dirty="0" err="1"/>
              <a:t>Cust</a:t>
            </a:r>
            <a:r>
              <a:rPr lang="zh-CN" altLang="zh-CN" sz="2000" dirty="0"/>
              <a:t>中，查询男客户的姓名和年龄，且属性名显示为“姓名”和“年龄”。</a:t>
            </a:r>
          </a:p>
          <a:p>
            <a:pPr marL="363538" indent="0">
              <a:buNone/>
            </a:pPr>
            <a:r>
              <a:rPr lang="en-US" altLang="zh-CN" sz="2000" dirty="0"/>
              <a:t>SELECT </a:t>
            </a:r>
            <a:r>
              <a:rPr lang="en-US" altLang="zh-CN" sz="2000" dirty="0" err="1"/>
              <a:t>CName</a:t>
            </a:r>
            <a:r>
              <a:rPr lang="en-US" altLang="zh-CN" sz="2000" dirty="0"/>
              <a:t> </a:t>
            </a:r>
            <a:r>
              <a:rPr lang="zh-CN" altLang="zh-CN" sz="2000" dirty="0"/>
              <a:t>姓名</a:t>
            </a:r>
            <a:r>
              <a:rPr lang="en-US" altLang="zh-CN" sz="2000" dirty="0"/>
              <a:t>,DATEPART(YEAR,GETDATE())- </a:t>
            </a:r>
          </a:p>
          <a:p>
            <a:pPr marL="363538" indent="0">
              <a:buNone/>
            </a:pPr>
            <a:r>
              <a:rPr lang="en-US" altLang="zh-CN" sz="2000" dirty="0"/>
              <a:t>                                  DATEPART(</a:t>
            </a:r>
            <a:r>
              <a:rPr lang="en-US" altLang="zh-CN" sz="2000" dirty="0" err="1"/>
              <a:t>YEAR,Birth</a:t>
            </a:r>
            <a:r>
              <a:rPr lang="en-US" altLang="zh-CN" sz="2000" dirty="0"/>
              <a:t>) </a:t>
            </a:r>
            <a:r>
              <a:rPr lang="zh-CN" altLang="zh-CN" sz="2000" dirty="0"/>
              <a:t>年龄</a:t>
            </a:r>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CSex</a:t>
            </a:r>
            <a:r>
              <a:rPr lang="en-US" altLang="zh-CN" sz="2000" dirty="0"/>
              <a:t>='</a:t>
            </a:r>
            <a:r>
              <a:rPr lang="zh-CN" altLang="zh-CN" sz="2000" dirty="0"/>
              <a:t>男</a:t>
            </a:r>
            <a:r>
              <a:rPr lang="en-US" altLang="zh-CN" sz="2000" dirty="0"/>
              <a:t>'</a:t>
            </a:r>
            <a:endParaRPr lang="zh-CN" altLang="zh-CN" sz="2000" dirty="0"/>
          </a:p>
          <a:p>
            <a:r>
              <a:rPr lang="zh-CN" altLang="zh-CN" sz="2000" dirty="0"/>
              <a:t>思考：分析如下语句的查询结果。</a:t>
            </a:r>
          </a:p>
          <a:p>
            <a:pPr marL="363538" indent="0">
              <a:buNone/>
            </a:pPr>
            <a:r>
              <a:rPr lang="en-US" altLang="zh-CN" sz="2000" dirty="0"/>
              <a:t>SELECT </a:t>
            </a:r>
            <a:r>
              <a:rPr lang="en-US" altLang="zh-CN" sz="2000" dirty="0" err="1"/>
              <a:t>CName,DATEPART</a:t>
            </a:r>
            <a:r>
              <a:rPr lang="en-US" altLang="zh-CN" sz="2000" dirty="0"/>
              <a:t>(YEAR,GETDATE())-DATEPART(</a:t>
            </a:r>
            <a:r>
              <a:rPr lang="en-US" altLang="zh-CN" sz="2000" dirty="0" err="1"/>
              <a:t>YEAR,Birth</a:t>
            </a:r>
            <a:r>
              <a:rPr lang="en-US" altLang="zh-CN" sz="2000" dirty="0"/>
              <a:t>)</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DFF5CBA4-0E31-1E4D-83DB-026461551F8D}"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41</a:t>
            </a:fld>
            <a:endParaRPr lang="zh-CN" altLang="en-US" dirty="0"/>
          </a:p>
        </p:txBody>
      </p:sp>
    </p:spTree>
    <p:extLst>
      <p:ext uri="{BB962C8B-B14F-4D97-AF65-F5344CB8AC3E}">
        <p14:creationId xmlns:p14="http://schemas.microsoft.com/office/powerpoint/2010/main" val="147670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solidFill>
                  <a:srgbClr val="0000FF"/>
                </a:solidFill>
              </a:rPr>
              <a:t>区间</a:t>
            </a:r>
            <a:r>
              <a:rPr lang="zh-CN" altLang="en-US" sz="2000" b="1" dirty="0"/>
              <a:t>：</a:t>
            </a:r>
            <a:r>
              <a:rPr lang="zh-CN" altLang="zh-CN" sz="2000" dirty="0"/>
              <a:t>如果查询的数据在两个值（</a:t>
            </a:r>
            <a:r>
              <a:rPr lang="en-US" altLang="zh-CN" sz="2000" dirty="0"/>
              <a:t>A</a:t>
            </a:r>
            <a:r>
              <a:rPr lang="zh-CN" altLang="zh-CN" sz="2000" dirty="0"/>
              <a:t>～</a:t>
            </a:r>
            <a:r>
              <a:rPr lang="en-US" altLang="zh-CN" sz="2000" dirty="0"/>
              <a:t>B</a:t>
            </a:r>
            <a:r>
              <a:rPr lang="zh-CN" altLang="zh-CN" sz="2000" dirty="0"/>
              <a:t>）之间或者之外，则可以使用</a:t>
            </a:r>
            <a:r>
              <a:rPr lang="en-US" altLang="zh-CN" sz="2000" dirty="0"/>
              <a:t>BETWEEN A AND B</a:t>
            </a:r>
            <a:r>
              <a:rPr lang="zh-CN" altLang="zh-CN" sz="2000" dirty="0"/>
              <a:t>。</a:t>
            </a:r>
          </a:p>
          <a:p>
            <a:pPr marL="363538" indent="0">
              <a:buNone/>
            </a:pPr>
            <a:r>
              <a:rPr lang="en-US" altLang="zh-CN" sz="2000" dirty="0">
                <a:solidFill>
                  <a:srgbClr val="0000FF"/>
                </a:solidFill>
              </a:rPr>
              <a:t>&lt;</a:t>
            </a:r>
            <a:r>
              <a:rPr lang="zh-CN" altLang="zh-CN" sz="2000" dirty="0">
                <a:solidFill>
                  <a:srgbClr val="0000FF"/>
                </a:solidFill>
              </a:rPr>
              <a:t>属性</a:t>
            </a:r>
            <a:r>
              <a:rPr lang="en-US" altLang="zh-CN" sz="2000" dirty="0">
                <a:solidFill>
                  <a:srgbClr val="0000FF"/>
                </a:solidFill>
              </a:rPr>
              <a:t>&gt; BETWEEN &lt;</a:t>
            </a:r>
            <a:r>
              <a:rPr lang="zh-CN" altLang="zh-CN" sz="2000" dirty="0">
                <a:solidFill>
                  <a:srgbClr val="0000FF"/>
                </a:solidFill>
              </a:rPr>
              <a:t>表达式</a:t>
            </a:r>
            <a:r>
              <a:rPr lang="en-US" altLang="zh-CN" sz="2000" dirty="0">
                <a:solidFill>
                  <a:srgbClr val="0000FF"/>
                </a:solidFill>
              </a:rPr>
              <a:t>1&gt; AND &lt;</a:t>
            </a:r>
            <a:r>
              <a:rPr lang="zh-CN" altLang="zh-CN" sz="2000" dirty="0">
                <a:solidFill>
                  <a:srgbClr val="0000FF"/>
                </a:solidFill>
              </a:rPr>
              <a:t>表达式</a:t>
            </a:r>
            <a:r>
              <a:rPr lang="en-US" altLang="zh-CN" sz="2000" dirty="0">
                <a:solidFill>
                  <a:srgbClr val="0000FF"/>
                </a:solidFill>
              </a:rPr>
              <a:t>2&gt;</a:t>
            </a:r>
            <a:endParaRPr lang="zh-CN" altLang="zh-CN" sz="2000" dirty="0">
              <a:solidFill>
                <a:srgbClr val="0000FF"/>
              </a:solidFill>
            </a:endParaRPr>
          </a:p>
          <a:p>
            <a:r>
              <a:rPr lang="zh-CN" altLang="zh-CN" sz="2000" dirty="0"/>
              <a:t>例如：查询售价大于等于</a:t>
            </a:r>
            <a:r>
              <a:rPr lang="en-US" altLang="zh-CN" sz="2000" dirty="0"/>
              <a:t>10</a:t>
            </a:r>
            <a:r>
              <a:rPr lang="zh-CN" altLang="zh-CN" sz="2000" dirty="0"/>
              <a:t>，且小于等于</a:t>
            </a:r>
            <a:r>
              <a:rPr lang="en-US" altLang="zh-CN" sz="2000" dirty="0"/>
              <a:t>20</a:t>
            </a:r>
            <a:r>
              <a:rPr lang="zh-CN" altLang="zh-CN" sz="2000" dirty="0"/>
              <a:t>的书号、书名、作者和版次。</a:t>
            </a:r>
          </a:p>
          <a:p>
            <a:pPr marL="363538" indent="0">
              <a:buNone/>
            </a:pPr>
            <a:r>
              <a:rPr lang="en-US" altLang="zh-CN" sz="2000" dirty="0"/>
              <a:t>SELECT </a:t>
            </a:r>
            <a:r>
              <a:rPr lang="en-US" altLang="zh-CN" sz="2000" dirty="0" err="1"/>
              <a:t>BNo,BName,Author,EditNo</a:t>
            </a:r>
            <a:endParaRPr lang="zh-CN" altLang="zh-CN" sz="2000" dirty="0"/>
          </a:p>
          <a:p>
            <a:pPr marL="363538" indent="0">
              <a:buNone/>
            </a:pPr>
            <a:r>
              <a:rPr lang="en-US" altLang="zh-CN" sz="2000" dirty="0"/>
              <a:t>    FROM Book</a:t>
            </a:r>
            <a:endParaRPr lang="zh-CN" altLang="zh-CN" sz="2000" dirty="0"/>
          </a:p>
          <a:p>
            <a:pPr marL="363538" indent="0">
              <a:buNone/>
            </a:pPr>
            <a:r>
              <a:rPr lang="en-US" altLang="zh-CN" sz="2000" dirty="0"/>
              <a:t>    WHERE </a:t>
            </a:r>
            <a:r>
              <a:rPr lang="en-US" altLang="zh-CN" sz="2000" dirty="0" err="1"/>
              <a:t>Sprice</a:t>
            </a:r>
            <a:r>
              <a:rPr lang="en-US" altLang="zh-CN" sz="2000" dirty="0"/>
              <a:t> BETWEEN 10 AND 20    </a:t>
            </a:r>
            <a:r>
              <a:rPr lang="zh-CN" altLang="zh-CN" sz="2000" dirty="0"/>
              <a:t>或者</a:t>
            </a:r>
          </a:p>
          <a:p>
            <a:pPr marL="363538" indent="0">
              <a:buNone/>
            </a:pPr>
            <a:r>
              <a:rPr lang="en-US" altLang="zh-CN" sz="2000" dirty="0"/>
              <a:t>SELECT </a:t>
            </a:r>
            <a:r>
              <a:rPr lang="en-US" altLang="zh-CN" sz="2000" dirty="0" err="1"/>
              <a:t>BNo,BName,Author,EditNo</a:t>
            </a:r>
            <a:endParaRPr lang="zh-CN" altLang="zh-CN" sz="2000" dirty="0"/>
          </a:p>
          <a:p>
            <a:pPr marL="363538" indent="0">
              <a:buNone/>
            </a:pPr>
            <a:r>
              <a:rPr lang="en-US" altLang="zh-CN" sz="2000" dirty="0"/>
              <a:t>    FROM Book</a:t>
            </a:r>
            <a:endParaRPr lang="zh-CN" altLang="zh-CN" sz="2000" dirty="0"/>
          </a:p>
          <a:p>
            <a:pPr marL="363538" indent="0">
              <a:buNone/>
            </a:pPr>
            <a:r>
              <a:rPr lang="en-US" altLang="zh-CN" sz="2000" dirty="0"/>
              <a:t>    WHERE </a:t>
            </a:r>
            <a:r>
              <a:rPr lang="en-US" altLang="zh-CN" sz="2000" dirty="0" err="1"/>
              <a:t>SPrice</a:t>
            </a:r>
            <a:r>
              <a:rPr lang="en-US" altLang="zh-CN" sz="2000" dirty="0"/>
              <a:t>&gt;=10 AND </a:t>
            </a:r>
            <a:r>
              <a:rPr lang="en-US" altLang="zh-CN" sz="2000" dirty="0" err="1"/>
              <a:t>SPrice</a:t>
            </a:r>
            <a:r>
              <a:rPr lang="en-US" altLang="zh-CN" sz="2000" dirty="0"/>
              <a:t>&lt;=20</a:t>
            </a:r>
            <a:endParaRPr lang="zh-CN" altLang="zh-CN" sz="2000" dirty="0"/>
          </a:p>
          <a:p>
            <a:r>
              <a:rPr lang="zh-CN" altLang="zh-CN" sz="2000" dirty="0"/>
              <a:t>提示：</a:t>
            </a:r>
            <a:r>
              <a:rPr lang="en-US" altLang="zh-CN" sz="2000" dirty="0"/>
              <a:t>BETWEEN A AND B</a:t>
            </a:r>
            <a:r>
              <a:rPr lang="zh-CN" altLang="zh-CN" sz="2000" dirty="0"/>
              <a:t>包括端点</a:t>
            </a:r>
            <a:r>
              <a:rPr lang="en-US" altLang="zh-CN" sz="2000" dirty="0"/>
              <a:t>A</a:t>
            </a:r>
            <a:r>
              <a:rPr lang="zh-CN" altLang="zh-CN" sz="2000" dirty="0"/>
              <a:t>和</a:t>
            </a:r>
            <a:r>
              <a:rPr lang="en-US" altLang="zh-CN" sz="2000" dirty="0"/>
              <a:t>B</a:t>
            </a:r>
            <a:r>
              <a:rPr lang="zh-CN" altLang="zh-CN" sz="2000" dirty="0"/>
              <a:t>。</a:t>
            </a:r>
          </a:p>
        </p:txBody>
      </p:sp>
      <p:sp>
        <p:nvSpPr>
          <p:cNvPr id="4" name="日期占位符 3"/>
          <p:cNvSpPr>
            <a:spLocks noGrp="1"/>
          </p:cNvSpPr>
          <p:nvPr>
            <p:ph type="dt" sz="half" idx="10"/>
          </p:nvPr>
        </p:nvSpPr>
        <p:spPr/>
        <p:txBody>
          <a:bodyPr/>
          <a:lstStyle/>
          <a:p>
            <a:fld id="{7D0582A4-9490-0A41-8A91-906B07CBAC2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42</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zh-CN" altLang="zh-CN" sz="2000" dirty="0">
                <a:solidFill>
                  <a:srgbClr val="0000FF"/>
                </a:solidFill>
              </a:rPr>
              <a:t>思考：</a:t>
            </a:r>
            <a:r>
              <a:rPr lang="zh-CN" altLang="zh-CN" sz="2000" dirty="0"/>
              <a:t>分析如下语句是否正确？</a:t>
            </a:r>
          </a:p>
          <a:p>
            <a:pPr marL="363538" indent="0">
              <a:buNone/>
            </a:pPr>
            <a:r>
              <a:rPr lang="en-US" altLang="zh-CN" sz="2000" dirty="0"/>
              <a:t>SELECT </a:t>
            </a:r>
            <a:r>
              <a:rPr lang="en-US" altLang="zh-CN" sz="2000" dirty="0" err="1"/>
              <a:t>BNo,BName,Author,EditNo</a:t>
            </a:r>
            <a:endParaRPr lang="zh-CN" altLang="zh-CN" sz="2000" dirty="0"/>
          </a:p>
          <a:p>
            <a:pPr marL="363538" indent="0">
              <a:buNone/>
            </a:pPr>
            <a:r>
              <a:rPr lang="en-US" altLang="zh-CN" sz="2000" dirty="0"/>
              <a:t>    FROM Book</a:t>
            </a:r>
            <a:endParaRPr lang="zh-CN" altLang="zh-CN" sz="2000" dirty="0"/>
          </a:p>
          <a:p>
            <a:pPr marL="363538" indent="0">
              <a:buNone/>
            </a:pPr>
            <a:r>
              <a:rPr lang="en-US" altLang="zh-CN" sz="2000" dirty="0"/>
              <a:t>    WHERE 10=&lt;</a:t>
            </a:r>
            <a:r>
              <a:rPr lang="en-US" altLang="zh-CN" sz="2000" dirty="0" err="1"/>
              <a:t>SPrice</a:t>
            </a:r>
            <a:r>
              <a:rPr lang="en-US" altLang="zh-CN" sz="2000" dirty="0"/>
              <a:t>&lt;=20</a:t>
            </a:r>
            <a:endParaRPr lang="zh-CN" altLang="zh-CN" sz="2000" dirty="0"/>
          </a:p>
          <a:p>
            <a:pPr marL="0" indent="0">
              <a:buNone/>
            </a:pPr>
            <a:r>
              <a:rPr lang="zh-CN" altLang="zh-CN" sz="2000" dirty="0">
                <a:solidFill>
                  <a:srgbClr val="0000FF"/>
                </a:solidFill>
              </a:rPr>
              <a:t>例如：</a:t>
            </a:r>
            <a:r>
              <a:rPr lang="zh-CN" altLang="zh-CN" sz="2000" dirty="0"/>
              <a:t>在</a:t>
            </a:r>
            <a:r>
              <a:rPr lang="en-US" altLang="zh-CN" sz="2000" dirty="0"/>
              <a:t>Book</a:t>
            </a:r>
            <a:r>
              <a:rPr lang="zh-CN" altLang="zh-CN" sz="2000" dirty="0"/>
              <a:t>中，查询售价大于</a:t>
            </a:r>
            <a:r>
              <a:rPr lang="en-US" altLang="zh-CN" sz="2000" dirty="0"/>
              <a:t>20</a:t>
            </a:r>
            <a:r>
              <a:rPr lang="zh-CN" altLang="zh-CN" sz="2000" dirty="0"/>
              <a:t>，或小于</a:t>
            </a:r>
            <a:r>
              <a:rPr lang="en-US" altLang="zh-CN" sz="2000" dirty="0"/>
              <a:t>10</a:t>
            </a:r>
            <a:r>
              <a:rPr lang="zh-CN" altLang="zh-CN" sz="2000" dirty="0"/>
              <a:t>的书号、书名、作者和版次。</a:t>
            </a:r>
          </a:p>
          <a:p>
            <a:pPr marL="363538" indent="0">
              <a:buNone/>
            </a:pPr>
            <a:r>
              <a:rPr lang="en-US" altLang="zh-CN" sz="2000" dirty="0"/>
              <a:t>SELECT </a:t>
            </a:r>
            <a:r>
              <a:rPr lang="en-US" altLang="zh-CN" sz="2000" dirty="0" err="1"/>
              <a:t>BNo,BName,Author,EditNo</a:t>
            </a:r>
            <a:endParaRPr lang="zh-CN" altLang="zh-CN" sz="2000" dirty="0"/>
          </a:p>
          <a:p>
            <a:pPr marL="363538" indent="0">
              <a:buNone/>
            </a:pPr>
            <a:r>
              <a:rPr lang="en-US" altLang="zh-CN" sz="2000" dirty="0"/>
              <a:t>    FROM Book</a:t>
            </a:r>
            <a:endParaRPr lang="zh-CN" altLang="zh-CN" sz="2000" dirty="0"/>
          </a:p>
          <a:p>
            <a:pPr marL="363538" indent="0">
              <a:buNone/>
            </a:pPr>
            <a:r>
              <a:rPr lang="en-US" altLang="zh-CN" sz="2000" dirty="0"/>
              <a:t>    WHERE </a:t>
            </a:r>
            <a:r>
              <a:rPr lang="en-US" altLang="zh-CN" sz="2000" dirty="0" err="1"/>
              <a:t>SPrice</a:t>
            </a:r>
            <a:r>
              <a:rPr lang="en-US" altLang="zh-CN" sz="2000" dirty="0"/>
              <a:t> NOT BETWEEN 10 AND 20</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0F0130BD-A47B-584D-802E-5A467EF47D7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43</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16632"/>
            <a:ext cx="8151885"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548680"/>
            <a:ext cx="8712968" cy="5904656"/>
          </a:xfrm>
        </p:spPr>
        <p:txBody>
          <a:bodyPr>
            <a:noAutofit/>
          </a:bodyPr>
          <a:lstStyle/>
          <a:p>
            <a:pPr marL="0" indent="0">
              <a:buNone/>
            </a:pPr>
            <a:r>
              <a:rPr lang="zh-CN" altLang="zh-CN" sz="2000" dirty="0">
                <a:solidFill>
                  <a:srgbClr val="0000FF"/>
                </a:solidFill>
              </a:rPr>
              <a:t>枚举</a:t>
            </a:r>
            <a:r>
              <a:rPr lang="zh-CN" altLang="en-US" sz="2000" dirty="0">
                <a:solidFill>
                  <a:srgbClr val="0000FF"/>
                </a:solidFill>
              </a:rPr>
              <a:t>：</a:t>
            </a:r>
            <a:r>
              <a:rPr lang="zh-CN" altLang="zh-CN" sz="2000" dirty="0"/>
              <a:t>查询数据在多个值（</a:t>
            </a:r>
            <a:r>
              <a:rPr lang="en-US" altLang="zh-CN" sz="2000" dirty="0"/>
              <a:t>A</a:t>
            </a:r>
            <a:r>
              <a:rPr lang="zh-CN" altLang="zh-CN" sz="2000" dirty="0"/>
              <a:t>，</a:t>
            </a:r>
            <a:r>
              <a:rPr lang="en-US" altLang="zh-CN" sz="2000" dirty="0"/>
              <a:t>B</a:t>
            </a:r>
            <a:r>
              <a:rPr lang="zh-CN" altLang="zh-CN" sz="2000" dirty="0"/>
              <a:t>，</a:t>
            </a:r>
            <a:r>
              <a:rPr lang="en-US" altLang="zh-CN" sz="2000" dirty="0"/>
              <a:t>C</a:t>
            </a:r>
            <a:r>
              <a:rPr lang="zh-CN" altLang="zh-CN" sz="2000" dirty="0"/>
              <a:t>，…）之中，则可用</a:t>
            </a:r>
            <a:r>
              <a:rPr lang="en-US" altLang="zh-CN" sz="2000" dirty="0"/>
              <a:t>IN(A,B,C,</a:t>
            </a:r>
            <a:r>
              <a:rPr lang="zh-CN" altLang="zh-CN" sz="2000" dirty="0"/>
              <a:t>…</a:t>
            </a:r>
            <a:r>
              <a:rPr lang="en-US" altLang="zh-CN" sz="2000" dirty="0"/>
              <a:t>)</a:t>
            </a:r>
            <a:r>
              <a:rPr lang="zh-CN" altLang="zh-CN" sz="2000" dirty="0"/>
              <a:t>。</a:t>
            </a:r>
            <a:endParaRPr lang="en-US" altLang="zh-CN" sz="2000" dirty="0"/>
          </a:p>
          <a:p>
            <a:pPr marL="363538" indent="0">
              <a:buNone/>
            </a:pPr>
            <a:r>
              <a:rPr lang="en-US" altLang="zh-CN" sz="2000" dirty="0"/>
              <a:t>&lt;</a:t>
            </a:r>
            <a:r>
              <a:rPr lang="zh-CN" altLang="zh-CN" sz="2000" dirty="0"/>
              <a:t>属性</a:t>
            </a:r>
            <a:r>
              <a:rPr lang="en-US" altLang="zh-CN" sz="2000" dirty="0"/>
              <a:t>&gt; IN </a:t>
            </a:r>
            <a:r>
              <a:rPr lang="zh-CN" altLang="zh-CN" sz="2000" dirty="0"/>
              <a:t>（</a:t>
            </a:r>
            <a:r>
              <a:rPr lang="en-US" altLang="zh-CN" sz="2000" dirty="0"/>
              <a:t>&lt;</a:t>
            </a:r>
            <a:r>
              <a:rPr lang="zh-CN" altLang="zh-CN" sz="2000" dirty="0"/>
              <a:t>表达式</a:t>
            </a:r>
            <a:r>
              <a:rPr lang="en-US" altLang="zh-CN" sz="2000" dirty="0"/>
              <a:t>1&gt;</a:t>
            </a:r>
            <a:r>
              <a:rPr lang="zh-CN" altLang="zh-CN" sz="2000" dirty="0"/>
              <a:t>，</a:t>
            </a:r>
            <a:r>
              <a:rPr lang="en-US" altLang="zh-CN" sz="2000" dirty="0"/>
              <a:t>&lt;</a:t>
            </a:r>
            <a:r>
              <a:rPr lang="zh-CN" altLang="zh-CN" sz="2000" dirty="0"/>
              <a:t>表达式</a:t>
            </a:r>
            <a:r>
              <a:rPr lang="en-US" altLang="zh-CN" sz="2000" dirty="0"/>
              <a:t>2&gt;</a:t>
            </a:r>
            <a:r>
              <a:rPr lang="zh-CN" altLang="zh-CN" sz="2000" dirty="0"/>
              <a:t>，</a:t>
            </a:r>
            <a:r>
              <a:rPr lang="en-US" altLang="zh-CN" sz="2000" dirty="0"/>
              <a:t>…</a:t>
            </a:r>
            <a:r>
              <a:rPr lang="zh-CN" altLang="zh-CN" sz="2000" dirty="0"/>
              <a:t>，</a:t>
            </a:r>
            <a:r>
              <a:rPr lang="en-US" altLang="zh-CN" sz="2000" dirty="0"/>
              <a:t>&lt;</a:t>
            </a:r>
            <a:r>
              <a:rPr lang="zh-CN" altLang="zh-CN" sz="2000" dirty="0"/>
              <a:t>表达式</a:t>
            </a:r>
            <a:r>
              <a:rPr lang="en-US" altLang="zh-CN" sz="2000" dirty="0"/>
              <a:t>n&gt;</a:t>
            </a:r>
            <a:r>
              <a:rPr lang="zh-CN" altLang="zh-CN" sz="2000" dirty="0"/>
              <a:t>）</a:t>
            </a:r>
          </a:p>
          <a:p>
            <a:pPr marL="0" indent="0">
              <a:buNone/>
            </a:pPr>
            <a:r>
              <a:rPr lang="zh-CN" altLang="zh-CN" sz="2000" dirty="0">
                <a:solidFill>
                  <a:srgbClr val="0000FF"/>
                </a:solidFill>
              </a:rPr>
              <a:t>例如：</a:t>
            </a:r>
            <a:r>
              <a:rPr lang="zh-CN" altLang="zh-CN" sz="2000" dirty="0"/>
              <a:t>在</a:t>
            </a:r>
            <a:r>
              <a:rPr lang="en-US" altLang="zh-CN" sz="2000" dirty="0" err="1"/>
              <a:t>Cust</a:t>
            </a:r>
            <a:r>
              <a:rPr lang="zh-CN" altLang="zh-CN" sz="2000" dirty="0"/>
              <a:t>中，查询户号为</a:t>
            </a:r>
            <a:r>
              <a:rPr lang="en-US" altLang="zh-CN" sz="2000" dirty="0"/>
              <a:t>C001</a:t>
            </a:r>
            <a:r>
              <a:rPr lang="zh-CN" altLang="zh-CN" sz="2000" dirty="0"/>
              <a:t>，</a:t>
            </a:r>
            <a:r>
              <a:rPr lang="en-US" altLang="zh-CN" sz="2000" dirty="0"/>
              <a:t>C002</a:t>
            </a:r>
            <a:r>
              <a:rPr lang="zh-CN" altLang="zh-CN" sz="2000" dirty="0"/>
              <a:t>和</a:t>
            </a:r>
            <a:r>
              <a:rPr lang="en-US" altLang="zh-CN" sz="2000" dirty="0"/>
              <a:t>C006</a:t>
            </a:r>
            <a:r>
              <a:rPr lang="zh-CN" altLang="zh-CN" sz="2000" dirty="0"/>
              <a:t>的户名、性别和生日。</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In ('C001', 'C002', 'C006')    </a:t>
            </a:r>
            <a:r>
              <a:rPr lang="zh-CN" altLang="zh-CN" sz="2000" dirty="0"/>
              <a:t>或者</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='C001' OR </a:t>
            </a:r>
            <a:r>
              <a:rPr lang="en-US" altLang="zh-CN" sz="2000" dirty="0" err="1"/>
              <a:t>CNo</a:t>
            </a:r>
            <a:r>
              <a:rPr lang="en-US" altLang="zh-CN" sz="2000" dirty="0"/>
              <a:t>='C002' OR </a:t>
            </a:r>
            <a:r>
              <a:rPr lang="en-US" altLang="zh-CN" sz="2000" dirty="0" err="1"/>
              <a:t>CNo</a:t>
            </a:r>
            <a:r>
              <a:rPr lang="en-US" altLang="zh-CN" sz="2000" dirty="0"/>
              <a:t>='C006'</a:t>
            </a:r>
            <a:endParaRPr lang="zh-CN" altLang="zh-CN" sz="2000" dirty="0"/>
          </a:p>
          <a:p>
            <a:pPr marL="0" indent="0">
              <a:buNone/>
            </a:pPr>
            <a:r>
              <a:rPr lang="zh-CN" altLang="zh-CN" sz="2000" dirty="0">
                <a:solidFill>
                  <a:srgbClr val="0000FF"/>
                </a:solidFill>
              </a:rPr>
              <a:t>例如：</a:t>
            </a:r>
            <a:r>
              <a:rPr lang="zh-CN" altLang="zh-CN" sz="2000" dirty="0"/>
              <a:t>在</a:t>
            </a:r>
            <a:r>
              <a:rPr lang="en-US" altLang="zh-CN" sz="2000" dirty="0" err="1"/>
              <a:t>Cust</a:t>
            </a:r>
            <a:r>
              <a:rPr lang="zh-CN" altLang="zh-CN" sz="2000" dirty="0"/>
              <a:t>中，查询户号不是</a:t>
            </a:r>
            <a:r>
              <a:rPr lang="en-US" altLang="zh-CN" sz="2000" dirty="0"/>
              <a:t>C001</a:t>
            </a:r>
            <a:r>
              <a:rPr lang="zh-CN" altLang="zh-CN" sz="2000" dirty="0"/>
              <a:t>，</a:t>
            </a:r>
            <a:r>
              <a:rPr lang="en-US" altLang="zh-CN" sz="2000" dirty="0"/>
              <a:t>C002</a:t>
            </a:r>
            <a:r>
              <a:rPr lang="zh-CN" altLang="zh-CN" sz="2000" dirty="0"/>
              <a:t>和</a:t>
            </a:r>
            <a:r>
              <a:rPr lang="en-US" altLang="zh-CN" sz="2000" dirty="0"/>
              <a:t>C006</a:t>
            </a:r>
            <a:r>
              <a:rPr lang="zh-CN" altLang="zh-CN" sz="2000" dirty="0"/>
              <a:t>的户名、性别和生日。</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NOT In ('C001', 'C002', 'C006')</a:t>
            </a:r>
            <a:endParaRPr lang="zh-CN" altLang="zh-CN" sz="2000" dirty="0"/>
          </a:p>
        </p:txBody>
      </p:sp>
      <p:sp>
        <p:nvSpPr>
          <p:cNvPr id="4" name="日期占位符 3"/>
          <p:cNvSpPr>
            <a:spLocks noGrp="1"/>
          </p:cNvSpPr>
          <p:nvPr>
            <p:ph type="dt" sz="half" idx="10"/>
          </p:nvPr>
        </p:nvSpPr>
        <p:spPr>
          <a:xfrm>
            <a:off x="457200" y="6356350"/>
            <a:ext cx="2724135" cy="365125"/>
          </a:xfrm>
        </p:spPr>
        <p:txBody>
          <a:bodyPr/>
          <a:lstStyle/>
          <a:p>
            <a:fld id="{785B1F0B-AFDE-C74A-80F0-4A4FFF8516C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a:xfrm>
            <a:off x="6553200" y="6356350"/>
            <a:ext cx="2034435" cy="365125"/>
          </a:xfrm>
        </p:spPr>
        <p:txBody>
          <a:bodyPr/>
          <a:lstStyle/>
          <a:p>
            <a:fld id="{C46E5E69-9A6D-4AF8-BC2D-C556A9893D8F}" type="slidenum">
              <a:rPr lang="zh-CN" altLang="en-US" smtClean="0"/>
              <a:pPr/>
              <a:t>44</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solidFill>
                  <a:srgbClr val="0000FF"/>
                </a:solidFill>
              </a:rPr>
              <a:t>模糊</a:t>
            </a:r>
            <a:r>
              <a:rPr lang="zh-CN" altLang="en-US" sz="2000" dirty="0">
                <a:solidFill>
                  <a:srgbClr val="0000FF"/>
                </a:solidFill>
              </a:rPr>
              <a:t>：</a:t>
            </a:r>
            <a:r>
              <a:rPr lang="zh-CN" altLang="zh-CN" sz="2000" dirty="0"/>
              <a:t>查询数据仅包含若干特点的模糊信息，则可以使用</a:t>
            </a:r>
            <a:r>
              <a:rPr lang="en-US" altLang="zh-CN" sz="2000" dirty="0"/>
              <a:t>LIKE</a:t>
            </a:r>
            <a:r>
              <a:rPr lang="zh-CN" altLang="zh-CN" sz="2000" dirty="0"/>
              <a:t>和通配符。</a:t>
            </a:r>
            <a:endParaRPr lang="en-US" altLang="zh-CN" sz="2000" dirty="0"/>
          </a:p>
          <a:p>
            <a:pPr marL="363538" indent="0">
              <a:buNone/>
            </a:pPr>
            <a:r>
              <a:rPr lang="en-US" altLang="zh-CN" sz="2000" dirty="0"/>
              <a:t>&lt;</a:t>
            </a:r>
            <a:r>
              <a:rPr lang="zh-CN" altLang="zh-CN" sz="2000" dirty="0"/>
              <a:t>属性</a:t>
            </a:r>
            <a:r>
              <a:rPr lang="en-US" altLang="zh-CN" sz="2000" dirty="0"/>
              <a:t>&gt; LIKE &lt;</a:t>
            </a:r>
            <a:r>
              <a:rPr lang="zh-CN" altLang="zh-CN" sz="2000" dirty="0"/>
              <a:t>表达式</a:t>
            </a:r>
            <a:r>
              <a:rPr lang="en-US" altLang="zh-CN" sz="2000" dirty="0"/>
              <a:t>&gt;</a:t>
            </a:r>
            <a:endParaRPr lang="zh-CN" altLang="zh-CN" sz="2000" dirty="0"/>
          </a:p>
          <a:p>
            <a:r>
              <a:rPr lang="zh-CN" altLang="zh-CN" sz="2000" dirty="0">
                <a:solidFill>
                  <a:srgbClr val="0000FF"/>
                </a:solidFill>
              </a:rPr>
              <a:t>常用通配符：</a:t>
            </a:r>
            <a:r>
              <a:rPr lang="en-US" altLang="zh-CN" sz="2000" dirty="0">
                <a:solidFill>
                  <a:srgbClr val="0000FF"/>
                </a:solidFill>
              </a:rPr>
              <a:t>%</a:t>
            </a:r>
            <a:r>
              <a:rPr lang="zh-CN" altLang="en-US" sz="2000" dirty="0">
                <a:solidFill>
                  <a:srgbClr val="0000FF"/>
                </a:solidFill>
              </a:rPr>
              <a:t>、</a:t>
            </a:r>
            <a:r>
              <a:rPr lang="en-US" altLang="zh-CN" sz="2000" dirty="0">
                <a:solidFill>
                  <a:srgbClr val="0000FF"/>
                </a:solidFill>
              </a:rPr>
              <a:t>_</a:t>
            </a:r>
            <a:r>
              <a:rPr lang="zh-CN" altLang="en-US" sz="2000" dirty="0">
                <a:solidFill>
                  <a:srgbClr val="0000FF"/>
                </a:solidFill>
              </a:rPr>
              <a:t>、</a:t>
            </a:r>
            <a:r>
              <a:rPr lang="en-US" altLang="zh-CN" sz="2000" dirty="0">
                <a:solidFill>
                  <a:srgbClr val="0000FF"/>
                </a:solidFill>
              </a:rPr>
              <a:t>[</a:t>
            </a:r>
            <a:r>
              <a:rPr lang="zh-CN" altLang="zh-CN" sz="2000" dirty="0">
                <a:solidFill>
                  <a:srgbClr val="0000FF"/>
                </a:solidFill>
              </a:rPr>
              <a:t>字符串</a:t>
            </a:r>
            <a:r>
              <a:rPr lang="en-US" altLang="zh-CN" sz="2000" dirty="0">
                <a:solidFill>
                  <a:srgbClr val="0000FF"/>
                </a:solidFill>
              </a:rPr>
              <a:t>]</a:t>
            </a:r>
            <a:r>
              <a:rPr lang="zh-CN" altLang="en-US" sz="2000" dirty="0">
                <a:solidFill>
                  <a:srgbClr val="0000FF"/>
                </a:solidFill>
              </a:rPr>
              <a:t>、</a:t>
            </a:r>
            <a:r>
              <a:rPr lang="en-US" altLang="zh-CN" sz="2000" dirty="0">
                <a:solidFill>
                  <a:srgbClr val="0000FF"/>
                </a:solidFill>
              </a:rPr>
              <a:t>[^</a:t>
            </a:r>
            <a:r>
              <a:rPr lang="zh-CN" altLang="zh-CN" sz="2000" dirty="0">
                <a:solidFill>
                  <a:srgbClr val="0000FF"/>
                </a:solidFill>
              </a:rPr>
              <a:t>字符串</a:t>
            </a:r>
            <a:r>
              <a:rPr lang="en-US" altLang="zh-CN" sz="2000" dirty="0">
                <a:solidFill>
                  <a:srgbClr val="0000FF"/>
                </a:solidFill>
              </a:rPr>
              <a:t>]</a:t>
            </a:r>
            <a:endParaRPr lang="zh-CN" altLang="zh-CN" sz="2000" dirty="0">
              <a:solidFill>
                <a:srgbClr val="0000FF"/>
              </a:solidFill>
            </a:endParaRPr>
          </a:p>
          <a:p>
            <a:r>
              <a:rPr lang="en-US" altLang="zh-CN" sz="2000" dirty="0"/>
              <a:t>%</a:t>
            </a:r>
            <a:r>
              <a:rPr lang="zh-CN" altLang="zh-CN" sz="2000" dirty="0"/>
              <a:t>：表示任意长度（包括长度为</a:t>
            </a:r>
            <a:r>
              <a:rPr lang="en-US" altLang="zh-CN" sz="2000" dirty="0"/>
              <a:t>0</a:t>
            </a:r>
            <a:r>
              <a:rPr lang="zh-CN" altLang="zh-CN" sz="2000" dirty="0"/>
              <a:t>）的字符串。例如：</a:t>
            </a:r>
            <a:r>
              <a:rPr lang="en-US" altLang="zh-CN" sz="2000" dirty="0" err="1"/>
              <a:t>x%y</a:t>
            </a:r>
            <a:r>
              <a:rPr lang="zh-CN" altLang="zh-CN" sz="2000" dirty="0"/>
              <a:t>表示以</a:t>
            </a:r>
            <a:r>
              <a:rPr lang="en-US" altLang="zh-CN" sz="2000" dirty="0"/>
              <a:t>x</a:t>
            </a:r>
            <a:r>
              <a:rPr lang="zh-CN" altLang="zh-CN" sz="2000" dirty="0"/>
              <a:t>开头，以</a:t>
            </a:r>
            <a:r>
              <a:rPr lang="en-US" altLang="zh-CN" sz="2000" dirty="0"/>
              <a:t>y</a:t>
            </a:r>
            <a:r>
              <a:rPr lang="zh-CN" altLang="zh-CN" sz="2000" dirty="0"/>
              <a:t>结尾的任意长度的字符串。</a:t>
            </a:r>
          </a:p>
          <a:p>
            <a:r>
              <a:rPr lang="en-US" altLang="zh-CN" sz="2000" dirty="0"/>
              <a:t>_(</a:t>
            </a:r>
            <a:r>
              <a:rPr lang="zh-CN" altLang="zh-CN" sz="2000" dirty="0"/>
              <a:t>下划线</a:t>
            </a:r>
            <a:r>
              <a:rPr lang="en-US" altLang="zh-CN" sz="2000" dirty="0"/>
              <a:t>)</a:t>
            </a:r>
            <a:r>
              <a:rPr lang="zh-CN" altLang="zh-CN" sz="2000" dirty="0"/>
              <a:t>：表示任意单个字符。例如：</a:t>
            </a:r>
            <a:r>
              <a:rPr lang="en-US" altLang="zh-CN" sz="2000" dirty="0" err="1"/>
              <a:t>x_y</a:t>
            </a:r>
            <a:r>
              <a:rPr lang="zh-CN" altLang="zh-CN" sz="2000" dirty="0"/>
              <a:t>表示以</a:t>
            </a:r>
            <a:r>
              <a:rPr lang="en-US" altLang="zh-CN" sz="2000" dirty="0"/>
              <a:t>x</a:t>
            </a:r>
            <a:r>
              <a:rPr lang="zh-CN" altLang="zh-CN" sz="2000" dirty="0"/>
              <a:t>开头，以</a:t>
            </a:r>
            <a:r>
              <a:rPr lang="en-US" altLang="zh-CN" sz="2000" dirty="0"/>
              <a:t>y</a:t>
            </a:r>
            <a:r>
              <a:rPr lang="zh-CN" altLang="zh-CN" sz="2000" dirty="0"/>
              <a:t>结尾的长度为</a:t>
            </a:r>
            <a:r>
              <a:rPr lang="en-US" altLang="zh-CN" sz="2000" dirty="0"/>
              <a:t>3</a:t>
            </a:r>
            <a:r>
              <a:rPr lang="zh-CN" altLang="zh-CN" sz="2000" dirty="0"/>
              <a:t>的任意字符串。如果字符集为</a:t>
            </a:r>
            <a:r>
              <a:rPr lang="en-US" altLang="zh-CN" sz="2000" dirty="0"/>
              <a:t>ASCII</a:t>
            </a:r>
            <a:r>
              <a:rPr lang="zh-CN" altLang="zh-CN" sz="2000" dirty="0"/>
              <a:t>，则一个汉字需要两个</a:t>
            </a:r>
            <a:r>
              <a:rPr lang="en-US" altLang="zh-CN" sz="2000" dirty="0"/>
              <a:t>_</a:t>
            </a:r>
            <a:r>
              <a:rPr lang="zh-CN" altLang="zh-CN" sz="2000" dirty="0"/>
              <a:t>；如果字符集为</a:t>
            </a:r>
            <a:r>
              <a:rPr lang="en-US" altLang="zh-CN" sz="2000" dirty="0"/>
              <a:t>GBK</a:t>
            </a:r>
            <a:r>
              <a:rPr lang="zh-CN" altLang="zh-CN" sz="2000" dirty="0"/>
              <a:t>，则一个汉字只需要一个</a:t>
            </a:r>
            <a:r>
              <a:rPr lang="en-US" altLang="zh-CN" sz="2000" dirty="0"/>
              <a:t>_</a:t>
            </a:r>
            <a:r>
              <a:rPr lang="zh-CN" altLang="zh-CN" sz="2000" dirty="0"/>
              <a:t>。</a:t>
            </a:r>
          </a:p>
          <a:p>
            <a:r>
              <a:rPr lang="en-US" altLang="zh-CN" sz="2000" dirty="0"/>
              <a:t>ESCAPE</a:t>
            </a:r>
            <a:r>
              <a:rPr lang="zh-CN" altLang="zh-CN" sz="2000" dirty="0"/>
              <a:t>（转义）</a:t>
            </a:r>
            <a:r>
              <a:rPr lang="en-US" altLang="zh-CN" sz="2000" dirty="0"/>
              <a:t>:</a:t>
            </a:r>
            <a:r>
              <a:rPr lang="zh-CN" altLang="zh-CN" sz="2000" dirty="0"/>
              <a:t>当用户要查询的字符串本身就含有</a:t>
            </a:r>
            <a:r>
              <a:rPr lang="en-US" altLang="zh-CN" sz="2000" dirty="0"/>
              <a:t>%</a:t>
            </a:r>
            <a:r>
              <a:rPr lang="zh-CN" altLang="zh-CN" sz="2000" dirty="0"/>
              <a:t>或</a:t>
            </a:r>
            <a:r>
              <a:rPr lang="en-US" altLang="zh-CN" sz="2000" dirty="0"/>
              <a:t>_</a:t>
            </a:r>
            <a:r>
              <a:rPr lang="zh-CN" altLang="zh-CN" sz="2000" dirty="0"/>
              <a:t>时，需要使用</a:t>
            </a:r>
            <a:r>
              <a:rPr lang="en-US" altLang="zh-CN" sz="2000" dirty="0"/>
              <a:t>ESCAPE '</a:t>
            </a:r>
            <a:r>
              <a:rPr lang="zh-CN" altLang="zh-CN" sz="2000" dirty="0"/>
              <a:t>字符</a:t>
            </a:r>
            <a:r>
              <a:rPr lang="en-US" altLang="zh-CN" sz="2000" dirty="0"/>
              <a:t>'</a:t>
            </a:r>
            <a:r>
              <a:rPr lang="zh-CN" altLang="zh-CN" sz="2000" dirty="0"/>
              <a:t>指定转移字符进行转义。</a:t>
            </a:r>
            <a:endParaRPr lang="en-US" altLang="zh-CN" sz="2000" dirty="0"/>
          </a:p>
          <a:p>
            <a:pPr marL="0" indent="0">
              <a:buNone/>
            </a:pPr>
            <a:r>
              <a:rPr lang="en-US" altLang="zh-CN" sz="2000" dirty="0"/>
              <a:t>    </a:t>
            </a:r>
            <a:r>
              <a:rPr lang="zh-CN" altLang="zh-CN" sz="2000" dirty="0"/>
              <a:t>例如：</a:t>
            </a:r>
            <a:r>
              <a:rPr lang="en-US" altLang="zh-CN" sz="2000" dirty="0"/>
              <a:t>LIKE 'DB\_%' ESCAPE  '\' </a:t>
            </a:r>
            <a:r>
              <a:rPr lang="zh-CN" altLang="zh-CN" sz="2000" dirty="0"/>
              <a:t>表示以“</a:t>
            </a:r>
            <a:r>
              <a:rPr lang="en-US" altLang="zh-CN" sz="2000" dirty="0"/>
              <a:t>DB_</a:t>
            </a:r>
            <a:r>
              <a:rPr lang="zh-CN" altLang="zh-CN" sz="2000" dirty="0"/>
              <a:t>”开头。</a:t>
            </a:r>
          </a:p>
          <a:p>
            <a:r>
              <a:rPr lang="en-US" altLang="zh-CN" sz="2000" dirty="0"/>
              <a:t>[</a:t>
            </a:r>
            <a:r>
              <a:rPr lang="zh-CN" altLang="zh-CN" sz="2000" dirty="0"/>
              <a:t>字符串</a:t>
            </a:r>
            <a:r>
              <a:rPr lang="en-US" altLang="zh-CN" sz="2000" dirty="0"/>
              <a:t>]/[^</a:t>
            </a:r>
            <a:r>
              <a:rPr lang="zh-CN" altLang="zh-CN" sz="2000" dirty="0"/>
              <a:t>字符串</a:t>
            </a:r>
            <a:r>
              <a:rPr lang="en-US" altLang="zh-CN" sz="2000" dirty="0"/>
              <a:t>]</a:t>
            </a:r>
            <a:r>
              <a:rPr lang="zh-CN" altLang="zh-CN" sz="2000" dirty="0"/>
              <a:t>：表示与</a:t>
            </a:r>
            <a:r>
              <a:rPr lang="en-US" altLang="zh-CN" sz="2000" dirty="0"/>
              <a:t>[]</a:t>
            </a:r>
            <a:r>
              <a:rPr lang="zh-CN" altLang="zh-CN" sz="2000" dirty="0"/>
              <a:t>中的字符匹配；</a:t>
            </a:r>
            <a:r>
              <a:rPr lang="en-US" altLang="zh-CN" sz="2000" dirty="0"/>
              <a:t>^</a:t>
            </a:r>
            <a:r>
              <a:rPr lang="zh-CN" altLang="zh-CN" sz="2000" dirty="0"/>
              <a:t>表示不与</a:t>
            </a:r>
            <a:r>
              <a:rPr lang="en-US" altLang="zh-CN" sz="2000" dirty="0"/>
              <a:t>[]</a:t>
            </a:r>
            <a:r>
              <a:rPr lang="zh-CN" altLang="zh-CN" sz="2000" dirty="0"/>
              <a:t>中的字符匹配。</a:t>
            </a:r>
          </a:p>
          <a:p>
            <a:pPr marL="363538" indent="0">
              <a:buNone/>
            </a:pPr>
            <a:endParaRPr lang="zh-CN" altLang="zh-CN" sz="2000" dirty="0"/>
          </a:p>
        </p:txBody>
      </p:sp>
      <p:sp>
        <p:nvSpPr>
          <p:cNvPr id="4" name="日期占位符 3"/>
          <p:cNvSpPr>
            <a:spLocks noGrp="1"/>
          </p:cNvSpPr>
          <p:nvPr>
            <p:ph type="dt" sz="half" idx="10"/>
          </p:nvPr>
        </p:nvSpPr>
        <p:spPr/>
        <p:txBody>
          <a:bodyPr/>
          <a:lstStyle/>
          <a:p>
            <a:fld id="{780DD334-6026-3E41-B68B-FC7D57B9B694}"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45</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err="1"/>
              <a:t>Cust</a:t>
            </a:r>
            <a:r>
              <a:rPr lang="zh-CN" altLang="zh-CN" sz="2000" dirty="0"/>
              <a:t>中，查询姓李的户号、户名和生日。</a:t>
            </a:r>
          </a:p>
          <a:p>
            <a:pPr marL="363538" indent="0">
              <a:buNone/>
            </a:pPr>
            <a:r>
              <a:rPr lang="en-US" altLang="zh-CN" sz="2000" dirty="0"/>
              <a:t>SELECT </a:t>
            </a:r>
            <a:r>
              <a:rPr lang="en-US" altLang="zh-CN" sz="2000" dirty="0" err="1"/>
              <a:t>CNo,CName,Birth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CName</a:t>
            </a:r>
            <a:r>
              <a:rPr lang="en-US" altLang="zh-CN" sz="2000" dirty="0"/>
              <a:t> LIKE '</a:t>
            </a:r>
            <a:r>
              <a:rPr lang="zh-CN" altLang="zh-CN" sz="2000" dirty="0"/>
              <a:t>李</a:t>
            </a:r>
            <a:r>
              <a:rPr lang="en-US" altLang="zh-CN" sz="2000" dirty="0"/>
              <a:t>%'</a:t>
            </a:r>
            <a:endParaRPr lang="zh-CN" altLang="zh-CN" sz="2000" dirty="0"/>
          </a:p>
          <a:p>
            <a:r>
              <a:rPr lang="zh-CN" altLang="zh-CN" sz="2000" dirty="0"/>
              <a:t>例如：在</a:t>
            </a:r>
            <a:r>
              <a:rPr lang="en-US" altLang="zh-CN" sz="2000" dirty="0" err="1"/>
              <a:t>Cust</a:t>
            </a:r>
            <a:r>
              <a:rPr lang="zh-CN" altLang="zh-CN" sz="2000" dirty="0"/>
              <a:t>中，查询不姓李的户号、户名和生日。</a:t>
            </a:r>
          </a:p>
          <a:p>
            <a:pPr marL="363538" indent="0">
              <a:buNone/>
            </a:pPr>
            <a:r>
              <a:rPr lang="en-US" altLang="zh-CN" sz="2000" dirty="0"/>
              <a:t>SELECT </a:t>
            </a:r>
            <a:r>
              <a:rPr lang="en-US" altLang="zh-CN" sz="2000" dirty="0" err="1"/>
              <a:t>CNo,CName,Birth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CName</a:t>
            </a:r>
            <a:r>
              <a:rPr lang="en-US" altLang="zh-CN" sz="2000" dirty="0"/>
              <a:t> NOT LIKE '</a:t>
            </a:r>
            <a:r>
              <a:rPr lang="zh-CN" altLang="zh-CN" sz="2000" dirty="0"/>
              <a:t>李</a:t>
            </a:r>
            <a:r>
              <a:rPr lang="en-US" altLang="zh-CN" sz="2000" dirty="0"/>
              <a:t>%'</a:t>
            </a:r>
            <a:endParaRPr lang="zh-CN" altLang="zh-CN" sz="2000" dirty="0"/>
          </a:p>
          <a:p>
            <a:r>
              <a:rPr lang="zh-CN" altLang="zh-CN" sz="2000" dirty="0"/>
              <a:t>例如：在</a:t>
            </a:r>
            <a:r>
              <a:rPr lang="en-US" altLang="zh-CN" sz="2000" dirty="0"/>
              <a:t>Press</a:t>
            </a:r>
            <a:r>
              <a:rPr lang="zh-CN" altLang="zh-CN" sz="2000" dirty="0"/>
              <a:t>中，查询倒数第</a:t>
            </a:r>
            <a:r>
              <a:rPr lang="en-US" altLang="zh-CN" sz="2000" dirty="0"/>
              <a:t>2</a:t>
            </a:r>
            <a:r>
              <a:rPr lang="zh-CN" altLang="zh-CN" sz="2000" dirty="0"/>
              <a:t>个尾数为</a:t>
            </a:r>
            <a:r>
              <a:rPr lang="en-US" altLang="zh-CN" sz="2000" dirty="0"/>
              <a:t>1</a:t>
            </a:r>
            <a:r>
              <a:rPr lang="zh-CN" altLang="zh-CN" sz="2000" dirty="0"/>
              <a:t>的社号、社名和邮编。</a:t>
            </a:r>
          </a:p>
          <a:p>
            <a:pPr marL="363538" indent="0">
              <a:buNone/>
            </a:pPr>
            <a:r>
              <a:rPr lang="en-US" altLang="zh-CN" sz="2000" dirty="0"/>
              <a:t>SELECT </a:t>
            </a:r>
            <a:r>
              <a:rPr lang="en-US" altLang="zh-CN" sz="2000" dirty="0" err="1"/>
              <a:t>PNo,PName,PCode</a:t>
            </a:r>
            <a:endParaRPr lang="zh-CN" altLang="zh-CN" sz="2000" dirty="0"/>
          </a:p>
          <a:p>
            <a:pPr marL="363538" indent="0">
              <a:buNone/>
            </a:pPr>
            <a:r>
              <a:rPr lang="en-US" altLang="zh-CN" sz="2000" dirty="0"/>
              <a:t>    FROM Press</a:t>
            </a:r>
            <a:endParaRPr lang="zh-CN" altLang="zh-CN" sz="2000" dirty="0"/>
          </a:p>
          <a:p>
            <a:pPr marL="363538" indent="0">
              <a:buNone/>
            </a:pPr>
            <a:r>
              <a:rPr lang="en-US" altLang="zh-CN" sz="2000" dirty="0"/>
              <a:t>    WHERE </a:t>
            </a:r>
            <a:r>
              <a:rPr lang="en-US" altLang="zh-CN" sz="2000" dirty="0" err="1"/>
              <a:t>PNo</a:t>
            </a:r>
            <a:r>
              <a:rPr lang="en-US" altLang="zh-CN" sz="2000" dirty="0"/>
              <a:t> LIKE '%1_'</a:t>
            </a:r>
            <a:endParaRPr lang="zh-CN" altLang="zh-CN" sz="2000" dirty="0"/>
          </a:p>
        </p:txBody>
      </p:sp>
      <p:sp>
        <p:nvSpPr>
          <p:cNvPr id="4" name="日期占位符 3"/>
          <p:cNvSpPr>
            <a:spLocks noGrp="1"/>
          </p:cNvSpPr>
          <p:nvPr>
            <p:ph type="dt" sz="half" idx="10"/>
          </p:nvPr>
        </p:nvSpPr>
        <p:spPr/>
        <p:txBody>
          <a:bodyPr/>
          <a:lstStyle/>
          <a:p>
            <a:fld id="{042B6DF5-E747-8E44-85AB-057E4966752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46</a:t>
            </a:fld>
            <a:endParaRPr lang="zh-CN" altLang="en-US" dirty="0"/>
          </a:p>
        </p:txBody>
      </p:sp>
    </p:spTree>
    <p:extLst>
      <p:ext uri="{BB962C8B-B14F-4D97-AF65-F5344CB8AC3E}">
        <p14:creationId xmlns:p14="http://schemas.microsoft.com/office/powerpoint/2010/main" val="3268209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Book</a:t>
            </a:r>
            <a:r>
              <a:rPr lang="zh-CN" altLang="zh-CN" sz="2000" dirty="0"/>
              <a:t>中，先把“</a:t>
            </a:r>
            <a:r>
              <a:rPr lang="en-US" altLang="zh-CN" sz="2000" dirty="0"/>
              <a:t>Access</a:t>
            </a:r>
            <a:r>
              <a:rPr lang="zh-CN" altLang="zh-CN" sz="2000" dirty="0"/>
              <a:t>数据库应用”改为“</a:t>
            </a:r>
            <a:r>
              <a:rPr lang="en-US" altLang="zh-CN" sz="2000" dirty="0"/>
              <a:t>Access_2010</a:t>
            </a:r>
            <a:r>
              <a:rPr lang="zh-CN" altLang="zh-CN" sz="2000" dirty="0"/>
              <a:t>数据库应用”，再查询以“</a:t>
            </a:r>
            <a:r>
              <a:rPr lang="en-US" altLang="zh-CN" sz="2000" dirty="0"/>
              <a:t>Access_</a:t>
            </a:r>
            <a:r>
              <a:rPr lang="zh-CN" altLang="zh-CN" sz="2000" dirty="0"/>
              <a:t>”开头的书名和售价。</a:t>
            </a:r>
          </a:p>
          <a:p>
            <a:pPr marL="363538" indent="0">
              <a:buNone/>
            </a:pPr>
            <a:r>
              <a:rPr lang="en-US" altLang="zh-CN" sz="2000" dirty="0"/>
              <a:t>UPDATE Book</a:t>
            </a:r>
            <a:endParaRPr lang="zh-CN" altLang="zh-CN" sz="2000" dirty="0"/>
          </a:p>
          <a:p>
            <a:pPr marL="363538" indent="0">
              <a:buNone/>
            </a:pPr>
            <a:r>
              <a:rPr lang="en-US" altLang="zh-CN" sz="2000" dirty="0"/>
              <a:t>    SET </a:t>
            </a:r>
            <a:r>
              <a:rPr lang="en-US" altLang="zh-CN" sz="2000" dirty="0" err="1"/>
              <a:t>BName</a:t>
            </a:r>
            <a:r>
              <a:rPr lang="en-US" altLang="zh-CN" sz="2000" dirty="0"/>
              <a:t>='Access_2010</a:t>
            </a:r>
            <a:r>
              <a:rPr lang="zh-CN" altLang="zh-CN" sz="2000" dirty="0"/>
              <a:t>数据库应用</a:t>
            </a:r>
            <a:r>
              <a:rPr lang="en-US" altLang="zh-CN" sz="2000" dirty="0"/>
              <a:t>'</a:t>
            </a:r>
            <a:endParaRPr lang="zh-CN" altLang="zh-CN" sz="2000" dirty="0"/>
          </a:p>
          <a:p>
            <a:pPr marL="363538" indent="0">
              <a:buNone/>
            </a:pPr>
            <a:r>
              <a:rPr lang="en-US" altLang="zh-CN" sz="2000" dirty="0"/>
              <a:t>    WHERE </a:t>
            </a:r>
            <a:r>
              <a:rPr lang="en-US" altLang="zh-CN" sz="2000" dirty="0" err="1"/>
              <a:t>BName</a:t>
            </a:r>
            <a:r>
              <a:rPr lang="en-US" altLang="zh-CN" sz="2000" dirty="0"/>
              <a:t>='Access</a:t>
            </a:r>
            <a:r>
              <a:rPr lang="zh-CN" altLang="zh-CN" sz="2000" dirty="0"/>
              <a:t>数据库应用</a:t>
            </a:r>
            <a:r>
              <a:rPr lang="en-US" altLang="zh-CN" sz="2000" dirty="0"/>
              <a:t>'</a:t>
            </a:r>
            <a:endParaRPr lang="zh-CN" altLang="zh-CN" sz="2000" dirty="0"/>
          </a:p>
          <a:p>
            <a:pPr marL="363538" indent="0">
              <a:buNone/>
            </a:pPr>
            <a:r>
              <a:rPr lang="en-US" altLang="zh-CN" sz="2000" dirty="0"/>
              <a:t>SELECT </a:t>
            </a:r>
            <a:r>
              <a:rPr lang="en-US" altLang="zh-CN" sz="2000" dirty="0" err="1"/>
              <a:t>BName,SPrice</a:t>
            </a:r>
            <a:endParaRPr lang="zh-CN" altLang="zh-CN" sz="2000" dirty="0"/>
          </a:p>
          <a:p>
            <a:pPr marL="363538" indent="0">
              <a:buNone/>
            </a:pPr>
            <a:r>
              <a:rPr lang="en-US" altLang="zh-CN" sz="2000" dirty="0"/>
              <a:t>    FROM Book</a:t>
            </a:r>
            <a:endParaRPr lang="zh-CN" altLang="zh-CN" sz="2000" dirty="0"/>
          </a:p>
          <a:p>
            <a:pPr marL="363538" indent="0">
              <a:buNone/>
            </a:pPr>
            <a:r>
              <a:rPr lang="en-US" altLang="zh-CN" sz="2000" dirty="0"/>
              <a:t>    WHERE </a:t>
            </a:r>
            <a:r>
              <a:rPr lang="en-US" altLang="zh-CN" sz="2000" dirty="0" err="1"/>
              <a:t>BName</a:t>
            </a:r>
            <a:r>
              <a:rPr lang="en-US" altLang="zh-CN" sz="2000" dirty="0"/>
              <a:t> LIKE 'Access#_%' ESCAPE '#'</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C89257AC-3C66-0B4F-8BC8-1B1C7BE6B1C3}"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47</a:t>
            </a:fld>
            <a:endParaRPr lang="zh-CN" altLang="en-US" dirty="0"/>
          </a:p>
        </p:txBody>
      </p:sp>
    </p:spTree>
    <p:extLst>
      <p:ext uri="{BB962C8B-B14F-4D97-AF65-F5344CB8AC3E}">
        <p14:creationId xmlns:p14="http://schemas.microsoft.com/office/powerpoint/2010/main" val="3268209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err="1"/>
              <a:t>Cust</a:t>
            </a:r>
            <a:r>
              <a:rPr lang="zh-CN" altLang="zh-CN" sz="2000" dirty="0"/>
              <a:t>中，查询户号为</a:t>
            </a:r>
            <a:r>
              <a:rPr lang="en-US" altLang="zh-CN" sz="2000" dirty="0"/>
              <a:t>C001</a:t>
            </a:r>
            <a:r>
              <a:rPr lang="zh-CN" altLang="zh-CN" sz="2000" dirty="0"/>
              <a:t>到</a:t>
            </a:r>
            <a:r>
              <a:rPr lang="en-US" altLang="zh-CN" sz="2000" dirty="0"/>
              <a:t>C004</a:t>
            </a:r>
            <a:r>
              <a:rPr lang="zh-CN" altLang="zh-CN" sz="2000" dirty="0"/>
              <a:t>的户名、性别和生日。</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LIKE 'C00[1-4]'    </a:t>
            </a:r>
            <a:r>
              <a:rPr lang="zh-CN" altLang="zh-CN" sz="2000" dirty="0"/>
              <a:t>或者</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LIKE 'C00[1234]'</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268209F0-9476-4A46-8C96-BA79186E7EA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48</a:t>
            </a:fld>
            <a:endParaRPr lang="zh-CN" altLang="en-US" dirty="0"/>
          </a:p>
        </p:txBody>
      </p:sp>
    </p:spTree>
    <p:extLst>
      <p:ext uri="{BB962C8B-B14F-4D97-AF65-F5344CB8AC3E}">
        <p14:creationId xmlns:p14="http://schemas.microsoft.com/office/powerpoint/2010/main" val="3268209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548680"/>
            <a:ext cx="8784976" cy="6120680"/>
          </a:xfrm>
        </p:spPr>
        <p:txBody>
          <a:bodyPr>
            <a:noAutofit/>
          </a:bodyPr>
          <a:lstStyle/>
          <a:p>
            <a:r>
              <a:rPr lang="zh-CN" altLang="zh-CN" sz="2000" dirty="0"/>
              <a:t>例如：在</a:t>
            </a:r>
            <a:r>
              <a:rPr lang="en-US" altLang="zh-CN" sz="2000" dirty="0" err="1"/>
              <a:t>Cust</a:t>
            </a:r>
            <a:r>
              <a:rPr lang="zh-CN" altLang="zh-CN" sz="2000" dirty="0"/>
              <a:t>中，查询户号不是</a:t>
            </a:r>
            <a:r>
              <a:rPr lang="en-US" altLang="zh-CN" sz="2000" dirty="0"/>
              <a:t>C001</a:t>
            </a:r>
            <a:r>
              <a:rPr lang="zh-CN" altLang="zh-CN" sz="2000" dirty="0"/>
              <a:t>到</a:t>
            </a:r>
            <a:r>
              <a:rPr lang="en-US" altLang="zh-CN" sz="2000" dirty="0"/>
              <a:t>C004</a:t>
            </a:r>
            <a:r>
              <a:rPr lang="zh-CN" altLang="zh-CN" sz="2000" dirty="0"/>
              <a:t>的户名、性别和生日。</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LIKE 'C00[^1-4]'    </a:t>
            </a:r>
            <a:r>
              <a:rPr lang="zh-CN" altLang="zh-CN" sz="2000" dirty="0"/>
              <a:t>或者</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LIKE 'C00[^1234]'    </a:t>
            </a:r>
            <a:r>
              <a:rPr lang="zh-CN" altLang="zh-CN" sz="2000" dirty="0"/>
              <a:t>或者</a:t>
            </a:r>
          </a:p>
          <a:p>
            <a:pPr marL="363538" indent="0">
              <a:buNone/>
            </a:pPr>
            <a:r>
              <a:rPr lang="en-US" altLang="zh-CN" sz="2000" dirty="0"/>
              <a:t>SELECT </a:t>
            </a:r>
            <a:r>
              <a:rPr lang="en-US" altLang="zh-CN" sz="2000" dirty="0" err="1"/>
              <a:t>CName,CSex,Birth</a:t>
            </a:r>
            <a:endParaRPr lang="zh-CN" altLang="zh-CN" sz="2000" dirty="0"/>
          </a:p>
          <a:p>
            <a:pPr marL="363538" indent="0">
              <a:buNone/>
            </a:pPr>
            <a:r>
              <a:rPr lang="en-US" altLang="zh-CN" sz="2000" dirty="0"/>
              <a:t>    FROM </a:t>
            </a:r>
            <a:r>
              <a:rPr lang="en-US" altLang="zh-CN" sz="2000" dirty="0" err="1"/>
              <a:t>Cust</a:t>
            </a:r>
            <a:endParaRPr lang="zh-CN" altLang="zh-CN" sz="2000" dirty="0"/>
          </a:p>
          <a:p>
            <a:pPr marL="363538" indent="0">
              <a:buNone/>
            </a:pPr>
            <a:r>
              <a:rPr lang="en-US" altLang="zh-CN" sz="2000" dirty="0"/>
              <a:t>    WHERE </a:t>
            </a:r>
            <a:r>
              <a:rPr lang="en-US" altLang="zh-CN" sz="2000" dirty="0" err="1"/>
              <a:t>CNo</a:t>
            </a:r>
            <a:r>
              <a:rPr lang="en-US" altLang="zh-CN" sz="2000" dirty="0"/>
              <a:t> NOT LIKE 'C00[1-4]'</a:t>
            </a:r>
            <a:endParaRPr lang="zh-CN" altLang="zh-CN" sz="2000" dirty="0"/>
          </a:p>
          <a:p>
            <a:pPr>
              <a:lnSpc>
                <a:spcPts val="3000"/>
              </a:lnSpc>
            </a:pPr>
            <a:r>
              <a:rPr lang="zh-CN" altLang="zh-CN" sz="2000" dirty="0"/>
              <a:t>思考</a:t>
            </a:r>
            <a:r>
              <a:rPr lang="en-US" altLang="zh-CN" sz="2000" dirty="0"/>
              <a:t>1</a:t>
            </a:r>
            <a:r>
              <a:rPr lang="zh-CN" altLang="zh-CN" sz="2000" dirty="0"/>
              <a:t>：使用</a:t>
            </a:r>
            <a:r>
              <a:rPr lang="en-US" altLang="zh-CN" sz="2000" dirty="0"/>
              <a:t>[126]</a:t>
            </a:r>
            <a:r>
              <a:rPr lang="zh-CN" altLang="zh-CN" sz="2000" dirty="0"/>
              <a:t>，查询户号为</a:t>
            </a:r>
            <a:r>
              <a:rPr lang="en-US" altLang="zh-CN" sz="2000" dirty="0"/>
              <a:t>C001</a:t>
            </a:r>
            <a:r>
              <a:rPr lang="zh-CN" altLang="zh-CN" sz="2000" dirty="0"/>
              <a:t>，</a:t>
            </a:r>
            <a:r>
              <a:rPr lang="en-US" altLang="zh-CN" sz="2000" dirty="0"/>
              <a:t>C002</a:t>
            </a:r>
            <a:r>
              <a:rPr lang="zh-CN" altLang="zh-CN" sz="2000" dirty="0"/>
              <a:t>和</a:t>
            </a:r>
            <a:r>
              <a:rPr lang="en-US" altLang="zh-CN" sz="2000" dirty="0"/>
              <a:t>C006</a:t>
            </a:r>
            <a:r>
              <a:rPr lang="zh-CN" altLang="zh-CN" sz="2000" dirty="0"/>
              <a:t>的户名和生日。</a:t>
            </a:r>
          </a:p>
          <a:p>
            <a:pPr>
              <a:lnSpc>
                <a:spcPts val="3000"/>
              </a:lnSpc>
            </a:pPr>
            <a:r>
              <a:rPr lang="zh-CN" altLang="zh-CN" sz="2000" dirty="0"/>
              <a:t>思考</a:t>
            </a:r>
            <a:r>
              <a:rPr lang="en-US" altLang="zh-CN" sz="2000" dirty="0"/>
              <a:t>2</a:t>
            </a:r>
            <a:r>
              <a:rPr lang="zh-CN" altLang="zh-CN" sz="2000" dirty="0"/>
              <a:t>：使用</a:t>
            </a:r>
            <a:r>
              <a:rPr lang="en-US" altLang="zh-CN" sz="2000" dirty="0"/>
              <a:t>[^126]</a:t>
            </a:r>
            <a:r>
              <a:rPr lang="zh-CN" altLang="zh-CN" sz="2000" dirty="0"/>
              <a:t>，查询户号不是</a:t>
            </a:r>
            <a:r>
              <a:rPr lang="en-US" altLang="zh-CN" sz="2000" dirty="0"/>
              <a:t>C001</a:t>
            </a:r>
            <a:r>
              <a:rPr lang="zh-CN" altLang="zh-CN" sz="2000" dirty="0"/>
              <a:t>，</a:t>
            </a:r>
            <a:r>
              <a:rPr lang="en-US" altLang="zh-CN" sz="2000" dirty="0"/>
              <a:t>C002</a:t>
            </a:r>
            <a:r>
              <a:rPr lang="zh-CN" altLang="zh-CN" sz="2000" dirty="0"/>
              <a:t>和</a:t>
            </a:r>
            <a:r>
              <a:rPr lang="en-US" altLang="zh-CN" sz="2000" dirty="0"/>
              <a:t>C006</a:t>
            </a:r>
            <a:r>
              <a:rPr lang="zh-CN" altLang="zh-CN" sz="2000" dirty="0"/>
              <a:t>的户名和生日。</a:t>
            </a:r>
          </a:p>
          <a:p>
            <a:pPr>
              <a:lnSpc>
                <a:spcPts val="3000"/>
              </a:lnSpc>
            </a:pPr>
            <a:r>
              <a:rPr lang="zh-CN" altLang="zh-CN" sz="2000" dirty="0"/>
              <a:t>思考</a:t>
            </a:r>
            <a:r>
              <a:rPr lang="en-US" altLang="zh-CN" sz="2000" dirty="0"/>
              <a:t>3</a:t>
            </a:r>
            <a:r>
              <a:rPr lang="zh-CN" altLang="zh-CN" sz="2000" dirty="0"/>
              <a:t>：分析</a:t>
            </a:r>
            <a:r>
              <a:rPr lang="en-US" altLang="zh-CN" sz="2000" dirty="0"/>
              <a:t>LIKE 'Room[^H-X][1-6]'</a:t>
            </a:r>
            <a:r>
              <a:rPr lang="zh-CN" altLang="zh-CN" sz="2000" dirty="0"/>
              <a:t>代表的含义。</a:t>
            </a:r>
          </a:p>
          <a:p>
            <a:pPr marL="363538" indent="0">
              <a:buNone/>
            </a:pPr>
            <a:endParaRPr lang="zh-CN" altLang="zh-CN" sz="2000" dirty="0"/>
          </a:p>
        </p:txBody>
      </p:sp>
      <p:sp>
        <p:nvSpPr>
          <p:cNvPr id="4" name="日期占位符 3"/>
          <p:cNvSpPr>
            <a:spLocks noGrp="1"/>
          </p:cNvSpPr>
          <p:nvPr>
            <p:ph type="dt" sz="half" idx="10"/>
          </p:nvPr>
        </p:nvSpPr>
        <p:spPr/>
        <p:txBody>
          <a:bodyPr/>
          <a:lstStyle/>
          <a:p>
            <a:fld id="{6BA47C60-C125-A742-9164-76FFC99782D1}"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49</a:t>
            </a:fld>
            <a:endParaRPr lang="zh-CN" altLang="en-US" dirty="0"/>
          </a:p>
        </p:txBody>
      </p:sp>
    </p:spTree>
    <p:extLst>
      <p:ext uri="{BB962C8B-B14F-4D97-AF65-F5344CB8AC3E}">
        <p14:creationId xmlns:p14="http://schemas.microsoft.com/office/powerpoint/2010/main" val="3268209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0" y="908720"/>
            <a:ext cx="8784976" cy="5760640"/>
          </a:xfrm>
        </p:spPr>
        <p:txBody>
          <a:bodyPr>
            <a:noAutofit/>
          </a:bodyPr>
          <a:lstStyle/>
          <a:p>
            <a:pPr marL="0" indent="0">
              <a:buNone/>
            </a:pPr>
            <a:r>
              <a:rPr lang="zh-CN" altLang="zh-CN" sz="2000" dirty="0">
                <a:solidFill>
                  <a:srgbClr val="0000FF"/>
                </a:solidFill>
              </a:rPr>
              <a:t>统计</a:t>
            </a:r>
          </a:p>
          <a:p>
            <a:r>
              <a:rPr lang="zh-CN" altLang="zh-CN" sz="2000" dirty="0"/>
              <a:t>如果需要对查询的数据进行分类（分组）以及计数、计算均值、求和、找出最大（小）值等统计运算，则可以使用</a:t>
            </a:r>
            <a:r>
              <a:rPr lang="en-US" altLang="zh-CN" sz="2000" dirty="0"/>
              <a:t>GROUP BY</a:t>
            </a:r>
            <a:r>
              <a:rPr lang="zh-CN" altLang="zh-CN" sz="2000" dirty="0"/>
              <a:t>、</a:t>
            </a:r>
            <a:r>
              <a:rPr lang="en-US" altLang="zh-CN" sz="2000" dirty="0"/>
              <a:t>HAVING</a:t>
            </a:r>
            <a:r>
              <a:rPr lang="zh-CN" altLang="zh-CN" sz="2000" dirty="0"/>
              <a:t>和统计（聚合）函数（</a:t>
            </a:r>
            <a:r>
              <a:rPr lang="en-US" altLang="zh-CN" sz="2000" dirty="0">
                <a:solidFill>
                  <a:srgbClr val="0000FF"/>
                </a:solidFill>
              </a:rPr>
              <a:t>COUNT()</a:t>
            </a:r>
            <a:r>
              <a:rPr lang="zh-CN" altLang="zh-CN" sz="2000" dirty="0">
                <a:solidFill>
                  <a:srgbClr val="0000FF"/>
                </a:solidFill>
              </a:rPr>
              <a:t>，</a:t>
            </a:r>
            <a:r>
              <a:rPr lang="en-US" altLang="zh-CN" sz="2000" dirty="0">
                <a:solidFill>
                  <a:srgbClr val="0000FF"/>
                </a:solidFill>
              </a:rPr>
              <a:t>SUM()</a:t>
            </a:r>
            <a:r>
              <a:rPr lang="zh-CN" altLang="zh-CN" sz="2000" dirty="0">
                <a:solidFill>
                  <a:srgbClr val="0000FF"/>
                </a:solidFill>
              </a:rPr>
              <a:t>，</a:t>
            </a:r>
            <a:r>
              <a:rPr lang="en-US" altLang="zh-CN" sz="2000" dirty="0">
                <a:solidFill>
                  <a:srgbClr val="0000FF"/>
                </a:solidFill>
              </a:rPr>
              <a:t>AVG()</a:t>
            </a:r>
            <a:r>
              <a:rPr lang="zh-CN" altLang="zh-CN" sz="2000" dirty="0">
                <a:solidFill>
                  <a:srgbClr val="0000FF"/>
                </a:solidFill>
              </a:rPr>
              <a:t>，</a:t>
            </a:r>
            <a:r>
              <a:rPr lang="en-US" altLang="zh-CN" sz="2000" dirty="0">
                <a:solidFill>
                  <a:srgbClr val="0000FF"/>
                </a:solidFill>
              </a:rPr>
              <a:t>MAX()</a:t>
            </a:r>
            <a:r>
              <a:rPr lang="zh-CN" altLang="zh-CN" sz="2000" dirty="0">
                <a:solidFill>
                  <a:srgbClr val="0000FF"/>
                </a:solidFill>
              </a:rPr>
              <a:t>，</a:t>
            </a:r>
            <a:r>
              <a:rPr lang="en-US" altLang="zh-CN" sz="2000" dirty="0">
                <a:solidFill>
                  <a:srgbClr val="0000FF"/>
                </a:solidFill>
              </a:rPr>
              <a:t>MIN()</a:t>
            </a:r>
            <a:r>
              <a:rPr lang="zh-CN" altLang="zh-CN" sz="2000" dirty="0"/>
              <a:t>）等。</a:t>
            </a:r>
          </a:p>
          <a:p>
            <a:r>
              <a:rPr lang="zh-CN" altLang="zh-CN" sz="2000" dirty="0"/>
              <a:t>如果</a:t>
            </a:r>
            <a:r>
              <a:rPr lang="en-US" altLang="zh-CN" sz="2000" dirty="0"/>
              <a:t>SELECT</a:t>
            </a:r>
            <a:r>
              <a:rPr lang="zh-CN" altLang="zh-CN" sz="2000" dirty="0"/>
              <a:t>语句中使用了</a:t>
            </a:r>
            <a:r>
              <a:rPr lang="en-US" altLang="zh-CN" sz="2000" dirty="0"/>
              <a:t>GROUP BY</a:t>
            </a:r>
            <a:r>
              <a:rPr lang="zh-CN" altLang="zh-CN" sz="2000" dirty="0"/>
              <a:t>，则统计函数对每个分组有效，即分类统计：先把满足条件的记录进行分组，然后统计每个分组的相应数据。</a:t>
            </a:r>
            <a:r>
              <a:rPr lang="en-US" altLang="zh-CN" sz="2000" dirty="0"/>
              <a:t>COUNT()</a:t>
            </a:r>
            <a:r>
              <a:rPr lang="zh-CN" altLang="zh-CN" sz="2000" dirty="0"/>
              <a:t>相当于分类统计记录的个数；</a:t>
            </a:r>
            <a:r>
              <a:rPr lang="en-US" altLang="zh-CN" sz="2000" dirty="0"/>
              <a:t>AVG()</a:t>
            </a:r>
            <a:r>
              <a:rPr lang="zh-CN" altLang="zh-CN" sz="2000" dirty="0"/>
              <a:t>相当于分类求平均值；</a:t>
            </a:r>
            <a:r>
              <a:rPr lang="en-US" altLang="zh-CN" sz="2000" dirty="0"/>
              <a:t>SUM()</a:t>
            </a:r>
            <a:r>
              <a:rPr lang="zh-CN" altLang="zh-CN" sz="2000" dirty="0"/>
              <a:t>相当于分类求和；</a:t>
            </a:r>
            <a:r>
              <a:rPr lang="en-US" altLang="zh-CN" sz="2000" dirty="0"/>
              <a:t>MAX()</a:t>
            </a:r>
            <a:r>
              <a:rPr lang="zh-CN" altLang="zh-CN" sz="2000" dirty="0"/>
              <a:t>相当于分类求最大值；</a:t>
            </a:r>
            <a:r>
              <a:rPr lang="en-US" altLang="zh-CN" sz="2000" dirty="0"/>
              <a:t>MIN()</a:t>
            </a:r>
            <a:r>
              <a:rPr lang="zh-CN" altLang="zh-CN" sz="2000" dirty="0"/>
              <a:t>相当于分类求最小值。</a:t>
            </a:r>
          </a:p>
          <a:p>
            <a:r>
              <a:rPr lang="zh-CN" altLang="zh-CN" sz="2000" dirty="0"/>
              <a:t>提示：在统计时，为避免重复计数，应该在</a:t>
            </a:r>
            <a:r>
              <a:rPr lang="en-US" altLang="zh-CN" sz="2000" dirty="0"/>
              <a:t>COUNT</a:t>
            </a:r>
            <a:r>
              <a:rPr lang="zh-CN" altLang="zh-CN" sz="2000" dirty="0"/>
              <a:t>中使用</a:t>
            </a:r>
            <a:r>
              <a:rPr lang="en-US" altLang="zh-CN" sz="2000" dirty="0"/>
              <a:t>DISTINCT</a:t>
            </a:r>
            <a:r>
              <a:rPr lang="zh-CN" altLang="zh-CN" sz="2000" dirty="0"/>
              <a:t>，其他函数依然。</a:t>
            </a:r>
          </a:p>
        </p:txBody>
      </p:sp>
      <p:sp>
        <p:nvSpPr>
          <p:cNvPr id="4" name="日期占位符 3"/>
          <p:cNvSpPr>
            <a:spLocks noGrp="1"/>
          </p:cNvSpPr>
          <p:nvPr>
            <p:ph type="dt" sz="half" idx="10"/>
          </p:nvPr>
        </p:nvSpPr>
        <p:spPr/>
        <p:txBody>
          <a:bodyPr/>
          <a:lstStyle/>
          <a:p>
            <a:fld id="{AD767904-813D-2549-9FD7-169F48A3E92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50</a:t>
            </a:fld>
            <a:endParaRPr lang="zh-CN" altLang="en-US" dirty="0"/>
          </a:p>
        </p:txBody>
      </p:sp>
    </p:spTree>
    <p:extLst>
      <p:ext uri="{BB962C8B-B14F-4D97-AF65-F5344CB8AC3E}">
        <p14:creationId xmlns:p14="http://schemas.microsoft.com/office/powerpoint/2010/main" val="32682094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Buy</a:t>
            </a:r>
            <a:r>
              <a:rPr lang="zh-CN" altLang="zh-CN" sz="2000" dirty="0"/>
              <a:t>中，统计购书的记录总数。</a:t>
            </a:r>
          </a:p>
          <a:p>
            <a:pPr marL="363538" indent="0">
              <a:buNone/>
            </a:pPr>
            <a:r>
              <a:rPr lang="en-US" altLang="zh-CN" sz="2000" dirty="0"/>
              <a:t>SELECT COUNT(*)    FROM Buy</a:t>
            </a:r>
            <a:endParaRPr lang="zh-CN" altLang="zh-CN" sz="2000" dirty="0"/>
          </a:p>
          <a:p>
            <a:r>
              <a:rPr lang="zh-CN" altLang="zh-CN" sz="2000" dirty="0"/>
              <a:t>例如：在</a:t>
            </a:r>
            <a:r>
              <a:rPr lang="en-US" altLang="zh-CN" sz="2000" dirty="0"/>
              <a:t>Buy</a:t>
            </a:r>
            <a:r>
              <a:rPr lang="zh-CN" altLang="zh-CN" sz="2000" dirty="0"/>
              <a:t>中，统计购书的客户的总数。</a:t>
            </a:r>
          </a:p>
          <a:p>
            <a:pPr marL="363538" indent="0">
              <a:buNone/>
            </a:pPr>
            <a:r>
              <a:rPr lang="en-US" altLang="zh-CN" sz="2000" dirty="0"/>
              <a:t>SELECT COUNT(DISTINCT </a:t>
            </a:r>
            <a:r>
              <a:rPr lang="en-US" altLang="zh-CN" sz="2000" dirty="0" err="1"/>
              <a:t>CNo</a:t>
            </a:r>
            <a:r>
              <a:rPr lang="en-US" altLang="zh-CN" sz="2000" dirty="0"/>
              <a:t>) </a:t>
            </a:r>
            <a:r>
              <a:rPr lang="zh-CN" altLang="zh-CN" sz="2000" dirty="0"/>
              <a:t>客户总数</a:t>
            </a:r>
            <a:r>
              <a:rPr lang="en-US" altLang="zh-CN" sz="2000" dirty="0"/>
              <a:t>    FROM Buy</a:t>
            </a:r>
            <a:endParaRPr lang="zh-CN" altLang="zh-CN" sz="2000" dirty="0"/>
          </a:p>
          <a:p>
            <a:r>
              <a:rPr lang="zh-CN" altLang="zh-CN" sz="2000" dirty="0"/>
              <a:t>思考：</a:t>
            </a:r>
            <a:r>
              <a:rPr lang="en-US" altLang="zh-CN" sz="2000" dirty="0"/>
              <a:t>SELECT COUNT(</a:t>
            </a:r>
            <a:r>
              <a:rPr lang="en-US" altLang="zh-CN" sz="2000" dirty="0" err="1"/>
              <a:t>CNo</a:t>
            </a:r>
            <a:r>
              <a:rPr lang="en-US" altLang="zh-CN" sz="2000" dirty="0"/>
              <a:t>) FROM Buy</a:t>
            </a:r>
            <a:r>
              <a:rPr lang="zh-CN" altLang="zh-CN" sz="2000" dirty="0"/>
              <a:t>是否正确？</a:t>
            </a:r>
          </a:p>
          <a:p>
            <a:r>
              <a:rPr lang="zh-CN" altLang="zh-CN" sz="2000" dirty="0"/>
              <a:t>例如：在</a:t>
            </a:r>
            <a:r>
              <a:rPr lang="en-US" altLang="zh-CN" sz="2000" dirty="0"/>
              <a:t>Book</a:t>
            </a:r>
            <a:r>
              <a:rPr lang="zh-CN" altLang="zh-CN" sz="2000" dirty="0"/>
              <a:t>中，统计图书的最低售价、最高售价和平均售价。</a:t>
            </a:r>
          </a:p>
          <a:p>
            <a:pPr marL="363538" indent="0">
              <a:buNone/>
            </a:pPr>
            <a:r>
              <a:rPr lang="en-US" altLang="zh-CN" sz="1800" dirty="0"/>
              <a:t>SELECT MIN(</a:t>
            </a:r>
            <a:r>
              <a:rPr lang="en-US" altLang="zh-CN" sz="1800" dirty="0" err="1"/>
              <a:t>SPrice</a:t>
            </a:r>
            <a:r>
              <a:rPr lang="en-US" altLang="zh-CN" sz="1800" dirty="0"/>
              <a:t>) </a:t>
            </a:r>
            <a:r>
              <a:rPr lang="zh-CN" altLang="zh-CN" sz="1800" dirty="0"/>
              <a:t>最低售价</a:t>
            </a:r>
            <a:r>
              <a:rPr lang="en-US" altLang="zh-CN" sz="1800" dirty="0"/>
              <a:t>,MAX(</a:t>
            </a:r>
            <a:r>
              <a:rPr lang="en-US" altLang="zh-CN" sz="1800" dirty="0" err="1"/>
              <a:t>SPrice</a:t>
            </a:r>
            <a:r>
              <a:rPr lang="en-US" altLang="zh-CN" sz="1800" dirty="0"/>
              <a:t>) </a:t>
            </a:r>
            <a:r>
              <a:rPr lang="zh-CN" altLang="zh-CN" sz="1800" dirty="0"/>
              <a:t>最高售价</a:t>
            </a:r>
            <a:r>
              <a:rPr lang="en-US" altLang="zh-CN" sz="1800" dirty="0"/>
              <a:t>,AVG(</a:t>
            </a:r>
            <a:r>
              <a:rPr lang="en-US" altLang="zh-CN" sz="1800" dirty="0" err="1"/>
              <a:t>SPrice</a:t>
            </a:r>
            <a:r>
              <a:rPr lang="en-US" altLang="zh-CN" sz="1800" dirty="0"/>
              <a:t>) </a:t>
            </a:r>
            <a:r>
              <a:rPr lang="zh-CN" altLang="zh-CN" sz="1800" dirty="0"/>
              <a:t>平均售价</a:t>
            </a:r>
          </a:p>
          <a:p>
            <a:pPr marL="363538" indent="0">
              <a:buNone/>
            </a:pPr>
            <a:r>
              <a:rPr lang="en-US" altLang="zh-CN" sz="2000" dirty="0"/>
              <a:t>    FROM Book</a:t>
            </a:r>
            <a:endParaRPr lang="zh-CN" altLang="zh-CN" sz="2000" dirty="0"/>
          </a:p>
          <a:p>
            <a:r>
              <a:rPr lang="zh-CN" altLang="zh-CN" sz="2000" dirty="0"/>
              <a:t>例如：在</a:t>
            </a:r>
            <a:r>
              <a:rPr lang="en-US" altLang="zh-CN" sz="2000" dirty="0"/>
              <a:t>Book</a:t>
            </a:r>
            <a:r>
              <a:rPr lang="zh-CN" altLang="zh-CN" sz="2000" dirty="0"/>
              <a:t>中，统计购进图书的投入资金总额。</a:t>
            </a:r>
          </a:p>
          <a:p>
            <a:pPr marL="363538" indent="0">
              <a:buNone/>
            </a:pPr>
            <a:r>
              <a:rPr lang="en-US" altLang="zh-CN" sz="2000" dirty="0"/>
              <a:t>SELECT SUM(</a:t>
            </a:r>
            <a:r>
              <a:rPr lang="en-US" altLang="zh-CN" sz="2000" dirty="0" err="1"/>
              <a:t>PPrice</a:t>
            </a:r>
            <a:r>
              <a:rPr lang="en-US" altLang="zh-CN" sz="2000" dirty="0"/>
              <a:t>)</a:t>
            </a:r>
            <a:endParaRPr lang="zh-CN" altLang="zh-CN" sz="2000" dirty="0"/>
          </a:p>
          <a:p>
            <a:pPr marL="363538" indent="0">
              <a:buNone/>
            </a:pPr>
            <a:r>
              <a:rPr lang="en-US" altLang="zh-CN" sz="2000" dirty="0"/>
              <a:t>    FROM Book</a:t>
            </a:r>
            <a:endParaRPr lang="zh-CN" altLang="zh-CN" sz="2000" dirty="0"/>
          </a:p>
        </p:txBody>
      </p:sp>
      <p:sp>
        <p:nvSpPr>
          <p:cNvPr id="4" name="日期占位符 3"/>
          <p:cNvSpPr>
            <a:spLocks noGrp="1"/>
          </p:cNvSpPr>
          <p:nvPr>
            <p:ph type="dt" sz="half" idx="10"/>
          </p:nvPr>
        </p:nvSpPr>
        <p:spPr/>
        <p:txBody>
          <a:bodyPr/>
          <a:lstStyle/>
          <a:p>
            <a:fld id="{3FE5D0E2-60B0-8C45-9FB0-2F5D8F17971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51</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Book</a:t>
            </a:r>
            <a:r>
              <a:rPr lang="zh-CN" altLang="zh-CN" sz="2000" dirty="0"/>
              <a:t>中，统计每本书的利润。</a:t>
            </a:r>
          </a:p>
          <a:p>
            <a:pPr marL="360363" indent="0">
              <a:buNone/>
            </a:pPr>
            <a:r>
              <a:rPr lang="en-US" altLang="zh-CN" sz="2000" dirty="0"/>
              <a:t>SELECT </a:t>
            </a:r>
            <a:r>
              <a:rPr lang="en-US" altLang="zh-CN" sz="2000" dirty="0" err="1"/>
              <a:t>BNo,SUM</a:t>
            </a:r>
            <a:r>
              <a:rPr lang="en-US" altLang="zh-CN" sz="2000" dirty="0"/>
              <a:t>(</a:t>
            </a:r>
            <a:r>
              <a:rPr lang="en-US" altLang="zh-CN" sz="2000" dirty="0" err="1"/>
              <a:t>SPrice-Pprice</a:t>
            </a:r>
            <a:r>
              <a:rPr lang="en-US" altLang="zh-CN" sz="2000" dirty="0"/>
              <a:t>) </a:t>
            </a:r>
            <a:r>
              <a:rPr lang="zh-CN" altLang="zh-CN" sz="2000" dirty="0"/>
              <a:t>利润</a:t>
            </a:r>
          </a:p>
          <a:p>
            <a:pPr marL="360363" indent="0">
              <a:buNone/>
            </a:pPr>
            <a:r>
              <a:rPr lang="en-US" altLang="zh-CN" sz="2000" dirty="0"/>
              <a:t>    FROM Book</a:t>
            </a:r>
            <a:endParaRPr lang="zh-CN" altLang="zh-CN" sz="2000" dirty="0"/>
          </a:p>
          <a:p>
            <a:pPr marL="360363" indent="0">
              <a:buNone/>
            </a:pPr>
            <a:r>
              <a:rPr lang="en-US" altLang="zh-CN" sz="2000" dirty="0"/>
              <a:t>    GROUP BY </a:t>
            </a:r>
            <a:r>
              <a:rPr lang="en-US" altLang="zh-CN" sz="2000" dirty="0" err="1"/>
              <a:t>BNo</a:t>
            </a:r>
            <a:endParaRPr lang="zh-CN" altLang="zh-CN" sz="2000" dirty="0"/>
          </a:p>
          <a:p>
            <a:r>
              <a:rPr lang="zh-CN" altLang="zh-CN" sz="2000" dirty="0"/>
              <a:t>思考：</a:t>
            </a:r>
            <a:r>
              <a:rPr lang="en-US" altLang="zh-CN" sz="2000" dirty="0"/>
              <a:t>SELECT </a:t>
            </a:r>
            <a:r>
              <a:rPr lang="en-US" altLang="zh-CN" sz="2000" dirty="0" err="1"/>
              <a:t>BNo,SPrice-PPrice</a:t>
            </a:r>
            <a:r>
              <a:rPr lang="en-US" altLang="zh-CN" sz="2000" dirty="0"/>
              <a:t> </a:t>
            </a:r>
            <a:r>
              <a:rPr lang="zh-CN" altLang="zh-CN" sz="2000" dirty="0"/>
              <a:t>利润</a:t>
            </a:r>
            <a:r>
              <a:rPr lang="en-US" altLang="zh-CN" sz="2000" dirty="0"/>
              <a:t> FROM Book</a:t>
            </a:r>
            <a:r>
              <a:rPr lang="zh-CN" altLang="zh-CN" sz="2000" dirty="0"/>
              <a:t>是否正确？</a:t>
            </a:r>
          </a:p>
          <a:p>
            <a:r>
              <a:rPr lang="zh-CN" altLang="zh-CN" sz="2000" dirty="0"/>
              <a:t>例如：在</a:t>
            </a:r>
            <a:r>
              <a:rPr lang="en-US" altLang="zh-CN" sz="2000" dirty="0"/>
              <a:t>Book</a:t>
            </a:r>
            <a:r>
              <a:rPr lang="zh-CN" altLang="zh-CN" sz="2000" dirty="0"/>
              <a:t>中，统计图书的利润总额。</a:t>
            </a:r>
          </a:p>
          <a:p>
            <a:pPr marL="360363" indent="0">
              <a:buNone/>
            </a:pPr>
            <a:r>
              <a:rPr lang="en-US" altLang="zh-CN" sz="2000" dirty="0"/>
              <a:t>SELECT SUM(</a:t>
            </a:r>
            <a:r>
              <a:rPr lang="en-US" altLang="zh-CN" sz="2000" dirty="0" err="1"/>
              <a:t>SPrice-Pprice</a:t>
            </a:r>
            <a:r>
              <a:rPr lang="en-US" altLang="zh-CN" sz="2000" dirty="0"/>
              <a:t>) </a:t>
            </a:r>
            <a:r>
              <a:rPr lang="zh-CN" altLang="zh-CN" sz="2000" dirty="0"/>
              <a:t>利润总额</a:t>
            </a:r>
          </a:p>
          <a:p>
            <a:pPr marL="360363" indent="0">
              <a:buNone/>
            </a:pPr>
            <a:r>
              <a:rPr lang="en-US" altLang="zh-CN" sz="2000" dirty="0"/>
              <a:t>    FROM Book</a:t>
            </a:r>
            <a:endParaRPr lang="zh-CN" altLang="zh-CN" sz="2000" dirty="0"/>
          </a:p>
          <a:p>
            <a:r>
              <a:rPr lang="zh-CN" altLang="zh-CN" sz="2000" dirty="0"/>
              <a:t>说明：利润总额仅仅是</a:t>
            </a:r>
            <a:r>
              <a:rPr lang="en-US" altLang="zh-CN" sz="2000" dirty="0"/>
              <a:t>Book</a:t>
            </a:r>
            <a:r>
              <a:rPr lang="zh-CN" altLang="zh-CN" sz="2000" dirty="0"/>
              <a:t>中所有书的利润总和，而不是销售利润总和！</a:t>
            </a:r>
          </a:p>
          <a:p>
            <a:r>
              <a:rPr lang="zh-CN" altLang="zh-CN" sz="2000" dirty="0"/>
              <a:t>思考：如何统计销售利润总额！</a:t>
            </a:r>
          </a:p>
          <a:p>
            <a:pPr marL="363538" indent="0">
              <a:buNone/>
            </a:pPr>
            <a:endParaRPr lang="zh-CN" altLang="zh-CN" sz="2000" dirty="0"/>
          </a:p>
        </p:txBody>
      </p:sp>
      <p:sp>
        <p:nvSpPr>
          <p:cNvPr id="4" name="日期占位符 3"/>
          <p:cNvSpPr>
            <a:spLocks noGrp="1"/>
          </p:cNvSpPr>
          <p:nvPr>
            <p:ph type="dt" sz="half" idx="10"/>
          </p:nvPr>
        </p:nvSpPr>
        <p:spPr/>
        <p:txBody>
          <a:bodyPr/>
          <a:lstStyle/>
          <a:p>
            <a:fld id="{F0B728E0-90BC-AC4E-89EB-9CB44537AB6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52</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Buy</a:t>
            </a:r>
            <a:r>
              <a:rPr lang="zh-CN" altLang="zh-CN" sz="2000" dirty="0"/>
              <a:t>中，统计每本书的销售数量。</a:t>
            </a:r>
          </a:p>
          <a:p>
            <a:pPr marL="360363" indent="0">
              <a:buNone/>
            </a:pPr>
            <a:r>
              <a:rPr lang="en-US" altLang="zh-CN" sz="2000" dirty="0"/>
              <a:t>SELECT </a:t>
            </a:r>
            <a:r>
              <a:rPr lang="en-US" altLang="zh-CN" sz="2000" dirty="0" err="1"/>
              <a:t>BNo,COUNT</a:t>
            </a:r>
            <a:r>
              <a:rPr lang="en-US" altLang="zh-CN" sz="2000" dirty="0"/>
              <a:t>(</a:t>
            </a:r>
            <a:r>
              <a:rPr lang="en-US" altLang="zh-CN" sz="2000" dirty="0" err="1"/>
              <a:t>CNo</a:t>
            </a:r>
            <a:r>
              <a:rPr lang="en-US" altLang="zh-CN" sz="2000" dirty="0"/>
              <a:t>)    FROM Buy</a:t>
            </a:r>
            <a:endParaRPr lang="zh-CN" altLang="zh-CN" sz="2000" dirty="0"/>
          </a:p>
          <a:p>
            <a:pPr marL="360363" indent="0">
              <a:buNone/>
            </a:pPr>
            <a:r>
              <a:rPr lang="en-US" altLang="zh-CN" sz="2000" dirty="0"/>
              <a:t>    GROUP BY </a:t>
            </a:r>
            <a:r>
              <a:rPr lang="en-US" altLang="zh-CN" sz="2000" dirty="0" err="1"/>
              <a:t>BNo</a:t>
            </a:r>
            <a:r>
              <a:rPr lang="en-US" altLang="zh-CN" sz="2000" dirty="0"/>
              <a:t>    </a:t>
            </a:r>
            <a:r>
              <a:rPr lang="zh-CN" altLang="zh-CN" sz="2000" dirty="0"/>
              <a:t>或者</a:t>
            </a:r>
          </a:p>
          <a:p>
            <a:pPr marL="360363" indent="0">
              <a:buNone/>
            </a:pPr>
            <a:r>
              <a:rPr lang="en-US" altLang="zh-CN" sz="2000" dirty="0"/>
              <a:t>SELECT </a:t>
            </a:r>
            <a:r>
              <a:rPr lang="en-US" altLang="zh-CN" sz="2000" dirty="0" err="1"/>
              <a:t>BNo,COUNT</a:t>
            </a:r>
            <a:r>
              <a:rPr lang="en-US" altLang="zh-CN" sz="2000" dirty="0"/>
              <a:t>(*)    FROM Buy</a:t>
            </a:r>
            <a:endParaRPr lang="zh-CN" altLang="zh-CN" sz="2000" dirty="0"/>
          </a:p>
          <a:p>
            <a:pPr marL="360363" indent="0">
              <a:buNone/>
            </a:pPr>
            <a:r>
              <a:rPr lang="en-US" altLang="zh-CN" sz="2000" dirty="0"/>
              <a:t>    GROUP BY </a:t>
            </a:r>
            <a:r>
              <a:rPr lang="en-US" altLang="zh-CN" sz="2000" dirty="0" err="1"/>
              <a:t>BNo</a:t>
            </a:r>
            <a:r>
              <a:rPr lang="en-US" altLang="zh-CN" sz="2000" dirty="0"/>
              <a:t> </a:t>
            </a:r>
            <a:endParaRPr lang="zh-CN" altLang="zh-CN" sz="2000" dirty="0"/>
          </a:p>
          <a:p>
            <a:r>
              <a:rPr lang="zh-CN" altLang="zh-CN" sz="2000" dirty="0"/>
              <a:t>例如：在</a:t>
            </a:r>
            <a:r>
              <a:rPr lang="en-US" altLang="zh-CN" sz="2000" dirty="0"/>
              <a:t>Buy</a:t>
            </a:r>
            <a:r>
              <a:rPr lang="zh-CN" altLang="zh-CN" sz="2000" dirty="0"/>
              <a:t>中，统计每位客户购书的数量。</a:t>
            </a:r>
          </a:p>
          <a:p>
            <a:pPr marL="360363" indent="0">
              <a:buNone/>
            </a:pPr>
            <a:r>
              <a:rPr lang="en-US" altLang="zh-CN" sz="2000" dirty="0"/>
              <a:t>SELECT </a:t>
            </a:r>
            <a:r>
              <a:rPr lang="en-US" altLang="zh-CN" sz="2000" dirty="0" err="1"/>
              <a:t>CNo,COUNT</a:t>
            </a:r>
            <a:r>
              <a:rPr lang="en-US" altLang="zh-CN" sz="2000" dirty="0"/>
              <a:t>(</a:t>
            </a:r>
            <a:r>
              <a:rPr lang="en-US" altLang="zh-CN" sz="2000" dirty="0" err="1"/>
              <a:t>BNo</a:t>
            </a:r>
            <a:r>
              <a:rPr lang="en-US" altLang="zh-CN" sz="2000" dirty="0"/>
              <a:t>)</a:t>
            </a:r>
            <a:endParaRPr lang="zh-CN" altLang="zh-CN" sz="2000" dirty="0"/>
          </a:p>
          <a:p>
            <a:pPr marL="360363" indent="0">
              <a:buNone/>
            </a:pPr>
            <a:r>
              <a:rPr lang="en-US" altLang="zh-CN" sz="2000" dirty="0"/>
              <a:t>    FROM Buy</a:t>
            </a:r>
            <a:endParaRPr lang="zh-CN" altLang="zh-CN" sz="2000" dirty="0"/>
          </a:p>
          <a:p>
            <a:pPr marL="360363" indent="0">
              <a:buNone/>
            </a:pPr>
            <a:r>
              <a:rPr lang="en-US" altLang="zh-CN" sz="2000" dirty="0"/>
              <a:t>    GROUP BY </a:t>
            </a:r>
            <a:r>
              <a:rPr lang="en-US" altLang="zh-CN" sz="2000" dirty="0" err="1"/>
              <a:t>Cno</a:t>
            </a:r>
            <a:r>
              <a:rPr lang="en-US" altLang="zh-CN" sz="2000" dirty="0"/>
              <a:t>    </a:t>
            </a:r>
            <a:r>
              <a:rPr lang="zh-CN" altLang="zh-CN" sz="2000" dirty="0"/>
              <a:t>或者</a:t>
            </a:r>
          </a:p>
          <a:p>
            <a:pPr marL="360363" indent="0">
              <a:buNone/>
            </a:pPr>
            <a:r>
              <a:rPr lang="en-US" altLang="zh-CN" sz="2000" dirty="0"/>
              <a:t>SELECT </a:t>
            </a:r>
            <a:r>
              <a:rPr lang="en-US" altLang="zh-CN" sz="2000" dirty="0" err="1"/>
              <a:t>CNo,COUNT</a:t>
            </a:r>
            <a:r>
              <a:rPr lang="en-US" altLang="zh-CN" sz="2000" dirty="0"/>
              <a:t>(*)</a:t>
            </a:r>
            <a:endParaRPr lang="zh-CN" altLang="zh-CN" sz="2000" dirty="0"/>
          </a:p>
          <a:p>
            <a:pPr marL="360363" indent="0">
              <a:buNone/>
            </a:pPr>
            <a:r>
              <a:rPr lang="en-US" altLang="zh-CN" sz="2000" dirty="0"/>
              <a:t>    FROM Buy</a:t>
            </a:r>
            <a:endParaRPr lang="zh-CN" altLang="zh-CN" sz="2000" dirty="0"/>
          </a:p>
          <a:p>
            <a:pPr marL="360363" indent="0">
              <a:buNone/>
            </a:pPr>
            <a:r>
              <a:rPr lang="en-US" altLang="zh-CN" sz="2000" dirty="0"/>
              <a:t>    GROUP BY </a:t>
            </a:r>
            <a:r>
              <a:rPr lang="en-US" altLang="zh-CN" sz="2000" dirty="0" err="1"/>
              <a:t>CNo</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2EB7FBB7-2687-F34E-8821-6736878BAD4B}"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53</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Buy</a:t>
            </a:r>
            <a:r>
              <a:rPr lang="zh-CN" altLang="zh-CN" sz="2000" dirty="0"/>
              <a:t>中，统计购书数量大于等于</a:t>
            </a:r>
            <a:r>
              <a:rPr lang="en-US" altLang="zh-CN" sz="2000" dirty="0"/>
              <a:t>5</a:t>
            </a:r>
            <a:r>
              <a:rPr lang="zh-CN" altLang="zh-CN" sz="2000" dirty="0"/>
              <a:t>的户号和购书数量。</a:t>
            </a:r>
          </a:p>
          <a:p>
            <a:pPr marL="360363" indent="0">
              <a:buNone/>
            </a:pPr>
            <a:r>
              <a:rPr lang="en-US" altLang="zh-CN" sz="2000" dirty="0"/>
              <a:t>SELECT </a:t>
            </a:r>
            <a:r>
              <a:rPr lang="en-US" altLang="zh-CN" sz="2000" dirty="0" err="1"/>
              <a:t>CNo,COUNT</a:t>
            </a:r>
            <a:r>
              <a:rPr lang="en-US" altLang="zh-CN" sz="2000" dirty="0"/>
              <a:t>(</a:t>
            </a:r>
            <a:r>
              <a:rPr lang="en-US" altLang="zh-CN" sz="2000" dirty="0" err="1"/>
              <a:t>BNo</a:t>
            </a:r>
            <a:r>
              <a:rPr lang="en-US" altLang="zh-CN" sz="2000" dirty="0"/>
              <a:t>)</a:t>
            </a:r>
            <a:endParaRPr lang="zh-CN" altLang="zh-CN" sz="2000" dirty="0"/>
          </a:p>
          <a:p>
            <a:pPr marL="360363" indent="0">
              <a:buNone/>
            </a:pPr>
            <a:r>
              <a:rPr lang="en-US" altLang="zh-CN" sz="2000" dirty="0"/>
              <a:t>    FROM Buy</a:t>
            </a:r>
            <a:endParaRPr lang="zh-CN" altLang="zh-CN" sz="2000" dirty="0"/>
          </a:p>
          <a:p>
            <a:pPr marL="360363" indent="0">
              <a:buNone/>
            </a:pPr>
            <a:r>
              <a:rPr lang="en-US" altLang="zh-CN" sz="2000" dirty="0"/>
              <a:t>    GROUP BY </a:t>
            </a:r>
            <a:r>
              <a:rPr lang="en-US" altLang="zh-CN" sz="2000" dirty="0" err="1"/>
              <a:t>CNo</a:t>
            </a:r>
            <a:r>
              <a:rPr lang="en-US" altLang="zh-CN" sz="2000" dirty="0"/>
              <a:t> HAVING COUNT(</a:t>
            </a:r>
            <a:r>
              <a:rPr lang="en-US" altLang="zh-CN" sz="2000" dirty="0" err="1"/>
              <a:t>BNo</a:t>
            </a:r>
            <a:r>
              <a:rPr lang="en-US" altLang="zh-CN" sz="2000" dirty="0"/>
              <a:t>)&gt;=5    </a:t>
            </a:r>
            <a:r>
              <a:rPr lang="zh-CN" altLang="zh-CN" sz="2000" dirty="0"/>
              <a:t>或者</a:t>
            </a:r>
          </a:p>
          <a:p>
            <a:pPr marL="360363" indent="0">
              <a:buNone/>
            </a:pPr>
            <a:r>
              <a:rPr lang="en-US" altLang="zh-CN" sz="2000" dirty="0"/>
              <a:t>SELECT </a:t>
            </a:r>
            <a:r>
              <a:rPr lang="en-US" altLang="zh-CN" sz="2000" dirty="0" err="1"/>
              <a:t>CNo,COUNT</a:t>
            </a:r>
            <a:r>
              <a:rPr lang="en-US" altLang="zh-CN" sz="2000" dirty="0"/>
              <a:t>(</a:t>
            </a:r>
            <a:r>
              <a:rPr lang="en-US" altLang="zh-CN" sz="2000" dirty="0" err="1"/>
              <a:t>BNo</a:t>
            </a:r>
            <a:r>
              <a:rPr lang="en-US" altLang="zh-CN" sz="2000" dirty="0"/>
              <a:t>)</a:t>
            </a:r>
            <a:endParaRPr lang="zh-CN" altLang="zh-CN" sz="2000" dirty="0"/>
          </a:p>
          <a:p>
            <a:pPr marL="360363" indent="0">
              <a:buNone/>
            </a:pPr>
            <a:r>
              <a:rPr lang="en-US" altLang="zh-CN" sz="2000" dirty="0"/>
              <a:t>    FROM Buy</a:t>
            </a:r>
            <a:endParaRPr lang="zh-CN" altLang="zh-CN" sz="2000" dirty="0"/>
          </a:p>
          <a:p>
            <a:pPr marL="360363" indent="0">
              <a:buNone/>
            </a:pPr>
            <a:r>
              <a:rPr lang="en-US" altLang="zh-CN" sz="2000" dirty="0"/>
              <a:t>    GROUP BY </a:t>
            </a:r>
            <a:r>
              <a:rPr lang="en-US" altLang="zh-CN" sz="2000" dirty="0" err="1"/>
              <a:t>CNo</a:t>
            </a:r>
            <a:r>
              <a:rPr lang="en-US" altLang="zh-CN" sz="2000" dirty="0"/>
              <a:t> HAVING COUNT(*)&gt;=5</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64B39558-7BA5-D54F-89D1-4127F5E6468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54</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Buy</a:t>
            </a:r>
            <a:r>
              <a:rPr lang="zh-CN" altLang="zh-CN" sz="2000" dirty="0"/>
              <a:t>中，查询只买“</a:t>
            </a:r>
            <a:r>
              <a:rPr lang="en-US" altLang="zh-CN" sz="2000" dirty="0"/>
              <a:t>ISBN978-7-04-040664-1</a:t>
            </a:r>
            <a:r>
              <a:rPr lang="zh-CN" altLang="zh-CN" sz="2000" dirty="0"/>
              <a:t>”和“</a:t>
            </a:r>
            <a:r>
              <a:rPr lang="en-US" altLang="zh-CN" sz="2000" dirty="0"/>
              <a:t>ISBN978-7-302-33894-9</a:t>
            </a:r>
            <a:r>
              <a:rPr lang="zh-CN" altLang="zh-CN" sz="2000" dirty="0"/>
              <a:t>”两本书的户号。</a:t>
            </a:r>
          </a:p>
          <a:p>
            <a:pPr marL="360363" indent="0">
              <a:buNone/>
            </a:pPr>
            <a:r>
              <a:rPr lang="en-US" altLang="zh-CN" sz="2000" dirty="0"/>
              <a:t>SELECT </a:t>
            </a:r>
            <a:r>
              <a:rPr lang="en-US" altLang="zh-CN" sz="2000" dirty="0" err="1"/>
              <a:t>CNo</a:t>
            </a:r>
            <a:r>
              <a:rPr lang="en-US" altLang="zh-CN" sz="2000" dirty="0"/>
              <a:t>    FROM Buy</a:t>
            </a:r>
            <a:endParaRPr lang="zh-CN" altLang="zh-CN" sz="2000" dirty="0"/>
          </a:p>
          <a:p>
            <a:pPr marL="360363" indent="0">
              <a:buNone/>
            </a:pPr>
            <a:r>
              <a:rPr lang="en-US" altLang="zh-CN" sz="2000" dirty="0"/>
              <a:t>    WHERE </a:t>
            </a:r>
            <a:r>
              <a:rPr lang="en-US" altLang="zh-CN" sz="2000" dirty="0" err="1"/>
              <a:t>BNo</a:t>
            </a:r>
            <a:r>
              <a:rPr lang="en-US" altLang="zh-CN" sz="2000" dirty="0"/>
              <a:t>='ISBN978-7-04-040664-1'</a:t>
            </a:r>
            <a:endParaRPr lang="zh-CN" altLang="zh-CN" sz="2000" dirty="0"/>
          </a:p>
          <a:p>
            <a:pPr marL="360363" indent="0">
              <a:buNone/>
            </a:pPr>
            <a:r>
              <a:rPr lang="en-US" altLang="zh-CN" sz="2000" dirty="0"/>
              <a:t>INTERSECT</a:t>
            </a:r>
            <a:endParaRPr lang="zh-CN" altLang="zh-CN" sz="2000" dirty="0"/>
          </a:p>
          <a:p>
            <a:pPr marL="360363" indent="0">
              <a:buNone/>
            </a:pPr>
            <a:r>
              <a:rPr lang="en-US" altLang="zh-CN" sz="2000" dirty="0"/>
              <a:t>SELECT </a:t>
            </a:r>
            <a:r>
              <a:rPr lang="en-US" altLang="zh-CN" sz="2000" dirty="0" err="1"/>
              <a:t>CNo</a:t>
            </a:r>
            <a:r>
              <a:rPr lang="en-US" altLang="zh-CN" sz="2000" dirty="0"/>
              <a:t>    FROM Buy</a:t>
            </a:r>
            <a:endParaRPr lang="zh-CN" altLang="zh-CN" sz="2000" dirty="0"/>
          </a:p>
          <a:p>
            <a:pPr marL="360363" indent="0">
              <a:buNone/>
            </a:pPr>
            <a:r>
              <a:rPr lang="en-US" altLang="zh-CN" sz="2000" dirty="0"/>
              <a:t>    WHERE </a:t>
            </a:r>
            <a:r>
              <a:rPr lang="en-US" altLang="zh-CN" sz="2000" dirty="0" err="1"/>
              <a:t>BNo</a:t>
            </a:r>
            <a:r>
              <a:rPr lang="en-US" altLang="zh-CN" sz="2000" dirty="0"/>
              <a:t>='ISBN978-7-302-33894-9'</a:t>
            </a:r>
            <a:endParaRPr lang="zh-CN" altLang="zh-CN" sz="2000" dirty="0"/>
          </a:p>
          <a:p>
            <a:pPr marL="360363" indent="0">
              <a:buNone/>
            </a:pPr>
            <a:r>
              <a:rPr lang="en-US" altLang="zh-CN" sz="2000" dirty="0"/>
              <a:t>INTERSECT</a:t>
            </a:r>
            <a:endParaRPr lang="zh-CN" altLang="zh-CN" sz="2000" dirty="0"/>
          </a:p>
          <a:p>
            <a:pPr marL="360363" indent="0">
              <a:buNone/>
            </a:pPr>
            <a:r>
              <a:rPr lang="en-US" altLang="zh-CN" sz="2000" dirty="0"/>
              <a:t>SELECT </a:t>
            </a:r>
            <a:r>
              <a:rPr lang="en-US" altLang="zh-CN" sz="2000" dirty="0" err="1"/>
              <a:t>CNo</a:t>
            </a:r>
            <a:r>
              <a:rPr lang="en-US" altLang="zh-CN" sz="2000" dirty="0"/>
              <a:t>    FROM Buy</a:t>
            </a:r>
            <a:endParaRPr lang="zh-CN" altLang="zh-CN" sz="2000" dirty="0"/>
          </a:p>
          <a:p>
            <a:pPr marL="360363" indent="0">
              <a:buNone/>
            </a:pPr>
            <a:r>
              <a:rPr lang="en-US" altLang="zh-CN" sz="2000" dirty="0"/>
              <a:t>    GROUP BY </a:t>
            </a:r>
            <a:r>
              <a:rPr lang="en-US" altLang="zh-CN" sz="2000" dirty="0" err="1"/>
              <a:t>CNo</a:t>
            </a:r>
            <a:r>
              <a:rPr lang="en-US" altLang="zh-CN" sz="2000" dirty="0"/>
              <a:t> HAVING COUNT(</a:t>
            </a:r>
            <a:r>
              <a:rPr lang="en-US" altLang="zh-CN" sz="2000" dirty="0" err="1"/>
              <a:t>BNo</a:t>
            </a:r>
            <a:r>
              <a:rPr lang="en-US" altLang="zh-CN" sz="2000" dirty="0"/>
              <a:t>)=2</a:t>
            </a:r>
            <a:endParaRPr lang="zh-CN" altLang="zh-CN" sz="2000" dirty="0"/>
          </a:p>
          <a:p>
            <a:r>
              <a:rPr lang="zh-CN" altLang="zh-CN" sz="1600" dirty="0"/>
              <a:t>思考</a:t>
            </a:r>
            <a:r>
              <a:rPr lang="en-US" altLang="zh-CN" sz="1600" dirty="0"/>
              <a:t>1</a:t>
            </a:r>
            <a:r>
              <a:rPr lang="zh-CN" altLang="zh-CN" sz="1600" dirty="0"/>
              <a:t>：查询购买“</a:t>
            </a:r>
            <a:r>
              <a:rPr lang="en-US" altLang="zh-CN" sz="1600" dirty="0"/>
              <a:t>ISBN978-7-04-040664-1</a:t>
            </a:r>
            <a:r>
              <a:rPr lang="zh-CN" altLang="zh-CN" sz="1600" dirty="0"/>
              <a:t>”或“</a:t>
            </a:r>
            <a:r>
              <a:rPr lang="en-US" altLang="zh-CN" sz="1600" dirty="0"/>
              <a:t>ISBN978-7-302-33894-9</a:t>
            </a:r>
            <a:r>
              <a:rPr lang="zh-CN" altLang="zh-CN" sz="1600" dirty="0"/>
              <a:t>”的户号</a:t>
            </a:r>
          </a:p>
          <a:p>
            <a:r>
              <a:rPr lang="zh-CN" altLang="zh-CN" sz="1600" dirty="0"/>
              <a:t>思考</a:t>
            </a:r>
            <a:r>
              <a:rPr lang="en-US" altLang="zh-CN" sz="1600" dirty="0"/>
              <a:t>2</a:t>
            </a:r>
            <a:r>
              <a:rPr lang="zh-CN" altLang="zh-CN" sz="1600" dirty="0"/>
              <a:t>：查询购买“</a:t>
            </a:r>
            <a:r>
              <a:rPr lang="en-US" altLang="zh-CN" sz="1600" dirty="0"/>
              <a:t>ISBN978-7-04-040664-1</a:t>
            </a:r>
            <a:r>
              <a:rPr lang="zh-CN" altLang="zh-CN" sz="1600" dirty="0"/>
              <a:t>”和“</a:t>
            </a:r>
            <a:r>
              <a:rPr lang="en-US" altLang="zh-CN" sz="1600" dirty="0"/>
              <a:t>ISBN978-7-302-33894-9</a:t>
            </a:r>
            <a:r>
              <a:rPr lang="zh-CN" altLang="zh-CN" sz="1600" dirty="0"/>
              <a:t>”的户号</a:t>
            </a:r>
          </a:p>
          <a:p>
            <a:pPr marL="363538" indent="0">
              <a:buNone/>
            </a:pPr>
            <a:endParaRPr lang="zh-CN" altLang="zh-CN" sz="2000" dirty="0"/>
          </a:p>
        </p:txBody>
      </p:sp>
      <p:sp>
        <p:nvSpPr>
          <p:cNvPr id="4" name="日期占位符 3"/>
          <p:cNvSpPr>
            <a:spLocks noGrp="1"/>
          </p:cNvSpPr>
          <p:nvPr>
            <p:ph type="dt" sz="half" idx="10"/>
          </p:nvPr>
        </p:nvSpPr>
        <p:spPr/>
        <p:txBody>
          <a:bodyPr/>
          <a:lstStyle/>
          <a:p>
            <a:fld id="{8D5969AD-9864-9D46-B7E2-6AA31682E75D}"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55</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solidFill>
                  <a:srgbClr val="0000FF"/>
                </a:solidFill>
              </a:rPr>
              <a:t>排序</a:t>
            </a:r>
            <a:r>
              <a:rPr lang="zh-CN" altLang="en-US" sz="2000" dirty="0">
                <a:solidFill>
                  <a:srgbClr val="0000FF"/>
                </a:solidFill>
              </a:rPr>
              <a:t>：</a:t>
            </a:r>
            <a:r>
              <a:rPr lang="zh-CN" altLang="zh-CN" sz="2000" dirty="0"/>
              <a:t>如果需要对查询的数据进行排序，则可以使用</a:t>
            </a:r>
            <a:r>
              <a:rPr lang="en-US" altLang="zh-CN" sz="2000" dirty="0"/>
              <a:t>ORDER BY</a:t>
            </a:r>
            <a:r>
              <a:rPr lang="zh-CN" altLang="zh-CN" sz="2000" dirty="0"/>
              <a:t>…、</a:t>
            </a:r>
            <a:r>
              <a:rPr lang="en-US" altLang="zh-CN" sz="2000" dirty="0"/>
              <a:t>ASC</a:t>
            </a:r>
            <a:r>
              <a:rPr lang="zh-CN" altLang="zh-CN" sz="2000" dirty="0"/>
              <a:t>（默认，升序）和</a:t>
            </a:r>
            <a:r>
              <a:rPr lang="en-US" altLang="zh-CN" sz="2000" dirty="0"/>
              <a:t>DESC</a:t>
            </a:r>
            <a:r>
              <a:rPr lang="zh-CN" altLang="zh-CN" sz="2000" dirty="0"/>
              <a:t>（降序）。即：</a:t>
            </a:r>
          </a:p>
          <a:p>
            <a:pPr marL="360363" indent="0">
              <a:buNone/>
            </a:pPr>
            <a:r>
              <a:rPr lang="en-US" altLang="zh-CN" sz="2000" dirty="0"/>
              <a:t>ORDER BY &lt;</a:t>
            </a:r>
            <a:r>
              <a:rPr lang="zh-CN" altLang="zh-CN" sz="2000" dirty="0"/>
              <a:t>属性</a:t>
            </a:r>
            <a:r>
              <a:rPr lang="en-US" altLang="zh-CN" sz="2000" dirty="0"/>
              <a:t>&gt; [ASC|DESC] [TOP &lt;</a:t>
            </a:r>
            <a:r>
              <a:rPr lang="zh-CN" altLang="zh-CN" sz="2000" dirty="0"/>
              <a:t>表达式</a:t>
            </a:r>
            <a:r>
              <a:rPr lang="en-US" altLang="zh-CN" sz="2000" dirty="0"/>
              <a:t>&gt; [PERCENT]]</a:t>
            </a:r>
            <a:endParaRPr lang="zh-CN" altLang="zh-CN" sz="2000" dirty="0"/>
          </a:p>
          <a:p>
            <a:pPr marL="360363" indent="0">
              <a:buNone/>
            </a:pPr>
            <a:r>
              <a:rPr lang="en-US" altLang="zh-CN" sz="1800" dirty="0"/>
              <a:t>TOP &lt;</a:t>
            </a:r>
            <a:r>
              <a:rPr lang="zh-CN" altLang="zh-CN" sz="1800" dirty="0"/>
              <a:t>表达式</a:t>
            </a:r>
            <a:r>
              <a:rPr lang="en-US" altLang="zh-CN" sz="1800" dirty="0"/>
              <a:t>&gt;</a:t>
            </a:r>
            <a:r>
              <a:rPr lang="zh-CN" altLang="zh-CN" sz="1800" dirty="0"/>
              <a:t>：仅显示前若干记录；</a:t>
            </a:r>
            <a:r>
              <a:rPr lang="en-US" altLang="zh-CN" sz="1800" dirty="0"/>
              <a:t>PERCENT</a:t>
            </a:r>
            <a:r>
              <a:rPr lang="zh-CN" altLang="zh-CN" sz="1800" dirty="0"/>
              <a:t>：按照百分比显示前若干记录。</a:t>
            </a:r>
          </a:p>
          <a:p>
            <a:r>
              <a:rPr lang="zh-CN" altLang="zh-CN" sz="2000" dirty="0"/>
              <a:t>例如：在</a:t>
            </a:r>
            <a:r>
              <a:rPr lang="en-US" altLang="zh-CN" sz="2000" dirty="0"/>
              <a:t>Book</a:t>
            </a:r>
            <a:r>
              <a:rPr lang="zh-CN" altLang="zh-CN" sz="2000" dirty="0"/>
              <a:t>中，按照定价进行降序排序。</a:t>
            </a:r>
          </a:p>
          <a:p>
            <a:pPr marL="360363" indent="0">
              <a:buNone/>
            </a:pPr>
            <a:r>
              <a:rPr lang="en-US" altLang="zh-CN" sz="2000" dirty="0"/>
              <a:t>SELECT *    FROM Book    ORDER BY Price DESC</a:t>
            </a:r>
            <a:endParaRPr lang="zh-CN" altLang="zh-CN" sz="2000" dirty="0"/>
          </a:p>
          <a:p>
            <a:r>
              <a:rPr lang="zh-CN" altLang="zh-CN" sz="2000" dirty="0"/>
              <a:t>例如：在</a:t>
            </a:r>
            <a:r>
              <a:rPr lang="en-US" altLang="zh-CN" sz="2000" dirty="0"/>
              <a:t>Book</a:t>
            </a:r>
            <a:r>
              <a:rPr lang="zh-CN" altLang="zh-CN" sz="2000" dirty="0"/>
              <a:t>中，先按照作者进行升序排序，再按照售价进行降序排序。</a:t>
            </a:r>
          </a:p>
          <a:p>
            <a:pPr marL="360363" indent="0">
              <a:buNone/>
            </a:pPr>
            <a:r>
              <a:rPr lang="en-US" altLang="zh-CN" sz="2000" dirty="0"/>
              <a:t>SELECT *    FROM Book    ORDER BY Author, </a:t>
            </a:r>
            <a:r>
              <a:rPr lang="en-US" altLang="zh-CN" sz="2000" dirty="0" err="1"/>
              <a:t>SPrice</a:t>
            </a:r>
            <a:r>
              <a:rPr lang="en-US" altLang="zh-CN" sz="2000" dirty="0"/>
              <a:t> DESC</a:t>
            </a:r>
            <a:endParaRPr lang="zh-CN" altLang="zh-CN" sz="2000" dirty="0"/>
          </a:p>
          <a:p>
            <a:r>
              <a:rPr lang="zh-CN" altLang="zh-CN" sz="2000" dirty="0"/>
              <a:t>思考</a:t>
            </a:r>
            <a:r>
              <a:rPr lang="en-US" altLang="zh-CN" sz="2000" dirty="0"/>
              <a:t>1</a:t>
            </a:r>
            <a:r>
              <a:rPr lang="zh-CN" altLang="zh-CN" sz="2000" dirty="0"/>
              <a:t>：解释多重排序。</a:t>
            </a:r>
          </a:p>
          <a:p>
            <a:r>
              <a:rPr lang="zh-CN" altLang="zh-CN" sz="2000" dirty="0"/>
              <a:t>思考</a:t>
            </a:r>
            <a:r>
              <a:rPr lang="en-US" altLang="zh-CN" sz="2000" dirty="0"/>
              <a:t>2</a:t>
            </a:r>
            <a:r>
              <a:rPr lang="zh-CN" altLang="zh-CN" sz="2000" dirty="0"/>
              <a:t>：实现</a:t>
            </a:r>
            <a:r>
              <a:rPr lang="en-US" altLang="zh-CN" sz="2000" dirty="0"/>
              <a:t>TOP</a:t>
            </a:r>
            <a:r>
              <a:rPr lang="zh-CN" altLang="zh-CN" sz="2000" dirty="0"/>
              <a:t>和</a:t>
            </a:r>
            <a:r>
              <a:rPr lang="en-US" altLang="zh-CN" sz="2000" dirty="0"/>
              <a:t>PERCENT</a:t>
            </a:r>
            <a:r>
              <a:rPr lang="zh-CN" altLang="zh-CN" sz="2000" dirty="0"/>
              <a:t>的用法。</a:t>
            </a:r>
          </a:p>
          <a:p>
            <a:pPr marL="363538" indent="0">
              <a:buNone/>
            </a:pPr>
            <a:endParaRPr lang="zh-CN" altLang="zh-CN" sz="2000" dirty="0"/>
          </a:p>
        </p:txBody>
      </p:sp>
      <p:sp>
        <p:nvSpPr>
          <p:cNvPr id="4" name="日期占位符 3"/>
          <p:cNvSpPr>
            <a:spLocks noGrp="1"/>
          </p:cNvSpPr>
          <p:nvPr>
            <p:ph type="dt" sz="half" idx="10"/>
          </p:nvPr>
        </p:nvSpPr>
        <p:spPr/>
        <p:txBody>
          <a:bodyPr/>
          <a:lstStyle/>
          <a:p>
            <a:fld id="{F3D43F27-53C7-D646-8248-632CB2EDD0D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56</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4.3.2 </a:t>
            </a:r>
            <a:r>
              <a:rPr lang="zh-CN" altLang="zh-CN" dirty="0"/>
              <a:t>单表查询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476672"/>
            <a:ext cx="8784976" cy="6192688"/>
          </a:xfrm>
        </p:spPr>
        <p:txBody>
          <a:bodyPr>
            <a:noAutofit/>
          </a:bodyPr>
          <a:lstStyle/>
          <a:p>
            <a:r>
              <a:rPr lang="zh-CN" altLang="zh-CN" sz="2000" dirty="0">
                <a:solidFill>
                  <a:srgbClr val="0000FF"/>
                </a:solidFill>
              </a:rPr>
              <a:t>空值</a:t>
            </a:r>
            <a:r>
              <a:rPr lang="zh-CN" altLang="en-US" sz="2000" dirty="0">
                <a:solidFill>
                  <a:srgbClr val="0000FF"/>
                </a:solidFill>
              </a:rPr>
              <a:t>：</a:t>
            </a:r>
            <a:r>
              <a:rPr lang="zh-CN" altLang="zh-CN" sz="2000" dirty="0"/>
              <a:t>查询包含空值的数据，则可以使用</a:t>
            </a:r>
            <a:r>
              <a:rPr lang="en-US" altLang="zh-CN" sz="2000" dirty="0"/>
              <a:t>IS NULLIN</a:t>
            </a:r>
            <a:r>
              <a:rPr lang="zh-CN" altLang="zh-CN" sz="2000" dirty="0"/>
              <a:t>、</a:t>
            </a:r>
            <a:r>
              <a:rPr lang="en-US" altLang="zh-CN" sz="2000" dirty="0"/>
              <a:t>IS NOT NULL</a:t>
            </a:r>
            <a:r>
              <a:rPr lang="zh-CN" altLang="zh-CN" sz="2000" dirty="0"/>
              <a:t>。</a:t>
            </a:r>
          </a:p>
          <a:p>
            <a:pPr marL="360363" indent="0">
              <a:buNone/>
            </a:pPr>
            <a:r>
              <a:rPr lang="en-US" altLang="zh-CN" sz="2000" dirty="0"/>
              <a:t>SELECT * &lt;</a:t>
            </a:r>
            <a:r>
              <a:rPr lang="zh-CN" altLang="zh-CN" sz="2000" dirty="0"/>
              <a:t>表</a:t>
            </a:r>
            <a:r>
              <a:rPr lang="en-US" altLang="zh-CN" sz="2000" dirty="0"/>
              <a:t>1&gt;, &lt;</a:t>
            </a:r>
            <a:r>
              <a:rPr lang="zh-CN" altLang="zh-CN" sz="2000" dirty="0"/>
              <a:t>表</a:t>
            </a:r>
            <a:r>
              <a:rPr lang="en-US" altLang="zh-CN" sz="2000" dirty="0"/>
              <a:t>2&gt;, … </a:t>
            </a:r>
            <a:endParaRPr lang="zh-CN" altLang="zh-CN" sz="2000" dirty="0"/>
          </a:p>
          <a:p>
            <a:r>
              <a:rPr lang="zh-CN" altLang="zh-CN" sz="2000" dirty="0"/>
              <a:t>例如：在</a:t>
            </a:r>
            <a:r>
              <a:rPr lang="en-US" altLang="zh-CN" sz="2000" dirty="0"/>
              <a:t>Buy</a:t>
            </a:r>
            <a:r>
              <a:rPr lang="zh-CN" altLang="zh-CN" sz="2000" dirty="0"/>
              <a:t>中，先把户号为“</a:t>
            </a:r>
            <a:r>
              <a:rPr lang="en-US" altLang="zh-CN" sz="2000" dirty="0"/>
              <a:t>C006</a:t>
            </a:r>
            <a:r>
              <a:rPr lang="zh-CN" altLang="zh-CN" sz="2000" dirty="0"/>
              <a:t>”，书号为“</a:t>
            </a:r>
            <a:r>
              <a:rPr lang="en-US" altLang="zh-CN" sz="2000" dirty="0"/>
              <a:t>ISBN978-7-81140-582-8</a:t>
            </a:r>
            <a:r>
              <a:rPr lang="zh-CN" altLang="zh-CN" sz="2000" dirty="0"/>
              <a:t>”的记录的购买日期</a:t>
            </a:r>
            <a:r>
              <a:rPr lang="en-US" altLang="zh-CN" sz="2000" dirty="0"/>
              <a:t>2013-10-17</a:t>
            </a:r>
            <a:r>
              <a:rPr lang="zh-CN" altLang="zh-CN" sz="2000" dirty="0"/>
              <a:t>改为空值</a:t>
            </a:r>
            <a:r>
              <a:rPr lang="en-US" altLang="zh-CN" sz="2000" dirty="0"/>
              <a:t>NULL</a:t>
            </a:r>
            <a:r>
              <a:rPr lang="zh-CN" altLang="zh-CN" sz="2000" dirty="0"/>
              <a:t>，再分别查询没有购买日期和有购买日期的记录。</a:t>
            </a:r>
          </a:p>
          <a:p>
            <a:pPr marL="360363" indent="0">
              <a:buNone/>
            </a:pPr>
            <a:r>
              <a:rPr lang="en-US" altLang="zh-CN" sz="2000" dirty="0"/>
              <a:t>UPDATE Buy    SET </a:t>
            </a:r>
            <a:r>
              <a:rPr lang="en-US" altLang="zh-CN" sz="2000" dirty="0" err="1"/>
              <a:t>PDate</a:t>
            </a:r>
            <a:r>
              <a:rPr lang="en-US" altLang="zh-CN" sz="2000" dirty="0"/>
              <a:t>=NULL</a:t>
            </a:r>
            <a:endParaRPr lang="zh-CN" altLang="zh-CN" sz="2000" dirty="0"/>
          </a:p>
          <a:p>
            <a:pPr marL="360363" indent="0">
              <a:buNone/>
            </a:pPr>
            <a:r>
              <a:rPr lang="en-US" altLang="zh-CN" sz="2000" dirty="0"/>
              <a:t>    WHERE </a:t>
            </a:r>
            <a:r>
              <a:rPr lang="en-US" altLang="zh-CN" sz="2000" dirty="0" err="1"/>
              <a:t>CNo</a:t>
            </a:r>
            <a:r>
              <a:rPr lang="en-US" altLang="zh-CN" sz="2000" dirty="0"/>
              <a:t>='C006' AND </a:t>
            </a:r>
            <a:r>
              <a:rPr lang="en-US" altLang="zh-CN" sz="2000" dirty="0" err="1"/>
              <a:t>BNo</a:t>
            </a:r>
            <a:r>
              <a:rPr lang="en-US" altLang="zh-CN" sz="2000" dirty="0"/>
              <a:t>='ISBN978-7-81140-582-8'</a:t>
            </a:r>
            <a:endParaRPr lang="zh-CN" altLang="zh-CN" sz="2000" dirty="0"/>
          </a:p>
          <a:p>
            <a:r>
              <a:rPr lang="zh-CN" altLang="zh-CN" sz="2000" dirty="0"/>
              <a:t>思考</a:t>
            </a:r>
            <a:r>
              <a:rPr lang="en-US" altLang="zh-CN" sz="2000" dirty="0"/>
              <a:t>1</a:t>
            </a:r>
            <a:r>
              <a:rPr lang="zh-CN" altLang="zh-CN" sz="2000" dirty="0"/>
              <a:t>：如果使用</a:t>
            </a:r>
            <a:r>
              <a:rPr lang="en-US" altLang="zh-CN" sz="2000" dirty="0"/>
              <a:t>SET </a:t>
            </a:r>
            <a:r>
              <a:rPr lang="en-US" altLang="zh-CN" sz="2000" dirty="0" err="1"/>
              <a:t>PDate</a:t>
            </a:r>
            <a:r>
              <a:rPr lang="en-US" altLang="zh-CN" sz="2000" dirty="0"/>
              <a:t> IS NULL</a:t>
            </a:r>
            <a:r>
              <a:rPr lang="zh-CN" altLang="zh-CN" sz="2000" dirty="0"/>
              <a:t>，正确吗？</a:t>
            </a:r>
          </a:p>
          <a:p>
            <a:r>
              <a:rPr lang="zh-CN" altLang="zh-CN" sz="2000" dirty="0"/>
              <a:t>思考</a:t>
            </a:r>
            <a:r>
              <a:rPr lang="en-US" altLang="zh-CN" sz="2000" dirty="0"/>
              <a:t>2</a:t>
            </a:r>
            <a:r>
              <a:rPr lang="zh-CN" altLang="zh-CN" sz="2000" dirty="0"/>
              <a:t>：如果使用</a:t>
            </a:r>
            <a:r>
              <a:rPr lang="en-US" altLang="zh-CN" sz="2000" dirty="0"/>
              <a:t>WHERE </a:t>
            </a:r>
            <a:r>
              <a:rPr lang="en-US" altLang="zh-CN" sz="2000" dirty="0" err="1"/>
              <a:t>PDate</a:t>
            </a:r>
            <a:r>
              <a:rPr lang="en-US" altLang="zh-CN" sz="2000" dirty="0"/>
              <a:t>='2013-10-17'</a:t>
            </a:r>
            <a:r>
              <a:rPr lang="zh-CN" altLang="zh-CN" sz="2000" dirty="0"/>
              <a:t>，是否合理？</a:t>
            </a:r>
          </a:p>
          <a:p>
            <a:pPr marL="360363" indent="0">
              <a:buNone/>
            </a:pPr>
            <a:r>
              <a:rPr lang="en-US" altLang="zh-CN" sz="2000" dirty="0"/>
              <a:t>SELECT *    FROM Buy    WHERE </a:t>
            </a:r>
            <a:r>
              <a:rPr lang="en-US" altLang="zh-CN" sz="2000" dirty="0" err="1"/>
              <a:t>PDate</a:t>
            </a:r>
            <a:r>
              <a:rPr lang="en-US" altLang="zh-CN" sz="2000" dirty="0"/>
              <a:t> IS NULL</a:t>
            </a:r>
            <a:endParaRPr lang="zh-CN" altLang="zh-CN" sz="2000" dirty="0"/>
          </a:p>
          <a:p>
            <a:pPr marL="360363" indent="0">
              <a:buNone/>
            </a:pPr>
            <a:r>
              <a:rPr lang="en-US" altLang="zh-CN" sz="2000" dirty="0"/>
              <a:t>SELECT *    FROM Buy    WHERE </a:t>
            </a:r>
            <a:r>
              <a:rPr lang="en-US" altLang="zh-CN" sz="2000" dirty="0" err="1"/>
              <a:t>PDate</a:t>
            </a:r>
            <a:r>
              <a:rPr lang="en-US" altLang="zh-CN" sz="2000" dirty="0"/>
              <a:t> IS NOT NULL</a:t>
            </a:r>
            <a:endParaRPr lang="zh-CN" altLang="zh-CN" sz="2000" dirty="0"/>
          </a:p>
          <a:p>
            <a:r>
              <a:rPr lang="zh-CN" altLang="zh-CN" sz="2000" dirty="0"/>
              <a:t>思考：可以使用“</a:t>
            </a:r>
            <a:r>
              <a:rPr lang="en-US" altLang="zh-CN" sz="2000" dirty="0"/>
              <a:t>=NULL</a:t>
            </a:r>
            <a:r>
              <a:rPr lang="zh-CN" altLang="zh-CN" sz="2000" dirty="0"/>
              <a:t>”代替“</a:t>
            </a:r>
            <a:r>
              <a:rPr lang="en-US" altLang="zh-CN" sz="2000" dirty="0"/>
              <a:t>IS NULL</a:t>
            </a:r>
            <a:r>
              <a:rPr lang="zh-CN" altLang="zh-CN" sz="2000" dirty="0"/>
              <a:t>”吗？</a:t>
            </a:r>
          </a:p>
          <a:p>
            <a:r>
              <a:rPr lang="zh-CN" altLang="zh-CN" sz="2000" dirty="0"/>
              <a:t>提示：在升序排序时，空值最先显示。在降序排序时，空值最后显示。</a:t>
            </a:r>
          </a:p>
        </p:txBody>
      </p:sp>
      <p:sp>
        <p:nvSpPr>
          <p:cNvPr id="4" name="日期占位符 3"/>
          <p:cNvSpPr>
            <a:spLocks noGrp="1"/>
          </p:cNvSpPr>
          <p:nvPr>
            <p:ph type="dt" sz="half" idx="10"/>
          </p:nvPr>
        </p:nvSpPr>
        <p:spPr/>
        <p:txBody>
          <a:bodyPr/>
          <a:lstStyle/>
          <a:p>
            <a:fld id="{C82291E8-281A-7449-A322-1EEA9A3849FB}"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57</a:t>
            </a:fld>
            <a:endParaRPr lang="zh-CN" altLang="en-US" dirty="0"/>
          </a:p>
        </p:txBody>
      </p:sp>
    </p:spTree>
    <p:extLst>
      <p:ext uri="{BB962C8B-B14F-4D97-AF65-F5344CB8AC3E}">
        <p14:creationId xmlns:p14="http://schemas.microsoft.com/office/powerpoint/2010/main" val="2815802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en-US" altLang="zh-CN" sz="2000" dirty="0">
                <a:solidFill>
                  <a:srgbClr val="0000FF"/>
                </a:solidFill>
              </a:rPr>
              <a:t>1</a:t>
            </a:r>
            <a:r>
              <a:rPr lang="zh-CN" altLang="zh-CN" sz="2000" dirty="0">
                <a:solidFill>
                  <a:srgbClr val="0000FF"/>
                </a:solidFill>
              </a:rPr>
              <a:t>．连接</a:t>
            </a:r>
            <a:r>
              <a:rPr lang="zh-CN" altLang="en-US" sz="2000" dirty="0">
                <a:solidFill>
                  <a:srgbClr val="0000FF"/>
                </a:solidFill>
              </a:rPr>
              <a:t>：</a:t>
            </a:r>
            <a:r>
              <a:rPr lang="zh-CN" altLang="zh-CN" sz="2000" dirty="0"/>
              <a:t>连接包括内连接（条件连接）和外连接（左外连接，右外连接）等。</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）内连接的语法</a:t>
            </a:r>
            <a:r>
              <a:rPr lang="zh-CN" altLang="zh-CN" sz="2000" b="1" dirty="0"/>
              <a:t>：</a:t>
            </a:r>
            <a:endParaRPr lang="zh-CN" altLang="zh-CN" sz="2000" dirty="0"/>
          </a:p>
          <a:p>
            <a:pPr marL="360363" indent="0">
              <a:buNone/>
            </a:pPr>
            <a:r>
              <a:rPr lang="en-US" altLang="zh-CN" sz="2000" dirty="0"/>
              <a:t>SELECT [*] &lt;</a:t>
            </a:r>
            <a:r>
              <a:rPr lang="zh-CN" altLang="zh-CN" sz="2000" dirty="0"/>
              <a:t>表达式</a:t>
            </a:r>
            <a:r>
              <a:rPr lang="en-US" altLang="zh-CN" sz="2000" dirty="0"/>
              <a:t>&gt;[</a:t>
            </a:r>
            <a:r>
              <a:rPr lang="zh-CN" altLang="zh-CN" sz="2000" dirty="0"/>
              <a:t>，</a:t>
            </a:r>
            <a:r>
              <a:rPr lang="en-US" altLang="zh-CN" sz="2000" dirty="0"/>
              <a:t>&lt;</a:t>
            </a:r>
            <a:r>
              <a:rPr lang="zh-CN" altLang="zh-CN" sz="2000" dirty="0"/>
              <a:t>表达式</a:t>
            </a:r>
            <a:r>
              <a:rPr lang="en-US" altLang="zh-CN" sz="2000" dirty="0"/>
              <a:t>&gt;] </a:t>
            </a:r>
            <a:r>
              <a:rPr lang="zh-CN" altLang="zh-CN" sz="2000" dirty="0"/>
              <a:t>…</a:t>
            </a:r>
          </a:p>
          <a:p>
            <a:pPr marL="360363" indent="0">
              <a:buNone/>
            </a:pPr>
            <a:r>
              <a:rPr lang="en-US" altLang="zh-CN" sz="2000" dirty="0"/>
              <a:t>    FROM &lt;</a:t>
            </a:r>
            <a:r>
              <a:rPr lang="zh-CN" altLang="zh-CN" sz="2000" dirty="0"/>
              <a:t>表</a:t>
            </a:r>
            <a:r>
              <a:rPr lang="en-US" altLang="zh-CN" sz="2000" dirty="0"/>
              <a:t>1&gt;, &lt;</a:t>
            </a:r>
            <a:r>
              <a:rPr lang="zh-CN" altLang="zh-CN" sz="2000" dirty="0"/>
              <a:t>表</a:t>
            </a:r>
            <a:r>
              <a:rPr lang="en-US" altLang="zh-CN" sz="2000" dirty="0"/>
              <a:t>2&gt;, … , &lt;</a:t>
            </a:r>
            <a:r>
              <a:rPr lang="zh-CN" altLang="zh-CN" sz="2000" dirty="0"/>
              <a:t>表</a:t>
            </a:r>
            <a:r>
              <a:rPr lang="en-US" altLang="zh-CN" sz="2000" dirty="0"/>
              <a:t>n&gt;</a:t>
            </a:r>
            <a:endParaRPr lang="zh-CN" altLang="zh-CN" sz="2000" dirty="0"/>
          </a:p>
          <a:p>
            <a:pPr marL="360363" indent="0">
              <a:buNone/>
            </a:pPr>
            <a:r>
              <a:rPr lang="en-US" altLang="zh-CN" sz="2000" dirty="0"/>
              <a:t>    WHERE &lt;</a:t>
            </a:r>
            <a:r>
              <a:rPr lang="zh-CN" altLang="zh-CN" sz="2000" dirty="0"/>
              <a:t>条件表达式</a:t>
            </a:r>
            <a:r>
              <a:rPr lang="en-US" altLang="zh-CN" sz="2000" dirty="0"/>
              <a:t>&gt;</a:t>
            </a:r>
            <a:endParaRPr lang="zh-CN" altLang="zh-CN" sz="2000" dirty="0"/>
          </a:p>
          <a:p>
            <a:pPr marL="360363" indent="0">
              <a:buNone/>
            </a:pPr>
            <a:r>
              <a:rPr lang="en-US" altLang="zh-CN" sz="2000" dirty="0"/>
              <a:t>SELECT [*] &lt;</a:t>
            </a:r>
            <a:r>
              <a:rPr lang="zh-CN" altLang="zh-CN" sz="2000" dirty="0"/>
              <a:t>表达式</a:t>
            </a:r>
            <a:r>
              <a:rPr lang="en-US" altLang="zh-CN" sz="2000" dirty="0"/>
              <a:t>&gt;[</a:t>
            </a:r>
            <a:r>
              <a:rPr lang="zh-CN" altLang="zh-CN" sz="2000" dirty="0"/>
              <a:t>，</a:t>
            </a:r>
            <a:r>
              <a:rPr lang="en-US" altLang="zh-CN" sz="2000" dirty="0"/>
              <a:t>&lt;</a:t>
            </a:r>
            <a:r>
              <a:rPr lang="zh-CN" altLang="zh-CN" sz="2000" dirty="0"/>
              <a:t>表达式</a:t>
            </a:r>
            <a:r>
              <a:rPr lang="en-US" altLang="zh-CN" sz="2000" dirty="0"/>
              <a:t>&gt;] </a:t>
            </a:r>
            <a:r>
              <a:rPr lang="zh-CN" altLang="zh-CN" sz="2000" dirty="0"/>
              <a:t>…</a:t>
            </a:r>
          </a:p>
          <a:p>
            <a:pPr marL="360363" indent="0">
              <a:buNone/>
            </a:pPr>
            <a:r>
              <a:rPr lang="en-US" altLang="zh-CN" sz="2000" dirty="0"/>
              <a:t>    FROM &lt;</a:t>
            </a:r>
            <a:r>
              <a:rPr lang="zh-CN" altLang="zh-CN" sz="2000" dirty="0"/>
              <a:t>表</a:t>
            </a:r>
            <a:r>
              <a:rPr lang="en-US" altLang="zh-CN" sz="2000" dirty="0"/>
              <a:t>1&gt; [INNER] JOIN &lt;</a:t>
            </a:r>
            <a:r>
              <a:rPr lang="zh-CN" altLang="zh-CN" sz="2000" dirty="0"/>
              <a:t>表</a:t>
            </a:r>
            <a:r>
              <a:rPr lang="en-US" altLang="zh-CN" sz="2000" dirty="0"/>
              <a:t>2&gt; ON (&lt;</a:t>
            </a:r>
            <a:r>
              <a:rPr lang="zh-CN" altLang="zh-CN" sz="2000" dirty="0"/>
              <a:t>表</a:t>
            </a:r>
            <a:r>
              <a:rPr lang="en-US" altLang="zh-CN" sz="2000" dirty="0"/>
              <a:t>1&gt;.A </a:t>
            </a:r>
            <a:r>
              <a:rPr lang="zh-CN" altLang="zh-CN" sz="2000" dirty="0"/>
              <a:t>θ </a:t>
            </a:r>
            <a:r>
              <a:rPr lang="en-US" altLang="zh-CN" sz="2000" dirty="0"/>
              <a:t>&lt;</a:t>
            </a:r>
            <a:r>
              <a:rPr lang="zh-CN" altLang="zh-CN" sz="2000" dirty="0"/>
              <a:t>表</a:t>
            </a:r>
            <a:r>
              <a:rPr lang="en-US" altLang="zh-CN" sz="2000" dirty="0"/>
              <a:t>2&gt;.B)</a:t>
            </a:r>
            <a:endParaRPr lang="zh-CN" altLang="zh-CN" sz="2000" dirty="0"/>
          </a:p>
          <a:p>
            <a:r>
              <a:rPr lang="zh-CN" altLang="zh-CN" sz="2000" dirty="0"/>
              <a:t>提示：</a:t>
            </a:r>
            <a:r>
              <a:rPr lang="en-US" altLang="zh-CN" sz="2000" dirty="0"/>
              <a:t>&lt;</a:t>
            </a:r>
            <a:r>
              <a:rPr lang="zh-CN" altLang="zh-CN" sz="2000" dirty="0"/>
              <a:t>表</a:t>
            </a:r>
            <a:r>
              <a:rPr lang="en-US" altLang="zh-CN" sz="2000" dirty="0"/>
              <a:t>1&gt;, … , &lt;</a:t>
            </a:r>
            <a:r>
              <a:rPr lang="zh-CN" altLang="zh-CN" sz="2000" dirty="0"/>
              <a:t>表</a:t>
            </a:r>
            <a:r>
              <a:rPr lang="en-US" altLang="zh-CN" sz="2000" dirty="0"/>
              <a:t>n&gt;</a:t>
            </a:r>
            <a:r>
              <a:rPr lang="zh-CN" altLang="zh-CN" sz="2000" dirty="0"/>
              <a:t>不能同名。如果一表多用，则可以使用别名：</a:t>
            </a:r>
          </a:p>
          <a:p>
            <a:pPr marL="360363" indent="0">
              <a:buNone/>
            </a:pPr>
            <a:r>
              <a:rPr lang="en-US" altLang="zh-CN" sz="2000" dirty="0"/>
              <a:t>SELECT *    FROM &lt;</a:t>
            </a:r>
            <a:r>
              <a:rPr lang="zh-CN" altLang="zh-CN" sz="2000" dirty="0"/>
              <a:t>表</a:t>
            </a:r>
            <a:r>
              <a:rPr lang="en-US" altLang="zh-CN" sz="2000" dirty="0"/>
              <a:t>&gt; Tab1, &lt;</a:t>
            </a:r>
            <a:r>
              <a:rPr lang="zh-CN" altLang="zh-CN" sz="2000" dirty="0"/>
              <a:t>表</a:t>
            </a:r>
            <a:r>
              <a:rPr lang="en-US" altLang="zh-CN" sz="2000" dirty="0"/>
              <a:t>&gt; Tab2</a:t>
            </a:r>
            <a:endParaRPr lang="zh-CN" altLang="zh-CN" sz="2000" dirty="0"/>
          </a:p>
          <a:p>
            <a:pPr marL="360363" indent="0">
              <a:buNone/>
            </a:pPr>
            <a:r>
              <a:rPr lang="en-US" altLang="zh-CN" sz="2000" dirty="0"/>
              <a:t>    WHERE Tab1.A </a:t>
            </a:r>
            <a:r>
              <a:rPr lang="zh-CN" altLang="zh-CN" sz="2000" dirty="0"/>
              <a:t>θ</a:t>
            </a:r>
            <a:r>
              <a:rPr lang="en-US" altLang="zh-CN" sz="2000" dirty="0"/>
              <a:t> Tab2.B</a:t>
            </a:r>
            <a:endParaRPr lang="zh-CN" altLang="zh-CN" sz="2000" dirty="0"/>
          </a:p>
          <a:p>
            <a:r>
              <a:rPr lang="zh-CN" altLang="zh-CN" sz="2000" dirty="0"/>
              <a:t>例如：在</a:t>
            </a:r>
            <a:r>
              <a:rPr lang="en-US" altLang="zh-CN" sz="2000" dirty="0" err="1"/>
              <a:t>Cust</a:t>
            </a:r>
            <a:r>
              <a:rPr lang="zh-CN" altLang="zh-CN" sz="2000" dirty="0"/>
              <a:t>和</a:t>
            </a:r>
            <a:r>
              <a:rPr lang="en-US" altLang="zh-CN" sz="2000" dirty="0"/>
              <a:t>Buy</a:t>
            </a:r>
            <a:r>
              <a:rPr lang="zh-CN" altLang="zh-CN" sz="2000" dirty="0"/>
              <a:t>中，查询客户的详细购书信息。</a:t>
            </a:r>
          </a:p>
          <a:p>
            <a:pPr marL="360363" indent="0">
              <a:buNone/>
            </a:pPr>
            <a:r>
              <a:rPr lang="en-US" altLang="zh-CN" sz="2000" dirty="0"/>
              <a:t>SELECT *    FROM </a:t>
            </a:r>
            <a:r>
              <a:rPr lang="en-US" altLang="zh-CN" sz="2000" dirty="0" err="1"/>
              <a:t>Cust,Buy</a:t>
            </a: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t>
            </a:r>
            <a:r>
              <a:rPr lang="zh-CN" altLang="zh-CN" sz="2000" dirty="0"/>
              <a:t>或者</a:t>
            </a:r>
          </a:p>
        </p:txBody>
      </p:sp>
      <p:sp>
        <p:nvSpPr>
          <p:cNvPr id="4" name="日期占位符 3"/>
          <p:cNvSpPr>
            <a:spLocks noGrp="1"/>
          </p:cNvSpPr>
          <p:nvPr>
            <p:ph type="dt" sz="half" idx="10"/>
          </p:nvPr>
        </p:nvSpPr>
        <p:spPr/>
        <p:txBody>
          <a:bodyPr/>
          <a:lstStyle/>
          <a:p>
            <a:fld id="{6A26B069-4E02-3147-A925-2E20A3185E7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58</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en-US" altLang="zh-CN" sz="2000" dirty="0"/>
              <a:t>SELECT Cust.*,Buy.*</a:t>
            </a:r>
            <a:endParaRPr lang="zh-CN" altLang="zh-CN" sz="2000" dirty="0"/>
          </a:p>
          <a:p>
            <a:pPr marL="0" indent="0">
              <a:buNone/>
            </a:pPr>
            <a:r>
              <a:rPr lang="en-US" altLang="zh-CN" sz="2000" dirty="0"/>
              <a:t>    FROM </a:t>
            </a:r>
            <a:r>
              <a:rPr lang="en-US" altLang="zh-CN" sz="2000" dirty="0" err="1"/>
              <a:t>Cust,Buy</a:t>
            </a:r>
            <a:endParaRPr lang="zh-CN" altLang="zh-CN" sz="2000" dirty="0"/>
          </a:p>
          <a:p>
            <a:pPr marL="0" indent="0">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t>
            </a:r>
            <a:r>
              <a:rPr lang="zh-CN" altLang="zh-CN" sz="2000" dirty="0"/>
              <a:t>或者</a:t>
            </a:r>
          </a:p>
          <a:p>
            <a:pPr marL="0" indent="0">
              <a:buNone/>
            </a:pPr>
            <a:r>
              <a:rPr lang="en-US" altLang="zh-CN" sz="2000" dirty="0">
                <a:solidFill>
                  <a:srgbClr val="0000FF"/>
                </a:solidFill>
              </a:rPr>
              <a:t>SELECT </a:t>
            </a:r>
            <a:r>
              <a:rPr lang="en-US" altLang="zh-CN" sz="2000" dirty="0" err="1">
                <a:solidFill>
                  <a:srgbClr val="0000FF"/>
                </a:solidFill>
              </a:rPr>
              <a:t>Cust.CNo,CName,CSex,Birth,Phone,Marry,EMail,BNo,PDate</a:t>
            </a:r>
            <a:endParaRPr lang="zh-CN" altLang="zh-CN" sz="2000" dirty="0">
              <a:solidFill>
                <a:srgbClr val="0000FF"/>
              </a:solidFill>
            </a:endParaRPr>
          </a:p>
          <a:p>
            <a:pPr marL="0" indent="0">
              <a:buNone/>
            </a:pPr>
            <a:r>
              <a:rPr lang="en-US" altLang="zh-CN" sz="2000" dirty="0">
                <a:solidFill>
                  <a:srgbClr val="0000FF"/>
                </a:solidFill>
              </a:rPr>
              <a:t>    FROM </a:t>
            </a:r>
            <a:r>
              <a:rPr lang="en-US" altLang="zh-CN" sz="2000" dirty="0" err="1">
                <a:solidFill>
                  <a:srgbClr val="0000FF"/>
                </a:solidFill>
              </a:rPr>
              <a:t>Cust,Buy</a:t>
            </a:r>
            <a:endParaRPr lang="zh-CN" altLang="zh-CN" sz="2000" dirty="0">
              <a:solidFill>
                <a:srgbClr val="0000FF"/>
              </a:solidFill>
            </a:endParaRPr>
          </a:p>
          <a:p>
            <a:pPr marL="0" indent="0">
              <a:buNone/>
            </a:pPr>
            <a:r>
              <a:rPr lang="en-US" altLang="zh-CN" sz="2000" dirty="0">
                <a:solidFill>
                  <a:srgbClr val="0000FF"/>
                </a:solidFill>
              </a:rPr>
              <a:t>    WHERE </a:t>
            </a:r>
            <a:r>
              <a:rPr lang="en-US" altLang="zh-CN" sz="2000" dirty="0" err="1">
                <a:solidFill>
                  <a:srgbClr val="0000FF"/>
                </a:solidFill>
              </a:rPr>
              <a:t>Cust.CNo</a:t>
            </a:r>
            <a:r>
              <a:rPr lang="en-US" altLang="zh-CN" sz="2000" dirty="0">
                <a:solidFill>
                  <a:srgbClr val="0000FF"/>
                </a:solidFill>
              </a:rPr>
              <a:t>=</a:t>
            </a:r>
            <a:r>
              <a:rPr lang="en-US" altLang="zh-CN" sz="2000" dirty="0" err="1">
                <a:solidFill>
                  <a:srgbClr val="0000FF"/>
                </a:solidFill>
              </a:rPr>
              <a:t>Buy.CNo</a:t>
            </a:r>
            <a:r>
              <a:rPr lang="en-US" altLang="zh-CN" sz="2000" dirty="0">
                <a:solidFill>
                  <a:srgbClr val="0000FF"/>
                </a:solidFill>
              </a:rPr>
              <a:t>   </a:t>
            </a:r>
            <a:r>
              <a:rPr lang="en-US" altLang="zh-CN" sz="2000" dirty="0"/>
              <a:t> </a:t>
            </a:r>
            <a:r>
              <a:rPr lang="zh-CN" altLang="zh-CN" sz="2000" dirty="0"/>
              <a:t>或者</a:t>
            </a:r>
          </a:p>
          <a:p>
            <a:pPr marL="0" indent="0">
              <a:buNone/>
            </a:pPr>
            <a:r>
              <a:rPr lang="en-US" altLang="zh-CN" sz="2000" dirty="0"/>
              <a:t>SELECT </a:t>
            </a:r>
            <a:r>
              <a:rPr lang="en-US" altLang="zh-CN" sz="2000" dirty="0" err="1"/>
              <a:t>Cust.CNo,CName,CSex,Birth,Phone,Marry,EMail,BNo,PDate</a:t>
            </a:r>
            <a:endParaRPr lang="zh-CN" altLang="zh-CN" sz="2000" dirty="0"/>
          </a:p>
          <a:p>
            <a:pPr marL="0" indent="0">
              <a:buNone/>
            </a:pPr>
            <a:r>
              <a:rPr lang="en-US" altLang="zh-CN" sz="2000" dirty="0"/>
              <a:t>    FROM </a:t>
            </a:r>
            <a:r>
              <a:rPr lang="en-US" altLang="zh-CN" sz="2000" dirty="0" err="1"/>
              <a:t>Cust</a:t>
            </a:r>
            <a:r>
              <a:rPr lang="en-US" altLang="zh-CN" sz="2000" dirty="0"/>
              <a:t> JOIN Buy ON(</a:t>
            </a:r>
            <a:r>
              <a:rPr lang="en-US" altLang="zh-CN" sz="2000" dirty="0" err="1"/>
              <a:t>Cust.CNo</a:t>
            </a:r>
            <a:r>
              <a:rPr lang="en-US" altLang="zh-CN" sz="2000" dirty="0"/>
              <a:t>=</a:t>
            </a:r>
            <a:r>
              <a:rPr lang="en-US" altLang="zh-CN" sz="2000" dirty="0" err="1"/>
              <a:t>Buy.CNo</a:t>
            </a:r>
            <a:r>
              <a:rPr lang="en-US" altLang="zh-CN" sz="2000" dirty="0"/>
              <a:t>)    </a:t>
            </a:r>
            <a:r>
              <a:rPr lang="zh-CN" altLang="zh-CN" sz="2000" dirty="0"/>
              <a:t>或者</a:t>
            </a:r>
          </a:p>
          <a:p>
            <a:pPr marL="0" indent="0">
              <a:buNone/>
            </a:pPr>
            <a:r>
              <a:rPr lang="en-US" altLang="zh-CN" sz="2000" dirty="0"/>
              <a:t>SELECT </a:t>
            </a:r>
            <a:r>
              <a:rPr lang="en-US" altLang="zh-CN" sz="2000" dirty="0" err="1"/>
              <a:t>Cust.CNo,CName,CSex,Birth,Phone,Marry,EMail,BNo,PDate</a:t>
            </a:r>
            <a:endParaRPr lang="zh-CN" altLang="zh-CN" sz="2000" dirty="0"/>
          </a:p>
          <a:p>
            <a:pPr marL="0" indent="0">
              <a:buNone/>
            </a:pPr>
            <a:r>
              <a:rPr lang="en-US" altLang="zh-CN" sz="2000" dirty="0"/>
              <a:t>    FROM </a:t>
            </a:r>
            <a:r>
              <a:rPr lang="en-US" altLang="zh-CN" sz="2000" dirty="0" err="1"/>
              <a:t>Cust</a:t>
            </a:r>
            <a:r>
              <a:rPr lang="en-US" altLang="zh-CN" sz="2000" dirty="0"/>
              <a:t> INNER JOIN Buy ON(</a:t>
            </a:r>
            <a:r>
              <a:rPr lang="en-US" altLang="zh-CN" sz="2000" dirty="0" err="1"/>
              <a:t>Cust.CNo</a:t>
            </a:r>
            <a:r>
              <a:rPr lang="en-US" altLang="zh-CN" sz="2000" dirty="0"/>
              <a:t>=</a:t>
            </a:r>
            <a:r>
              <a:rPr lang="en-US" altLang="zh-CN" sz="2000" dirty="0" err="1"/>
              <a:t>Buy.CNo</a:t>
            </a:r>
            <a:r>
              <a:rPr lang="en-US" altLang="zh-CN" sz="2000" dirty="0"/>
              <a:t>)</a:t>
            </a:r>
            <a:endParaRPr lang="zh-CN" altLang="zh-CN" sz="2000" dirty="0"/>
          </a:p>
          <a:p>
            <a:r>
              <a:rPr lang="zh-CN" altLang="zh-CN" sz="2000" dirty="0"/>
              <a:t>思考：分析上述写法的区别。</a:t>
            </a:r>
          </a:p>
        </p:txBody>
      </p:sp>
      <p:sp>
        <p:nvSpPr>
          <p:cNvPr id="4" name="日期占位符 3"/>
          <p:cNvSpPr>
            <a:spLocks noGrp="1"/>
          </p:cNvSpPr>
          <p:nvPr>
            <p:ph type="dt" sz="half" idx="10"/>
          </p:nvPr>
        </p:nvSpPr>
        <p:spPr/>
        <p:txBody>
          <a:bodyPr/>
          <a:lstStyle/>
          <a:p>
            <a:fld id="{01771946-399F-BA4C-A6E9-B645BAB5192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59</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例如：查询购买韩培友出版的图书的户名、书名、作者、社名和订购日期。</a:t>
            </a:r>
          </a:p>
          <a:p>
            <a:pPr marL="360363" indent="0">
              <a:buNone/>
            </a:pPr>
            <a:r>
              <a:rPr lang="en-US" altLang="zh-CN" sz="2000" dirty="0"/>
              <a:t>SELECT </a:t>
            </a:r>
            <a:r>
              <a:rPr lang="en-US" altLang="zh-CN" sz="2000" dirty="0" err="1"/>
              <a:t>CName,BName,Author,PName,PDate</a:t>
            </a:r>
            <a:endParaRPr lang="zh-CN" altLang="zh-CN" sz="2000" dirty="0"/>
          </a:p>
          <a:p>
            <a:pPr marL="360363" indent="0">
              <a:buNone/>
            </a:pPr>
            <a:r>
              <a:rPr lang="en-US" altLang="zh-CN" sz="2000" dirty="0"/>
              <a:t>    FROM </a:t>
            </a:r>
            <a:r>
              <a:rPr lang="en-US" altLang="zh-CN" sz="2000" dirty="0" err="1"/>
              <a:t>Cust,Buy,Press,Book</a:t>
            </a:r>
            <a:endParaRPr lang="zh-CN" altLang="zh-CN" sz="2000" dirty="0"/>
          </a:p>
          <a:p>
            <a:pPr marL="360363" indent="0">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AND</a:t>
            </a:r>
            <a:endParaRPr lang="zh-CN" altLang="zh-CN" sz="2000" dirty="0"/>
          </a:p>
          <a:p>
            <a:pPr marL="360363" indent="0">
              <a:buNone/>
            </a:pPr>
            <a:r>
              <a:rPr lang="en-US" altLang="zh-CN" sz="2000" dirty="0"/>
              <a:t>        </a:t>
            </a:r>
            <a:r>
              <a:rPr lang="en-US" altLang="zh-CN" sz="2000" dirty="0" err="1"/>
              <a:t>Book.PNo</a:t>
            </a:r>
            <a:r>
              <a:rPr lang="en-US" altLang="zh-CN" sz="2000" dirty="0"/>
              <a:t>=</a:t>
            </a:r>
            <a:r>
              <a:rPr lang="en-US" altLang="zh-CN" sz="2000" dirty="0" err="1"/>
              <a:t>Press.PNo</a:t>
            </a:r>
            <a:r>
              <a:rPr lang="en-US" altLang="zh-CN" sz="2000" dirty="0"/>
              <a:t> AND Author='</a:t>
            </a:r>
            <a:r>
              <a:rPr lang="zh-CN" altLang="zh-CN" sz="2000" dirty="0"/>
              <a:t>韩培友</a:t>
            </a:r>
            <a:r>
              <a:rPr lang="en-US" altLang="zh-CN" sz="2000" dirty="0"/>
              <a:t>'</a:t>
            </a:r>
            <a:endParaRPr lang="zh-CN" altLang="zh-CN" sz="2000" dirty="0"/>
          </a:p>
          <a:p>
            <a:r>
              <a:rPr lang="zh-CN" altLang="zh-CN" sz="2000" dirty="0"/>
              <a:t>例如：统计每本书的销售利润总额，显示结果为书号、书名、作者和利润。</a:t>
            </a:r>
          </a:p>
          <a:p>
            <a:pPr marL="360363" indent="0">
              <a:buNone/>
            </a:pPr>
            <a:r>
              <a:rPr lang="en-US" altLang="zh-CN" sz="1800" dirty="0"/>
              <a:t>SELECT </a:t>
            </a:r>
            <a:r>
              <a:rPr lang="en-US" altLang="zh-CN" sz="1800" dirty="0" err="1"/>
              <a:t>Book.BNo</a:t>
            </a:r>
            <a:r>
              <a:rPr lang="en-US" altLang="zh-CN" sz="1800" dirty="0"/>
              <a:t> </a:t>
            </a:r>
            <a:r>
              <a:rPr lang="zh-CN" altLang="zh-CN" sz="1800" dirty="0"/>
              <a:t>书号</a:t>
            </a:r>
            <a:r>
              <a:rPr lang="en-US" altLang="zh-CN" sz="1800" dirty="0"/>
              <a:t>,</a:t>
            </a:r>
            <a:r>
              <a:rPr lang="en-US" altLang="zh-CN" sz="1800" dirty="0" err="1"/>
              <a:t>BName</a:t>
            </a:r>
            <a:r>
              <a:rPr lang="en-US" altLang="zh-CN" sz="1800" dirty="0"/>
              <a:t> </a:t>
            </a:r>
            <a:r>
              <a:rPr lang="zh-CN" altLang="zh-CN" sz="1800" dirty="0"/>
              <a:t>书名</a:t>
            </a:r>
            <a:r>
              <a:rPr lang="en-US" altLang="zh-CN" sz="1800" dirty="0"/>
              <a:t>,Author </a:t>
            </a:r>
            <a:r>
              <a:rPr lang="zh-CN" altLang="zh-CN" sz="1800" dirty="0"/>
              <a:t>作者</a:t>
            </a:r>
            <a:r>
              <a:rPr lang="en-US" altLang="zh-CN" sz="1800" dirty="0"/>
              <a:t>,SUM(</a:t>
            </a:r>
            <a:r>
              <a:rPr lang="en-US" altLang="zh-CN" sz="1800" dirty="0" err="1"/>
              <a:t>Sprice-Pprice</a:t>
            </a:r>
            <a:r>
              <a:rPr lang="en-US" altLang="zh-CN" sz="1800" dirty="0"/>
              <a:t>) </a:t>
            </a:r>
            <a:r>
              <a:rPr lang="zh-CN" altLang="zh-CN" sz="1800" dirty="0"/>
              <a:t>利润</a:t>
            </a:r>
          </a:p>
          <a:p>
            <a:pPr marL="360363" indent="0">
              <a:buNone/>
            </a:pPr>
            <a:r>
              <a:rPr lang="en-US" altLang="zh-CN" sz="2000" dirty="0"/>
              <a:t>    FROM </a:t>
            </a:r>
            <a:r>
              <a:rPr lang="en-US" altLang="zh-CN" sz="2000" dirty="0" err="1"/>
              <a:t>Buy,Book</a:t>
            </a:r>
            <a:endParaRPr lang="zh-CN" altLang="zh-CN" sz="2000" dirty="0"/>
          </a:p>
          <a:p>
            <a:pPr marL="360363" indent="0">
              <a:buNone/>
            </a:pPr>
            <a:r>
              <a:rPr lang="en-US" altLang="zh-CN" sz="2000" dirty="0"/>
              <a:t>    WHERE </a:t>
            </a:r>
            <a:r>
              <a:rPr lang="en-US" altLang="zh-CN" sz="2000" dirty="0" err="1"/>
              <a:t>Book.BNo</a:t>
            </a:r>
            <a:r>
              <a:rPr lang="en-US" altLang="zh-CN" sz="2000" dirty="0"/>
              <a:t>=</a:t>
            </a:r>
            <a:r>
              <a:rPr lang="en-US" altLang="zh-CN" sz="2000" dirty="0" err="1"/>
              <a:t>Buy.BNo</a:t>
            </a:r>
            <a:endParaRPr lang="zh-CN" altLang="zh-CN" sz="2000" dirty="0"/>
          </a:p>
          <a:p>
            <a:pPr marL="360363" indent="0">
              <a:buNone/>
            </a:pPr>
            <a:r>
              <a:rPr lang="en-US" altLang="zh-CN" sz="2000" dirty="0"/>
              <a:t>    GROUP BY </a:t>
            </a:r>
            <a:r>
              <a:rPr lang="en-US" altLang="zh-CN" sz="2000" dirty="0" err="1"/>
              <a:t>Book.BNo,BName,Author</a:t>
            </a:r>
            <a:endParaRPr lang="en-US" altLang="zh-CN" sz="2000" dirty="0"/>
          </a:p>
          <a:p>
            <a:r>
              <a:rPr lang="zh-CN" altLang="zh-CN" sz="2000" dirty="0"/>
              <a:t>思考：统计每本书的销售利润总额，显示结果为书号、书名、作者、社名和利润。</a:t>
            </a:r>
          </a:p>
        </p:txBody>
      </p:sp>
      <p:sp>
        <p:nvSpPr>
          <p:cNvPr id="4" name="日期占位符 3"/>
          <p:cNvSpPr>
            <a:spLocks noGrp="1"/>
          </p:cNvSpPr>
          <p:nvPr>
            <p:ph type="dt" sz="half" idx="10"/>
          </p:nvPr>
        </p:nvSpPr>
        <p:spPr/>
        <p:txBody>
          <a:bodyPr/>
          <a:lstStyle/>
          <a:p>
            <a:fld id="{AF59E306-ADCF-ED46-981F-0F5536A54904}"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60</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例如：统计销售利润总额。</a:t>
            </a:r>
          </a:p>
          <a:p>
            <a:pPr marL="360363" indent="0">
              <a:buNone/>
            </a:pPr>
            <a:r>
              <a:rPr lang="en-US" altLang="zh-CN" sz="2000" dirty="0"/>
              <a:t>SELECT SUM(</a:t>
            </a:r>
            <a:r>
              <a:rPr lang="en-US" altLang="zh-CN" sz="2000" dirty="0" err="1"/>
              <a:t>Sprice-Pprice</a:t>
            </a:r>
            <a:r>
              <a:rPr lang="en-US" altLang="zh-CN" sz="2000" dirty="0"/>
              <a:t>) </a:t>
            </a:r>
            <a:r>
              <a:rPr lang="zh-CN" altLang="zh-CN" sz="2000" dirty="0"/>
              <a:t>总利润</a:t>
            </a:r>
          </a:p>
          <a:p>
            <a:pPr marL="360363" indent="0">
              <a:buNone/>
            </a:pPr>
            <a:r>
              <a:rPr lang="en-US" altLang="zh-CN" sz="2000" dirty="0"/>
              <a:t>    FROM </a:t>
            </a:r>
            <a:r>
              <a:rPr lang="en-US" altLang="zh-CN" sz="2000" dirty="0" err="1"/>
              <a:t>Buy,Book</a:t>
            </a:r>
            <a:endParaRPr lang="zh-CN" altLang="zh-CN" sz="2000" dirty="0"/>
          </a:p>
          <a:p>
            <a:pPr marL="360363" indent="0">
              <a:buNone/>
            </a:pPr>
            <a:r>
              <a:rPr lang="en-US" altLang="zh-CN" sz="2000" dirty="0"/>
              <a:t>    WHERE </a:t>
            </a:r>
            <a:r>
              <a:rPr lang="en-US" altLang="zh-CN" sz="2000" dirty="0" err="1"/>
              <a:t>Book.BNo</a:t>
            </a:r>
            <a:r>
              <a:rPr lang="en-US" altLang="zh-CN" sz="2000" dirty="0"/>
              <a:t>=</a:t>
            </a:r>
            <a:r>
              <a:rPr lang="en-US" altLang="zh-CN" sz="2000" dirty="0" err="1"/>
              <a:t>Buy.BNo</a:t>
            </a:r>
            <a:endParaRPr lang="zh-CN" altLang="zh-CN" sz="2000" dirty="0"/>
          </a:p>
          <a:p>
            <a:r>
              <a:rPr lang="zh-CN" altLang="zh-CN" sz="2000" dirty="0"/>
              <a:t>提示：在实际应用中，进行连接操作时，有意义的连接操作一般是自然连接，而自然连接通常不明确的给出连接条件，这时一定要注意，不要把默认的连接条件丢掉。其中的默认连接条件就是表之间的公共属性的值相等。例如：</a:t>
            </a:r>
            <a:r>
              <a:rPr lang="en-US" altLang="zh-CN" sz="2000" dirty="0" err="1"/>
              <a:t>Buy.CNo</a:t>
            </a:r>
            <a:r>
              <a:rPr lang="en-US" altLang="zh-CN" sz="2000" dirty="0"/>
              <a:t>=</a:t>
            </a:r>
            <a:r>
              <a:rPr lang="en-US" altLang="zh-CN" sz="2000" dirty="0" err="1"/>
              <a:t>Cust.CNo</a:t>
            </a:r>
            <a:r>
              <a:rPr lang="zh-CN" altLang="zh-CN" sz="2000" dirty="0"/>
              <a:t>和</a:t>
            </a:r>
            <a:r>
              <a:rPr lang="en-US" altLang="zh-CN" sz="2000" dirty="0" err="1"/>
              <a:t>Buy.BNo</a:t>
            </a:r>
            <a:r>
              <a:rPr lang="en-US" altLang="zh-CN" sz="2000" dirty="0"/>
              <a:t>= </a:t>
            </a:r>
            <a:r>
              <a:rPr lang="en-US" altLang="zh-CN" sz="2000" dirty="0" err="1"/>
              <a:t>Book.BNo</a:t>
            </a:r>
            <a:r>
              <a:rPr lang="zh-CN" altLang="zh-CN" sz="2000" dirty="0"/>
              <a:t>。</a:t>
            </a:r>
          </a:p>
          <a:p>
            <a:pPr marL="363538" indent="0">
              <a:buNone/>
            </a:pPr>
            <a:endParaRPr lang="zh-CN" altLang="zh-CN" sz="2000" dirty="0"/>
          </a:p>
        </p:txBody>
      </p:sp>
      <p:sp>
        <p:nvSpPr>
          <p:cNvPr id="4" name="日期占位符 3"/>
          <p:cNvSpPr>
            <a:spLocks noGrp="1"/>
          </p:cNvSpPr>
          <p:nvPr>
            <p:ph type="dt" sz="half" idx="10"/>
          </p:nvPr>
        </p:nvSpPr>
        <p:spPr/>
        <p:txBody>
          <a:bodyPr/>
          <a:lstStyle/>
          <a:p>
            <a:fld id="{FD75B7D2-83F8-7E4D-AC4C-ED5C99DE5AD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61</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）外连接的语法：</a:t>
            </a:r>
            <a:r>
              <a:rPr lang="en-US" altLang="zh-CN" sz="2000" dirty="0">
                <a:solidFill>
                  <a:srgbClr val="0000FF"/>
                </a:solidFill>
              </a:rPr>
              <a:t>SELECT &lt;</a:t>
            </a:r>
            <a:r>
              <a:rPr lang="zh-CN" altLang="zh-CN" sz="2000" dirty="0">
                <a:solidFill>
                  <a:srgbClr val="0000FF"/>
                </a:solidFill>
              </a:rPr>
              <a:t>表达式</a:t>
            </a:r>
            <a:r>
              <a:rPr lang="en-US" altLang="zh-CN" sz="2000" dirty="0">
                <a:solidFill>
                  <a:srgbClr val="0000FF"/>
                </a:solidFill>
              </a:rPr>
              <a:t>&gt;[</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表达式</a:t>
            </a:r>
            <a:r>
              <a:rPr lang="en-US" altLang="zh-CN" sz="2000" dirty="0">
                <a:solidFill>
                  <a:srgbClr val="0000FF"/>
                </a:solidFill>
              </a:rPr>
              <a:t>&gt;] </a:t>
            </a:r>
            <a:r>
              <a:rPr lang="zh-CN" altLang="zh-CN" sz="2000" dirty="0">
                <a:solidFill>
                  <a:srgbClr val="0000FF"/>
                </a:solidFill>
              </a:rPr>
              <a:t>…</a:t>
            </a:r>
          </a:p>
          <a:p>
            <a:pPr marL="0" indent="0">
              <a:buNone/>
            </a:pPr>
            <a:r>
              <a:rPr lang="en-US" altLang="zh-CN" sz="1800" dirty="0">
                <a:solidFill>
                  <a:srgbClr val="0000FF"/>
                </a:solidFill>
              </a:rPr>
              <a:t>    FROM &lt;</a:t>
            </a:r>
            <a:r>
              <a:rPr lang="zh-CN" altLang="zh-CN" sz="1800" dirty="0">
                <a:solidFill>
                  <a:srgbClr val="0000FF"/>
                </a:solidFill>
              </a:rPr>
              <a:t>表</a:t>
            </a:r>
            <a:r>
              <a:rPr lang="en-US" altLang="zh-CN" sz="1800" dirty="0">
                <a:solidFill>
                  <a:srgbClr val="0000FF"/>
                </a:solidFill>
              </a:rPr>
              <a:t>1&gt; LEFT|RIGHT [OUTER] JOIN &lt;</a:t>
            </a:r>
            <a:r>
              <a:rPr lang="zh-CN" altLang="zh-CN" sz="1800" dirty="0">
                <a:solidFill>
                  <a:srgbClr val="0000FF"/>
                </a:solidFill>
              </a:rPr>
              <a:t>表</a:t>
            </a:r>
            <a:r>
              <a:rPr lang="en-US" altLang="zh-CN" sz="1800" dirty="0">
                <a:solidFill>
                  <a:srgbClr val="0000FF"/>
                </a:solidFill>
              </a:rPr>
              <a:t>2&gt; ON (&lt;</a:t>
            </a:r>
            <a:r>
              <a:rPr lang="zh-CN" altLang="zh-CN" sz="1800" dirty="0">
                <a:solidFill>
                  <a:srgbClr val="0000FF"/>
                </a:solidFill>
              </a:rPr>
              <a:t>表</a:t>
            </a:r>
            <a:r>
              <a:rPr lang="en-US" altLang="zh-CN" sz="1800" dirty="0">
                <a:solidFill>
                  <a:srgbClr val="0000FF"/>
                </a:solidFill>
              </a:rPr>
              <a:t>1&gt;.A </a:t>
            </a:r>
            <a:r>
              <a:rPr lang="zh-CN" altLang="zh-CN" sz="1800" dirty="0">
                <a:solidFill>
                  <a:srgbClr val="0000FF"/>
                </a:solidFill>
              </a:rPr>
              <a:t>θ </a:t>
            </a:r>
            <a:r>
              <a:rPr lang="en-US" altLang="zh-CN" sz="1800" dirty="0">
                <a:solidFill>
                  <a:srgbClr val="0000FF"/>
                </a:solidFill>
              </a:rPr>
              <a:t>&lt;</a:t>
            </a:r>
            <a:r>
              <a:rPr lang="zh-CN" altLang="zh-CN" sz="1800" dirty="0">
                <a:solidFill>
                  <a:srgbClr val="0000FF"/>
                </a:solidFill>
              </a:rPr>
              <a:t>表</a:t>
            </a:r>
            <a:r>
              <a:rPr lang="en-US" altLang="zh-CN" sz="1800" dirty="0">
                <a:solidFill>
                  <a:srgbClr val="0000FF"/>
                </a:solidFill>
              </a:rPr>
              <a:t>2&gt;.B)</a:t>
            </a:r>
            <a:endParaRPr lang="zh-CN" altLang="zh-CN" sz="1800" dirty="0">
              <a:solidFill>
                <a:srgbClr val="0000FF"/>
              </a:solidFill>
            </a:endParaRPr>
          </a:p>
          <a:p>
            <a:r>
              <a:rPr lang="zh-CN" altLang="zh-CN" sz="1600" dirty="0"/>
              <a:t>在连接中，只有满足连接条件的记录才能作为结果输出，例如</a:t>
            </a:r>
            <a:r>
              <a:rPr lang="en-US" altLang="zh-CN" sz="1600" dirty="0" err="1"/>
              <a:t>Cust</a:t>
            </a:r>
            <a:r>
              <a:rPr lang="zh-CN" altLang="zh-CN" sz="1600" dirty="0"/>
              <a:t>和</a:t>
            </a:r>
            <a:r>
              <a:rPr lang="en-US" altLang="zh-CN" sz="1600" dirty="0"/>
              <a:t>Buy</a:t>
            </a:r>
            <a:r>
              <a:rPr lang="zh-CN" altLang="zh-CN" sz="1600" dirty="0"/>
              <a:t>的连接结果中就没有</a:t>
            </a:r>
            <a:r>
              <a:rPr lang="en-US" altLang="zh-CN" sz="1600" dirty="0"/>
              <a:t>C004</a:t>
            </a:r>
            <a:r>
              <a:rPr lang="zh-CN" altLang="zh-CN" sz="1600" dirty="0"/>
              <a:t>的信息，因为他们没有购买图书，在</a:t>
            </a:r>
            <a:r>
              <a:rPr lang="en-US" altLang="zh-CN" sz="1600" dirty="0"/>
              <a:t>Buy</a:t>
            </a:r>
            <a:r>
              <a:rPr lang="zh-CN" altLang="zh-CN" sz="1600" dirty="0"/>
              <a:t>中没有相应的记录。如果想以</a:t>
            </a:r>
            <a:r>
              <a:rPr lang="en-US" altLang="zh-CN" sz="1600" dirty="0" err="1"/>
              <a:t>Cust</a:t>
            </a:r>
            <a:r>
              <a:rPr lang="zh-CN" altLang="zh-CN" sz="1600" dirty="0"/>
              <a:t>为主体列出每个客户的基本情况及其购买购书情况，且没有购买图书的客户也希望输出其信息（其未知数据用空值</a:t>
            </a:r>
            <a:r>
              <a:rPr lang="en-US" altLang="zh-CN" sz="1600" dirty="0"/>
              <a:t>NULL</a:t>
            </a:r>
            <a:r>
              <a:rPr lang="zh-CN" altLang="zh-CN" sz="1600" dirty="0"/>
              <a:t>输出），这时就需要使用外连接（</a:t>
            </a:r>
            <a:r>
              <a:rPr lang="en-US" altLang="zh-CN" sz="1600" dirty="0"/>
              <a:t>Outer Join</a:t>
            </a:r>
            <a:r>
              <a:rPr lang="zh-CN" altLang="zh-CN" sz="1600" dirty="0"/>
              <a:t>）。</a:t>
            </a:r>
          </a:p>
          <a:p>
            <a:r>
              <a:rPr lang="zh-CN" altLang="zh-CN" sz="2000" dirty="0">
                <a:solidFill>
                  <a:srgbClr val="0000FF"/>
                </a:solidFill>
              </a:rPr>
              <a:t>外连接分为左连接（</a:t>
            </a:r>
            <a:r>
              <a:rPr lang="en-US" altLang="zh-CN" sz="2000" dirty="0">
                <a:solidFill>
                  <a:srgbClr val="0000FF"/>
                </a:solidFill>
              </a:rPr>
              <a:t>Left Outer Join</a:t>
            </a:r>
            <a:r>
              <a:rPr lang="zh-CN" altLang="zh-CN" sz="2000" dirty="0">
                <a:solidFill>
                  <a:srgbClr val="0000FF"/>
                </a:solidFill>
              </a:rPr>
              <a:t>）和右连接（</a:t>
            </a:r>
            <a:r>
              <a:rPr lang="en-US" altLang="zh-CN" sz="2000" dirty="0">
                <a:solidFill>
                  <a:srgbClr val="0000FF"/>
                </a:solidFill>
              </a:rPr>
              <a:t>Right Outer Join</a:t>
            </a:r>
            <a:r>
              <a:rPr lang="zh-CN" altLang="zh-CN" sz="2000" dirty="0">
                <a:solidFill>
                  <a:srgbClr val="0000FF"/>
                </a:solidFill>
              </a:rPr>
              <a:t>）。</a:t>
            </a:r>
          </a:p>
          <a:p>
            <a:r>
              <a:rPr lang="zh-CN" altLang="zh-CN" sz="2000" dirty="0"/>
              <a:t>例如：输出所有客户的购书信息，包括没有购买记录的顾客。</a:t>
            </a:r>
          </a:p>
          <a:p>
            <a:pPr marL="0" indent="0">
              <a:buNone/>
            </a:pPr>
            <a:r>
              <a:rPr lang="en-US" altLang="zh-CN" sz="1800" dirty="0"/>
              <a:t>SELECT </a:t>
            </a:r>
            <a:r>
              <a:rPr lang="en-US" altLang="zh-CN" sz="1800" dirty="0" err="1"/>
              <a:t>Cust.CNo,CName,CSex,Birth,Phone,Marry,Photo,EMail,Bno,PDate</a:t>
            </a:r>
            <a:endParaRPr lang="zh-CN" altLang="zh-CN" sz="1800" dirty="0"/>
          </a:p>
          <a:p>
            <a:pPr marL="0" indent="0">
              <a:buNone/>
            </a:pPr>
            <a:r>
              <a:rPr lang="en-US" altLang="zh-CN" sz="1800" dirty="0"/>
              <a:t>    FROM </a:t>
            </a:r>
            <a:r>
              <a:rPr lang="en-US" altLang="zh-CN" sz="1800" dirty="0" err="1"/>
              <a:t>Cust</a:t>
            </a:r>
            <a:r>
              <a:rPr lang="en-US" altLang="zh-CN" sz="1800" dirty="0"/>
              <a:t> LEFT OUTER JOIN Buy ON (</a:t>
            </a:r>
            <a:r>
              <a:rPr lang="en-US" altLang="zh-CN" sz="1800" dirty="0" err="1"/>
              <a:t>Cust.CNo</a:t>
            </a:r>
            <a:r>
              <a:rPr lang="en-US" altLang="zh-CN" sz="1800" dirty="0"/>
              <a:t>=</a:t>
            </a:r>
            <a:r>
              <a:rPr lang="en-US" altLang="zh-CN" sz="1800" dirty="0" err="1"/>
              <a:t>Buy.CNo</a:t>
            </a:r>
            <a:r>
              <a:rPr lang="en-US" altLang="zh-CN" sz="1800" dirty="0"/>
              <a:t>)</a:t>
            </a:r>
            <a:endParaRPr lang="zh-CN" altLang="zh-CN" sz="1800" dirty="0"/>
          </a:p>
          <a:p>
            <a:pPr marL="0" indent="0">
              <a:buNone/>
            </a:pPr>
            <a:r>
              <a:rPr lang="en-US" altLang="zh-CN" sz="1800" dirty="0"/>
              <a:t>SELECT </a:t>
            </a:r>
            <a:r>
              <a:rPr lang="en-US" altLang="zh-CN" sz="1800" dirty="0" err="1"/>
              <a:t>Cust.CNo,CName,CSex,Birth,Phone,Marry,Photo,EMail,Bno,PDate</a:t>
            </a:r>
            <a:endParaRPr lang="zh-CN" altLang="zh-CN" sz="1800" dirty="0"/>
          </a:p>
          <a:p>
            <a:pPr marL="0" indent="0">
              <a:buNone/>
            </a:pPr>
            <a:r>
              <a:rPr lang="en-US" altLang="zh-CN" sz="1800" dirty="0"/>
              <a:t>    FROM </a:t>
            </a:r>
            <a:r>
              <a:rPr lang="en-US" altLang="zh-CN" sz="1800" dirty="0" err="1"/>
              <a:t>Cust</a:t>
            </a:r>
            <a:r>
              <a:rPr lang="en-US" altLang="zh-CN" sz="1800" dirty="0"/>
              <a:t> LEFT JOIN Buy ON (</a:t>
            </a:r>
            <a:r>
              <a:rPr lang="en-US" altLang="zh-CN" sz="1800" dirty="0" err="1"/>
              <a:t>Cust.CNo</a:t>
            </a:r>
            <a:r>
              <a:rPr lang="en-US" altLang="zh-CN" sz="1800" dirty="0"/>
              <a:t>=</a:t>
            </a:r>
            <a:r>
              <a:rPr lang="en-US" altLang="zh-CN" sz="1800" dirty="0" err="1"/>
              <a:t>Buy.CNo</a:t>
            </a:r>
            <a:r>
              <a:rPr lang="en-US" altLang="zh-CN" sz="1800" dirty="0"/>
              <a:t>)</a:t>
            </a:r>
            <a:endParaRPr lang="zh-CN" altLang="zh-CN" sz="18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11E2E92F-C90C-C741-9FB3-0465159870B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62</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例如：在</a:t>
            </a:r>
            <a:r>
              <a:rPr lang="en-US" altLang="zh-CN" sz="2000" dirty="0"/>
              <a:t>Book</a:t>
            </a:r>
            <a:r>
              <a:rPr lang="zh-CN" altLang="zh-CN" sz="2000" dirty="0"/>
              <a:t>中，先添加如下记录，再输出所有图书的购书信息，包括没有购买记录的图书。</a:t>
            </a:r>
          </a:p>
          <a:p>
            <a:pPr marL="360363" indent="0">
              <a:buNone/>
            </a:pPr>
            <a:r>
              <a:rPr lang="en-US" altLang="zh-CN" sz="1800" dirty="0"/>
              <a:t>(ISBN978-7-5612-2485-4,</a:t>
            </a:r>
            <a:r>
              <a:rPr lang="zh-CN" altLang="zh-CN" sz="1800" dirty="0"/>
              <a:t>数据库技术</a:t>
            </a:r>
            <a:r>
              <a:rPr lang="en-US" altLang="zh-CN" sz="1800" dirty="0"/>
              <a:t>,</a:t>
            </a:r>
            <a:r>
              <a:rPr lang="zh-CN" altLang="zh-CN" sz="1800" dirty="0"/>
              <a:t>韩培友</a:t>
            </a:r>
            <a:r>
              <a:rPr lang="en-US" altLang="zh-CN" sz="1800" dirty="0"/>
              <a:t>,ISBN978-7-5612,1,36,16,20)</a:t>
            </a:r>
            <a:endParaRPr lang="zh-CN" altLang="zh-CN" sz="1800" dirty="0"/>
          </a:p>
          <a:p>
            <a:pPr marL="360363" indent="0">
              <a:buNone/>
            </a:pPr>
            <a:r>
              <a:rPr lang="en-US" altLang="zh-CN" sz="1800" dirty="0"/>
              <a:t>INSERT INTO Book</a:t>
            </a:r>
            <a:endParaRPr lang="zh-CN" altLang="zh-CN" sz="1800" dirty="0"/>
          </a:p>
          <a:p>
            <a:pPr marL="360363" indent="0">
              <a:buNone/>
            </a:pPr>
            <a:r>
              <a:rPr lang="en-US" altLang="zh-CN" sz="1800" dirty="0"/>
              <a:t>    VALUES('ISBN978-7-5612-2485-4','</a:t>
            </a:r>
            <a:r>
              <a:rPr lang="zh-CN" altLang="zh-CN" sz="1800" dirty="0"/>
              <a:t>数据库技术</a:t>
            </a:r>
            <a:r>
              <a:rPr lang="en-US" altLang="zh-CN" sz="1800" dirty="0"/>
              <a:t>',</a:t>
            </a:r>
            <a:endParaRPr lang="zh-CN" altLang="zh-CN" sz="1800" dirty="0"/>
          </a:p>
          <a:p>
            <a:pPr marL="360363" indent="0">
              <a:buNone/>
            </a:pPr>
            <a:r>
              <a:rPr lang="en-US" altLang="zh-CN" sz="1800" dirty="0"/>
              <a:t>           '</a:t>
            </a:r>
            <a:r>
              <a:rPr lang="zh-CN" altLang="zh-CN" sz="1800" dirty="0"/>
              <a:t>韩培友</a:t>
            </a:r>
            <a:r>
              <a:rPr lang="en-US" altLang="zh-CN" sz="1800" dirty="0"/>
              <a:t>','ISBN978-7-5612',1,36,16,20)</a:t>
            </a:r>
            <a:endParaRPr lang="zh-CN" altLang="zh-CN" sz="1800" dirty="0"/>
          </a:p>
          <a:p>
            <a:pPr marL="360363" indent="0">
              <a:buNone/>
            </a:pPr>
            <a:r>
              <a:rPr lang="en-US" altLang="zh-CN" sz="1800" dirty="0"/>
              <a:t>SELECT </a:t>
            </a:r>
            <a:r>
              <a:rPr lang="en-US" altLang="zh-CN" sz="1800" dirty="0" err="1"/>
              <a:t>Book.BNo,BName,Author,PNo,EditNo,Price,PPrice,SPrice,PDate</a:t>
            </a:r>
            <a:endParaRPr lang="zh-CN" altLang="zh-CN" sz="1800" dirty="0"/>
          </a:p>
          <a:p>
            <a:pPr marL="360363" indent="0">
              <a:buNone/>
            </a:pPr>
            <a:r>
              <a:rPr lang="en-US" altLang="zh-CN" sz="1800" dirty="0"/>
              <a:t>    FROM Buy RIGHT JOIN Book ON (</a:t>
            </a:r>
            <a:r>
              <a:rPr lang="en-US" altLang="zh-CN" sz="1800" dirty="0" err="1"/>
              <a:t>Book.BNo</a:t>
            </a:r>
            <a:r>
              <a:rPr lang="en-US" altLang="zh-CN" sz="1800" dirty="0"/>
              <a:t>=</a:t>
            </a:r>
            <a:r>
              <a:rPr lang="en-US" altLang="zh-CN" sz="1800" dirty="0" err="1"/>
              <a:t>Buy.BNo</a:t>
            </a:r>
            <a:r>
              <a:rPr lang="en-US" altLang="zh-CN" sz="1800" dirty="0"/>
              <a:t>)</a:t>
            </a:r>
            <a:endParaRPr lang="zh-CN" altLang="zh-CN" sz="1800" dirty="0"/>
          </a:p>
          <a:p>
            <a:r>
              <a:rPr lang="zh-CN" altLang="zh-CN" sz="2000" dirty="0"/>
              <a:t>提示：在</a:t>
            </a:r>
            <a:r>
              <a:rPr lang="en-US" altLang="zh-CN" sz="2000" dirty="0"/>
              <a:t>SQL Server</a:t>
            </a:r>
            <a:r>
              <a:rPr lang="zh-CN" altLang="zh-CN" sz="2000" dirty="0"/>
              <a:t>中，连接、等值连接和自然连接的实现方法基本一样，只有连接条件和投影属性的差异。</a:t>
            </a:r>
          </a:p>
          <a:p>
            <a:r>
              <a:rPr lang="zh-CN" altLang="zh-CN" sz="2000" dirty="0"/>
              <a:t>思考：关系代数的连接运算对应于</a:t>
            </a:r>
            <a:r>
              <a:rPr lang="en-US" altLang="zh-CN" sz="2000" dirty="0"/>
              <a:t>SELECT</a:t>
            </a:r>
            <a:r>
              <a:rPr lang="zh-CN" altLang="zh-CN" sz="2000" dirty="0"/>
              <a:t>…</a:t>
            </a:r>
            <a:r>
              <a:rPr lang="en-US" altLang="zh-CN" sz="2000" dirty="0"/>
              <a:t>FROM</a:t>
            </a:r>
            <a:r>
              <a:rPr lang="zh-CN" altLang="zh-CN" sz="2000" dirty="0"/>
              <a:t>…</a:t>
            </a:r>
            <a:r>
              <a:rPr lang="en-US" altLang="zh-CN" sz="2000" dirty="0"/>
              <a:t>WHERE</a:t>
            </a:r>
            <a:r>
              <a:rPr lang="zh-CN" altLang="zh-CN" sz="2000" dirty="0"/>
              <a:t>的哪个短语？</a:t>
            </a:r>
          </a:p>
          <a:p>
            <a:pPr marL="363538" indent="0">
              <a:buNone/>
            </a:pPr>
            <a:endParaRPr lang="zh-CN" altLang="zh-CN" sz="2000" dirty="0"/>
          </a:p>
        </p:txBody>
      </p:sp>
      <p:sp>
        <p:nvSpPr>
          <p:cNvPr id="4" name="日期占位符 3"/>
          <p:cNvSpPr>
            <a:spLocks noGrp="1"/>
          </p:cNvSpPr>
          <p:nvPr>
            <p:ph type="dt" sz="half" idx="10"/>
          </p:nvPr>
        </p:nvSpPr>
        <p:spPr/>
        <p:txBody>
          <a:bodyPr/>
          <a:lstStyle/>
          <a:p>
            <a:fld id="{9770E2C9-ED73-F14C-A773-21EC41892BC3}"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63</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en-US" altLang="zh-CN" sz="2000" dirty="0">
                <a:solidFill>
                  <a:srgbClr val="0000FF"/>
                </a:solidFill>
              </a:rPr>
              <a:t>2</a:t>
            </a:r>
            <a:r>
              <a:rPr lang="zh-CN" altLang="zh-CN" sz="2000" dirty="0">
                <a:solidFill>
                  <a:srgbClr val="0000FF"/>
                </a:solidFill>
              </a:rPr>
              <a:t>．嵌套</a:t>
            </a:r>
          </a:p>
          <a:p>
            <a:r>
              <a:rPr lang="zh-CN" altLang="en-US" sz="2000" dirty="0">
                <a:solidFill>
                  <a:srgbClr val="0000FF"/>
                </a:solidFill>
              </a:rPr>
              <a:t>嵌套：</a:t>
            </a:r>
            <a:r>
              <a:rPr lang="zh-CN" altLang="zh-CN" sz="2000" dirty="0"/>
              <a:t>查询语句作为一个整体，可以将其嵌套在另一个查询语句的</a:t>
            </a:r>
            <a:r>
              <a:rPr lang="en-US" altLang="zh-CN" sz="2000" dirty="0"/>
              <a:t>WHERE</a:t>
            </a:r>
            <a:r>
              <a:rPr lang="zh-CN" altLang="zh-CN" sz="2000" dirty="0"/>
              <a:t>子句的条件中，从而构成嵌套查询</a:t>
            </a:r>
            <a:endParaRPr lang="en-US" altLang="zh-CN" sz="2000" dirty="0"/>
          </a:p>
          <a:p>
            <a:r>
              <a:rPr lang="zh-CN" altLang="zh-CN" sz="2000" dirty="0"/>
              <a:t>实际</a:t>
            </a:r>
            <a:r>
              <a:rPr lang="zh-CN" altLang="en-US" sz="2000" dirty="0"/>
              <a:t>效果：</a:t>
            </a:r>
            <a:r>
              <a:rPr lang="zh-CN" altLang="zh-CN" sz="2000" dirty="0"/>
              <a:t>对于某些特殊查询，嵌套查询会带来一定的方便，但是对有一些查询则不然，</a:t>
            </a:r>
            <a:endParaRPr lang="en-US" altLang="zh-CN" sz="2000" dirty="0"/>
          </a:p>
          <a:p>
            <a:r>
              <a:rPr lang="zh-CN" altLang="en-US" sz="2000" dirty="0"/>
              <a:t>提示：</a:t>
            </a:r>
            <a:r>
              <a:rPr lang="zh-CN" altLang="zh-CN" sz="2000" dirty="0"/>
              <a:t>需要根据实际情况来选择使用嵌套。</a:t>
            </a:r>
            <a:r>
              <a:rPr lang="en-US" altLang="zh-CN" sz="2000" dirty="0"/>
              <a:t>IN</a:t>
            </a:r>
            <a:r>
              <a:rPr lang="zh-CN" altLang="zh-CN" sz="2000" dirty="0"/>
              <a:t>之后的选择结果只有一个值时，可以使用等号“</a:t>
            </a:r>
            <a:r>
              <a:rPr lang="en-US" altLang="zh-CN" sz="2000" dirty="0"/>
              <a:t>=</a:t>
            </a:r>
            <a:r>
              <a:rPr lang="zh-CN" altLang="zh-CN" sz="2000" dirty="0"/>
              <a:t>”代替。</a:t>
            </a:r>
          </a:p>
        </p:txBody>
      </p:sp>
      <p:sp>
        <p:nvSpPr>
          <p:cNvPr id="4" name="日期占位符 3"/>
          <p:cNvSpPr>
            <a:spLocks noGrp="1"/>
          </p:cNvSpPr>
          <p:nvPr>
            <p:ph type="dt" sz="half" idx="10"/>
          </p:nvPr>
        </p:nvSpPr>
        <p:spPr/>
        <p:txBody>
          <a:bodyPr/>
          <a:lstStyle/>
          <a:p>
            <a:fld id="{FFB57382-4923-0044-ABF2-39CE21EDC0B7}"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64</a:t>
            </a:fld>
            <a:endParaRPr lang="zh-CN" altLang="en-US" dirty="0"/>
          </a:p>
        </p:txBody>
      </p:sp>
    </p:spTree>
    <p:extLst>
      <p:ext uri="{BB962C8B-B14F-4D97-AF65-F5344CB8AC3E}">
        <p14:creationId xmlns:p14="http://schemas.microsoft.com/office/powerpoint/2010/main" val="8221034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例如：查询李明购买图书的书号</a:t>
            </a:r>
          </a:p>
          <a:p>
            <a:pPr marL="360363" indent="0">
              <a:buNone/>
            </a:pPr>
            <a:r>
              <a:rPr lang="en-US" altLang="zh-CN" sz="2000" dirty="0"/>
              <a:t>SELECT </a:t>
            </a:r>
            <a:r>
              <a:rPr lang="en-US" altLang="zh-CN" sz="2000" dirty="0" err="1"/>
              <a:t>BNo</a:t>
            </a:r>
            <a:endParaRPr lang="zh-CN" altLang="zh-CN" sz="2000" dirty="0"/>
          </a:p>
          <a:p>
            <a:pPr marL="360363" indent="0">
              <a:buNone/>
            </a:pPr>
            <a:r>
              <a:rPr lang="en-US" altLang="zh-CN" sz="2000" dirty="0"/>
              <a:t>FROM Buy</a:t>
            </a:r>
            <a:endParaRPr lang="zh-CN" altLang="zh-CN" sz="2000" dirty="0"/>
          </a:p>
          <a:p>
            <a:pPr marL="360363" indent="0">
              <a:buNone/>
            </a:pPr>
            <a:r>
              <a:rPr lang="en-US" altLang="zh-CN" sz="2000" dirty="0"/>
              <a:t>WHERE </a:t>
            </a:r>
            <a:r>
              <a:rPr lang="en-US" altLang="zh-CN" sz="2000" dirty="0" err="1"/>
              <a:t>CNo</a:t>
            </a:r>
            <a:r>
              <a:rPr lang="en-US" altLang="zh-CN" sz="2000" dirty="0"/>
              <a:t> IN (</a:t>
            </a:r>
            <a:endParaRPr lang="zh-CN" altLang="zh-CN" sz="2000" dirty="0"/>
          </a:p>
          <a:p>
            <a:pPr marL="360363" indent="0">
              <a:buNone/>
            </a:pPr>
            <a:r>
              <a:rPr lang="en-US" altLang="zh-CN" sz="2000" dirty="0"/>
              <a:t>    SELECT </a:t>
            </a:r>
            <a:r>
              <a:rPr lang="en-US" altLang="zh-CN" sz="2000" dirty="0" err="1"/>
              <a:t>CNo</a:t>
            </a:r>
            <a:endParaRPr lang="zh-CN" altLang="zh-CN" sz="2000" dirty="0"/>
          </a:p>
          <a:p>
            <a:pPr marL="360363" indent="0">
              <a:buNone/>
            </a:pPr>
            <a:r>
              <a:rPr lang="en-US" altLang="zh-CN" sz="2000" dirty="0"/>
              <a:t>    FROM </a:t>
            </a:r>
            <a:r>
              <a:rPr lang="en-US" altLang="zh-CN" sz="2000" dirty="0" err="1"/>
              <a:t>Cust</a:t>
            </a:r>
            <a:endParaRPr lang="zh-CN" altLang="zh-CN" sz="2000" dirty="0"/>
          </a:p>
          <a:p>
            <a:pPr marL="360363" indent="0">
              <a:buNone/>
            </a:pPr>
            <a:r>
              <a:rPr lang="en-US" altLang="zh-CN" sz="2000" dirty="0"/>
              <a:t>    WHERE </a:t>
            </a:r>
            <a:r>
              <a:rPr lang="en-US" altLang="zh-CN" sz="2000" dirty="0" err="1"/>
              <a:t>CName</a:t>
            </a:r>
            <a:r>
              <a:rPr lang="en-US" altLang="zh-CN" sz="2000" dirty="0"/>
              <a:t>='</a:t>
            </a:r>
            <a:r>
              <a:rPr lang="zh-CN" altLang="zh-CN" sz="2000" dirty="0"/>
              <a:t>李明</a:t>
            </a:r>
            <a:r>
              <a:rPr lang="en-US" altLang="zh-CN" sz="2000" dirty="0"/>
              <a:t>')    </a:t>
            </a:r>
            <a:r>
              <a:rPr lang="zh-CN" altLang="zh-CN" sz="2000" dirty="0"/>
              <a:t>或者</a:t>
            </a:r>
          </a:p>
          <a:p>
            <a:pPr marL="360363" indent="0">
              <a:buNone/>
            </a:pPr>
            <a:r>
              <a:rPr lang="en-US" altLang="zh-CN" sz="2000" dirty="0"/>
              <a:t>SELECT DISTINCT </a:t>
            </a:r>
            <a:r>
              <a:rPr lang="en-US" altLang="zh-CN" sz="2000" dirty="0" err="1"/>
              <a:t>BNo</a:t>
            </a:r>
            <a:endParaRPr lang="zh-CN" altLang="zh-CN" sz="2000" dirty="0"/>
          </a:p>
          <a:p>
            <a:pPr marL="360363" indent="0">
              <a:buNone/>
            </a:pPr>
            <a:r>
              <a:rPr lang="en-US" altLang="zh-CN" sz="2000" dirty="0"/>
              <a:t>FROM </a:t>
            </a:r>
            <a:r>
              <a:rPr lang="en-US" altLang="zh-CN" sz="2000" dirty="0" err="1"/>
              <a:t>Buy,Cust</a:t>
            </a:r>
            <a:endParaRPr lang="zh-CN" altLang="zh-CN" sz="2000" dirty="0"/>
          </a:p>
          <a:p>
            <a:pPr marL="360363" indent="0">
              <a:buNone/>
            </a:pPr>
            <a:r>
              <a:rPr lang="en-US" altLang="zh-CN" sz="2000" dirty="0"/>
              <a:t>WHERE </a:t>
            </a:r>
            <a:r>
              <a:rPr lang="en-US" altLang="zh-CN" sz="2000" dirty="0" err="1"/>
              <a:t>Buy.CNo</a:t>
            </a:r>
            <a:r>
              <a:rPr lang="en-US" altLang="zh-CN" sz="2000" dirty="0"/>
              <a:t>=</a:t>
            </a:r>
            <a:r>
              <a:rPr lang="en-US" altLang="zh-CN" sz="2000" dirty="0" err="1"/>
              <a:t>Cust.CNo</a:t>
            </a:r>
            <a:r>
              <a:rPr lang="en-US" altLang="zh-CN" sz="2000" dirty="0"/>
              <a:t> AND </a:t>
            </a:r>
            <a:r>
              <a:rPr lang="en-US" altLang="zh-CN" sz="2000" dirty="0" err="1"/>
              <a:t>CName</a:t>
            </a:r>
            <a:r>
              <a:rPr lang="en-US" altLang="zh-CN" sz="2000" dirty="0"/>
              <a:t>='</a:t>
            </a:r>
            <a:r>
              <a:rPr lang="zh-CN" altLang="zh-CN" sz="2000" dirty="0"/>
              <a:t>李明</a:t>
            </a:r>
            <a:r>
              <a:rPr lang="en-US" altLang="zh-CN" sz="2000" dirty="0"/>
              <a:t>'</a:t>
            </a:r>
            <a:endParaRPr lang="zh-CN" altLang="zh-CN" sz="2000" dirty="0"/>
          </a:p>
          <a:p>
            <a:r>
              <a:rPr lang="zh-CN" altLang="zh-CN" sz="2000" dirty="0"/>
              <a:t>思考：</a:t>
            </a:r>
            <a:r>
              <a:rPr lang="en-US" altLang="zh-CN" sz="2000" dirty="0"/>
              <a:t>IN</a:t>
            </a:r>
            <a:r>
              <a:rPr lang="zh-CN" altLang="zh-CN" sz="2000" dirty="0"/>
              <a:t>是否可以使用“</a:t>
            </a:r>
            <a:r>
              <a:rPr lang="en-US" altLang="zh-CN" sz="2000" dirty="0"/>
              <a:t>=</a:t>
            </a:r>
            <a:r>
              <a:rPr lang="zh-CN" altLang="zh-CN" sz="2000" dirty="0"/>
              <a:t>”替代？</a:t>
            </a:r>
          </a:p>
          <a:p>
            <a:pPr marL="363538" indent="0">
              <a:buNone/>
            </a:pPr>
            <a:endParaRPr lang="zh-CN" altLang="zh-CN" sz="2000" dirty="0"/>
          </a:p>
        </p:txBody>
      </p:sp>
      <p:sp>
        <p:nvSpPr>
          <p:cNvPr id="4" name="日期占位符 3"/>
          <p:cNvSpPr>
            <a:spLocks noGrp="1"/>
          </p:cNvSpPr>
          <p:nvPr>
            <p:ph type="dt" sz="half" idx="10"/>
          </p:nvPr>
        </p:nvSpPr>
        <p:spPr/>
        <p:txBody>
          <a:bodyPr/>
          <a:lstStyle/>
          <a:p>
            <a:fld id="{CD55944D-A526-A84B-858D-2168F90B92E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65</a:t>
            </a:fld>
            <a:endParaRPr lang="zh-CN" altLang="en-US" dirty="0"/>
          </a:p>
        </p:txBody>
      </p:sp>
    </p:spTree>
    <p:extLst>
      <p:ext uri="{BB962C8B-B14F-4D97-AF65-F5344CB8AC3E}">
        <p14:creationId xmlns:p14="http://schemas.microsoft.com/office/powerpoint/2010/main" val="10280889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例如：查询李明购买图书的书名</a:t>
            </a:r>
          </a:p>
          <a:p>
            <a:pPr marL="360363" indent="0">
              <a:buNone/>
            </a:pPr>
            <a:r>
              <a:rPr lang="en-US" altLang="zh-CN" sz="2000" dirty="0"/>
              <a:t>SELECT </a:t>
            </a:r>
            <a:r>
              <a:rPr lang="en-US" altLang="zh-CN" sz="2000" dirty="0" err="1"/>
              <a:t>Bname</a:t>
            </a:r>
            <a:r>
              <a:rPr lang="en-US" altLang="zh-CN" sz="2000" dirty="0"/>
              <a:t>  FROM Book</a:t>
            </a:r>
            <a:endParaRPr lang="zh-CN" altLang="zh-CN" sz="2000" dirty="0"/>
          </a:p>
          <a:p>
            <a:pPr marL="360363" indent="0">
              <a:buNone/>
            </a:pPr>
            <a:r>
              <a:rPr lang="en-US" altLang="zh-CN" sz="2000" dirty="0"/>
              <a:t>WHERE </a:t>
            </a:r>
            <a:r>
              <a:rPr lang="en-US" altLang="zh-CN" sz="2000" dirty="0" err="1"/>
              <a:t>BNo</a:t>
            </a:r>
            <a:r>
              <a:rPr lang="en-US" altLang="zh-CN" sz="2000" dirty="0"/>
              <a:t> IN (</a:t>
            </a:r>
            <a:endParaRPr lang="zh-CN" altLang="zh-CN" sz="2000" dirty="0"/>
          </a:p>
          <a:p>
            <a:pPr marL="360363" indent="0">
              <a:buNone/>
            </a:pPr>
            <a:r>
              <a:rPr lang="en-US" altLang="zh-CN" sz="2000" dirty="0"/>
              <a:t>    SELECT </a:t>
            </a:r>
            <a:r>
              <a:rPr lang="en-US" altLang="zh-CN" sz="2000" dirty="0" err="1"/>
              <a:t>Bno</a:t>
            </a:r>
            <a:r>
              <a:rPr lang="en-US" altLang="zh-CN" sz="2000" dirty="0"/>
              <a:t>  FROM Buy</a:t>
            </a:r>
            <a:endParaRPr lang="zh-CN" altLang="zh-CN" sz="2000" dirty="0"/>
          </a:p>
          <a:p>
            <a:pPr marL="360363" indent="0">
              <a:buNone/>
            </a:pPr>
            <a:r>
              <a:rPr lang="en-US" altLang="zh-CN" sz="2000" dirty="0"/>
              <a:t>    WHERE </a:t>
            </a:r>
            <a:r>
              <a:rPr lang="en-US" altLang="zh-CN" sz="2000" dirty="0" err="1"/>
              <a:t>CNo</a:t>
            </a:r>
            <a:r>
              <a:rPr lang="en-US" altLang="zh-CN" sz="2000" dirty="0"/>
              <a:t> IN (</a:t>
            </a:r>
            <a:endParaRPr lang="zh-CN" altLang="zh-CN" sz="2000" dirty="0"/>
          </a:p>
          <a:p>
            <a:pPr marL="360363" indent="0">
              <a:buNone/>
            </a:pPr>
            <a:r>
              <a:rPr lang="en-US" altLang="zh-CN" sz="2000" dirty="0"/>
              <a:t>        SELECT </a:t>
            </a:r>
            <a:r>
              <a:rPr lang="en-US" altLang="zh-CN" sz="2000" dirty="0" err="1"/>
              <a:t>CNo</a:t>
            </a:r>
            <a:r>
              <a:rPr lang="en-US" altLang="zh-CN" sz="2000" dirty="0"/>
              <a:t>   FROM </a:t>
            </a:r>
            <a:r>
              <a:rPr lang="en-US" altLang="zh-CN" sz="2000" dirty="0" err="1"/>
              <a:t>Cust</a:t>
            </a:r>
            <a:endParaRPr lang="zh-CN" altLang="zh-CN" sz="2000" dirty="0"/>
          </a:p>
          <a:p>
            <a:pPr marL="360363" indent="0">
              <a:buNone/>
            </a:pPr>
            <a:r>
              <a:rPr lang="en-US" altLang="zh-CN" sz="2000" dirty="0"/>
              <a:t>        WHERE </a:t>
            </a:r>
            <a:r>
              <a:rPr lang="en-US" altLang="zh-CN" sz="2000" dirty="0" err="1"/>
              <a:t>CName</a:t>
            </a:r>
            <a:r>
              <a:rPr lang="en-US" altLang="zh-CN" sz="2000" dirty="0"/>
              <a:t>='</a:t>
            </a:r>
            <a:r>
              <a:rPr lang="zh-CN" altLang="zh-CN" sz="2000" dirty="0"/>
              <a:t>李明</a:t>
            </a:r>
            <a:r>
              <a:rPr lang="en-US" altLang="zh-CN" sz="2000" dirty="0"/>
              <a:t>'))    </a:t>
            </a:r>
            <a:r>
              <a:rPr lang="zh-CN" altLang="zh-CN" sz="2000" dirty="0"/>
              <a:t>或者</a:t>
            </a:r>
          </a:p>
          <a:p>
            <a:pPr marL="360363" indent="0">
              <a:buNone/>
            </a:pPr>
            <a:r>
              <a:rPr lang="en-US" altLang="zh-CN" sz="2000" dirty="0"/>
              <a:t>SELECT DISTINCT </a:t>
            </a:r>
            <a:r>
              <a:rPr lang="en-US" altLang="zh-CN" sz="2000" dirty="0" err="1"/>
              <a:t>BName</a:t>
            </a:r>
            <a:endParaRPr lang="zh-CN" altLang="zh-CN" sz="2000" dirty="0"/>
          </a:p>
          <a:p>
            <a:pPr marL="360363" indent="0">
              <a:buNone/>
            </a:pPr>
            <a:r>
              <a:rPr lang="en-US" altLang="zh-CN" sz="2000" dirty="0"/>
              <a:t>FROM </a:t>
            </a:r>
            <a:r>
              <a:rPr lang="en-US" altLang="zh-CN" sz="2000" dirty="0" err="1"/>
              <a:t>Book,Buy,Cust</a:t>
            </a:r>
            <a:endParaRPr lang="zh-CN" altLang="zh-CN" sz="2000" dirty="0"/>
          </a:p>
          <a:p>
            <a:pPr marL="360363" indent="0">
              <a:buNone/>
            </a:pPr>
            <a:r>
              <a:rPr lang="en-US" altLang="zh-CN" sz="2000" dirty="0"/>
              <a:t>WHERE </a:t>
            </a:r>
            <a:r>
              <a:rPr lang="en-US" altLang="zh-CN" sz="2000" dirty="0" err="1"/>
              <a:t>Book.BNo</a:t>
            </a:r>
            <a:r>
              <a:rPr lang="en-US" altLang="zh-CN" sz="2000" dirty="0"/>
              <a:t>=</a:t>
            </a:r>
            <a:r>
              <a:rPr lang="en-US" altLang="zh-CN" sz="2000" dirty="0" err="1"/>
              <a:t>Buy.BNo</a:t>
            </a:r>
            <a:r>
              <a:rPr lang="en-US" altLang="zh-CN" sz="2000" dirty="0"/>
              <a:t> AND</a:t>
            </a:r>
            <a:endParaRPr lang="zh-CN" altLang="zh-CN" sz="2000" dirty="0"/>
          </a:p>
          <a:p>
            <a:pPr marL="360363" indent="0">
              <a:buNone/>
            </a:pPr>
            <a:r>
              <a:rPr lang="en-US" altLang="zh-CN" sz="2000" dirty="0"/>
              <a:t>    </a:t>
            </a:r>
            <a:r>
              <a:rPr lang="en-US" altLang="zh-CN" sz="2000" dirty="0" err="1"/>
              <a:t>Buy.CNo</a:t>
            </a:r>
            <a:r>
              <a:rPr lang="en-US" altLang="zh-CN" sz="2000" dirty="0"/>
              <a:t>=</a:t>
            </a:r>
            <a:r>
              <a:rPr lang="en-US" altLang="zh-CN" sz="2000" dirty="0" err="1"/>
              <a:t>Cust.CNo</a:t>
            </a:r>
            <a:r>
              <a:rPr lang="en-US" altLang="zh-CN" sz="2000" dirty="0"/>
              <a:t> AND </a:t>
            </a:r>
            <a:r>
              <a:rPr lang="en-US" altLang="zh-CN" sz="2000" dirty="0" err="1"/>
              <a:t>CName</a:t>
            </a:r>
            <a:r>
              <a:rPr lang="en-US" altLang="zh-CN" sz="2000" dirty="0"/>
              <a:t>='</a:t>
            </a:r>
            <a:r>
              <a:rPr lang="zh-CN" altLang="zh-CN" sz="2000" dirty="0"/>
              <a:t>李明</a:t>
            </a:r>
            <a:r>
              <a:rPr lang="en-US" altLang="zh-CN" sz="2000" dirty="0"/>
              <a:t>'</a:t>
            </a:r>
            <a:endParaRPr lang="zh-CN" altLang="zh-CN" sz="2000" dirty="0"/>
          </a:p>
          <a:p>
            <a:r>
              <a:rPr lang="zh-CN" altLang="zh-CN" sz="2000" dirty="0"/>
              <a:t>思考：查询李明购买的作者是韩培友的图书的书名。</a:t>
            </a:r>
          </a:p>
          <a:p>
            <a:pPr marL="363538" indent="0">
              <a:buNone/>
            </a:pPr>
            <a:endParaRPr lang="zh-CN" altLang="zh-CN" sz="2000" dirty="0"/>
          </a:p>
        </p:txBody>
      </p:sp>
      <p:sp>
        <p:nvSpPr>
          <p:cNvPr id="4" name="日期占位符 3"/>
          <p:cNvSpPr>
            <a:spLocks noGrp="1"/>
          </p:cNvSpPr>
          <p:nvPr>
            <p:ph type="dt" sz="half" idx="10"/>
          </p:nvPr>
        </p:nvSpPr>
        <p:spPr/>
        <p:txBody>
          <a:bodyPr/>
          <a:lstStyle/>
          <a:p>
            <a:fld id="{3CDA1AC3-304A-7F40-A9A0-A460D25CF60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66</a:t>
            </a:fld>
            <a:endParaRPr lang="zh-CN" altLang="en-US" dirty="0"/>
          </a:p>
        </p:txBody>
      </p:sp>
    </p:spTree>
    <p:extLst>
      <p:ext uri="{BB962C8B-B14F-4D97-AF65-F5344CB8AC3E}">
        <p14:creationId xmlns:p14="http://schemas.microsoft.com/office/powerpoint/2010/main" val="10280889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07504" y="404664"/>
            <a:ext cx="8784976" cy="6192688"/>
          </a:xfrm>
        </p:spPr>
        <p:txBody>
          <a:bodyPr>
            <a:noAutofit/>
          </a:bodyPr>
          <a:lstStyle/>
          <a:p>
            <a:r>
              <a:rPr lang="zh-CN" altLang="zh-CN" sz="2000" dirty="0"/>
              <a:t>例如：查询李明购买图书的社名</a:t>
            </a:r>
          </a:p>
          <a:p>
            <a:pPr marL="360363" indent="0">
              <a:buNone/>
            </a:pPr>
            <a:r>
              <a:rPr lang="en-US" altLang="zh-CN" sz="2000" dirty="0"/>
              <a:t>SELECT </a:t>
            </a:r>
            <a:r>
              <a:rPr lang="en-US" altLang="zh-CN" sz="2000" dirty="0" err="1"/>
              <a:t>Pname</a:t>
            </a:r>
            <a:r>
              <a:rPr lang="en-US" altLang="zh-CN" sz="2000" dirty="0"/>
              <a:t>   FROM Press</a:t>
            </a:r>
            <a:endParaRPr lang="zh-CN" altLang="zh-CN" sz="2000" dirty="0"/>
          </a:p>
          <a:p>
            <a:pPr marL="360363" indent="0">
              <a:buNone/>
            </a:pPr>
            <a:r>
              <a:rPr lang="en-US" altLang="zh-CN" sz="2000" dirty="0"/>
              <a:t>WHERE </a:t>
            </a:r>
            <a:r>
              <a:rPr lang="en-US" altLang="zh-CN" sz="2000" dirty="0" err="1"/>
              <a:t>PNo</a:t>
            </a:r>
            <a:r>
              <a:rPr lang="en-US" altLang="zh-CN" sz="2000" dirty="0"/>
              <a:t> IN (</a:t>
            </a:r>
            <a:endParaRPr lang="zh-CN" altLang="zh-CN" sz="2000" dirty="0"/>
          </a:p>
          <a:p>
            <a:pPr marL="360363" indent="0">
              <a:buNone/>
            </a:pPr>
            <a:r>
              <a:rPr lang="en-US" altLang="zh-CN" sz="2000" dirty="0"/>
              <a:t>    SELECT </a:t>
            </a:r>
            <a:r>
              <a:rPr lang="en-US" altLang="zh-CN" sz="2000" dirty="0" err="1"/>
              <a:t>PNo</a:t>
            </a:r>
            <a:r>
              <a:rPr lang="en-US" altLang="zh-CN" sz="2000" dirty="0"/>
              <a:t>    FROM Book</a:t>
            </a:r>
            <a:endParaRPr lang="zh-CN" altLang="zh-CN" sz="2000" dirty="0"/>
          </a:p>
          <a:p>
            <a:pPr marL="360363" indent="0">
              <a:buNone/>
            </a:pPr>
            <a:r>
              <a:rPr lang="en-US" altLang="zh-CN" sz="2000" dirty="0"/>
              <a:t>    WHERE </a:t>
            </a:r>
            <a:r>
              <a:rPr lang="en-US" altLang="zh-CN" sz="2000" dirty="0" err="1"/>
              <a:t>BNo</a:t>
            </a:r>
            <a:r>
              <a:rPr lang="en-US" altLang="zh-CN" sz="2000" dirty="0"/>
              <a:t> IN (</a:t>
            </a:r>
            <a:endParaRPr lang="zh-CN" altLang="zh-CN" sz="2000" dirty="0"/>
          </a:p>
          <a:p>
            <a:pPr marL="360363" indent="0">
              <a:buNone/>
            </a:pPr>
            <a:r>
              <a:rPr lang="en-US" altLang="zh-CN" sz="2000" dirty="0"/>
              <a:t>        SELECT </a:t>
            </a:r>
            <a:r>
              <a:rPr lang="en-US" altLang="zh-CN" sz="2000" dirty="0" err="1"/>
              <a:t>BNo</a:t>
            </a:r>
            <a:r>
              <a:rPr lang="en-US" altLang="zh-CN" sz="2000" dirty="0"/>
              <a:t>        FROM Buy</a:t>
            </a:r>
            <a:endParaRPr lang="zh-CN" altLang="zh-CN" sz="2000" dirty="0"/>
          </a:p>
          <a:p>
            <a:pPr marL="360363" indent="0">
              <a:buNone/>
            </a:pPr>
            <a:r>
              <a:rPr lang="en-US" altLang="zh-CN" sz="2000" dirty="0"/>
              <a:t>        WHERE </a:t>
            </a:r>
            <a:r>
              <a:rPr lang="en-US" altLang="zh-CN" sz="2000" dirty="0" err="1"/>
              <a:t>CNo</a:t>
            </a:r>
            <a:r>
              <a:rPr lang="en-US" altLang="zh-CN" sz="2000" dirty="0"/>
              <a:t> IN (</a:t>
            </a:r>
            <a:endParaRPr lang="zh-CN" altLang="zh-CN" sz="2000" dirty="0"/>
          </a:p>
          <a:p>
            <a:pPr marL="360363" indent="0">
              <a:buNone/>
            </a:pPr>
            <a:r>
              <a:rPr lang="en-US" altLang="zh-CN" sz="2000" dirty="0"/>
              <a:t>            SELECT </a:t>
            </a:r>
            <a:r>
              <a:rPr lang="en-US" altLang="zh-CN" sz="2000" dirty="0" err="1"/>
              <a:t>CNo</a:t>
            </a:r>
            <a:r>
              <a:rPr lang="en-US" altLang="zh-CN" sz="2000" dirty="0"/>
              <a:t>            FROM </a:t>
            </a:r>
            <a:r>
              <a:rPr lang="en-US" altLang="zh-CN" sz="2000" dirty="0" err="1"/>
              <a:t>Cust</a:t>
            </a:r>
            <a:endParaRPr lang="zh-CN" altLang="zh-CN" sz="2000" dirty="0"/>
          </a:p>
          <a:p>
            <a:pPr marL="360363" indent="0">
              <a:buNone/>
            </a:pPr>
            <a:r>
              <a:rPr lang="en-US" altLang="zh-CN" sz="2000" dirty="0"/>
              <a:t>            WHERE </a:t>
            </a:r>
            <a:r>
              <a:rPr lang="en-US" altLang="zh-CN" sz="2000" dirty="0" err="1"/>
              <a:t>CName</a:t>
            </a:r>
            <a:r>
              <a:rPr lang="en-US" altLang="zh-CN" sz="2000" dirty="0"/>
              <a:t>='</a:t>
            </a:r>
            <a:r>
              <a:rPr lang="zh-CN" altLang="zh-CN" sz="2000" dirty="0"/>
              <a:t>李明</a:t>
            </a:r>
            <a:r>
              <a:rPr lang="en-US" altLang="zh-CN" sz="2000" dirty="0"/>
              <a:t>')))    </a:t>
            </a:r>
            <a:r>
              <a:rPr lang="zh-CN" altLang="zh-CN" sz="2000" dirty="0"/>
              <a:t>或者</a:t>
            </a:r>
          </a:p>
          <a:p>
            <a:pPr marL="360363" indent="0">
              <a:buNone/>
            </a:pPr>
            <a:r>
              <a:rPr lang="en-US" altLang="zh-CN" sz="2000" dirty="0"/>
              <a:t>SELECT DISTINCT </a:t>
            </a:r>
            <a:r>
              <a:rPr lang="en-US" altLang="zh-CN" sz="2000" dirty="0" err="1"/>
              <a:t>Pname</a:t>
            </a:r>
            <a:r>
              <a:rPr lang="en-US" altLang="zh-CN" sz="2000" dirty="0"/>
              <a:t>  FROM </a:t>
            </a:r>
            <a:r>
              <a:rPr lang="en-US" altLang="zh-CN" sz="2000" dirty="0" err="1"/>
              <a:t>Press,Book,Buy,Cust</a:t>
            </a:r>
            <a:endParaRPr lang="zh-CN" altLang="zh-CN" sz="2000" dirty="0"/>
          </a:p>
          <a:p>
            <a:pPr marL="360363" indent="0">
              <a:buNone/>
            </a:pPr>
            <a:r>
              <a:rPr lang="en-US" altLang="zh-CN" sz="2000" dirty="0"/>
              <a:t>WHERE </a:t>
            </a:r>
            <a:r>
              <a:rPr lang="en-US" altLang="zh-CN" sz="2000" dirty="0" err="1"/>
              <a:t>Press.PNo</a:t>
            </a:r>
            <a:r>
              <a:rPr lang="en-US" altLang="zh-CN" sz="2000" dirty="0"/>
              <a:t>=</a:t>
            </a:r>
            <a:r>
              <a:rPr lang="en-US" altLang="zh-CN" sz="2000" dirty="0" err="1"/>
              <a:t>Book.PNo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AND</a:t>
            </a:r>
            <a:endParaRPr lang="zh-CN" altLang="zh-CN" sz="2000" dirty="0"/>
          </a:p>
          <a:p>
            <a:pPr marL="360363" indent="0">
              <a:buNone/>
            </a:pPr>
            <a:r>
              <a:rPr lang="en-US" altLang="zh-CN" sz="2000" dirty="0"/>
              <a:t>    </a:t>
            </a:r>
            <a:r>
              <a:rPr lang="en-US" altLang="zh-CN" sz="2000" dirty="0" err="1"/>
              <a:t>Buy.CNo</a:t>
            </a:r>
            <a:r>
              <a:rPr lang="en-US" altLang="zh-CN" sz="2000" dirty="0"/>
              <a:t>=</a:t>
            </a:r>
            <a:r>
              <a:rPr lang="en-US" altLang="zh-CN" sz="2000" dirty="0" err="1"/>
              <a:t>Cust.CNo</a:t>
            </a:r>
            <a:r>
              <a:rPr lang="en-US" altLang="zh-CN" sz="2000" dirty="0"/>
              <a:t> AND </a:t>
            </a:r>
            <a:r>
              <a:rPr lang="en-US" altLang="zh-CN" sz="2000" dirty="0" err="1"/>
              <a:t>CName</a:t>
            </a:r>
            <a:r>
              <a:rPr lang="en-US" altLang="zh-CN" sz="2000" dirty="0"/>
              <a:t>='</a:t>
            </a:r>
            <a:r>
              <a:rPr lang="zh-CN" altLang="zh-CN" sz="2000" dirty="0"/>
              <a:t>李明</a:t>
            </a:r>
            <a:r>
              <a:rPr lang="en-US" altLang="zh-CN" sz="2000" dirty="0"/>
              <a:t>'</a:t>
            </a:r>
            <a:endParaRPr lang="zh-CN" altLang="zh-CN" sz="2000" dirty="0"/>
          </a:p>
          <a:p>
            <a:r>
              <a:rPr lang="zh-CN" altLang="zh-CN" sz="2000" dirty="0"/>
              <a:t>思考：如果去掉</a:t>
            </a:r>
            <a:r>
              <a:rPr lang="en-US" altLang="zh-CN" sz="2000" dirty="0"/>
              <a:t>DISTINCT</a:t>
            </a:r>
            <a:r>
              <a:rPr lang="zh-CN" altLang="zh-CN" sz="2000" dirty="0"/>
              <a:t>，结果如何？</a:t>
            </a:r>
          </a:p>
          <a:p>
            <a:pPr marL="363538" indent="0">
              <a:buNone/>
            </a:pPr>
            <a:endParaRPr lang="zh-CN" altLang="zh-CN" sz="2000" dirty="0"/>
          </a:p>
        </p:txBody>
      </p:sp>
      <p:sp>
        <p:nvSpPr>
          <p:cNvPr id="4" name="日期占位符 3"/>
          <p:cNvSpPr>
            <a:spLocks noGrp="1"/>
          </p:cNvSpPr>
          <p:nvPr>
            <p:ph type="dt" sz="half" idx="10"/>
          </p:nvPr>
        </p:nvSpPr>
        <p:spPr/>
        <p:txBody>
          <a:bodyPr/>
          <a:lstStyle/>
          <a:p>
            <a:fld id="{70E84509-7711-B44E-A7CD-5EDA51C28D05}"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67</a:t>
            </a:fld>
            <a:endParaRPr lang="zh-CN" altLang="en-US" dirty="0"/>
          </a:p>
        </p:txBody>
      </p:sp>
    </p:spTree>
    <p:extLst>
      <p:ext uri="{BB962C8B-B14F-4D97-AF65-F5344CB8AC3E}">
        <p14:creationId xmlns:p14="http://schemas.microsoft.com/office/powerpoint/2010/main" val="10280889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例如：查询与</a:t>
            </a:r>
            <a:r>
              <a:rPr lang="en-US" altLang="zh-CN" sz="2000" dirty="0"/>
              <a:t>C006</a:t>
            </a:r>
            <a:r>
              <a:rPr lang="zh-CN" altLang="zh-CN" sz="2000" dirty="0"/>
              <a:t>同名的客户的户号、户名和性别（自连接）。</a:t>
            </a:r>
          </a:p>
          <a:p>
            <a:pPr marL="360363" indent="0">
              <a:buNone/>
            </a:pPr>
            <a:r>
              <a:rPr lang="en-US" altLang="zh-CN" sz="2000" dirty="0"/>
              <a:t>SELECT </a:t>
            </a:r>
            <a:r>
              <a:rPr lang="en-US" altLang="zh-CN" sz="2000" dirty="0" err="1"/>
              <a:t>CNo,CName,Csex</a:t>
            </a:r>
            <a:r>
              <a:rPr lang="en-US" altLang="zh-CN" sz="2000" dirty="0"/>
              <a:t>    FROM </a:t>
            </a:r>
            <a:r>
              <a:rPr lang="en-US" altLang="zh-CN" sz="2000" dirty="0" err="1"/>
              <a:t>Cust</a:t>
            </a:r>
            <a:endParaRPr lang="zh-CN" altLang="zh-CN" sz="2000" dirty="0"/>
          </a:p>
          <a:p>
            <a:pPr marL="360363" indent="0">
              <a:buNone/>
            </a:pPr>
            <a:r>
              <a:rPr lang="en-US" altLang="zh-CN" sz="2000" dirty="0"/>
              <a:t>WHERE </a:t>
            </a:r>
            <a:r>
              <a:rPr lang="en-US" altLang="zh-CN" sz="2000" dirty="0" err="1"/>
              <a:t>CName</a:t>
            </a:r>
            <a:r>
              <a:rPr lang="en-US" altLang="zh-CN" sz="2000" dirty="0"/>
              <a:t> IN (</a:t>
            </a:r>
            <a:endParaRPr lang="zh-CN" altLang="zh-CN" sz="2000" dirty="0"/>
          </a:p>
          <a:p>
            <a:pPr marL="360363" indent="0">
              <a:buNone/>
            </a:pPr>
            <a:r>
              <a:rPr lang="en-US" altLang="zh-CN" sz="2000" dirty="0"/>
              <a:t>    SELECT </a:t>
            </a:r>
            <a:r>
              <a:rPr lang="en-US" altLang="zh-CN" sz="2000" dirty="0" err="1"/>
              <a:t>CName</a:t>
            </a:r>
            <a:endParaRPr lang="zh-CN" altLang="zh-CN" sz="2000" dirty="0"/>
          </a:p>
          <a:p>
            <a:pPr marL="360363" indent="0">
              <a:buNone/>
            </a:pPr>
            <a:r>
              <a:rPr lang="en-US" altLang="zh-CN" sz="2000" dirty="0"/>
              <a:t>    FROM </a:t>
            </a:r>
            <a:r>
              <a:rPr lang="en-US" altLang="zh-CN" sz="2000" dirty="0" err="1"/>
              <a:t>Cust</a:t>
            </a:r>
            <a:endParaRPr lang="zh-CN" altLang="zh-CN" sz="2000" dirty="0"/>
          </a:p>
          <a:p>
            <a:pPr marL="360363" indent="0">
              <a:buNone/>
            </a:pPr>
            <a:r>
              <a:rPr lang="en-US" altLang="zh-CN" sz="2000" dirty="0"/>
              <a:t>    WHERE </a:t>
            </a:r>
            <a:r>
              <a:rPr lang="en-US" altLang="zh-CN" sz="2000" dirty="0" err="1"/>
              <a:t>CNo</a:t>
            </a:r>
            <a:r>
              <a:rPr lang="en-US" altLang="zh-CN" sz="2000" dirty="0"/>
              <a:t>='C006')    </a:t>
            </a:r>
            <a:r>
              <a:rPr lang="zh-CN" altLang="zh-CN" sz="2000" dirty="0"/>
              <a:t>或者</a:t>
            </a:r>
          </a:p>
          <a:p>
            <a:pPr marL="360363" indent="0">
              <a:buNone/>
            </a:pPr>
            <a:r>
              <a:rPr lang="en-US" altLang="zh-CN" sz="2000" dirty="0"/>
              <a:t>SELECT C1.CNo,C1.CName,C1.CSex</a:t>
            </a:r>
            <a:endParaRPr lang="zh-CN" altLang="zh-CN" sz="2000" dirty="0"/>
          </a:p>
          <a:p>
            <a:pPr marL="360363" indent="0">
              <a:buNone/>
            </a:pPr>
            <a:r>
              <a:rPr lang="en-US" altLang="zh-CN" sz="2000" dirty="0"/>
              <a:t>FROM </a:t>
            </a:r>
            <a:r>
              <a:rPr lang="en-US" altLang="zh-CN" sz="2000" dirty="0" err="1"/>
              <a:t>Cust</a:t>
            </a:r>
            <a:r>
              <a:rPr lang="en-US" altLang="zh-CN" sz="2000" dirty="0"/>
              <a:t> C1</a:t>
            </a:r>
            <a:endParaRPr lang="zh-CN" altLang="zh-CN" sz="2000" dirty="0"/>
          </a:p>
          <a:p>
            <a:pPr marL="360363" indent="0">
              <a:buNone/>
            </a:pPr>
            <a:r>
              <a:rPr lang="en-US" altLang="zh-CN" sz="2000" dirty="0"/>
              <a:t>WHERE C1.CName IN (</a:t>
            </a:r>
            <a:endParaRPr lang="zh-CN" altLang="zh-CN" sz="2000" dirty="0"/>
          </a:p>
          <a:p>
            <a:pPr marL="360363" indent="0">
              <a:buNone/>
            </a:pPr>
            <a:r>
              <a:rPr lang="en-US" altLang="zh-CN" sz="2000" dirty="0"/>
              <a:t>    SELECT C2.CName</a:t>
            </a:r>
            <a:endParaRPr lang="zh-CN" altLang="zh-CN" sz="2000" dirty="0"/>
          </a:p>
          <a:p>
            <a:pPr marL="360363" indent="0">
              <a:buNone/>
            </a:pPr>
            <a:r>
              <a:rPr lang="en-US" altLang="zh-CN" sz="2000" dirty="0"/>
              <a:t>    FROM </a:t>
            </a:r>
            <a:r>
              <a:rPr lang="en-US" altLang="zh-CN" sz="2000" dirty="0" err="1"/>
              <a:t>Cust</a:t>
            </a:r>
            <a:r>
              <a:rPr lang="en-US" altLang="zh-CN" sz="2000" dirty="0"/>
              <a:t> C2</a:t>
            </a:r>
            <a:endParaRPr lang="zh-CN" altLang="zh-CN" sz="2000" dirty="0"/>
          </a:p>
          <a:p>
            <a:pPr marL="360363" indent="0">
              <a:buNone/>
            </a:pPr>
            <a:r>
              <a:rPr lang="en-US" altLang="zh-CN" sz="2000" dirty="0"/>
              <a:t>    WHERE C2.CNo='C006')    </a:t>
            </a:r>
            <a:r>
              <a:rPr lang="zh-CN" altLang="zh-CN" sz="2000" dirty="0"/>
              <a:t>或者</a:t>
            </a:r>
          </a:p>
          <a:p>
            <a:pPr marL="363538" indent="0">
              <a:buNone/>
            </a:pPr>
            <a:endParaRPr lang="zh-CN" altLang="zh-CN" sz="2000" dirty="0"/>
          </a:p>
        </p:txBody>
      </p:sp>
      <p:sp>
        <p:nvSpPr>
          <p:cNvPr id="4" name="日期占位符 3"/>
          <p:cNvSpPr>
            <a:spLocks noGrp="1"/>
          </p:cNvSpPr>
          <p:nvPr>
            <p:ph type="dt" sz="half" idx="10"/>
          </p:nvPr>
        </p:nvSpPr>
        <p:spPr/>
        <p:txBody>
          <a:bodyPr/>
          <a:lstStyle/>
          <a:p>
            <a:fld id="{CEA9D22F-AEBB-F849-8615-0F2F9DE96F96}"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68</a:t>
            </a:fld>
            <a:endParaRPr lang="zh-CN" altLang="en-US" dirty="0"/>
          </a:p>
        </p:txBody>
      </p:sp>
    </p:spTree>
    <p:extLst>
      <p:ext uri="{BB962C8B-B14F-4D97-AF65-F5344CB8AC3E}">
        <p14:creationId xmlns:p14="http://schemas.microsoft.com/office/powerpoint/2010/main" val="10280889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360363" indent="0">
              <a:buNone/>
            </a:pPr>
            <a:r>
              <a:rPr lang="en-US" altLang="zh-CN" sz="2000" dirty="0"/>
              <a:t>SELECT C1.CNo,C1.CName,C1.CSex</a:t>
            </a:r>
            <a:endParaRPr lang="zh-CN" altLang="zh-CN" sz="2000" dirty="0"/>
          </a:p>
          <a:p>
            <a:pPr marL="360363" indent="0">
              <a:buNone/>
            </a:pPr>
            <a:r>
              <a:rPr lang="en-US" altLang="zh-CN" sz="2000" dirty="0"/>
              <a:t>FROM </a:t>
            </a:r>
            <a:r>
              <a:rPr lang="en-US" altLang="zh-CN" sz="2000" dirty="0" err="1"/>
              <a:t>Cust</a:t>
            </a:r>
            <a:r>
              <a:rPr lang="en-US" altLang="zh-CN" sz="2000" dirty="0"/>
              <a:t> C1,Cust C2</a:t>
            </a:r>
            <a:endParaRPr lang="zh-CN" altLang="zh-CN" sz="2000" dirty="0"/>
          </a:p>
          <a:p>
            <a:pPr marL="360363" indent="0">
              <a:buNone/>
            </a:pPr>
            <a:r>
              <a:rPr lang="en-US" altLang="zh-CN" sz="2000" dirty="0"/>
              <a:t>WHERE C1.CName=C2.CName AND C2.CNo='C006'    </a:t>
            </a:r>
            <a:r>
              <a:rPr lang="zh-CN" altLang="zh-CN" sz="2000" dirty="0"/>
              <a:t>或者</a:t>
            </a:r>
          </a:p>
          <a:p>
            <a:pPr marL="360363" indent="0">
              <a:buNone/>
            </a:pPr>
            <a:r>
              <a:rPr lang="en-US" altLang="zh-CN" sz="2000" dirty="0"/>
              <a:t>SELECT C1.CNo,C1.CName,C1.CSex</a:t>
            </a:r>
            <a:endParaRPr lang="zh-CN" altLang="zh-CN" sz="2000" dirty="0"/>
          </a:p>
          <a:p>
            <a:pPr marL="360363" indent="0">
              <a:buNone/>
            </a:pPr>
            <a:r>
              <a:rPr lang="en-US" altLang="zh-CN" sz="2000" dirty="0"/>
              <a:t>FROM </a:t>
            </a:r>
            <a:r>
              <a:rPr lang="en-US" altLang="zh-CN" sz="2000" dirty="0" err="1"/>
              <a:t>Cust</a:t>
            </a:r>
            <a:r>
              <a:rPr lang="en-US" altLang="zh-CN" sz="2000" dirty="0"/>
              <a:t> C1</a:t>
            </a:r>
            <a:endParaRPr lang="zh-CN" altLang="zh-CN" sz="2000" dirty="0"/>
          </a:p>
          <a:p>
            <a:pPr marL="360363" indent="0">
              <a:buNone/>
            </a:pPr>
            <a:r>
              <a:rPr lang="en-US" altLang="zh-CN" sz="2000" dirty="0"/>
              <a:t>WHERE EXISTS(</a:t>
            </a:r>
            <a:endParaRPr lang="zh-CN" altLang="zh-CN" sz="2000" dirty="0"/>
          </a:p>
          <a:p>
            <a:pPr marL="360363" indent="0">
              <a:buNone/>
            </a:pPr>
            <a:r>
              <a:rPr lang="en-US" altLang="zh-CN" sz="2000" dirty="0"/>
              <a:t>    SELECT *    FROM </a:t>
            </a:r>
            <a:r>
              <a:rPr lang="en-US" altLang="zh-CN" sz="2000" dirty="0" err="1"/>
              <a:t>Cust</a:t>
            </a:r>
            <a:r>
              <a:rPr lang="en-US" altLang="zh-CN" sz="2000" dirty="0"/>
              <a:t> C2</a:t>
            </a:r>
            <a:endParaRPr lang="zh-CN" altLang="zh-CN" sz="2000" dirty="0"/>
          </a:p>
          <a:p>
            <a:pPr marL="360363" indent="0">
              <a:buNone/>
            </a:pPr>
            <a:r>
              <a:rPr lang="en-US" altLang="zh-CN" sz="2000" dirty="0"/>
              <a:t>    WHERE C2.CName=C1.CName AND C2.CNo='C006')</a:t>
            </a:r>
            <a:endParaRPr lang="zh-CN" altLang="zh-CN" sz="2000" dirty="0"/>
          </a:p>
          <a:p>
            <a:r>
              <a:rPr lang="zh-CN" altLang="zh-CN" sz="2000" dirty="0"/>
              <a:t>思考：如何去除“</a:t>
            </a:r>
            <a:r>
              <a:rPr lang="en-US" altLang="zh-CN" sz="2000" dirty="0"/>
              <a:t>C006</a:t>
            </a:r>
            <a:r>
              <a:rPr lang="zh-CN" altLang="zh-CN" sz="2000" dirty="0"/>
              <a:t>”本人（即：查询结果不含</a:t>
            </a:r>
            <a:r>
              <a:rPr lang="en-US" altLang="zh-CN" sz="2000" dirty="0"/>
              <a:t>C006</a:t>
            </a:r>
            <a:r>
              <a:rPr lang="zh-CN" altLang="zh-CN" sz="2000" dirty="0"/>
              <a:t>本人）？</a:t>
            </a:r>
          </a:p>
          <a:p>
            <a:r>
              <a:rPr lang="zh-CN" altLang="zh-CN" sz="2000" dirty="0"/>
              <a:t>提示：嵌套查询的求解过程：由里向外。即先执行子查询，后执行父查询。子查询的结果用于建立父查询的查找条件。嵌套查询可以使用多个简单查询构成复杂的查询（即：结构化查询）。</a:t>
            </a:r>
          </a:p>
          <a:p>
            <a:pPr marL="363538" indent="0">
              <a:buNone/>
            </a:pPr>
            <a:endParaRPr lang="zh-CN" altLang="zh-CN" sz="2000" dirty="0"/>
          </a:p>
        </p:txBody>
      </p:sp>
      <p:sp>
        <p:nvSpPr>
          <p:cNvPr id="4" name="日期占位符 3"/>
          <p:cNvSpPr>
            <a:spLocks noGrp="1"/>
          </p:cNvSpPr>
          <p:nvPr>
            <p:ph type="dt" sz="half" idx="10"/>
          </p:nvPr>
        </p:nvSpPr>
        <p:spPr/>
        <p:txBody>
          <a:bodyPr/>
          <a:lstStyle/>
          <a:p>
            <a:fld id="{37D57667-BF77-CE41-9140-73FE764EBAC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69</a:t>
            </a:fld>
            <a:endParaRPr lang="zh-CN" altLang="en-US" dirty="0"/>
          </a:p>
        </p:txBody>
      </p:sp>
    </p:spTree>
    <p:extLst>
      <p:ext uri="{BB962C8B-B14F-4D97-AF65-F5344CB8AC3E}">
        <p14:creationId xmlns:p14="http://schemas.microsoft.com/office/powerpoint/2010/main" val="2058694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lnSpc>
                <a:spcPts val="3200"/>
              </a:lnSpc>
              <a:buNone/>
            </a:pPr>
            <a:r>
              <a:rPr lang="en-US" altLang="zh-CN" sz="2000" dirty="0">
                <a:solidFill>
                  <a:srgbClr val="0000FF"/>
                </a:solidFill>
              </a:rPr>
              <a:t>3</a:t>
            </a:r>
            <a:r>
              <a:rPr lang="zh-CN" altLang="zh-CN" sz="2000" dirty="0">
                <a:solidFill>
                  <a:srgbClr val="0000FF"/>
                </a:solidFill>
              </a:rPr>
              <a:t>．</a:t>
            </a:r>
            <a:r>
              <a:rPr lang="en-US" altLang="zh-CN" sz="2000" dirty="0">
                <a:solidFill>
                  <a:srgbClr val="0000FF"/>
                </a:solidFill>
              </a:rPr>
              <a:t>ANY/ALL</a:t>
            </a:r>
            <a:r>
              <a:rPr lang="zh-CN" altLang="en-US" sz="2000" dirty="0">
                <a:solidFill>
                  <a:srgbClr val="0000FF"/>
                </a:solidFill>
              </a:rPr>
              <a:t>：</a:t>
            </a:r>
            <a:r>
              <a:rPr lang="zh-CN" altLang="zh-CN" sz="2000" dirty="0"/>
              <a:t>用于与任意一个值比较，或者与所有的值比较的情况。</a:t>
            </a:r>
            <a:r>
              <a:rPr lang="en-US" altLang="zh-CN" sz="2000" dirty="0"/>
              <a:t>ANY</a:t>
            </a:r>
            <a:r>
              <a:rPr lang="zh-CN" altLang="zh-CN" sz="2000" dirty="0"/>
              <a:t>表示任意一个值；</a:t>
            </a:r>
            <a:r>
              <a:rPr lang="en-US" altLang="zh-CN" sz="2000" dirty="0"/>
              <a:t>ALL</a:t>
            </a:r>
            <a:r>
              <a:rPr lang="zh-CN" altLang="zh-CN" sz="2000" dirty="0"/>
              <a:t>表示所有值。</a:t>
            </a:r>
          </a:p>
          <a:p>
            <a:pPr>
              <a:lnSpc>
                <a:spcPts val="3200"/>
              </a:lnSpc>
            </a:pPr>
            <a:r>
              <a:rPr lang="en-US" altLang="zh-CN" sz="2000" dirty="0"/>
              <a:t>&gt;ANY</a:t>
            </a:r>
            <a:r>
              <a:rPr lang="zh-CN" altLang="zh-CN" sz="2000" dirty="0"/>
              <a:t>：大于子查询结果中的某个值。</a:t>
            </a:r>
          </a:p>
          <a:p>
            <a:pPr>
              <a:lnSpc>
                <a:spcPts val="3200"/>
              </a:lnSpc>
            </a:pPr>
            <a:r>
              <a:rPr lang="en-US" altLang="zh-CN" sz="2000" dirty="0"/>
              <a:t>&gt;ALL</a:t>
            </a:r>
            <a:r>
              <a:rPr lang="zh-CN" altLang="zh-CN" sz="2000" dirty="0"/>
              <a:t>：大于子查询结果中的所有值。</a:t>
            </a:r>
          </a:p>
          <a:p>
            <a:pPr>
              <a:lnSpc>
                <a:spcPts val="3200"/>
              </a:lnSpc>
            </a:pPr>
            <a:r>
              <a:rPr lang="en-US" altLang="zh-CN" sz="2000" dirty="0"/>
              <a:t>&lt;ANY</a:t>
            </a:r>
            <a:r>
              <a:rPr lang="zh-CN" altLang="zh-CN" sz="2000" dirty="0"/>
              <a:t>：小于子查询结果中的某个值。</a:t>
            </a:r>
          </a:p>
          <a:p>
            <a:pPr>
              <a:lnSpc>
                <a:spcPts val="3200"/>
              </a:lnSpc>
            </a:pPr>
            <a:r>
              <a:rPr lang="en-US" altLang="zh-CN" sz="2000" dirty="0"/>
              <a:t>&lt;ALL</a:t>
            </a:r>
            <a:r>
              <a:rPr lang="zh-CN" altLang="zh-CN" sz="2000" dirty="0"/>
              <a:t>：小于子查询结果中的所有值。</a:t>
            </a:r>
          </a:p>
          <a:p>
            <a:pPr>
              <a:lnSpc>
                <a:spcPts val="3200"/>
              </a:lnSpc>
            </a:pPr>
            <a:r>
              <a:rPr lang="en-US" altLang="zh-CN" sz="2000" dirty="0"/>
              <a:t>&gt;=ANY</a:t>
            </a:r>
            <a:r>
              <a:rPr lang="zh-CN" altLang="zh-CN" sz="2000" dirty="0"/>
              <a:t>：大于等于子查询结果中的某个值。</a:t>
            </a:r>
          </a:p>
          <a:p>
            <a:pPr>
              <a:lnSpc>
                <a:spcPts val="3200"/>
              </a:lnSpc>
            </a:pPr>
            <a:r>
              <a:rPr lang="en-US" altLang="zh-CN" sz="2000" dirty="0"/>
              <a:t>&gt;=ALL</a:t>
            </a:r>
            <a:r>
              <a:rPr lang="zh-CN" altLang="zh-CN" sz="2000" dirty="0"/>
              <a:t>：大于等于子查询结果中的所有值。</a:t>
            </a:r>
          </a:p>
          <a:p>
            <a:pPr>
              <a:lnSpc>
                <a:spcPts val="3200"/>
              </a:lnSpc>
            </a:pPr>
            <a:r>
              <a:rPr lang="en-US" altLang="zh-CN" sz="2000" dirty="0"/>
              <a:t>&lt;=ANY</a:t>
            </a:r>
            <a:r>
              <a:rPr lang="zh-CN" altLang="zh-CN" sz="2000" dirty="0"/>
              <a:t>：小于等于子查询结果中的某个值。</a:t>
            </a:r>
          </a:p>
          <a:p>
            <a:pPr>
              <a:lnSpc>
                <a:spcPts val="3200"/>
              </a:lnSpc>
            </a:pPr>
            <a:r>
              <a:rPr lang="en-US" altLang="zh-CN" sz="2000" dirty="0"/>
              <a:t>&lt;=ALL</a:t>
            </a:r>
            <a:r>
              <a:rPr lang="zh-CN" altLang="zh-CN" sz="2000" dirty="0"/>
              <a:t>：小于等于子查询结果中的所有值。</a:t>
            </a:r>
          </a:p>
          <a:p>
            <a:pPr>
              <a:lnSpc>
                <a:spcPts val="3200"/>
              </a:lnSpc>
            </a:pPr>
            <a:r>
              <a:rPr lang="en-US" altLang="zh-CN" sz="2000" dirty="0"/>
              <a:t>=ANY</a:t>
            </a:r>
            <a:r>
              <a:rPr lang="zh-CN" altLang="zh-CN" sz="2000" dirty="0"/>
              <a:t>：等于子查询结果中的某个值。</a:t>
            </a:r>
          </a:p>
          <a:p>
            <a:pPr>
              <a:lnSpc>
                <a:spcPts val="3200"/>
              </a:lnSpc>
            </a:pPr>
            <a:r>
              <a:rPr lang="en-US" altLang="zh-CN" sz="2000" dirty="0"/>
              <a:t>=ALL</a:t>
            </a:r>
            <a:r>
              <a:rPr lang="zh-CN" altLang="zh-CN" sz="2000" dirty="0"/>
              <a:t>：等于子查询结果中的所有值（通常没有实际意义）。</a:t>
            </a:r>
          </a:p>
          <a:p>
            <a:pPr>
              <a:lnSpc>
                <a:spcPts val="3200"/>
              </a:lnSpc>
            </a:pPr>
            <a:r>
              <a:rPr lang="en-US" altLang="zh-CN" sz="2000" dirty="0"/>
              <a:t>&lt;&gt;ANY</a:t>
            </a:r>
            <a:r>
              <a:rPr lang="zh-CN" altLang="zh-CN" sz="2000" dirty="0"/>
              <a:t>：不等于子查询结果中的某个值。</a:t>
            </a:r>
          </a:p>
          <a:p>
            <a:pPr>
              <a:lnSpc>
                <a:spcPts val="3200"/>
              </a:lnSpc>
            </a:pPr>
            <a:r>
              <a:rPr lang="en-US" altLang="zh-CN" sz="2000" dirty="0"/>
              <a:t>&lt;&gt;ALL</a:t>
            </a:r>
            <a:r>
              <a:rPr lang="zh-CN" altLang="zh-CN" sz="2000" dirty="0"/>
              <a:t>：不等于子查询结果中的任何一个值。</a:t>
            </a:r>
          </a:p>
          <a:p>
            <a:pPr marL="363538" indent="0">
              <a:buNone/>
            </a:pPr>
            <a:endParaRPr lang="zh-CN" altLang="zh-CN" sz="2000" dirty="0"/>
          </a:p>
        </p:txBody>
      </p:sp>
      <p:sp>
        <p:nvSpPr>
          <p:cNvPr id="4" name="日期占位符 3"/>
          <p:cNvSpPr>
            <a:spLocks noGrp="1"/>
          </p:cNvSpPr>
          <p:nvPr>
            <p:ph type="dt" sz="half" idx="10"/>
          </p:nvPr>
        </p:nvSpPr>
        <p:spPr/>
        <p:txBody>
          <a:bodyPr/>
          <a:lstStyle/>
          <a:p>
            <a:fld id="{13522D62-A123-484C-90C7-1ADC67079CE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70</a:t>
            </a:fld>
            <a:endParaRPr lang="zh-CN" altLang="en-US" dirty="0"/>
          </a:p>
        </p:txBody>
      </p:sp>
    </p:spTree>
    <p:extLst>
      <p:ext uri="{BB962C8B-B14F-4D97-AF65-F5344CB8AC3E}">
        <p14:creationId xmlns:p14="http://schemas.microsoft.com/office/powerpoint/2010/main" val="2058694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例如：查询大于韩培友的某一本书定价的图书的书号、作者和定价。</a:t>
            </a:r>
          </a:p>
          <a:p>
            <a:pPr marL="0" indent="0">
              <a:buNone/>
            </a:pPr>
            <a:r>
              <a:rPr lang="en-US" altLang="zh-CN" sz="2000" dirty="0"/>
              <a:t>SELECT </a:t>
            </a:r>
            <a:r>
              <a:rPr lang="en-US" altLang="zh-CN" sz="2000" dirty="0" err="1"/>
              <a:t>BNo,BName,Price</a:t>
            </a:r>
            <a:r>
              <a:rPr lang="en-US" altLang="zh-CN" sz="2000" dirty="0"/>
              <a:t>    FROM Book</a:t>
            </a:r>
            <a:endParaRPr lang="zh-CN" altLang="zh-CN" sz="2000" dirty="0"/>
          </a:p>
          <a:p>
            <a:pPr marL="0" indent="0">
              <a:buNone/>
            </a:pPr>
            <a:r>
              <a:rPr lang="en-US" altLang="zh-CN" sz="2000" dirty="0"/>
              <a:t>WHERE Author&lt;&gt;'</a:t>
            </a:r>
            <a:r>
              <a:rPr lang="zh-CN" altLang="zh-CN" sz="2000" dirty="0"/>
              <a:t>韩培友</a:t>
            </a:r>
            <a:r>
              <a:rPr lang="en-US" altLang="zh-CN" sz="2000" dirty="0"/>
              <a:t>' AND Price&gt;ANY (</a:t>
            </a:r>
            <a:endParaRPr lang="zh-CN" altLang="zh-CN" sz="2000" dirty="0"/>
          </a:p>
          <a:p>
            <a:pPr marL="0" indent="0">
              <a:buNone/>
            </a:pPr>
            <a:r>
              <a:rPr lang="en-US" altLang="zh-CN" sz="2000" dirty="0"/>
              <a:t>    SELECT Price</a:t>
            </a:r>
            <a:endParaRPr lang="zh-CN" altLang="zh-CN" sz="2000" dirty="0"/>
          </a:p>
          <a:p>
            <a:pPr marL="0" indent="0">
              <a:buNone/>
            </a:pPr>
            <a:r>
              <a:rPr lang="en-US" altLang="zh-CN" sz="2000" dirty="0"/>
              <a:t>    FROM Book</a:t>
            </a:r>
            <a:endParaRPr lang="zh-CN" altLang="zh-CN" sz="2000" dirty="0"/>
          </a:p>
          <a:p>
            <a:pPr marL="0" indent="0">
              <a:buNone/>
            </a:pPr>
            <a:r>
              <a:rPr lang="en-US" altLang="zh-CN" sz="2000" dirty="0"/>
              <a:t>    WHERE Author='</a:t>
            </a:r>
            <a:r>
              <a:rPr lang="zh-CN" altLang="zh-CN" sz="2000" dirty="0"/>
              <a:t>韩培友</a:t>
            </a:r>
            <a:r>
              <a:rPr lang="en-US" altLang="zh-CN" sz="2000" dirty="0"/>
              <a:t>')    </a:t>
            </a:r>
            <a:r>
              <a:rPr lang="zh-CN" altLang="zh-CN" sz="2000" dirty="0"/>
              <a:t>或者</a:t>
            </a:r>
          </a:p>
          <a:p>
            <a:pPr marL="0" indent="0">
              <a:buNone/>
            </a:pPr>
            <a:r>
              <a:rPr lang="en-US" altLang="zh-CN" sz="2000" dirty="0"/>
              <a:t>SELECT </a:t>
            </a:r>
            <a:r>
              <a:rPr lang="en-US" altLang="zh-CN" sz="2000" dirty="0" err="1"/>
              <a:t>BNo,BName,Price</a:t>
            </a:r>
            <a:r>
              <a:rPr lang="en-US" altLang="zh-CN" sz="2000" dirty="0"/>
              <a:t>    FROM Book</a:t>
            </a:r>
            <a:endParaRPr lang="zh-CN" altLang="zh-CN" sz="2000" dirty="0"/>
          </a:p>
          <a:p>
            <a:pPr marL="0" indent="0">
              <a:buNone/>
            </a:pPr>
            <a:r>
              <a:rPr lang="en-US" altLang="zh-CN" sz="2000" dirty="0"/>
              <a:t>WHERE Author&lt;&gt;'</a:t>
            </a:r>
            <a:r>
              <a:rPr lang="zh-CN" altLang="zh-CN" sz="2000" dirty="0"/>
              <a:t>韩培友</a:t>
            </a:r>
            <a:r>
              <a:rPr lang="en-US" altLang="zh-CN" sz="2000" dirty="0"/>
              <a:t>' AND Price&gt; (</a:t>
            </a:r>
            <a:endParaRPr lang="zh-CN" altLang="zh-CN" sz="2000" dirty="0"/>
          </a:p>
          <a:p>
            <a:pPr marL="0" indent="0">
              <a:buNone/>
            </a:pPr>
            <a:r>
              <a:rPr lang="en-US" altLang="zh-CN" sz="2000" dirty="0"/>
              <a:t>    SELECT MIN(Price)</a:t>
            </a:r>
            <a:endParaRPr lang="zh-CN" altLang="zh-CN" sz="2000" dirty="0"/>
          </a:p>
          <a:p>
            <a:pPr marL="0" indent="0">
              <a:buNone/>
            </a:pPr>
            <a:r>
              <a:rPr lang="en-US" altLang="zh-CN" sz="2000" dirty="0"/>
              <a:t>    FROM Book</a:t>
            </a:r>
            <a:endParaRPr lang="zh-CN" altLang="zh-CN" sz="2000" dirty="0"/>
          </a:p>
          <a:p>
            <a:pPr marL="0" indent="0">
              <a:buNone/>
            </a:pPr>
            <a:r>
              <a:rPr lang="en-US" altLang="zh-CN" sz="2000" dirty="0"/>
              <a:t>    WHERE Author='</a:t>
            </a:r>
            <a:r>
              <a:rPr lang="zh-CN" altLang="zh-CN" sz="2000" dirty="0"/>
              <a:t>韩培友</a:t>
            </a:r>
            <a:r>
              <a:rPr lang="en-US" altLang="zh-CN" sz="2000" dirty="0"/>
              <a:t>')</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16CC4DC1-4B18-C241-A541-F827F710FCBA}"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71</a:t>
            </a:fld>
            <a:endParaRPr lang="zh-CN" altLang="en-US" dirty="0"/>
          </a:p>
        </p:txBody>
      </p:sp>
    </p:spTree>
    <p:extLst>
      <p:ext uri="{BB962C8B-B14F-4D97-AF65-F5344CB8AC3E}">
        <p14:creationId xmlns:p14="http://schemas.microsoft.com/office/powerpoint/2010/main" val="2058694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例如：查询大于韩培友的所有书售价的图书的书号、作者和售价。</a:t>
            </a:r>
          </a:p>
          <a:p>
            <a:pPr marL="360363" indent="0">
              <a:buNone/>
            </a:pPr>
            <a:r>
              <a:rPr lang="en-US" altLang="zh-CN" sz="2000" dirty="0"/>
              <a:t>SELECT </a:t>
            </a:r>
            <a:r>
              <a:rPr lang="en-US" altLang="zh-CN" sz="2000" dirty="0" err="1"/>
              <a:t>BNo,BName,Price</a:t>
            </a:r>
            <a:r>
              <a:rPr lang="en-US" altLang="zh-CN" sz="2000" dirty="0"/>
              <a:t>    FROM Book</a:t>
            </a:r>
            <a:endParaRPr lang="zh-CN" altLang="zh-CN" sz="2000" dirty="0"/>
          </a:p>
          <a:p>
            <a:pPr marL="360363" indent="0">
              <a:buNone/>
            </a:pPr>
            <a:r>
              <a:rPr lang="en-US" altLang="zh-CN" sz="2000" dirty="0"/>
              <a:t>WHERE Author&lt;&gt;'</a:t>
            </a:r>
            <a:r>
              <a:rPr lang="zh-CN" altLang="zh-CN" sz="2000" dirty="0"/>
              <a:t>韩培友</a:t>
            </a:r>
            <a:r>
              <a:rPr lang="en-US" altLang="zh-CN" sz="2000" dirty="0"/>
              <a:t>' AND Price&gt;ALL (</a:t>
            </a:r>
            <a:endParaRPr lang="zh-CN" altLang="zh-CN" sz="2000" dirty="0"/>
          </a:p>
          <a:p>
            <a:pPr marL="360363" indent="0">
              <a:buNone/>
            </a:pPr>
            <a:r>
              <a:rPr lang="en-US" altLang="zh-CN" sz="2000" dirty="0"/>
              <a:t>    SELECT Price</a:t>
            </a:r>
            <a:endParaRPr lang="zh-CN" altLang="zh-CN" sz="2000" dirty="0"/>
          </a:p>
          <a:p>
            <a:pPr marL="360363" indent="0">
              <a:buNone/>
            </a:pPr>
            <a:r>
              <a:rPr lang="en-US" altLang="zh-CN" sz="2000" dirty="0"/>
              <a:t>    FROM Book</a:t>
            </a:r>
            <a:endParaRPr lang="zh-CN" altLang="zh-CN" sz="2000" dirty="0"/>
          </a:p>
          <a:p>
            <a:pPr marL="360363" indent="0">
              <a:buNone/>
            </a:pPr>
            <a:r>
              <a:rPr lang="en-US" altLang="zh-CN" sz="2000" dirty="0"/>
              <a:t>    WHERE Author='</a:t>
            </a:r>
            <a:r>
              <a:rPr lang="zh-CN" altLang="zh-CN" sz="2000" dirty="0"/>
              <a:t>韩培友</a:t>
            </a:r>
            <a:r>
              <a:rPr lang="en-US" altLang="zh-CN" sz="2000" dirty="0"/>
              <a:t>')    </a:t>
            </a:r>
            <a:r>
              <a:rPr lang="zh-CN" altLang="zh-CN" sz="2000" dirty="0"/>
              <a:t>或者</a:t>
            </a:r>
          </a:p>
          <a:p>
            <a:pPr marL="360363" indent="0">
              <a:buNone/>
            </a:pPr>
            <a:r>
              <a:rPr lang="en-US" altLang="zh-CN" sz="2000" dirty="0"/>
              <a:t>SELECT </a:t>
            </a:r>
            <a:r>
              <a:rPr lang="en-US" altLang="zh-CN" sz="2000" dirty="0" err="1"/>
              <a:t>BNo,BName,Price</a:t>
            </a:r>
            <a:r>
              <a:rPr lang="en-US" altLang="zh-CN" sz="2000" dirty="0"/>
              <a:t>    FROM Book</a:t>
            </a:r>
            <a:endParaRPr lang="zh-CN" altLang="zh-CN" sz="2000" dirty="0"/>
          </a:p>
          <a:p>
            <a:pPr marL="360363" indent="0">
              <a:buNone/>
            </a:pPr>
            <a:r>
              <a:rPr lang="en-US" altLang="zh-CN" sz="2000" dirty="0"/>
              <a:t>WHERE Author&lt;&gt;'</a:t>
            </a:r>
            <a:r>
              <a:rPr lang="zh-CN" altLang="zh-CN" sz="2000" dirty="0"/>
              <a:t>韩培友</a:t>
            </a:r>
            <a:r>
              <a:rPr lang="en-US" altLang="zh-CN" sz="2000" dirty="0"/>
              <a:t>' AND Price&gt; (</a:t>
            </a:r>
            <a:endParaRPr lang="zh-CN" altLang="zh-CN" sz="2000" dirty="0"/>
          </a:p>
          <a:p>
            <a:pPr marL="360363" indent="0">
              <a:buNone/>
            </a:pPr>
            <a:r>
              <a:rPr lang="en-US" altLang="zh-CN" sz="2000" dirty="0"/>
              <a:t>    SELECT MAX(Price)</a:t>
            </a:r>
            <a:endParaRPr lang="zh-CN" altLang="zh-CN" sz="2000" dirty="0"/>
          </a:p>
          <a:p>
            <a:pPr marL="360363" indent="0">
              <a:buNone/>
            </a:pPr>
            <a:r>
              <a:rPr lang="en-US" altLang="zh-CN" sz="2000" dirty="0"/>
              <a:t>    FROM Book</a:t>
            </a:r>
            <a:endParaRPr lang="zh-CN" altLang="zh-CN" sz="2000" dirty="0"/>
          </a:p>
          <a:p>
            <a:pPr marL="360363" indent="0">
              <a:buNone/>
            </a:pPr>
            <a:r>
              <a:rPr lang="en-US" altLang="zh-CN" sz="2000" dirty="0"/>
              <a:t>    WHERE Author='</a:t>
            </a:r>
            <a:r>
              <a:rPr lang="zh-CN" altLang="zh-CN" sz="2000" dirty="0"/>
              <a:t>韩培友</a:t>
            </a:r>
            <a:r>
              <a:rPr lang="en-US" altLang="zh-CN" sz="2000" dirty="0"/>
              <a:t>')</a:t>
            </a:r>
            <a:endParaRPr lang="zh-CN" altLang="zh-CN" sz="2000" dirty="0"/>
          </a:p>
          <a:p>
            <a:r>
              <a:rPr lang="zh-CN" altLang="zh-CN" sz="2000" dirty="0"/>
              <a:t>思考：查询小于韩培友的图书均价的图书的书号、作者和进价。</a:t>
            </a:r>
          </a:p>
          <a:p>
            <a:pPr marL="363538" indent="0">
              <a:buNone/>
            </a:pPr>
            <a:endParaRPr lang="zh-CN" altLang="zh-CN" sz="2000" dirty="0"/>
          </a:p>
        </p:txBody>
      </p:sp>
      <p:sp>
        <p:nvSpPr>
          <p:cNvPr id="4" name="日期占位符 3"/>
          <p:cNvSpPr>
            <a:spLocks noGrp="1"/>
          </p:cNvSpPr>
          <p:nvPr>
            <p:ph type="dt" sz="half" idx="10"/>
          </p:nvPr>
        </p:nvSpPr>
        <p:spPr/>
        <p:txBody>
          <a:bodyPr/>
          <a:lstStyle/>
          <a:p>
            <a:fld id="{A9377211-96F9-6744-98D9-88CB18F5CC40}"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72</a:t>
            </a:fld>
            <a:endParaRPr lang="zh-CN" altLang="en-US" dirty="0"/>
          </a:p>
        </p:txBody>
      </p:sp>
    </p:spTree>
    <p:extLst>
      <p:ext uri="{BB962C8B-B14F-4D97-AF65-F5344CB8AC3E}">
        <p14:creationId xmlns:p14="http://schemas.microsoft.com/office/powerpoint/2010/main" val="2058694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0" indent="0">
              <a:buNone/>
            </a:pPr>
            <a:r>
              <a:rPr lang="en-US" altLang="zh-CN" sz="2000" dirty="0">
                <a:solidFill>
                  <a:srgbClr val="0000FF"/>
                </a:solidFill>
              </a:rPr>
              <a:t>4</a:t>
            </a:r>
            <a:r>
              <a:rPr lang="zh-CN" altLang="zh-CN" sz="2000" dirty="0">
                <a:solidFill>
                  <a:srgbClr val="0000FF"/>
                </a:solidFill>
              </a:rPr>
              <a:t>．</a:t>
            </a:r>
            <a:r>
              <a:rPr lang="en-US" altLang="zh-CN" sz="2000" dirty="0">
                <a:solidFill>
                  <a:srgbClr val="0000FF"/>
                </a:solidFill>
              </a:rPr>
              <a:t>EXISTS</a:t>
            </a:r>
            <a:r>
              <a:rPr lang="zh-CN" altLang="en-US" sz="2000" dirty="0">
                <a:solidFill>
                  <a:srgbClr val="0000FF"/>
                </a:solidFill>
              </a:rPr>
              <a:t>：</a:t>
            </a:r>
            <a:r>
              <a:rPr lang="zh-CN" altLang="zh-CN" sz="2000" dirty="0"/>
              <a:t>通常不返回数据，仅判断其后的子查询是否存在相应的记录</a:t>
            </a:r>
            <a:endParaRPr lang="en-US" altLang="zh-CN" sz="2000" dirty="0"/>
          </a:p>
          <a:p>
            <a:pPr marL="360363" indent="0">
              <a:buNone/>
            </a:pPr>
            <a:r>
              <a:rPr lang="zh-CN" altLang="zh-CN" sz="2000" dirty="0"/>
              <a:t> </a:t>
            </a:r>
            <a:r>
              <a:rPr lang="en-US" altLang="zh-CN" sz="2000" dirty="0"/>
              <a:t>[NOT] EXISTS (&lt;</a:t>
            </a:r>
            <a:r>
              <a:rPr lang="zh-CN" altLang="zh-CN" sz="2000" dirty="0"/>
              <a:t>子查询</a:t>
            </a:r>
            <a:r>
              <a:rPr lang="en-US" altLang="zh-CN" sz="2000" dirty="0"/>
              <a:t>&gt;)</a:t>
            </a:r>
            <a:endParaRPr lang="zh-CN" altLang="zh-CN" sz="2000" dirty="0"/>
          </a:p>
          <a:p>
            <a:r>
              <a:rPr lang="zh-CN" altLang="zh-CN" sz="2000" dirty="0"/>
              <a:t>提示：</a:t>
            </a:r>
            <a:r>
              <a:rPr lang="en-US" altLang="zh-CN" sz="2000" dirty="0"/>
              <a:t>EXISTS</a:t>
            </a:r>
            <a:r>
              <a:rPr lang="zh-CN" altLang="zh-CN" sz="2000" dirty="0"/>
              <a:t>查询的求解过程：由外到里。即对外（父）查询的每一个记录，逐一验证内（子）查询。用外查询的数据验证内查询的存在性。</a:t>
            </a:r>
          </a:p>
          <a:p>
            <a:r>
              <a:rPr lang="zh-CN" altLang="zh-CN" sz="2000" dirty="0"/>
              <a:t>例如：查询没有购买图书的客户的户号、户名和姓别。</a:t>
            </a:r>
          </a:p>
          <a:p>
            <a:pPr marL="360363" indent="0">
              <a:buNone/>
            </a:pPr>
            <a:r>
              <a:rPr lang="en-US" altLang="zh-CN" sz="2000" dirty="0"/>
              <a:t>SELECT </a:t>
            </a:r>
            <a:r>
              <a:rPr lang="en-US" altLang="zh-CN" sz="2000" dirty="0" err="1"/>
              <a:t>CNo,CName,Csex</a:t>
            </a:r>
            <a:r>
              <a:rPr lang="en-US" altLang="zh-CN" sz="2000" dirty="0"/>
              <a:t>    FROM </a:t>
            </a:r>
            <a:r>
              <a:rPr lang="en-US" altLang="zh-CN" sz="2000" dirty="0" err="1"/>
              <a:t>Cust</a:t>
            </a:r>
            <a:endParaRPr lang="zh-CN" altLang="zh-CN" sz="2000" dirty="0"/>
          </a:p>
          <a:p>
            <a:pPr marL="360363" indent="0">
              <a:buNone/>
            </a:pPr>
            <a:r>
              <a:rPr lang="en-US" altLang="zh-CN" sz="2000" dirty="0"/>
              <a:t>WHERE NOT EXISTS (</a:t>
            </a:r>
            <a:endParaRPr lang="zh-CN" altLang="zh-CN" sz="2000" dirty="0"/>
          </a:p>
          <a:p>
            <a:pPr marL="360363" indent="0">
              <a:buNone/>
            </a:pPr>
            <a:r>
              <a:rPr lang="en-US" altLang="zh-CN" sz="2000" dirty="0"/>
              <a:t>    SELECT </a:t>
            </a:r>
            <a:r>
              <a:rPr lang="en-US" altLang="zh-CN" sz="2000" dirty="0" err="1"/>
              <a:t>CNo</a:t>
            </a:r>
            <a:r>
              <a:rPr lang="en-US" altLang="zh-CN" sz="2000" dirty="0"/>
              <a:t>    FROM Buy</a:t>
            </a:r>
            <a:endParaRPr lang="zh-CN" altLang="zh-CN" sz="2000" dirty="0"/>
          </a:p>
          <a:p>
            <a:pPr marL="360363" indent="0">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t>
            </a:r>
            <a:r>
              <a:rPr lang="zh-CN" altLang="zh-CN" sz="2000" dirty="0"/>
              <a:t>或者</a:t>
            </a:r>
          </a:p>
          <a:p>
            <a:pPr marL="360363" indent="0">
              <a:buNone/>
            </a:pPr>
            <a:r>
              <a:rPr lang="en-US" altLang="zh-CN" sz="2000" dirty="0"/>
              <a:t>SELECT </a:t>
            </a:r>
            <a:r>
              <a:rPr lang="en-US" altLang="zh-CN" sz="2000" dirty="0" err="1"/>
              <a:t>CNo,CName,Csex</a:t>
            </a:r>
            <a:r>
              <a:rPr lang="en-US" altLang="zh-CN" sz="2000" dirty="0"/>
              <a:t>    FROM </a:t>
            </a:r>
            <a:r>
              <a:rPr lang="en-US" altLang="zh-CN" sz="2000" dirty="0" err="1"/>
              <a:t>Cust</a:t>
            </a:r>
            <a:endParaRPr lang="zh-CN" altLang="zh-CN" sz="2000" dirty="0"/>
          </a:p>
          <a:p>
            <a:pPr marL="360363" indent="0">
              <a:buNone/>
            </a:pPr>
            <a:r>
              <a:rPr lang="en-US" altLang="zh-CN" sz="2000" dirty="0"/>
              <a:t>WHERE </a:t>
            </a:r>
            <a:r>
              <a:rPr lang="en-US" altLang="zh-CN" sz="2000" dirty="0" err="1"/>
              <a:t>CNo</a:t>
            </a:r>
            <a:r>
              <a:rPr lang="en-US" altLang="zh-CN" sz="2000" dirty="0"/>
              <a:t> NOT IN (</a:t>
            </a:r>
            <a:endParaRPr lang="zh-CN" altLang="zh-CN" sz="2000" dirty="0"/>
          </a:p>
          <a:p>
            <a:pPr marL="360363" indent="0">
              <a:buNone/>
            </a:pPr>
            <a:r>
              <a:rPr lang="en-US" altLang="zh-CN" sz="2000" dirty="0"/>
              <a:t>    SELECT </a:t>
            </a:r>
            <a:r>
              <a:rPr lang="en-US" altLang="zh-CN" sz="2000" dirty="0" err="1"/>
              <a:t>CNo</a:t>
            </a:r>
            <a:r>
              <a:rPr lang="en-US" altLang="zh-CN" sz="2000" dirty="0"/>
              <a:t>    FROM Buy)</a:t>
            </a:r>
            <a:endParaRPr lang="zh-CN" altLang="zh-CN" sz="2000" dirty="0"/>
          </a:p>
        </p:txBody>
      </p:sp>
      <p:sp>
        <p:nvSpPr>
          <p:cNvPr id="4" name="日期占位符 3"/>
          <p:cNvSpPr>
            <a:spLocks noGrp="1"/>
          </p:cNvSpPr>
          <p:nvPr>
            <p:ph type="dt" sz="half" idx="10"/>
          </p:nvPr>
        </p:nvSpPr>
        <p:spPr/>
        <p:txBody>
          <a:bodyPr/>
          <a:lstStyle/>
          <a:p>
            <a:fld id="{815D776C-84C5-C74E-BDC8-0BCAA9F1078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73</a:t>
            </a:fld>
            <a:endParaRPr lang="zh-CN" altLang="en-US" dirty="0"/>
          </a:p>
        </p:txBody>
      </p:sp>
    </p:spTree>
    <p:extLst>
      <p:ext uri="{BB962C8B-B14F-4D97-AF65-F5344CB8AC3E}">
        <p14:creationId xmlns:p14="http://schemas.microsoft.com/office/powerpoint/2010/main" val="10280889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例如：查询购买所有图书的客户的户号和户名。即：</a:t>
            </a:r>
          </a:p>
          <a:p>
            <a:pPr marL="360363" indent="0">
              <a:buNone/>
            </a:pPr>
            <a:r>
              <a:rPr lang="zh-CN" altLang="zh-CN" sz="2000" dirty="0"/>
              <a:t>查询没有一本书是他不买的客户的户号和户名。</a:t>
            </a:r>
          </a:p>
          <a:p>
            <a:pPr marL="360363" indent="0">
              <a:buNone/>
            </a:pPr>
            <a:r>
              <a:rPr lang="en-US" altLang="zh-CN" sz="2000" dirty="0"/>
              <a:t>SELECT </a:t>
            </a:r>
            <a:r>
              <a:rPr lang="en-US" altLang="zh-CN" sz="2000" dirty="0" err="1"/>
              <a:t>CNo,CName</a:t>
            </a:r>
            <a:endParaRPr lang="zh-CN" altLang="zh-CN" sz="2000" dirty="0"/>
          </a:p>
          <a:p>
            <a:pPr marL="360363" indent="0">
              <a:buNone/>
            </a:pPr>
            <a:r>
              <a:rPr lang="en-US" altLang="zh-CN" sz="2000" dirty="0"/>
              <a:t>FROM </a:t>
            </a:r>
            <a:r>
              <a:rPr lang="en-US" altLang="zh-CN" sz="2000" dirty="0" err="1"/>
              <a:t>Cust</a:t>
            </a:r>
            <a:endParaRPr lang="zh-CN" altLang="zh-CN" sz="2000" dirty="0"/>
          </a:p>
          <a:p>
            <a:pPr marL="360363" indent="0">
              <a:buNone/>
            </a:pPr>
            <a:r>
              <a:rPr lang="en-US" altLang="zh-CN" sz="2000" dirty="0"/>
              <a:t>WHERE NOT EXISTS</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Book</a:t>
            </a:r>
            <a:endParaRPr lang="zh-CN" altLang="zh-CN" sz="2000" dirty="0"/>
          </a:p>
          <a:p>
            <a:pPr marL="360363" indent="0">
              <a:buNone/>
            </a:pPr>
            <a:r>
              <a:rPr lang="en-US" altLang="zh-CN" sz="2000" dirty="0"/>
              <a:t>     WHERE NOT EXISTS</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Buy</a:t>
            </a:r>
            <a:endParaRPr lang="zh-CN" altLang="zh-CN" sz="2000" dirty="0"/>
          </a:p>
          <a:p>
            <a:pPr marL="360363" indent="0">
              <a:buNone/>
            </a:pPr>
            <a:r>
              <a:rPr lang="en-US" altLang="zh-CN" sz="2000" dirty="0"/>
              <a:t>          WHERE </a:t>
            </a:r>
            <a:r>
              <a:rPr lang="en-US" altLang="zh-CN" sz="2000" dirty="0" err="1"/>
              <a:t>CNo</a:t>
            </a:r>
            <a:r>
              <a:rPr lang="en-US" altLang="zh-CN" sz="2000" dirty="0"/>
              <a:t>=</a:t>
            </a:r>
            <a:r>
              <a:rPr lang="en-US" altLang="zh-CN" sz="2000" dirty="0" err="1"/>
              <a:t>Cust.CNo</a:t>
            </a:r>
            <a:r>
              <a:rPr lang="en-US" altLang="zh-CN" sz="2000" dirty="0"/>
              <a:t> AND </a:t>
            </a:r>
            <a:r>
              <a:rPr lang="en-US" altLang="zh-CN" sz="2000" dirty="0" err="1"/>
              <a:t>BNo</a:t>
            </a:r>
            <a:r>
              <a:rPr lang="en-US" altLang="zh-CN" sz="2000" dirty="0"/>
              <a:t>=</a:t>
            </a:r>
            <a:r>
              <a:rPr lang="en-US" altLang="zh-CN" sz="2000" dirty="0" err="1"/>
              <a:t>Book.BNo</a:t>
            </a:r>
            <a:r>
              <a:rPr lang="en-US" altLang="zh-CN" sz="2000" dirty="0"/>
              <a:t>))</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4D1FB1A1-DCAF-984C-98A2-91869F4D642B}"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74</a:t>
            </a:fld>
            <a:endParaRPr lang="zh-CN" altLang="en-US" dirty="0"/>
          </a:p>
        </p:txBody>
      </p:sp>
    </p:spTree>
    <p:extLst>
      <p:ext uri="{BB962C8B-B14F-4D97-AF65-F5344CB8AC3E}">
        <p14:creationId xmlns:p14="http://schemas.microsoft.com/office/powerpoint/2010/main" val="32725726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例如：查询至少购买了户号为</a:t>
            </a:r>
            <a:r>
              <a:rPr lang="en-US" altLang="zh-CN" sz="2000" dirty="0"/>
              <a:t>C002</a:t>
            </a:r>
            <a:r>
              <a:rPr lang="zh-CN" altLang="zh-CN" sz="2000" dirty="0"/>
              <a:t>的客户购买的全部图书的户号、书号和订购日期。即：不存在这样的图书，户号</a:t>
            </a:r>
            <a:r>
              <a:rPr lang="en-US" altLang="zh-CN" sz="2000" dirty="0"/>
              <a:t>C002</a:t>
            </a:r>
            <a:r>
              <a:rPr lang="zh-CN" altLang="zh-CN" sz="2000" dirty="0"/>
              <a:t>购买了该图书，而查询的客户没买。</a:t>
            </a:r>
          </a:p>
          <a:p>
            <a:pPr marL="360363" indent="0">
              <a:buNone/>
            </a:pPr>
            <a:r>
              <a:rPr lang="en-US" altLang="zh-CN" sz="2000" dirty="0"/>
              <a:t>SELECT DISTINCT </a:t>
            </a:r>
            <a:r>
              <a:rPr lang="en-US" altLang="zh-CN" sz="2000" dirty="0" err="1"/>
              <a:t>CNo,BNo,PDate</a:t>
            </a:r>
            <a:endParaRPr lang="zh-CN" altLang="zh-CN" sz="2000" dirty="0"/>
          </a:p>
          <a:p>
            <a:pPr marL="360363" indent="0">
              <a:buNone/>
            </a:pPr>
            <a:r>
              <a:rPr lang="en-US" altLang="zh-CN" sz="2000" dirty="0"/>
              <a:t>FROM Buy X</a:t>
            </a:r>
            <a:endParaRPr lang="zh-CN" altLang="zh-CN" sz="2000" dirty="0"/>
          </a:p>
          <a:p>
            <a:pPr marL="360363" indent="0">
              <a:buNone/>
            </a:pPr>
            <a:r>
              <a:rPr lang="en-US" altLang="zh-CN" sz="2000" dirty="0"/>
              <a:t>WHERE NOT EXISTS (</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Buy Y</a:t>
            </a:r>
            <a:endParaRPr lang="zh-CN" altLang="zh-CN" sz="2000" dirty="0"/>
          </a:p>
          <a:p>
            <a:pPr marL="360363" indent="0">
              <a:buNone/>
            </a:pPr>
            <a:r>
              <a:rPr lang="en-US" altLang="zh-CN" sz="2000" dirty="0"/>
              <a:t>    WHERE </a:t>
            </a:r>
            <a:r>
              <a:rPr lang="en-US" altLang="zh-CN" sz="2000" dirty="0" err="1"/>
              <a:t>Y.CNo</a:t>
            </a:r>
            <a:r>
              <a:rPr lang="en-US" altLang="zh-CN" sz="2000" dirty="0"/>
              <a:t> = 'C002' AND NOT EXISTS (</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Buy Z</a:t>
            </a:r>
            <a:endParaRPr lang="zh-CN" altLang="zh-CN" sz="2000" dirty="0"/>
          </a:p>
          <a:p>
            <a:pPr marL="360363" indent="0">
              <a:buNone/>
            </a:pPr>
            <a:r>
              <a:rPr lang="en-US" altLang="zh-CN" sz="2000" dirty="0"/>
              <a:t>        WHERE </a:t>
            </a:r>
            <a:r>
              <a:rPr lang="en-US" altLang="zh-CN" sz="2000" dirty="0" err="1"/>
              <a:t>Z.CNo</a:t>
            </a:r>
            <a:r>
              <a:rPr lang="en-US" altLang="zh-CN" sz="2000" dirty="0"/>
              <a:t>=</a:t>
            </a:r>
            <a:r>
              <a:rPr lang="en-US" altLang="zh-CN" sz="2000" dirty="0" err="1"/>
              <a:t>X.CNo</a:t>
            </a:r>
            <a:r>
              <a:rPr lang="en-US" altLang="zh-CN" sz="2000" dirty="0"/>
              <a:t> AND </a:t>
            </a:r>
            <a:r>
              <a:rPr lang="en-US" altLang="zh-CN" sz="2000" dirty="0" err="1"/>
              <a:t>Z.BNo</a:t>
            </a:r>
            <a:r>
              <a:rPr lang="en-US" altLang="zh-CN" sz="2000" dirty="0"/>
              <a:t>=</a:t>
            </a:r>
            <a:r>
              <a:rPr lang="en-US" altLang="zh-CN" sz="2000" dirty="0" err="1"/>
              <a:t>Y.BNo</a:t>
            </a:r>
            <a:r>
              <a:rPr lang="en-US" altLang="zh-CN" sz="2000" dirty="0"/>
              <a:t>))    </a:t>
            </a:r>
            <a:r>
              <a:rPr lang="zh-CN" altLang="zh-CN" sz="2000" dirty="0"/>
              <a:t>或者</a:t>
            </a:r>
          </a:p>
          <a:p>
            <a:pPr marL="363538" indent="0">
              <a:buNone/>
            </a:pPr>
            <a:endParaRPr lang="zh-CN" altLang="zh-CN" sz="2000" dirty="0"/>
          </a:p>
        </p:txBody>
      </p:sp>
      <p:sp>
        <p:nvSpPr>
          <p:cNvPr id="4" name="日期占位符 3"/>
          <p:cNvSpPr>
            <a:spLocks noGrp="1"/>
          </p:cNvSpPr>
          <p:nvPr>
            <p:ph type="dt" sz="half" idx="10"/>
          </p:nvPr>
        </p:nvSpPr>
        <p:spPr/>
        <p:txBody>
          <a:bodyPr/>
          <a:lstStyle/>
          <a:p>
            <a:fld id="{F2265DF8-97D8-2146-8EC3-EBE23527FD72}"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75</a:t>
            </a:fld>
            <a:endParaRPr lang="zh-CN" altLang="en-US" dirty="0"/>
          </a:p>
        </p:txBody>
      </p:sp>
    </p:spTree>
    <p:extLst>
      <p:ext uri="{BB962C8B-B14F-4D97-AF65-F5344CB8AC3E}">
        <p14:creationId xmlns:p14="http://schemas.microsoft.com/office/powerpoint/2010/main" val="32725726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pPr marL="360363" indent="0">
              <a:buNone/>
            </a:pPr>
            <a:r>
              <a:rPr lang="en-US" altLang="zh-CN" sz="2000" dirty="0"/>
              <a:t>SELECT *</a:t>
            </a:r>
            <a:endParaRPr lang="zh-CN" altLang="zh-CN" sz="2000" dirty="0"/>
          </a:p>
          <a:p>
            <a:pPr marL="360363" indent="0">
              <a:buNone/>
            </a:pPr>
            <a:r>
              <a:rPr lang="en-US" altLang="zh-CN" sz="2000" dirty="0"/>
              <a:t>FROM Buy X</a:t>
            </a:r>
            <a:endParaRPr lang="zh-CN" altLang="zh-CN" sz="2000" dirty="0"/>
          </a:p>
          <a:p>
            <a:pPr marL="360363" indent="0">
              <a:buNone/>
            </a:pPr>
            <a:r>
              <a:rPr lang="en-US" altLang="zh-CN" sz="2000" dirty="0"/>
              <a:t>WHERE NOT EXISTS (</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Buy Y</a:t>
            </a:r>
            <a:endParaRPr lang="zh-CN" altLang="zh-CN" sz="2000" dirty="0"/>
          </a:p>
          <a:p>
            <a:pPr marL="360363" indent="0">
              <a:buNone/>
            </a:pPr>
            <a:r>
              <a:rPr lang="en-US" altLang="zh-CN" sz="2000" dirty="0"/>
              <a:t>    WHERE </a:t>
            </a:r>
            <a:r>
              <a:rPr lang="en-US" altLang="zh-CN" sz="2000" dirty="0" err="1"/>
              <a:t>Y.CNo</a:t>
            </a:r>
            <a:r>
              <a:rPr lang="en-US" altLang="zh-CN" sz="2000" dirty="0"/>
              <a:t> = 'C002' AND NOT EXISTS (</a:t>
            </a:r>
            <a:endParaRPr lang="zh-CN" altLang="zh-CN" sz="2000" dirty="0"/>
          </a:p>
          <a:p>
            <a:pPr marL="360363" indent="0">
              <a:buNone/>
            </a:pPr>
            <a:r>
              <a:rPr lang="en-US" altLang="zh-CN" sz="2000" dirty="0"/>
              <a:t>        SELECT *</a:t>
            </a:r>
            <a:endParaRPr lang="zh-CN" altLang="zh-CN" sz="2000" dirty="0"/>
          </a:p>
          <a:p>
            <a:pPr marL="360363" indent="0">
              <a:buNone/>
            </a:pPr>
            <a:r>
              <a:rPr lang="en-US" altLang="zh-CN" sz="2000" dirty="0"/>
              <a:t>        FROM Buy Z</a:t>
            </a:r>
            <a:endParaRPr lang="zh-CN" altLang="zh-CN" sz="2000" dirty="0"/>
          </a:p>
          <a:p>
            <a:pPr marL="360363" indent="0">
              <a:buNone/>
            </a:pPr>
            <a:r>
              <a:rPr lang="en-US" altLang="zh-CN" sz="2000" dirty="0"/>
              <a:t>        WHERE </a:t>
            </a:r>
            <a:r>
              <a:rPr lang="en-US" altLang="zh-CN" sz="2000" dirty="0" err="1"/>
              <a:t>Z.CNo</a:t>
            </a:r>
            <a:r>
              <a:rPr lang="en-US" altLang="zh-CN" sz="2000" dirty="0"/>
              <a:t>=</a:t>
            </a:r>
            <a:r>
              <a:rPr lang="en-US" altLang="zh-CN" sz="2000" dirty="0" err="1"/>
              <a:t>X.CNo</a:t>
            </a:r>
            <a:r>
              <a:rPr lang="en-US" altLang="zh-CN" sz="2000" dirty="0"/>
              <a:t> AND </a:t>
            </a:r>
            <a:r>
              <a:rPr lang="en-US" altLang="zh-CN" sz="2000" dirty="0" err="1"/>
              <a:t>Z.BNo</a:t>
            </a:r>
            <a:r>
              <a:rPr lang="en-US" altLang="zh-CN" sz="2000" dirty="0"/>
              <a:t>=</a:t>
            </a:r>
            <a:r>
              <a:rPr lang="en-US" altLang="zh-CN" sz="2000" dirty="0" err="1"/>
              <a:t>Y.BNo</a:t>
            </a:r>
            <a:r>
              <a:rPr lang="en-US" altLang="zh-CN" sz="2000" dirty="0"/>
              <a:t>))</a:t>
            </a:r>
            <a:endParaRPr lang="zh-CN" altLang="zh-CN" sz="2000" dirty="0"/>
          </a:p>
          <a:p>
            <a:pPr marL="363538" indent="0">
              <a:buNone/>
            </a:pPr>
            <a:endParaRPr lang="zh-CN" altLang="zh-CN" sz="2000" dirty="0"/>
          </a:p>
        </p:txBody>
      </p:sp>
      <p:sp>
        <p:nvSpPr>
          <p:cNvPr id="4" name="日期占位符 3"/>
          <p:cNvSpPr>
            <a:spLocks noGrp="1"/>
          </p:cNvSpPr>
          <p:nvPr>
            <p:ph type="dt" sz="half" idx="10"/>
          </p:nvPr>
        </p:nvSpPr>
        <p:spPr/>
        <p:txBody>
          <a:bodyPr/>
          <a:lstStyle/>
          <a:p>
            <a:fld id="{1F6235ED-0104-EC40-921B-1DD076B37DDF}"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76</a:t>
            </a:fld>
            <a:endParaRPr lang="zh-CN" altLang="en-US" dirty="0"/>
          </a:p>
        </p:txBody>
      </p:sp>
    </p:spTree>
    <p:extLst>
      <p:ext uri="{BB962C8B-B14F-4D97-AF65-F5344CB8AC3E}">
        <p14:creationId xmlns:p14="http://schemas.microsoft.com/office/powerpoint/2010/main" val="32725726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4.3.3 </a:t>
            </a:r>
            <a:r>
              <a:rPr lang="zh-CN" altLang="zh-CN" dirty="0"/>
              <a:t>多表查询</a:t>
            </a:r>
            <a:endParaRPr lang="zh-CN" altLang="en-US" i="0" u="none" strike="noStrike" kern="2200" baseline="0" dirty="0">
              <a:solidFill>
                <a:srgbClr val="0000FF"/>
              </a:solidFill>
            </a:endParaRPr>
          </a:p>
        </p:txBody>
      </p:sp>
      <p:sp>
        <p:nvSpPr>
          <p:cNvPr id="3" name="文本占位符 2"/>
          <p:cNvSpPr>
            <a:spLocks noGrp="1"/>
          </p:cNvSpPr>
          <p:nvPr>
            <p:ph type="body" idx="1"/>
          </p:nvPr>
        </p:nvSpPr>
        <p:spPr>
          <a:xfrm>
            <a:off x="179512" y="620688"/>
            <a:ext cx="8784976" cy="5760640"/>
          </a:xfrm>
        </p:spPr>
        <p:txBody>
          <a:bodyPr>
            <a:noAutofit/>
          </a:bodyPr>
          <a:lstStyle/>
          <a:p>
            <a:r>
              <a:rPr lang="zh-CN" altLang="zh-CN" sz="2000" dirty="0"/>
              <a:t>思考</a:t>
            </a:r>
            <a:r>
              <a:rPr lang="en-US" altLang="zh-CN" sz="2000" dirty="0"/>
              <a:t>1</a:t>
            </a:r>
            <a:r>
              <a:rPr lang="zh-CN" altLang="zh-CN" sz="2000" dirty="0"/>
              <a:t>：查询至少购买了户号为</a:t>
            </a:r>
            <a:r>
              <a:rPr lang="en-US" altLang="zh-CN" sz="2000" dirty="0"/>
              <a:t>C002</a:t>
            </a:r>
            <a:r>
              <a:rPr lang="zh-CN" altLang="zh-CN" sz="2000" dirty="0"/>
              <a:t>的客户购买的全部图书的客户的户号。</a:t>
            </a:r>
          </a:p>
          <a:p>
            <a:r>
              <a:rPr lang="zh-CN" altLang="zh-CN" sz="2000" dirty="0"/>
              <a:t>思考</a:t>
            </a:r>
            <a:r>
              <a:rPr lang="en-US" altLang="zh-CN" sz="2000" dirty="0"/>
              <a:t>2</a:t>
            </a:r>
            <a:r>
              <a:rPr lang="zh-CN" altLang="zh-CN" sz="2000" dirty="0"/>
              <a:t>：去掉</a:t>
            </a:r>
            <a:r>
              <a:rPr lang="en-US" altLang="zh-CN" sz="2000" dirty="0"/>
              <a:t>DISTINCT</a:t>
            </a:r>
            <a:r>
              <a:rPr lang="zh-CN" altLang="zh-CN" sz="2000" dirty="0"/>
              <a:t>是否正确？</a:t>
            </a:r>
          </a:p>
          <a:p>
            <a:r>
              <a:rPr lang="zh-CN" altLang="zh-CN" sz="2000" dirty="0"/>
              <a:t>思考</a:t>
            </a:r>
            <a:r>
              <a:rPr lang="en-US" altLang="zh-CN" sz="2000" dirty="0"/>
              <a:t>3</a:t>
            </a:r>
            <a:r>
              <a:rPr lang="zh-CN" altLang="zh-CN" sz="2000" dirty="0"/>
              <a:t>：查询全体客户的全部购书及其图书和出版社的数据。</a:t>
            </a:r>
          </a:p>
          <a:p>
            <a:r>
              <a:rPr lang="zh-CN" altLang="zh-CN" sz="2000" dirty="0"/>
              <a:t>思考</a:t>
            </a:r>
            <a:r>
              <a:rPr lang="en-US" altLang="zh-CN" sz="2000" dirty="0"/>
              <a:t>4</a:t>
            </a:r>
            <a:r>
              <a:rPr lang="zh-CN" altLang="zh-CN" sz="2000" dirty="0"/>
              <a:t>：查询至少购买一本韩培友出版的图书的户号。</a:t>
            </a:r>
          </a:p>
          <a:p>
            <a:r>
              <a:rPr lang="zh-CN" altLang="zh-CN" sz="2000" dirty="0"/>
              <a:t>思考</a:t>
            </a:r>
            <a:r>
              <a:rPr lang="en-US" altLang="zh-CN" sz="2000" dirty="0"/>
              <a:t>5</a:t>
            </a:r>
            <a:r>
              <a:rPr lang="zh-CN" altLang="zh-CN" sz="2000" dirty="0"/>
              <a:t>：查询在</a:t>
            </a:r>
            <a:r>
              <a:rPr lang="en-US" altLang="zh-CN" sz="2000" dirty="0"/>
              <a:t>2010</a:t>
            </a:r>
            <a:r>
              <a:rPr lang="zh-CN" altLang="zh-CN" sz="2000" dirty="0"/>
              <a:t>之后购买图书</a:t>
            </a:r>
            <a:r>
              <a:rPr lang="en-US" altLang="zh-CN" sz="2000" dirty="0"/>
              <a:t>ISBN978-7-302-33894-9</a:t>
            </a:r>
            <a:r>
              <a:rPr lang="zh-CN" altLang="zh-CN" sz="2000" dirty="0"/>
              <a:t>的客户的户号和姓名。</a:t>
            </a:r>
          </a:p>
          <a:p>
            <a:r>
              <a:rPr lang="zh-CN" altLang="zh-CN" sz="2000" dirty="0"/>
              <a:t>思考</a:t>
            </a:r>
            <a:r>
              <a:rPr lang="en-US" altLang="zh-CN" sz="2000" dirty="0"/>
              <a:t>6</a:t>
            </a:r>
            <a:r>
              <a:rPr lang="zh-CN" altLang="zh-CN" sz="2000" dirty="0"/>
              <a:t>：查询没有购买书号为</a:t>
            </a:r>
            <a:r>
              <a:rPr lang="en-US" altLang="zh-CN" sz="2000" dirty="0"/>
              <a:t>ISBN978-7-302-33894-9</a:t>
            </a:r>
            <a:r>
              <a:rPr lang="zh-CN" altLang="zh-CN" sz="2000" dirty="0"/>
              <a:t>的图书的客户的姓名。</a:t>
            </a:r>
          </a:p>
          <a:p>
            <a:pPr marL="363538" indent="0">
              <a:buNone/>
            </a:pPr>
            <a:endParaRPr lang="zh-CN" altLang="zh-CN" sz="2000" dirty="0"/>
          </a:p>
        </p:txBody>
      </p:sp>
      <p:sp>
        <p:nvSpPr>
          <p:cNvPr id="4" name="日期占位符 3"/>
          <p:cNvSpPr>
            <a:spLocks noGrp="1"/>
          </p:cNvSpPr>
          <p:nvPr>
            <p:ph type="dt" sz="half" idx="10"/>
          </p:nvPr>
        </p:nvSpPr>
        <p:spPr/>
        <p:txBody>
          <a:bodyPr/>
          <a:lstStyle/>
          <a:p>
            <a:fld id="{58EAC44D-AC13-E84C-A406-3BCBC3E539F8}"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77</a:t>
            </a:fld>
            <a:endParaRPr lang="zh-CN" altLang="en-US" dirty="0"/>
          </a:p>
        </p:txBody>
      </p:sp>
    </p:spTree>
    <p:extLst>
      <p:ext uri="{BB962C8B-B14F-4D97-AF65-F5344CB8AC3E}">
        <p14:creationId xmlns:p14="http://schemas.microsoft.com/office/powerpoint/2010/main" val="32725726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i="0" u="none" strike="noStrike" kern="2200" baseline="0" dirty="0"/>
              <a:t>3.6</a:t>
            </a:r>
            <a:r>
              <a:rPr lang="zh-CN" altLang="en-US" i="0" u="none" strike="noStrike" kern="2200" baseline="0" dirty="0"/>
              <a:t> 小 结</a:t>
            </a:r>
          </a:p>
        </p:txBody>
      </p:sp>
      <p:sp>
        <p:nvSpPr>
          <p:cNvPr id="3" name="文本占位符 2"/>
          <p:cNvSpPr>
            <a:spLocks noGrp="1"/>
          </p:cNvSpPr>
          <p:nvPr>
            <p:ph type="body" idx="1"/>
          </p:nvPr>
        </p:nvSpPr>
        <p:spPr>
          <a:xfrm>
            <a:off x="457200" y="1340768"/>
            <a:ext cx="8229600" cy="4896544"/>
          </a:xfrm>
        </p:spPr>
        <p:txBody>
          <a:bodyPr>
            <a:noAutofit/>
          </a:bodyPr>
          <a:lstStyle/>
          <a:p>
            <a:pPr>
              <a:lnSpc>
                <a:spcPts val="4600"/>
              </a:lnSpc>
            </a:pPr>
            <a:r>
              <a:rPr lang="en-US" altLang="zh-CN" sz="2800" dirty="0">
                <a:solidFill>
                  <a:srgbClr val="0000FF"/>
                </a:solidFill>
              </a:rPr>
              <a:t>SQL Server</a:t>
            </a:r>
            <a:r>
              <a:rPr lang="zh-CN" altLang="zh-CN" sz="2800" dirty="0">
                <a:solidFill>
                  <a:srgbClr val="0000FF"/>
                </a:solidFill>
              </a:rPr>
              <a:t>特点。</a:t>
            </a:r>
          </a:p>
          <a:p>
            <a:pPr>
              <a:lnSpc>
                <a:spcPts val="4600"/>
              </a:lnSpc>
            </a:pPr>
            <a:r>
              <a:rPr lang="zh-CN" altLang="zh-CN" sz="2800" dirty="0">
                <a:solidFill>
                  <a:srgbClr val="0000FF"/>
                </a:solidFill>
              </a:rPr>
              <a:t>数据库及其表的创建方法。</a:t>
            </a:r>
          </a:p>
          <a:p>
            <a:pPr>
              <a:lnSpc>
                <a:spcPts val="4600"/>
              </a:lnSpc>
            </a:pPr>
            <a:r>
              <a:rPr lang="zh-CN" altLang="zh-CN" sz="2800" dirty="0">
                <a:solidFill>
                  <a:srgbClr val="0000FF"/>
                </a:solidFill>
              </a:rPr>
              <a:t>数据表达式的书写规则和表示方法。</a:t>
            </a:r>
          </a:p>
          <a:p>
            <a:pPr>
              <a:lnSpc>
                <a:spcPts val="4600"/>
              </a:lnSpc>
            </a:pPr>
            <a:r>
              <a:rPr lang="zh-CN" altLang="zh-CN" sz="2800" dirty="0">
                <a:solidFill>
                  <a:srgbClr val="0000FF"/>
                </a:solidFill>
              </a:rPr>
              <a:t>数据查询的实现方法。</a:t>
            </a:r>
          </a:p>
        </p:txBody>
      </p:sp>
      <p:sp>
        <p:nvSpPr>
          <p:cNvPr id="4" name="日期占位符 3"/>
          <p:cNvSpPr>
            <a:spLocks noGrp="1"/>
          </p:cNvSpPr>
          <p:nvPr>
            <p:ph type="dt" sz="half" idx="10"/>
          </p:nvPr>
        </p:nvSpPr>
        <p:spPr/>
        <p:txBody>
          <a:bodyPr/>
          <a:lstStyle/>
          <a:p>
            <a:fld id="{EEBC6BCC-1429-174D-8DAE-A7297B948AF1}"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78</a:t>
            </a:fld>
            <a:endParaRPr lang="zh-CN" altLang="en-US" dirty="0"/>
          </a:p>
        </p:txBody>
      </p:sp>
    </p:spTree>
    <p:extLst>
      <p:ext uri="{BB962C8B-B14F-4D97-AF65-F5344CB8AC3E}">
        <p14:creationId xmlns:p14="http://schemas.microsoft.com/office/powerpoint/2010/main" val="8387892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836712"/>
            <a:ext cx="8219256" cy="1512168"/>
          </a:xfrm>
        </p:spPr>
        <p:txBody>
          <a:bodyPr>
            <a:normAutofit/>
          </a:bodyPr>
          <a:lstStyle/>
          <a:p>
            <a:pPr marR="0" rtl="0"/>
            <a:r>
              <a:rPr lang="zh-CN" altLang="en-US" sz="6600" i="0" u="none" strike="noStrike" kern="2200" baseline="0" dirty="0"/>
              <a:t>习　题</a:t>
            </a:r>
          </a:p>
        </p:txBody>
      </p:sp>
      <p:sp>
        <p:nvSpPr>
          <p:cNvPr id="3" name="文本占位符 2"/>
          <p:cNvSpPr>
            <a:spLocks noGrp="1"/>
          </p:cNvSpPr>
          <p:nvPr>
            <p:ph type="body" idx="1"/>
          </p:nvPr>
        </p:nvSpPr>
        <p:spPr>
          <a:xfrm>
            <a:off x="251520" y="2924944"/>
            <a:ext cx="8640960" cy="1872208"/>
          </a:xfrm>
        </p:spPr>
        <p:txBody>
          <a:bodyPr>
            <a:noAutofit/>
          </a:bodyPr>
          <a:lstStyle/>
          <a:p>
            <a:pPr marL="446088" indent="-446088" algn="ctr">
              <a:lnSpc>
                <a:spcPct val="100000"/>
              </a:lnSpc>
              <a:buNone/>
            </a:pPr>
            <a:r>
              <a:rPr lang="en-US" altLang="zh-CN" sz="6600" u="none" strike="noStrike" kern="100" baseline="0" dirty="0">
                <a:solidFill>
                  <a:srgbClr val="0000FF"/>
                </a:solidFill>
              </a:rPr>
              <a:t>4.1</a:t>
            </a:r>
            <a:r>
              <a:rPr lang="zh-CN" altLang="en-US" sz="6600" u="none" strike="noStrike" kern="100" baseline="0" dirty="0">
                <a:solidFill>
                  <a:srgbClr val="0000FF"/>
                </a:solidFill>
              </a:rPr>
              <a:t> ～</a:t>
            </a:r>
            <a:r>
              <a:rPr lang="en-US" altLang="zh-CN" sz="6600" u="none" strike="noStrike" kern="100" baseline="0" dirty="0">
                <a:solidFill>
                  <a:srgbClr val="0000FF"/>
                </a:solidFill>
              </a:rPr>
              <a:t>4.6</a:t>
            </a:r>
            <a:endParaRPr lang="zh-CN" altLang="en-US" sz="6600" u="none" strike="noStrike" kern="100" baseline="0" dirty="0">
              <a:solidFill>
                <a:srgbClr val="0000FF"/>
              </a:solidFill>
            </a:endParaRPr>
          </a:p>
        </p:txBody>
      </p:sp>
      <p:sp>
        <p:nvSpPr>
          <p:cNvPr id="4" name="日期占位符 3"/>
          <p:cNvSpPr>
            <a:spLocks noGrp="1"/>
          </p:cNvSpPr>
          <p:nvPr>
            <p:ph type="dt" sz="half" idx="10"/>
          </p:nvPr>
        </p:nvSpPr>
        <p:spPr/>
        <p:txBody>
          <a:bodyPr/>
          <a:lstStyle/>
          <a:p>
            <a:fld id="{8F6D86B2-3B7F-A344-8E41-AF7C585510CC}" type="datetime9">
              <a:rPr lang="zh-CN" altLang="en-US" smtClean="0"/>
              <a:t>2019年9月10日星期二3时34分34秒</a:t>
            </a:fld>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79</a:t>
            </a:fld>
            <a:endParaRPr lang="zh-CN" altLang="en-US" dirty="0"/>
          </a:p>
        </p:txBody>
      </p:sp>
    </p:spTree>
    <p:extLst>
      <p:ext uri="{BB962C8B-B14F-4D97-AF65-F5344CB8AC3E}">
        <p14:creationId xmlns:p14="http://schemas.microsoft.com/office/powerpoint/2010/main" val="23165761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3720</TotalTime>
  <Words>8762</Words>
  <Application>Microsoft Macintosh PowerPoint</Application>
  <PresentationFormat>全屏显示(4:3)</PresentationFormat>
  <Paragraphs>1006</Paragraphs>
  <Slides>79</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79</vt:i4>
      </vt:variant>
    </vt:vector>
  </HeadingPairs>
  <TitlesOfParts>
    <vt:vector size="86" baseType="lpstr">
      <vt:lpstr>微软雅黑</vt:lpstr>
      <vt:lpstr>Arial</vt:lpstr>
      <vt:lpstr>Arial Black</vt:lpstr>
      <vt:lpstr>Calibri</vt:lpstr>
      <vt:lpstr>Times New Roman</vt:lpstr>
      <vt:lpstr>Wingdings</vt:lpstr>
      <vt:lpstr>Office 主题​​</vt:lpstr>
      <vt:lpstr>浙江工商大学计算机与信息工程学院</vt:lpstr>
      <vt:lpstr>第 4 章  SQL Server</vt:lpstr>
      <vt:lpstr>SQL Server</vt:lpstr>
      <vt:lpstr>4.1 结构查询语言SQL</vt:lpstr>
      <vt:lpstr>4.1.1  ANSI SQL</vt:lpstr>
      <vt:lpstr>4.1.2 SQL Server</vt:lpstr>
      <vt:lpstr>1. SQL Server的特点</vt:lpstr>
      <vt:lpstr>2. SQL Server 管理工作室</vt:lpstr>
      <vt:lpstr>2. SQL Server 管理工作室</vt:lpstr>
      <vt:lpstr>4.2 创建数据库</vt:lpstr>
      <vt:lpstr>SQL Server的数据定义语句</vt:lpstr>
      <vt:lpstr>4.2.1 创建数据库</vt:lpstr>
      <vt:lpstr>4.2.1 创建数据库</vt:lpstr>
      <vt:lpstr>4.2.1 创建数据库</vt:lpstr>
      <vt:lpstr>4.2.2 创建表</vt:lpstr>
      <vt:lpstr>1．创建表结构</vt:lpstr>
      <vt:lpstr>1．创建表结构</vt:lpstr>
      <vt:lpstr>1．创建表结构</vt:lpstr>
      <vt:lpstr>1．创建表结构</vt:lpstr>
      <vt:lpstr>1．创建表结构</vt:lpstr>
      <vt:lpstr>1．创建表结构</vt:lpstr>
      <vt:lpstr>编辑表结构</vt:lpstr>
      <vt:lpstr>2．编辑表记录</vt:lpstr>
      <vt:lpstr>2．编辑表记录</vt:lpstr>
      <vt:lpstr>2．编辑表记录</vt:lpstr>
      <vt:lpstr>2．编辑表记录</vt:lpstr>
      <vt:lpstr>2．编辑表记录</vt:lpstr>
      <vt:lpstr>2．编辑表记录</vt:lpstr>
      <vt:lpstr>3．删除表（结构+记录）</vt:lpstr>
      <vt:lpstr>4.3 数据查询</vt:lpstr>
      <vt:lpstr>4.3 数据查询</vt:lpstr>
      <vt:lpstr>4.3 数据查询</vt:lpstr>
      <vt:lpstr>4.3.1  集合查询</vt:lpstr>
      <vt:lpstr>4.3.1  集合查询</vt:lpstr>
      <vt:lpstr>4.3.1  集合查询</vt:lpstr>
      <vt:lpstr>4.3.1  集合查询</vt:lpstr>
      <vt:lpstr>4.3.1  集合查询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4.3.2 单表查询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4.3.3 多表查询</vt:lpstr>
      <vt:lpstr>3.6 小 结</vt:lpstr>
      <vt:lpstr>习　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Happyu</dc:creator>
  <cp:lastModifiedBy>ling yun</cp:lastModifiedBy>
  <cp:revision>400</cp:revision>
  <dcterms:created xsi:type="dcterms:W3CDTF">2017-06-19T02:48:13Z</dcterms:created>
  <dcterms:modified xsi:type="dcterms:W3CDTF">2019-09-10T07:34:44Z</dcterms:modified>
</cp:coreProperties>
</file>