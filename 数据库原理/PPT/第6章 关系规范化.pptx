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1"/>
  </p:notesMasterIdLst>
  <p:sldIdLst>
    <p:sldId id="381" r:id="rId2"/>
    <p:sldId id="256" r:id="rId3"/>
    <p:sldId id="578" r:id="rId4"/>
    <p:sldId id="379" r:id="rId5"/>
    <p:sldId id="470" r:id="rId6"/>
    <p:sldId id="580" r:id="rId7"/>
    <p:sldId id="582" r:id="rId8"/>
    <p:sldId id="583" r:id="rId9"/>
    <p:sldId id="584" r:id="rId10"/>
    <p:sldId id="585" r:id="rId11"/>
    <p:sldId id="579" r:id="rId12"/>
    <p:sldId id="581" r:id="rId13"/>
    <p:sldId id="469" r:id="rId14"/>
    <p:sldId id="512" r:id="rId15"/>
    <p:sldId id="513" r:id="rId16"/>
    <p:sldId id="587" r:id="rId17"/>
    <p:sldId id="588" r:id="rId18"/>
    <p:sldId id="589" r:id="rId19"/>
    <p:sldId id="586" r:id="rId20"/>
    <p:sldId id="514" r:id="rId21"/>
    <p:sldId id="511" r:id="rId22"/>
    <p:sldId id="518" r:id="rId23"/>
    <p:sldId id="590" r:id="rId24"/>
    <p:sldId id="591" r:id="rId25"/>
    <p:sldId id="592" r:id="rId26"/>
    <p:sldId id="594" r:id="rId27"/>
    <p:sldId id="593" r:id="rId28"/>
    <p:sldId id="595" r:id="rId29"/>
    <p:sldId id="596" r:id="rId30"/>
    <p:sldId id="597" r:id="rId31"/>
    <p:sldId id="519" r:id="rId32"/>
    <p:sldId id="598" r:id="rId33"/>
    <p:sldId id="599" r:id="rId34"/>
    <p:sldId id="600" r:id="rId35"/>
    <p:sldId id="601" r:id="rId36"/>
    <p:sldId id="602" r:id="rId37"/>
    <p:sldId id="603" r:id="rId38"/>
    <p:sldId id="604" r:id="rId39"/>
    <p:sldId id="605" r:id="rId40"/>
    <p:sldId id="606" r:id="rId41"/>
    <p:sldId id="607" r:id="rId42"/>
    <p:sldId id="473" r:id="rId43"/>
    <p:sldId id="517" r:id="rId44"/>
    <p:sldId id="472" r:id="rId45"/>
    <p:sldId id="520" r:id="rId46"/>
    <p:sldId id="521" r:id="rId47"/>
    <p:sldId id="608" r:id="rId48"/>
    <p:sldId id="522" r:id="rId49"/>
    <p:sldId id="610" r:id="rId50"/>
    <p:sldId id="611" r:id="rId51"/>
    <p:sldId id="612" r:id="rId52"/>
    <p:sldId id="613" r:id="rId53"/>
    <p:sldId id="614" r:id="rId54"/>
    <p:sldId id="616" r:id="rId55"/>
    <p:sldId id="617" r:id="rId56"/>
    <p:sldId id="618" r:id="rId57"/>
    <p:sldId id="619" r:id="rId58"/>
    <p:sldId id="620" r:id="rId59"/>
    <p:sldId id="621" r:id="rId60"/>
    <p:sldId id="622" r:id="rId61"/>
    <p:sldId id="623" r:id="rId62"/>
    <p:sldId id="624" r:id="rId63"/>
    <p:sldId id="625" r:id="rId64"/>
    <p:sldId id="626" r:id="rId65"/>
    <p:sldId id="627" r:id="rId66"/>
    <p:sldId id="628" r:id="rId67"/>
    <p:sldId id="629" r:id="rId68"/>
    <p:sldId id="630" r:id="rId69"/>
    <p:sldId id="631" r:id="rId70"/>
    <p:sldId id="632" r:id="rId71"/>
    <p:sldId id="633" r:id="rId72"/>
    <p:sldId id="634" r:id="rId73"/>
    <p:sldId id="635" r:id="rId74"/>
    <p:sldId id="636" r:id="rId75"/>
    <p:sldId id="637" r:id="rId76"/>
    <p:sldId id="638" r:id="rId77"/>
    <p:sldId id="640" r:id="rId78"/>
    <p:sldId id="641" r:id="rId79"/>
    <p:sldId id="642" r:id="rId80"/>
    <p:sldId id="643" r:id="rId81"/>
    <p:sldId id="644" r:id="rId82"/>
    <p:sldId id="645" r:id="rId83"/>
    <p:sldId id="646" r:id="rId84"/>
    <p:sldId id="647" r:id="rId85"/>
    <p:sldId id="648" r:id="rId86"/>
    <p:sldId id="650" r:id="rId87"/>
    <p:sldId id="649" r:id="rId88"/>
    <p:sldId id="453" r:id="rId89"/>
    <p:sldId id="377" r:id="rId9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44" autoAdjust="0"/>
    <p:restoredTop sz="94591" autoAdjust="0"/>
  </p:normalViewPr>
  <p:slideViewPr>
    <p:cSldViewPr>
      <p:cViewPr varScale="1">
        <p:scale>
          <a:sx n="114" d="100"/>
          <a:sy n="114" d="100"/>
        </p:scale>
        <p:origin x="-1698" y="-108"/>
      </p:cViewPr>
      <p:guideLst>
        <p:guide orient="horz" pos="2160"/>
        <p:guide pos="2880"/>
      </p:guideLst>
    </p:cSldViewPr>
  </p:slideViewPr>
  <p:outlineViewPr>
    <p:cViewPr>
      <p:scale>
        <a:sx n="33" d="100"/>
        <a:sy n="33" d="100"/>
      </p:scale>
      <p:origin x="0" y="15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9.wmf"/><Relationship Id="rId1" Type="http://schemas.openxmlformats.org/officeDocument/2006/relationships/image" Target="../media/image11.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15.wmf"/><Relationship Id="rId1" Type="http://schemas.openxmlformats.org/officeDocument/2006/relationships/image" Target="../media/image11.wmf"/><Relationship Id="rId6" Type="http://schemas.openxmlformats.org/officeDocument/2006/relationships/image" Target="../media/image14.wmf"/><Relationship Id="rId5" Type="http://schemas.openxmlformats.org/officeDocument/2006/relationships/image" Target="../media/image17.wmf"/><Relationship Id="rId4" Type="http://schemas.openxmlformats.org/officeDocument/2006/relationships/image" Target="../media/image1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1.wmf"/><Relationship Id="rId1" Type="http://schemas.openxmlformats.org/officeDocument/2006/relationships/image" Target="../media/image19.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3.wmf"/><Relationship Id="rId3" Type="http://schemas.openxmlformats.org/officeDocument/2006/relationships/image" Target="../media/image23.wmf"/><Relationship Id="rId7" Type="http://schemas.openxmlformats.org/officeDocument/2006/relationships/image" Target="../media/image27.wmf"/><Relationship Id="rId12" Type="http://schemas.openxmlformats.org/officeDocument/2006/relationships/image" Target="../media/image32.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11" Type="http://schemas.openxmlformats.org/officeDocument/2006/relationships/image" Target="../media/image31.wmf"/><Relationship Id="rId5" Type="http://schemas.openxmlformats.org/officeDocument/2006/relationships/image" Target="../media/image25.wmf"/><Relationship Id="rId10" Type="http://schemas.openxmlformats.org/officeDocument/2006/relationships/image" Target="../media/image30.wmf"/><Relationship Id="rId4" Type="http://schemas.openxmlformats.org/officeDocument/2006/relationships/image" Target="../media/image24.wmf"/><Relationship Id="rId9" Type="http://schemas.openxmlformats.org/officeDocument/2006/relationships/image" Target="../media/image2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6.wmf"/><Relationship Id="rId18" Type="http://schemas.openxmlformats.org/officeDocument/2006/relationships/image" Target="../media/image51.wmf"/><Relationship Id="rId3" Type="http://schemas.openxmlformats.org/officeDocument/2006/relationships/image" Target="../media/image36.wmf"/><Relationship Id="rId7" Type="http://schemas.openxmlformats.org/officeDocument/2006/relationships/image" Target="../media/image40.wmf"/><Relationship Id="rId12" Type="http://schemas.openxmlformats.org/officeDocument/2006/relationships/image" Target="../media/image45.wmf"/><Relationship Id="rId17" Type="http://schemas.openxmlformats.org/officeDocument/2006/relationships/image" Target="../media/image50.wmf"/><Relationship Id="rId2" Type="http://schemas.openxmlformats.org/officeDocument/2006/relationships/image" Target="../media/image35.wmf"/><Relationship Id="rId16" Type="http://schemas.openxmlformats.org/officeDocument/2006/relationships/image" Target="../media/image49.wmf"/><Relationship Id="rId20" Type="http://schemas.openxmlformats.org/officeDocument/2006/relationships/image" Target="../media/image53.wmf"/><Relationship Id="rId1" Type="http://schemas.openxmlformats.org/officeDocument/2006/relationships/image" Target="../media/image10.wmf"/><Relationship Id="rId6" Type="http://schemas.openxmlformats.org/officeDocument/2006/relationships/image" Target="../media/image39.wmf"/><Relationship Id="rId11" Type="http://schemas.openxmlformats.org/officeDocument/2006/relationships/image" Target="../media/image44.wmf"/><Relationship Id="rId5" Type="http://schemas.openxmlformats.org/officeDocument/2006/relationships/image" Target="../media/image38.wmf"/><Relationship Id="rId15" Type="http://schemas.openxmlformats.org/officeDocument/2006/relationships/image" Target="../media/image48.wmf"/><Relationship Id="rId10" Type="http://schemas.openxmlformats.org/officeDocument/2006/relationships/image" Target="../media/image43.wmf"/><Relationship Id="rId19" Type="http://schemas.openxmlformats.org/officeDocument/2006/relationships/image" Target="../media/image52.wmf"/><Relationship Id="rId4" Type="http://schemas.openxmlformats.org/officeDocument/2006/relationships/image" Target="../media/image37.wmf"/><Relationship Id="rId9" Type="http://schemas.openxmlformats.org/officeDocument/2006/relationships/image" Target="../media/image42.wmf"/><Relationship Id="rId14" Type="http://schemas.openxmlformats.org/officeDocument/2006/relationships/image" Target="../media/image47.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D2C98B-BCE1-473E-B4E9-1F6B27B354D6}" type="datetimeFigureOut">
              <a:rPr lang="zh-CN" altLang="en-US" smtClean="0"/>
              <a:t>2019/9/8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B2A1C5-F448-453F-AD22-060754181DD0}" type="slidenum">
              <a:rPr lang="zh-CN" altLang="en-US" smtClean="0"/>
              <a:t>‹#›</a:t>
            </a:fld>
            <a:endParaRPr lang="zh-CN" altLang="en-US"/>
          </a:p>
        </p:txBody>
      </p:sp>
    </p:spTree>
    <p:extLst>
      <p:ext uri="{BB962C8B-B14F-4D97-AF65-F5344CB8AC3E}">
        <p14:creationId xmlns:p14="http://schemas.microsoft.com/office/powerpoint/2010/main" val="2580868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F0FEC2D-1921-4D49-9601-5EBBBFCF4A9B}" type="slidenum">
              <a:rPr lang="en-US" altLang="zh-CN" smtClean="0"/>
              <a:pPr eaLnBrk="1" hangingPunct="1"/>
              <a:t>1</a:t>
            </a:fld>
            <a:endParaRPr lang="en-US" altLang="zh-CN"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4114800"/>
          </a:xfrm>
          <a:noFill/>
        </p:spPr>
        <p:txBody>
          <a:bodyPr/>
          <a:lstStyle/>
          <a:p>
            <a:pPr eaLnBrk="1" hangingPunct="1"/>
            <a:endParaRPr lang="zh-CN" altLang="zh-CN" smtClean="0">
              <a:latin typeface="Arial"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CAEDA46-2BB5-4EC8-9012-BC759C720106}" type="datetime9">
              <a:rPr lang="zh-CN" altLang="en-US" smtClean="0"/>
              <a:t>2019年9月8日星期日9时4分45秒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71559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4368191-3319-47FD-BF5E-6A7BE11783AA}" type="datetime9">
              <a:rPr lang="zh-CN" altLang="en-US" smtClean="0"/>
              <a:t>2019年9月8日星期日9时4分45秒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081743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54D7C3C-16ED-42E7-AC86-4030E515D9C4}" type="datetime9">
              <a:rPr lang="zh-CN" altLang="en-US" smtClean="0"/>
              <a:t>2019年9月8日星期日9时4分45秒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11223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BD9CE73-BD6D-4437-9C0D-2203170990E8}" type="datetime9">
              <a:rPr lang="zh-CN" altLang="en-US" smtClean="0"/>
              <a:t>2019年9月8日星期日9时4分45秒</a:t>
            </a:fld>
            <a:endParaRPr lang="zh-CN" altLang="en-US"/>
          </a:p>
        </p:txBody>
      </p:sp>
      <p:sp>
        <p:nvSpPr>
          <p:cNvPr id="6" name="页脚占位符 5"/>
          <p:cNvSpPr>
            <a:spLocks noGrp="1"/>
          </p:cNvSpPr>
          <p:nvPr>
            <p:ph type="ftr" sz="quarter" idx="11"/>
          </p:nvPr>
        </p:nvSpPr>
        <p:spPr/>
        <p:txBody>
          <a:bodyPr/>
          <a:lstStyle/>
          <a:p>
            <a:r>
              <a:rPr lang="en-US" altLang="zh-CN" smtClean="0"/>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40800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A189301-F635-41B6-BB32-56910E770664}" type="datetime9">
              <a:rPr lang="zh-CN" altLang="en-US" smtClean="0"/>
              <a:t>2019年9月8日星期日9时4分45秒</a:t>
            </a:fld>
            <a:endParaRPr lang="zh-CN" altLang="en-US"/>
          </a:p>
        </p:txBody>
      </p:sp>
      <p:sp>
        <p:nvSpPr>
          <p:cNvPr id="8" name="页脚占位符 7"/>
          <p:cNvSpPr>
            <a:spLocks noGrp="1"/>
          </p:cNvSpPr>
          <p:nvPr>
            <p:ph type="ftr" sz="quarter" idx="11"/>
          </p:nvPr>
        </p:nvSpPr>
        <p:spPr/>
        <p:txBody>
          <a:bodyPr/>
          <a:lstStyle/>
          <a:p>
            <a:r>
              <a:rPr lang="en-US" altLang="zh-CN" smtClean="0"/>
              <a:t>HappyYou</a:t>
            </a:r>
            <a:endParaRPr lang="zh-CN" altLang="en-US"/>
          </a:p>
        </p:txBody>
      </p:sp>
      <p:sp>
        <p:nvSpPr>
          <p:cNvPr id="9" name="灯片编号占位符 8"/>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24134366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F36D5A8-E476-431C-9077-B753C1808D4D}" type="datetime9">
              <a:rPr lang="zh-CN" altLang="en-US" smtClean="0"/>
              <a:t>2019年9月8日星期日9时4分45秒</a:t>
            </a:fld>
            <a:endParaRPr lang="zh-CN" altLang="en-US"/>
          </a:p>
        </p:txBody>
      </p:sp>
      <p:sp>
        <p:nvSpPr>
          <p:cNvPr id="4" name="页脚占位符 3"/>
          <p:cNvSpPr>
            <a:spLocks noGrp="1"/>
          </p:cNvSpPr>
          <p:nvPr>
            <p:ph type="ftr" sz="quarter" idx="11"/>
          </p:nvPr>
        </p:nvSpPr>
        <p:spPr/>
        <p:txBody>
          <a:bodyPr/>
          <a:lstStyle/>
          <a:p>
            <a:r>
              <a:rPr lang="en-US" altLang="zh-CN" smtClean="0"/>
              <a:t>HappyYou</a:t>
            </a:r>
            <a:endParaRPr lang="zh-CN" altLang="en-US"/>
          </a:p>
        </p:txBody>
      </p:sp>
      <p:sp>
        <p:nvSpPr>
          <p:cNvPr id="5" name="灯片编号占位符 4"/>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75662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EF98C7-F27E-4A74-B5A7-A36C4A68ADCF}" type="datetime9">
              <a:rPr lang="zh-CN" altLang="en-US" smtClean="0"/>
              <a:t>2019年9月8日星期日9时4分45秒</a:t>
            </a:fld>
            <a:endParaRPr lang="zh-CN" altLang="en-US"/>
          </a:p>
        </p:txBody>
      </p:sp>
      <p:sp>
        <p:nvSpPr>
          <p:cNvPr id="3" name="页脚占位符 2"/>
          <p:cNvSpPr>
            <a:spLocks noGrp="1"/>
          </p:cNvSpPr>
          <p:nvPr>
            <p:ph type="ftr" sz="quarter" idx="11"/>
          </p:nvPr>
        </p:nvSpPr>
        <p:spPr/>
        <p:txBody>
          <a:bodyPr/>
          <a:lstStyle/>
          <a:p>
            <a:r>
              <a:rPr lang="en-US" altLang="zh-CN" smtClean="0"/>
              <a:t>HappyYou</a:t>
            </a:r>
            <a:endParaRPr lang="zh-CN" altLang="en-US"/>
          </a:p>
        </p:txBody>
      </p:sp>
      <p:sp>
        <p:nvSpPr>
          <p:cNvPr id="4" name="灯片编号占位符 3"/>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984508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CA1B540-AA0A-447C-BB96-BDDE3D2BED05}" type="datetime9">
              <a:rPr lang="zh-CN" altLang="en-US" smtClean="0"/>
              <a:t>2019年9月8日星期日9时4分45秒</a:t>
            </a:fld>
            <a:endParaRPr lang="zh-CN" altLang="en-US"/>
          </a:p>
        </p:txBody>
      </p:sp>
      <p:sp>
        <p:nvSpPr>
          <p:cNvPr id="6" name="页脚占位符 5"/>
          <p:cNvSpPr>
            <a:spLocks noGrp="1"/>
          </p:cNvSpPr>
          <p:nvPr>
            <p:ph type="ftr" sz="quarter" idx="11"/>
          </p:nvPr>
        </p:nvSpPr>
        <p:spPr/>
        <p:txBody>
          <a:bodyPr/>
          <a:lstStyle/>
          <a:p>
            <a:r>
              <a:rPr lang="en-US" altLang="zh-CN" smtClean="0"/>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11593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0770D13-407D-4205-B354-963C93A20415}" type="datetime9">
              <a:rPr lang="zh-CN" altLang="en-US" smtClean="0"/>
              <a:t>2019年9月8日星期日9时4分45秒</a:t>
            </a:fld>
            <a:endParaRPr lang="zh-CN" altLang="en-US"/>
          </a:p>
        </p:txBody>
      </p:sp>
      <p:sp>
        <p:nvSpPr>
          <p:cNvPr id="6" name="页脚占位符 5"/>
          <p:cNvSpPr>
            <a:spLocks noGrp="1"/>
          </p:cNvSpPr>
          <p:nvPr>
            <p:ph type="ftr" sz="quarter" idx="11"/>
          </p:nvPr>
        </p:nvSpPr>
        <p:spPr/>
        <p:txBody>
          <a:bodyPr/>
          <a:lstStyle/>
          <a:p>
            <a:r>
              <a:rPr lang="en-US" altLang="zh-CN" smtClean="0"/>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126273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E6DFC46-6E58-4061-98CE-5A65E96B970E}" type="datetime9">
              <a:rPr lang="zh-CN" altLang="en-US" smtClean="0"/>
              <a:t>2019年9月8日星期日9时4分45秒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39694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CA0A9D5-11A9-4D6C-A196-5D024DE08886}" type="datetime9">
              <a:rPr lang="zh-CN" altLang="en-US" smtClean="0"/>
              <a:t>2019年9月8日星期日9时4分45秒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4000446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706090"/>
          </a:xfrm>
        </p:spPr>
        <p:txBody>
          <a:bodyPr>
            <a:normAutofit/>
          </a:bodyPr>
          <a:lstStyle>
            <a:lvl1pPr>
              <a:defRPr sz="3600" b="0">
                <a:latin typeface="微软雅黑" pitchFamily="34" charset="-122"/>
                <a:ea typeface="微软雅黑" pitchFamily="34" charset="-122"/>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124744"/>
            <a:ext cx="8229600" cy="5112568"/>
          </a:xfrm>
        </p:spPr>
        <p:txBody>
          <a:bodyPr/>
          <a:lstStyle>
            <a:lvl1pPr marL="342900" indent="-342900">
              <a:lnSpc>
                <a:spcPts val="3600"/>
              </a:lnSpc>
              <a:spcBef>
                <a:spcPts val="0"/>
              </a:spcBef>
              <a:buFont typeface="Wingdings" pitchFamily="2" charset="2"/>
              <a:buChar char="n"/>
              <a:defRPr sz="2400">
                <a:latin typeface="微软雅黑" pitchFamily="34" charset="-122"/>
                <a:ea typeface="微软雅黑" pitchFamily="34" charset="-122"/>
              </a:defRPr>
            </a:lvl1pPr>
            <a:lvl2pPr marL="742950" indent="-285750">
              <a:lnSpc>
                <a:spcPts val="3600"/>
              </a:lnSpc>
              <a:spcBef>
                <a:spcPts val="0"/>
              </a:spcBef>
              <a:buFont typeface="Wingdings" pitchFamily="2" charset="2"/>
              <a:buChar char="p"/>
              <a:defRPr sz="2200">
                <a:latin typeface="微软雅黑" pitchFamily="34" charset="-122"/>
                <a:ea typeface="微软雅黑" pitchFamily="34" charset="-122"/>
              </a:defRPr>
            </a:lvl2pPr>
            <a:lvl3pPr marL="1143000" indent="-228600">
              <a:lnSpc>
                <a:spcPts val="3600"/>
              </a:lnSpc>
              <a:spcBef>
                <a:spcPts val="0"/>
              </a:spcBef>
              <a:buFont typeface="Wingdings" pitchFamily="2" charset="2"/>
              <a:buChar char="l"/>
              <a:defRPr sz="2000">
                <a:latin typeface="微软雅黑" pitchFamily="34" charset="-122"/>
                <a:ea typeface="微软雅黑" pitchFamily="34" charset="-122"/>
              </a:defRPr>
            </a:lvl3pPr>
            <a:lvl4pPr marL="1600200" indent="-228600">
              <a:lnSpc>
                <a:spcPts val="3600"/>
              </a:lnSpc>
              <a:spcBef>
                <a:spcPts val="0"/>
              </a:spcBef>
              <a:buFont typeface="Wingdings" pitchFamily="2" charset="2"/>
              <a:buChar char="u"/>
              <a:defRPr sz="1800">
                <a:latin typeface="微软雅黑" pitchFamily="34" charset="-122"/>
                <a:ea typeface="微软雅黑" pitchFamily="34" charset="-122"/>
              </a:defRPr>
            </a:lvl4pPr>
            <a:lvl5pPr marL="2057400" indent="-228600">
              <a:lnSpc>
                <a:spcPts val="3600"/>
              </a:lnSpc>
              <a:spcBef>
                <a:spcPts val="0"/>
              </a:spcBef>
              <a:buFont typeface="Wingdings" pitchFamily="2" charset="2"/>
              <a:buChar char="Ø"/>
              <a:defRPr sz="1600">
                <a:latin typeface="微软雅黑" pitchFamily="34" charset="-122"/>
                <a:ea typeface="微软雅黑"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00" y="6356350"/>
            <a:ext cx="2746648" cy="365125"/>
          </a:xfrm>
        </p:spPr>
        <p:txBody>
          <a:bodyPr/>
          <a:lstStyle>
            <a:lvl1pPr>
              <a:defRPr>
                <a:latin typeface="微软雅黑" pitchFamily="34" charset="-122"/>
                <a:ea typeface="微软雅黑" pitchFamily="34" charset="-122"/>
              </a:defRPr>
            </a:lvl1pPr>
          </a:lstStyle>
          <a:p>
            <a:fld id="{75431D66-8930-4DED-9A80-B7A017F716B4}" type="datetime9">
              <a:rPr lang="zh-CN" altLang="en-US" smtClean="0"/>
              <a:t>2019年9月8日星期日9时4分45秒</a:t>
            </a:fld>
            <a:endParaRPr lang="zh-CN" altLang="en-US" dirty="0"/>
          </a:p>
        </p:txBody>
      </p:sp>
      <p:sp>
        <p:nvSpPr>
          <p:cNvPr id="5" name="页脚占位符 4"/>
          <p:cNvSpPr>
            <a:spLocks noGrp="1"/>
          </p:cNvSpPr>
          <p:nvPr>
            <p:ph type="ftr" sz="quarter" idx="11"/>
          </p:nvPr>
        </p:nvSpPr>
        <p:spPr>
          <a:xfrm>
            <a:off x="3923928" y="6381328"/>
            <a:ext cx="2239888" cy="365125"/>
          </a:xfrm>
        </p:spPr>
        <p:txBody>
          <a:bodyPr/>
          <a:lstStyle>
            <a:lvl1pPr>
              <a:defRPr>
                <a:latin typeface="微软雅黑" pitchFamily="34" charset="-122"/>
                <a:ea typeface="微软雅黑" pitchFamily="34" charset="-122"/>
              </a:defRPr>
            </a:lvl1p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a:xfrm>
            <a:off x="6553200" y="6356350"/>
            <a:ext cx="2051248" cy="365125"/>
          </a:xfrm>
        </p:spPr>
        <p:txBody>
          <a:bodyPr/>
          <a:lstStyle>
            <a:lvl1pPr algn="r">
              <a:defRPr>
                <a:latin typeface="微软雅黑" pitchFamily="34" charset="-122"/>
                <a:ea typeface="微软雅黑" pitchFamily="34" charset="-122"/>
              </a:defRPr>
            </a:lvl1pPr>
          </a:lstStyle>
          <a:p>
            <a:fld id="{C46E5E69-9A6D-4AF8-BC2D-C556A9893D8F}" type="slidenum">
              <a:rPr lang="zh-CN" altLang="en-US" smtClean="0"/>
              <a:pPr/>
              <a:t>‹#›</a:t>
            </a:fld>
            <a:endParaRPr lang="zh-CN" altLang="en-US" dirty="0"/>
          </a:p>
        </p:txBody>
      </p:sp>
    </p:spTree>
    <p:extLst>
      <p:ext uri="{BB962C8B-B14F-4D97-AF65-F5344CB8AC3E}">
        <p14:creationId xmlns:p14="http://schemas.microsoft.com/office/powerpoint/2010/main" val="63234650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818656" cy="365125"/>
          </a:xfrm>
          <a:prstGeom prst="rect">
            <a:avLst/>
          </a:prstGeom>
        </p:spPr>
        <p:txBody>
          <a:bodyPr vert="horz" lIns="91440" tIns="45720" rIns="91440" bIns="45720" rtlCol="0" anchor="ctr"/>
          <a:lstStyle>
            <a:lvl1pPr algn="l">
              <a:defRPr sz="1200">
                <a:solidFill>
                  <a:schemeClr val="tx1">
                    <a:tint val="75000"/>
                  </a:schemeClr>
                </a:solidFill>
                <a:latin typeface="微软雅黑" pitchFamily="34" charset="-122"/>
                <a:ea typeface="微软雅黑" pitchFamily="34" charset="-122"/>
              </a:defRPr>
            </a:lvl1pPr>
          </a:lstStyle>
          <a:p>
            <a:fld id="{F24D6A16-980D-4A5B-9893-3EB1E3732A36}" type="datetime9">
              <a:rPr lang="zh-CN" altLang="en-US" smtClean="0"/>
              <a:t>2019年9月8日星期日9时4分45秒</a:t>
            </a:fld>
            <a:endParaRPr lang="zh-CN" altLang="en-US" dirty="0"/>
          </a:p>
        </p:txBody>
      </p:sp>
      <p:sp>
        <p:nvSpPr>
          <p:cNvPr id="5" name="页脚占位符 4"/>
          <p:cNvSpPr>
            <a:spLocks noGrp="1"/>
          </p:cNvSpPr>
          <p:nvPr>
            <p:ph type="ftr" sz="quarter" idx="3"/>
          </p:nvPr>
        </p:nvSpPr>
        <p:spPr>
          <a:xfrm>
            <a:off x="3635896" y="6356350"/>
            <a:ext cx="2383904" cy="365125"/>
          </a:xfrm>
          <a:prstGeom prst="rect">
            <a:avLst/>
          </a:prstGeom>
        </p:spPr>
        <p:txBody>
          <a:bodyPr vert="horz" lIns="91440" tIns="45720" rIns="91440" bIns="45720" rtlCol="0" anchor="ctr"/>
          <a:lstStyle>
            <a:lvl1pPr algn="ctr">
              <a:defRPr sz="1200">
                <a:solidFill>
                  <a:schemeClr val="tx1">
                    <a:tint val="75000"/>
                  </a:schemeClr>
                </a:solidFill>
                <a:latin typeface="微软雅黑" pitchFamily="34" charset="-122"/>
                <a:ea typeface="微软雅黑" pitchFamily="34" charset="-122"/>
              </a:defRPr>
            </a:lvl1pPr>
          </a:lstStyle>
          <a:p>
            <a:r>
              <a:rPr lang="en-US" altLang="zh-CN" smtClean="0"/>
              <a:t>HappyYou</a:t>
            </a:r>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itchFamily="34" charset="-122"/>
                <a:ea typeface="微软雅黑" pitchFamily="34" charset="-122"/>
              </a:defRPr>
            </a:lvl1pPr>
          </a:lstStyle>
          <a:p>
            <a:fld id="{87607A0D-40CE-4FFA-B03A-EB935FC429F2}" type="slidenum">
              <a:rPr lang="zh-CN" altLang="en-US" smtClean="0"/>
              <a:t>‹#›</a:t>
            </a:fld>
            <a:endParaRPr lang="zh-CN" altLang="en-US" dirty="0"/>
          </a:p>
        </p:txBody>
      </p:sp>
    </p:spTree>
    <p:extLst>
      <p:ext uri="{BB962C8B-B14F-4D97-AF65-F5344CB8AC3E}">
        <p14:creationId xmlns:p14="http://schemas.microsoft.com/office/powerpoint/2010/main" val="1764261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p:txStyles>
    <p:titleStyle>
      <a:lvl1pPr algn="ctr" defTabSz="914400" rtl="0" eaLnBrk="1" latinLnBrk="0" hangingPunct="1">
        <a:spcBef>
          <a:spcPct val="0"/>
        </a:spcBef>
        <a:buNone/>
        <a:defRPr sz="3600" kern="120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7.bin"/><Relationship Id="rId5" Type="http://schemas.openxmlformats.org/officeDocument/2006/relationships/oleObject" Target="../embeddings/oleObject2.bin"/><Relationship Id="rId10" Type="http://schemas.openxmlformats.org/officeDocument/2006/relationships/oleObject" Target="../embeddings/oleObject6.bin"/><Relationship Id="rId4" Type="http://schemas.openxmlformats.org/officeDocument/2006/relationships/image" Target="../media/image2.wmf"/><Relationship Id="rId9"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2.bin"/><Relationship Id="rId7"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image" Target="../media/image3.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6.wmf"/><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image" Target="../media/image3.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7.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7.wmf"/><Relationship Id="rId5" Type="http://schemas.openxmlformats.org/officeDocument/2006/relationships/oleObject" Target="../embeddings/oleObject23.bin"/><Relationship Id="rId4" Type="http://schemas.openxmlformats.org/officeDocument/2006/relationships/image" Target="../media/image8.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7.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7.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2.xml"/><Relationship Id="rId1" Type="http://schemas.openxmlformats.org/officeDocument/2006/relationships/vmlDrawing" Target="../drawings/vmlDrawing12.vml"/><Relationship Id="rId4" Type="http://schemas.openxmlformats.org/officeDocument/2006/relationships/image" Target="../media/image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2.xml"/><Relationship Id="rId1" Type="http://schemas.openxmlformats.org/officeDocument/2006/relationships/vmlDrawing" Target="../drawings/vmlDrawing13.vml"/><Relationship Id="rId5" Type="http://schemas.openxmlformats.org/officeDocument/2006/relationships/oleObject" Target="../embeddings/oleObject28.bin"/><Relationship Id="rId4" Type="http://schemas.openxmlformats.org/officeDocument/2006/relationships/image" Target="../media/image7.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2.xml"/><Relationship Id="rId1" Type="http://schemas.openxmlformats.org/officeDocument/2006/relationships/vmlDrawing" Target="../drawings/vmlDrawing14.vml"/><Relationship Id="rId4" Type="http://schemas.openxmlformats.org/officeDocument/2006/relationships/image" Target="../media/image7.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2.xml"/><Relationship Id="rId1" Type="http://schemas.openxmlformats.org/officeDocument/2006/relationships/vmlDrawing" Target="../drawings/vmlDrawing15.vml"/><Relationship Id="rId4" Type="http://schemas.openxmlformats.org/officeDocument/2006/relationships/image" Target="../media/image7.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oleObject" Target="../embeddings/oleObject38.bin"/><Relationship Id="rId3" Type="http://schemas.openxmlformats.org/officeDocument/2006/relationships/oleObject" Target="../embeddings/oleObject31.bin"/><Relationship Id="rId7" Type="http://schemas.openxmlformats.org/officeDocument/2006/relationships/image" Target="../media/image10.wmf"/><Relationship Id="rId12" Type="http://schemas.openxmlformats.org/officeDocument/2006/relationships/oleObject" Target="../embeddings/oleObject37.bin"/><Relationship Id="rId2" Type="http://schemas.openxmlformats.org/officeDocument/2006/relationships/slideLayout" Target="../slideLayouts/slideLayout12.xml"/><Relationship Id="rId1" Type="http://schemas.openxmlformats.org/officeDocument/2006/relationships/vmlDrawing" Target="../drawings/vmlDrawing16.vml"/><Relationship Id="rId6" Type="http://schemas.openxmlformats.org/officeDocument/2006/relationships/oleObject" Target="../embeddings/oleObject33.bin"/><Relationship Id="rId11" Type="http://schemas.openxmlformats.org/officeDocument/2006/relationships/oleObject" Target="../embeddings/oleObject36.bin"/><Relationship Id="rId5" Type="http://schemas.openxmlformats.org/officeDocument/2006/relationships/oleObject" Target="../embeddings/oleObject32.bin"/><Relationship Id="rId10" Type="http://schemas.openxmlformats.org/officeDocument/2006/relationships/oleObject" Target="../embeddings/oleObject35.bin"/><Relationship Id="rId4" Type="http://schemas.openxmlformats.org/officeDocument/2006/relationships/image" Target="../media/image9.wmf"/><Relationship Id="rId9" Type="http://schemas.openxmlformats.org/officeDocument/2006/relationships/image" Target="../media/image11.wmf"/><Relationship Id="rId14" Type="http://schemas.openxmlformats.org/officeDocument/2006/relationships/image" Target="../media/image7.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2.xml"/><Relationship Id="rId1" Type="http://schemas.openxmlformats.org/officeDocument/2006/relationships/vmlDrawing" Target="../drawings/vmlDrawing17.vml"/><Relationship Id="rId6" Type="http://schemas.openxmlformats.org/officeDocument/2006/relationships/oleObject" Target="../embeddings/oleObject41.bin"/><Relationship Id="rId5" Type="http://schemas.openxmlformats.org/officeDocument/2006/relationships/oleObject" Target="../embeddings/oleObject40.bin"/><Relationship Id="rId4" Type="http://schemas.openxmlformats.org/officeDocument/2006/relationships/image" Target="../media/image10.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2.xml"/><Relationship Id="rId1" Type="http://schemas.openxmlformats.org/officeDocument/2006/relationships/vmlDrawing" Target="../drawings/vmlDrawing18.vml"/><Relationship Id="rId6" Type="http://schemas.openxmlformats.org/officeDocument/2006/relationships/oleObject" Target="../embeddings/oleObject44.bin"/><Relationship Id="rId5" Type="http://schemas.openxmlformats.org/officeDocument/2006/relationships/oleObject" Target="../embeddings/oleObject43.bin"/><Relationship Id="rId4" Type="http://schemas.openxmlformats.org/officeDocument/2006/relationships/image" Target="../media/image10.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oleObject" Target="../embeddings/oleObject52.bin"/><Relationship Id="rId18" Type="http://schemas.openxmlformats.org/officeDocument/2006/relationships/oleObject" Target="../embeddings/oleObject56.bin"/><Relationship Id="rId3" Type="http://schemas.openxmlformats.org/officeDocument/2006/relationships/oleObject" Target="../embeddings/oleObject45.bin"/><Relationship Id="rId21" Type="http://schemas.openxmlformats.org/officeDocument/2006/relationships/oleObject" Target="../embeddings/oleObject58.bin"/><Relationship Id="rId7" Type="http://schemas.openxmlformats.org/officeDocument/2006/relationships/image" Target="../media/image9.wmf"/><Relationship Id="rId12" Type="http://schemas.openxmlformats.org/officeDocument/2006/relationships/oleObject" Target="../embeddings/oleObject51.bin"/><Relationship Id="rId17" Type="http://schemas.openxmlformats.org/officeDocument/2006/relationships/oleObject" Target="../embeddings/oleObject55.bin"/><Relationship Id="rId25" Type="http://schemas.openxmlformats.org/officeDocument/2006/relationships/oleObject" Target="../embeddings/oleObject61.bin"/><Relationship Id="rId2" Type="http://schemas.openxmlformats.org/officeDocument/2006/relationships/slideLayout" Target="../slideLayouts/slideLayout12.xml"/><Relationship Id="rId16" Type="http://schemas.openxmlformats.org/officeDocument/2006/relationships/oleObject" Target="../embeddings/oleObject54.bin"/><Relationship Id="rId20" Type="http://schemas.openxmlformats.org/officeDocument/2006/relationships/oleObject" Target="../embeddings/oleObject57.bin"/><Relationship Id="rId1" Type="http://schemas.openxmlformats.org/officeDocument/2006/relationships/vmlDrawing" Target="../drawings/vmlDrawing19.vml"/><Relationship Id="rId6" Type="http://schemas.openxmlformats.org/officeDocument/2006/relationships/oleObject" Target="../embeddings/oleObject47.bin"/><Relationship Id="rId11" Type="http://schemas.openxmlformats.org/officeDocument/2006/relationships/oleObject" Target="../embeddings/oleObject50.bin"/><Relationship Id="rId24" Type="http://schemas.openxmlformats.org/officeDocument/2006/relationships/image" Target="../media/image14.wmf"/><Relationship Id="rId5" Type="http://schemas.openxmlformats.org/officeDocument/2006/relationships/oleObject" Target="../embeddings/oleObject46.bin"/><Relationship Id="rId15" Type="http://schemas.openxmlformats.org/officeDocument/2006/relationships/oleObject" Target="../embeddings/oleObject53.bin"/><Relationship Id="rId23" Type="http://schemas.openxmlformats.org/officeDocument/2006/relationships/oleObject" Target="../embeddings/oleObject60.bin"/><Relationship Id="rId10" Type="http://schemas.openxmlformats.org/officeDocument/2006/relationships/oleObject" Target="../embeddings/oleObject49.bin"/><Relationship Id="rId19" Type="http://schemas.openxmlformats.org/officeDocument/2006/relationships/image" Target="../media/image13.wmf"/><Relationship Id="rId4" Type="http://schemas.openxmlformats.org/officeDocument/2006/relationships/image" Target="../media/image11.wmf"/><Relationship Id="rId9" Type="http://schemas.openxmlformats.org/officeDocument/2006/relationships/image" Target="../media/image12.wmf"/><Relationship Id="rId14" Type="http://schemas.openxmlformats.org/officeDocument/2006/relationships/image" Target="../media/image10.wmf"/><Relationship Id="rId22" Type="http://schemas.openxmlformats.org/officeDocument/2006/relationships/oleObject" Target="../embeddings/oleObject59.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oleObject" Target="../embeddings/oleObject69.bin"/><Relationship Id="rId18" Type="http://schemas.openxmlformats.org/officeDocument/2006/relationships/oleObject" Target="../embeddings/oleObject72.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oleObject" Target="../embeddings/oleObject68.bin"/><Relationship Id="rId17" Type="http://schemas.openxmlformats.org/officeDocument/2006/relationships/image" Target="../media/image17.wmf"/><Relationship Id="rId2" Type="http://schemas.openxmlformats.org/officeDocument/2006/relationships/slideLayout" Target="../slideLayouts/slideLayout12.xml"/><Relationship Id="rId16" Type="http://schemas.openxmlformats.org/officeDocument/2006/relationships/oleObject" Target="../embeddings/oleObject71.bin"/><Relationship Id="rId1" Type="http://schemas.openxmlformats.org/officeDocument/2006/relationships/vmlDrawing" Target="../drawings/vmlDrawing20.vml"/><Relationship Id="rId6" Type="http://schemas.openxmlformats.org/officeDocument/2006/relationships/image" Target="../media/image15.wmf"/><Relationship Id="rId11" Type="http://schemas.openxmlformats.org/officeDocument/2006/relationships/oleObject" Target="../embeddings/oleObject67.bin"/><Relationship Id="rId5" Type="http://schemas.openxmlformats.org/officeDocument/2006/relationships/oleObject" Target="../embeddings/oleObject63.bin"/><Relationship Id="rId15" Type="http://schemas.openxmlformats.org/officeDocument/2006/relationships/image" Target="../media/image16.wmf"/><Relationship Id="rId10" Type="http://schemas.openxmlformats.org/officeDocument/2006/relationships/image" Target="../media/image10.wmf"/><Relationship Id="rId19"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66.bin"/><Relationship Id="rId14" Type="http://schemas.openxmlformats.org/officeDocument/2006/relationships/oleObject" Target="../embeddings/oleObject70.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12.xml"/><Relationship Id="rId1" Type="http://schemas.openxmlformats.org/officeDocument/2006/relationships/vmlDrawing" Target="../drawings/vmlDrawing21.vml"/><Relationship Id="rId6" Type="http://schemas.openxmlformats.org/officeDocument/2006/relationships/oleObject" Target="../embeddings/oleObject75.bin"/><Relationship Id="rId5" Type="http://schemas.openxmlformats.org/officeDocument/2006/relationships/oleObject" Target="../embeddings/oleObject74.bin"/><Relationship Id="rId4" Type="http://schemas.openxmlformats.org/officeDocument/2006/relationships/image" Target="../media/image11.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12.xml"/><Relationship Id="rId1" Type="http://schemas.openxmlformats.org/officeDocument/2006/relationships/vmlDrawing" Target="../drawings/vmlDrawing22.vml"/><Relationship Id="rId4" Type="http://schemas.openxmlformats.org/officeDocument/2006/relationships/image" Target="../media/image18.wmf"/></Relationships>
</file>

<file path=ppt/slides/_rels/slide52.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84.bin"/><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oleObject" Target="../embeddings/oleObject83.bin"/><Relationship Id="rId2" Type="http://schemas.openxmlformats.org/officeDocument/2006/relationships/slideLayout" Target="../slideLayouts/slideLayout12.xml"/><Relationship Id="rId1" Type="http://schemas.openxmlformats.org/officeDocument/2006/relationships/vmlDrawing" Target="../drawings/vmlDrawing23.vml"/><Relationship Id="rId6" Type="http://schemas.openxmlformats.org/officeDocument/2006/relationships/image" Target="../media/image11.wmf"/><Relationship Id="rId11" Type="http://schemas.openxmlformats.org/officeDocument/2006/relationships/oleObject" Target="../embeddings/oleObject82.bin"/><Relationship Id="rId5" Type="http://schemas.openxmlformats.org/officeDocument/2006/relationships/oleObject" Target="../embeddings/oleObject78.bin"/><Relationship Id="rId10" Type="http://schemas.openxmlformats.org/officeDocument/2006/relationships/oleObject" Target="../embeddings/oleObject81.bin"/><Relationship Id="rId4" Type="http://schemas.openxmlformats.org/officeDocument/2006/relationships/image" Target="../media/image19.wmf"/><Relationship Id="rId9" Type="http://schemas.openxmlformats.org/officeDocument/2006/relationships/oleObject" Target="../embeddings/oleObject80.bin"/></Relationships>
</file>

<file path=ppt/slides/_rels/slide53.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90.bin"/><Relationship Id="rId18" Type="http://schemas.openxmlformats.org/officeDocument/2006/relationships/oleObject" Target="../embeddings/oleObject93.bin"/><Relationship Id="rId26" Type="http://schemas.openxmlformats.org/officeDocument/2006/relationships/oleObject" Target="../embeddings/oleObject97.bin"/><Relationship Id="rId3" Type="http://schemas.openxmlformats.org/officeDocument/2006/relationships/oleObject" Target="../embeddings/oleObject85.bin"/><Relationship Id="rId21" Type="http://schemas.openxmlformats.org/officeDocument/2006/relationships/image" Target="../media/image29.wmf"/><Relationship Id="rId7" Type="http://schemas.openxmlformats.org/officeDocument/2006/relationships/oleObject" Target="../embeddings/oleObject87.bin"/><Relationship Id="rId12" Type="http://schemas.openxmlformats.org/officeDocument/2006/relationships/image" Target="../media/image25.wmf"/><Relationship Id="rId17" Type="http://schemas.openxmlformats.org/officeDocument/2006/relationships/oleObject" Target="../embeddings/oleObject92.bin"/><Relationship Id="rId25" Type="http://schemas.openxmlformats.org/officeDocument/2006/relationships/image" Target="../media/image31.wmf"/><Relationship Id="rId2" Type="http://schemas.openxmlformats.org/officeDocument/2006/relationships/slideLayout" Target="../slideLayouts/slideLayout12.xml"/><Relationship Id="rId16" Type="http://schemas.openxmlformats.org/officeDocument/2006/relationships/image" Target="../media/image27.wmf"/><Relationship Id="rId20" Type="http://schemas.openxmlformats.org/officeDocument/2006/relationships/oleObject" Target="../embeddings/oleObject94.bin"/><Relationship Id="rId29" Type="http://schemas.openxmlformats.org/officeDocument/2006/relationships/oleObject" Target="../embeddings/oleObject99.bin"/><Relationship Id="rId1" Type="http://schemas.openxmlformats.org/officeDocument/2006/relationships/vmlDrawing" Target="../drawings/vmlDrawing24.vml"/><Relationship Id="rId6" Type="http://schemas.openxmlformats.org/officeDocument/2006/relationships/image" Target="../media/image22.wmf"/><Relationship Id="rId11" Type="http://schemas.openxmlformats.org/officeDocument/2006/relationships/oleObject" Target="../embeddings/oleObject89.bin"/><Relationship Id="rId24" Type="http://schemas.openxmlformats.org/officeDocument/2006/relationships/oleObject" Target="../embeddings/oleObject96.bin"/><Relationship Id="rId32" Type="http://schemas.openxmlformats.org/officeDocument/2006/relationships/oleObject" Target="../embeddings/oleObject101.bin"/><Relationship Id="rId5" Type="http://schemas.openxmlformats.org/officeDocument/2006/relationships/oleObject" Target="../embeddings/oleObject86.bin"/><Relationship Id="rId15" Type="http://schemas.openxmlformats.org/officeDocument/2006/relationships/oleObject" Target="../embeddings/oleObject91.bin"/><Relationship Id="rId23" Type="http://schemas.openxmlformats.org/officeDocument/2006/relationships/image" Target="../media/image30.wmf"/><Relationship Id="rId28" Type="http://schemas.openxmlformats.org/officeDocument/2006/relationships/oleObject" Target="../embeddings/oleObject98.bin"/><Relationship Id="rId10" Type="http://schemas.openxmlformats.org/officeDocument/2006/relationships/image" Target="../media/image24.wmf"/><Relationship Id="rId19" Type="http://schemas.openxmlformats.org/officeDocument/2006/relationships/image" Target="../media/image28.wmf"/><Relationship Id="rId31" Type="http://schemas.openxmlformats.org/officeDocument/2006/relationships/oleObject" Target="../embeddings/oleObject100.bin"/><Relationship Id="rId4" Type="http://schemas.openxmlformats.org/officeDocument/2006/relationships/image" Target="../media/image21.wmf"/><Relationship Id="rId9" Type="http://schemas.openxmlformats.org/officeDocument/2006/relationships/oleObject" Target="../embeddings/oleObject88.bin"/><Relationship Id="rId14" Type="http://schemas.openxmlformats.org/officeDocument/2006/relationships/image" Target="../media/image26.wmf"/><Relationship Id="rId22" Type="http://schemas.openxmlformats.org/officeDocument/2006/relationships/oleObject" Target="../embeddings/oleObject95.bin"/><Relationship Id="rId27" Type="http://schemas.openxmlformats.org/officeDocument/2006/relationships/image" Target="../media/image32.wmf"/><Relationship Id="rId30" Type="http://schemas.openxmlformats.org/officeDocument/2006/relationships/image" Target="../media/image33.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12.xml"/><Relationship Id="rId1" Type="http://schemas.openxmlformats.org/officeDocument/2006/relationships/vmlDrawing" Target="../drawings/vmlDrawing25.vml"/><Relationship Id="rId4" Type="http://schemas.openxmlformats.org/officeDocument/2006/relationships/image" Target="../media/image34.wmf"/></Relationships>
</file>

<file path=ppt/slides/_rels/slide55.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108.bin"/><Relationship Id="rId18" Type="http://schemas.openxmlformats.org/officeDocument/2006/relationships/image" Target="../media/image41.wmf"/><Relationship Id="rId26" Type="http://schemas.openxmlformats.org/officeDocument/2006/relationships/image" Target="../media/image44.wmf"/><Relationship Id="rId39" Type="http://schemas.openxmlformats.org/officeDocument/2006/relationships/image" Target="../media/image50.wmf"/><Relationship Id="rId3" Type="http://schemas.openxmlformats.org/officeDocument/2006/relationships/oleObject" Target="../embeddings/oleObject103.bin"/><Relationship Id="rId21" Type="http://schemas.openxmlformats.org/officeDocument/2006/relationships/oleObject" Target="../embeddings/oleObject112.bin"/><Relationship Id="rId34" Type="http://schemas.openxmlformats.org/officeDocument/2006/relationships/oleObject" Target="../embeddings/oleObject120.bin"/><Relationship Id="rId42" Type="http://schemas.openxmlformats.org/officeDocument/2006/relationships/oleObject" Target="../embeddings/oleObject124.bin"/><Relationship Id="rId47" Type="http://schemas.openxmlformats.org/officeDocument/2006/relationships/image" Target="../media/image53.wmf"/><Relationship Id="rId7" Type="http://schemas.openxmlformats.org/officeDocument/2006/relationships/oleObject" Target="../embeddings/oleObject105.bin"/><Relationship Id="rId12" Type="http://schemas.openxmlformats.org/officeDocument/2006/relationships/image" Target="../media/image38.wmf"/><Relationship Id="rId17" Type="http://schemas.openxmlformats.org/officeDocument/2006/relationships/oleObject" Target="../embeddings/oleObject110.bin"/><Relationship Id="rId25" Type="http://schemas.openxmlformats.org/officeDocument/2006/relationships/oleObject" Target="../embeddings/oleObject115.bin"/><Relationship Id="rId33" Type="http://schemas.openxmlformats.org/officeDocument/2006/relationships/image" Target="../media/image47.wmf"/><Relationship Id="rId38" Type="http://schemas.openxmlformats.org/officeDocument/2006/relationships/oleObject" Target="../embeddings/oleObject122.bin"/><Relationship Id="rId46" Type="http://schemas.openxmlformats.org/officeDocument/2006/relationships/oleObject" Target="../embeddings/oleObject127.bin"/><Relationship Id="rId2" Type="http://schemas.openxmlformats.org/officeDocument/2006/relationships/slideLayout" Target="../slideLayouts/slideLayout12.xml"/><Relationship Id="rId16" Type="http://schemas.openxmlformats.org/officeDocument/2006/relationships/image" Target="../media/image40.wmf"/><Relationship Id="rId20" Type="http://schemas.openxmlformats.org/officeDocument/2006/relationships/image" Target="../media/image42.wmf"/><Relationship Id="rId29" Type="http://schemas.openxmlformats.org/officeDocument/2006/relationships/oleObject" Target="../embeddings/oleObject117.bin"/><Relationship Id="rId41" Type="http://schemas.openxmlformats.org/officeDocument/2006/relationships/image" Target="../media/image51.wmf"/><Relationship Id="rId1" Type="http://schemas.openxmlformats.org/officeDocument/2006/relationships/vmlDrawing" Target="../drawings/vmlDrawing26.vml"/><Relationship Id="rId6" Type="http://schemas.openxmlformats.org/officeDocument/2006/relationships/image" Target="../media/image35.wmf"/><Relationship Id="rId11" Type="http://schemas.openxmlformats.org/officeDocument/2006/relationships/oleObject" Target="../embeddings/oleObject107.bin"/><Relationship Id="rId24" Type="http://schemas.openxmlformats.org/officeDocument/2006/relationships/oleObject" Target="../embeddings/oleObject114.bin"/><Relationship Id="rId32" Type="http://schemas.openxmlformats.org/officeDocument/2006/relationships/oleObject" Target="../embeddings/oleObject119.bin"/><Relationship Id="rId37" Type="http://schemas.openxmlformats.org/officeDocument/2006/relationships/image" Target="../media/image49.wmf"/><Relationship Id="rId40" Type="http://schemas.openxmlformats.org/officeDocument/2006/relationships/oleObject" Target="../embeddings/oleObject123.bin"/><Relationship Id="rId45" Type="http://schemas.openxmlformats.org/officeDocument/2006/relationships/oleObject" Target="../embeddings/oleObject126.bin"/><Relationship Id="rId5" Type="http://schemas.openxmlformats.org/officeDocument/2006/relationships/oleObject" Target="../embeddings/oleObject104.bin"/><Relationship Id="rId15" Type="http://schemas.openxmlformats.org/officeDocument/2006/relationships/oleObject" Target="../embeddings/oleObject109.bin"/><Relationship Id="rId23" Type="http://schemas.openxmlformats.org/officeDocument/2006/relationships/image" Target="../media/image43.wmf"/><Relationship Id="rId28" Type="http://schemas.openxmlformats.org/officeDocument/2006/relationships/image" Target="../media/image45.wmf"/><Relationship Id="rId36" Type="http://schemas.openxmlformats.org/officeDocument/2006/relationships/oleObject" Target="../embeddings/oleObject121.bin"/><Relationship Id="rId10" Type="http://schemas.openxmlformats.org/officeDocument/2006/relationships/image" Target="../media/image37.wmf"/><Relationship Id="rId19" Type="http://schemas.openxmlformats.org/officeDocument/2006/relationships/oleObject" Target="../embeddings/oleObject111.bin"/><Relationship Id="rId31" Type="http://schemas.openxmlformats.org/officeDocument/2006/relationships/oleObject" Target="../embeddings/oleObject118.bin"/><Relationship Id="rId44" Type="http://schemas.openxmlformats.org/officeDocument/2006/relationships/oleObject" Target="../embeddings/oleObject125.bin"/><Relationship Id="rId4" Type="http://schemas.openxmlformats.org/officeDocument/2006/relationships/image" Target="../media/image10.wmf"/><Relationship Id="rId9" Type="http://schemas.openxmlformats.org/officeDocument/2006/relationships/oleObject" Target="../embeddings/oleObject106.bin"/><Relationship Id="rId14" Type="http://schemas.openxmlformats.org/officeDocument/2006/relationships/image" Target="../media/image39.wmf"/><Relationship Id="rId22" Type="http://schemas.openxmlformats.org/officeDocument/2006/relationships/oleObject" Target="../embeddings/oleObject113.bin"/><Relationship Id="rId27" Type="http://schemas.openxmlformats.org/officeDocument/2006/relationships/oleObject" Target="../embeddings/oleObject116.bin"/><Relationship Id="rId30" Type="http://schemas.openxmlformats.org/officeDocument/2006/relationships/image" Target="../media/image46.wmf"/><Relationship Id="rId35" Type="http://schemas.openxmlformats.org/officeDocument/2006/relationships/image" Target="../media/image48.wmf"/><Relationship Id="rId43" Type="http://schemas.openxmlformats.org/officeDocument/2006/relationships/image" Target="../media/image52.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slideLayout" Target="../slideLayouts/slideLayout12.xml"/><Relationship Id="rId1" Type="http://schemas.openxmlformats.org/officeDocument/2006/relationships/vmlDrawing" Target="../drawings/vmlDrawing27.vml"/><Relationship Id="rId6" Type="http://schemas.openxmlformats.org/officeDocument/2006/relationships/image" Target="../media/image55.wmf"/><Relationship Id="rId5" Type="http://schemas.openxmlformats.org/officeDocument/2006/relationships/oleObject" Target="../embeddings/oleObject129.bin"/><Relationship Id="rId4" Type="http://schemas.openxmlformats.org/officeDocument/2006/relationships/image" Target="../media/image54.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30.bin"/><Relationship Id="rId2" Type="http://schemas.openxmlformats.org/officeDocument/2006/relationships/slideLayout" Target="../slideLayouts/slideLayout12.xml"/><Relationship Id="rId1" Type="http://schemas.openxmlformats.org/officeDocument/2006/relationships/vmlDrawing" Target="../drawings/vmlDrawing28.vml"/><Relationship Id="rId4" Type="http://schemas.openxmlformats.org/officeDocument/2006/relationships/image" Target="../media/image56.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31.bin"/><Relationship Id="rId2" Type="http://schemas.openxmlformats.org/officeDocument/2006/relationships/slideLayout" Target="../slideLayouts/slideLayout12.xml"/><Relationship Id="rId1" Type="http://schemas.openxmlformats.org/officeDocument/2006/relationships/vmlDrawing" Target="../drawings/vmlDrawing29.vml"/><Relationship Id="rId6" Type="http://schemas.openxmlformats.org/officeDocument/2006/relationships/image" Target="../media/image58.wmf"/><Relationship Id="rId5" Type="http://schemas.openxmlformats.org/officeDocument/2006/relationships/oleObject" Target="../embeddings/oleObject132.bin"/><Relationship Id="rId4" Type="http://schemas.openxmlformats.org/officeDocument/2006/relationships/image" Target="../media/image57.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33.bin"/><Relationship Id="rId7" Type="http://schemas.openxmlformats.org/officeDocument/2006/relationships/oleObject" Target="../embeddings/oleObject135.bin"/><Relationship Id="rId2" Type="http://schemas.openxmlformats.org/officeDocument/2006/relationships/slideLayout" Target="../slideLayouts/slideLayout12.xml"/><Relationship Id="rId1" Type="http://schemas.openxmlformats.org/officeDocument/2006/relationships/vmlDrawing" Target="../drawings/vmlDrawing30.vml"/><Relationship Id="rId6" Type="http://schemas.openxmlformats.org/officeDocument/2006/relationships/image" Target="../media/image60.wmf"/><Relationship Id="rId5" Type="http://schemas.openxmlformats.org/officeDocument/2006/relationships/oleObject" Target="../embeddings/oleObject134.bin"/><Relationship Id="rId4" Type="http://schemas.openxmlformats.org/officeDocument/2006/relationships/image" Target="../media/image59.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36.bin"/><Relationship Id="rId2" Type="http://schemas.openxmlformats.org/officeDocument/2006/relationships/slideLayout" Target="../slideLayouts/slideLayout12.xml"/><Relationship Id="rId1" Type="http://schemas.openxmlformats.org/officeDocument/2006/relationships/vmlDrawing" Target="../drawings/vmlDrawing31.vml"/><Relationship Id="rId4" Type="http://schemas.openxmlformats.org/officeDocument/2006/relationships/image" Target="../media/image61.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12.xml"/><Relationship Id="rId1" Type="http://schemas.openxmlformats.org/officeDocument/2006/relationships/vmlDrawing" Target="../drawings/vmlDrawing32.vml"/><Relationship Id="rId4" Type="http://schemas.openxmlformats.org/officeDocument/2006/relationships/image" Target="../media/image62.wmf"/></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141.bin"/><Relationship Id="rId3" Type="http://schemas.openxmlformats.org/officeDocument/2006/relationships/oleObject" Target="../embeddings/oleObject138.bin"/><Relationship Id="rId7" Type="http://schemas.openxmlformats.org/officeDocument/2006/relationships/image" Target="../media/image64.wmf"/><Relationship Id="rId2" Type="http://schemas.openxmlformats.org/officeDocument/2006/relationships/slideLayout" Target="../slideLayouts/slideLayout12.xml"/><Relationship Id="rId1" Type="http://schemas.openxmlformats.org/officeDocument/2006/relationships/vmlDrawing" Target="../drawings/vmlDrawing33.vml"/><Relationship Id="rId6" Type="http://schemas.openxmlformats.org/officeDocument/2006/relationships/oleObject" Target="../embeddings/oleObject140.bin"/><Relationship Id="rId5" Type="http://schemas.openxmlformats.org/officeDocument/2006/relationships/oleObject" Target="../embeddings/oleObject139.bin"/><Relationship Id="rId4" Type="http://schemas.openxmlformats.org/officeDocument/2006/relationships/image" Target="../media/image63.w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45.bin"/><Relationship Id="rId3" Type="http://schemas.openxmlformats.org/officeDocument/2006/relationships/oleObject" Target="../embeddings/oleObject142.bin"/><Relationship Id="rId7" Type="http://schemas.openxmlformats.org/officeDocument/2006/relationships/image" Target="../media/image64.wmf"/><Relationship Id="rId2" Type="http://schemas.openxmlformats.org/officeDocument/2006/relationships/slideLayout" Target="../slideLayouts/slideLayout12.xml"/><Relationship Id="rId1" Type="http://schemas.openxmlformats.org/officeDocument/2006/relationships/vmlDrawing" Target="../drawings/vmlDrawing34.vml"/><Relationship Id="rId6" Type="http://schemas.openxmlformats.org/officeDocument/2006/relationships/oleObject" Target="../embeddings/oleObject144.bin"/><Relationship Id="rId5" Type="http://schemas.openxmlformats.org/officeDocument/2006/relationships/oleObject" Target="../embeddings/oleObject143.bin"/><Relationship Id="rId4" Type="http://schemas.openxmlformats.org/officeDocument/2006/relationships/image" Target="../media/image63.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146.bin"/><Relationship Id="rId7" Type="http://schemas.openxmlformats.org/officeDocument/2006/relationships/oleObject" Target="../embeddings/oleObject148.bin"/><Relationship Id="rId2" Type="http://schemas.openxmlformats.org/officeDocument/2006/relationships/slideLayout" Target="../slideLayouts/slideLayout12.xml"/><Relationship Id="rId1" Type="http://schemas.openxmlformats.org/officeDocument/2006/relationships/vmlDrawing" Target="../drawings/vmlDrawing35.vml"/><Relationship Id="rId6" Type="http://schemas.openxmlformats.org/officeDocument/2006/relationships/image" Target="../media/image66.wmf"/><Relationship Id="rId5" Type="http://schemas.openxmlformats.org/officeDocument/2006/relationships/oleObject" Target="../embeddings/oleObject147.bin"/><Relationship Id="rId4" Type="http://schemas.openxmlformats.org/officeDocument/2006/relationships/image" Target="../media/image65.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49.bin"/><Relationship Id="rId2" Type="http://schemas.openxmlformats.org/officeDocument/2006/relationships/slideLayout" Target="../slideLayouts/slideLayout12.xml"/><Relationship Id="rId1" Type="http://schemas.openxmlformats.org/officeDocument/2006/relationships/vmlDrawing" Target="../drawings/vmlDrawing36.vml"/><Relationship Id="rId4" Type="http://schemas.openxmlformats.org/officeDocument/2006/relationships/image" Target="../media/image68.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50.bin"/><Relationship Id="rId2" Type="http://schemas.openxmlformats.org/officeDocument/2006/relationships/slideLayout" Target="../slideLayouts/slideLayout12.xml"/><Relationship Id="rId1" Type="http://schemas.openxmlformats.org/officeDocument/2006/relationships/vmlDrawing" Target="../drawings/vmlDrawing37.vml"/><Relationship Id="rId4" Type="http://schemas.openxmlformats.org/officeDocument/2006/relationships/image" Target="../media/image69.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79388" y="4869160"/>
            <a:ext cx="7345362" cy="574378"/>
          </a:xfrm>
          <a:noFill/>
        </p:spPr>
        <p:txBody>
          <a:bodyPr/>
          <a:lstStyle/>
          <a:p>
            <a:pPr eaLnBrk="1" hangingPunct="1"/>
            <a:r>
              <a:rPr lang="zh-CN" altLang="en-US" sz="2400" dirty="0" smtClean="0">
                <a:solidFill>
                  <a:srgbClr val="0000FF"/>
                </a:solidFill>
              </a:rPr>
              <a:t>浙江工商大学计算机与信息工程学院</a:t>
            </a:r>
            <a:endParaRPr lang="zh-CN" altLang="en-US" sz="1800" dirty="0" smtClean="0">
              <a:solidFill>
                <a:srgbClr val="0000FF"/>
              </a:solidFill>
            </a:endParaRPr>
          </a:p>
        </p:txBody>
      </p:sp>
      <p:sp>
        <p:nvSpPr>
          <p:cNvPr id="2051" name="Rectangle 3"/>
          <p:cNvSpPr>
            <a:spLocks noChangeArrowheads="1"/>
          </p:cNvSpPr>
          <p:nvPr/>
        </p:nvSpPr>
        <p:spPr bwMode="auto">
          <a:xfrm>
            <a:off x="320635" y="692696"/>
            <a:ext cx="8280400"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pPr>
            <a:r>
              <a:rPr kumimoji="1" lang="zh-CN" altLang="en-US" sz="6600" dirty="0">
                <a:solidFill>
                  <a:srgbClr val="0000FF"/>
                </a:solidFill>
                <a:latin typeface="微软雅黑" pitchFamily="34" charset="-122"/>
                <a:ea typeface="微软雅黑" pitchFamily="34" charset="-122"/>
              </a:rPr>
              <a:t>数据库原理</a:t>
            </a:r>
          </a:p>
          <a:p>
            <a:pPr algn="ctr">
              <a:spcBef>
                <a:spcPct val="20000"/>
              </a:spcBef>
            </a:pPr>
            <a:r>
              <a:rPr kumimoji="1" lang="en-US" altLang="zh-CN" sz="4800" b="1" dirty="0">
                <a:solidFill>
                  <a:srgbClr val="0000FF"/>
                </a:solidFill>
                <a:latin typeface="Times New Roman" pitchFamily="18" charset="0"/>
              </a:rPr>
              <a:t>Database Principles</a:t>
            </a:r>
          </a:p>
        </p:txBody>
      </p:sp>
      <p:pic>
        <p:nvPicPr>
          <p:cNvPr id="2052" name="Picture 4" descr="tuli">
            <a:hlinkClick r:id="rId3"/>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7306530" y="4365104"/>
            <a:ext cx="1427163" cy="15017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3" name="Line 5"/>
          <p:cNvSpPr>
            <a:spLocks noChangeShapeType="1"/>
          </p:cNvSpPr>
          <p:nvPr/>
        </p:nvSpPr>
        <p:spPr bwMode="auto">
          <a:xfrm>
            <a:off x="-5417" y="2700715"/>
            <a:ext cx="8135938"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 name="Line 6"/>
          <p:cNvSpPr>
            <a:spLocks noChangeShapeType="1"/>
          </p:cNvSpPr>
          <p:nvPr/>
        </p:nvSpPr>
        <p:spPr bwMode="auto">
          <a:xfrm>
            <a:off x="0" y="4797425"/>
            <a:ext cx="7451725"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 name="Line 7"/>
          <p:cNvSpPr>
            <a:spLocks noChangeShapeType="1"/>
          </p:cNvSpPr>
          <p:nvPr/>
        </p:nvSpPr>
        <p:spPr bwMode="auto">
          <a:xfrm flipV="1">
            <a:off x="0" y="5445125"/>
            <a:ext cx="7451725" cy="23813"/>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6" name="Line 8"/>
          <p:cNvSpPr>
            <a:spLocks noChangeShapeType="1"/>
          </p:cNvSpPr>
          <p:nvPr/>
        </p:nvSpPr>
        <p:spPr bwMode="auto">
          <a:xfrm>
            <a:off x="3311525" y="3824288"/>
            <a:ext cx="5832475" cy="1587"/>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7" name="Line 9"/>
          <p:cNvSpPr>
            <a:spLocks noChangeShapeType="1"/>
          </p:cNvSpPr>
          <p:nvPr/>
        </p:nvSpPr>
        <p:spPr bwMode="auto">
          <a:xfrm flipV="1">
            <a:off x="1663970" y="1916832"/>
            <a:ext cx="5329237"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8" name="Rectangle 10"/>
          <p:cNvSpPr>
            <a:spLocks noChangeArrowheads="1"/>
          </p:cNvSpPr>
          <p:nvPr/>
        </p:nvSpPr>
        <p:spPr bwMode="auto">
          <a:xfrm>
            <a:off x="896938" y="5805487"/>
            <a:ext cx="7239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sz="2000" b="1" dirty="0">
                <a:solidFill>
                  <a:srgbClr val="0000FF"/>
                </a:solidFill>
                <a:latin typeface="Times New Roman" pitchFamily="18" charset="0"/>
              </a:rPr>
              <a:t>College of Computer Science and Information Engineering</a:t>
            </a:r>
          </a:p>
          <a:p>
            <a:pPr algn="r"/>
            <a:r>
              <a:rPr kumimoji="1" lang="en-US" altLang="zh-CN" sz="2000" b="1" dirty="0">
                <a:solidFill>
                  <a:srgbClr val="0000FF"/>
                </a:solidFill>
                <a:latin typeface="Times New Roman" pitchFamily="18" charset="0"/>
              </a:rPr>
              <a:t>Zhejiang </a:t>
            </a:r>
            <a:r>
              <a:rPr kumimoji="1" lang="en-US" altLang="zh-CN" sz="2000" b="1" dirty="0" err="1">
                <a:solidFill>
                  <a:srgbClr val="0000FF"/>
                </a:solidFill>
                <a:latin typeface="Times New Roman" pitchFamily="18" charset="0"/>
              </a:rPr>
              <a:t>Gongshang</a:t>
            </a:r>
            <a:r>
              <a:rPr kumimoji="1" lang="en-US" altLang="zh-CN" sz="2000" b="1" dirty="0">
                <a:solidFill>
                  <a:srgbClr val="0000FF"/>
                </a:solidFill>
                <a:latin typeface="Times New Roman" pitchFamily="18" charset="0"/>
              </a:rPr>
              <a:t> University</a:t>
            </a:r>
          </a:p>
        </p:txBody>
      </p:sp>
      <p:sp>
        <p:nvSpPr>
          <p:cNvPr id="2059" name="Rectangle 11"/>
          <p:cNvSpPr>
            <a:spLocks noChangeArrowheads="1"/>
          </p:cNvSpPr>
          <p:nvPr/>
        </p:nvSpPr>
        <p:spPr bwMode="auto">
          <a:xfrm>
            <a:off x="2320131" y="3103845"/>
            <a:ext cx="43926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3600" b="1" dirty="0">
                <a:solidFill>
                  <a:srgbClr val="3333FF"/>
                </a:solidFill>
                <a:latin typeface="Arial Black" pitchFamily="34" charset="0"/>
                <a:ea typeface="华文新魏" pitchFamily="2" charset="-122"/>
              </a:rPr>
              <a:t>韩</a:t>
            </a:r>
            <a:r>
              <a:rPr kumimoji="1" lang="zh-CN" altLang="en-US" sz="3600" b="1">
                <a:solidFill>
                  <a:srgbClr val="3333FF"/>
                </a:solidFill>
                <a:latin typeface="Arial Black" pitchFamily="34" charset="0"/>
                <a:ea typeface="华文新魏" pitchFamily="2" charset="-122"/>
              </a:rPr>
              <a:t>培</a:t>
            </a:r>
            <a:r>
              <a:rPr kumimoji="1" lang="zh-CN" altLang="en-US" sz="3600" b="1" smtClean="0">
                <a:solidFill>
                  <a:srgbClr val="3333FF"/>
                </a:solidFill>
                <a:latin typeface="Arial Black" pitchFamily="34" charset="0"/>
                <a:ea typeface="华文新魏" pitchFamily="2" charset="-122"/>
              </a:rPr>
              <a:t>友</a:t>
            </a:r>
            <a:endParaRPr kumimoji="1" lang="zh-CN" altLang="en-US" sz="3600" b="1" dirty="0">
              <a:solidFill>
                <a:srgbClr val="3333FF"/>
              </a:solidFill>
              <a:latin typeface="Arial Black" pitchFamily="34" charset="0"/>
              <a:ea typeface="华文新魏" pitchFamily="2" charset="-122"/>
            </a:endParaRPr>
          </a:p>
        </p:txBody>
      </p:sp>
      <p:sp>
        <p:nvSpPr>
          <p:cNvPr id="2060" name="Rectangle 12"/>
          <p:cNvSpPr>
            <a:spLocks noChangeArrowheads="1"/>
          </p:cNvSpPr>
          <p:nvPr/>
        </p:nvSpPr>
        <p:spPr bwMode="auto">
          <a:xfrm>
            <a:off x="2231902" y="3933056"/>
            <a:ext cx="50403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3600" b="1" dirty="0">
                <a:solidFill>
                  <a:srgbClr val="3333FF"/>
                </a:solidFill>
                <a:latin typeface="Arial Black" pitchFamily="34" charset="0"/>
                <a:ea typeface="华文新魏" pitchFamily="2" charset="-122"/>
              </a:rPr>
              <a:t>Happy You</a:t>
            </a:r>
          </a:p>
        </p:txBody>
      </p:sp>
    </p:spTree>
    <p:extLst>
      <p:ext uri="{BB962C8B-B14F-4D97-AF65-F5344CB8AC3E}">
        <p14:creationId xmlns:p14="http://schemas.microsoft.com/office/powerpoint/2010/main" val="580514564"/>
      </p:ext>
    </p:extLst>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648072"/>
          </a:xfrm>
        </p:spPr>
        <p:txBody>
          <a:bodyPr>
            <a:normAutofit/>
          </a:bodyPr>
          <a:lstStyle/>
          <a:p>
            <a:r>
              <a:rPr lang="zh-CN" altLang="en-US" sz="3600" i="0" u="none" strike="noStrike" kern="2200" baseline="0" dirty="0" smtClean="0">
                <a:latin typeface="微软雅黑" pitchFamily="34" charset="-122"/>
                <a:ea typeface="微软雅黑" pitchFamily="34" charset="-122"/>
              </a:rPr>
              <a:t>第 </a:t>
            </a:r>
            <a:r>
              <a:rPr lang="en-US" altLang="zh-CN" sz="3600" i="0" u="none" strike="noStrike" kern="2200" baseline="0" dirty="0" smtClean="0">
                <a:latin typeface="微软雅黑" pitchFamily="34" charset="-122"/>
                <a:ea typeface="微软雅黑" pitchFamily="34" charset="-122"/>
              </a:rPr>
              <a:t>6 </a:t>
            </a:r>
            <a:r>
              <a:rPr lang="zh-CN" altLang="en-US" kern="2200" dirty="0" smtClean="0"/>
              <a:t>章  关系</a:t>
            </a:r>
            <a:r>
              <a:rPr lang="zh-CN" altLang="en-US" kern="2200" dirty="0"/>
              <a:t>规范化</a:t>
            </a:r>
            <a:endParaRPr lang="zh-CN" altLang="en-US" sz="3600" i="0" u="none" strike="noStrike" kern="2200" baseline="0" dirty="0" smtClean="0">
              <a:latin typeface="微软雅黑" pitchFamily="34" charset="-122"/>
              <a:ea typeface="微软雅黑" pitchFamily="34" charset="-122"/>
            </a:endParaRPr>
          </a:p>
        </p:txBody>
      </p:sp>
      <p:sp>
        <p:nvSpPr>
          <p:cNvPr id="3" name="文本占位符 2"/>
          <p:cNvSpPr>
            <a:spLocks noGrp="1"/>
          </p:cNvSpPr>
          <p:nvPr>
            <p:ph type="body" idx="1"/>
          </p:nvPr>
        </p:nvSpPr>
        <p:spPr>
          <a:xfrm>
            <a:off x="1043608" y="764704"/>
            <a:ext cx="7481886" cy="5688632"/>
          </a:xfrm>
        </p:spPr>
        <p:txBody>
          <a:bodyPr>
            <a:normAutofit/>
          </a:bodyPr>
          <a:lstStyle/>
          <a:p>
            <a:r>
              <a:rPr lang="zh-CN" altLang="zh-CN" sz="2800" dirty="0">
                <a:solidFill>
                  <a:srgbClr val="0000FF"/>
                </a:solidFill>
              </a:rPr>
              <a:t>函数依赖</a:t>
            </a:r>
          </a:p>
          <a:p>
            <a:pPr marL="857250" lvl="2" indent="-457200">
              <a:buFont typeface="Wingdings" pitchFamily="2" charset="2"/>
              <a:buChar char="p"/>
            </a:pPr>
            <a:r>
              <a:rPr lang="zh-CN" altLang="zh-CN" sz="2400" dirty="0" smtClean="0">
                <a:solidFill>
                  <a:srgbClr val="0000FF"/>
                </a:solidFill>
              </a:rPr>
              <a:t>函数依赖</a:t>
            </a:r>
            <a:r>
              <a:rPr lang="en-US" altLang="zh-CN" sz="2400" dirty="0" smtClean="0">
                <a:solidFill>
                  <a:srgbClr val="0000FF"/>
                </a:solidFill>
              </a:rPr>
              <a:t> / </a:t>
            </a:r>
            <a:r>
              <a:rPr lang="zh-CN" altLang="zh-CN" sz="2400" dirty="0" smtClean="0">
                <a:solidFill>
                  <a:srgbClr val="0000FF"/>
                </a:solidFill>
              </a:rPr>
              <a:t>完全依赖</a:t>
            </a:r>
            <a:r>
              <a:rPr lang="en-US" altLang="zh-CN" sz="2400" dirty="0" smtClean="0">
                <a:solidFill>
                  <a:srgbClr val="0000FF"/>
                </a:solidFill>
              </a:rPr>
              <a:t> / </a:t>
            </a:r>
            <a:r>
              <a:rPr lang="zh-CN" altLang="zh-CN" sz="2400" dirty="0" smtClean="0">
                <a:solidFill>
                  <a:srgbClr val="0000FF"/>
                </a:solidFill>
              </a:rPr>
              <a:t>部分依赖</a:t>
            </a:r>
            <a:r>
              <a:rPr lang="en-US" altLang="zh-CN" sz="2400" dirty="0" smtClean="0">
                <a:solidFill>
                  <a:srgbClr val="0000FF"/>
                </a:solidFill>
              </a:rPr>
              <a:t> / </a:t>
            </a:r>
            <a:r>
              <a:rPr lang="zh-CN" altLang="zh-CN" sz="2400" dirty="0" smtClean="0">
                <a:solidFill>
                  <a:srgbClr val="0000FF"/>
                </a:solidFill>
              </a:rPr>
              <a:t>传递</a:t>
            </a:r>
            <a:r>
              <a:rPr lang="zh-CN" altLang="zh-CN" sz="2400" dirty="0">
                <a:solidFill>
                  <a:srgbClr val="0000FF"/>
                </a:solidFill>
              </a:rPr>
              <a:t>依赖</a:t>
            </a:r>
          </a:p>
          <a:p>
            <a:r>
              <a:rPr lang="zh-CN" altLang="zh-CN" sz="2800" dirty="0" smtClean="0">
                <a:solidFill>
                  <a:srgbClr val="0000FF"/>
                </a:solidFill>
              </a:rPr>
              <a:t>范式</a:t>
            </a:r>
            <a:endParaRPr lang="en-US" altLang="zh-CN" sz="2800" dirty="0" smtClean="0">
              <a:solidFill>
                <a:srgbClr val="0000FF"/>
              </a:solidFill>
            </a:endParaRPr>
          </a:p>
          <a:p>
            <a:pPr marL="857250" lvl="2" indent="-457200">
              <a:buFont typeface="Wingdings" pitchFamily="2" charset="2"/>
              <a:buChar char="p"/>
            </a:pPr>
            <a:r>
              <a:rPr lang="zh-CN" altLang="zh-CN" sz="2400" dirty="0" smtClean="0">
                <a:solidFill>
                  <a:srgbClr val="0000FF"/>
                </a:solidFill>
              </a:rPr>
              <a:t>范式</a:t>
            </a:r>
            <a:endParaRPr lang="en-US" altLang="zh-CN" sz="2400" dirty="0" smtClean="0">
              <a:solidFill>
                <a:srgbClr val="0000FF"/>
              </a:solidFill>
            </a:endParaRPr>
          </a:p>
          <a:p>
            <a:pPr marL="857250" lvl="2" indent="-457200">
              <a:buFont typeface="Wingdings" pitchFamily="2" charset="2"/>
              <a:buChar char="p"/>
            </a:pPr>
            <a:r>
              <a:rPr lang="zh-CN" altLang="zh-CN" sz="2400" dirty="0" smtClean="0">
                <a:solidFill>
                  <a:srgbClr val="0000FF"/>
                </a:solidFill>
              </a:rPr>
              <a:t>第一</a:t>
            </a:r>
            <a:r>
              <a:rPr lang="en-US" altLang="zh-CN" sz="2400" dirty="0" smtClean="0">
                <a:solidFill>
                  <a:srgbClr val="0000FF"/>
                </a:solidFill>
              </a:rPr>
              <a:t> / </a:t>
            </a:r>
            <a:r>
              <a:rPr lang="zh-CN" altLang="en-US" sz="2400" dirty="0" smtClean="0">
                <a:solidFill>
                  <a:srgbClr val="0000FF"/>
                </a:solidFill>
              </a:rPr>
              <a:t>第二 </a:t>
            </a:r>
            <a:r>
              <a:rPr lang="en-US" altLang="zh-CN" sz="2400" dirty="0" smtClean="0">
                <a:solidFill>
                  <a:srgbClr val="0000FF"/>
                </a:solidFill>
              </a:rPr>
              <a:t>/ </a:t>
            </a:r>
            <a:r>
              <a:rPr lang="zh-CN" altLang="en-US" sz="2400" dirty="0" smtClean="0">
                <a:solidFill>
                  <a:srgbClr val="0000FF"/>
                </a:solidFill>
              </a:rPr>
              <a:t>第三 </a:t>
            </a:r>
            <a:r>
              <a:rPr lang="en-US" altLang="zh-CN" sz="2400" dirty="0" smtClean="0">
                <a:solidFill>
                  <a:srgbClr val="0000FF"/>
                </a:solidFill>
              </a:rPr>
              <a:t>/ BC / </a:t>
            </a:r>
            <a:r>
              <a:rPr lang="zh-CN" altLang="en-US" sz="2400" dirty="0" smtClean="0">
                <a:solidFill>
                  <a:srgbClr val="0000FF"/>
                </a:solidFill>
              </a:rPr>
              <a:t>第四范式</a:t>
            </a:r>
            <a:endParaRPr lang="zh-CN" altLang="zh-CN" sz="2400" dirty="0">
              <a:solidFill>
                <a:srgbClr val="0000FF"/>
              </a:solidFill>
            </a:endParaRPr>
          </a:p>
          <a:p>
            <a:r>
              <a:rPr lang="en-US" altLang="zh-CN" sz="2800" dirty="0" smtClean="0">
                <a:solidFill>
                  <a:srgbClr val="0000FF"/>
                </a:solidFill>
              </a:rPr>
              <a:t> </a:t>
            </a:r>
            <a:r>
              <a:rPr lang="zh-CN" altLang="zh-CN" sz="2800" dirty="0" smtClean="0">
                <a:solidFill>
                  <a:srgbClr val="0000FF"/>
                </a:solidFill>
              </a:rPr>
              <a:t>关系</a:t>
            </a:r>
            <a:r>
              <a:rPr lang="zh-CN" altLang="zh-CN" sz="2800" dirty="0">
                <a:solidFill>
                  <a:srgbClr val="0000FF"/>
                </a:solidFill>
              </a:rPr>
              <a:t>模式规范化</a:t>
            </a:r>
          </a:p>
          <a:p>
            <a:pPr marL="857250" lvl="2" indent="-457200">
              <a:buFont typeface="Wingdings" pitchFamily="2" charset="2"/>
              <a:buChar char="p"/>
            </a:pPr>
            <a:r>
              <a:rPr lang="en-US" altLang="zh-CN" sz="2400" dirty="0" smtClean="0">
                <a:solidFill>
                  <a:srgbClr val="0000FF"/>
                </a:solidFill>
              </a:rPr>
              <a:t>Armstrong</a:t>
            </a:r>
            <a:r>
              <a:rPr lang="zh-CN" altLang="zh-CN" sz="2400" dirty="0">
                <a:solidFill>
                  <a:srgbClr val="0000FF"/>
                </a:solidFill>
              </a:rPr>
              <a:t>公理</a:t>
            </a:r>
          </a:p>
          <a:p>
            <a:pPr marL="857250" lvl="2" indent="-457200">
              <a:buFont typeface="Wingdings" pitchFamily="2" charset="2"/>
              <a:buChar char="p"/>
            </a:pPr>
            <a:r>
              <a:rPr lang="zh-CN" altLang="zh-CN" sz="2400" dirty="0" smtClean="0">
                <a:solidFill>
                  <a:srgbClr val="0000FF"/>
                </a:solidFill>
              </a:rPr>
              <a:t>函数依赖</a:t>
            </a:r>
            <a:r>
              <a:rPr lang="zh-CN" altLang="zh-CN" sz="2400" dirty="0">
                <a:solidFill>
                  <a:srgbClr val="0000FF"/>
                </a:solidFill>
              </a:rPr>
              <a:t>集闭包</a:t>
            </a:r>
          </a:p>
          <a:p>
            <a:pPr marL="857250" lvl="2" indent="-457200">
              <a:buFont typeface="Wingdings" pitchFamily="2" charset="2"/>
              <a:buChar char="p"/>
            </a:pPr>
            <a:r>
              <a:rPr lang="zh-CN" altLang="zh-CN" sz="2400" dirty="0" smtClean="0">
                <a:solidFill>
                  <a:srgbClr val="0000FF"/>
                </a:solidFill>
              </a:rPr>
              <a:t>属性</a:t>
            </a:r>
            <a:r>
              <a:rPr lang="zh-CN" altLang="zh-CN" sz="2400" dirty="0">
                <a:solidFill>
                  <a:srgbClr val="0000FF"/>
                </a:solidFill>
              </a:rPr>
              <a:t>集闭包</a:t>
            </a:r>
          </a:p>
          <a:p>
            <a:pPr marL="857250" lvl="2" indent="-457200">
              <a:buFont typeface="Wingdings" pitchFamily="2" charset="2"/>
              <a:buChar char="p"/>
            </a:pPr>
            <a:r>
              <a:rPr lang="zh-CN" altLang="zh-CN" sz="2400" dirty="0" smtClean="0">
                <a:solidFill>
                  <a:srgbClr val="0000FF"/>
                </a:solidFill>
              </a:rPr>
              <a:t>最小</a:t>
            </a:r>
            <a:r>
              <a:rPr lang="zh-CN" altLang="zh-CN" sz="2400" dirty="0">
                <a:solidFill>
                  <a:srgbClr val="0000FF"/>
                </a:solidFill>
              </a:rPr>
              <a:t>函数依赖集</a:t>
            </a:r>
          </a:p>
          <a:p>
            <a:pPr marL="857250" lvl="2" indent="-457200">
              <a:buFont typeface="Wingdings" pitchFamily="2" charset="2"/>
              <a:buChar char="p"/>
            </a:pPr>
            <a:r>
              <a:rPr lang="zh-CN" altLang="zh-CN" sz="2400" dirty="0" smtClean="0">
                <a:solidFill>
                  <a:srgbClr val="0000FF"/>
                </a:solidFill>
              </a:rPr>
              <a:t>关系</a:t>
            </a:r>
            <a:r>
              <a:rPr lang="zh-CN" altLang="zh-CN" sz="2400" dirty="0">
                <a:solidFill>
                  <a:srgbClr val="0000FF"/>
                </a:solidFill>
              </a:rPr>
              <a:t>模式分解</a:t>
            </a:r>
          </a:p>
          <a:p>
            <a:pPr marL="857250" lvl="2" indent="-457200">
              <a:buFont typeface="Wingdings" pitchFamily="2" charset="2"/>
              <a:buChar char="p"/>
            </a:pPr>
            <a:r>
              <a:rPr lang="zh-CN" altLang="zh-CN" sz="2400" dirty="0" smtClean="0">
                <a:solidFill>
                  <a:srgbClr val="0000FF"/>
                </a:solidFill>
              </a:rPr>
              <a:t>关系</a:t>
            </a:r>
            <a:r>
              <a:rPr lang="zh-CN" altLang="zh-CN" sz="2400" dirty="0">
                <a:solidFill>
                  <a:srgbClr val="0000FF"/>
                </a:solidFill>
              </a:rPr>
              <a:t>模式的分解算法</a:t>
            </a:r>
          </a:p>
        </p:txBody>
      </p:sp>
      <p:sp>
        <p:nvSpPr>
          <p:cNvPr id="4" name="日期占位符 3"/>
          <p:cNvSpPr>
            <a:spLocks noGrp="1"/>
          </p:cNvSpPr>
          <p:nvPr>
            <p:ph type="dt" sz="half" idx="10"/>
          </p:nvPr>
        </p:nvSpPr>
        <p:spPr/>
        <p:txBody>
          <a:bodyPr/>
          <a:lstStyle/>
          <a:p>
            <a:fld id="{AF69CA52-1E8A-40E5-89D7-825628B1B1C7}" type="datetime9">
              <a:rPr lang="zh-CN" altLang="en-US" smtClean="0"/>
              <a:t>2019年9月8日星期日9时4分45秒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a:t>
            </a:fld>
            <a:endParaRPr lang="zh-CN" altLang="en-US" dirty="0"/>
          </a:p>
        </p:txBody>
      </p:sp>
    </p:spTree>
    <p:extLst>
      <p:ext uri="{BB962C8B-B14F-4D97-AF65-F5344CB8AC3E}">
        <p14:creationId xmlns:p14="http://schemas.microsoft.com/office/powerpoint/2010/main" val="2351048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19256" cy="418058"/>
          </a:xfrm>
        </p:spPr>
        <p:txBody>
          <a:bodyPr>
            <a:normAutofit fontScale="90000"/>
          </a:bodyPr>
          <a:lstStyle/>
          <a:p>
            <a:r>
              <a:rPr lang="zh-CN" altLang="en-US" kern="2200" dirty="0"/>
              <a:t>第 </a:t>
            </a:r>
            <a:r>
              <a:rPr lang="en-US" altLang="zh-CN" kern="2200" dirty="0"/>
              <a:t>6 </a:t>
            </a:r>
            <a:r>
              <a:rPr lang="zh-CN" altLang="en-US" kern="2200" dirty="0"/>
              <a:t>章  关系规范化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a:t>
            </a:fld>
            <a:endParaRPr lang="zh-CN" altLang="en-US" dirty="0"/>
          </a:p>
        </p:txBody>
      </p:sp>
      <p:sp>
        <p:nvSpPr>
          <p:cNvPr id="7" name="文本占位符 6"/>
          <p:cNvSpPr>
            <a:spLocks noGrp="1"/>
          </p:cNvSpPr>
          <p:nvPr>
            <p:ph type="body" idx="1"/>
          </p:nvPr>
        </p:nvSpPr>
        <p:spPr>
          <a:xfrm>
            <a:off x="107504" y="620688"/>
            <a:ext cx="8856984" cy="5832648"/>
          </a:xfrm>
        </p:spPr>
        <p:txBody>
          <a:bodyPr>
            <a:noAutofit/>
          </a:bodyPr>
          <a:lstStyle/>
          <a:p>
            <a:pPr marL="0" indent="0">
              <a:lnSpc>
                <a:spcPts val="3000"/>
              </a:lnSpc>
              <a:buNone/>
            </a:pPr>
            <a:r>
              <a:rPr lang="zh-CN" altLang="zh-CN" sz="2000" dirty="0">
                <a:solidFill>
                  <a:srgbClr val="0000FF"/>
                </a:solidFill>
              </a:rPr>
              <a:t>问题</a:t>
            </a:r>
            <a:r>
              <a:rPr lang="en-US" altLang="zh-CN" sz="2000" dirty="0">
                <a:solidFill>
                  <a:srgbClr val="0000FF"/>
                </a:solidFill>
              </a:rPr>
              <a:t>1</a:t>
            </a:r>
            <a:r>
              <a:rPr lang="zh-CN" altLang="zh-CN" sz="2000" dirty="0">
                <a:solidFill>
                  <a:srgbClr val="0000FF"/>
                </a:solidFill>
              </a:rPr>
              <a:t>：</a:t>
            </a:r>
            <a:r>
              <a:rPr lang="zh-CN" altLang="zh-CN" sz="2000" dirty="0"/>
              <a:t>逻辑模型中的关系模式，是否可以使用？</a:t>
            </a:r>
          </a:p>
          <a:p>
            <a:pPr marL="0" indent="0">
              <a:lnSpc>
                <a:spcPts val="3000"/>
              </a:lnSpc>
              <a:buNone/>
            </a:pPr>
            <a:r>
              <a:rPr lang="zh-CN" altLang="zh-CN" sz="2000" dirty="0">
                <a:solidFill>
                  <a:srgbClr val="0000FF"/>
                </a:solidFill>
              </a:rPr>
              <a:t>问题</a:t>
            </a:r>
            <a:r>
              <a:rPr lang="en-US" altLang="zh-CN" sz="2000" dirty="0">
                <a:solidFill>
                  <a:srgbClr val="0000FF"/>
                </a:solidFill>
              </a:rPr>
              <a:t>2</a:t>
            </a:r>
            <a:r>
              <a:rPr lang="zh-CN" altLang="zh-CN" sz="2000" dirty="0">
                <a:solidFill>
                  <a:srgbClr val="0000FF"/>
                </a:solidFill>
              </a:rPr>
              <a:t>：</a:t>
            </a:r>
            <a:r>
              <a:rPr lang="en-US" altLang="zh-CN" sz="2000" dirty="0"/>
              <a:t>EBook</a:t>
            </a:r>
            <a:r>
              <a:rPr lang="zh-CN" altLang="zh-CN" sz="2000" dirty="0"/>
              <a:t>中的</a:t>
            </a:r>
            <a:r>
              <a:rPr lang="en-US" altLang="zh-CN" sz="2000" dirty="0"/>
              <a:t>Book</a:t>
            </a:r>
            <a:r>
              <a:rPr lang="zh-CN" altLang="zh-CN" sz="2000" dirty="0"/>
              <a:t>、</a:t>
            </a:r>
            <a:r>
              <a:rPr lang="en-US" altLang="zh-CN" sz="2000" dirty="0" err="1"/>
              <a:t>Cust</a:t>
            </a:r>
            <a:r>
              <a:rPr lang="zh-CN" altLang="zh-CN" sz="2000" dirty="0"/>
              <a:t>、</a:t>
            </a:r>
            <a:r>
              <a:rPr lang="en-US" altLang="zh-CN" sz="2000" dirty="0"/>
              <a:t>Press</a:t>
            </a:r>
            <a:r>
              <a:rPr lang="zh-CN" altLang="zh-CN" sz="2000" dirty="0"/>
              <a:t>、</a:t>
            </a:r>
            <a:r>
              <a:rPr lang="en-US" altLang="zh-CN" sz="2000" dirty="0"/>
              <a:t>Buy</a:t>
            </a:r>
            <a:r>
              <a:rPr lang="zh-CN" altLang="zh-CN" sz="2000" dirty="0"/>
              <a:t>是否</a:t>
            </a:r>
            <a:r>
              <a:rPr lang="zh-CN" altLang="zh-CN" sz="2000" dirty="0" smtClean="0"/>
              <a:t>可用</a:t>
            </a:r>
            <a:r>
              <a:rPr lang="zh-CN" altLang="zh-CN" sz="2000" dirty="0"/>
              <a:t>如下</a:t>
            </a:r>
            <a:r>
              <a:rPr lang="en-US" altLang="zh-CN" sz="2000" dirty="0" err="1"/>
              <a:t>BInfo</a:t>
            </a:r>
            <a:r>
              <a:rPr lang="zh-CN" altLang="zh-CN" sz="2000" dirty="0"/>
              <a:t>替代？</a:t>
            </a:r>
          </a:p>
          <a:p>
            <a:pPr marL="901700" indent="-901700">
              <a:lnSpc>
                <a:spcPts val="3000"/>
              </a:lnSpc>
              <a:buNone/>
            </a:pPr>
            <a:r>
              <a:rPr lang="en-US" altLang="zh-CN" sz="2000" dirty="0" err="1">
                <a:solidFill>
                  <a:srgbClr val="0000FF"/>
                </a:solidFill>
              </a:rPr>
              <a:t>BInfo</a:t>
            </a:r>
            <a:r>
              <a:rPr lang="zh-CN" altLang="zh-CN" sz="2000" dirty="0"/>
              <a:t>（</a:t>
            </a:r>
            <a:r>
              <a:rPr lang="en-US" altLang="zh-CN" sz="2000" dirty="0" err="1"/>
              <a:t>BNo</a:t>
            </a:r>
            <a:r>
              <a:rPr lang="zh-CN"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zh-CN" altLang="zh-CN" sz="2000" dirty="0"/>
              <a:t>，</a:t>
            </a:r>
            <a:r>
              <a:rPr lang="en-US" altLang="zh-CN" sz="2000" dirty="0" err="1"/>
              <a:t>CNo</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Phone</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r>
              <a:rPr lang="en-US" altLang="zh-CN" sz="2000" dirty="0" err="1"/>
              <a:t>PNo</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Email</a:t>
            </a:r>
            <a:r>
              <a:rPr lang="zh-CN" altLang="zh-CN" sz="2000" dirty="0"/>
              <a:t>，</a:t>
            </a:r>
            <a:r>
              <a:rPr lang="en-US" altLang="zh-CN" sz="2000" dirty="0" err="1"/>
              <a:t>HPage</a:t>
            </a:r>
            <a:r>
              <a:rPr lang="zh-CN" altLang="zh-CN" sz="2000" dirty="0"/>
              <a:t>，</a:t>
            </a:r>
            <a:r>
              <a:rPr lang="en-US" altLang="zh-CN" sz="2000" dirty="0" err="1"/>
              <a:t>PDate</a:t>
            </a:r>
            <a:r>
              <a:rPr lang="zh-CN" altLang="zh-CN" sz="2000" dirty="0"/>
              <a:t>）</a:t>
            </a:r>
          </a:p>
          <a:p>
            <a:pPr marL="901700" indent="-901700">
              <a:lnSpc>
                <a:spcPts val="3000"/>
              </a:lnSpc>
              <a:buNone/>
            </a:pPr>
            <a:r>
              <a:rPr lang="zh-CN" altLang="zh-CN" sz="2000" dirty="0">
                <a:solidFill>
                  <a:srgbClr val="0000FF"/>
                </a:solidFill>
              </a:rPr>
              <a:t>分析</a:t>
            </a:r>
            <a:r>
              <a:rPr lang="en-US" altLang="zh-CN" sz="2000" dirty="0">
                <a:solidFill>
                  <a:srgbClr val="0000FF"/>
                </a:solidFill>
              </a:rPr>
              <a:t>1</a:t>
            </a:r>
            <a:r>
              <a:rPr lang="zh-CN" altLang="zh-CN" sz="2000" dirty="0">
                <a:solidFill>
                  <a:srgbClr val="0000FF"/>
                </a:solidFill>
              </a:rPr>
              <a:t>：</a:t>
            </a:r>
            <a:r>
              <a:rPr lang="zh-CN" altLang="zh-CN" sz="2000" dirty="0"/>
              <a:t>购买图书的</a:t>
            </a:r>
            <a:r>
              <a:rPr lang="zh-CN" altLang="zh-CN" sz="2000" dirty="0" smtClean="0"/>
              <a:t>每个客户</a:t>
            </a:r>
            <a:r>
              <a:rPr lang="zh-CN" altLang="zh-CN" sz="2000" dirty="0"/>
              <a:t>，不但需要添加客户信息、书号和购买日期等</a:t>
            </a:r>
            <a:r>
              <a:rPr lang="zh-CN" altLang="zh-CN" sz="2000" dirty="0" smtClean="0"/>
              <a:t>必要信息</a:t>
            </a:r>
            <a:r>
              <a:rPr lang="zh-CN" altLang="zh-CN" sz="2000" dirty="0"/>
              <a:t>，而且还要重复添加图书和出版社的全部信息（数据冗余）。</a:t>
            </a:r>
          </a:p>
          <a:p>
            <a:pPr marL="901700" indent="-901700">
              <a:lnSpc>
                <a:spcPts val="3000"/>
              </a:lnSpc>
              <a:buNone/>
            </a:pPr>
            <a:r>
              <a:rPr lang="zh-CN" altLang="zh-CN" sz="2000" dirty="0">
                <a:solidFill>
                  <a:srgbClr val="0000FF"/>
                </a:solidFill>
              </a:rPr>
              <a:t>分析</a:t>
            </a:r>
            <a:r>
              <a:rPr lang="en-US" altLang="zh-CN" sz="2000" dirty="0">
                <a:solidFill>
                  <a:srgbClr val="0000FF"/>
                </a:solidFill>
              </a:rPr>
              <a:t>2</a:t>
            </a:r>
            <a:r>
              <a:rPr lang="zh-CN" altLang="zh-CN" sz="2000" dirty="0">
                <a:solidFill>
                  <a:srgbClr val="0000FF"/>
                </a:solidFill>
              </a:rPr>
              <a:t>：</a:t>
            </a:r>
            <a:r>
              <a:rPr lang="zh-CN" altLang="zh-CN" sz="2000" dirty="0"/>
              <a:t>如果删除部分下架的图书信息，则会把购买这些书的的客户信息和出版社信息一起删除，这是绝对不合理的（删除异常）。</a:t>
            </a:r>
          </a:p>
          <a:p>
            <a:pPr marL="0" indent="0">
              <a:lnSpc>
                <a:spcPts val="3000"/>
              </a:lnSpc>
              <a:buNone/>
            </a:pPr>
            <a:r>
              <a:rPr lang="zh-CN" altLang="en-US" sz="2000" dirty="0" smtClean="0">
                <a:solidFill>
                  <a:srgbClr val="0000FF"/>
                </a:solidFill>
              </a:rPr>
              <a:t>显然：</a:t>
            </a:r>
            <a:r>
              <a:rPr lang="zh-CN" altLang="zh-CN" sz="2000" dirty="0" smtClean="0"/>
              <a:t>使用</a:t>
            </a:r>
            <a:r>
              <a:rPr lang="en-US" altLang="zh-CN" sz="2000" dirty="0"/>
              <a:t>Book</a:t>
            </a:r>
            <a:r>
              <a:rPr lang="zh-CN" altLang="zh-CN" sz="2000" dirty="0"/>
              <a:t>、</a:t>
            </a:r>
            <a:r>
              <a:rPr lang="en-US" altLang="zh-CN" sz="2000" dirty="0" err="1"/>
              <a:t>Cust</a:t>
            </a:r>
            <a:r>
              <a:rPr lang="zh-CN" altLang="zh-CN" sz="2000" dirty="0"/>
              <a:t>、</a:t>
            </a:r>
            <a:r>
              <a:rPr lang="en-US" altLang="zh-CN" sz="2000" dirty="0"/>
              <a:t>Press</a:t>
            </a:r>
            <a:r>
              <a:rPr lang="zh-CN" altLang="zh-CN" sz="2000" dirty="0"/>
              <a:t>和</a:t>
            </a:r>
            <a:r>
              <a:rPr lang="en-US" altLang="zh-CN" sz="2000" dirty="0"/>
              <a:t>Buy</a:t>
            </a:r>
            <a:r>
              <a:rPr lang="zh-CN" altLang="zh-CN" sz="2000" dirty="0"/>
              <a:t>，明显优于使用</a:t>
            </a:r>
            <a:r>
              <a:rPr lang="en-US" altLang="zh-CN" sz="2000" dirty="0" err="1"/>
              <a:t>BInfo</a:t>
            </a:r>
            <a:r>
              <a:rPr lang="zh-CN" altLang="zh-CN" sz="2000" dirty="0"/>
              <a:t>！</a:t>
            </a:r>
          </a:p>
          <a:p>
            <a:pPr marL="806450" indent="-806450">
              <a:lnSpc>
                <a:spcPts val="3000"/>
              </a:lnSpc>
              <a:buNone/>
            </a:pPr>
            <a:r>
              <a:rPr lang="zh-CN" altLang="zh-CN" sz="2000" dirty="0">
                <a:solidFill>
                  <a:srgbClr val="0000FF"/>
                </a:solidFill>
              </a:rPr>
              <a:t>结论：</a:t>
            </a:r>
            <a:r>
              <a:rPr lang="zh-CN" altLang="zh-CN" sz="2000" dirty="0"/>
              <a:t>逻辑模型中的关系模式，不能直接使用，需要进行规范化（本章内容），从而在一定程度上解决数据冗余、插入异常、修改异常和删除异常等方面的问题。</a:t>
            </a:r>
          </a:p>
          <a:p>
            <a:pPr marL="722313" indent="-722313">
              <a:lnSpc>
                <a:spcPts val="3000"/>
              </a:lnSpc>
              <a:buNone/>
            </a:pPr>
            <a:r>
              <a:rPr lang="zh-CN" altLang="zh-CN" sz="2000" dirty="0">
                <a:solidFill>
                  <a:srgbClr val="0000FF"/>
                </a:solidFill>
              </a:rPr>
              <a:t>思考：</a:t>
            </a:r>
            <a:r>
              <a:rPr lang="zh-CN" altLang="zh-CN" sz="2000" dirty="0"/>
              <a:t>从数据冗余、插入异常、修改异常和删除异常等方面，进一步分析单表</a:t>
            </a:r>
            <a:r>
              <a:rPr lang="en-US" altLang="zh-CN" sz="2000" dirty="0" err="1"/>
              <a:t>BInfo</a:t>
            </a:r>
            <a:r>
              <a:rPr lang="zh-CN" altLang="zh-CN" sz="2000" dirty="0"/>
              <a:t>的不合理性。</a:t>
            </a:r>
          </a:p>
        </p:txBody>
      </p:sp>
    </p:spTree>
    <p:extLst>
      <p:ext uri="{BB962C8B-B14F-4D97-AF65-F5344CB8AC3E}">
        <p14:creationId xmlns:p14="http://schemas.microsoft.com/office/powerpoint/2010/main" val="31639511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19256" cy="706090"/>
          </a:xfrm>
        </p:spPr>
        <p:txBody>
          <a:bodyPr>
            <a:normAutofit/>
          </a:bodyPr>
          <a:lstStyle/>
          <a:p>
            <a:pPr>
              <a:lnSpc>
                <a:spcPts val="4600"/>
              </a:lnSpc>
            </a:pPr>
            <a:r>
              <a:rPr lang="en-US" altLang="zh-CN" dirty="0" smtClean="0">
                <a:solidFill>
                  <a:srgbClr val="0000FF"/>
                </a:solidFill>
              </a:rPr>
              <a:t>6.1  </a:t>
            </a:r>
            <a:r>
              <a:rPr lang="zh-CN" altLang="zh-CN" dirty="0" smtClean="0">
                <a:solidFill>
                  <a:srgbClr val="0000FF"/>
                </a:solidFill>
              </a:rPr>
              <a:t>函数依赖</a:t>
            </a:r>
            <a:endParaRPr lang="en-US" altLang="zh-CN" dirty="0">
              <a:solidFill>
                <a:srgbClr val="0000FF"/>
              </a:solidFill>
            </a:endParaRPr>
          </a:p>
        </p:txBody>
      </p:sp>
      <p:sp>
        <p:nvSpPr>
          <p:cNvPr id="3" name="文本占位符 2"/>
          <p:cNvSpPr>
            <a:spLocks noGrp="1"/>
          </p:cNvSpPr>
          <p:nvPr>
            <p:ph type="body" idx="1"/>
          </p:nvPr>
        </p:nvSpPr>
        <p:spPr>
          <a:xfrm>
            <a:off x="1835696" y="1268760"/>
            <a:ext cx="5904656" cy="4320480"/>
          </a:xfrm>
        </p:spPr>
        <p:txBody>
          <a:bodyPr>
            <a:noAutofit/>
          </a:bodyPr>
          <a:lstStyle/>
          <a:p>
            <a:pPr marL="457200" lvl="1" indent="-457200">
              <a:lnSpc>
                <a:spcPts val="5600"/>
              </a:lnSpc>
              <a:buFont typeface="Wingdings" pitchFamily="2" charset="2"/>
              <a:buChar char="n"/>
            </a:pPr>
            <a:r>
              <a:rPr lang="zh-CN" altLang="zh-CN" sz="3200" dirty="0" smtClean="0">
                <a:solidFill>
                  <a:srgbClr val="0000FF"/>
                </a:solidFill>
              </a:rPr>
              <a:t>函数依赖</a:t>
            </a:r>
            <a:endParaRPr lang="en-US" altLang="zh-CN" sz="3200" dirty="0" smtClean="0">
              <a:solidFill>
                <a:srgbClr val="0000FF"/>
              </a:solidFill>
            </a:endParaRPr>
          </a:p>
          <a:p>
            <a:pPr marL="457200" lvl="1" indent="-457200">
              <a:lnSpc>
                <a:spcPts val="5600"/>
              </a:lnSpc>
              <a:buFont typeface="Wingdings" pitchFamily="2" charset="2"/>
              <a:buChar char="n"/>
            </a:pPr>
            <a:r>
              <a:rPr lang="zh-CN" altLang="zh-CN" sz="3200" dirty="0" smtClean="0">
                <a:solidFill>
                  <a:srgbClr val="0000FF"/>
                </a:solidFill>
              </a:rPr>
              <a:t>完全依赖</a:t>
            </a:r>
            <a:endParaRPr lang="en-US" altLang="zh-CN" sz="3200" dirty="0" smtClean="0">
              <a:solidFill>
                <a:srgbClr val="0000FF"/>
              </a:solidFill>
            </a:endParaRPr>
          </a:p>
          <a:p>
            <a:pPr marL="457200" lvl="1" indent="-457200">
              <a:lnSpc>
                <a:spcPts val="5600"/>
              </a:lnSpc>
              <a:buFont typeface="Wingdings" pitchFamily="2" charset="2"/>
              <a:buChar char="n"/>
            </a:pPr>
            <a:r>
              <a:rPr lang="zh-CN" altLang="zh-CN" sz="3200" dirty="0" smtClean="0">
                <a:solidFill>
                  <a:srgbClr val="0000FF"/>
                </a:solidFill>
              </a:rPr>
              <a:t>部分依赖</a:t>
            </a:r>
            <a:endParaRPr lang="en-US" altLang="zh-CN" sz="3200" dirty="0" smtClean="0">
              <a:solidFill>
                <a:srgbClr val="0000FF"/>
              </a:solidFill>
            </a:endParaRPr>
          </a:p>
          <a:p>
            <a:pPr marL="457200" lvl="1" indent="-457200">
              <a:lnSpc>
                <a:spcPts val="5600"/>
              </a:lnSpc>
              <a:buFont typeface="Wingdings" pitchFamily="2" charset="2"/>
              <a:buChar char="n"/>
            </a:pPr>
            <a:r>
              <a:rPr lang="zh-CN" altLang="zh-CN" sz="3200" dirty="0" smtClean="0">
                <a:solidFill>
                  <a:srgbClr val="0000FF"/>
                </a:solidFill>
              </a:rPr>
              <a:t>传递依赖</a:t>
            </a:r>
            <a:endParaRPr lang="en-US" altLang="zh-CN" sz="3200" dirty="0" smtClean="0">
              <a:solidFill>
                <a:srgbClr val="0000FF"/>
              </a:solidFill>
            </a:endParaRPr>
          </a:p>
          <a:p>
            <a:pPr marL="457200" lvl="1" indent="-457200">
              <a:lnSpc>
                <a:spcPts val="5600"/>
              </a:lnSpc>
              <a:buFont typeface="Wingdings" pitchFamily="2" charset="2"/>
              <a:buChar char="n"/>
            </a:pPr>
            <a:r>
              <a:rPr lang="zh-CN" altLang="en-US" sz="3200" dirty="0"/>
              <a:t>多值依赖</a:t>
            </a:r>
            <a:endParaRPr lang="zh-CN" altLang="zh-CN" sz="3200" dirty="0"/>
          </a:p>
        </p:txBody>
      </p:sp>
      <p:sp>
        <p:nvSpPr>
          <p:cNvPr id="4" name="日期占位符 3"/>
          <p:cNvSpPr>
            <a:spLocks noGrp="1"/>
          </p:cNvSpPr>
          <p:nvPr>
            <p:ph type="dt" sz="half" idx="10"/>
          </p:nvPr>
        </p:nvSpPr>
        <p:spPr/>
        <p:txBody>
          <a:bodyPr/>
          <a:lstStyle/>
          <a:p>
            <a:fld id="{F63EB1C2-2F1E-4814-9601-778F991498D1}"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a:t>
            </a:fld>
            <a:endParaRPr lang="zh-CN" altLang="en-US" dirty="0"/>
          </a:p>
        </p:txBody>
      </p:sp>
    </p:spTree>
    <p:extLst>
      <p:ext uri="{BB962C8B-B14F-4D97-AF65-F5344CB8AC3E}">
        <p14:creationId xmlns:p14="http://schemas.microsoft.com/office/powerpoint/2010/main" val="2095561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6.1.1 </a:t>
            </a:r>
            <a:r>
              <a:rPr lang="zh-CN" altLang="zh-CN" dirty="0"/>
              <a:t>函数依赖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定义</a:t>
            </a:r>
            <a:r>
              <a:rPr lang="en-US" altLang="zh-CN" sz="2000" dirty="0">
                <a:solidFill>
                  <a:srgbClr val="0000FF"/>
                </a:solidFill>
              </a:rPr>
              <a:t>6.1 </a:t>
            </a:r>
            <a:r>
              <a:rPr lang="zh-CN" altLang="zh-CN" sz="2000" dirty="0"/>
              <a:t>设</a:t>
            </a:r>
            <a:r>
              <a:rPr lang="en-US" altLang="zh-CN" sz="2000" dirty="0"/>
              <a:t>R(U)</a:t>
            </a:r>
            <a:r>
              <a:rPr lang="zh-CN" altLang="zh-CN" sz="2000" dirty="0"/>
              <a:t>是属性集</a:t>
            </a:r>
            <a:r>
              <a:rPr lang="en-US" altLang="zh-CN" sz="2000" dirty="0"/>
              <a:t>U</a:t>
            </a:r>
            <a:r>
              <a:rPr lang="zh-CN" altLang="zh-CN" sz="2000" dirty="0"/>
              <a:t>上的关系模式，</a:t>
            </a:r>
            <a:r>
              <a:rPr lang="en-US" altLang="zh-CN" sz="2000" dirty="0"/>
              <a:t>X</a:t>
            </a:r>
            <a:r>
              <a:rPr lang="zh-CN" altLang="zh-CN" sz="2000" dirty="0"/>
              <a:t>和</a:t>
            </a:r>
            <a:r>
              <a:rPr lang="en-US" altLang="zh-CN" sz="2000" dirty="0"/>
              <a:t>Y</a:t>
            </a:r>
            <a:r>
              <a:rPr lang="zh-CN" altLang="zh-CN" sz="2000" dirty="0"/>
              <a:t>是</a:t>
            </a:r>
            <a:r>
              <a:rPr lang="en-US" altLang="zh-CN" sz="2000" dirty="0"/>
              <a:t>U</a:t>
            </a:r>
            <a:r>
              <a:rPr lang="zh-CN" altLang="zh-CN" sz="2000" dirty="0"/>
              <a:t>的子集。对于</a:t>
            </a:r>
            <a:r>
              <a:rPr lang="en-US" altLang="zh-CN" sz="2000" dirty="0"/>
              <a:t>R(U)</a:t>
            </a:r>
            <a:r>
              <a:rPr lang="zh-CN" altLang="zh-CN" sz="2000" dirty="0"/>
              <a:t>的任意关系的任意元组</a:t>
            </a:r>
            <a:r>
              <a:rPr lang="en-US" altLang="zh-CN" sz="2000" dirty="0"/>
              <a:t>t</a:t>
            </a:r>
            <a:r>
              <a:rPr lang="en-US" altLang="zh-CN" sz="2000" baseline="-25000" dirty="0"/>
              <a:t>1</a:t>
            </a:r>
            <a:r>
              <a:rPr lang="en-US" altLang="zh-CN" sz="2000" dirty="0"/>
              <a:t>, t</a:t>
            </a:r>
            <a:r>
              <a:rPr lang="en-US" altLang="zh-CN" sz="2000" baseline="-25000" dirty="0"/>
              <a:t>2</a:t>
            </a:r>
            <a:r>
              <a:rPr lang="zh-CN" altLang="zh-CN" sz="2000" dirty="0"/>
              <a:t>，如果</a:t>
            </a:r>
            <a:r>
              <a:rPr lang="en-US" altLang="zh-CN" sz="2000" dirty="0"/>
              <a:t>t</a:t>
            </a:r>
            <a:r>
              <a:rPr lang="en-US" altLang="zh-CN" sz="2000" baseline="-25000" dirty="0"/>
              <a:t>1</a:t>
            </a:r>
            <a:r>
              <a:rPr lang="en-US" altLang="zh-CN" sz="2000" dirty="0"/>
              <a:t>[Y]</a:t>
            </a:r>
            <a:r>
              <a:rPr lang="zh-CN" altLang="zh-CN" sz="2000" dirty="0"/>
              <a:t>≠</a:t>
            </a:r>
            <a:r>
              <a:rPr lang="en-US" altLang="zh-CN" sz="2000" dirty="0"/>
              <a:t>t</a:t>
            </a:r>
            <a:r>
              <a:rPr lang="en-US" altLang="zh-CN" sz="2000" baseline="-25000" dirty="0"/>
              <a:t>2</a:t>
            </a:r>
            <a:r>
              <a:rPr lang="en-US" altLang="zh-CN" sz="2000" dirty="0"/>
              <a:t>[Y]</a:t>
            </a:r>
            <a:r>
              <a:rPr lang="zh-CN" altLang="zh-CN" sz="2000" dirty="0"/>
              <a:t>，成立</a:t>
            </a:r>
            <a:r>
              <a:rPr lang="en-US" altLang="zh-CN" sz="2000" dirty="0"/>
              <a:t>t</a:t>
            </a:r>
            <a:r>
              <a:rPr lang="en-US" altLang="zh-CN" sz="2000" baseline="-25000" dirty="0"/>
              <a:t>1</a:t>
            </a:r>
            <a:r>
              <a:rPr lang="en-US" altLang="zh-CN" sz="2000" dirty="0"/>
              <a:t>[X]</a:t>
            </a:r>
            <a:r>
              <a:rPr lang="zh-CN" altLang="zh-CN" sz="2000" dirty="0"/>
              <a:t>≠</a:t>
            </a:r>
            <a:r>
              <a:rPr lang="en-US" altLang="zh-CN" sz="2000" dirty="0"/>
              <a:t>t</a:t>
            </a:r>
            <a:r>
              <a:rPr lang="en-US" altLang="zh-CN" sz="2000" baseline="-25000" dirty="0"/>
              <a:t>2</a:t>
            </a:r>
            <a:r>
              <a:rPr lang="en-US" altLang="zh-CN" sz="2000" dirty="0"/>
              <a:t>[X]</a:t>
            </a:r>
            <a:r>
              <a:rPr lang="zh-CN" altLang="zh-CN" sz="2000" dirty="0"/>
              <a:t>（即：不存在</a:t>
            </a:r>
            <a:r>
              <a:rPr lang="en-US" altLang="zh-CN" sz="2000" dirty="0"/>
              <a:t>t</a:t>
            </a:r>
            <a:r>
              <a:rPr lang="en-US" altLang="zh-CN" sz="2000" baseline="-25000" dirty="0"/>
              <a:t>1</a:t>
            </a:r>
            <a:r>
              <a:rPr lang="en-US" altLang="zh-CN" sz="2000" dirty="0"/>
              <a:t>, t</a:t>
            </a:r>
            <a:r>
              <a:rPr lang="en-US" altLang="zh-CN" sz="2000" baseline="-25000" dirty="0"/>
              <a:t>2</a:t>
            </a:r>
            <a:r>
              <a:rPr lang="zh-CN" altLang="zh-CN" sz="2000" dirty="0"/>
              <a:t>，使得</a:t>
            </a:r>
            <a:r>
              <a:rPr lang="en-US" altLang="zh-CN" sz="2000" dirty="0"/>
              <a:t>t</a:t>
            </a:r>
            <a:r>
              <a:rPr lang="en-US" altLang="zh-CN" sz="2000" baseline="-25000" dirty="0"/>
              <a:t>1</a:t>
            </a:r>
            <a:r>
              <a:rPr lang="en-US" altLang="zh-CN" sz="2000" dirty="0"/>
              <a:t>[X]=t</a:t>
            </a:r>
            <a:r>
              <a:rPr lang="en-US" altLang="zh-CN" sz="2000" baseline="-25000" dirty="0"/>
              <a:t>2</a:t>
            </a:r>
            <a:r>
              <a:rPr lang="en-US" altLang="zh-CN" sz="2000" dirty="0"/>
              <a:t>[X]</a:t>
            </a:r>
            <a:r>
              <a:rPr lang="zh-CN" altLang="zh-CN" sz="2000" dirty="0"/>
              <a:t>，而</a:t>
            </a:r>
            <a:r>
              <a:rPr lang="en-US" altLang="zh-CN" sz="2000" dirty="0"/>
              <a:t>t</a:t>
            </a:r>
            <a:r>
              <a:rPr lang="en-US" altLang="zh-CN" sz="2000" baseline="-25000" dirty="0"/>
              <a:t>1</a:t>
            </a:r>
            <a:r>
              <a:rPr lang="en-US" altLang="zh-CN" sz="2000" dirty="0"/>
              <a:t>[Y]</a:t>
            </a:r>
            <a:r>
              <a:rPr lang="zh-CN" altLang="zh-CN" sz="2000" dirty="0"/>
              <a:t>≠</a:t>
            </a:r>
            <a:r>
              <a:rPr lang="en-US" altLang="zh-CN" sz="2000" dirty="0"/>
              <a:t>t</a:t>
            </a:r>
            <a:r>
              <a:rPr lang="en-US" altLang="zh-CN" sz="2000" baseline="-25000" dirty="0"/>
              <a:t>2</a:t>
            </a:r>
            <a:r>
              <a:rPr lang="en-US" altLang="zh-CN" sz="2000" dirty="0"/>
              <a:t>[Y]</a:t>
            </a:r>
            <a:r>
              <a:rPr lang="zh-CN" altLang="zh-CN" sz="2000" dirty="0"/>
              <a:t>）。</a:t>
            </a:r>
          </a:p>
          <a:p>
            <a:pPr marL="360363" indent="0">
              <a:buNone/>
            </a:pPr>
            <a:r>
              <a:rPr lang="zh-CN" altLang="zh-CN" sz="2000" dirty="0"/>
              <a:t>则称</a:t>
            </a:r>
            <a:r>
              <a:rPr lang="en-US" altLang="zh-CN" sz="2000" dirty="0"/>
              <a:t> X</a:t>
            </a:r>
            <a:r>
              <a:rPr lang="zh-CN" altLang="zh-CN" sz="2000" dirty="0"/>
              <a:t>函数确定</a:t>
            </a:r>
            <a:r>
              <a:rPr lang="en-US" altLang="zh-CN" sz="2000" dirty="0"/>
              <a:t>Y</a:t>
            </a:r>
            <a:r>
              <a:rPr lang="zh-CN" altLang="zh-CN" sz="2000" dirty="0"/>
              <a:t>（即：</a:t>
            </a:r>
            <a:r>
              <a:rPr lang="en-US" altLang="zh-CN" sz="2000" dirty="0"/>
              <a:t>X</a:t>
            </a:r>
            <a:r>
              <a:rPr lang="zh-CN" altLang="zh-CN" sz="2000" dirty="0"/>
              <a:t>→</a:t>
            </a:r>
            <a:r>
              <a:rPr lang="en-US" altLang="zh-CN" sz="2000" dirty="0"/>
              <a:t>Y</a:t>
            </a:r>
            <a:r>
              <a:rPr lang="zh-CN" altLang="zh-CN" sz="2000" dirty="0"/>
              <a:t>）或</a:t>
            </a:r>
            <a:r>
              <a:rPr lang="en-US" altLang="zh-CN" sz="2000" dirty="0"/>
              <a:t>Y</a:t>
            </a:r>
            <a:r>
              <a:rPr lang="zh-CN" altLang="zh-CN" sz="2000" dirty="0"/>
              <a:t>函数依赖于</a:t>
            </a:r>
            <a:r>
              <a:rPr lang="en-US" altLang="zh-CN" sz="2000" dirty="0"/>
              <a:t>X</a:t>
            </a:r>
            <a:r>
              <a:rPr lang="zh-CN" altLang="zh-CN" sz="2000" dirty="0"/>
              <a:t>。</a:t>
            </a:r>
          </a:p>
          <a:p>
            <a:r>
              <a:rPr lang="zh-CN" altLang="zh-CN" sz="2000" dirty="0"/>
              <a:t>如果</a:t>
            </a:r>
            <a:r>
              <a:rPr lang="en-US" altLang="zh-CN" sz="2000" dirty="0"/>
              <a:t>X</a:t>
            </a:r>
            <a:r>
              <a:rPr lang="zh-CN" altLang="zh-CN" sz="2000" dirty="0"/>
              <a:t>→</a:t>
            </a:r>
            <a:r>
              <a:rPr lang="en-US" altLang="zh-CN" sz="2000" dirty="0"/>
              <a:t>Y</a:t>
            </a:r>
            <a:r>
              <a:rPr lang="zh-CN" altLang="zh-CN" sz="2000" dirty="0"/>
              <a:t>，并且</a:t>
            </a:r>
            <a:r>
              <a:rPr lang="en-US" altLang="zh-CN" sz="2000" dirty="0"/>
              <a:t>Y</a:t>
            </a:r>
            <a:r>
              <a:rPr lang="zh-CN" altLang="zh-CN" sz="2000" dirty="0"/>
              <a:t>→</a:t>
            </a:r>
            <a:r>
              <a:rPr lang="en-US" altLang="zh-CN" sz="2000" dirty="0"/>
              <a:t>X</a:t>
            </a:r>
            <a:r>
              <a:rPr lang="zh-CN" altLang="zh-CN" sz="2000" dirty="0"/>
              <a:t>，则称</a:t>
            </a:r>
            <a:r>
              <a:rPr lang="en-US" altLang="zh-CN" sz="2000" dirty="0"/>
              <a:t>X</a:t>
            </a:r>
            <a:r>
              <a:rPr lang="zh-CN" altLang="zh-CN" sz="2000" dirty="0"/>
              <a:t>与</a:t>
            </a:r>
            <a:r>
              <a:rPr lang="en-US" altLang="zh-CN" sz="2000" dirty="0"/>
              <a:t>Y</a:t>
            </a:r>
            <a:r>
              <a:rPr lang="zh-CN" altLang="zh-CN" sz="2000" dirty="0"/>
              <a:t>互相函数依赖。记为：</a:t>
            </a:r>
            <a:r>
              <a:rPr lang="en-US" altLang="zh-CN" sz="2000" dirty="0"/>
              <a:t>X</a:t>
            </a:r>
            <a:r>
              <a:rPr lang="zh-CN" altLang="zh-CN" sz="2000" dirty="0"/>
              <a:t>←→</a:t>
            </a:r>
            <a:r>
              <a:rPr lang="en-US" altLang="zh-CN" sz="2000" dirty="0"/>
              <a:t>Y</a:t>
            </a:r>
            <a:r>
              <a:rPr lang="zh-CN" altLang="zh-CN" sz="2000" dirty="0"/>
              <a:t>。</a:t>
            </a:r>
          </a:p>
          <a:p>
            <a:r>
              <a:rPr lang="zh-CN" altLang="zh-CN" sz="2000" dirty="0"/>
              <a:t>如果</a:t>
            </a:r>
            <a:r>
              <a:rPr lang="en-US" altLang="zh-CN" sz="2000" dirty="0"/>
              <a:t>X</a:t>
            </a:r>
            <a:r>
              <a:rPr lang="zh-CN" altLang="zh-CN" sz="2000" dirty="0"/>
              <a:t>不函数确定</a:t>
            </a:r>
            <a:r>
              <a:rPr lang="en-US" altLang="zh-CN" sz="2000" dirty="0"/>
              <a:t>Y</a:t>
            </a:r>
            <a:r>
              <a:rPr lang="zh-CN" altLang="zh-CN" sz="2000" dirty="0"/>
              <a:t>，则记为：</a:t>
            </a:r>
            <a:r>
              <a:rPr lang="en-US" altLang="zh-CN" sz="2000" dirty="0"/>
              <a:t>X </a:t>
            </a:r>
            <a:r>
              <a:rPr lang="en-US" altLang="zh-CN" sz="2000" dirty="0" smtClean="0"/>
              <a:t>       </a:t>
            </a:r>
            <a:r>
              <a:rPr lang="en-US" altLang="zh-CN" sz="2000" dirty="0"/>
              <a:t>Y</a:t>
            </a:r>
            <a:r>
              <a:rPr lang="zh-CN" altLang="zh-CN" sz="2000" dirty="0"/>
              <a:t>。</a:t>
            </a:r>
          </a:p>
          <a:p>
            <a:r>
              <a:rPr lang="zh-CN" altLang="zh-CN" sz="2000" dirty="0">
                <a:solidFill>
                  <a:srgbClr val="0000FF"/>
                </a:solidFill>
              </a:rPr>
              <a:t>提示：</a:t>
            </a:r>
            <a:r>
              <a:rPr lang="zh-CN" altLang="zh-CN" sz="2000" dirty="0"/>
              <a:t>对于关系模式</a:t>
            </a:r>
            <a:r>
              <a:rPr lang="en-US" altLang="zh-CN" sz="2000" dirty="0"/>
              <a:t>R(U)</a:t>
            </a:r>
            <a:r>
              <a:rPr lang="zh-CN" altLang="zh-CN" sz="2000" dirty="0"/>
              <a:t>，如果成立</a:t>
            </a:r>
            <a:r>
              <a:rPr lang="en-US" altLang="zh-CN" sz="2000" dirty="0"/>
              <a:t>X</a:t>
            </a:r>
            <a:r>
              <a:rPr lang="zh-CN" altLang="zh-CN" sz="2000" dirty="0"/>
              <a:t>→</a:t>
            </a:r>
            <a:r>
              <a:rPr lang="en-US" altLang="zh-CN" sz="2000" dirty="0"/>
              <a:t>Y</a:t>
            </a:r>
            <a:r>
              <a:rPr lang="zh-CN" altLang="zh-CN" sz="2000" dirty="0"/>
              <a:t>，则对</a:t>
            </a:r>
            <a:r>
              <a:rPr lang="en-US" altLang="zh-CN" sz="2000" dirty="0"/>
              <a:t>R(U)</a:t>
            </a:r>
            <a:r>
              <a:rPr lang="zh-CN" altLang="zh-CN" sz="2000" dirty="0"/>
              <a:t>的任意关系均成立</a:t>
            </a:r>
            <a:r>
              <a:rPr lang="en-US" altLang="zh-CN" sz="2000" dirty="0"/>
              <a:t>X</a:t>
            </a:r>
            <a:r>
              <a:rPr lang="zh-CN" altLang="zh-CN" sz="2000" dirty="0"/>
              <a:t>→</a:t>
            </a:r>
            <a:r>
              <a:rPr lang="en-US" altLang="zh-CN" sz="2000" dirty="0"/>
              <a:t>Y</a:t>
            </a:r>
            <a:r>
              <a:rPr lang="zh-CN" altLang="zh-CN" sz="2000" dirty="0"/>
              <a:t>。</a:t>
            </a:r>
          </a:p>
          <a:p>
            <a:r>
              <a:rPr lang="zh-CN" altLang="zh-CN" sz="2000" dirty="0">
                <a:solidFill>
                  <a:srgbClr val="0000FF"/>
                </a:solidFill>
              </a:rPr>
              <a:t>例如：</a:t>
            </a:r>
            <a:r>
              <a:rPr lang="zh-CN" altLang="zh-CN" sz="2000" dirty="0"/>
              <a:t>在</a:t>
            </a:r>
            <a:r>
              <a:rPr lang="en-US" altLang="zh-CN" sz="2000" dirty="0" err="1"/>
              <a:t>BInfo</a:t>
            </a:r>
            <a:r>
              <a:rPr lang="zh-CN" altLang="zh-CN" sz="2000" dirty="0"/>
              <a:t>中，则存在函数依赖：</a:t>
            </a:r>
          </a:p>
          <a:p>
            <a:pPr marL="360363" indent="0">
              <a:buNone/>
            </a:pPr>
            <a:r>
              <a:rPr lang="en-US" altLang="zh-CN" sz="2000" dirty="0" err="1"/>
              <a:t>BNo</a:t>
            </a:r>
            <a:r>
              <a:rPr lang="zh-CN" altLang="zh-CN" sz="2000" dirty="0"/>
              <a:t>→</a:t>
            </a:r>
            <a:r>
              <a:rPr lang="en-US" altLang="zh-CN" sz="2000" dirty="0" err="1"/>
              <a:t>BName</a:t>
            </a:r>
            <a:r>
              <a:rPr lang="zh-CN" altLang="zh-CN" sz="2000" dirty="0"/>
              <a:t>；</a:t>
            </a:r>
            <a:r>
              <a:rPr lang="en-US" altLang="zh-CN" sz="2000" dirty="0" err="1"/>
              <a:t>BNo</a:t>
            </a:r>
            <a:r>
              <a:rPr lang="zh-CN" altLang="zh-CN" sz="2000" dirty="0"/>
              <a:t>→</a:t>
            </a:r>
            <a:r>
              <a:rPr lang="en-US" altLang="zh-CN" sz="2000" dirty="0"/>
              <a:t>Author</a:t>
            </a:r>
            <a:r>
              <a:rPr lang="zh-CN" altLang="zh-CN" sz="2000" dirty="0"/>
              <a:t>；</a:t>
            </a:r>
            <a:r>
              <a:rPr lang="en-US" altLang="zh-CN" sz="2000" dirty="0" err="1"/>
              <a:t>BNo</a:t>
            </a:r>
            <a:r>
              <a:rPr lang="zh-CN" altLang="zh-CN" sz="2000" dirty="0"/>
              <a:t>→</a:t>
            </a:r>
            <a:r>
              <a:rPr lang="en-US" altLang="zh-CN" sz="2000" dirty="0" err="1"/>
              <a:t>PNo</a:t>
            </a:r>
            <a:r>
              <a:rPr lang="zh-CN" altLang="zh-CN" sz="2000" dirty="0"/>
              <a:t>；</a:t>
            </a:r>
            <a:r>
              <a:rPr lang="en-US" altLang="zh-CN" sz="2000" dirty="0" err="1"/>
              <a:t>BNo</a:t>
            </a:r>
            <a:r>
              <a:rPr lang="zh-CN" altLang="zh-CN" sz="2000" dirty="0"/>
              <a:t>→</a:t>
            </a:r>
            <a:r>
              <a:rPr lang="en-US" altLang="zh-CN" sz="2000" dirty="0" err="1"/>
              <a:t>EditNo</a:t>
            </a:r>
            <a:r>
              <a:rPr lang="zh-CN" altLang="zh-CN" sz="2000" dirty="0"/>
              <a:t>；</a:t>
            </a:r>
            <a:r>
              <a:rPr lang="en-US" altLang="zh-CN" sz="2000" dirty="0" err="1"/>
              <a:t>BNo</a:t>
            </a:r>
            <a:r>
              <a:rPr lang="zh-CN" altLang="zh-CN" sz="2000" dirty="0"/>
              <a:t>→</a:t>
            </a:r>
            <a:r>
              <a:rPr lang="en-US" altLang="zh-CN" sz="2000" dirty="0"/>
              <a:t>Price</a:t>
            </a:r>
            <a:endParaRPr lang="zh-CN" altLang="zh-CN" sz="2000" dirty="0"/>
          </a:p>
          <a:p>
            <a:pPr marL="360363" indent="0">
              <a:buNone/>
            </a:pPr>
            <a:r>
              <a:rPr lang="zh-CN" altLang="zh-CN" sz="2000" dirty="0"/>
              <a:t>但是：</a:t>
            </a:r>
            <a:r>
              <a:rPr lang="en-US" altLang="zh-CN" sz="2000" dirty="0" err="1" smtClean="0"/>
              <a:t>BName</a:t>
            </a:r>
            <a:r>
              <a:rPr lang="en-US" altLang="zh-CN" sz="2000" dirty="0" smtClean="0"/>
              <a:t>           </a:t>
            </a:r>
            <a:r>
              <a:rPr lang="en-US" altLang="zh-CN" sz="2000" dirty="0"/>
              <a:t>Author</a:t>
            </a:r>
            <a:r>
              <a:rPr lang="zh-CN" altLang="zh-CN" sz="2000" dirty="0"/>
              <a:t>；</a:t>
            </a:r>
            <a:r>
              <a:rPr lang="en-US" altLang="zh-CN" sz="2000" dirty="0" err="1"/>
              <a:t>BName</a:t>
            </a:r>
            <a:r>
              <a:rPr lang="en-US" altLang="zh-CN" sz="2000" dirty="0"/>
              <a:t>  </a:t>
            </a:r>
            <a:r>
              <a:rPr lang="en-US" altLang="zh-CN" sz="2000" dirty="0" smtClean="0"/>
              <a:t>        </a:t>
            </a:r>
            <a:r>
              <a:rPr lang="en-US" altLang="zh-CN" sz="2000" dirty="0" err="1"/>
              <a:t>PNo</a:t>
            </a:r>
            <a:r>
              <a:rPr lang="zh-CN" altLang="zh-CN" sz="2000" dirty="0" smtClean="0"/>
              <a:t>。</a:t>
            </a:r>
            <a:endParaRPr lang="zh-CN" altLang="en-US" sz="2000" dirty="0"/>
          </a:p>
        </p:txBody>
      </p:sp>
      <p:grpSp>
        <p:nvGrpSpPr>
          <p:cNvPr id="8" name="组合 7"/>
          <p:cNvGrpSpPr>
            <a:grpSpLocks/>
          </p:cNvGrpSpPr>
          <p:nvPr/>
        </p:nvGrpSpPr>
        <p:grpSpPr bwMode="auto">
          <a:xfrm>
            <a:off x="5076056" y="5949280"/>
            <a:ext cx="504056" cy="252028"/>
            <a:chOff x="4638" y="3090"/>
            <a:chExt cx="336" cy="156"/>
          </a:xfrm>
        </p:grpSpPr>
        <p:cxnSp>
          <p:nvCxnSpPr>
            <p:cNvPr id="9"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10"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6" name="组合 15"/>
          <p:cNvGrpSpPr>
            <a:grpSpLocks/>
          </p:cNvGrpSpPr>
          <p:nvPr/>
        </p:nvGrpSpPr>
        <p:grpSpPr bwMode="auto">
          <a:xfrm>
            <a:off x="2339752" y="5949280"/>
            <a:ext cx="504056" cy="252028"/>
            <a:chOff x="4638" y="3090"/>
            <a:chExt cx="336" cy="156"/>
          </a:xfrm>
        </p:grpSpPr>
        <p:cxnSp>
          <p:nvCxnSpPr>
            <p:cNvPr id="17"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18"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9" name="组合 18"/>
          <p:cNvGrpSpPr>
            <a:grpSpLocks/>
          </p:cNvGrpSpPr>
          <p:nvPr/>
        </p:nvGrpSpPr>
        <p:grpSpPr bwMode="auto">
          <a:xfrm>
            <a:off x="4139952" y="3212976"/>
            <a:ext cx="504056" cy="252028"/>
            <a:chOff x="4638" y="3090"/>
            <a:chExt cx="336" cy="156"/>
          </a:xfrm>
        </p:grpSpPr>
        <p:cxnSp>
          <p:nvCxnSpPr>
            <p:cNvPr id="20"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21"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601689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6.1.1 </a:t>
            </a:r>
            <a:r>
              <a:rPr lang="zh-CN" altLang="zh-CN" dirty="0"/>
              <a:t>函数依赖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如果</a:t>
            </a:r>
            <a:r>
              <a:rPr lang="en-US" altLang="zh-CN" sz="2000" dirty="0"/>
              <a:t>X</a:t>
            </a:r>
            <a:r>
              <a:rPr lang="zh-CN" altLang="zh-CN" sz="2000" dirty="0"/>
              <a:t>→</a:t>
            </a:r>
            <a:r>
              <a:rPr lang="en-US" altLang="zh-CN" sz="2000" dirty="0"/>
              <a:t>Y</a:t>
            </a:r>
            <a:r>
              <a:rPr lang="zh-CN" altLang="zh-CN" sz="2000" dirty="0"/>
              <a:t>，且</a:t>
            </a:r>
            <a:r>
              <a:rPr lang="en-US" altLang="zh-CN" sz="2000" dirty="0"/>
              <a:t>Y </a:t>
            </a:r>
            <a:r>
              <a:rPr lang="en-US" altLang="zh-CN" sz="2000" dirty="0">
                <a:sym typeface="Symbol"/>
              </a:rPr>
              <a:t></a:t>
            </a:r>
            <a:r>
              <a:rPr lang="en-US" altLang="zh-CN" sz="2000" dirty="0"/>
              <a:t> X</a:t>
            </a:r>
            <a:r>
              <a:rPr lang="zh-CN" altLang="zh-CN" sz="2000" dirty="0"/>
              <a:t>，则称</a:t>
            </a:r>
            <a:r>
              <a:rPr lang="en-US" altLang="zh-CN" sz="2000" dirty="0"/>
              <a:t>X</a:t>
            </a:r>
            <a:r>
              <a:rPr lang="zh-CN" altLang="zh-CN" sz="2000" dirty="0"/>
              <a:t>→</a:t>
            </a:r>
            <a:r>
              <a:rPr lang="en-US" altLang="zh-CN" sz="2000" dirty="0"/>
              <a:t>Y</a:t>
            </a:r>
            <a:r>
              <a:rPr lang="zh-CN" altLang="zh-CN" sz="2000" dirty="0"/>
              <a:t>是</a:t>
            </a:r>
            <a:r>
              <a:rPr lang="zh-CN" altLang="zh-CN" sz="2000" dirty="0">
                <a:solidFill>
                  <a:srgbClr val="0000FF"/>
                </a:solidFill>
              </a:rPr>
              <a:t>平凡函数依赖</a:t>
            </a:r>
            <a:r>
              <a:rPr lang="zh-CN" altLang="zh-CN" sz="2000" dirty="0"/>
              <a:t>。即：</a:t>
            </a:r>
          </a:p>
          <a:p>
            <a:pPr marL="360363" indent="0">
              <a:buNone/>
            </a:pPr>
            <a:r>
              <a:rPr lang="zh-CN" altLang="zh-CN" sz="2000" dirty="0"/>
              <a:t>集合的任意子集均平凡函数依赖于自身。亦即：平凡函数依赖总是成立的。</a:t>
            </a:r>
          </a:p>
          <a:p>
            <a:r>
              <a:rPr lang="zh-CN" altLang="zh-CN" sz="2000" dirty="0"/>
              <a:t>如果</a:t>
            </a:r>
            <a:r>
              <a:rPr lang="en-US" altLang="zh-CN" sz="2000" dirty="0"/>
              <a:t>X</a:t>
            </a:r>
            <a:r>
              <a:rPr lang="zh-CN" altLang="zh-CN" sz="2000" dirty="0"/>
              <a:t>→</a:t>
            </a:r>
            <a:r>
              <a:rPr lang="en-US" altLang="zh-CN" sz="2000" dirty="0"/>
              <a:t>Y</a:t>
            </a:r>
            <a:r>
              <a:rPr lang="zh-CN" altLang="zh-CN" sz="2000" dirty="0"/>
              <a:t>，但</a:t>
            </a:r>
            <a:r>
              <a:rPr lang="en-US" altLang="zh-CN" sz="2000" dirty="0"/>
              <a:t>Y </a:t>
            </a:r>
            <a:r>
              <a:rPr lang="en-US" altLang="zh-CN" sz="2000" dirty="0">
                <a:sym typeface="Symbol"/>
              </a:rPr>
              <a:t></a:t>
            </a:r>
            <a:r>
              <a:rPr lang="en-US" altLang="zh-CN" sz="2000" dirty="0"/>
              <a:t> X</a:t>
            </a:r>
            <a:r>
              <a:rPr lang="zh-CN" altLang="zh-CN" sz="2000" dirty="0"/>
              <a:t>，则称</a:t>
            </a:r>
            <a:r>
              <a:rPr lang="en-US" altLang="zh-CN" sz="2000" dirty="0"/>
              <a:t>X</a:t>
            </a:r>
            <a:r>
              <a:rPr lang="zh-CN" altLang="zh-CN" sz="2000" dirty="0"/>
              <a:t>→</a:t>
            </a:r>
            <a:r>
              <a:rPr lang="en-US" altLang="zh-CN" sz="2000" dirty="0"/>
              <a:t>Y</a:t>
            </a:r>
            <a:r>
              <a:rPr lang="zh-CN" altLang="zh-CN" sz="2000" dirty="0"/>
              <a:t>是非平凡函数依赖。</a:t>
            </a:r>
          </a:p>
          <a:p>
            <a:r>
              <a:rPr lang="zh-CN" altLang="zh-CN" sz="2000" dirty="0">
                <a:solidFill>
                  <a:srgbClr val="0000FF"/>
                </a:solidFill>
              </a:rPr>
              <a:t>说明：</a:t>
            </a:r>
            <a:r>
              <a:rPr lang="zh-CN" altLang="zh-CN" sz="2000" dirty="0"/>
              <a:t>若无特殊声明，则函数依赖均指非平凡函数依赖。</a:t>
            </a:r>
          </a:p>
          <a:p>
            <a:r>
              <a:rPr lang="zh-CN" altLang="zh-CN" sz="2000" dirty="0">
                <a:solidFill>
                  <a:srgbClr val="0000FF"/>
                </a:solidFill>
              </a:rPr>
              <a:t>例如：</a:t>
            </a:r>
            <a:r>
              <a:rPr lang="zh-CN" altLang="zh-CN" sz="2000" dirty="0"/>
              <a:t>在</a:t>
            </a:r>
            <a:r>
              <a:rPr lang="en-US" altLang="zh-CN" sz="2000" dirty="0" err="1"/>
              <a:t>BInfo</a:t>
            </a:r>
            <a:r>
              <a:rPr lang="zh-CN" altLang="zh-CN" sz="2000" dirty="0"/>
              <a:t>中，存在函数依赖：</a:t>
            </a:r>
          </a:p>
          <a:p>
            <a:pPr marL="0" indent="0">
              <a:buNone/>
            </a:pPr>
            <a:r>
              <a:rPr lang="en-US" altLang="zh-CN" sz="2000" dirty="0"/>
              <a:t>    </a:t>
            </a:r>
            <a:r>
              <a:rPr lang="zh-CN" altLang="zh-CN" sz="2000" dirty="0"/>
              <a:t>非平凡函数依赖：</a:t>
            </a:r>
            <a:r>
              <a:rPr lang="en-US" altLang="zh-CN" sz="2000" dirty="0"/>
              <a:t>(</a:t>
            </a:r>
            <a:r>
              <a:rPr lang="en-US" altLang="zh-CN" sz="2000" dirty="0" err="1"/>
              <a:t>BNo</a:t>
            </a:r>
            <a:r>
              <a:rPr lang="en-US" altLang="zh-CN" sz="2000" dirty="0"/>
              <a:t>, </a:t>
            </a:r>
            <a:r>
              <a:rPr lang="en-US" altLang="zh-CN" sz="2000" dirty="0" err="1"/>
              <a:t>CNo</a:t>
            </a:r>
            <a:r>
              <a:rPr lang="en-US" altLang="zh-CN" sz="2000" dirty="0"/>
              <a:t>)</a:t>
            </a:r>
            <a:r>
              <a:rPr lang="zh-CN" altLang="zh-CN" sz="2000" dirty="0"/>
              <a:t>→</a:t>
            </a:r>
            <a:r>
              <a:rPr lang="en-US" altLang="zh-CN" sz="2000" dirty="0" err="1"/>
              <a:t>PDate</a:t>
            </a:r>
            <a:endParaRPr lang="zh-CN" altLang="zh-CN" sz="2000" dirty="0"/>
          </a:p>
          <a:p>
            <a:pPr marL="2057400" indent="-2057400">
              <a:buNone/>
            </a:pPr>
            <a:r>
              <a:rPr lang="en-US" altLang="zh-CN" sz="2000" dirty="0"/>
              <a:t>    </a:t>
            </a:r>
            <a:r>
              <a:rPr lang="zh-CN" altLang="zh-CN" sz="2000" dirty="0"/>
              <a:t>平凡函数依赖：</a:t>
            </a:r>
            <a:r>
              <a:rPr lang="en-US" altLang="zh-CN" sz="2000" dirty="0"/>
              <a:t>(</a:t>
            </a:r>
            <a:r>
              <a:rPr lang="en-US" altLang="zh-CN" sz="2000" dirty="0" err="1"/>
              <a:t>BNo</a:t>
            </a:r>
            <a:r>
              <a:rPr lang="zh-CN" altLang="zh-CN" sz="2000" dirty="0"/>
              <a:t>，</a:t>
            </a:r>
            <a:r>
              <a:rPr lang="en-US" altLang="zh-CN" sz="2000" dirty="0" err="1"/>
              <a:t>CNo</a:t>
            </a:r>
            <a:r>
              <a:rPr lang="en-US" altLang="zh-CN" sz="2000" dirty="0"/>
              <a:t>)</a:t>
            </a:r>
            <a:r>
              <a:rPr lang="zh-CN" altLang="zh-CN" sz="2000" dirty="0"/>
              <a:t>→</a:t>
            </a:r>
            <a:r>
              <a:rPr lang="en-US" altLang="zh-CN" sz="2000" dirty="0"/>
              <a:t>(</a:t>
            </a:r>
            <a:r>
              <a:rPr lang="en-US" altLang="zh-CN" sz="2000" dirty="0" err="1"/>
              <a:t>BNo</a:t>
            </a:r>
            <a:r>
              <a:rPr lang="zh-CN" altLang="zh-CN" sz="2000" dirty="0"/>
              <a:t>，</a:t>
            </a:r>
            <a:r>
              <a:rPr lang="en-US" altLang="zh-CN" sz="2000" dirty="0" err="1"/>
              <a:t>CNo</a:t>
            </a:r>
            <a:r>
              <a:rPr lang="en-US" altLang="zh-CN" sz="2000" dirty="0"/>
              <a:t>)</a:t>
            </a:r>
            <a:r>
              <a:rPr lang="zh-CN" altLang="zh-CN" sz="2000" dirty="0"/>
              <a:t>；</a:t>
            </a:r>
            <a:r>
              <a:rPr lang="en-US" altLang="zh-CN" sz="2000" dirty="0"/>
              <a:t>(</a:t>
            </a:r>
            <a:r>
              <a:rPr lang="en-US" altLang="zh-CN" sz="2000" dirty="0" err="1"/>
              <a:t>BNo</a:t>
            </a:r>
            <a:r>
              <a:rPr lang="zh-CN" altLang="zh-CN" sz="2000" dirty="0"/>
              <a:t>，</a:t>
            </a:r>
            <a:r>
              <a:rPr lang="en-US" altLang="zh-CN" sz="2000" dirty="0" err="1"/>
              <a:t>CNo</a:t>
            </a:r>
            <a:r>
              <a:rPr lang="en-US" altLang="zh-CN" sz="2000" dirty="0"/>
              <a:t>)</a:t>
            </a:r>
            <a:r>
              <a:rPr lang="zh-CN" altLang="zh-CN" sz="2000" dirty="0"/>
              <a:t>→</a:t>
            </a:r>
            <a:r>
              <a:rPr lang="en-US" altLang="zh-CN" sz="2000" dirty="0" err="1"/>
              <a:t>BNo</a:t>
            </a:r>
            <a:r>
              <a:rPr lang="zh-CN" altLang="zh-CN" sz="2000" dirty="0"/>
              <a:t>；</a:t>
            </a:r>
            <a:r>
              <a:rPr lang="en-US" altLang="zh-CN" sz="2000" dirty="0"/>
              <a:t>(</a:t>
            </a:r>
            <a:r>
              <a:rPr lang="en-US" altLang="zh-CN" sz="2000" dirty="0" err="1"/>
              <a:t>BNo</a:t>
            </a:r>
            <a:r>
              <a:rPr lang="zh-CN" altLang="zh-CN" sz="2000" dirty="0"/>
              <a:t>，</a:t>
            </a:r>
            <a:r>
              <a:rPr lang="en-US" altLang="zh-CN" sz="2000" dirty="0" err="1"/>
              <a:t>CNo</a:t>
            </a:r>
            <a:r>
              <a:rPr lang="en-US" altLang="zh-CN" sz="2000" dirty="0"/>
              <a:t>)</a:t>
            </a:r>
            <a:r>
              <a:rPr lang="zh-CN" altLang="zh-CN" sz="2000" dirty="0"/>
              <a:t>→</a:t>
            </a:r>
            <a:r>
              <a:rPr lang="en-US" altLang="zh-CN" sz="2000" dirty="0" err="1"/>
              <a:t>CNo</a:t>
            </a:r>
            <a:r>
              <a:rPr lang="zh-CN" altLang="zh-CN" sz="2000" dirty="0"/>
              <a:t>。</a:t>
            </a:r>
          </a:p>
          <a:p>
            <a:r>
              <a:rPr lang="zh-CN" altLang="zh-CN" sz="2000" dirty="0">
                <a:solidFill>
                  <a:srgbClr val="0000FF"/>
                </a:solidFill>
              </a:rPr>
              <a:t>说明：</a:t>
            </a:r>
            <a:r>
              <a:rPr lang="en-US" altLang="zh-CN" sz="2000" dirty="0"/>
              <a:t>(X</a:t>
            </a:r>
            <a:r>
              <a:rPr lang="zh-CN" altLang="zh-CN" sz="2000" dirty="0"/>
              <a:t>，</a:t>
            </a:r>
            <a:r>
              <a:rPr lang="en-US" altLang="zh-CN" sz="2000" dirty="0"/>
              <a:t>Y)</a:t>
            </a:r>
            <a:r>
              <a:rPr lang="zh-CN" altLang="zh-CN" sz="2000" dirty="0"/>
              <a:t>→</a:t>
            </a:r>
            <a:r>
              <a:rPr lang="en-US" altLang="zh-CN" sz="2000" dirty="0"/>
              <a:t>Y</a:t>
            </a:r>
            <a:r>
              <a:rPr lang="zh-CN" altLang="zh-CN" sz="2000" dirty="0"/>
              <a:t>简记为</a:t>
            </a:r>
            <a:r>
              <a:rPr lang="en-US" altLang="zh-CN" sz="2000" dirty="0"/>
              <a:t>XY</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Y)</a:t>
            </a:r>
            <a:r>
              <a:rPr lang="zh-CN" altLang="zh-CN" sz="2000" dirty="0"/>
              <a:t>简记为</a:t>
            </a:r>
            <a:r>
              <a:rPr lang="en-US" altLang="zh-CN" sz="2000" dirty="0"/>
              <a:t>XY</a:t>
            </a:r>
            <a:r>
              <a:rPr lang="zh-CN" altLang="zh-CN" sz="2000" dirty="0"/>
              <a:t>→</a:t>
            </a:r>
            <a:r>
              <a:rPr lang="en-US" altLang="zh-CN" sz="2000" dirty="0"/>
              <a:t>XY</a:t>
            </a:r>
            <a:r>
              <a:rPr lang="zh-CN" altLang="zh-CN" sz="2000" dirty="0"/>
              <a:t>。</a:t>
            </a:r>
          </a:p>
          <a:p>
            <a:r>
              <a:rPr lang="zh-CN" altLang="zh-CN" sz="2000" dirty="0">
                <a:solidFill>
                  <a:srgbClr val="0000FF"/>
                </a:solidFill>
              </a:rPr>
              <a:t>函数依赖</a:t>
            </a:r>
            <a:r>
              <a:rPr lang="zh-CN" altLang="zh-CN" sz="2000" dirty="0" smtClean="0">
                <a:solidFill>
                  <a:srgbClr val="0000FF"/>
                </a:solidFill>
              </a:rPr>
              <a:t>集</a:t>
            </a:r>
            <a:r>
              <a:rPr lang="zh-CN" altLang="en-US" sz="2000" dirty="0" smtClean="0">
                <a:solidFill>
                  <a:srgbClr val="0000FF"/>
                </a:solidFill>
              </a:rPr>
              <a:t>：</a:t>
            </a:r>
            <a:r>
              <a:rPr lang="en-US" altLang="zh-CN" sz="2000" dirty="0" smtClean="0"/>
              <a:t>R(U</a:t>
            </a:r>
            <a:r>
              <a:rPr lang="en-US" altLang="zh-CN" sz="2000" dirty="0"/>
              <a:t>)</a:t>
            </a:r>
            <a:r>
              <a:rPr lang="zh-CN" altLang="zh-CN" sz="2000" dirty="0"/>
              <a:t>的所有函数依赖的</a:t>
            </a:r>
            <a:r>
              <a:rPr lang="zh-CN" altLang="zh-CN" sz="2000" dirty="0" smtClean="0"/>
              <a:t>集合。</a:t>
            </a:r>
            <a:r>
              <a:rPr lang="zh-CN" altLang="zh-CN" sz="2000" dirty="0"/>
              <a:t>记为：</a:t>
            </a:r>
            <a:r>
              <a:rPr lang="en-US" altLang="zh-CN" sz="2000" dirty="0">
                <a:solidFill>
                  <a:srgbClr val="0000FF"/>
                </a:solidFill>
              </a:rPr>
              <a:t>F={</a:t>
            </a:r>
            <a:r>
              <a:rPr lang="zh-CN" altLang="zh-CN" sz="2000" dirty="0">
                <a:solidFill>
                  <a:srgbClr val="0000FF"/>
                </a:solidFill>
              </a:rPr>
              <a:t>函数依赖</a:t>
            </a:r>
            <a:r>
              <a:rPr lang="en-US" altLang="zh-CN" sz="2000" dirty="0">
                <a:solidFill>
                  <a:srgbClr val="0000FF"/>
                </a:solidFill>
              </a:rPr>
              <a:t>}</a:t>
            </a:r>
            <a:r>
              <a:rPr lang="zh-CN" altLang="zh-CN" sz="2000" dirty="0"/>
              <a:t>。</a:t>
            </a:r>
          </a:p>
          <a:p>
            <a:r>
              <a:rPr lang="zh-CN" altLang="zh-CN" sz="2000" dirty="0" smtClean="0">
                <a:solidFill>
                  <a:srgbClr val="0000FF"/>
                </a:solidFill>
              </a:rPr>
              <a:t>所以</a:t>
            </a:r>
            <a:r>
              <a:rPr lang="zh-CN" altLang="en-US" sz="2000" dirty="0" smtClean="0">
                <a:solidFill>
                  <a:srgbClr val="0000FF"/>
                </a:solidFill>
              </a:rPr>
              <a:t>：</a:t>
            </a:r>
            <a:r>
              <a:rPr lang="en-US" altLang="zh-CN" sz="2000" dirty="0" smtClean="0"/>
              <a:t>R(U</a:t>
            </a:r>
            <a:r>
              <a:rPr lang="en-US" altLang="zh-CN" sz="2000" dirty="0"/>
              <a:t>)</a:t>
            </a:r>
            <a:r>
              <a:rPr lang="zh-CN" altLang="zh-CN" sz="2000" dirty="0"/>
              <a:t>可以进一步表示为</a:t>
            </a:r>
            <a:r>
              <a:rPr lang="en-US" altLang="zh-CN" sz="2000" dirty="0"/>
              <a:t>R(U</a:t>
            </a:r>
            <a:r>
              <a:rPr lang="zh-CN" altLang="zh-CN" sz="2000" dirty="0"/>
              <a:t>，</a:t>
            </a:r>
            <a:r>
              <a:rPr lang="en-US" altLang="zh-CN" sz="2000" dirty="0"/>
              <a:t>F)</a:t>
            </a:r>
            <a:r>
              <a:rPr lang="zh-CN" altLang="zh-CN" sz="2000" dirty="0"/>
              <a:t>。</a:t>
            </a:r>
          </a:p>
        </p:txBody>
      </p:sp>
      <p:cxnSp>
        <p:nvCxnSpPr>
          <p:cNvPr id="21" name="Line 347"/>
          <p:cNvCxnSpPr/>
          <p:nvPr/>
        </p:nvCxnSpPr>
        <p:spPr bwMode="auto">
          <a:xfrm>
            <a:off x="2418619" y="1873188"/>
            <a:ext cx="72008" cy="2520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48611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6.1.1 </a:t>
            </a:r>
            <a:r>
              <a:rPr lang="zh-CN" altLang="zh-CN" dirty="0"/>
              <a:t>函数依赖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例</a:t>
            </a:r>
            <a:r>
              <a:rPr lang="en-US" altLang="zh-CN" sz="2000" dirty="0">
                <a:solidFill>
                  <a:srgbClr val="0000FF"/>
                </a:solidFill>
              </a:rPr>
              <a:t>6.1  </a:t>
            </a:r>
            <a:r>
              <a:rPr lang="en-US" altLang="zh-CN" sz="2000" dirty="0" err="1"/>
              <a:t>BInfo</a:t>
            </a:r>
            <a:r>
              <a:rPr lang="zh-CN" altLang="zh-CN" sz="2000" dirty="0"/>
              <a:t>可以表示为： </a:t>
            </a:r>
          </a:p>
          <a:p>
            <a:pPr marL="1166813" indent="0">
              <a:buNone/>
            </a:pPr>
            <a:r>
              <a:rPr lang="en-US" altLang="zh-CN" sz="2000" dirty="0" err="1">
                <a:solidFill>
                  <a:srgbClr val="0000FF"/>
                </a:solidFill>
              </a:rPr>
              <a:t>BInfo</a:t>
            </a:r>
            <a:r>
              <a:rPr lang="en-US" altLang="zh-CN" sz="2000" dirty="0">
                <a:solidFill>
                  <a:srgbClr val="0000FF"/>
                </a:solidFill>
              </a:rPr>
              <a:t>(U</a:t>
            </a:r>
            <a:r>
              <a:rPr lang="zh-CN" altLang="zh-CN" sz="2000" dirty="0">
                <a:solidFill>
                  <a:srgbClr val="0000FF"/>
                </a:solidFill>
              </a:rPr>
              <a:t>，</a:t>
            </a:r>
            <a:r>
              <a:rPr lang="en-US" altLang="zh-CN" sz="2000" dirty="0">
                <a:solidFill>
                  <a:srgbClr val="0000FF"/>
                </a:solidFill>
              </a:rPr>
              <a:t>F)</a:t>
            </a:r>
            <a:endParaRPr lang="zh-CN" altLang="zh-CN" sz="2000" dirty="0">
              <a:solidFill>
                <a:srgbClr val="0000FF"/>
              </a:solidFill>
            </a:endParaRPr>
          </a:p>
          <a:p>
            <a:r>
              <a:rPr lang="en-US" altLang="zh-CN" sz="2000" dirty="0">
                <a:solidFill>
                  <a:srgbClr val="0000FF"/>
                </a:solidFill>
              </a:rPr>
              <a:t>U</a:t>
            </a:r>
            <a:r>
              <a:rPr lang="en-US" altLang="zh-CN" sz="2000" dirty="0"/>
              <a:t>={</a:t>
            </a:r>
            <a:r>
              <a:rPr lang="en-US" altLang="zh-CN" sz="2000" u="sng" dirty="0"/>
              <a:t> </a:t>
            </a:r>
            <a:r>
              <a:rPr lang="en-US" altLang="zh-CN" sz="2000" u="sng" dirty="0" err="1"/>
              <a:t>BNo</a:t>
            </a:r>
            <a:r>
              <a:rPr lang="zh-CN" altLang="zh-CN" sz="2000" u="sng" dirty="0"/>
              <a:t>，</a:t>
            </a:r>
            <a:r>
              <a:rPr lang="en-US" altLang="zh-CN" sz="2000" u="sng" dirty="0" err="1"/>
              <a:t>CNo</a:t>
            </a:r>
            <a:r>
              <a:rPr lang="zh-CN"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Phone</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r>
              <a:rPr lang="en-US" altLang="zh-CN" sz="2000" dirty="0" err="1"/>
              <a:t>PNo</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Email</a:t>
            </a:r>
            <a:r>
              <a:rPr lang="zh-CN" altLang="zh-CN" sz="2000" dirty="0"/>
              <a:t>，</a:t>
            </a:r>
            <a:r>
              <a:rPr lang="en-US" altLang="zh-CN" sz="2000" dirty="0" err="1"/>
              <a:t>HPage</a:t>
            </a:r>
            <a:r>
              <a:rPr lang="zh-CN" altLang="zh-CN" sz="2000" dirty="0"/>
              <a:t>，</a:t>
            </a:r>
            <a:r>
              <a:rPr lang="en-US" altLang="zh-CN" sz="2000" dirty="0" err="1"/>
              <a:t>PDate</a:t>
            </a:r>
            <a:r>
              <a:rPr lang="en-US" altLang="zh-CN" sz="2000" dirty="0"/>
              <a:t> }</a:t>
            </a:r>
            <a:endParaRPr lang="zh-CN" altLang="zh-CN" sz="2000" dirty="0"/>
          </a:p>
          <a:p>
            <a:r>
              <a:rPr lang="en-US" altLang="zh-CN" sz="2000" dirty="0">
                <a:solidFill>
                  <a:srgbClr val="0000FF"/>
                </a:solidFill>
              </a:rPr>
              <a:t>F</a:t>
            </a:r>
            <a:r>
              <a:rPr lang="en-US" altLang="zh-CN" sz="2000" dirty="0"/>
              <a:t>={</a:t>
            </a:r>
            <a:r>
              <a:rPr lang="en-US" altLang="zh-CN" sz="2000" dirty="0" err="1"/>
              <a:t>BNo</a:t>
            </a:r>
            <a:r>
              <a:rPr lang="en-US" altLang="zh-CN" sz="2000" dirty="0"/>
              <a:t> </a:t>
            </a:r>
            <a:r>
              <a:rPr lang="zh-CN"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2000" dirty="0" err="1"/>
              <a:t>PNo</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zh-CN" altLang="zh-CN" sz="2000" dirty="0"/>
              <a:t>），</a:t>
            </a:r>
          </a:p>
          <a:p>
            <a:pPr marL="0" indent="0">
              <a:buNone/>
            </a:pPr>
            <a:r>
              <a:rPr lang="en-US" altLang="zh-CN" sz="2000" dirty="0"/>
              <a:t>   </a:t>
            </a:r>
            <a:r>
              <a:rPr lang="en-US" altLang="zh-CN" sz="2000" dirty="0" err="1"/>
              <a:t>CNo</a:t>
            </a:r>
            <a:r>
              <a:rPr lang="en-US" altLang="zh-CN" sz="2000" dirty="0"/>
              <a:t> </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p>
          <a:p>
            <a:pPr marL="0" indent="0">
              <a:buNone/>
            </a:pPr>
            <a:r>
              <a:rPr lang="en-US" altLang="zh-CN" sz="2000" dirty="0"/>
              <a:t>   </a:t>
            </a:r>
            <a:r>
              <a:rPr lang="en-US" altLang="zh-CN" sz="2000" dirty="0" err="1"/>
              <a:t>PNo</a:t>
            </a:r>
            <a:r>
              <a:rPr lang="en-US" altLang="zh-CN" sz="2000" dirty="0"/>
              <a:t> </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p>
          <a:p>
            <a:pPr marL="0" indent="0">
              <a:buNone/>
            </a:pPr>
            <a:r>
              <a:rPr lang="en-US" altLang="zh-CN" sz="2000" dirty="0"/>
              <a:t>   </a:t>
            </a:r>
            <a:r>
              <a:rPr lang="zh-CN" altLang="zh-CN" sz="2000" dirty="0"/>
              <a:t>（</a:t>
            </a:r>
            <a:r>
              <a:rPr lang="en-US" altLang="zh-CN" sz="2000" dirty="0" err="1"/>
              <a:t>CNo</a:t>
            </a:r>
            <a:r>
              <a:rPr lang="zh-CN" altLang="zh-CN" sz="2000" dirty="0"/>
              <a:t>，</a:t>
            </a:r>
            <a:r>
              <a:rPr lang="en-US" altLang="zh-CN" sz="2000" dirty="0" err="1"/>
              <a:t>BNo</a:t>
            </a:r>
            <a:r>
              <a:rPr lang="zh-CN" altLang="zh-CN" sz="2000" dirty="0"/>
              <a:t>） → </a:t>
            </a:r>
            <a:r>
              <a:rPr lang="en-US" altLang="zh-CN" sz="2000" dirty="0" err="1"/>
              <a:t>PDate</a:t>
            </a:r>
            <a:r>
              <a:rPr lang="en-US" altLang="zh-CN" sz="2000" dirty="0"/>
              <a:t>}</a:t>
            </a:r>
            <a:endParaRPr lang="zh-CN" altLang="zh-CN" sz="2000" dirty="0"/>
          </a:p>
        </p:txBody>
      </p:sp>
    </p:spTree>
    <p:extLst>
      <p:ext uri="{BB962C8B-B14F-4D97-AF65-F5344CB8AC3E}">
        <p14:creationId xmlns:p14="http://schemas.microsoft.com/office/powerpoint/2010/main" val="4089724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6.1.1 </a:t>
            </a:r>
            <a:r>
              <a:rPr lang="zh-CN" altLang="zh-CN" dirty="0"/>
              <a:t>函数依赖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例</a:t>
            </a:r>
            <a:r>
              <a:rPr lang="en-US" altLang="zh-CN" sz="2000" dirty="0">
                <a:solidFill>
                  <a:srgbClr val="0000FF"/>
                </a:solidFill>
              </a:rPr>
              <a:t>6.2  </a:t>
            </a:r>
            <a:r>
              <a:rPr lang="zh-CN" altLang="zh-CN" sz="2000" dirty="0"/>
              <a:t>如果</a:t>
            </a:r>
            <a:r>
              <a:rPr lang="en-US" altLang="zh-CN" sz="2000" dirty="0"/>
              <a:t>R(</a:t>
            </a:r>
            <a:r>
              <a:rPr lang="en-US" altLang="zh-CN" sz="2000" u="sng" dirty="0"/>
              <a:t>A</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E)</a:t>
            </a:r>
            <a:r>
              <a:rPr lang="zh-CN" altLang="zh-CN" sz="2000" dirty="0"/>
              <a:t>存在函数依赖</a:t>
            </a:r>
            <a:r>
              <a:rPr lang="en-US" altLang="zh-CN" sz="2000" dirty="0"/>
              <a:t>A</a:t>
            </a:r>
            <a:r>
              <a:rPr lang="zh-CN" altLang="zh-CN" sz="2000" dirty="0"/>
              <a:t>→</a:t>
            </a:r>
            <a:r>
              <a:rPr lang="en-US" altLang="zh-CN" sz="2000" dirty="0"/>
              <a:t>B</a:t>
            </a:r>
            <a:r>
              <a:rPr lang="zh-CN" altLang="zh-CN" sz="2000" dirty="0"/>
              <a:t>；</a:t>
            </a:r>
            <a:r>
              <a:rPr lang="en-US" altLang="zh-CN" sz="2000" dirty="0"/>
              <a:t>A</a:t>
            </a:r>
            <a:r>
              <a:rPr lang="zh-CN" altLang="zh-CN" sz="2000" dirty="0"/>
              <a:t>→</a:t>
            </a:r>
            <a:r>
              <a:rPr lang="en-US" altLang="zh-CN" sz="2000" dirty="0"/>
              <a:t>C</a:t>
            </a:r>
            <a:r>
              <a:rPr lang="zh-CN" altLang="zh-CN" sz="2000" dirty="0"/>
              <a:t>；</a:t>
            </a:r>
            <a:r>
              <a:rPr lang="en-US" altLang="zh-CN" sz="2000" dirty="0"/>
              <a:t>A</a:t>
            </a:r>
            <a:r>
              <a:rPr lang="zh-CN" altLang="zh-CN" sz="2000" dirty="0"/>
              <a:t>→</a:t>
            </a:r>
            <a:r>
              <a:rPr lang="en-US" altLang="zh-CN" sz="2000" dirty="0"/>
              <a:t>D</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BC</a:t>
            </a:r>
            <a:r>
              <a:rPr lang="zh-CN" altLang="zh-CN" sz="2000" dirty="0"/>
              <a:t>→</a:t>
            </a:r>
            <a:r>
              <a:rPr lang="en-US" altLang="zh-CN" sz="2000" dirty="0"/>
              <a:t>E</a:t>
            </a:r>
            <a:r>
              <a:rPr lang="zh-CN" altLang="zh-CN" sz="2000" dirty="0"/>
              <a:t>。</a:t>
            </a:r>
          </a:p>
          <a:p>
            <a:r>
              <a:rPr lang="zh-CN" altLang="zh-CN" sz="2000" dirty="0"/>
              <a:t>则</a:t>
            </a:r>
            <a:r>
              <a:rPr lang="en-US" altLang="zh-CN" sz="2000" dirty="0"/>
              <a:t>R(</a:t>
            </a:r>
            <a:r>
              <a:rPr lang="en-US" altLang="zh-CN" sz="2000" u="sng" dirty="0"/>
              <a:t>A</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E)</a:t>
            </a:r>
            <a:r>
              <a:rPr lang="zh-CN" altLang="zh-CN" sz="2000" dirty="0"/>
              <a:t>可以表示如下：</a:t>
            </a:r>
          </a:p>
          <a:p>
            <a:pPr marL="360363" indent="0">
              <a:buNone/>
            </a:pPr>
            <a:r>
              <a:rPr lang="en-US" altLang="zh-CN" sz="2000" dirty="0"/>
              <a:t>R(U</a:t>
            </a:r>
            <a:r>
              <a:rPr lang="zh-CN" altLang="zh-CN" sz="2000" dirty="0"/>
              <a:t>，</a:t>
            </a:r>
            <a:r>
              <a:rPr lang="en-US" altLang="zh-CN" sz="2000" dirty="0"/>
              <a:t>F)</a:t>
            </a:r>
            <a:endParaRPr lang="zh-CN" altLang="zh-CN" sz="2000" dirty="0"/>
          </a:p>
          <a:p>
            <a:pPr marL="360363" indent="0">
              <a:buNone/>
            </a:pPr>
            <a:r>
              <a:rPr lang="en-US" altLang="zh-CN" sz="2000" dirty="0"/>
              <a:t>U={ </a:t>
            </a:r>
            <a:r>
              <a:rPr lang="en-US" altLang="zh-CN" sz="2000" u="sng" dirty="0"/>
              <a:t>A</a:t>
            </a:r>
            <a:r>
              <a:rPr lang="en-US" altLang="zh-CN" sz="2000" dirty="0"/>
              <a:t>, B, C, D, E }</a:t>
            </a:r>
            <a:endParaRPr lang="zh-CN" altLang="zh-CN" sz="2000" dirty="0"/>
          </a:p>
          <a:p>
            <a:pPr marL="360363" indent="0">
              <a:buNone/>
            </a:pPr>
            <a:r>
              <a:rPr lang="en-US" altLang="zh-CN" sz="2000" dirty="0"/>
              <a:t>F={ A</a:t>
            </a:r>
            <a:r>
              <a:rPr lang="zh-CN" altLang="zh-CN" sz="2000" dirty="0"/>
              <a:t>→</a:t>
            </a:r>
            <a:r>
              <a:rPr lang="en-US" altLang="zh-CN" sz="2000" dirty="0"/>
              <a:t>B</a:t>
            </a:r>
            <a:r>
              <a:rPr lang="zh-CN" altLang="zh-CN" sz="2000" dirty="0"/>
              <a:t>，</a:t>
            </a:r>
            <a:r>
              <a:rPr lang="en-US" altLang="zh-CN" sz="2000" dirty="0"/>
              <a:t>A</a:t>
            </a:r>
            <a:r>
              <a:rPr lang="zh-CN" altLang="zh-CN" sz="2000" dirty="0"/>
              <a:t>→</a:t>
            </a:r>
            <a:r>
              <a:rPr lang="en-US" altLang="zh-CN" sz="2000" dirty="0"/>
              <a:t>C</a:t>
            </a:r>
            <a:r>
              <a:rPr lang="zh-CN" altLang="zh-CN" sz="2000" dirty="0"/>
              <a:t>，</a:t>
            </a:r>
            <a:r>
              <a:rPr lang="en-US" altLang="zh-CN" sz="2000" dirty="0"/>
              <a:t>A</a:t>
            </a:r>
            <a:r>
              <a:rPr lang="zh-CN" altLang="zh-CN" sz="2000" dirty="0"/>
              <a:t>→</a:t>
            </a:r>
            <a:r>
              <a:rPr lang="en-US" altLang="zh-CN" sz="2000" dirty="0"/>
              <a:t>D</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BC</a:t>
            </a:r>
            <a:r>
              <a:rPr lang="zh-CN" altLang="zh-CN" sz="2000" dirty="0"/>
              <a:t>→</a:t>
            </a:r>
            <a:r>
              <a:rPr lang="en-US" altLang="zh-CN" sz="2000" dirty="0"/>
              <a:t>E }</a:t>
            </a:r>
            <a:endParaRPr lang="zh-CN" altLang="zh-CN" sz="2000" dirty="0"/>
          </a:p>
        </p:txBody>
      </p:sp>
    </p:spTree>
    <p:extLst>
      <p:ext uri="{BB962C8B-B14F-4D97-AF65-F5344CB8AC3E}">
        <p14:creationId xmlns:p14="http://schemas.microsoft.com/office/powerpoint/2010/main" val="17385462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6.1.2 </a:t>
            </a:r>
            <a:r>
              <a:rPr lang="zh-CN" altLang="zh-CN" dirty="0"/>
              <a:t>完全依赖和部分依赖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9</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000"/>
              </a:lnSpc>
            </a:pPr>
            <a:r>
              <a:rPr lang="zh-CN" altLang="zh-CN" sz="2000" dirty="0">
                <a:solidFill>
                  <a:srgbClr val="0000FF"/>
                </a:solidFill>
              </a:rPr>
              <a:t>定义</a:t>
            </a:r>
            <a:r>
              <a:rPr lang="en-US" altLang="zh-CN" sz="2000" dirty="0">
                <a:solidFill>
                  <a:srgbClr val="0000FF"/>
                </a:solidFill>
              </a:rPr>
              <a:t>6.2  </a:t>
            </a:r>
            <a:r>
              <a:rPr lang="zh-CN" altLang="zh-CN" sz="2000" dirty="0"/>
              <a:t>在</a:t>
            </a:r>
            <a:r>
              <a:rPr lang="en-US" altLang="zh-CN" sz="2000" dirty="0"/>
              <a:t>R(U</a:t>
            </a:r>
            <a:r>
              <a:rPr lang="zh-CN" altLang="zh-CN" sz="2000" dirty="0"/>
              <a:t>，</a:t>
            </a:r>
            <a:r>
              <a:rPr lang="en-US" altLang="zh-CN" sz="2000" dirty="0"/>
              <a:t>F)</a:t>
            </a:r>
            <a:r>
              <a:rPr lang="zh-CN" altLang="zh-CN" sz="2000" dirty="0"/>
              <a:t>中，如果</a:t>
            </a:r>
            <a:r>
              <a:rPr lang="en-US" altLang="zh-CN" sz="2000" dirty="0"/>
              <a:t>X</a:t>
            </a:r>
            <a:r>
              <a:rPr lang="zh-CN" altLang="zh-CN" sz="2000" dirty="0"/>
              <a:t>→</a:t>
            </a:r>
            <a:r>
              <a:rPr lang="en-US" altLang="zh-CN" sz="2000" dirty="0"/>
              <a:t>Y</a:t>
            </a:r>
            <a:r>
              <a:rPr lang="zh-CN" altLang="zh-CN" sz="2000" dirty="0"/>
              <a:t>，且对于</a:t>
            </a:r>
            <a:r>
              <a:rPr lang="en-US" altLang="zh-CN" sz="2000" dirty="0"/>
              <a:t>X</a:t>
            </a:r>
            <a:r>
              <a:rPr lang="zh-CN" altLang="zh-CN" sz="2000" dirty="0"/>
              <a:t>的任何一个真子集</a:t>
            </a:r>
            <a:r>
              <a:rPr lang="en-US" altLang="zh-CN" sz="2000" dirty="0"/>
              <a:t>X’</a:t>
            </a:r>
            <a:r>
              <a:rPr lang="zh-CN" altLang="zh-CN" sz="2000" dirty="0"/>
              <a:t>，都满足</a:t>
            </a:r>
            <a:r>
              <a:rPr lang="en-US" altLang="zh-CN" sz="2000" dirty="0"/>
              <a:t>X</a:t>
            </a:r>
            <a:r>
              <a:rPr lang="en-US" altLang="zh-CN" sz="2000" dirty="0" smtClean="0"/>
              <a:t>’         </a:t>
            </a:r>
            <a:r>
              <a:rPr lang="en-US" altLang="zh-CN" sz="2000" dirty="0"/>
              <a:t>Y</a:t>
            </a:r>
            <a:r>
              <a:rPr lang="zh-CN" altLang="zh-CN" sz="2000" dirty="0"/>
              <a:t>（即：</a:t>
            </a:r>
            <a:r>
              <a:rPr lang="en-US" altLang="zh-CN" sz="2000" dirty="0"/>
              <a:t>Y</a:t>
            </a:r>
            <a:r>
              <a:rPr lang="zh-CN" altLang="zh-CN" sz="2000" dirty="0"/>
              <a:t>不函数依赖于</a:t>
            </a:r>
            <a:r>
              <a:rPr lang="en-US" altLang="zh-CN" sz="2000" dirty="0"/>
              <a:t>X</a:t>
            </a:r>
            <a:r>
              <a:rPr lang="zh-CN" altLang="zh-CN" sz="2000" dirty="0"/>
              <a:t>的任意真子集，只依赖于</a:t>
            </a:r>
            <a:r>
              <a:rPr lang="en-US" altLang="zh-CN" sz="2000" dirty="0"/>
              <a:t>X</a:t>
            </a:r>
            <a:r>
              <a:rPr lang="zh-CN" altLang="zh-CN" sz="2000" dirty="0"/>
              <a:t>本身）。</a:t>
            </a:r>
          </a:p>
          <a:p>
            <a:pPr marL="360363" indent="0">
              <a:lnSpc>
                <a:spcPts val="3000"/>
              </a:lnSpc>
              <a:buNone/>
            </a:pPr>
            <a:r>
              <a:rPr lang="zh-CN" altLang="zh-CN" sz="2000" dirty="0"/>
              <a:t>则称</a:t>
            </a:r>
            <a:r>
              <a:rPr lang="en-US" altLang="zh-CN" sz="2000" dirty="0"/>
              <a:t>Y</a:t>
            </a:r>
            <a:r>
              <a:rPr lang="zh-CN" altLang="zh-CN" sz="2000" dirty="0">
                <a:solidFill>
                  <a:srgbClr val="0000FF"/>
                </a:solidFill>
              </a:rPr>
              <a:t>完全函数依赖</a:t>
            </a:r>
            <a:r>
              <a:rPr lang="zh-CN" altLang="zh-CN" sz="2000" dirty="0"/>
              <a:t>于</a:t>
            </a:r>
            <a:r>
              <a:rPr lang="en-US" altLang="zh-CN" sz="2000" dirty="0"/>
              <a:t>X</a:t>
            </a:r>
            <a:r>
              <a:rPr lang="zh-CN" altLang="zh-CN" sz="2000" dirty="0"/>
              <a:t>，记作</a:t>
            </a:r>
            <a:r>
              <a:rPr lang="en-US" altLang="zh-CN" sz="2000" dirty="0"/>
              <a:t>X  </a:t>
            </a:r>
            <a:r>
              <a:rPr lang="en-US" altLang="zh-CN" sz="2000" dirty="0" smtClean="0"/>
              <a:t>         Y</a:t>
            </a:r>
            <a:r>
              <a:rPr lang="zh-CN" altLang="zh-CN" sz="2000" dirty="0"/>
              <a:t>。</a:t>
            </a:r>
          </a:p>
          <a:p>
            <a:pPr>
              <a:lnSpc>
                <a:spcPts val="3000"/>
              </a:lnSpc>
            </a:pPr>
            <a:r>
              <a:rPr lang="zh-CN" altLang="zh-CN" sz="2000" dirty="0">
                <a:solidFill>
                  <a:srgbClr val="0000FF"/>
                </a:solidFill>
              </a:rPr>
              <a:t>定义</a:t>
            </a:r>
            <a:r>
              <a:rPr lang="en-US" altLang="zh-CN" sz="2000" dirty="0">
                <a:solidFill>
                  <a:srgbClr val="0000FF"/>
                </a:solidFill>
              </a:rPr>
              <a:t>6.3  </a:t>
            </a:r>
            <a:r>
              <a:rPr lang="zh-CN" altLang="zh-CN" sz="2000" dirty="0"/>
              <a:t>在</a:t>
            </a:r>
            <a:r>
              <a:rPr lang="en-US" altLang="zh-CN" sz="2000" dirty="0"/>
              <a:t>R(U</a:t>
            </a:r>
            <a:r>
              <a:rPr lang="zh-CN" altLang="zh-CN" sz="2000" dirty="0"/>
              <a:t>，</a:t>
            </a:r>
            <a:r>
              <a:rPr lang="en-US" altLang="zh-CN" sz="2000" dirty="0"/>
              <a:t>F)</a:t>
            </a:r>
            <a:r>
              <a:rPr lang="zh-CN" altLang="zh-CN" sz="2000" dirty="0"/>
              <a:t>中，如果</a:t>
            </a:r>
            <a:r>
              <a:rPr lang="en-US" altLang="zh-CN" sz="2000" dirty="0"/>
              <a:t>X</a:t>
            </a:r>
            <a:r>
              <a:rPr lang="zh-CN" altLang="zh-CN" sz="2000" dirty="0"/>
              <a:t>→</a:t>
            </a:r>
            <a:r>
              <a:rPr lang="en-US" altLang="zh-CN" sz="2000" dirty="0"/>
              <a:t>Y</a:t>
            </a:r>
            <a:r>
              <a:rPr lang="zh-CN" altLang="zh-CN" sz="2000" dirty="0"/>
              <a:t>，且</a:t>
            </a:r>
            <a:r>
              <a:rPr lang="en-US" altLang="zh-CN" sz="2000" dirty="0"/>
              <a:t>Y</a:t>
            </a:r>
            <a:r>
              <a:rPr lang="zh-CN" altLang="zh-CN" sz="2000" dirty="0"/>
              <a:t>不完全函数依赖于</a:t>
            </a:r>
            <a:r>
              <a:rPr lang="en-US" altLang="zh-CN" sz="2000" dirty="0"/>
              <a:t>X</a:t>
            </a:r>
            <a:r>
              <a:rPr lang="zh-CN" altLang="zh-CN" sz="2000" dirty="0"/>
              <a:t>。</a:t>
            </a:r>
          </a:p>
          <a:p>
            <a:pPr marL="360363" indent="0">
              <a:lnSpc>
                <a:spcPts val="3000"/>
              </a:lnSpc>
              <a:buNone/>
            </a:pPr>
            <a:r>
              <a:rPr lang="zh-CN" altLang="zh-CN" sz="2000" dirty="0"/>
              <a:t>则称</a:t>
            </a:r>
            <a:r>
              <a:rPr lang="en-US" altLang="zh-CN" sz="2000" dirty="0"/>
              <a:t>Y</a:t>
            </a:r>
            <a:r>
              <a:rPr lang="zh-CN" altLang="zh-CN" sz="2000" dirty="0">
                <a:solidFill>
                  <a:srgbClr val="0000FF"/>
                </a:solidFill>
              </a:rPr>
              <a:t>部分函数依赖</a:t>
            </a:r>
            <a:r>
              <a:rPr lang="zh-CN" altLang="zh-CN" sz="2000" dirty="0"/>
              <a:t>于</a:t>
            </a:r>
            <a:r>
              <a:rPr lang="en-US" altLang="zh-CN" sz="2000" dirty="0"/>
              <a:t>X</a:t>
            </a:r>
            <a:r>
              <a:rPr lang="zh-CN" altLang="zh-CN" sz="2000" dirty="0"/>
              <a:t>，记作</a:t>
            </a:r>
            <a:r>
              <a:rPr lang="en-US" altLang="zh-CN" sz="2000" dirty="0"/>
              <a:t>X </a:t>
            </a:r>
            <a:r>
              <a:rPr lang="en-US" altLang="zh-CN" sz="2000" dirty="0" smtClean="0"/>
              <a:t>          Y</a:t>
            </a:r>
            <a:r>
              <a:rPr lang="zh-CN" altLang="zh-CN" sz="2000" dirty="0"/>
              <a:t>。</a:t>
            </a:r>
          </a:p>
          <a:p>
            <a:pPr>
              <a:lnSpc>
                <a:spcPts val="3000"/>
              </a:lnSpc>
            </a:pPr>
            <a:r>
              <a:rPr lang="zh-CN" altLang="zh-CN" sz="2000" dirty="0">
                <a:solidFill>
                  <a:srgbClr val="0000FF"/>
                </a:solidFill>
              </a:rPr>
              <a:t>例如：</a:t>
            </a:r>
            <a:r>
              <a:rPr lang="zh-CN" altLang="zh-CN" sz="2000" dirty="0" smtClean="0"/>
              <a:t>在</a:t>
            </a:r>
            <a:r>
              <a:rPr lang="en-US" altLang="zh-CN" sz="2000" dirty="0" err="1" smtClean="0"/>
              <a:t>BInfo</a:t>
            </a:r>
            <a:r>
              <a:rPr lang="zh-CN" altLang="zh-CN" sz="2000" dirty="0"/>
              <a:t>中，由于</a:t>
            </a:r>
            <a:r>
              <a:rPr lang="zh-CN" altLang="zh-CN" sz="2000" dirty="0" smtClean="0"/>
              <a:t>：</a:t>
            </a:r>
            <a:r>
              <a:rPr lang="en-US" altLang="zh-CN" sz="2000" dirty="0" err="1" smtClean="0"/>
              <a:t>BNo</a:t>
            </a:r>
            <a:r>
              <a:rPr lang="en-US" altLang="zh-CN" sz="2000" dirty="0" smtClean="0"/>
              <a:t>          </a:t>
            </a:r>
            <a:r>
              <a:rPr lang="en-US" altLang="zh-CN" sz="2000" dirty="0" err="1" smtClean="0"/>
              <a:t>PDate</a:t>
            </a:r>
            <a:r>
              <a:rPr lang="zh-CN" altLang="zh-CN" sz="2000" dirty="0" smtClean="0"/>
              <a:t>，</a:t>
            </a:r>
            <a:r>
              <a:rPr lang="zh-CN" altLang="zh-CN" sz="2000" dirty="0"/>
              <a:t>而且</a:t>
            </a:r>
            <a:r>
              <a:rPr lang="en-US" altLang="zh-CN" sz="2000" dirty="0" err="1"/>
              <a:t>CNo</a:t>
            </a:r>
            <a:r>
              <a:rPr lang="en-US" altLang="zh-CN" sz="2000" dirty="0"/>
              <a:t> </a:t>
            </a:r>
            <a:r>
              <a:rPr lang="en-US" altLang="zh-CN" sz="2000" dirty="0" smtClean="0"/>
              <a:t>         </a:t>
            </a:r>
            <a:r>
              <a:rPr lang="en-US" altLang="zh-CN" sz="2000" dirty="0" err="1" smtClean="0"/>
              <a:t>PDate</a:t>
            </a:r>
            <a:r>
              <a:rPr lang="en-US" altLang="zh-CN" sz="2000" dirty="0" smtClean="0"/>
              <a:t> </a:t>
            </a:r>
            <a:r>
              <a:rPr lang="zh-CN" altLang="zh-CN" sz="2000" dirty="0" smtClean="0"/>
              <a:t>。</a:t>
            </a:r>
            <a:endParaRPr lang="zh-CN" altLang="zh-CN" sz="2000" dirty="0"/>
          </a:p>
          <a:p>
            <a:pPr marL="360363" indent="0">
              <a:lnSpc>
                <a:spcPts val="3000"/>
              </a:lnSpc>
              <a:buNone/>
            </a:pPr>
            <a:r>
              <a:rPr lang="zh-CN" altLang="zh-CN" sz="2000" dirty="0"/>
              <a:t>因此：</a:t>
            </a:r>
            <a:r>
              <a:rPr lang="en-US" altLang="zh-CN" sz="2000" dirty="0" smtClean="0"/>
              <a:t>(</a:t>
            </a:r>
            <a:r>
              <a:rPr lang="en-US" altLang="zh-CN" sz="2000" dirty="0" err="1" smtClean="0"/>
              <a:t>BNo</a:t>
            </a:r>
            <a:r>
              <a:rPr lang="en-US" altLang="zh-CN" sz="2000" dirty="0"/>
              <a:t>, </a:t>
            </a:r>
            <a:r>
              <a:rPr lang="en-US" altLang="zh-CN" sz="2000" dirty="0" err="1"/>
              <a:t>CNo</a:t>
            </a:r>
            <a:r>
              <a:rPr lang="en-US" altLang="zh-CN" sz="2000" dirty="0"/>
              <a:t>) </a:t>
            </a:r>
            <a:r>
              <a:rPr lang="en-US" altLang="zh-CN" sz="2000" dirty="0" smtClean="0"/>
              <a:t>           </a:t>
            </a:r>
            <a:r>
              <a:rPr lang="en-US" altLang="zh-CN" sz="2000" dirty="0" err="1" smtClean="0"/>
              <a:t>PDate</a:t>
            </a:r>
            <a:r>
              <a:rPr lang="en-US" altLang="zh-CN" sz="2000" dirty="0" smtClean="0"/>
              <a:t> </a:t>
            </a:r>
            <a:endParaRPr lang="zh-CN" altLang="zh-CN" sz="2000" dirty="0"/>
          </a:p>
          <a:p>
            <a:pPr>
              <a:lnSpc>
                <a:spcPts val="3000"/>
              </a:lnSpc>
            </a:pPr>
            <a:r>
              <a:rPr lang="zh-CN" altLang="zh-CN" sz="2000" dirty="0">
                <a:solidFill>
                  <a:srgbClr val="0000FF"/>
                </a:solidFill>
              </a:rPr>
              <a:t>例如：</a:t>
            </a:r>
            <a:r>
              <a:rPr lang="zh-CN" altLang="zh-CN" sz="2000" dirty="0"/>
              <a:t>在</a:t>
            </a:r>
            <a:r>
              <a:rPr lang="en-US" altLang="zh-CN" sz="2000" dirty="0"/>
              <a:t>R(A</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E)</a:t>
            </a:r>
            <a:r>
              <a:rPr lang="zh-CN" altLang="zh-CN" sz="2000" dirty="0"/>
              <a:t>中，如果</a:t>
            </a:r>
            <a:r>
              <a:rPr lang="en-US" altLang="zh-CN" sz="2000" dirty="0"/>
              <a:t>F={A</a:t>
            </a:r>
            <a:r>
              <a:rPr lang="zh-CN" altLang="zh-CN" sz="2000" dirty="0"/>
              <a:t>→</a:t>
            </a:r>
            <a:r>
              <a:rPr lang="en-US" altLang="zh-CN" sz="2000" dirty="0"/>
              <a:t>C</a:t>
            </a:r>
            <a:r>
              <a:rPr lang="zh-CN" altLang="zh-CN" sz="2000" dirty="0"/>
              <a:t>，</a:t>
            </a:r>
            <a:r>
              <a:rPr lang="en-US" altLang="zh-CN" sz="2000" dirty="0"/>
              <a:t>AB</a:t>
            </a:r>
            <a:r>
              <a:rPr lang="zh-CN" altLang="zh-CN" sz="2000" dirty="0"/>
              <a:t>→</a:t>
            </a:r>
            <a:r>
              <a:rPr lang="en-US" altLang="zh-CN" sz="2000" dirty="0"/>
              <a:t>D</a:t>
            </a:r>
            <a:r>
              <a:rPr lang="zh-CN" altLang="zh-CN" sz="2000" dirty="0"/>
              <a:t>，</a:t>
            </a:r>
            <a:r>
              <a:rPr lang="en-US" altLang="zh-CN" sz="2000" dirty="0"/>
              <a:t>AB</a:t>
            </a:r>
            <a:r>
              <a:rPr lang="zh-CN" altLang="zh-CN" sz="2000" dirty="0"/>
              <a:t>→</a:t>
            </a:r>
            <a:r>
              <a:rPr lang="en-US" altLang="zh-CN" sz="2000" dirty="0"/>
              <a:t>E</a:t>
            </a:r>
            <a:r>
              <a:rPr lang="zh-CN" altLang="zh-CN" sz="2000" dirty="0"/>
              <a:t>，</a:t>
            </a:r>
            <a:r>
              <a:rPr lang="en-US" altLang="zh-CN" sz="2000" dirty="0"/>
              <a:t>C</a:t>
            </a:r>
            <a:r>
              <a:rPr lang="zh-CN" altLang="zh-CN" sz="2000" dirty="0"/>
              <a:t>→</a:t>
            </a:r>
            <a:r>
              <a:rPr lang="en-US" altLang="zh-CN" sz="2000" dirty="0"/>
              <a:t>E}</a:t>
            </a:r>
            <a:r>
              <a:rPr lang="zh-CN" altLang="zh-CN" sz="2000" dirty="0"/>
              <a:t>。</a:t>
            </a:r>
          </a:p>
          <a:p>
            <a:pPr marL="360363" indent="0">
              <a:lnSpc>
                <a:spcPts val="3000"/>
              </a:lnSpc>
              <a:buNone/>
            </a:pPr>
            <a:r>
              <a:rPr lang="zh-CN" altLang="zh-CN" sz="2000" dirty="0"/>
              <a:t>则</a:t>
            </a:r>
            <a:r>
              <a:rPr lang="en-US" altLang="zh-CN" sz="2000" dirty="0"/>
              <a:t>AB </a:t>
            </a:r>
            <a:r>
              <a:rPr lang="en-US" altLang="zh-CN" sz="2000" dirty="0" smtClean="0"/>
              <a:t>           C</a:t>
            </a:r>
            <a:r>
              <a:rPr lang="zh-CN" altLang="zh-CN" sz="2000" dirty="0"/>
              <a:t>；</a:t>
            </a:r>
            <a:r>
              <a:rPr lang="en-US" altLang="zh-CN" sz="2000" dirty="0"/>
              <a:t>AB  </a:t>
            </a:r>
            <a:r>
              <a:rPr lang="en-US" altLang="zh-CN" sz="2000" dirty="0" smtClean="0"/>
              <a:t>          D</a:t>
            </a:r>
            <a:r>
              <a:rPr lang="zh-CN" altLang="zh-CN" sz="2000" dirty="0"/>
              <a:t>；</a:t>
            </a:r>
            <a:r>
              <a:rPr lang="en-US" altLang="zh-CN" sz="2000" dirty="0" smtClean="0"/>
              <a:t>AB             </a:t>
            </a:r>
            <a:r>
              <a:rPr lang="en-US" altLang="zh-CN" sz="2000" dirty="0"/>
              <a:t>E</a:t>
            </a:r>
            <a:r>
              <a:rPr lang="zh-CN" altLang="zh-CN" sz="2000" dirty="0"/>
              <a:t>。</a:t>
            </a:r>
          </a:p>
          <a:p>
            <a:pPr>
              <a:lnSpc>
                <a:spcPts val="3000"/>
              </a:lnSpc>
            </a:pPr>
            <a:r>
              <a:rPr lang="zh-CN" altLang="zh-CN" sz="2000" dirty="0"/>
              <a:t>根据定义</a:t>
            </a:r>
            <a:r>
              <a:rPr lang="en-US" altLang="zh-CN" sz="2000" dirty="0"/>
              <a:t>6.1</a:t>
            </a:r>
            <a:r>
              <a:rPr lang="zh-CN" altLang="zh-CN" sz="2000" dirty="0"/>
              <a:t>和定义</a:t>
            </a:r>
            <a:r>
              <a:rPr lang="en-US" altLang="zh-CN" sz="2000" dirty="0"/>
              <a:t>6.2</a:t>
            </a:r>
            <a:r>
              <a:rPr lang="zh-CN" altLang="zh-CN" sz="2000" dirty="0"/>
              <a:t>，则候选键可以进一步描述：</a:t>
            </a:r>
          </a:p>
          <a:p>
            <a:pPr marL="360363" indent="0">
              <a:lnSpc>
                <a:spcPts val="3000"/>
              </a:lnSpc>
              <a:buNone/>
            </a:pPr>
            <a:r>
              <a:rPr lang="zh-CN" altLang="zh-CN" sz="2000" dirty="0"/>
              <a:t>在</a:t>
            </a:r>
            <a:r>
              <a:rPr lang="en-US" altLang="zh-CN" sz="2000" dirty="0"/>
              <a:t>R(U</a:t>
            </a:r>
            <a:r>
              <a:rPr lang="zh-CN" altLang="zh-CN" sz="2000" dirty="0"/>
              <a:t>，</a:t>
            </a:r>
            <a:r>
              <a:rPr lang="en-US" altLang="zh-CN" sz="2000" dirty="0"/>
              <a:t>F)</a:t>
            </a:r>
            <a:r>
              <a:rPr lang="zh-CN" altLang="zh-CN" sz="2000" dirty="0"/>
              <a:t>中</a:t>
            </a:r>
            <a:r>
              <a:rPr lang="en-US" altLang="zh-CN" sz="2000" dirty="0"/>
              <a:t>X </a:t>
            </a:r>
            <a:r>
              <a:rPr lang="en-US" altLang="zh-CN" sz="2000" dirty="0">
                <a:sym typeface="Symbol"/>
              </a:rPr>
              <a:t></a:t>
            </a:r>
            <a:r>
              <a:rPr lang="en-US" altLang="zh-CN" sz="2000" dirty="0"/>
              <a:t> U</a:t>
            </a:r>
            <a:r>
              <a:rPr lang="zh-CN" altLang="zh-CN" sz="2000" dirty="0"/>
              <a:t>，如果</a:t>
            </a:r>
            <a:r>
              <a:rPr lang="en-US" altLang="zh-CN" sz="2000" dirty="0"/>
              <a:t>X </a:t>
            </a:r>
            <a:r>
              <a:rPr lang="en-US" altLang="zh-CN" sz="2000" dirty="0" smtClean="0"/>
              <a:t>           U</a:t>
            </a:r>
            <a:r>
              <a:rPr lang="zh-CN" altLang="zh-CN" sz="2000" dirty="0"/>
              <a:t>，则</a:t>
            </a:r>
            <a:r>
              <a:rPr lang="en-US" altLang="zh-CN" sz="2000" dirty="0"/>
              <a:t>X</a:t>
            </a:r>
            <a:r>
              <a:rPr lang="zh-CN" altLang="zh-CN" sz="2000" dirty="0"/>
              <a:t>是候选键。</a:t>
            </a:r>
          </a:p>
          <a:p>
            <a:pPr>
              <a:lnSpc>
                <a:spcPts val="3000"/>
              </a:lnSpc>
            </a:pPr>
            <a:r>
              <a:rPr lang="zh-CN" altLang="zh-CN" sz="2000" dirty="0">
                <a:solidFill>
                  <a:srgbClr val="0000FF"/>
                </a:solidFill>
              </a:rPr>
              <a:t>例如：</a:t>
            </a:r>
            <a:r>
              <a:rPr lang="zh-CN" altLang="zh-CN" sz="2000" dirty="0"/>
              <a:t>在例</a:t>
            </a:r>
            <a:r>
              <a:rPr lang="en-US" altLang="zh-CN" sz="2000" dirty="0"/>
              <a:t>6.1</a:t>
            </a:r>
            <a:r>
              <a:rPr lang="zh-CN" altLang="zh-CN" sz="2000" dirty="0"/>
              <a:t>中，</a:t>
            </a:r>
            <a:r>
              <a:rPr lang="en-US" altLang="zh-CN" sz="2000" dirty="0"/>
              <a:t>(</a:t>
            </a:r>
            <a:r>
              <a:rPr lang="en-US" altLang="zh-CN" sz="2000" dirty="0" err="1"/>
              <a:t>BNo</a:t>
            </a:r>
            <a:r>
              <a:rPr lang="en-US" altLang="zh-CN" sz="2000" dirty="0"/>
              <a:t>, </a:t>
            </a:r>
            <a:r>
              <a:rPr lang="en-US" altLang="zh-CN" sz="2000" dirty="0" err="1"/>
              <a:t>CNo</a:t>
            </a:r>
            <a:r>
              <a:rPr lang="en-US" altLang="zh-CN" sz="2000" dirty="0"/>
              <a:t>)</a:t>
            </a:r>
            <a:r>
              <a:rPr lang="zh-CN" altLang="zh-CN" sz="2000" dirty="0"/>
              <a:t>是</a:t>
            </a:r>
            <a:r>
              <a:rPr lang="en-US" altLang="zh-CN" sz="2000" dirty="0" err="1"/>
              <a:t>BInfo</a:t>
            </a:r>
            <a:r>
              <a:rPr lang="zh-CN" altLang="zh-CN" sz="2000" dirty="0"/>
              <a:t>的候选键。在例</a:t>
            </a:r>
            <a:r>
              <a:rPr lang="en-US" altLang="zh-CN" sz="2000" dirty="0"/>
              <a:t>6.2</a:t>
            </a:r>
            <a:r>
              <a:rPr lang="zh-CN" altLang="zh-CN" sz="2000" dirty="0"/>
              <a:t>中，</a:t>
            </a:r>
            <a:r>
              <a:rPr lang="en-US" altLang="zh-CN" sz="2000" dirty="0"/>
              <a:t>AB</a:t>
            </a:r>
            <a:r>
              <a:rPr lang="zh-CN" altLang="zh-CN" sz="2000" dirty="0"/>
              <a:t>是</a:t>
            </a:r>
            <a:r>
              <a:rPr lang="en-US" altLang="zh-CN" sz="2000" dirty="0"/>
              <a:t>R</a:t>
            </a:r>
            <a:r>
              <a:rPr lang="zh-CN" altLang="zh-CN" sz="2000" dirty="0"/>
              <a:t>的候选键。</a:t>
            </a:r>
          </a:p>
          <a:p>
            <a:pPr>
              <a:lnSpc>
                <a:spcPts val="3000"/>
              </a:lnSpc>
            </a:pPr>
            <a:r>
              <a:rPr lang="zh-CN" altLang="zh-CN" sz="2000" dirty="0">
                <a:solidFill>
                  <a:srgbClr val="0000FF"/>
                </a:solidFill>
              </a:rPr>
              <a:t>提示：</a:t>
            </a:r>
            <a:r>
              <a:rPr lang="zh-CN" altLang="zh-CN" sz="2000" dirty="0"/>
              <a:t>利用“属性集的闭包”可以给出“候选键”更直观的解释。</a:t>
            </a:r>
          </a:p>
        </p:txBody>
      </p:sp>
      <p:grpSp>
        <p:nvGrpSpPr>
          <p:cNvPr id="8" name="组合 7"/>
          <p:cNvGrpSpPr>
            <a:grpSpLocks/>
          </p:cNvGrpSpPr>
          <p:nvPr/>
        </p:nvGrpSpPr>
        <p:grpSpPr bwMode="auto">
          <a:xfrm>
            <a:off x="1259632" y="1268760"/>
            <a:ext cx="504056" cy="252028"/>
            <a:chOff x="4638" y="3090"/>
            <a:chExt cx="336" cy="156"/>
          </a:xfrm>
        </p:grpSpPr>
        <p:cxnSp>
          <p:nvCxnSpPr>
            <p:cNvPr id="9"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10"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260901508"/>
              </p:ext>
            </p:extLst>
          </p:nvPr>
        </p:nvGraphicFramePr>
        <p:xfrm>
          <a:off x="4139952" y="1520788"/>
          <a:ext cx="683568" cy="434997"/>
        </p:xfrm>
        <a:graphic>
          <a:graphicData uri="http://schemas.openxmlformats.org/presentationml/2006/ole">
            <mc:AlternateContent xmlns:mc="http://schemas.openxmlformats.org/markup-compatibility/2006">
              <mc:Choice xmlns:v="urn:schemas-microsoft-com:vml" Requires="v">
                <p:oleObj spid="_x0000_s65230" name="公式" r:id="rId3" imgW="368140" imgH="203112" progId="Equation.3">
                  <p:embed/>
                </p:oleObj>
              </mc:Choice>
              <mc:Fallback>
                <p:oleObj name="公式" r:id="rId3" imgW="368140"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1520788"/>
                        <a:ext cx="683568" cy="434997"/>
                      </a:xfrm>
                      <a:prstGeom prst="rect">
                        <a:avLst/>
                      </a:prstGeom>
                      <a:noFill/>
                    </p:spPr>
                  </p:pic>
                </p:oleObj>
              </mc:Fallback>
            </mc:AlternateContent>
          </a:graphicData>
        </a:graphic>
      </p:graphicFrame>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2655728999"/>
              </p:ext>
            </p:extLst>
          </p:nvPr>
        </p:nvGraphicFramePr>
        <p:xfrm>
          <a:off x="4139952" y="2276872"/>
          <a:ext cx="611560" cy="389175"/>
        </p:xfrm>
        <a:graphic>
          <a:graphicData uri="http://schemas.openxmlformats.org/presentationml/2006/ole">
            <mc:AlternateContent xmlns:mc="http://schemas.openxmlformats.org/markup-compatibility/2006">
              <mc:Choice xmlns:v="urn:schemas-microsoft-com:vml" Requires="v">
                <p:oleObj spid="_x0000_s65231" name="公式" r:id="rId5" imgW="368140" imgH="203112" progId="Equation.3">
                  <p:embed/>
                </p:oleObj>
              </mc:Choice>
              <mc:Fallback>
                <p:oleObj name="公式" r:id="rId5" imgW="368140" imgH="203112"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9952" y="2276872"/>
                        <a:ext cx="611560" cy="389175"/>
                      </a:xfrm>
                      <a:prstGeom prst="rect">
                        <a:avLst/>
                      </a:prstGeom>
                      <a:noFill/>
                    </p:spPr>
                  </p:pic>
                </p:oleObj>
              </mc:Fallback>
            </mc:AlternateContent>
          </a:graphicData>
        </a:graphic>
      </p:graphicFrame>
      <p:grpSp>
        <p:nvGrpSpPr>
          <p:cNvPr id="14" name="组合 13"/>
          <p:cNvGrpSpPr>
            <a:grpSpLocks/>
          </p:cNvGrpSpPr>
          <p:nvPr/>
        </p:nvGrpSpPr>
        <p:grpSpPr bwMode="auto">
          <a:xfrm>
            <a:off x="4067944" y="2780928"/>
            <a:ext cx="504056" cy="252028"/>
            <a:chOff x="4638" y="3090"/>
            <a:chExt cx="336" cy="156"/>
          </a:xfrm>
        </p:grpSpPr>
        <p:cxnSp>
          <p:nvCxnSpPr>
            <p:cNvPr id="15"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16"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7" name="组合 16"/>
          <p:cNvGrpSpPr>
            <a:grpSpLocks/>
          </p:cNvGrpSpPr>
          <p:nvPr/>
        </p:nvGrpSpPr>
        <p:grpSpPr bwMode="auto">
          <a:xfrm>
            <a:off x="6948264" y="2780928"/>
            <a:ext cx="504056" cy="252028"/>
            <a:chOff x="4638" y="3090"/>
            <a:chExt cx="336" cy="156"/>
          </a:xfrm>
        </p:grpSpPr>
        <p:cxnSp>
          <p:nvCxnSpPr>
            <p:cNvPr id="18"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19"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aphicFrame>
        <p:nvGraphicFramePr>
          <p:cNvPr id="23" name="对象 22"/>
          <p:cNvGraphicFramePr>
            <a:graphicFrameLocks noChangeAspect="1"/>
          </p:cNvGraphicFramePr>
          <p:nvPr>
            <p:extLst>
              <p:ext uri="{D42A27DB-BD31-4B8C-83A1-F6EECF244321}">
                <p14:modId xmlns:p14="http://schemas.microsoft.com/office/powerpoint/2010/main" val="824792399"/>
              </p:ext>
            </p:extLst>
          </p:nvPr>
        </p:nvGraphicFramePr>
        <p:xfrm>
          <a:off x="2699792" y="3032956"/>
          <a:ext cx="683568" cy="434997"/>
        </p:xfrm>
        <a:graphic>
          <a:graphicData uri="http://schemas.openxmlformats.org/presentationml/2006/ole">
            <mc:AlternateContent xmlns:mc="http://schemas.openxmlformats.org/markup-compatibility/2006">
              <mc:Choice xmlns:v="urn:schemas-microsoft-com:vml" Requires="v">
                <p:oleObj spid="_x0000_s65232" name="公式" r:id="rId7" imgW="368140" imgH="203112" progId="Equation.3">
                  <p:embed/>
                </p:oleObj>
              </mc:Choice>
              <mc:Fallback>
                <p:oleObj name="公式" r:id="rId7"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3032956"/>
                        <a:ext cx="683568" cy="434997"/>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655728999"/>
              </p:ext>
            </p:extLst>
          </p:nvPr>
        </p:nvGraphicFramePr>
        <p:xfrm>
          <a:off x="1277888" y="3789040"/>
          <a:ext cx="611560" cy="389175"/>
        </p:xfrm>
        <a:graphic>
          <a:graphicData uri="http://schemas.openxmlformats.org/presentationml/2006/ole">
            <mc:AlternateContent xmlns:mc="http://schemas.openxmlformats.org/markup-compatibility/2006">
              <mc:Choice xmlns:v="urn:schemas-microsoft-com:vml" Requires="v">
                <p:oleObj spid="_x0000_s65233" name="公式" r:id="rId8" imgW="368140" imgH="203112" progId="Equation.3">
                  <p:embed/>
                </p:oleObj>
              </mc:Choice>
              <mc:Fallback>
                <p:oleObj name="公式" r:id="rId8" imgW="368140"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7888" y="3789040"/>
                        <a:ext cx="611560" cy="389175"/>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829606309"/>
              </p:ext>
            </p:extLst>
          </p:nvPr>
        </p:nvGraphicFramePr>
        <p:xfrm>
          <a:off x="4558698" y="3789040"/>
          <a:ext cx="683568" cy="434997"/>
        </p:xfrm>
        <a:graphic>
          <a:graphicData uri="http://schemas.openxmlformats.org/presentationml/2006/ole">
            <mc:AlternateContent xmlns:mc="http://schemas.openxmlformats.org/markup-compatibility/2006">
              <mc:Choice xmlns:v="urn:schemas-microsoft-com:vml" Requires="v">
                <p:oleObj spid="_x0000_s65234" name="公式" r:id="rId9" imgW="368140" imgH="203112" progId="Equation.3">
                  <p:embed/>
                </p:oleObj>
              </mc:Choice>
              <mc:Fallback>
                <p:oleObj name="公式" r:id="rId9"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698" y="3789040"/>
                        <a:ext cx="683568" cy="434997"/>
                      </a:xfrm>
                      <a:prstGeom prst="rect">
                        <a:avLst/>
                      </a:prstGeom>
                      <a:noFill/>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668254981"/>
              </p:ext>
            </p:extLst>
          </p:nvPr>
        </p:nvGraphicFramePr>
        <p:xfrm>
          <a:off x="2915816" y="3789040"/>
          <a:ext cx="683568" cy="434997"/>
        </p:xfrm>
        <a:graphic>
          <a:graphicData uri="http://schemas.openxmlformats.org/presentationml/2006/ole">
            <mc:AlternateContent xmlns:mc="http://schemas.openxmlformats.org/markup-compatibility/2006">
              <mc:Choice xmlns:v="urn:schemas-microsoft-com:vml" Requires="v">
                <p:oleObj spid="_x0000_s65235" name="公式" r:id="rId10" imgW="368140" imgH="203112" progId="Equation.3">
                  <p:embed/>
                </p:oleObj>
              </mc:Choice>
              <mc:Fallback>
                <p:oleObj name="公式" r:id="rId10"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3789040"/>
                        <a:ext cx="683568" cy="434997"/>
                      </a:xfrm>
                      <a:prstGeom prst="rect">
                        <a:avLst/>
                      </a:prstGeom>
                      <a:noFill/>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829606309"/>
              </p:ext>
            </p:extLst>
          </p:nvPr>
        </p:nvGraphicFramePr>
        <p:xfrm>
          <a:off x="3610708" y="4581128"/>
          <a:ext cx="683568" cy="434997"/>
        </p:xfrm>
        <a:graphic>
          <a:graphicData uri="http://schemas.openxmlformats.org/presentationml/2006/ole">
            <mc:AlternateContent xmlns:mc="http://schemas.openxmlformats.org/markup-compatibility/2006">
              <mc:Choice xmlns:v="urn:schemas-microsoft-com:vml" Requires="v">
                <p:oleObj spid="_x0000_s65236" name="公式" r:id="rId11" imgW="368140" imgH="203112" progId="Equation.3">
                  <p:embed/>
                </p:oleObj>
              </mc:Choice>
              <mc:Fallback>
                <p:oleObj name="公式" r:id="rId11"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0708" y="4581128"/>
                        <a:ext cx="683568" cy="434997"/>
                      </a:xfrm>
                      <a:prstGeom prst="rect">
                        <a:avLst/>
                      </a:prstGeom>
                      <a:noFill/>
                    </p:spPr>
                  </p:pic>
                </p:oleObj>
              </mc:Fallback>
            </mc:AlternateContent>
          </a:graphicData>
        </a:graphic>
      </p:graphicFrame>
    </p:spTree>
    <p:extLst>
      <p:ext uri="{BB962C8B-B14F-4D97-AF65-F5344CB8AC3E}">
        <p14:creationId xmlns:p14="http://schemas.microsoft.com/office/powerpoint/2010/main" val="16385028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6.1.3 </a:t>
            </a:r>
            <a:r>
              <a:rPr lang="zh-CN" altLang="zh-CN" dirty="0"/>
              <a:t>传递依赖</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10</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定义</a:t>
            </a:r>
            <a:r>
              <a:rPr lang="en-US" altLang="zh-CN" sz="2000" dirty="0">
                <a:solidFill>
                  <a:srgbClr val="0000FF"/>
                </a:solidFill>
              </a:rPr>
              <a:t>6.4  </a:t>
            </a:r>
            <a:r>
              <a:rPr lang="zh-CN" altLang="zh-CN" sz="2000" dirty="0"/>
              <a:t>在</a:t>
            </a:r>
            <a:r>
              <a:rPr lang="en-US" altLang="zh-CN" sz="2000" dirty="0"/>
              <a:t>R(U</a:t>
            </a:r>
            <a:r>
              <a:rPr lang="zh-CN" altLang="zh-CN" sz="2000" dirty="0"/>
              <a:t>，</a:t>
            </a:r>
            <a:r>
              <a:rPr lang="en-US" altLang="zh-CN" sz="2000" dirty="0"/>
              <a:t>F)</a:t>
            </a:r>
            <a:r>
              <a:rPr lang="zh-CN" altLang="zh-CN" sz="2000" dirty="0"/>
              <a:t>中，如果</a:t>
            </a:r>
            <a:r>
              <a:rPr lang="en-US" altLang="zh-CN" sz="2000" dirty="0"/>
              <a:t>X</a:t>
            </a:r>
            <a:r>
              <a:rPr lang="zh-CN" altLang="zh-CN" sz="2000" dirty="0"/>
              <a:t>→</a:t>
            </a:r>
            <a:r>
              <a:rPr lang="en-US" altLang="zh-CN" sz="2000" dirty="0"/>
              <a:t>Y</a:t>
            </a:r>
            <a:r>
              <a:rPr lang="zh-CN" altLang="zh-CN" sz="2000" dirty="0"/>
              <a:t>，</a:t>
            </a:r>
            <a:r>
              <a:rPr lang="en-US" altLang="zh-CN" sz="2000" dirty="0"/>
              <a:t>Y</a:t>
            </a:r>
            <a:r>
              <a:rPr lang="zh-CN" altLang="zh-CN" sz="2000" dirty="0"/>
              <a:t>→</a:t>
            </a:r>
            <a:r>
              <a:rPr lang="en-US" altLang="zh-CN" sz="2000" dirty="0"/>
              <a:t>Z</a:t>
            </a:r>
            <a:r>
              <a:rPr lang="zh-CN" altLang="zh-CN" sz="2000" dirty="0"/>
              <a:t>，并且</a:t>
            </a:r>
            <a:r>
              <a:rPr lang="en-US" altLang="zh-CN" sz="2000" dirty="0"/>
              <a:t>Y   </a:t>
            </a:r>
            <a:r>
              <a:rPr lang="en-US" altLang="zh-CN" sz="2000" dirty="0" smtClean="0"/>
              <a:t>        </a:t>
            </a:r>
            <a:r>
              <a:rPr lang="en-US" altLang="zh-CN" sz="2000" dirty="0"/>
              <a:t>X</a:t>
            </a:r>
            <a:r>
              <a:rPr lang="zh-CN" altLang="zh-CN" sz="2000" dirty="0"/>
              <a:t>。</a:t>
            </a:r>
          </a:p>
          <a:p>
            <a:pPr marL="360363" indent="0">
              <a:buNone/>
            </a:pPr>
            <a:r>
              <a:rPr lang="zh-CN" altLang="zh-CN" sz="2000" dirty="0"/>
              <a:t>则称</a:t>
            </a:r>
            <a:r>
              <a:rPr lang="en-US" altLang="zh-CN" sz="2000" dirty="0"/>
              <a:t>Z</a:t>
            </a:r>
            <a:r>
              <a:rPr lang="zh-CN" altLang="zh-CN" sz="2000" dirty="0">
                <a:solidFill>
                  <a:srgbClr val="0000FF"/>
                </a:solidFill>
              </a:rPr>
              <a:t>传递函数依赖</a:t>
            </a:r>
            <a:r>
              <a:rPr lang="zh-CN" altLang="zh-CN" sz="2000" dirty="0"/>
              <a:t>于</a:t>
            </a:r>
            <a:r>
              <a:rPr lang="en-US" altLang="zh-CN" sz="2000" dirty="0"/>
              <a:t>X</a:t>
            </a:r>
            <a:r>
              <a:rPr lang="zh-CN" altLang="zh-CN" sz="2000" dirty="0"/>
              <a:t>。记为：</a:t>
            </a:r>
            <a:r>
              <a:rPr lang="en-US" altLang="zh-CN" sz="2000" dirty="0"/>
              <a:t>X </a:t>
            </a:r>
            <a:r>
              <a:rPr lang="en-US" altLang="zh-CN" sz="2000" dirty="0" smtClean="0"/>
              <a:t>             </a:t>
            </a:r>
            <a:r>
              <a:rPr lang="en-US" altLang="zh-CN" sz="2000" dirty="0"/>
              <a:t>Z</a:t>
            </a:r>
            <a:r>
              <a:rPr lang="zh-CN" altLang="zh-CN" sz="2000" dirty="0"/>
              <a:t>。</a:t>
            </a:r>
          </a:p>
          <a:p>
            <a:r>
              <a:rPr lang="zh-CN" altLang="zh-CN" sz="2000" dirty="0">
                <a:solidFill>
                  <a:srgbClr val="0000FF"/>
                </a:solidFill>
              </a:rPr>
              <a:t>说明：</a:t>
            </a:r>
            <a:r>
              <a:rPr lang="zh-CN" altLang="zh-CN" sz="2000" dirty="0"/>
              <a:t>在定义</a:t>
            </a:r>
            <a:r>
              <a:rPr lang="en-US" altLang="zh-CN" sz="2000" dirty="0"/>
              <a:t>6.4</a:t>
            </a:r>
            <a:r>
              <a:rPr lang="zh-CN" altLang="zh-CN" sz="2000" dirty="0"/>
              <a:t>中，</a:t>
            </a:r>
            <a:r>
              <a:rPr lang="en-US" altLang="zh-CN" sz="2000" dirty="0"/>
              <a:t>X</a:t>
            </a:r>
            <a:r>
              <a:rPr lang="zh-CN" altLang="zh-CN" sz="2000" dirty="0"/>
              <a:t>→</a:t>
            </a:r>
            <a:r>
              <a:rPr lang="en-US" altLang="zh-CN" sz="2000" dirty="0"/>
              <a:t>Y</a:t>
            </a:r>
            <a:r>
              <a:rPr lang="zh-CN" altLang="zh-CN" sz="2000" dirty="0"/>
              <a:t>和</a:t>
            </a:r>
            <a:r>
              <a:rPr lang="en-US" altLang="zh-CN" sz="2000" dirty="0"/>
              <a:t>Y</a:t>
            </a:r>
            <a:r>
              <a:rPr lang="zh-CN" altLang="zh-CN" sz="2000" dirty="0"/>
              <a:t>→</a:t>
            </a:r>
            <a:r>
              <a:rPr lang="en-US" altLang="zh-CN" sz="2000" dirty="0"/>
              <a:t>Z</a:t>
            </a:r>
            <a:r>
              <a:rPr lang="zh-CN" altLang="zh-CN" sz="2000" dirty="0"/>
              <a:t>均为非平凡依赖。如果</a:t>
            </a:r>
            <a:r>
              <a:rPr lang="en-US" altLang="zh-CN" sz="2000" dirty="0"/>
              <a:t>Y</a:t>
            </a:r>
            <a:r>
              <a:rPr lang="zh-CN" altLang="zh-CN" sz="2000" dirty="0"/>
              <a:t>→</a:t>
            </a:r>
            <a:r>
              <a:rPr lang="en-US" altLang="zh-CN" sz="2000" dirty="0"/>
              <a:t>X</a:t>
            </a:r>
            <a:r>
              <a:rPr lang="zh-CN" altLang="zh-CN" sz="2000" dirty="0"/>
              <a:t>，则</a:t>
            </a:r>
            <a:r>
              <a:rPr lang="en-US" altLang="zh-CN" sz="2000" dirty="0"/>
              <a:t>X</a:t>
            </a:r>
            <a:r>
              <a:rPr lang="zh-CN" altLang="zh-CN" sz="2000" dirty="0"/>
              <a:t>←→</a:t>
            </a:r>
            <a:r>
              <a:rPr lang="en-US" altLang="zh-CN" sz="2000" dirty="0"/>
              <a:t>Y</a:t>
            </a:r>
            <a:r>
              <a:rPr lang="zh-CN" altLang="zh-CN" sz="2000" dirty="0"/>
              <a:t>，会导致</a:t>
            </a:r>
            <a:r>
              <a:rPr lang="en-US" altLang="zh-CN" sz="2000" dirty="0"/>
              <a:t>Z</a:t>
            </a:r>
            <a:r>
              <a:rPr lang="zh-CN" altLang="zh-CN" sz="2000" dirty="0"/>
              <a:t>直接依赖于</a:t>
            </a:r>
            <a:r>
              <a:rPr lang="en-US" altLang="zh-CN" sz="2000" dirty="0"/>
              <a:t>X</a:t>
            </a:r>
            <a:r>
              <a:rPr lang="zh-CN" altLang="zh-CN" sz="2000" dirty="0"/>
              <a:t>。所以</a:t>
            </a:r>
            <a:r>
              <a:rPr lang="en-US" altLang="zh-CN" sz="2000" dirty="0"/>
              <a:t>X</a:t>
            </a:r>
            <a:r>
              <a:rPr lang="zh-CN" altLang="zh-CN" sz="2000" dirty="0"/>
              <a:t>→</a:t>
            </a:r>
            <a:r>
              <a:rPr lang="en-US" altLang="zh-CN" sz="2000" dirty="0"/>
              <a:t>Y</a:t>
            </a:r>
            <a:r>
              <a:rPr lang="zh-CN" altLang="zh-CN" sz="2000" dirty="0"/>
              <a:t>、</a:t>
            </a:r>
            <a:r>
              <a:rPr lang="en-US" altLang="zh-CN" sz="2000" dirty="0"/>
              <a:t>Y</a:t>
            </a:r>
            <a:r>
              <a:rPr lang="zh-CN" altLang="zh-CN" sz="2000" dirty="0"/>
              <a:t>→</a:t>
            </a:r>
            <a:r>
              <a:rPr lang="en-US" altLang="zh-CN" sz="2000" dirty="0"/>
              <a:t>Z</a:t>
            </a:r>
            <a:r>
              <a:rPr lang="zh-CN" altLang="zh-CN" sz="2000" dirty="0"/>
              <a:t>和</a:t>
            </a:r>
            <a:r>
              <a:rPr lang="en-US" altLang="zh-CN" sz="2000" dirty="0"/>
              <a:t>Y</a:t>
            </a:r>
            <a:r>
              <a:rPr lang="zh-CN" altLang="zh-CN" sz="2000" dirty="0"/>
              <a:t>→</a:t>
            </a:r>
            <a:r>
              <a:rPr lang="en-US" altLang="zh-CN" sz="2000" dirty="0"/>
              <a:t>X</a:t>
            </a:r>
            <a:r>
              <a:rPr lang="zh-CN" altLang="zh-CN" sz="2000" dirty="0"/>
              <a:t>会导致非本质上的传递依赖。</a:t>
            </a:r>
          </a:p>
          <a:p>
            <a:r>
              <a:rPr lang="zh-CN" altLang="zh-CN" sz="2000" dirty="0">
                <a:solidFill>
                  <a:srgbClr val="0000FF"/>
                </a:solidFill>
              </a:rPr>
              <a:t>例如：</a:t>
            </a:r>
            <a:r>
              <a:rPr lang="zh-CN" altLang="zh-CN" sz="2000" dirty="0"/>
              <a:t>在</a:t>
            </a:r>
            <a:r>
              <a:rPr lang="en-US" altLang="zh-CN" sz="2000" dirty="0" err="1"/>
              <a:t>BInfo</a:t>
            </a:r>
            <a:r>
              <a:rPr lang="zh-CN" altLang="zh-CN" sz="2000" dirty="0"/>
              <a:t>中，成立</a:t>
            </a:r>
            <a:r>
              <a:rPr lang="en-US" altLang="zh-CN" sz="2000" dirty="0" err="1" smtClean="0"/>
              <a:t>Bno</a:t>
            </a:r>
            <a:r>
              <a:rPr lang="en-US" altLang="zh-CN" sz="2000" dirty="0" smtClean="0"/>
              <a:t>          </a:t>
            </a:r>
            <a:r>
              <a:rPr lang="en-US" altLang="zh-CN" sz="2000" dirty="0" err="1" smtClean="0"/>
              <a:t>PName</a:t>
            </a:r>
            <a:r>
              <a:rPr lang="zh-CN" altLang="zh-CN" sz="2000" dirty="0"/>
              <a:t>；</a:t>
            </a:r>
            <a:r>
              <a:rPr lang="en-US" altLang="zh-CN" sz="2000" dirty="0" err="1" smtClean="0"/>
              <a:t>Bno</a:t>
            </a:r>
            <a:r>
              <a:rPr lang="en-US" altLang="zh-CN" sz="2000" dirty="0" smtClean="0"/>
              <a:t>           </a:t>
            </a:r>
            <a:r>
              <a:rPr lang="en-US" altLang="zh-CN" sz="2000" dirty="0" err="1" smtClean="0"/>
              <a:t>PCode</a:t>
            </a:r>
            <a:r>
              <a:rPr lang="zh-CN" altLang="zh-CN" sz="2000" dirty="0"/>
              <a:t>。</a:t>
            </a:r>
          </a:p>
        </p:txBody>
      </p:sp>
      <p:grpSp>
        <p:nvGrpSpPr>
          <p:cNvPr id="8" name="组合 7"/>
          <p:cNvGrpSpPr>
            <a:grpSpLocks/>
          </p:cNvGrpSpPr>
          <p:nvPr/>
        </p:nvGrpSpPr>
        <p:grpSpPr bwMode="auto">
          <a:xfrm>
            <a:off x="6228184" y="908720"/>
            <a:ext cx="504056" cy="252028"/>
            <a:chOff x="4638" y="3090"/>
            <a:chExt cx="336" cy="156"/>
          </a:xfrm>
        </p:grpSpPr>
        <p:cxnSp>
          <p:nvCxnSpPr>
            <p:cNvPr id="9" name="Line 346"/>
            <p:cNvCxnSpPr/>
            <p:nvPr/>
          </p:nvCxnSpPr>
          <p:spPr bwMode="auto">
            <a:xfrm>
              <a:off x="4638" y="3168"/>
              <a:ext cx="336" cy="0"/>
            </a:xfrm>
            <a:prstGeom prst="line">
              <a:avLst/>
            </a:prstGeom>
            <a:noFill/>
            <a:ln w="19050">
              <a:solidFill>
                <a:srgbClr val="000000"/>
              </a:solidFill>
              <a:round/>
              <a:headEnd type="none"/>
              <a:tailEnd type="arrow" w="med" len="med"/>
            </a:ln>
            <a:extLst>
              <a:ext uri="{909E8E84-426E-40DD-AFC4-6F175D3DCCD1}">
                <a14:hiddenFill xmlns:a14="http://schemas.microsoft.com/office/drawing/2010/main">
                  <a:noFill/>
                </a14:hiddenFill>
              </a:ext>
            </a:extLst>
          </p:spPr>
        </p:cxnSp>
        <p:cxnSp>
          <p:nvCxnSpPr>
            <p:cNvPr id="10" name="Line 347"/>
            <p:cNvCxnSpPr/>
            <p:nvPr/>
          </p:nvCxnSpPr>
          <p:spPr bwMode="auto">
            <a:xfrm>
              <a:off x="4758" y="3090"/>
              <a:ext cx="96" cy="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4204873436"/>
              </p:ext>
            </p:extLst>
          </p:nvPr>
        </p:nvGraphicFramePr>
        <p:xfrm>
          <a:off x="4499992" y="1268760"/>
          <a:ext cx="611560" cy="389175"/>
        </p:xfrm>
        <a:graphic>
          <a:graphicData uri="http://schemas.openxmlformats.org/presentationml/2006/ole">
            <mc:AlternateContent xmlns:mc="http://schemas.openxmlformats.org/markup-compatibility/2006">
              <mc:Choice xmlns:v="urn:schemas-microsoft-com:vml" Requires="v">
                <p:oleObj spid="_x0000_s2792" name="公式" r:id="rId3" imgW="368140" imgH="203112" progId="Equation.3">
                  <p:embed/>
                </p:oleObj>
              </mc:Choice>
              <mc:Fallback>
                <p:oleObj name="公式" r:id="rId3" imgW="368140"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1268760"/>
                        <a:ext cx="611560" cy="389175"/>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053204191"/>
              </p:ext>
            </p:extLst>
          </p:nvPr>
        </p:nvGraphicFramePr>
        <p:xfrm>
          <a:off x="3779912" y="3140968"/>
          <a:ext cx="611560" cy="389175"/>
        </p:xfrm>
        <a:graphic>
          <a:graphicData uri="http://schemas.openxmlformats.org/presentationml/2006/ole">
            <mc:AlternateContent xmlns:mc="http://schemas.openxmlformats.org/markup-compatibility/2006">
              <mc:Choice xmlns:v="urn:schemas-microsoft-com:vml" Requires="v">
                <p:oleObj spid="_x0000_s2793" name="公式" r:id="rId5" imgW="368140" imgH="203112" progId="Equation.3">
                  <p:embed/>
                </p:oleObj>
              </mc:Choice>
              <mc:Fallback>
                <p:oleObj name="公式" r:id="rId5"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912" y="3140968"/>
                        <a:ext cx="611560" cy="389175"/>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367312511"/>
              </p:ext>
            </p:extLst>
          </p:nvPr>
        </p:nvGraphicFramePr>
        <p:xfrm>
          <a:off x="6175394" y="3140968"/>
          <a:ext cx="611560" cy="389175"/>
        </p:xfrm>
        <a:graphic>
          <a:graphicData uri="http://schemas.openxmlformats.org/presentationml/2006/ole">
            <mc:AlternateContent xmlns:mc="http://schemas.openxmlformats.org/markup-compatibility/2006">
              <mc:Choice xmlns:v="urn:schemas-microsoft-com:vml" Requires="v">
                <p:oleObj spid="_x0000_s2794" name="公式" r:id="rId6" imgW="368140" imgH="203112" progId="Equation.3">
                  <p:embed/>
                </p:oleObj>
              </mc:Choice>
              <mc:Fallback>
                <p:oleObj name="公式" r:id="rId6"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394" y="3140968"/>
                        <a:ext cx="611560" cy="389175"/>
                      </a:xfrm>
                      <a:prstGeom prst="rect">
                        <a:avLst/>
                      </a:prstGeom>
                      <a:noFill/>
                    </p:spPr>
                  </p:pic>
                </p:oleObj>
              </mc:Fallback>
            </mc:AlternateContent>
          </a:graphicData>
        </a:graphic>
      </p:graphicFrame>
    </p:spTree>
    <p:extLst>
      <p:ext uri="{BB962C8B-B14F-4D97-AF65-F5344CB8AC3E}">
        <p14:creationId xmlns:p14="http://schemas.microsoft.com/office/powerpoint/2010/main" val="32327924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a:t>
            </a:r>
            <a:r>
              <a:rPr lang="zh-CN" altLang="zh-CN" dirty="0"/>
              <a:t>范式</a:t>
            </a:r>
            <a:endParaRPr lang="zh-CN" altLang="en-US" dirty="0"/>
          </a:p>
        </p:txBody>
      </p:sp>
      <p:sp>
        <p:nvSpPr>
          <p:cNvPr id="3" name="文本占位符 2"/>
          <p:cNvSpPr>
            <a:spLocks noGrp="1"/>
          </p:cNvSpPr>
          <p:nvPr>
            <p:ph type="body" idx="1"/>
          </p:nvPr>
        </p:nvSpPr>
        <p:spPr/>
        <p:txBody>
          <a:bodyPr/>
          <a:lstStyle/>
          <a:p>
            <a:pPr marL="971550" lvl="2" indent="-571500">
              <a:lnSpc>
                <a:spcPts val="5600"/>
              </a:lnSpc>
              <a:buFont typeface="Wingdings" pitchFamily="2" charset="2"/>
              <a:buChar char="n"/>
            </a:pPr>
            <a:r>
              <a:rPr lang="zh-CN" altLang="zh-CN" sz="3600" dirty="0">
                <a:solidFill>
                  <a:srgbClr val="0000FF"/>
                </a:solidFill>
              </a:rPr>
              <a:t>范式</a:t>
            </a:r>
            <a:endParaRPr lang="en-US" altLang="zh-CN" sz="3600" dirty="0">
              <a:solidFill>
                <a:srgbClr val="0000FF"/>
              </a:solidFill>
            </a:endParaRPr>
          </a:p>
          <a:p>
            <a:pPr marL="971550" lvl="2" indent="-571500">
              <a:lnSpc>
                <a:spcPts val="5600"/>
              </a:lnSpc>
              <a:buFont typeface="Wingdings" pitchFamily="2" charset="2"/>
              <a:buChar char="n"/>
            </a:pPr>
            <a:r>
              <a:rPr lang="zh-CN" altLang="zh-CN" sz="3600" dirty="0" smtClean="0">
                <a:solidFill>
                  <a:srgbClr val="0000FF"/>
                </a:solidFill>
              </a:rPr>
              <a:t>第一</a:t>
            </a:r>
            <a:r>
              <a:rPr lang="zh-CN" altLang="en-US" sz="3600" dirty="0">
                <a:solidFill>
                  <a:srgbClr val="0000FF"/>
                </a:solidFill>
              </a:rPr>
              <a:t>范式</a:t>
            </a:r>
            <a:endParaRPr lang="zh-CN" altLang="zh-CN" sz="3600" dirty="0">
              <a:solidFill>
                <a:srgbClr val="0000FF"/>
              </a:solidFill>
            </a:endParaRPr>
          </a:p>
          <a:p>
            <a:pPr marL="971550" lvl="2" indent="-571500">
              <a:lnSpc>
                <a:spcPts val="5600"/>
              </a:lnSpc>
              <a:buFont typeface="Wingdings" pitchFamily="2" charset="2"/>
              <a:buChar char="n"/>
            </a:pPr>
            <a:r>
              <a:rPr lang="zh-CN" altLang="en-US" sz="3600" dirty="0" smtClean="0">
                <a:solidFill>
                  <a:srgbClr val="0000FF"/>
                </a:solidFill>
              </a:rPr>
              <a:t>第二</a:t>
            </a:r>
            <a:r>
              <a:rPr lang="zh-CN" altLang="en-US" sz="3600" dirty="0">
                <a:solidFill>
                  <a:srgbClr val="0000FF"/>
                </a:solidFill>
              </a:rPr>
              <a:t>范式</a:t>
            </a:r>
            <a:endParaRPr lang="zh-CN" altLang="zh-CN" sz="3600" dirty="0">
              <a:solidFill>
                <a:srgbClr val="0000FF"/>
              </a:solidFill>
            </a:endParaRPr>
          </a:p>
          <a:p>
            <a:pPr marL="971550" lvl="2" indent="-571500">
              <a:lnSpc>
                <a:spcPts val="5600"/>
              </a:lnSpc>
              <a:buFont typeface="Wingdings" pitchFamily="2" charset="2"/>
              <a:buChar char="n"/>
            </a:pPr>
            <a:r>
              <a:rPr lang="zh-CN" altLang="en-US" sz="3600" dirty="0" smtClean="0">
                <a:solidFill>
                  <a:srgbClr val="0000FF"/>
                </a:solidFill>
              </a:rPr>
              <a:t>第三</a:t>
            </a:r>
            <a:r>
              <a:rPr lang="zh-CN" altLang="en-US" sz="3600" dirty="0">
                <a:solidFill>
                  <a:srgbClr val="0000FF"/>
                </a:solidFill>
              </a:rPr>
              <a:t>范式</a:t>
            </a:r>
            <a:endParaRPr lang="zh-CN" altLang="zh-CN" sz="3600" dirty="0">
              <a:solidFill>
                <a:srgbClr val="0000FF"/>
              </a:solidFill>
            </a:endParaRPr>
          </a:p>
          <a:p>
            <a:pPr marL="971550" lvl="2" indent="-571500">
              <a:lnSpc>
                <a:spcPts val="5600"/>
              </a:lnSpc>
              <a:buFont typeface="Wingdings" pitchFamily="2" charset="2"/>
              <a:buChar char="n"/>
            </a:pPr>
            <a:r>
              <a:rPr lang="en-US" altLang="zh-CN" sz="3600" dirty="0" smtClean="0">
                <a:solidFill>
                  <a:srgbClr val="0000FF"/>
                </a:solidFill>
              </a:rPr>
              <a:t>BC</a:t>
            </a:r>
            <a:r>
              <a:rPr lang="zh-CN" altLang="en-US" sz="3600" dirty="0">
                <a:solidFill>
                  <a:srgbClr val="0000FF"/>
                </a:solidFill>
              </a:rPr>
              <a:t>范式</a:t>
            </a:r>
            <a:endParaRPr lang="zh-CN" altLang="zh-CN" sz="3600" dirty="0">
              <a:solidFill>
                <a:srgbClr val="0000FF"/>
              </a:solidFill>
            </a:endParaRPr>
          </a:p>
          <a:p>
            <a:pPr marL="971550" lvl="2" indent="-571500">
              <a:lnSpc>
                <a:spcPts val="5600"/>
              </a:lnSpc>
              <a:buFont typeface="Wingdings" pitchFamily="2" charset="2"/>
              <a:buChar char="n"/>
            </a:pPr>
            <a:r>
              <a:rPr lang="zh-CN" altLang="en-US" sz="3600" dirty="0" smtClean="0">
                <a:solidFill>
                  <a:srgbClr val="000000"/>
                </a:solidFill>
              </a:rPr>
              <a:t>第四范式</a:t>
            </a:r>
            <a:endParaRPr lang="zh-CN" altLang="en-US" dirty="0">
              <a:solidFill>
                <a:srgbClr val="000000"/>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11</a:t>
            </a:fld>
            <a:endParaRPr lang="zh-CN" altLang="en-US" dirty="0"/>
          </a:p>
        </p:txBody>
      </p:sp>
    </p:spTree>
    <p:extLst>
      <p:ext uri="{BB962C8B-B14F-4D97-AF65-F5344CB8AC3E}">
        <p14:creationId xmlns:p14="http://schemas.microsoft.com/office/powerpoint/2010/main" val="3313545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219256" cy="418058"/>
          </a:xfrm>
        </p:spPr>
        <p:txBody>
          <a:bodyPr>
            <a:normAutofit fontScale="90000"/>
          </a:bodyPr>
          <a:lstStyle/>
          <a:p>
            <a:r>
              <a:rPr lang="en-US" altLang="zh-CN" dirty="0"/>
              <a:t>6.2.1 </a:t>
            </a:r>
            <a:r>
              <a:rPr lang="zh-CN" altLang="zh-CN" dirty="0">
                <a:solidFill>
                  <a:srgbClr val="0000FF"/>
                </a:solidFill>
              </a:rPr>
              <a:t>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12</a:t>
            </a:fld>
            <a:endParaRPr lang="zh-CN" altLang="en-US" dirty="0"/>
          </a:p>
        </p:txBody>
      </p:sp>
      <p:sp>
        <p:nvSpPr>
          <p:cNvPr id="7" name="文本占位符 6"/>
          <p:cNvSpPr>
            <a:spLocks noGrp="1"/>
          </p:cNvSpPr>
          <p:nvPr>
            <p:ph type="body" idx="1"/>
          </p:nvPr>
        </p:nvSpPr>
        <p:spPr>
          <a:xfrm>
            <a:off x="107504" y="836712"/>
            <a:ext cx="8856984" cy="5544616"/>
          </a:xfrm>
        </p:spPr>
        <p:txBody>
          <a:bodyPr>
            <a:noAutofit/>
          </a:bodyPr>
          <a:lstStyle/>
          <a:p>
            <a:r>
              <a:rPr lang="zh-CN" altLang="zh-CN" sz="2000" dirty="0" smtClean="0">
                <a:solidFill>
                  <a:srgbClr val="0000FF"/>
                </a:solidFill>
              </a:rPr>
              <a:t>范式</a:t>
            </a:r>
            <a:r>
              <a:rPr lang="zh-CN" altLang="en-US" sz="2000" dirty="0" smtClean="0">
                <a:solidFill>
                  <a:srgbClr val="0000FF"/>
                </a:solidFill>
              </a:rPr>
              <a:t>：</a:t>
            </a:r>
            <a:r>
              <a:rPr lang="zh-CN" altLang="zh-CN" sz="2000" dirty="0" smtClean="0"/>
              <a:t>满足</a:t>
            </a:r>
            <a:r>
              <a:rPr lang="zh-CN" altLang="zh-CN" sz="2000" dirty="0"/>
              <a:t>系统规范要求的关系模式的集合</a:t>
            </a:r>
            <a:r>
              <a:rPr lang="zh-CN" altLang="zh-CN" sz="2000" dirty="0" smtClean="0"/>
              <a:t>。</a:t>
            </a:r>
            <a:r>
              <a:rPr lang="zh-CN" altLang="zh-CN" sz="2000" dirty="0" smtClean="0">
                <a:solidFill>
                  <a:srgbClr val="0000FF"/>
                </a:solidFill>
              </a:rPr>
              <a:t>规范化</a:t>
            </a:r>
            <a:r>
              <a:rPr lang="zh-CN" altLang="zh-CN" sz="2000" dirty="0">
                <a:solidFill>
                  <a:srgbClr val="0000FF"/>
                </a:solidFill>
              </a:rPr>
              <a:t>的关系模式的集合。</a:t>
            </a:r>
          </a:p>
          <a:p>
            <a:r>
              <a:rPr lang="zh-CN" altLang="zh-CN" sz="2000" dirty="0"/>
              <a:t>在实际应用中，逻辑模型中的关系模式一般必须达到系统的规范要求。根据不同应用需求，可以把满足不同规范要求的关系模式分为</a:t>
            </a:r>
            <a:r>
              <a:rPr lang="zh-CN" altLang="zh-CN" sz="2000" dirty="0" smtClean="0"/>
              <a:t>：</a:t>
            </a:r>
            <a:endParaRPr lang="en-US" altLang="zh-CN" sz="2000" dirty="0" smtClean="0"/>
          </a:p>
          <a:p>
            <a:pPr marL="360363" indent="0">
              <a:buNone/>
            </a:pPr>
            <a:r>
              <a:rPr lang="zh-CN" altLang="zh-CN" sz="2000" dirty="0" smtClean="0">
                <a:solidFill>
                  <a:srgbClr val="0000FF"/>
                </a:solidFill>
              </a:rPr>
              <a:t>第一</a:t>
            </a:r>
            <a:r>
              <a:rPr lang="zh-CN" altLang="zh-CN" sz="2000" dirty="0">
                <a:solidFill>
                  <a:srgbClr val="0000FF"/>
                </a:solidFill>
              </a:rPr>
              <a:t>范式</a:t>
            </a:r>
            <a:r>
              <a:rPr lang="en-US" altLang="zh-CN" sz="2000" dirty="0">
                <a:solidFill>
                  <a:srgbClr val="0000FF"/>
                </a:solidFill>
              </a:rPr>
              <a:t>(First Normal Form</a:t>
            </a:r>
            <a:r>
              <a:rPr lang="zh-CN" altLang="zh-CN" sz="2000" dirty="0">
                <a:solidFill>
                  <a:srgbClr val="0000FF"/>
                </a:solidFill>
              </a:rPr>
              <a:t>，</a:t>
            </a:r>
            <a:r>
              <a:rPr lang="en-US" altLang="zh-CN" sz="2000" dirty="0">
                <a:solidFill>
                  <a:srgbClr val="0000FF"/>
                </a:solidFill>
              </a:rPr>
              <a:t>1NF</a:t>
            </a:r>
            <a:r>
              <a:rPr lang="en-US" altLang="zh-CN" sz="2000" dirty="0" smtClean="0">
                <a:solidFill>
                  <a:srgbClr val="0000FF"/>
                </a:solidFill>
              </a:rPr>
              <a:t>)</a:t>
            </a:r>
          </a:p>
          <a:p>
            <a:pPr marL="360363" indent="0">
              <a:buNone/>
            </a:pPr>
            <a:r>
              <a:rPr lang="zh-CN" altLang="zh-CN" sz="2000" dirty="0" smtClean="0">
                <a:solidFill>
                  <a:srgbClr val="0000FF"/>
                </a:solidFill>
              </a:rPr>
              <a:t>第二</a:t>
            </a:r>
            <a:r>
              <a:rPr lang="zh-CN" altLang="zh-CN" sz="2000" dirty="0">
                <a:solidFill>
                  <a:srgbClr val="0000FF"/>
                </a:solidFill>
              </a:rPr>
              <a:t>范式</a:t>
            </a:r>
            <a:r>
              <a:rPr lang="en-US" altLang="zh-CN" sz="2000" dirty="0">
                <a:solidFill>
                  <a:srgbClr val="0000FF"/>
                </a:solidFill>
              </a:rPr>
              <a:t>(2NF</a:t>
            </a:r>
            <a:r>
              <a:rPr lang="en-US" altLang="zh-CN" sz="2000" dirty="0" smtClean="0">
                <a:solidFill>
                  <a:srgbClr val="0000FF"/>
                </a:solidFill>
              </a:rPr>
              <a:t>)</a:t>
            </a:r>
          </a:p>
          <a:p>
            <a:pPr marL="360363" indent="0">
              <a:buNone/>
            </a:pPr>
            <a:r>
              <a:rPr lang="zh-CN" altLang="zh-CN" sz="2000" dirty="0" smtClean="0">
                <a:solidFill>
                  <a:srgbClr val="0000FF"/>
                </a:solidFill>
              </a:rPr>
              <a:t>第三</a:t>
            </a:r>
            <a:r>
              <a:rPr lang="zh-CN" altLang="zh-CN" sz="2000" dirty="0">
                <a:solidFill>
                  <a:srgbClr val="0000FF"/>
                </a:solidFill>
              </a:rPr>
              <a:t>范式</a:t>
            </a:r>
            <a:r>
              <a:rPr lang="en-US" altLang="zh-CN" sz="2000" dirty="0">
                <a:solidFill>
                  <a:srgbClr val="0000FF"/>
                </a:solidFill>
              </a:rPr>
              <a:t>(3NF</a:t>
            </a:r>
            <a:r>
              <a:rPr lang="en-US" altLang="zh-CN" sz="2000" dirty="0" smtClean="0">
                <a:solidFill>
                  <a:srgbClr val="0000FF"/>
                </a:solidFill>
              </a:rPr>
              <a:t>)</a:t>
            </a:r>
          </a:p>
          <a:p>
            <a:pPr marL="360363" indent="0">
              <a:buNone/>
            </a:pPr>
            <a:r>
              <a:rPr lang="en-US" altLang="zh-CN" sz="2000" dirty="0" smtClean="0">
                <a:solidFill>
                  <a:srgbClr val="0000FF"/>
                </a:solidFill>
              </a:rPr>
              <a:t>BC</a:t>
            </a:r>
            <a:r>
              <a:rPr lang="zh-CN" altLang="zh-CN" sz="2000" dirty="0">
                <a:solidFill>
                  <a:srgbClr val="0000FF"/>
                </a:solidFill>
              </a:rPr>
              <a:t>范式</a:t>
            </a:r>
            <a:r>
              <a:rPr lang="en-US" altLang="zh-CN" sz="2000" dirty="0">
                <a:solidFill>
                  <a:srgbClr val="0000FF"/>
                </a:solidFill>
              </a:rPr>
              <a:t>(Boyce </a:t>
            </a:r>
            <a:r>
              <a:rPr lang="en-US" altLang="zh-CN" sz="2000" dirty="0" err="1">
                <a:solidFill>
                  <a:srgbClr val="0000FF"/>
                </a:solidFill>
              </a:rPr>
              <a:t>Codd</a:t>
            </a:r>
            <a:r>
              <a:rPr lang="en-US" altLang="zh-CN" sz="2000" dirty="0">
                <a:solidFill>
                  <a:srgbClr val="0000FF"/>
                </a:solidFill>
              </a:rPr>
              <a:t> Normal Form</a:t>
            </a:r>
            <a:r>
              <a:rPr lang="zh-CN" altLang="zh-CN" sz="2000" dirty="0">
                <a:solidFill>
                  <a:srgbClr val="0000FF"/>
                </a:solidFill>
              </a:rPr>
              <a:t>，</a:t>
            </a:r>
            <a:r>
              <a:rPr lang="en-US" altLang="zh-CN" sz="2000" dirty="0">
                <a:solidFill>
                  <a:srgbClr val="0000FF"/>
                </a:solidFill>
              </a:rPr>
              <a:t>BCNF</a:t>
            </a:r>
            <a:r>
              <a:rPr lang="en-US" altLang="zh-CN" sz="2000" dirty="0" smtClean="0">
                <a:solidFill>
                  <a:srgbClr val="0000FF"/>
                </a:solidFill>
              </a:rPr>
              <a:t>)</a:t>
            </a:r>
          </a:p>
          <a:p>
            <a:pPr marL="360363" indent="0">
              <a:buNone/>
            </a:pPr>
            <a:r>
              <a:rPr lang="zh-CN" altLang="zh-CN" sz="2000" dirty="0" smtClean="0"/>
              <a:t>第四</a:t>
            </a:r>
            <a:r>
              <a:rPr lang="zh-CN" altLang="zh-CN" sz="2000" dirty="0"/>
              <a:t>范式</a:t>
            </a:r>
            <a:r>
              <a:rPr lang="en-US" altLang="zh-CN" sz="2000" dirty="0"/>
              <a:t>(4NF</a:t>
            </a:r>
            <a:r>
              <a:rPr lang="en-US" altLang="zh-CN" sz="2000" dirty="0" smtClean="0"/>
              <a:t>)</a:t>
            </a:r>
          </a:p>
          <a:p>
            <a:pPr marL="360363" indent="0">
              <a:buNone/>
            </a:pPr>
            <a:r>
              <a:rPr lang="zh-CN" altLang="zh-CN" sz="2000" dirty="0" smtClean="0"/>
              <a:t>第五</a:t>
            </a:r>
            <a:r>
              <a:rPr lang="zh-CN" altLang="zh-CN" sz="2000" dirty="0"/>
              <a:t>范式</a:t>
            </a:r>
            <a:r>
              <a:rPr lang="en-US" altLang="zh-CN" sz="2000" dirty="0"/>
              <a:t>(5NF)</a:t>
            </a:r>
            <a:r>
              <a:rPr lang="zh-CN" altLang="zh-CN" sz="2000" dirty="0"/>
              <a:t>。</a:t>
            </a:r>
            <a:r>
              <a:rPr lang="en-US" altLang="zh-CN" sz="2000" dirty="0">
                <a:solidFill>
                  <a:srgbClr val="0000FF"/>
                </a:solidFill>
              </a:rPr>
              <a:t>1NF</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和</a:t>
            </a:r>
            <a:r>
              <a:rPr lang="en-US" altLang="zh-CN" sz="2000" dirty="0">
                <a:solidFill>
                  <a:srgbClr val="0000FF"/>
                </a:solidFill>
              </a:rPr>
              <a:t>3NF</a:t>
            </a:r>
            <a:r>
              <a:rPr lang="zh-CN" altLang="zh-CN" sz="2000" dirty="0">
                <a:solidFill>
                  <a:srgbClr val="0000FF"/>
                </a:solidFill>
              </a:rPr>
              <a:t>是关系规范化的基本要求。</a:t>
            </a:r>
          </a:p>
          <a:p>
            <a:r>
              <a:rPr lang="zh-CN" altLang="zh-CN" sz="2000" dirty="0">
                <a:solidFill>
                  <a:srgbClr val="0000FF"/>
                </a:solidFill>
              </a:rPr>
              <a:t>如果关系模式</a:t>
            </a:r>
            <a:r>
              <a:rPr lang="en-US" altLang="zh-CN" sz="2000" dirty="0">
                <a:solidFill>
                  <a:srgbClr val="0000FF"/>
                </a:solidFill>
              </a:rPr>
              <a:t>R</a:t>
            </a:r>
            <a:r>
              <a:rPr lang="zh-CN" altLang="zh-CN" sz="2000" dirty="0">
                <a:solidFill>
                  <a:srgbClr val="0000FF"/>
                </a:solidFill>
              </a:rPr>
              <a:t>满足第</a:t>
            </a:r>
            <a:r>
              <a:rPr lang="en-US" altLang="zh-CN" sz="2000" dirty="0">
                <a:solidFill>
                  <a:srgbClr val="0000FF"/>
                </a:solidFill>
              </a:rPr>
              <a:t>n</a:t>
            </a:r>
            <a:r>
              <a:rPr lang="zh-CN" altLang="zh-CN" sz="2000" dirty="0">
                <a:solidFill>
                  <a:srgbClr val="0000FF"/>
                </a:solidFill>
              </a:rPr>
              <a:t>范式，则记为</a:t>
            </a:r>
            <a:r>
              <a:rPr lang="en-US" altLang="zh-CN" sz="2000" dirty="0">
                <a:solidFill>
                  <a:srgbClr val="0000FF"/>
                </a:solidFill>
              </a:rPr>
              <a:t>R</a:t>
            </a:r>
            <a:r>
              <a:rPr lang="zh-CN" altLang="zh-CN" sz="2000" dirty="0">
                <a:solidFill>
                  <a:srgbClr val="0000FF"/>
                </a:solidFill>
              </a:rPr>
              <a:t>∈</a:t>
            </a:r>
            <a:r>
              <a:rPr lang="en-US" altLang="zh-CN" sz="2000" dirty="0" err="1">
                <a:solidFill>
                  <a:srgbClr val="0000FF"/>
                </a:solidFill>
              </a:rPr>
              <a:t>nNF</a:t>
            </a:r>
            <a:r>
              <a:rPr lang="zh-CN" altLang="zh-CN" sz="2000" dirty="0" smtClean="0">
                <a:solidFill>
                  <a:srgbClr val="0000FF"/>
                </a:solidFill>
              </a:rPr>
              <a:t>。</a:t>
            </a:r>
            <a:endParaRPr lang="zh-CN" altLang="zh-CN" sz="2000" dirty="0">
              <a:solidFill>
                <a:srgbClr val="0000FF"/>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43711931"/>
              </p:ext>
            </p:extLst>
          </p:nvPr>
        </p:nvGraphicFramePr>
        <p:xfrm>
          <a:off x="755576" y="5517232"/>
          <a:ext cx="7085624" cy="464142"/>
        </p:xfrm>
        <a:graphic>
          <a:graphicData uri="http://schemas.openxmlformats.org/presentationml/2006/ole">
            <mc:AlternateContent xmlns:mc="http://schemas.openxmlformats.org/markup-compatibility/2006">
              <mc:Choice xmlns:v="urn:schemas-microsoft-com:vml" Requires="v">
                <p:oleObj spid="_x0000_s4342" name="公式" r:id="rId3" imgW="2958840" imgH="164880" progId="Equation.3">
                  <p:embed/>
                </p:oleObj>
              </mc:Choice>
              <mc:Fallback>
                <p:oleObj name="公式" r:id="rId3" imgW="2958840" imgH="1648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5517232"/>
                        <a:ext cx="7085624" cy="464142"/>
                      </a:xfrm>
                      <a:prstGeom prst="rect">
                        <a:avLst/>
                      </a:prstGeom>
                      <a:noFill/>
                    </p:spPr>
                  </p:pic>
                </p:oleObj>
              </mc:Fallback>
            </mc:AlternateContent>
          </a:graphicData>
        </a:graphic>
      </p:graphicFrame>
    </p:spTree>
    <p:extLst>
      <p:ext uri="{BB962C8B-B14F-4D97-AF65-F5344CB8AC3E}">
        <p14:creationId xmlns:p14="http://schemas.microsoft.com/office/powerpoint/2010/main" val="38486117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219256" cy="706090"/>
          </a:xfrm>
        </p:spPr>
        <p:txBody>
          <a:bodyPr/>
          <a:lstStyle/>
          <a:p>
            <a:pPr lvl="0">
              <a:lnSpc>
                <a:spcPts val="4600"/>
              </a:lnSpc>
            </a:pPr>
            <a:r>
              <a:rPr lang="en-US" altLang="zh-CN" dirty="0"/>
              <a:t>6.2.1 </a:t>
            </a:r>
            <a:r>
              <a:rPr lang="zh-CN" altLang="zh-CN" dirty="0"/>
              <a:t>范式</a:t>
            </a:r>
            <a:endParaRPr lang="en-US" altLang="zh-CN" dirty="0">
              <a:solidFill>
                <a:srgbClr val="0000FF"/>
              </a:solidFill>
            </a:endParaRPr>
          </a:p>
        </p:txBody>
      </p:sp>
      <p:sp>
        <p:nvSpPr>
          <p:cNvPr id="4" name="日期占位符 3"/>
          <p:cNvSpPr>
            <a:spLocks noGrp="1"/>
          </p:cNvSpPr>
          <p:nvPr>
            <p:ph type="dt" sz="half" idx="10"/>
          </p:nvPr>
        </p:nvSpPr>
        <p:spPr/>
        <p:txBody>
          <a:bodyPr/>
          <a:lstStyle/>
          <a:p>
            <a:fld id="{F63EB1C2-2F1E-4814-9601-778F991498D1}"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13</a:t>
            </a:fld>
            <a:endParaRPr lang="zh-CN" altLang="en-US" dirty="0"/>
          </a:p>
        </p:txBody>
      </p:sp>
      <p:sp>
        <p:nvSpPr>
          <p:cNvPr id="7" name="文本占位符 6"/>
          <p:cNvSpPr>
            <a:spLocks noGrp="1"/>
          </p:cNvSpPr>
          <p:nvPr>
            <p:ph type="body" idx="1"/>
          </p:nvPr>
        </p:nvSpPr>
        <p:spPr>
          <a:xfrm>
            <a:off x="457200" y="1124744"/>
            <a:ext cx="8229600" cy="720080"/>
          </a:xfrm>
        </p:spPr>
        <p:txBody>
          <a:bodyPr/>
          <a:lstStyle/>
          <a:p>
            <a:r>
              <a:rPr lang="zh-CN" altLang="zh-CN" dirty="0">
                <a:solidFill>
                  <a:srgbClr val="0000FF"/>
                </a:solidFill>
              </a:rPr>
              <a:t>范式之间的关系</a:t>
            </a:r>
            <a:r>
              <a:rPr lang="zh-CN" altLang="zh-CN" dirty="0"/>
              <a:t>如下（如图</a:t>
            </a:r>
            <a:r>
              <a:rPr lang="en-US" altLang="zh-CN" dirty="0"/>
              <a:t>6.1</a:t>
            </a:r>
            <a:r>
              <a:rPr lang="zh-CN" altLang="zh-CN" dirty="0"/>
              <a:t>所示）</a:t>
            </a:r>
            <a:r>
              <a:rPr lang="zh-CN" altLang="zh-CN" dirty="0" smtClean="0"/>
              <a:t>：</a:t>
            </a:r>
            <a:endParaRPr lang="zh-CN" altLang="en-US" dirty="0"/>
          </a:p>
        </p:txBody>
      </p:sp>
      <p:grpSp>
        <p:nvGrpSpPr>
          <p:cNvPr id="8" name="组合 7"/>
          <p:cNvGrpSpPr>
            <a:grpSpLocks/>
          </p:cNvGrpSpPr>
          <p:nvPr/>
        </p:nvGrpSpPr>
        <p:grpSpPr bwMode="auto">
          <a:xfrm>
            <a:off x="1200974" y="2317196"/>
            <a:ext cx="6696744" cy="2304256"/>
            <a:chOff x="2070" y="6840"/>
            <a:chExt cx="6408" cy="1800"/>
          </a:xfrm>
        </p:grpSpPr>
        <p:sp>
          <p:nvSpPr>
            <p:cNvPr id="9" name="AutoShape 4"/>
            <p:cNvSpPr>
              <a:spLocks noChangeArrowheads="1"/>
            </p:cNvSpPr>
            <p:nvPr/>
          </p:nvSpPr>
          <p:spPr bwMode="auto">
            <a:xfrm>
              <a:off x="2070" y="6840"/>
              <a:ext cx="6408" cy="1800"/>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57150" algn="l">
                <a:lnSpc>
                  <a:spcPts val="2600"/>
                </a:lnSpc>
                <a:spcAft>
                  <a:spcPts val="0"/>
                </a:spcAft>
                <a:tabLst>
                  <a:tab pos="2637155" algn="ctr"/>
                  <a:tab pos="5274310" algn="r"/>
                  <a:tab pos="266700" algn="l"/>
                </a:tabLst>
              </a:pPr>
              <a:r>
                <a:rPr lang="en-US" kern="100" dirty="0">
                  <a:effectLst/>
                  <a:latin typeface="微软雅黑" pitchFamily="34" charset="-122"/>
                  <a:ea typeface="微软雅黑" pitchFamily="34" charset="-122"/>
                  <a:cs typeface="Times New Roman"/>
                </a:rPr>
                <a:t>1NF</a:t>
              </a:r>
              <a:endParaRPr lang="zh-CN" kern="100" dirty="0">
                <a:effectLst/>
                <a:latin typeface="微软雅黑" pitchFamily="34" charset="-122"/>
                <a:ea typeface="微软雅黑" pitchFamily="34" charset="-122"/>
                <a:cs typeface="Times New Roman"/>
              </a:endParaRPr>
            </a:p>
          </p:txBody>
        </p:sp>
        <p:sp>
          <p:nvSpPr>
            <p:cNvPr id="10" name="AutoShape 5"/>
            <p:cNvSpPr>
              <a:spLocks noChangeArrowheads="1"/>
            </p:cNvSpPr>
            <p:nvPr/>
          </p:nvSpPr>
          <p:spPr bwMode="auto">
            <a:xfrm>
              <a:off x="2934" y="6984"/>
              <a:ext cx="5424" cy="1512"/>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57150" algn="l">
                <a:lnSpc>
                  <a:spcPts val="2600"/>
                </a:lnSpc>
                <a:spcAft>
                  <a:spcPts val="0"/>
                </a:spcAft>
                <a:tabLst>
                  <a:tab pos="2637155" algn="ctr"/>
                  <a:tab pos="5274310" algn="r"/>
                  <a:tab pos="266700" algn="l"/>
                </a:tabLst>
              </a:pPr>
              <a:r>
                <a:rPr lang="en-US" kern="100">
                  <a:effectLst/>
                  <a:latin typeface="微软雅黑" pitchFamily="34" charset="-122"/>
                  <a:ea typeface="微软雅黑" pitchFamily="34" charset="-122"/>
                  <a:cs typeface="Times New Roman"/>
                </a:rPr>
                <a:t>2NF</a:t>
              </a:r>
              <a:endParaRPr lang="zh-CN" kern="100">
                <a:effectLst/>
                <a:latin typeface="微软雅黑" pitchFamily="34" charset="-122"/>
                <a:ea typeface="微软雅黑" pitchFamily="34" charset="-122"/>
                <a:cs typeface="Times New Roman"/>
              </a:endParaRPr>
            </a:p>
          </p:txBody>
        </p:sp>
        <p:sp>
          <p:nvSpPr>
            <p:cNvPr id="11" name="AutoShape 6"/>
            <p:cNvSpPr>
              <a:spLocks noChangeArrowheads="1"/>
            </p:cNvSpPr>
            <p:nvPr/>
          </p:nvSpPr>
          <p:spPr bwMode="auto">
            <a:xfrm>
              <a:off x="3726" y="7128"/>
              <a:ext cx="4464" cy="1224"/>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57150" algn="l">
                <a:lnSpc>
                  <a:spcPts val="2600"/>
                </a:lnSpc>
                <a:spcAft>
                  <a:spcPts val="0"/>
                </a:spcAft>
                <a:tabLst>
                  <a:tab pos="2637155" algn="ctr"/>
                  <a:tab pos="5274310" algn="r"/>
                  <a:tab pos="266700" algn="l"/>
                </a:tabLst>
              </a:pPr>
              <a:r>
                <a:rPr lang="en-US" kern="100">
                  <a:effectLst/>
                  <a:latin typeface="微软雅黑" pitchFamily="34" charset="-122"/>
                  <a:ea typeface="微软雅黑" pitchFamily="34" charset="-122"/>
                  <a:cs typeface="Times New Roman"/>
                </a:rPr>
                <a:t>3NF</a:t>
              </a:r>
              <a:endParaRPr lang="zh-CN" kern="100">
                <a:effectLst/>
                <a:latin typeface="微软雅黑" pitchFamily="34" charset="-122"/>
                <a:ea typeface="微软雅黑" pitchFamily="34" charset="-122"/>
                <a:cs typeface="Times New Roman"/>
              </a:endParaRPr>
            </a:p>
          </p:txBody>
        </p:sp>
        <p:sp>
          <p:nvSpPr>
            <p:cNvPr id="12" name="AutoShape 7"/>
            <p:cNvSpPr>
              <a:spLocks noChangeArrowheads="1"/>
            </p:cNvSpPr>
            <p:nvPr/>
          </p:nvSpPr>
          <p:spPr bwMode="auto">
            <a:xfrm>
              <a:off x="4518" y="7272"/>
              <a:ext cx="3528" cy="936"/>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114300" algn="l">
                <a:lnSpc>
                  <a:spcPts val="2600"/>
                </a:lnSpc>
                <a:spcAft>
                  <a:spcPts val="0"/>
                </a:spcAft>
                <a:tabLst>
                  <a:tab pos="2637155" algn="ctr"/>
                  <a:tab pos="5274310" algn="r"/>
                  <a:tab pos="266700" algn="l"/>
                </a:tabLst>
              </a:pPr>
              <a:r>
                <a:rPr lang="en-US" kern="100" dirty="0">
                  <a:effectLst/>
                  <a:latin typeface="微软雅黑" pitchFamily="34" charset="-122"/>
                  <a:ea typeface="微软雅黑" pitchFamily="34" charset="-122"/>
                  <a:cs typeface="Times New Roman"/>
                </a:rPr>
                <a:t>BCNF</a:t>
              </a:r>
              <a:endParaRPr lang="zh-CN" kern="100" dirty="0">
                <a:effectLst/>
                <a:latin typeface="微软雅黑" pitchFamily="34" charset="-122"/>
                <a:ea typeface="微软雅黑" pitchFamily="34" charset="-122"/>
                <a:cs typeface="Times New Roman"/>
              </a:endParaRPr>
            </a:p>
          </p:txBody>
        </p:sp>
        <p:sp>
          <p:nvSpPr>
            <p:cNvPr id="13" name="AutoShape 8"/>
            <p:cNvSpPr>
              <a:spLocks noChangeArrowheads="1"/>
            </p:cNvSpPr>
            <p:nvPr/>
          </p:nvSpPr>
          <p:spPr bwMode="auto">
            <a:xfrm>
              <a:off x="5535" y="7416"/>
              <a:ext cx="2367" cy="648"/>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114300" algn="l">
                <a:lnSpc>
                  <a:spcPts val="2600"/>
                </a:lnSpc>
                <a:spcAft>
                  <a:spcPts val="0"/>
                </a:spcAft>
                <a:tabLst>
                  <a:tab pos="2637155" algn="ctr"/>
                  <a:tab pos="5274310" algn="r"/>
                  <a:tab pos="266700" algn="l"/>
                </a:tabLst>
              </a:pPr>
              <a:r>
                <a:rPr lang="en-US" kern="100">
                  <a:effectLst/>
                  <a:latin typeface="微软雅黑" pitchFamily="34" charset="-122"/>
                  <a:ea typeface="微软雅黑" pitchFamily="34" charset="-122"/>
                  <a:cs typeface="Times New Roman"/>
                </a:rPr>
                <a:t>4NF</a:t>
              </a:r>
              <a:endParaRPr lang="zh-CN" kern="100">
                <a:effectLst/>
                <a:latin typeface="微软雅黑" pitchFamily="34" charset="-122"/>
                <a:ea typeface="微软雅黑" pitchFamily="34" charset="-122"/>
                <a:cs typeface="Times New Roman"/>
              </a:endParaRPr>
            </a:p>
          </p:txBody>
        </p:sp>
        <p:sp>
          <p:nvSpPr>
            <p:cNvPr id="14" name="AutoShape 9"/>
            <p:cNvSpPr>
              <a:spLocks noChangeArrowheads="1"/>
            </p:cNvSpPr>
            <p:nvPr/>
          </p:nvSpPr>
          <p:spPr bwMode="auto">
            <a:xfrm>
              <a:off x="6345" y="7560"/>
              <a:ext cx="1413" cy="360"/>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lnSpc>
                  <a:spcPts val="2600"/>
                </a:lnSpc>
                <a:spcAft>
                  <a:spcPts val="0"/>
                </a:spcAft>
                <a:tabLst>
                  <a:tab pos="2637155" algn="ctr"/>
                  <a:tab pos="5274310" algn="r"/>
                  <a:tab pos="266700" algn="l"/>
                </a:tabLst>
              </a:pPr>
              <a:r>
                <a:rPr lang="en-US" kern="100">
                  <a:effectLst/>
                  <a:latin typeface="微软雅黑" pitchFamily="34" charset="-122"/>
                  <a:ea typeface="微软雅黑" pitchFamily="34" charset="-122"/>
                  <a:cs typeface="Times New Roman"/>
                </a:rPr>
                <a:t>5NF</a:t>
              </a:r>
              <a:endParaRPr lang="zh-CN" kern="100">
                <a:effectLst/>
                <a:latin typeface="微软雅黑" pitchFamily="34" charset="-122"/>
                <a:ea typeface="微软雅黑" pitchFamily="34" charset="-122"/>
                <a:cs typeface="Times New Roman"/>
              </a:endParaRPr>
            </a:p>
          </p:txBody>
        </p:sp>
      </p:grpSp>
    </p:spTree>
    <p:extLst>
      <p:ext uri="{BB962C8B-B14F-4D97-AF65-F5344CB8AC3E}">
        <p14:creationId xmlns:p14="http://schemas.microsoft.com/office/powerpoint/2010/main" val="1716898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6.2.2 </a:t>
            </a:r>
            <a:r>
              <a:rPr lang="en-US" altLang="zh-CN" dirty="0" smtClean="0"/>
              <a:t> </a:t>
            </a:r>
            <a:r>
              <a:rPr lang="zh-CN" altLang="zh-CN" dirty="0" smtClean="0"/>
              <a:t>第一</a:t>
            </a:r>
            <a:r>
              <a:rPr lang="zh-CN" altLang="zh-CN" dirty="0"/>
              <a:t>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14</a:t>
            </a:fld>
            <a:endParaRPr lang="zh-CN" altLang="en-US" dirty="0"/>
          </a:p>
        </p:txBody>
      </p:sp>
      <p:sp>
        <p:nvSpPr>
          <p:cNvPr id="7" name="文本占位符 6"/>
          <p:cNvSpPr>
            <a:spLocks noGrp="1"/>
          </p:cNvSpPr>
          <p:nvPr>
            <p:ph type="body" idx="1"/>
          </p:nvPr>
        </p:nvSpPr>
        <p:spPr>
          <a:xfrm>
            <a:off x="107504" y="980728"/>
            <a:ext cx="8856984" cy="5400600"/>
          </a:xfrm>
        </p:spPr>
        <p:txBody>
          <a:bodyPr>
            <a:noAutofit/>
          </a:bodyPr>
          <a:lstStyle/>
          <a:p>
            <a:r>
              <a:rPr lang="zh-CN" altLang="zh-CN" dirty="0">
                <a:solidFill>
                  <a:srgbClr val="0000FF"/>
                </a:solidFill>
              </a:rPr>
              <a:t>定义</a:t>
            </a:r>
            <a:r>
              <a:rPr lang="en-US" altLang="zh-CN" dirty="0">
                <a:solidFill>
                  <a:srgbClr val="0000FF"/>
                </a:solidFill>
              </a:rPr>
              <a:t>6.5  </a:t>
            </a:r>
            <a:r>
              <a:rPr lang="zh-CN" altLang="zh-CN" dirty="0"/>
              <a:t>如果</a:t>
            </a:r>
            <a:r>
              <a:rPr lang="en-US" altLang="zh-CN" dirty="0"/>
              <a:t>R</a:t>
            </a:r>
            <a:r>
              <a:rPr lang="zh-CN" altLang="zh-CN" dirty="0"/>
              <a:t>（</a:t>
            </a:r>
            <a:r>
              <a:rPr lang="en-US" altLang="zh-CN" dirty="0"/>
              <a:t>U</a:t>
            </a:r>
            <a:r>
              <a:rPr lang="zh-CN" altLang="zh-CN" dirty="0"/>
              <a:t>，</a:t>
            </a:r>
            <a:r>
              <a:rPr lang="en-US" altLang="zh-CN" dirty="0"/>
              <a:t>F</a:t>
            </a:r>
            <a:r>
              <a:rPr lang="zh-CN" altLang="zh-CN" dirty="0"/>
              <a:t>）的所有属性都是不可再分的最小数据项，则称</a:t>
            </a:r>
            <a:r>
              <a:rPr lang="en-US" altLang="zh-CN" dirty="0"/>
              <a:t>R</a:t>
            </a:r>
            <a:r>
              <a:rPr lang="zh-CN" altLang="zh-CN" dirty="0"/>
              <a:t>满足</a:t>
            </a:r>
            <a:r>
              <a:rPr lang="en-US" altLang="zh-CN" dirty="0"/>
              <a:t>1NF</a:t>
            </a:r>
            <a:r>
              <a:rPr lang="zh-CN" altLang="zh-CN" dirty="0"/>
              <a:t>。即：</a:t>
            </a:r>
            <a:r>
              <a:rPr lang="en-US" altLang="zh-CN" dirty="0">
                <a:solidFill>
                  <a:srgbClr val="0000FF"/>
                </a:solidFill>
              </a:rPr>
              <a:t>R</a:t>
            </a:r>
            <a:r>
              <a:rPr lang="zh-CN" altLang="zh-CN" dirty="0">
                <a:solidFill>
                  <a:srgbClr val="0000FF"/>
                </a:solidFill>
              </a:rPr>
              <a:t>∈</a:t>
            </a:r>
            <a:r>
              <a:rPr lang="en-US" altLang="zh-CN" dirty="0">
                <a:solidFill>
                  <a:srgbClr val="0000FF"/>
                </a:solidFill>
              </a:rPr>
              <a:t>1NF</a:t>
            </a:r>
            <a:r>
              <a:rPr lang="zh-CN" altLang="zh-CN" dirty="0"/>
              <a:t>。</a:t>
            </a:r>
          </a:p>
          <a:p>
            <a:r>
              <a:rPr lang="en-US" altLang="zh-CN" dirty="0"/>
              <a:t>1NF</a:t>
            </a:r>
            <a:r>
              <a:rPr lang="zh-CN" altLang="zh-CN" dirty="0"/>
              <a:t>是关系模式必须满足的最低要求。即关系数据库系统必须满足</a:t>
            </a:r>
            <a:r>
              <a:rPr lang="en-US" altLang="zh-CN" dirty="0"/>
              <a:t>1NF</a:t>
            </a:r>
            <a:r>
              <a:rPr lang="zh-CN" altLang="zh-CN" dirty="0"/>
              <a:t>。</a:t>
            </a:r>
          </a:p>
          <a:p>
            <a:r>
              <a:rPr lang="zh-CN" altLang="zh-CN" dirty="0"/>
              <a:t>通常满足</a:t>
            </a:r>
            <a:r>
              <a:rPr lang="en-US" altLang="zh-CN" dirty="0"/>
              <a:t>1NF</a:t>
            </a:r>
            <a:r>
              <a:rPr lang="zh-CN" altLang="zh-CN" dirty="0"/>
              <a:t>的关系模式，存在较多的冗余数据，而且存在插入异常、修改异常和删除异常等问题，从而会破坏</a:t>
            </a:r>
            <a:r>
              <a:rPr lang="zh-CN" altLang="zh-CN" dirty="0" smtClean="0"/>
              <a:t>数据完整性</a:t>
            </a:r>
            <a:endParaRPr lang="zh-CN" altLang="zh-CN" dirty="0"/>
          </a:p>
        </p:txBody>
      </p:sp>
    </p:spTree>
    <p:extLst>
      <p:ext uri="{BB962C8B-B14F-4D97-AF65-F5344CB8AC3E}">
        <p14:creationId xmlns:p14="http://schemas.microsoft.com/office/powerpoint/2010/main" val="31117296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6.2.3 </a:t>
            </a:r>
            <a:r>
              <a:rPr lang="zh-CN" altLang="zh-CN" dirty="0"/>
              <a:t>第二范式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15</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300"/>
              </a:lnSpc>
            </a:pPr>
            <a:r>
              <a:rPr lang="zh-CN" altLang="zh-CN" sz="2000" dirty="0">
                <a:solidFill>
                  <a:srgbClr val="0000FF"/>
                </a:solidFill>
              </a:rPr>
              <a:t>定义</a:t>
            </a:r>
            <a:r>
              <a:rPr lang="en-US" altLang="zh-CN" sz="2000" dirty="0">
                <a:solidFill>
                  <a:srgbClr val="0000FF"/>
                </a:solidFill>
              </a:rPr>
              <a:t>6.6  </a:t>
            </a:r>
            <a:r>
              <a:rPr lang="zh-CN" altLang="zh-CN" sz="2000" dirty="0"/>
              <a:t>如果</a:t>
            </a:r>
            <a:r>
              <a:rPr lang="en-US" altLang="zh-CN" sz="2000" dirty="0"/>
              <a:t>R</a:t>
            </a:r>
            <a:r>
              <a:rPr lang="zh-CN" altLang="zh-CN" sz="2000" dirty="0"/>
              <a:t>（</a:t>
            </a:r>
            <a:r>
              <a:rPr lang="en-US" altLang="zh-CN" sz="2000" dirty="0"/>
              <a:t>U</a:t>
            </a:r>
            <a:r>
              <a:rPr lang="zh-CN" altLang="zh-CN" sz="2000" dirty="0"/>
              <a:t>，</a:t>
            </a:r>
            <a:r>
              <a:rPr lang="en-US" altLang="zh-CN" sz="2000" dirty="0"/>
              <a:t>F</a:t>
            </a:r>
            <a:r>
              <a:rPr lang="zh-CN" altLang="zh-CN" sz="2000" dirty="0"/>
              <a:t>）∈</a:t>
            </a:r>
            <a:r>
              <a:rPr lang="en-US" altLang="zh-CN" sz="2000" dirty="0"/>
              <a:t>1NF</a:t>
            </a:r>
            <a:r>
              <a:rPr lang="zh-CN" altLang="zh-CN" sz="2000" dirty="0"/>
              <a:t>，并且</a:t>
            </a:r>
            <a:r>
              <a:rPr lang="en-US" altLang="zh-CN" sz="2000" dirty="0"/>
              <a:t>R</a:t>
            </a:r>
            <a:r>
              <a:rPr lang="zh-CN" altLang="zh-CN" sz="2000" dirty="0"/>
              <a:t>的每一个非主属性都完全函数依赖于</a:t>
            </a:r>
            <a:r>
              <a:rPr lang="en-US" altLang="zh-CN" sz="2000" dirty="0"/>
              <a:t>R</a:t>
            </a:r>
            <a:r>
              <a:rPr lang="zh-CN" altLang="zh-CN" sz="2000" dirty="0"/>
              <a:t>的候选键，则</a:t>
            </a:r>
            <a:r>
              <a:rPr lang="en-US" altLang="zh-CN" sz="2000" dirty="0">
                <a:solidFill>
                  <a:srgbClr val="0000FF"/>
                </a:solidFill>
              </a:rPr>
              <a:t>R</a:t>
            </a:r>
            <a:r>
              <a:rPr lang="zh-CN" altLang="zh-CN" sz="2000" dirty="0">
                <a:solidFill>
                  <a:srgbClr val="0000FF"/>
                </a:solidFill>
              </a:rPr>
              <a:t>∈</a:t>
            </a:r>
            <a:r>
              <a:rPr lang="en-US" altLang="zh-CN" sz="2000" dirty="0">
                <a:solidFill>
                  <a:srgbClr val="0000FF"/>
                </a:solidFill>
              </a:rPr>
              <a:t>2NF</a:t>
            </a:r>
            <a:r>
              <a:rPr lang="zh-CN" altLang="zh-CN" sz="2000" dirty="0"/>
              <a:t>。</a:t>
            </a:r>
          </a:p>
          <a:p>
            <a:pPr>
              <a:lnSpc>
                <a:spcPts val="3300"/>
              </a:lnSpc>
            </a:pPr>
            <a:r>
              <a:rPr lang="en-US" altLang="zh-CN" sz="2000" dirty="0">
                <a:solidFill>
                  <a:srgbClr val="0000FF"/>
                </a:solidFill>
              </a:rPr>
              <a:t>2NF</a:t>
            </a:r>
            <a:r>
              <a:rPr lang="zh-CN" altLang="zh-CN" sz="2000" dirty="0">
                <a:solidFill>
                  <a:srgbClr val="0000FF"/>
                </a:solidFill>
              </a:rPr>
              <a:t>的等价描述</a:t>
            </a:r>
            <a:r>
              <a:rPr lang="zh-CN" altLang="zh-CN" sz="2000" dirty="0"/>
              <a:t>：对于</a:t>
            </a:r>
            <a:r>
              <a:rPr lang="en-US" altLang="zh-CN" sz="2000" dirty="0"/>
              <a:t>R</a:t>
            </a:r>
            <a:r>
              <a:rPr lang="zh-CN" altLang="zh-CN" sz="2000" dirty="0"/>
              <a:t>（</a:t>
            </a:r>
            <a:r>
              <a:rPr lang="en-US" altLang="zh-CN" sz="2000" dirty="0"/>
              <a:t>U</a:t>
            </a:r>
            <a:r>
              <a:rPr lang="zh-CN" altLang="zh-CN" sz="2000" dirty="0"/>
              <a:t>，</a:t>
            </a:r>
            <a:r>
              <a:rPr lang="en-US" altLang="zh-CN" sz="2000" dirty="0"/>
              <a:t>F</a:t>
            </a:r>
            <a:r>
              <a:rPr lang="zh-CN" altLang="zh-CN" sz="2000" dirty="0"/>
              <a:t>）∈</a:t>
            </a:r>
            <a:r>
              <a:rPr lang="en-US" altLang="zh-CN" sz="2000" dirty="0"/>
              <a:t>1NF</a:t>
            </a:r>
            <a:r>
              <a:rPr lang="zh-CN" altLang="zh-CN" sz="2000" dirty="0"/>
              <a:t>，</a:t>
            </a:r>
            <a:r>
              <a:rPr lang="zh-CN" altLang="zh-CN" sz="2000" dirty="0" smtClean="0"/>
              <a:t>如果存在</a:t>
            </a:r>
            <a:r>
              <a:rPr lang="zh-CN" altLang="zh-CN" sz="2000" dirty="0"/>
              <a:t>非主属性部分函数依赖于</a:t>
            </a:r>
            <a:r>
              <a:rPr lang="en-US" altLang="zh-CN" sz="2000" dirty="0"/>
              <a:t>R</a:t>
            </a:r>
            <a:r>
              <a:rPr lang="zh-CN" altLang="zh-CN" sz="2000" dirty="0"/>
              <a:t>的候选键，则</a:t>
            </a:r>
            <a:r>
              <a:rPr lang="en-US" altLang="zh-CN" sz="2000" dirty="0">
                <a:solidFill>
                  <a:srgbClr val="0000FF"/>
                </a:solidFill>
              </a:rPr>
              <a:t>R </a:t>
            </a:r>
            <a:r>
              <a:rPr lang="zh-CN" altLang="zh-CN" sz="2000" dirty="0">
                <a:solidFill>
                  <a:srgbClr val="0000FF"/>
                </a:solidFill>
              </a:rPr>
              <a:t>∈ </a:t>
            </a:r>
            <a:r>
              <a:rPr lang="en-US" altLang="zh-CN" sz="2000" dirty="0" smtClean="0">
                <a:solidFill>
                  <a:srgbClr val="0000FF"/>
                </a:solidFill>
              </a:rPr>
              <a:t>2NF</a:t>
            </a:r>
            <a:r>
              <a:rPr lang="zh-CN" altLang="zh-CN" sz="2000" dirty="0"/>
              <a:t>。</a:t>
            </a:r>
          </a:p>
          <a:p>
            <a:pPr>
              <a:lnSpc>
                <a:spcPts val="3300"/>
              </a:lnSpc>
            </a:pPr>
            <a:r>
              <a:rPr lang="zh-CN" altLang="zh-CN" sz="2000" dirty="0">
                <a:solidFill>
                  <a:srgbClr val="0000FF"/>
                </a:solidFill>
              </a:rPr>
              <a:t>例</a:t>
            </a:r>
            <a:r>
              <a:rPr lang="en-US" altLang="zh-CN" sz="2000" dirty="0">
                <a:solidFill>
                  <a:srgbClr val="0000FF"/>
                </a:solidFill>
              </a:rPr>
              <a:t>6.3  </a:t>
            </a:r>
            <a:r>
              <a:rPr lang="zh-CN" altLang="zh-CN" sz="2000" dirty="0"/>
              <a:t>在例</a:t>
            </a:r>
            <a:r>
              <a:rPr lang="en-US" altLang="zh-CN" sz="2000" dirty="0"/>
              <a:t>1.1</a:t>
            </a:r>
            <a:r>
              <a:rPr lang="zh-CN" altLang="zh-CN" sz="2000" dirty="0"/>
              <a:t>的</a:t>
            </a:r>
            <a:r>
              <a:rPr lang="en-US" altLang="zh-CN" sz="2000" dirty="0" err="1"/>
              <a:t>BInfo</a:t>
            </a:r>
            <a:r>
              <a:rPr lang="zh-CN" altLang="zh-CN" sz="2000" dirty="0"/>
              <a:t>中，则：</a:t>
            </a:r>
          </a:p>
          <a:p>
            <a:pPr marL="360363" indent="0">
              <a:lnSpc>
                <a:spcPts val="3300"/>
              </a:lnSpc>
              <a:buNone/>
            </a:pPr>
            <a:r>
              <a:rPr lang="zh-CN" altLang="zh-CN" sz="2000" dirty="0"/>
              <a:t>判断</a:t>
            </a:r>
            <a:r>
              <a:rPr lang="en-US" altLang="zh-CN" sz="2000" dirty="0" err="1"/>
              <a:t>BInfo</a:t>
            </a:r>
            <a:r>
              <a:rPr lang="zh-CN" altLang="zh-CN" sz="2000" dirty="0"/>
              <a:t>∈</a:t>
            </a:r>
            <a:r>
              <a:rPr lang="en-US" altLang="zh-CN" sz="2000" dirty="0"/>
              <a:t>2NF</a:t>
            </a:r>
            <a:r>
              <a:rPr lang="zh-CN" altLang="zh-CN" sz="2000" dirty="0"/>
              <a:t>？，如果不是，则分解相应的关系模式，使之满足</a:t>
            </a:r>
            <a:r>
              <a:rPr lang="en-US" altLang="zh-CN" sz="2000" dirty="0"/>
              <a:t>2NF</a:t>
            </a:r>
            <a:r>
              <a:rPr lang="zh-CN" altLang="zh-CN" sz="2000" dirty="0"/>
              <a:t>。</a:t>
            </a:r>
          </a:p>
          <a:p>
            <a:pPr marL="1612900" indent="-1612900">
              <a:lnSpc>
                <a:spcPts val="3300"/>
              </a:lnSpc>
              <a:buNone/>
            </a:pPr>
            <a:r>
              <a:rPr lang="zh-CN" altLang="zh-CN" sz="2000" dirty="0" smtClean="0">
                <a:solidFill>
                  <a:srgbClr val="0000FF"/>
                </a:solidFill>
              </a:rPr>
              <a:t>（</a:t>
            </a:r>
            <a:r>
              <a:rPr lang="en-US" altLang="zh-CN" sz="2000" dirty="0">
                <a:solidFill>
                  <a:srgbClr val="0000FF"/>
                </a:solidFill>
              </a:rPr>
              <a:t>1</a:t>
            </a:r>
            <a:r>
              <a:rPr lang="zh-CN" altLang="zh-CN" sz="2000" dirty="0">
                <a:solidFill>
                  <a:srgbClr val="0000FF"/>
                </a:solidFill>
              </a:rPr>
              <a:t>）</a:t>
            </a:r>
            <a:r>
              <a:rPr lang="zh-CN" altLang="zh-CN" sz="2000" dirty="0" smtClean="0">
                <a:solidFill>
                  <a:srgbClr val="0000FF"/>
                </a:solidFill>
              </a:rPr>
              <a:t>预处理</a:t>
            </a:r>
            <a:r>
              <a:rPr lang="zh-CN" altLang="en-US" sz="2000" dirty="0" smtClean="0">
                <a:solidFill>
                  <a:srgbClr val="0000FF"/>
                </a:solidFill>
              </a:rPr>
              <a:t>：</a:t>
            </a:r>
            <a:r>
              <a:rPr lang="zh-CN" altLang="zh-CN" sz="2000" dirty="0" smtClean="0"/>
              <a:t>判断</a:t>
            </a:r>
            <a:r>
              <a:rPr lang="en-US" altLang="zh-CN" sz="2000" dirty="0" err="1"/>
              <a:t>BInfo</a:t>
            </a:r>
            <a:r>
              <a:rPr lang="zh-CN" altLang="zh-CN" sz="2000" dirty="0"/>
              <a:t>是否存在计算型属性。如果存在，</a:t>
            </a:r>
            <a:r>
              <a:rPr lang="zh-CN" altLang="zh-CN" sz="2000" dirty="0" smtClean="0"/>
              <a:t>则从</a:t>
            </a:r>
            <a:r>
              <a:rPr lang="en-US" altLang="zh-CN" sz="2000" dirty="0" err="1"/>
              <a:t>BInfo</a:t>
            </a:r>
            <a:r>
              <a:rPr lang="zh-CN" altLang="zh-CN" sz="2000" dirty="0"/>
              <a:t>中去掉该冗余属性。</a:t>
            </a:r>
          </a:p>
          <a:p>
            <a:pPr marL="1071563" indent="-711200">
              <a:lnSpc>
                <a:spcPts val="3300"/>
              </a:lnSpc>
              <a:buNone/>
            </a:pPr>
            <a:r>
              <a:rPr lang="zh-CN" altLang="zh-CN" sz="2000" dirty="0">
                <a:solidFill>
                  <a:srgbClr val="0000FF"/>
                </a:solidFill>
              </a:rPr>
              <a:t>例如：</a:t>
            </a:r>
            <a:r>
              <a:rPr lang="zh-CN" altLang="zh-CN" sz="2000" dirty="0"/>
              <a:t>如果在</a:t>
            </a:r>
            <a:r>
              <a:rPr lang="en-US" altLang="zh-CN" sz="2000" dirty="0" err="1"/>
              <a:t>BInfo</a:t>
            </a:r>
            <a:r>
              <a:rPr lang="zh-CN" altLang="zh-CN" sz="2000" dirty="0"/>
              <a:t>中，存在利润</a:t>
            </a:r>
            <a:r>
              <a:rPr lang="en-US" altLang="zh-CN" sz="2000" dirty="0" err="1"/>
              <a:t>BProfit</a:t>
            </a:r>
            <a:r>
              <a:rPr lang="zh-CN" altLang="zh-CN" sz="2000" dirty="0"/>
              <a:t>属性，则利润可以由进价和售价导出。即</a:t>
            </a:r>
            <a:r>
              <a:rPr lang="zh-CN" altLang="zh-CN" sz="2000" dirty="0" smtClean="0"/>
              <a:t>：</a:t>
            </a:r>
            <a:r>
              <a:rPr lang="en-US" altLang="zh-CN" sz="2000" dirty="0" err="1" smtClean="0"/>
              <a:t>BProfit</a:t>
            </a:r>
            <a:r>
              <a:rPr lang="en-US" altLang="zh-CN" sz="2000" dirty="0" smtClean="0"/>
              <a:t> </a:t>
            </a:r>
            <a:r>
              <a:rPr lang="en-US" altLang="zh-CN" sz="2000" dirty="0"/>
              <a:t>= </a:t>
            </a:r>
            <a:r>
              <a:rPr lang="en-US" altLang="zh-CN" sz="2000" dirty="0" err="1"/>
              <a:t>SPrice</a:t>
            </a:r>
            <a:r>
              <a:rPr lang="en-US" altLang="zh-CN" sz="2000" dirty="0"/>
              <a:t> - </a:t>
            </a:r>
            <a:r>
              <a:rPr lang="en-US" altLang="zh-CN" sz="2000" dirty="0" err="1"/>
              <a:t>PPrice</a:t>
            </a:r>
            <a:endParaRPr lang="zh-CN" altLang="zh-CN" sz="2000" dirty="0"/>
          </a:p>
          <a:p>
            <a:pPr marL="1876425" indent="-1876425">
              <a:lnSpc>
                <a:spcPts val="3300"/>
              </a:lnSpc>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a:t>
            </a:r>
            <a:r>
              <a:rPr lang="en-US" altLang="zh-CN" sz="2000" dirty="0">
                <a:solidFill>
                  <a:srgbClr val="0000FF"/>
                </a:solidFill>
              </a:rPr>
              <a:t>1NF</a:t>
            </a:r>
            <a:r>
              <a:rPr lang="zh-CN" altLang="zh-CN" sz="2000" dirty="0" smtClean="0">
                <a:solidFill>
                  <a:srgbClr val="0000FF"/>
                </a:solidFill>
              </a:rPr>
              <a:t>判断</a:t>
            </a:r>
            <a:r>
              <a:rPr lang="zh-CN" altLang="en-US" sz="2000" dirty="0" smtClean="0">
                <a:solidFill>
                  <a:srgbClr val="0000FF"/>
                </a:solidFill>
              </a:rPr>
              <a:t>：</a:t>
            </a:r>
            <a:r>
              <a:rPr lang="zh-CN" altLang="zh-CN" sz="2000" dirty="0" smtClean="0"/>
              <a:t>分析</a:t>
            </a:r>
            <a:r>
              <a:rPr lang="en-US" altLang="zh-CN" sz="2000" dirty="0" err="1"/>
              <a:t>BInfo</a:t>
            </a:r>
            <a:r>
              <a:rPr lang="zh-CN" altLang="zh-CN" sz="2000" dirty="0"/>
              <a:t>的属性可知，每个属性均为不可再分的属性，因此</a:t>
            </a:r>
            <a:r>
              <a:rPr lang="en-US" altLang="zh-CN" sz="2000" dirty="0" err="1"/>
              <a:t>BInfo</a:t>
            </a:r>
            <a:r>
              <a:rPr lang="zh-CN" altLang="zh-CN" sz="2000" dirty="0"/>
              <a:t>∈</a:t>
            </a:r>
            <a:r>
              <a:rPr lang="en-US" altLang="zh-CN" sz="2000" dirty="0"/>
              <a:t>1NF</a:t>
            </a:r>
            <a:r>
              <a:rPr lang="zh-CN" altLang="zh-CN" sz="2000" dirty="0"/>
              <a:t>。</a:t>
            </a:r>
          </a:p>
          <a:p>
            <a:pPr>
              <a:lnSpc>
                <a:spcPts val="3300"/>
              </a:lnSpc>
            </a:pPr>
            <a:r>
              <a:rPr lang="zh-CN" altLang="zh-CN" sz="2000" dirty="0"/>
              <a:t>不难看出，在</a:t>
            </a:r>
            <a:r>
              <a:rPr lang="en-US" altLang="zh-CN" sz="2000" dirty="0" err="1"/>
              <a:t>BInfo</a:t>
            </a:r>
            <a:r>
              <a:rPr lang="zh-CN" altLang="zh-CN" sz="2000" dirty="0"/>
              <a:t>的关系中，存在大量的冗余数据。</a:t>
            </a:r>
          </a:p>
        </p:txBody>
      </p:sp>
      <p:cxnSp>
        <p:nvCxnSpPr>
          <p:cNvPr id="8" name="直接连接符 7"/>
          <p:cNvCxnSpPr/>
          <p:nvPr/>
        </p:nvCxnSpPr>
        <p:spPr>
          <a:xfrm>
            <a:off x="2843808" y="2132856"/>
            <a:ext cx="36004" cy="28803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8934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6.2.3 </a:t>
            </a:r>
            <a:r>
              <a:rPr lang="zh-CN" altLang="zh-CN" dirty="0"/>
              <a:t>第二范式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16</a:t>
            </a:fld>
            <a:endParaRPr lang="zh-CN" altLang="en-US" dirty="0"/>
          </a:p>
        </p:txBody>
      </p:sp>
      <p:sp>
        <p:nvSpPr>
          <p:cNvPr id="7" name="文本占位符 6"/>
          <p:cNvSpPr>
            <a:spLocks noGrp="1"/>
          </p:cNvSpPr>
          <p:nvPr>
            <p:ph type="body" idx="1"/>
          </p:nvPr>
        </p:nvSpPr>
        <p:spPr>
          <a:xfrm>
            <a:off x="107504" y="692696"/>
            <a:ext cx="8856984" cy="1944216"/>
          </a:xfrm>
        </p:spPr>
        <p:txBody>
          <a:bodyPr>
            <a:noAutofit/>
          </a:bodyPr>
          <a:lstStyle/>
          <a:p>
            <a:pPr marL="0" indent="0">
              <a:lnSpc>
                <a:spcPts val="2800"/>
              </a:lnSpc>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）确定候选建</a:t>
            </a:r>
          </a:p>
          <a:p>
            <a:pPr>
              <a:lnSpc>
                <a:spcPts val="2800"/>
              </a:lnSpc>
            </a:pPr>
            <a:r>
              <a:rPr lang="zh-CN" altLang="zh-CN" sz="2000" dirty="0"/>
              <a:t>在</a:t>
            </a:r>
            <a:r>
              <a:rPr lang="en-US" altLang="zh-CN" sz="2000" dirty="0" err="1"/>
              <a:t>BInfo</a:t>
            </a:r>
            <a:r>
              <a:rPr lang="zh-CN" altLang="zh-CN" sz="2000" dirty="0"/>
              <a:t>中，户号确定客户的其它属性；书号确定图书的其它属性；社号确定出版社的其它属性；户号和书号确定购买日期。</a:t>
            </a:r>
          </a:p>
          <a:p>
            <a:pPr>
              <a:lnSpc>
                <a:spcPts val="2800"/>
              </a:lnSpc>
            </a:pPr>
            <a:r>
              <a:rPr lang="en-US" altLang="zh-CN" sz="2000" dirty="0" err="1"/>
              <a:t>BInfo</a:t>
            </a:r>
            <a:r>
              <a:rPr lang="zh-CN" altLang="zh-CN" sz="2000" dirty="0"/>
              <a:t>的</a:t>
            </a:r>
            <a:r>
              <a:rPr lang="zh-CN" altLang="zh-CN" sz="2000" dirty="0">
                <a:solidFill>
                  <a:srgbClr val="0000FF"/>
                </a:solidFill>
              </a:rPr>
              <a:t>函数依赖关系</a:t>
            </a:r>
            <a:r>
              <a:rPr lang="zh-CN" altLang="zh-CN" sz="2000" dirty="0"/>
              <a:t>如图</a:t>
            </a:r>
            <a:r>
              <a:rPr lang="en-US" altLang="zh-CN" sz="2000" dirty="0"/>
              <a:t>6.2</a:t>
            </a:r>
            <a:r>
              <a:rPr lang="zh-CN" altLang="zh-CN" sz="2000" dirty="0"/>
              <a:t>所示</a:t>
            </a:r>
            <a:r>
              <a:rPr lang="zh-CN" altLang="zh-CN" sz="2000" dirty="0" smtClean="0"/>
              <a:t>。</a:t>
            </a:r>
            <a:endParaRPr lang="en-US" altLang="zh-CN" sz="2000" dirty="0" smtClean="0"/>
          </a:p>
          <a:p>
            <a:pPr>
              <a:lnSpc>
                <a:spcPts val="2800"/>
              </a:lnSpc>
            </a:pPr>
            <a:r>
              <a:rPr lang="en-US" altLang="zh-CN" sz="2000" dirty="0" err="1" smtClean="0"/>
              <a:t>BInfo</a:t>
            </a:r>
            <a:r>
              <a:rPr lang="zh-CN" altLang="zh-CN" sz="2000" dirty="0" smtClean="0"/>
              <a:t>的</a:t>
            </a:r>
            <a:r>
              <a:rPr lang="zh-CN" altLang="zh-CN" sz="2000" dirty="0" smtClean="0">
                <a:solidFill>
                  <a:srgbClr val="0000FF"/>
                </a:solidFill>
              </a:rPr>
              <a:t>候选</a:t>
            </a:r>
            <a:r>
              <a:rPr lang="zh-CN" altLang="zh-CN" sz="2000" dirty="0">
                <a:solidFill>
                  <a:srgbClr val="0000FF"/>
                </a:solidFill>
              </a:rPr>
              <a:t>建为</a:t>
            </a:r>
            <a:r>
              <a:rPr lang="en-US" altLang="zh-CN" sz="2000" dirty="0">
                <a:solidFill>
                  <a:srgbClr val="0000FF"/>
                </a:solidFill>
              </a:rPr>
              <a:t>(</a:t>
            </a:r>
            <a:r>
              <a:rPr lang="en-US" altLang="zh-CN" sz="2000" dirty="0" err="1">
                <a:solidFill>
                  <a:srgbClr val="0000FF"/>
                </a:solidFill>
              </a:rPr>
              <a:t>BNo,CNo</a:t>
            </a:r>
            <a:r>
              <a:rPr lang="en-US" altLang="zh-CN" sz="2000" dirty="0">
                <a:solidFill>
                  <a:srgbClr val="0000FF"/>
                </a:solidFill>
              </a:rPr>
              <a:t>)</a:t>
            </a:r>
            <a:r>
              <a:rPr lang="zh-CN" altLang="zh-CN" sz="2000" dirty="0"/>
              <a:t>；</a:t>
            </a:r>
            <a:r>
              <a:rPr lang="en-US" altLang="zh-CN" sz="2000" dirty="0" err="1"/>
              <a:t>BNo</a:t>
            </a:r>
            <a:r>
              <a:rPr lang="zh-CN" altLang="zh-CN" sz="2000" dirty="0"/>
              <a:t>和</a:t>
            </a:r>
            <a:r>
              <a:rPr lang="en-US" altLang="zh-CN" sz="2000" dirty="0" err="1"/>
              <a:t>CNo</a:t>
            </a:r>
            <a:r>
              <a:rPr lang="zh-CN" altLang="zh-CN" sz="2000" dirty="0"/>
              <a:t>为主属性；</a:t>
            </a:r>
            <a:r>
              <a:rPr lang="zh-CN" altLang="zh-CN" sz="2000" dirty="0" smtClean="0"/>
              <a:t>其它为</a:t>
            </a:r>
            <a:r>
              <a:rPr lang="zh-CN" altLang="zh-CN" sz="2000" dirty="0"/>
              <a:t>非主属性。</a:t>
            </a:r>
          </a:p>
        </p:txBody>
      </p:sp>
      <p:cxnSp>
        <p:nvCxnSpPr>
          <p:cNvPr id="10" name="Line 13"/>
          <p:cNvCxnSpPr/>
          <p:nvPr/>
        </p:nvCxnSpPr>
        <p:spPr bwMode="auto">
          <a:xfrm flipV="1">
            <a:off x="1734013" y="3758610"/>
            <a:ext cx="1026872"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1" name="Rectangle 14"/>
          <p:cNvSpPr>
            <a:spLocks noChangeArrowheads="1"/>
          </p:cNvSpPr>
          <p:nvPr/>
        </p:nvSpPr>
        <p:spPr bwMode="auto">
          <a:xfrm>
            <a:off x="593044" y="2863119"/>
            <a:ext cx="1140969" cy="2654113"/>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78740">
              <a:lnSpc>
                <a:spcPts val="2900"/>
              </a:lnSpc>
              <a:spcAft>
                <a:spcPts val="0"/>
              </a:spcAft>
            </a:pPr>
            <a:r>
              <a:rPr lang="en-US" sz="2000" dirty="0" err="1" smtClean="0">
                <a:effectLst/>
                <a:latin typeface="微软雅黑" pitchFamily="34" charset="-122"/>
                <a:ea typeface="微软雅黑" pitchFamily="34" charset="-122"/>
                <a:cs typeface="宋体"/>
              </a:rPr>
              <a:t>CName</a:t>
            </a:r>
            <a:endParaRPr lang="zh-CN" sz="2000" dirty="0">
              <a:effectLst/>
              <a:latin typeface="微软雅黑" pitchFamily="34" charset="-122"/>
              <a:ea typeface="微软雅黑" pitchFamily="34" charset="-122"/>
              <a:cs typeface="宋体"/>
            </a:endParaRPr>
          </a:p>
          <a:p>
            <a:pPr indent="78740">
              <a:lnSpc>
                <a:spcPts val="2900"/>
              </a:lnSpc>
              <a:spcAft>
                <a:spcPts val="0"/>
              </a:spcAft>
            </a:pPr>
            <a:r>
              <a:rPr lang="en-US" sz="2000" dirty="0" err="1">
                <a:effectLst/>
                <a:latin typeface="微软雅黑" pitchFamily="34" charset="-122"/>
                <a:ea typeface="微软雅黑" pitchFamily="34" charset="-122"/>
                <a:cs typeface="宋体"/>
              </a:rPr>
              <a:t>CSex</a:t>
            </a:r>
            <a:endParaRPr lang="zh-CN" sz="2000" dirty="0">
              <a:effectLst/>
              <a:latin typeface="微软雅黑" pitchFamily="34" charset="-122"/>
              <a:ea typeface="微软雅黑" pitchFamily="34" charset="-122"/>
              <a:cs typeface="宋体"/>
            </a:endParaRPr>
          </a:p>
          <a:p>
            <a:pPr indent="78740">
              <a:lnSpc>
                <a:spcPts val="2900"/>
              </a:lnSpc>
              <a:spcAft>
                <a:spcPts val="0"/>
              </a:spcAft>
            </a:pPr>
            <a:r>
              <a:rPr lang="en-US" sz="2000" dirty="0">
                <a:effectLst/>
                <a:latin typeface="微软雅黑" pitchFamily="34" charset="-122"/>
                <a:ea typeface="微软雅黑" pitchFamily="34" charset="-122"/>
                <a:cs typeface="宋体"/>
              </a:rPr>
              <a:t>Birth</a:t>
            </a:r>
            <a:endParaRPr lang="zh-CN" sz="2000" dirty="0">
              <a:effectLst/>
              <a:latin typeface="微软雅黑" pitchFamily="34" charset="-122"/>
              <a:ea typeface="微软雅黑" pitchFamily="34" charset="-122"/>
              <a:cs typeface="宋体"/>
            </a:endParaRPr>
          </a:p>
          <a:p>
            <a:pPr indent="78740">
              <a:lnSpc>
                <a:spcPts val="2900"/>
              </a:lnSpc>
              <a:spcAft>
                <a:spcPts val="0"/>
              </a:spcAft>
            </a:pPr>
            <a:r>
              <a:rPr lang="en-US" sz="2000" dirty="0">
                <a:effectLst/>
                <a:latin typeface="微软雅黑" pitchFamily="34" charset="-122"/>
                <a:ea typeface="微软雅黑" pitchFamily="34" charset="-122"/>
                <a:cs typeface="宋体"/>
              </a:rPr>
              <a:t>Marry</a:t>
            </a:r>
            <a:endParaRPr lang="zh-CN" sz="2000" dirty="0">
              <a:effectLst/>
              <a:latin typeface="微软雅黑" pitchFamily="34" charset="-122"/>
              <a:ea typeface="微软雅黑" pitchFamily="34" charset="-122"/>
              <a:cs typeface="宋体"/>
            </a:endParaRPr>
          </a:p>
          <a:p>
            <a:pPr indent="78740">
              <a:lnSpc>
                <a:spcPts val="2900"/>
              </a:lnSpc>
              <a:spcAft>
                <a:spcPts val="0"/>
              </a:spcAft>
            </a:pPr>
            <a:r>
              <a:rPr lang="en-US" sz="2000" dirty="0">
                <a:effectLst/>
                <a:latin typeface="微软雅黑" pitchFamily="34" charset="-122"/>
                <a:ea typeface="微软雅黑" pitchFamily="34" charset="-122"/>
                <a:cs typeface="宋体"/>
              </a:rPr>
              <a:t>Photo</a:t>
            </a:r>
            <a:endParaRPr lang="zh-CN" sz="2000" dirty="0">
              <a:effectLst/>
              <a:latin typeface="微软雅黑" pitchFamily="34" charset="-122"/>
              <a:ea typeface="微软雅黑" pitchFamily="34" charset="-122"/>
              <a:cs typeface="宋体"/>
            </a:endParaRPr>
          </a:p>
          <a:p>
            <a:pPr indent="78740">
              <a:lnSpc>
                <a:spcPts val="2900"/>
              </a:lnSpc>
              <a:spcAft>
                <a:spcPts val="0"/>
              </a:spcAft>
            </a:pPr>
            <a:r>
              <a:rPr lang="en-US" sz="2000" dirty="0">
                <a:effectLst/>
                <a:latin typeface="微软雅黑" pitchFamily="34" charset="-122"/>
                <a:ea typeface="微软雅黑" pitchFamily="34" charset="-122"/>
                <a:cs typeface="宋体"/>
              </a:rPr>
              <a:t>Email</a:t>
            </a:r>
            <a:endParaRPr lang="zh-CN" sz="2000" dirty="0">
              <a:effectLst/>
              <a:latin typeface="微软雅黑" pitchFamily="34" charset="-122"/>
              <a:ea typeface="微软雅黑" pitchFamily="34" charset="-122"/>
              <a:cs typeface="宋体"/>
            </a:endParaRPr>
          </a:p>
        </p:txBody>
      </p:sp>
      <p:sp>
        <p:nvSpPr>
          <p:cNvPr id="12" name="Rectangle 15"/>
          <p:cNvSpPr>
            <a:spLocks noChangeArrowheads="1"/>
          </p:cNvSpPr>
          <p:nvPr/>
        </p:nvSpPr>
        <p:spPr bwMode="auto">
          <a:xfrm>
            <a:off x="2532691" y="2863117"/>
            <a:ext cx="1739978" cy="1718011"/>
          </a:xfrm>
          <a:prstGeom prst="rect">
            <a:avLst/>
          </a:prstGeom>
          <a:solidFill>
            <a:srgbClr val="FFFFFF">
              <a:alpha val="0"/>
            </a:srgbClr>
          </a:solidFill>
          <a:ln w="12700">
            <a:solidFill>
              <a:srgbClr val="000000"/>
            </a:solidFill>
            <a:miter lim="800000"/>
            <a:headEnd/>
            <a:tailEnd/>
          </a:ln>
        </p:spPr>
        <p:txBody>
          <a:bodyPr rot="0" vert="horz" wrap="square" lIns="0" tIns="28804" rIns="0" bIns="28804" anchor="t" anchorCtr="0" upright="1">
            <a:noAutofit/>
          </a:bodyPr>
          <a:lstStyle/>
          <a:p>
            <a:pPr indent="128270" algn="ctr">
              <a:lnSpc>
                <a:spcPts val="2900"/>
              </a:lnSpc>
              <a:spcAft>
                <a:spcPts val="0"/>
              </a:spcAft>
            </a:pPr>
            <a:r>
              <a:rPr lang="en-US" sz="2000" b="1" dirty="0">
                <a:solidFill>
                  <a:srgbClr val="000000"/>
                </a:solidFill>
                <a:effectLst/>
                <a:latin typeface="微软雅黑" pitchFamily="34" charset="-122"/>
                <a:ea typeface="微软雅黑" pitchFamily="34" charset="-122"/>
                <a:cs typeface="宋体"/>
              </a:rPr>
              <a:t> </a:t>
            </a:r>
            <a:endParaRPr lang="zh-CN" sz="2000" dirty="0">
              <a:effectLst/>
              <a:latin typeface="微软雅黑" pitchFamily="34" charset="-122"/>
              <a:ea typeface="微软雅黑" pitchFamily="34" charset="-122"/>
              <a:cs typeface="宋体"/>
            </a:endParaRPr>
          </a:p>
          <a:p>
            <a:pPr indent="128270" algn="ctr">
              <a:lnSpc>
                <a:spcPts val="2900"/>
              </a:lnSpc>
              <a:spcAft>
                <a:spcPts val="0"/>
              </a:spcAft>
            </a:pPr>
            <a:r>
              <a:rPr lang="en-US" sz="2000" dirty="0">
                <a:effectLst/>
                <a:latin typeface="微软雅黑" pitchFamily="34" charset="-122"/>
                <a:ea typeface="微软雅黑" pitchFamily="34" charset="-122"/>
                <a:cs typeface="宋体"/>
              </a:rPr>
              <a:t> </a:t>
            </a:r>
            <a:endParaRPr lang="zh-CN" sz="2000" dirty="0">
              <a:effectLst/>
              <a:latin typeface="微软雅黑" pitchFamily="34" charset="-122"/>
              <a:ea typeface="微软雅黑" pitchFamily="34" charset="-122"/>
              <a:cs typeface="宋体"/>
            </a:endParaRPr>
          </a:p>
          <a:p>
            <a:pPr algn="ctr">
              <a:lnSpc>
                <a:spcPts val="2900"/>
              </a:lnSpc>
              <a:spcAft>
                <a:spcPts val="0"/>
              </a:spcAft>
            </a:pPr>
            <a:r>
              <a:rPr lang="en-US" sz="2000" b="1" dirty="0" err="1">
                <a:solidFill>
                  <a:srgbClr val="000000"/>
                </a:solidFill>
                <a:effectLst/>
                <a:latin typeface="微软雅黑" pitchFamily="34" charset="-122"/>
                <a:ea typeface="微软雅黑" pitchFamily="34" charset="-122"/>
                <a:cs typeface="宋体"/>
              </a:rPr>
              <a:t>CNo</a:t>
            </a:r>
            <a:r>
              <a:rPr lang="en-US" sz="2000" b="1" dirty="0">
                <a:solidFill>
                  <a:srgbClr val="000000"/>
                </a:solidFill>
                <a:effectLst/>
                <a:latin typeface="微软雅黑" pitchFamily="34" charset="-122"/>
                <a:ea typeface="微软雅黑" pitchFamily="34" charset="-122"/>
                <a:cs typeface="宋体"/>
              </a:rPr>
              <a:t>  </a:t>
            </a:r>
            <a:r>
              <a:rPr lang="en-US" sz="2000" b="1" dirty="0" err="1" smtClean="0">
                <a:solidFill>
                  <a:srgbClr val="000000"/>
                </a:solidFill>
                <a:effectLst/>
                <a:latin typeface="微软雅黑" pitchFamily="34" charset="-122"/>
                <a:ea typeface="微软雅黑" pitchFamily="34" charset="-122"/>
                <a:cs typeface="宋体"/>
              </a:rPr>
              <a:t>BNo</a:t>
            </a:r>
            <a:endParaRPr lang="zh-CN" sz="2000" dirty="0">
              <a:effectLst/>
              <a:latin typeface="微软雅黑" pitchFamily="34" charset="-122"/>
              <a:ea typeface="微软雅黑" pitchFamily="34" charset="-122"/>
              <a:cs typeface="宋体"/>
            </a:endParaRPr>
          </a:p>
        </p:txBody>
      </p:sp>
      <p:cxnSp>
        <p:nvCxnSpPr>
          <p:cNvPr id="13" name="Line 16"/>
          <p:cNvCxnSpPr/>
          <p:nvPr/>
        </p:nvCxnSpPr>
        <p:spPr bwMode="auto">
          <a:xfrm flipH="1" flipV="1">
            <a:off x="4044475" y="3773922"/>
            <a:ext cx="912775"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4" name="Rectangle 17"/>
          <p:cNvSpPr>
            <a:spLocks noChangeArrowheads="1"/>
          </p:cNvSpPr>
          <p:nvPr/>
        </p:nvSpPr>
        <p:spPr bwMode="auto">
          <a:xfrm>
            <a:off x="7720535" y="2863117"/>
            <a:ext cx="1121953" cy="2350718"/>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algn="ctr">
              <a:lnSpc>
                <a:spcPts val="2900"/>
              </a:lnSpc>
              <a:spcAft>
                <a:spcPts val="0"/>
              </a:spcAft>
            </a:pPr>
            <a:r>
              <a:rPr lang="en-US" sz="2000">
                <a:effectLst/>
                <a:latin typeface="微软雅黑" pitchFamily="34" charset="-122"/>
                <a:ea typeface="微软雅黑" pitchFamily="34" charset="-122"/>
                <a:cs typeface="宋体"/>
              </a:rPr>
              <a:t>PName</a:t>
            </a:r>
            <a:endParaRPr lang="zh-CN" sz="2000">
              <a:effectLst/>
              <a:latin typeface="微软雅黑" pitchFamily="34" charset="-122"/>
              <a:ea typeface="微软雅黑" pitchFamily="34" charset="-122"/>
              <a:cs typeface="宋体"/>
            </a:endParaRPr>
          </a:p>
          <a:p>
            <a:pPr algn="ctr">
              <a:lnSpc>
                <a:spcPts val="2900"/>
              </a:lnSpc>
              <a:spcAft>
                <a:spcPts val="0"/>
              </a:spcAft>
            </a:pPr>
            <a:r>
              <a:rPr lang="en-US" sz="2000">
                <a:effectLst/>
                <a:latin typeface="微软雅黑" pitchFamily="34" charset="-122"/>
                <a:ea typeface="微软雅黑" pitchFamily="34" charset="-122"/>
                <a:cs typeface="宋体"/>
              </a:rPr>
              <a:t>PCode</a:t>
            </a:r>
            <a:endParaRPr lang="zh-CN" sz="2000">
              <a:effectLst/>
              <a:latin typeface="微软雅黑" pitchFamily="34" charset="-122"/>
              <a:ea typeface="微软雅黑" pitchFamily="34" charset="-122"/>
              <a:cs typeface="宋体"/>
            </a:endParaRPr>
          </a:p>
          <a:p>
            <a:pPr algn="ctr">
              <a:lnSpc>
                <a:spcPts val="2900"/>
              </a:lnSpc>
              <a:spcAft>
                <a:spcPts val="0"/>
              </a:spcAft>
            </a:pPr>
            <a:r>
              <a:rPr lang="en-US" sz="2000">
                <a:effectLst/>
                <a:latin typeface="微软雅黑" pitchFamily="34" charset="-122"/>
                <a:ea typeface="微软雅黑" pitchFamily="34" charset="-122"/>
                <a:cs typeface="宋体"/>
              </a:rPr>
              <a:t>PAddr</a:t>
            </a:r>
            <a:endParaRPr lang="zh-CN" sz="2000">
              <a:effectLst/>
              <a:latin typeface="微软雅黑" pitchFamily="34" charset="-122"/>
              <a:ea typeface="微软雅黑" pitchFamily="34" charset="-122"/>
              <a:cs typeface="宋体"/>
            </a:endParaRPr>
          </a:p>
          <a:p>
            <a:pPr algn="ctr">
              <a:lnSpc>
                <a:spcPts val="2900"/>
              </a:lnSpc>
              <a:spcAft>
                <a:spcPts val="0"/>
              </a:spcAft>
            </a:pPr>
            <a:r>
              <a:rPr lang="en-US" sz="2000">
                <a:effectLst/>
                <a:latin typeface="微软雅黑" pitchFamily="34" charset="-122"/>
                <a:ea typeface="微软雅黑" pitchFamily="34" charset="-122"/>
                <a:cs typeface="宋体"/>
              </a:rPr>
              <a:t>Phone</a:t>
            </a:r>
            <a:endParaRPr lang="zh-CN" sz="2000">
              <a:effectLst/>
              <a:latin typeface="微软雅黑" pitchFamily="34" charset="-122"/>
              <a:ea typeface="微软雅黑" pitchFamily="34" charset="-122"/>
              <a:cs typeface="宋体"/>
            </a:endParaRPr>
          </a:p>
          <a:p>
            <a:pPr algn="ctr">
              <a:lnSpc>
                <a:spcPts val="2900"/>
              </a:lnSpc>
              <a:spcAft>
                <a:spcPts val="0"/>
              </a:spcAft>
            </a:pPr>
            <a:r>
              <a:rPr lang="en-US" sz="2000">
                <a:effectLst/>
                <a:latin typeface="微软雅黑" pitchFamily="34" charset="-122"/>
                <a:ea typeface="微软雅黑" pitchFamily="34" charset="-122"/>
                <a:cs typeface="宋体"/>
              </a:rPr>
              <a:t>Email</a:t>
            </a:r>
            <a:endParaRPr lang="zh-CN" sz="2000">
              <a:effectLst/>
              <a:latin typeface="微软雅黑" pitchFamily="34" charset="-122"/>
              <a:ea typeface="微软雅黑" pitchFamily="34" charset="-122"/>
              <a:cs typeface="宋体"/>
            </a:endParaRPr>
          </a:p>
          <a:p>
            <a:pPr algn="ctr">
              <a:lnSpc>
                <a:spcPts val="2900"/>
              </a:lnSpc>
              <a:spcAft>
                <a:spcPts val="0"/>
              </a:spcAft>
            </a:pPr>
            <a:r>
              <a:rPr lang="en-US" sz="2000">
                <a:effectLst/>
                <a:latin typeface="微软雅黑" pitchFamily="34" charset="-122"/>
                <a:ea typeface="微软雅黑" pitchFamily="34" charset="-122"/>
                <a:cs typeface="宋体"/>
              </a:rPr>
              <a:t>HPage</a:t>
            </a:r>
            <a:endParaRPr lang="zh-CN" sz="2000">
              <a:effectLst/>
              <a:latin typeface="微软雅黑" pitchFamily="34" charset="-122"/>
              <a:ea typeface="微软雅黑" pitchFamily="34" charset="-122"/>
              <a:cs typeface="宋体"/>
            </a:endParaRPr>
          </a:p>
        </p:txBody>
      </p:sp>
      <p:sp>
        <p:nvSpPr>
          <p:cNvPr id="15" name="Rectangle 18"/>
          <p:cNvSpPr>
            <a:spLocks noChangeArrowheads="1"/>
          </p:cNvSpPr>
          <p:nvPr/>
        </p:nvSpPr>
        <p:spPr bwMode="auto">
          <a:xfrm>
            <a:off x="4957251" y="2863119"/>
            <a:ext cx="1919006" cy="2654113"/>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88900">
              <a:lnSpc>
                <a:spcPts val="2900"/>
              </a:lnSpc>
              <a:spcAft>
                <a:spcPts val="0"/>
              </a:spcAft>
            </a:pPr>
            <a:r>
              <a:rPr lang="en-US" sz="2000" dirty="0" err="1" smtClean="0">
                <a:effectLst/>
                <a:latin typeface="微软雅黑" pitchFamily="34" charset="-122"/>
                <a:ea typeface="微软雅黑" pitchFamily="34" charset="-122"/>
                <a:cs typeface="宋体"/>
              </a:rPr>
              <a:t>BName</a:t>
            </a:r>
            <a:endParaRPr lang="zh-CN" sz="2000" dirty="0">
              <a:effectLst/>
              <a:latin typeface="微软雅黑" pitchFamily="34" charset="-122"/>
              <a:ea typeface="微软雅黑" pitchFamily="34" charset="-122"/>
              <a:cs typeface="宋体"/>
            </a:endParaRPr>
          </a:p>
          <a:p>
            <a:pPr indent="88900">
              <a:lnSpc>
                <a:spcPts val="2900"/>
              </a:lnSpc>
              <a:spcAft>
                <a:spcPts val="0"/>
              </a:spcAft>
            </a:pPr>
            <a:r>
              <a:rPr lang="en-US" sz="2000" dirty="0">
                <a:effectLst/>
                <a:latin typeface="微软雅黑" pitchFamily="34" charset="-122"/>
                <a:ea typeface="微软雅黑" pitchFamily="34" charset="-122"/>
                <a:cs typeface="宋体"/>
              </a:rPr>
              <a:t>Author</a:t>
            </a:r>
            <a:endParaRPr lang="zh-CN" sz="2000" dirty="0">
              <a:effectLst/>
              <a:latin typeface="微软雅黑" pitchFamily="34" charset="-122"/>
              <a:ea typeface="微软雅黑" pitchFamily="34" charset="-122"/>
              <a:cs typeface="宋体"/>
            </a:endParaRPr>
          </a:p>
          <a:p>
            <a:pPr indent="88900">
              <a:lnSpc>
                <a:spcPts val="2900"/>
              </a:lnSpc>
              <a:spcAft>
                <a:spcPts val="0"/>
              </a:spcAft>
            </a:pPr>
            <a:r>
              <a:rPr lang="en-US" sz="2000" dirty="0" err="1" smtClean="0">
                <a:effectLst/>
                <a:latin typeface="微软雅黑" pitchFamily="34" charset="-122"/>
                <a:ea typeface="微软雅黑" pitchFamily="34" charset="-122"/>
                <a:cs typeface="宋体"/>
              </a:rPr>
              <a:t>EditNo</a:t>
            </a:r>
            <a:r>
              <a:rPr lang="en-US" sz="2000" dirty="0" smtClean="0">
                <a:effectLst/>
                <a:latin typeface="微软雅黑" pitchFamily="34" charset="-122"/>
                <a:ea typeface="微软雅黑" pitchFamily="34" charset="-122"/>
                <a:cs typeface="宋体"/>
              </a:rPr>
              <a:t>  </a:t>
            </a:r>
            <a:r>
              <a:rPr lang="en-US" sz="2000" dirty="0" err="1" smtClean="0">
                <a:effectLst/>
                <a:latin typeface="微软雅黑" pitchFamily="34" charset="-122"/>
                <a:ea typeface="微软雅黑" pitchFamily="34" charset="-122"/>
                <a:cs typeface="宋体"/>
              </a:rPr>
              <a:t>PNo</a:t>
            </a:r>
            <a:endParaRPr lang="zh-CN" sz="2000" dirty="0">
              <a:effectLst/>
              <a:latin typeface="微软雅黑" pitchFamily="34" charset="-122"/>
              <a:ea typeface="微软雅黑" pitchFamily="34" charset="-122"/>
              <a:cs typeface="宋体"/>
            </a:endParaRPr>
          </a:p>
          <a:p>
            <a:pPr indent="88900">
              <a:lnSpc>
                <a:spcPts val="2900"/>
              </a:lnSpc>
              <a:spcAft>
                <a:spcPts val="0"/>
              </a:spcAft>
            </a:pPr>
            <a:r>
              <a:rPr lang="en-US" sz="2000" dirty="0">
                <a:effectLst/>
                <a:latin typeface="微软雅黑" pitchFamily="34" charset="-122"/>
                <a:ea typeface="微软雅黑" pitchFamily="34" charset="-122"/>
                <a:cs typeface="宋体"/>
              </a:rPr>
              <a:t>Price</a:t>
            </a:r>
            <a:endParaRPr lang="zh-CN" sz="2000" dirty="0">
              <a:effectLst/>
              <a:latin typeface="微软雅黑" pitchFamily="34" charset="-122"/>
              <a:ea typeface="微软雅黑" pitchFamily="34" charset="-122"/>
              <a:cs typeface="宋体"/>
            </a:endParaRPr>
          </a:p>
          <a:p>
            <a:pPr indent="88900">
              <a:lnSpc>
                <a:spcPts val="2900"/>
              </a:lnSpc>
              <a:spcAft>
                <a:spcPts val="0"/>
              </a:spcAft>
            </a:pPr>
            <a:r>
              <a:rPr lang="en-US" sz="2000" dirty="0" err="1">
                <a:effectLst/>
                <a:latin typeface="微软雅黑" pitchFamily="34" charset="-122"/>
                <a:ea typeface="微软雅黑" pitchFamily="34" charset="-122"/>
                <a:cs typeface="宋体"/>
              </a:rPr>
              <a:t>PPrice</a:t>
            </a:r>
            <a:endParaRPr lang="zh-CN" sz="2000" dirty="0">
              <a:effectLst/>
              <a:latin typeface="微软雅黑" pitchFamily="34" charset="-122"/>
              <a:ea typeface="微软雅黑" pitchFamily="34" charset="-122"/>
              <a:cs typeface="宋体"/>
            </a:endParaRPr>
          </a:p>
          <a:p>
            <a:pPr indent="88900">
              <a:lnSpc>
                <a:spcPts val="2900"/>
              </a:lnSpc>
              <a:spcAft>
                <a:spcPts val="0"/>
              </a:spcAft>
            </a:pPr>
            <a:r>
              <a:rPr lang="en-US" sz="2000" dirty="0" err="1">
                <a:effectLst/>
                <a:latin typeface="微软雅黑" pitchFamily="34" charset="-122"/>
                <a:ea typeface="微软雅黑" pitchFamily="34" charset="-122"/>
                <a:cs typeface="宋体"/>
              </a:rPr>
              <a:t>SPrice</a:t>
            </a:r>
            <a:endParaRPr lang="zh-CN" sz="2000" dirty="0">
              <a:effectLst/>
              <a:latin typeface="微软雅黑" pitchFamily="34" charset="-122"/>
              <a:ea typeface="微软雅黑" pitchFamily="34" charset="-122"/>
              <a:cs typeface="宋体"/>
            </a:endParaRPr>
          </a:p>
        </p:txBody>
      </p:sp>
      <p:sp>
        <p:nvSpPr>
          <p:cNvPr id="16" name="Rectangle 19"/>
          <p:cNvSpPr>
            <a:spLocks noChangeArrowheads="1"/>
          </p:cNvSpPr>
          <p:nvPr/>
        </p:nvSpPr>
        <p:spPr bwMode="auto">
          <a:xfrm>
            <a:off x="2760885" y="5806439"/>
            <a:ext cx="1283590" cy="59699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algn="ctr">
              <a:lnSpc>
                <a:spcPts val="2900"/>
              </a:lnSpc>
              <a:spcAft>
                <a:spcPts val="0"/>
              </a:spcAft>
            </a:pPr>
            <a:r>
              <a:rPr lang="en-US" sz="2000" dirty="0" err="1">
                <a:solidFill>
                  <a:srgbClr val="000000"/>
                </a:solidFill>
                <a:effectLst/>
                <a:latin typeface="微软雅黑" pitchFamily="34" charset="-122"/>
                <a:ea typeface="微软雅黑" pitchFamily="34" charset="-122"/>
                <a:cs typeface="宋体"/>
              </a:rPr>
              <a:t>PDate</a:t>
            </a:r>
            <a:endParaRPr lang="zh-CN" sz="2000" dirty="0">
              <a:effectLst/>
              <a:latin typeface="微软雅黑" pitchFamily="34" charset="-122"/>
              <a:ea typeface="微软雅黑" pitchFamily="34" charset="-122"/>
              <a:cs typeface="宋体"/>
            </a:endParaRPr>
          </a:p>
        </p:txBody>
      </p:sp>
      <p:cxnSp>
        <p:nvCxnSpPr>
          <p:cNvPr id="17" name="Line 20"/>
          <p:cNvCxnSpPr>
            <a:stCxn id="16" idx="0"/>
            <a:endCxn id="12" idx="2"/>
          </p:cNvCxnSpPr>
          <p:nvPr/>
        </p:nvCxnSpPr>
        <p:spPr bwMode="auto">
          <a:xfrm flipV="1">
            <a:off x="3402680" y="4581128"/>
            <a:ext cx="0" cy="1225311"/>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18" name="Line 21"/>
          <p:cNvCxnSpPr/>
          <p:nvPr/>
        </p:nvCxnSpPr>
        <p:spPr bwMode="auto">
          <a:xfrm flipH="1">
            <a:off x="1734013" y="3310865"/>
            <a:ext cx="770154" cy="0"/>
          </a:xfrm>
          <a:prstGeom prst="line">
            <a:avLst/>
          </a:prstGeom>
          <a:noFill/>
          <a:ln w="1270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cxnSp>
        <p:nvCxnSpPr>
          <p:cNvPr id="19" name="Line 22"/>
          <p:cNvCxnSpPr/>
          <p:nvPr/>
        </p:nvCxnSpPr>
        <p:spPr bwMode="auto">
          <a:xfrm flipH="1" flipV="1">
            <a:off x="4272669" y="3280033"/>
            <a:ext cx="684581" cy="0"/>
          </a:xfrm>
          <a:prstGeom prst="line">
            <a:avLst/>
          </a:prstGeom>
          <a:noFill/>
          <a:ln w="12700">
            <a:solidFill>
              <a:srgbClr val="000000"/>
            </a:solidFill>
            <a:prstDash val="dash"/>
            <a:round/>
            <a:headEnd type="triangle" w="med" len="med"/>
            <a:tailEnd/>
          </a:ln>
          <a:extLst>
            <a:ext uri="{909E8E84-426E-40DD-AFC4-6F175D3DCCD1}">
              <a14:hiddenFill xmlns:a14="http://schemas.microsoft.com/office/drawing/2010/main">
                <a:noFill/>
              </a14:hiddenFill>
            </a:ext>
          </a:extLst>
        </p:spPr>
      </p:cxnSp>
      <p:cxnSp>
        <p:nvCxnSpPr>
          <p:cNvPr id="20" name="Line 23"/>
          <p:cNvCxnSpPr/>
          <p:nvPr/>
        </p:nvCxnSpPr>
        <p:spPr bwMode="auto">
          <a:xfrm flipH="1">
            <a:off x="6588223" y="3773922"/>
            <a:ext cx="1132312"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65988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6.2.3 </a:t>
            </a:r>
            <a:r>
              <a:rPr lang="zh-CN" altLang="zh-CN" dirty="0"/>
              <a:t>第二范式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17</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marL="0" indent="0">
              <a:buNone/>
            </a:pPr>
            <a:r>
              <a:rPr lang="zh-CN" altLang="zh-CN" sz="2000" dirty="0">
                <a:solidFill>
                  <a:srgbClr val="0000FF"/>
                </a:solidFill>
              </a:rPr>
              <a:t>（</a:t>
            </a:r>
            <a:r>
              <a:rPr lang="en-US" altLang="zh-CN" sz="2000" dirty="0">
                <a:solidFill>
                  <a:srgbClr val="0000FF"/>
                </a:solidFill>
              </a:rPr>
              <a:t>4</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分解</a:t>
            </a:r>
          </a:p>
          <a:p>
            <a:r>
              <a:rPr lang="zh-CN" altLang="zh-CN" sz="2000" dirty="0"/>
              <a:t>在</a:t>
            </a:r>
            <a:r>
              <a:rPr lang="en-US" altLang="zh-CN" sz="2000" dirty="0" err="1"/>
              <a:t>BInfo</a:t>
            </a:r>
            <a:r>
              <a:rPr lang="zh-CN" altLang="zh-CN" sz="2000" dirty="0"/>
              <a:t>中，由于</a:t>
            </a:r>
            <a:r>
              <a:rPr lang="zh-CN" altLang="zh-CN" sz="2000" dirty="0">
                <a:solidFill>
                  <a:srgbClr val="0000FF"/>
                </a:solidFill>
              </a:rPr>
              <a:t>存在函数依赖</a:t>
            </a:r>
            <a:r>
              <a:rPr lang="zh-CN" altLang="zh-CN" sz="2000" dirty="0"/>
              <a:t>：</a:t>
            </a:r>
          </a:p>
          <a:p>
            <a:pPr marL="360363" indent="0">
              <a:buNone/>
            </a:pPr>
            <a:r>
              <a:rPr lang="en-US" altLang="zh-CN" sz="2000" dirty="0" err="1"/>
              <a:t>BNo</a:t>
            </a:r>
            <a:r>
              <a:rPr lang="zh-CN" altLang="zh-CN" sz="2000" dirty="0"/>
              <a:t>→</a:t>
            </a:r>
            <a:r>
              <a:rPr lang="en-US"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2000" dirty="0" err="1"/>
              <a:t>PNo</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en-US" altLang="zh-CN" sz="2000" dirty="0"/>
              <a:t>)</a:t>
            </a:r>
            <a:endParaRPr lang="zh-CN" altLang="zh-CN" sz="2000" dirty="0"/>
          </a:p>
          <a:p>
            <a:pPr marL="360363" indent="0">
              <a:buNone/>
            </a:pPr>
            <a:r>
              <a:rPr lang="en-US" altLang="zh-CN" sz="2000" dirty="0" err="1"/>
              <a:t>CNo</a:t>
            </a:r>
            <a:r>
              <a:rPr lang="en-US" altLang="zh-CN" sz="2000" dirty="0"/>
              <a:t> </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p>
          <a:p>
            <a:pPr marL="360363" indent="0">
              <a:buNone/>
            </a:pPr>
            <a:r>
              <a:rPr lang="en-US" altLang="zh-CN" sz="2000" dirty="0" err="1"/>
              <a:t>PNo</a:t>
            </a:r>
            <a:r>
              <a:rPr lang="en-US" altLang="zh-CN" sz="2000" dirty="0"/>
              <a:t> </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p>
          <a:p>
            <a:r>
              <a:rPr lang="zh-CN" altLang="zh-CN" sz="2000" dirty="0"/>
              <a:t>则存在非主属性对候选建的</a:t>
            </a:r>
            <a:r>
              <a:rPr lang="zh-CN" altLang="zh-CN" sz="2000" dirty="0">
                <a:solidFill>
                  <a:srgbClr val="0000FF"/>
                </a:solidFill>
              </a:rPr>
              <a:t>部分函数依赖</a:t>
            </a:r>
            <a:r>
              <a:rPr lang="zh-CN" altLang="zh-CN" sz="2000" dirty="0"/>
              <a:t>：</a:t>
            </a:r>
          </a:p>
          <a:p>
            <a:pPr marL="360363" indent="0">
              <a:buNone/>
            </a:pPr>
            <a:r>
              <a:rPr lang="en-US" altLang="zh-CN" sz="1600" dirty="0"/>
              <a:t> </a:t>
            </a:r>
            <a:r>
              <a:rPr lang="en-US" altLang="zh-CN" sz="1600" dirty="0" smtClean="0"/>
              <a:t>(</a:t>
            </a:r>
            <a:r>
              <a:rPr lang="en-US" altLang="zh-CN" sz="1600" dirty="0" err="1"/>
              <a:t>SNo,CNo</a:t>
            </a:r>
            <a:r>
              <a:rPr lang="en-US" altLang="zh-CN" sz="1600" dirty="0"/>
              <a:t>)  </a:t>
            </a:r>
            <a:r>
              <a:rPr lang="en-US" altLang="zh-CN" sz="1600" dirty="0" smtClean="0"/>
              <a:t>            (</a:t>
            </a:r>
            <a:r>
              <a:rPr lang="en-US" altLang="zh-CN" sz="1600" dirty="0" err="1"/>
              <a:t>BName</a:t>
            </a:r>
            <a:r>
              <a:rPr lang="zh-CN" altLang="zh-CN" sz="1600" dirty="0"/>
              <a:t>，</a:t>
            </a:r>
            <a:r>
              <a:rPr lang="en-US" altLang="zh-CN" sz="1600" dirty="0"/>
              <a:t>Author</a:t>
            </a:r>
            <a:r>
              <a:rPr lang="zh-CN" altLang="zh-CN" sz="1600" dirty="0"/>
              <a:t>，</a:t>
            </a:r>
            <a:r>
              <a:rPr lang="en-US" altLang="zh-CN" sz="1600" dirty="0" err="1"/>
              <a:t>PNo</a:t>
            </a:r>
            <a:r>
              <a:rPr lang="zh-CN" altLang="zh-CN" sz="1600" dirty="0"/>
              <a:t>，</a:t>
            </a:r>
            <a:r>
              <a:rPr lang="en-US" altLang="zh-CN" sz="1600" dirty="0" err="1"/>
              <a:t>EditNo</a:t>
            </a:r>
            <a:r>
              <a:rPr lang="zh-CN" altLang="zh-CN" sz="1600" dirty="0"/>
              <a:t>，</a:t>
            </a:r>
            <a:r>
              <a:rPr lang="en-US" altLang="zh-CN" sz="1600" dirty="0"/>
              <a:t>Price</a:t>
            </a:r>
            <a:r>
              <a:rPr lang="zh-CN" altLang="zh-CN" sz="1600" dirty="0"/>
              <a:t>，</a:t>
            </a:r>
            <a:r>
              <a:rPr lang="en-US" altLang="zh-CN" sz="1600" dirty="0" err="1"/>
              <a:t>PPrice</a:t>
            </a:r>
            <a:r>
              <a:rPr lang="zh-CN" altLang="zh-CN" sz="1600" dirty="0"/>
              <a:t>，</a:t>
            </a:r>
            <a:r>
              <a:rPr lang="en-US" altLang="zh-CN" sz="1600" dirty="0" err="1"/>
              <a:t>SPrice</a:t>
            </a:r>
            <a:r>
              <a:rPr lang="en-US" altLang="zh-CN" sz="1600" dirty="0"/>
              <a:t>)</a:t>
            </a:r>
            <a:endParaRPr lang="zh-CN" altLang="zh-CN" sz="1600" dirty="0"/>
          </a:p>
          <a:p>
            <a:pPr marL="360363" indent="0">
              <a:buNone/>
            </a:pPr>
            <a:r>
              <a:rPr lang="en-US" altLang="zh-CN" sz="1600" dirty="0"/>
              <a:t>(</a:t>
            </a:r>
            <a:r>
              <a:rPr lang="en-US" altLang="zh-CN" sz="1600" dirty="0" err="1"/>
              <a:t>SNo,CNo</a:t>
            </a:r>
            <a:r>
              <a:rPr lang="en-US" altLang="zh-CN" sz="1600" dirty="0"/>
              <a:t>)  </a:t>
            </a:r>
            <a:r>
              <a:rPr lang="en-US" altLang="zh-CN" sz="1600" dirty="0" smtClean="0"/>
              <a:t>             (</a:t>
            </a:r>
            <a:r>
              <a:rPr lang="en-US" altLang="zh-CN" sz="1600" dirty="0" err="1"/>
              <a:t>CName</a:t>
            </a:r>
            <a:r>
              <a:rPr lang="zh-CN" altLang="zh-CN" sz="1600" dirty="0"/>
              <a:t>，</a:t>
            </a:r>
            <a:r>
              <a:rPr lang="en-US" altLang="zh-CN" sz="1600" dirty="0" err="1"/>
              <a:t>CSex</a:t>
            </a:r>
            <a:r>
              <a:rPr lang="zh-CN" altLang="zh-CN" sz="1600" dirty="0"/>
              <a:t>，</a:t>
            </a:r>
            <a:r>
              <a:rPr lang="en-US" altLang="zh-CN" sz="1600" dirty="0"/>
              <a:t>Birth</a:t>
            </a:r>
            <a:r>
              <a:rPr lang="zh-CN" altLang="zh-CN" sz="1600" dirty="0"/>
              <a:t>，</a:t>
            </a:r>
            <a:r>
              <a:rPr lang="en-US" altLang="zh-CN" sz="1600" dirty="0"/>
              <a:t>Marry</a:t>
            </a:r>
            <a:r>
              <a:rPr lang="zh-CN" altLang="zh-CN" sz="1600" dirty="0"/>
              <a:t>，</a:t>
            </a:r>
            <a:r>
              <a:rPr lang="en-US" altLang="zh-CN" sz="1600" dirty="0"/>
              <a:t>Photo</a:t>
            </a:r>
            <a:r>
              <a:rPr lang="zh-CN" altLang="zh-CN" sz="1600" dirty="0"/>
              <a:t>，</a:t>
            </a:r>
            <a:r>
              <a:rPr lang="en-US" altLang="zh-CN" sz="1600" dirty="0"/>
              <a:t>Email)</a:t>
            </a:r>
            <a:endParaRPr lang="zh-CN" altLang="zh-CN" sz="1600" dirty="0"/>
          </a:p>
          <a:p>
            <a:pPr marL="360363" indent="0">
              <a:buNone/>
            </a:pPr>
            <a:r>
              <a:rPr lang="en-US" altLang="zh-CN" sz="1600" dirty="0"/>
              <a:t>(</a:t>
            </a:r>
            <a:r>
              <a:rPr lang="en-US" altLang="zh-CN" sz="1600" dirty="0" err="1"/>
              <a:t>SNo,CNo</a:t>
            </a:r>
            <a:r>
              <a:rPr lang="en-US" altLang="zh-CN" sz="1600" dirty="0"/>
              <a:t>)  </a:t>
            </a:r>
            <a:r>
              <a:rPr lang="en-US" altLang="zh-CN" sz="1600" dirty="0" smtClean="0"/>
              <a:t>             (</a:t>
            </a:r>
            <a:r>
              <a:rPr lang="en-US" altLang="zh-CN" sz="1600" dirty="0" err="1"/>
              <a:t>PName</a:t>
            </a:r>
            <a:r>
              <a:rPr lang="zh-CN" altLang="zh-CN" sz="1600" dirty="0"/>
              <a:t>，</a:t>
            </a:r>
            <a:r>
              <a:rPr lang="en-US" altLang="zh-CN" sz="1600" dirty="0" err="1"/>
              <a:t>PCode</a:t>
            </a:r>
            <a:r>
              <a:rPr lang="zh-CN" altLang="zh-CN" sz="1600" dirty="0"/>
              <a:t>，</a:t>
            </a:r>
            <a:r>
              <a:rPr lang="en-US" altLang="zh-CN" sz="1600" dirty="0" err="1"/>
              <a:t>PAddr</a:t>
            </a:r>
            <a:r>
              <a:rPr lang="zh-CN" altLang="zh-CN" sz="1600" dirty="0"/>
              <a:t>，</a:t>
            </a:r>
            <a:r>
              <a:rPr lang="en-US" altLang="zh-CN" sz="1600" dirty="0"/>
              <a:t>Phone</a:t>
            </a:r>
            <a:r>
              <a:rPr lang="zh-CN" altLang="zh-CN" sz="1600" dirty="0"/>
              <a:t>，</a:t>
            </a:r>
            <a:r>
              <a:rPr lang="en-US" altLang="zh-CN" sz="1600" dirty="0"/>
              <a:t>Email</a:t>
            </a:r>
            <a:r>
              <a:rPr lang="zh-CN" altLang="zh-CN" sz="1600" dirty="0"/>
              <a:t>，</a:t>
            </a:r>
            <a:r>
              <a:rPr lang="en-US" altLang="zh-CN" sz="1600" dirty="0" err="1"/>
              <a:t>HPage</a:t>
            </a:r>
            <a:r>
              <a:rPr lang="en-US" altLang="zh-CN" sz="1600" dirty="0"/>
              <a:t>)</a:t>
            </a:r>
            <a:endParaRPr lang="zh-CN" altLang="zh-CN" sz="1600" dirty="0"/>
          </a:p>
          <a:p>
            <a:r>
              <a:rPr lang="zh-CN" altLang="zh-CN" sz="2000" dirty="0"/>
              <a:t>不难看出，</a:t>
            </a:r>
            <a:r>
              <a:rPr lang="en-US" altLang="zh-CN" sz="2000" dirty="0" err="1"/>
              <a:t>BInfo</a:t>
            </a:r>
            <a:r>
              <a:rPr lang="zh-CN" altLang="zh-CN" sz="2000" dirty="0"/>
              <a:t>中存在三组非主属性对候选键的部分依赖，因此</a:t>
            </a:r>
            <a:r>
              <a:rPr lang="en-US" altLang="zh-CN" sz="2000" dirty="0" smtClean="0">
                <a:solidFill>
                  <a:srgbClr val="0000FF"/>
                </a:solidFill>
              </a:rPr>
              <a:t>R     </a:t>
            </a:r>
            <a:r>
              <a:rPr lang="en-US" altLang="zh-CN" sz="2000" dirty="0">
                <a:solidFill>
                  <a:srgbClr val="0000FF"/>
                </a:solidFill>
              </a:rPr>
              <a:t>2NF</a:t>
            </a:r>
            <a:r>
              <a:rPr lang="zh-CN" altLang="zh-CN" sz="2000" dirty="0" smtClean="0"/>
              <a:t>。</a:t>
            </a:r>
            <a:endParaRPr lang="en-US" altLang="zh-CN" sz="2000" dirty="0" smtClean="0"/>
          </a:p>
          <a:p>
            <a:r>
              <a:rPr lang="zh-CN" altLang="zh-CN" sz="2000" dirty="0"/>
              <a:t>因此采用</a:t>
            </a:r>
            <a:r>
              <a:rPr lang="zh-CN" altLang="zh-CN" sz="2000" dirty="0">
                <a:solidFill>
                  <a:srgbClr val="0000FF"/>
                </a:solidFill>
              </a:rPr>
              <a:t>投影分解法</a:t>
            </a:r>
            <a:r>
              <a:rPr lang="zh-CN" altLang="zh-CN" sz="2000" dirty="0"/>
              <a:t>，把导致</a:t>
            </a:r>
            <a:r>
              <a:rPr lang="en-US" altLang="zh-CN" sz="2000" dirty="0"/>
              <a:t>R 2NF</a:t>
            </a:r>
            <a:r>
              <a:rPr lang="zh-CN" altLang="zh-CN" sz="2000" dirty="0"/>
              <a:t>的部分函数依赖进行如下分解： </a:t>
            </a:r>
          </a:p>
        </p:txBody>
      </p:sp>
      <p:graphicFrame>
        <p:nvGraphicFramePr>
          <p:cNvPr id="3" name="对象 2"/>
          <p:cNvGraphicFramePr>
            <a:graphicFrameLocks noChangeAspect="1"/>
          </p:cNvGraphicFramePr>
          <p:nvPr>
            <p:extLst>
              <p:ext uri="{D42A27DB-BD31-4B8C-83A1-F6EECF244321}">
                <p14:modId xmlns:p14="http://schemas.microsoft.com/office/powerpoint/2010/main" val="2407599416"/>
              </p:ext>
            </p:extLst>
          </p:nvPr>
        </p:nvGraphicFramePr>
        <p:xfrm>
          <a:off x="1763688" y="3573016"/>
          <a:ext cx="611188" cy="388938"/>
        </p:xfrm>
        <a:graphic>
          <a:graphicData uri="http://schemas.openxmlformats.org/presentationml/2006/ole">
            <mc:AlternateContent xmlns:mc="http://schemas.openxmlformats.org/markup-compatibility/2006">
              <mc:Choice xmlns:v="urn:schemas-microsoft-com:vml" Requires="v">
                <p:oleObj spid="_x0000_s6089" name="公式" r:id="rId3" imgW="368140" imgH="203112" progId="Equation.3">
                  <p:embed/>
                </p:oleObj>
              </mc:Choice>
              <mc:Fallback>
                <p:oleObj name="公式" r:id="rId3" imgW="368140" imgH="203112" progId="Equation.3">
                  <p:embed/>
                  <p:pic>
                    <p:nvPicPr>
                      <p:cNvPr id="0" name="对象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73016"/>
                        <a:ext cx="61118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24627271"/>
              </p:ext>
            </p:extLst>
          </p:nvPr>
        </p:nvGraphicFramePr>
        <p:xfrm>
          <a:off x="1763688" y="4077072"/>
          <a:ext cx="611188" cy="388938"/>
        </p:xfrm>
        <a:graphic>
          <a:graphicData uri="http://schemas.openxmlformats.org/presentationml/2006/ole">
            <mc:AlternateContent xmlns:mc="http://schemas.openxmlformats.org/markup-compatibility/2006">
              <mc:Choice xmlns:v="urn:schemas-microsoft-com:vml" Requires="v">
                <p:oleObj spid="_x0000_s6090" name="公式" r:id="rId5" imgW="368140" imgH="203112" progId="Equation.3">
                  <p:embed/>
                </p:oleObj>
              </mc:Choice>
              <mc:Fallback>
                <p:oleObj name="公式" r:id="rId5"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4077072"/>
                        <a:ext cx="61118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88549839"/>
              </p:ext>
            </p:extLst>
          </p:nvPr>
        </p:nvGraphicFramePr>
        <p:xfrm>
          <a:off x="1763688" y="4509120"/>
          <a:ext cx="611188" cy="388938"/>
        </p:xfrm>
        <a:graphic>
          <a:graphicData uri="http://schemas.openxmlformats.org/presentationml/2006/ole">
            <mc:AlternateContent xmlns:mc="http://schemas.openxmlformats.org/markup-compatibility/2006">
              <mc:Choice xmlns:v="urn:schemas-microsoft-com:vml" Requires="v">
                <p:oleObj spid="_x0000_s6091" name="公式" r:id="rId6" imgW="368140" imgH="203112" progId="Equation.3">
                  <p:embed/>
                </p:oleObj>
              </mc:Choice>
              <mc:Fallback>
                <p:oleObj name="公式" r:id="rId6" imgW="368140"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4509120"/>
                        <a:ext cx="61118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3515336650"/>
              </p:ext>
            </p:extLst>
          </p:nvPr>
        </p:nvGraphicFramePr>
        <p:xfrm>
          <a:off x="8028384" y="5013176"/>
          <a:ext cx="251520" cy="332656"/>
        </p:xfrm>
        <a:graphic>
          <a:graphicData uri="http://schemas.openxmlformats.org/presentationml/2006/ole">
            <mc:AlternateContent xmlns:mc="http://schemas.openxmlformats.org/markup-compatibility/2006">
              <mc:Choice xmlns:v="urn:schemas-microsoft-com:vml" Requires="v">
                <p:oleObj spid="_x0000_s6092" name="公式" r:id="rId7" imgW="114201" imgH="139579" progId="Equation.3">
                  <p:embed/>
                </p:oleObj>
              </mc:Choice>
              <mc:Fallback>
                <p:oleObj name="公式" r:id="rId7" imgW="114201" imgH="139579"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8384" y="5013176"/>
                        <a:ext cx="251520" cy="332656"/>
                      </a:xfrm>
                      <a:prstGeom prst="rect">
                        <a:avLst/>
                      </a:prstGeom>
                      <a:noFill/>
                    </p:spPr>
                  </p:pic>
                </p:oleObj>
              </mc:Fallback>
            </mc:AlternateContent>
          </a:graphicData>
        </a:graphic>
      </p:graphicFrame>
    </p:spTree>
    <p:extLst>
      <p:ext uri="{BB962C8B-B14F-4D97-AF65-F5344CB8AC3E}">
        <p14:creationId xmlns:p14="http://schemas.microsoft.com/office/powerpoint/2010/main" val="39274960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6.2.3 </a:t>
            </a:r>
            <a:r>
              <a:rPr lang="zh-CN" altLang="zh-CN" dirty="0"/>
              <a:t>第二范式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18</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000"/>
              </a:lnSpc>
            </a:pPr>
            <a:r>
              <a:rPr lang="en-US" altLang="zh-CN" sz="2000" dirty="0" err="1" smtClean="0">
                <a:solidFill>
                  <a:srgbClr val="0000FF"/>
                </a:solidFill>
              </a:rPr>
              <a:t>BInfo</a:t>
            </a:r>
            <a:r>
              <a:rPr lang="en-US" altLang="zh-CN" sz="2000" dirty="0" smtClean="0">
                <a:solidFill>
                  <a:srgbClr val="0000FF"/>
                </a:solidFill>
              </a:rPr>
              <a:t>=</a:t>
            </a:r>
            <a:r>
              <a:rPr lang="en-US" altLang="zh-CN" sz="2000" dirty="0" err="1" smtClean="0">
                <a:solidFill>
                  <a:srgbClr val="0000FF"/>
                </a:solidFill>
              </a:rPr>
              <a:t>Cust</a:t>
            </a:r>
            <a:r>
              <a:rPr lang="zh-CN" altLang="zh-CN" sz="2000" dirty="0">
                <a:solidFill>
                  <a:srgbClr val="0000FF"/>
                </a:solidFill>
              </a:rPr>
              <a:t>∪</a:t>
            </a:r>
            <a:r>
              <a:rPr lang="en-US" altLang="zh-CN" sz="2000" dirty="0" err="1">
                <a:solidFill>
                  <a:srgbClr val="0000FF"/>
                </a:solidFill>
              </a:rPr>
              <a:t>PressBook</a:t>
            </a:r>
            <a:r>
              <a:rPr lang="zh-CN" altLang="zh-CN" sz="2000" dirty="0">
                <a:solidFill>
                  <a:srgbClr val="0000FF"/>
                </a:solidFill>
              </a:rPr>
              <a:t>∪</a:t>
            </a:r>
            <a:r>
              <a:rPr lang="en-US" altLang="zh-CN" sz="2000" dirty="0">
                <a:solidFill>
                  <a:srgbClr val="0000FF"/>
                </a:solidFill>
              </a:rPr>
              <a:t>Buy</a:t>
            </a:r>
            <a:endParaRPr lang="zh-CN" altLang="zh-CN" sz="2000" dirty="0">
              <a:solidFill>
                <a:srgbClr val="0000FF"/>
              </a:solidFill>
            </a:endParaRPr>
          </a:p>
          <a:p>
            <a:pPr marL="0" indent="0">
              <a:lnSpc>
                <a:spcPts val="3000"/>
              </a:lnSpc>
              <a:buNone/>
            </a:pPr>
            <a:r>
              <a:rPr lang="en-US" altLang="zh-CN" sz="2000" dirty="0"/>
              <a:t>1</a:t>
            </a:r>
            <a:r>
              <a:rPr lang="zh-CN" altLang="zh-CN" sz="2000" dirty="0"/>
              <a:t>）</a:t>
            </a:r>
            <a:r>
              <a:rPr lang="en-US" altLang="zh-CN" sz="2000" dirty="0" err="1"/>
              <a:t>Cust</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p>
          <a:p>
            <a:pPr marL="444500" indent="0">
              <a:lnSpc>
                <a:spcPts val="3000"/>
              </a:lnSpc>
              <a:buNone/>
            </a:pPr>
            <a:r>
              <a:rPr lang="en-US" altLang="zh-CN" sz="2000" dirty="0"/>
              <a:t>U</a:t>
            </a:r>
            <a:r>
              <a:rPr lang="en-US" altLang="zh-CN" sz="2000" baseline="-25000" dirty="0"/>
              <a:t>1</a:t>
            </a:r>
            <a:r>
              <a:rPr lang="en-US" altLang="zh-CN" sz="2000" dirty="0"/>
              <a:t>={ </a:t>
            </a:r>
            <a:r>
              <a:rPr lang="en-US" altLang="zh-CN" sz="2000" dirty="0" err="1"/>
              <a:t>CNo</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 }</a:t>
            </a:r>
            <a:endParaRPr lang="zh-CN" altLang="zh-CN" sz="2000" dirty="0"/>
          </a:p>
          <a:p>
            <a:pPr marL="444500" indent="0">
              <a:lnSpc>
                <a:spcPts val="3000"/>
              </a:lnSpc>
              <a:buNone/>
            </a:pPr>
            <a:r>
              <a:rPr lang="en-US" altLang="zh-CN" sz="2000" dirty="0"/>
              <a:t>F</a:t>
            </a:r>
            <a:r>
              <a:rPr lang="en-US" altLang="zh-CN" sz="2000" baseline="-25000" dirty="0"/>
              <a:t>1</a:t>
            </a:r>
            <a:r>
              <a:rPr lang="en-US" altLang="zh-CN" sz="2000" dirty="0"/>
              <a:t>={ </a:t>
            </a:r>
            <a:r>
              <a:rPr lang="en-US" altLang="zh-CN" sz="2000" dirty="0" err="1"/>
              <a:t>CNo</a:t>
            </a:r>
            <a:r>
              <a:rPr lang="en-US" altLang="zh-CN" sz="2000" dirty="0"/>
              <a:t> </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r>
              <a:rPr lang="en-US" altLang="zh-CN" sz="2000" dirty="0"/>
              <a:t>}</a:t>
            </a:r>
            <a:endParaRPr lang="zh-CN" altLang="zh-CN" sz="2000" dirty="0"/>
          </a:p>
          <a:p>
            <a:pPr marL="0" indent="0">
              <a:lnSpc>
                <a:spcPts val="3000"/>
              </a:lnSpc>
              <a:buNone/>
            </a:pPr>
            <a:r>
              <a:rPr lang="en-US" altLang="zh-CN" sz="2000" dirty="0"/>
              <a:t>2</a:t>
            </a:r>
            <a:r>
              <a:rPr lang="zh-CN" altLang="zh-CN" sz="2000" dirty="0"/>
              <a:t>）</a:t>
            </a:r>
            <a:r>
              <a:rPr lang="en-US" altLang="zh-CN" sz="2000" dirty="0"/>
              <a:t>Buy(U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p>
          <a:p>
            <a:pPr marL="444500" indent="0">
              <a:lnSpc>
                <a:spcPts val="3000"/>
              </a:lnSpc>
              <a:buNone/>
            </a:pPr>
            <a:r>
              <a:rPr lang="en-US" altLang="zh-CN" sz="2000" dirty="0"/>
              <a:t>U</a:t>
            </a:r>
            <a:r>
              <a:rPr lang="en-US" altLang="zh-CN" sz="2000" baseline="-25000" dirty="0"/>
              <a:t>2</a:t>
            </a:r>
            <a:r>
              <a:rPr lang="en-US" altLang="zh-CN" sz="2000" dirty="0"/>
              <a:t>={ </a:t>
            </a:r>
            <a:r>
              <a:rPr lang="en-US" altLang="zh-CN" sz="2000" dirty="0" err="1"/>
              <a:t>BNo,CNo,PDate</a:t>
            </a:r>
            <a:r>
              <a:rPr lang="en-US" altLang="zh-CN" sz="2000" dirty="0"/>
              <a:t> }</a:t>
            </a:r>
            <a:endParaRPr lang="zh-CN" altLang="zh-CN" sz="2000" dirty="0"/>
          </a:p>
          <a:p>
            <a:pPr marL="444500" indent="0">
              <a:lnSpc>
                <a:spcPts val="3000"/>
              </a:lnSpc>
              <a:buNone/>
            </a:pPr>
            <a:r>
              <a:rPr lang="en-US" altLang="zh-CN" sz="2000" dirty="0"/>
              <a:t>F</a:t>
            </a:r>
            <a:r>
              <a:rPr lang="en-US" altLang="zh-CN" sz="2000" baseline="-25000" dirty="0"/>
              <a:t>2</a:t>
            </a:r>
            <a:r>
              <a:rPr lang="en-US" altLang="zh-CN" sz="2000" dirty="0"/>
              <a:t>={ (</a:t>
            </a:r>
            <a:r>
              <a:rPr lang="en-US" altLang="zh-CN" sz="2000" dirty="0" err="1"/>
              <a:t>BNo,CNo</a:t>
            </a:r>
            <a:r>
              <a:rPr lang="en-US" altLang="zh-CN" sz="2000" dirty="0"/>
              <a:t>) </a:t>
            </a:r>
            <a:r>
              <a:rPr lang="zh-CN" altLang="zh-CN" sz="2000" dirty="0"/>
              <a:t>→</a:t>
            </a:r>
            <a:r>
              <a:rPr lang="en-US" altLang="zh-CN" sz="2000" dirty="0"/>
              <a:t> </a:t>
            </a:r>
            <a:r>
              <a:rPr lang="en-US" altLang="zh-CN" sz="2000" dirty="0" err="1"/>
              <a:t>PDate</a:t>
            </a:r>
            <a:r>
              <a:rPr lang="en-US" altLang="zh-CN" sz="2000" dirty="0"/>
              <a:t> }</a:t>
            </a:r>
            <a:endParaRPr lang="zh-CN" altLang="zh-CN" sz="2000" dirty="0"/>
          </a:p>
          <a:p>
            <a:pPr marL="0" indent="0">
              <a:lnSpc>
                <a:spcPts val="3000"/>
              </a:lnSpc>
              <a:buNone/>
            </a:pPr>
            <a:r>
              <a:rPr lang="en-US" altLang="zh-CN" sz="2000" dirty="0"/>
              <a:t>3</a:t>
            </a:r>
            <a:r>
              <a:rPr lang="zh-CN" altLang="zh-CN" sz="2000" dirty="0"/>
              <a:t>）</a:t>
            </a:r>
            <a:r>
              <a:rPr lang="en-US" altLang="zh-CN" sz="2000" dirty="0" err="1"/>
              <a:t>PressBook</a:t>
            </a:r>
            <a:r>
              <a:rPr lang="en-US" altLang="zh-CN" sz="2000" dirty="0"/>
              <a:t>(U</a:t>
            </a:r>
            <a:r>
              <a:rPr lang="en-US" altLang="zh-CN" sz="2000" baseline="-25000" dirty="0"/>
              <a:t>3</a:t>
            </a:r>
            <a:r>
              <a:rPr lang="en-US" altLang="zh-CN" sz="2000" dirty="0"/>
              <a:t>,F</a:t>
            </a:r>
            <a:r>
              <a:rPr lang="en-US" altLang="zh-CN" sz="2000" baseline="-25000" dirty="0"/>
              <a:t>3</a:t>
            </a:r>
            <a:r>
              <a:rPr lang="en-US" altLang="zh-CN" sz="2000" dirty="0"/>
              <a:t>)</a:t>
            </a:r>
            <a:r>
              <a:rPr lang="zh-CN" altLang="zh-CN" sz="2000" dirty="0"/>
              <a:t>：</a:t>
            </a:r>
          </a:p>
          <a:p>
            <a:pPr marL="360363" indent="0">
              <a:lnSpc>
                <a:spcPts val="3000"/>
              </a:lnSpc>
              <a:buNone/>
            </a:pPr>
            <a:r>
              <a:rPr lang="en-US" altLang="zh-CN" sz="1800" dirty="0"/>
              <a:t>U</a:t>
            </a:r>
            <a:r>
              <a:rPr lang="en-US" altLang="zh-CN" sz="1800" baseline="-25000" dirty="0"/>
              <a:t>3</a:t>
            </a:r>
            <a:r>
              <a:rPr lang="en-US" altLang="zh-CN" sz="1800" dirty="0"/>
              <a:t>={ </a:t>
            </a:r>
            <a:r>
              <a:rPr lang="en-US" altLang="zh-CN" sz="1800" dirty="0" err="1"/>
              <a:t>BNo</a:t>
            </a:r>
            <a:r>
              <a:rPr lang="zh-CN" altLang="zh-CN" sz="1800" dirty="0"/>
              <a:t>，</a:t>
            </a:r>
            <a:r>
              <a:rPr lang="en-US" altLang="zh-CN" sz="1800" dirty="0" err="1"/>
              <a:t>BName</a:t>
            </a:r>
            <a:r>
              <a:rPr lang="zh-CN" altLang="zh-CN" sz="1800" dirty="0"/>
              <a:t>，</a:t>
            </a:r>
            <a:r>
              <a:rPr lang="en-US" altLang="zh-CN" sz="1800" dirty="0"/>
              <a:t>Author</a:t>
            </a:r>
            <a:r>
              <a:rPr lang="zh-CN" altLang="zh-CN" sz="1800" dirty="0"/>
              <a:t>，</a:t>
            </a:r>
            <a:r>
              <a:rPr lang="en-US" altLang="zh-CN" sz="1800" dirty="0" err="1"/>
              <a:t>EditNo</a:t>
            </a:r>
            <a:r>
              <a:rPr lang="zh-CN" altLang="zh-CN" sz="1800" dirty="0"/>
              <a:t>，</a:t>
            </a:r>
            <a:r>
              <a:rPr lang="en-US" altLang="zh-CN" sz="1800" dirty="0"/>
              <a:t>Price</a:t>
            </a:r>
            <a:r>
              <a:rPr lang="zh-CN" altLang="zh-CN" sz="1800" dirty="0"/>
              <a:t>，</a:t>
            </a:r>
            <a:r>
              <a:rPr lang="en-US" altLang="zh-CN" sz="1800" dirty="0" err="1"/>
              <a:t>PPrice</a:t>
            </a:r>
            <a:r>
              <a:rPr lang="zh-CN" altLang="zh-CN" sz="1800" dirty="0"/>
              <a:t>，</a:t>
            </a:r>
            <a:r>
              <a:rPr lang="en-US" altLang="zh-CN" sz="1800" dirty="0" err="1"/>
              <a:t>SPrice</a:t>
            </a:r>
            <a:r>
              <a:rPr lang="zh-CN" altLang="zh-CN" sz="1800" dirty="0"/>
              <a:t>，</a:t>
            </a:r>
          </a:p>
          <a:p>
            <a:pPr marL="360363" indent="0">
              <a:lnSpc>
                <a:spcPts val="3000"/>
              </a:lnSpc>
              <a:buNone/>
            </a:pPr>
            <a:r>
              <a:rPr lang="en-US" altLang="zh-CN" sz="1800" dirty="0"/>
              <a:t>     </a:t>
            </a:r>
            <a:r>
              <a:rPr lang="en-US" altLang="zh-CN" sz="1800" dirty="0" err="1"/>
              <a:t>PNo</a:t>
            </a:r>
            <a:r>
              <a:rPr lang="zh-CN" altLang="zh-CN" sz="1800" dirty="0"/>
              <a:t>，</a:t>
            </a:r>
            <a:r>
              <a:rPr lang="en-US" altLang="zh-CN" sz="1800" dirty="0" err="1"/>
              <a:t>PName</a:t>
            </a:r>
            <a:r>
              <a:rPr lang="zh-CN" altLang="zh-CN" sz="1800" dirty="0"/>
              <a:t>，</a:t>
            </a:r>
            <a:r>
              <a:rPr lang="en-US" altLang="zh-CN" sz="1800" dirty="0" err="1"/>
              <a:t>PCode</a:t>
            </a:r>
            <a:r>
              <a:rPr lang="zh-CN" altLang="zh-CN" sz="1800" dirty="0"/>
              <a:t>，</a:t>
            </a:r>
            <a:r>
              <a:rPr lang="en-US" altLang="zh-CN" sz="1800" dirty="0" err="1"/>
              <a:t>PAddr</a:t>
            </a:r>
            <a:r>
              <a:rPr lang="zh-CN" altLang="zh-CN" sz="1800" dirty="0"/>
              <a:t>，</a:t>
            </a:r>
            <a:r>
              <a:rPr lang="en-US" altLang="zh-CN" sz="1800" dirty="0"/>
              <a:t>Phone</a:t>
            </a:r>
            <a:r>
              <a:rPr lang="zh-CN" altLang="zh-CN" sz="1800" dirty="0"/>
              <a:t>，</a:t>
            </a:r>
            <a:r>
              <a:rPr lang="en-US" altLang="zh-CN" sz="1800" dirty="0"/>
              <a:t>Email</a:t>
            </a:r>
            <a:r>
              <a:rPr lang="zh-CN" altLang="zh-CN" sz="1800" dirty="0"/>
              <a:t>，</a:t>
            </a:r>
            <a:r>
              <a:rPr lang="en-US" altLang="zh-CN" sz="1800" dirty="0" err="1"/>
              <a:t>HPage</a:t>
            </a:r>
            <a:r>
              <a:rPr lang="en-US" altLang="zh-CN" sz="1800" dirty="0"/>
              <a:t> }</a:t>
            </a:r>
            <a:endParaRPr lang="zh-CN" altLang="zh-CN" sz="1800" dirty="0"/>
          </a:p>
          <a:p>
            <a:pPr marL="360363" indent="0">
              <a:lnSpc>
                <a:spcPts val="3000"/>
              </a:lnSpc>
              <a:buNone/>
            </a:pPr>
            <a:r>
              <a:rPr lang="en-US" altLang="zh-CN" sz="1800" dirty="0"/>
              <a:t>F</a:t>
            </a:r>
            <a:r>
              <a:rPr lang="en-US" altLang="zh-CN" sz="1800" baseline="-25000" dirty="0"/>
              <a:t>3</a:t>
            </a:r>
            <a:r>
              <a:rPr lang="en-US" altLang="zh-CN" sz="1800" dirty="0"/>
              <a:t>={ </a:t>
            </a:r>
            <a:r>
              <a:rPr lang="en-US" altLang="zh-CN" sz="1800" dirty="0" err="1"/>
              <a:t>BNo</a:t>
            </a:r>
            <a:r>
              <a:rPr lang="en-US" altLang="zh-CN" sz="1800" dirty="0"/>
              <a:t> </a:t>
            </a:r>
            <a:r>
              <a:rPr lang="zh-CN" altLang="zh-CN" sz="1800" dirty="0"/>
              <a:t>→</a:t>
            </a:r>
            <a:r>
              <a:rPr lang="en-US" altLang="zh-CN" sz="1800" dirty="0"/>
              <a:t> (</a:t>
            </a:r>
            <a:r>
              <a:rPr lang="en-US" altLang="zh-CN" sz="1800" dirty="0" err="1"/>
              <a:t>BName</a:t>
            </a:r>
            <a:r>
              <a:rPr lang="zh-CN" altLang="zh-CN" sz="1800" dirty="0"/>
              <a:t>，</a:t>
            </a:r>
            <a:r>
              <a:rPr lang="en-US" altLang="zh-CN" sz="1800" dirty="0"/>
              <a:t>Author</a:t>
            </a:r>
            <a:r>
              <a:rPr lang="zh-CN" altLang="zh-CN" sz="1800" dirty="0"/>
              <a:t>，</a:t>
            </a:r>
            <a:r>
              <a:rPr lang="en-US" altLang="zh-CN" sz="1800" dirty="0" err="1"/>
              <a:t>PNo</a:t>
            </a:r>
            <a:r>
              <a:rPr lang="zh-CN" altLang="zh-CN" sz="1800" dirty="0"/>
              <a:t>，</a:t>
            </a:r>
            <a:r>
              <a:rPr lang="en-US" altLang="zh-CN" sz="1800" dirty="0" err="1"/>
              <a:t>EditNo</a:t>
            </a:r>
            <a:r>
              <a:rPr lang="zh-CN" altLang="zh-CN" sz="1800" dirty="0"/>
              <a:t>，</a:t>
            </a:r>
            <a:r>
              <a:rPr lang="en-US" altLang="zh-CN" sz="1800" dirty="0"/>
              <a:t>Price</a:t>
            </a:r>
            <a:r>
              <a:rPr lang="zh-CN" altLang="zh-CN" sz="1800" dirty="0"/>
              <a:t>，</a:t>
            </a:r>
            <a:r>
              <a:rPr lang="en-US" altLang="zh-CN" sz="1800" dirty="0" err="1"/>
              <a:t>PPrice</a:t>
            </a:r>
            <a:r>
              <a:rPr lang="zh-CN" altLang="zh-CN" sz="1800" dirty="0"/>
              <a:t>，</a:t>
            </a:r>
            <a:r>
              <a:rPr lang="en-US" altLang="zh-CN" sz="1800" dirty="0" err="1"/>
              <a:t>SPrice</a:t>
            </a:r>
            <a:r>
              <a:rPr lang="en-US" altLang="zh-CN" sz="1800" dirty="0"/>
              <a:t>)</a:t>
            </a:r>
            <a:r>
              <a:rPr lang="zh-CN" altLang="zh-CN" sz="1800" dirty="0"/>
              <a:t>，</a:t>
            </a:r>
          </a:p>
          <a:p>
            <a:pPr marL="360363" indent="0">
              <a:lnSpc>
                <a:spcPts val="3000"/>
              </a:lnSpc>
              <a:buNone/>
            </a:pPr>
            <a:r>
              <a:rPr lang="en-US" altLang="zh-CN" sz="1800" dirty="0"/>
              <a:t>     </a:t>
            </a:r>
            <a:r>
              <a:rPr lang="en-US" altLang="zh-CN" sz="1800" dirty="0" err="1"/>
              <a:t>PNo</a:t>
            </a:r>
            <a:r>
              <a:rPr lang="en-US" altLang="zh-CN" sz="1800" dirty="0"/>
              <a:t> </a:t>
            </a:r>
            <a:r>
              <a:rPr lang="zh-CN" altLang="zh-CN" sz="1800" dirty="0"/>
              <a:t>→（</a:t>
            </a:r>
            <a:r>
              <a:rPr lang="en-US" altLang="zh-CN" sz="1800" dirty="0" err="1"/>
              <a:t>PName</a:t>
            </a:r>
            <a:r>
              <a:rPr lang="zh-CN" altLang="zh-CN" sz="1800" dirty="0"/>
              <a:t>，</a:t>
            </a:r>
            <a:r>
              <a:rPr lang="en-US" altLang="zh-CN" sz="1800" dirty="0" err="1"/>
              <a:t>PCode</a:t>
            </a:r>
            <a:r>
              <a:rPr lang="zh-CN" altLang="zh-CN" sz="1800" dirty="0"/>
              <a:t>，</a:t>
            </a:r>
            <a:r>
              <a:rPr lang="en-US" altLang="zh-CN" sz="1800" dirty="0" err="1"/>
              <a:t>PAddr</a:t>
            </a:r>
            <a:r>
              <a:rPr lang="zh-CN" altLang="zh-CN" sz="1800" dirty="0"/>
              <a:t>，</a:t>
            </a:r>
            <a:r>
              <a:rPr lang="en-US" altLang="zh-CN" sz="1800" dirty="0"/>
              <a:t>Phone</a:t>
            </a:r>
            <a:r>
              <a:rPr lang="zh-CN" altLang="zh-CN" sz="1800" dirty="0"/>
              <a:t>，</a:t>
            </a:r>
            <a:r>
              <a:rPr lang="en-US" altLang="zh-CN" sz="1800" dirty="0"/>
              <a:t>Email</a:t>
            </a:r>
            <a:r>
              <a:rPr lang="zh-CN" altLang="zh-CN" sz="1800" dirty="0"/>
              <a:t>，</a:t>
            </a:r>
            <a:r>
              <a:rPr lang="en-US" altLang="zh-CN" sz="1800" dirty="0" err="1"/>
              <a:t>HPage</a:t>
            </a:r>
            <a:r>
              <a:rPr lang="zh-CN" altLang="zh-CN" sz="1800" dirty="0"/>
              <a:t>）</a:t>
            </a:r>
            <a:r>
              <a:rPr lang="en-US" altLang="zh-CN" sz="1800" dirty="0"/>
              <a:t>}</a:t>
            </a:r>
            <a:endParaRPr lang="zh-CN" altLang="zh-CN" sz="1800" dirty="0"/>
          </a:p>
          <a:p>
            <a:pPr marL="0" indent="0">
              <a:lnSpc>
                <a:spcPts val="3000"/>
              </a:lnSpc>
              <a:buNone/>
            </a:pPr>
            <a:r>
              <a:rPr lang="zh-CN" altLang="zh-CN" sz="2000" dirty="0"/>
              <a:t>不难证明，</a:t>
            </a:r>
            <a:r>
              <a:rPr lang="en-US" altLang="zh-CN" sz="2000" dirty="0" err="1">
                <a:solidFill>
                  <a:srgbClr val="0000FF"/>
                </a:solidFill>
              </a:rPr>
              <a:t>Cust</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a:t>
            </a:r>
            <a:r>
              <a:rPr lang="en-US" altLang="zh-CN" sz="2000" dirty="0" err="1">
                <a:solidFill>
                  <a:srgbClr val="0000FF"/>
                </a:solidFill>
              </a:rPr>
              <a:t>PressBook</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a:t>
            </a:r>
            <a:r>
              <a:rPr lang="en-US" altLang="zh-CN" sz="2000" dirty="0">
                <a:solidFill>
                  <a:srgbClr val="0000FF"/>
                </a:solidFill>
              </a:rPr>
              <a:t>Buy</a:t>
            </a:r>
            <a:r>
              <a:rPr lang="zh-CN" altLang="zh-CN" sz="2000" dirty="0">
                <a:solidFill>
                  <a:srgbClr val="0000FF"/>
                </a:solidFill>
              </a:rPr>
              <a:t>∈</a:t>
            </a:r>
            <a:r>
              <a:rPr lang="en-US" altLang="zh-CN" sz="2000" dirty="0">
                <a:solidFill>
                  <a:srgbClr val="0000FF"/>
                </a:solidFill>
              </a:rPr>
              <a:t>2NF</a:t>
            </a:r>
            <a:r>
              <a:rPr lang="zh-CN" altLang="zh-CN" sz="2000" dirty="0" smtClean="0"/>
              <a:t>。</a:t>
            </a:r>
            <a:endParaRPr lang="zh-CN" altLang="zh-CN" sz="2000" dirty="0"/>
          </a:p>
        </p:txBody>
      </p:sp>
      <p:sp>
        <p:nvSpPr>
          <p:cNvPr id="10"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00226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3596334" cy="706090"/>
          </a:xfrm>
        </p:spPr>
        <p:txBody>
          <a:bodyPr/>
          <a:lstStyle/>
          <a:p>
            <a:r>
              <a:rPr lang="en-US" altLang="zh-CN" dirty="0"/>
              <a:t>6.2.3 </a:t>
            </a:r>
            <a:r>
              <a:rPr lang="zh-CN" altLang="zh-CN" dirty="0">
                <a:solidFill>
                  <a:srgbClr val="0000FF"/>
                </a:solidFill>
              </a:rPr>
              <a:t>第二范式</a:t>
            </a:r>
            <a:endParaRPr lang="zh-CN" altLang="en-US" dirty="0">
              <a:solidFill>
                <a:srgbClr val="0000FF"/>
              </a:solidFill>
            </a:endParaRPr>
          </a:p>
        </p:txBody>
      </p:sp>
      <p:sp>
        <p:nvSpPr>
          <p:cNvPr id="3" name="文本占位符 2"/>
          <p:cNvSpPr>
            <a:spLocks noGrp="1"/>
          </p:cNvSpPr>
          <p:nvPr>
            <p:ph type="body" idx="1"/>
          </p:nvPr>
        </p:nvSpPr>
        <p:spPr>
          <a:xfrm>
            <a:off x="457200" y="1124744"/>
            <a:ext cx="3466728" cy="576064"/>
          </a:xfrm>
        </p:spPr>
        <p:txBody>
          <a:bodyPr/>
          <a:lstStyle/>
          <a:p>
            <a:r>
              <a:rPr lang="en-US" altLang="zh-CN" dirty="0" err="1"/>
              <a:t>BInfo</a:t>
            </a:r>
            <a:r>
              <a:rPr lang="zh-CN" altLang="zh-CN" dirty="0"/>
              <a:t>的</a:t>
            </a:r>
            <a:r>
              <a:rPr lang="en-US" altLang="zh-CN" dirty="0"/>
              <a:t>2NF</a:t>
            </a:r>
            <a:r>
              <a:rPr lang="zh-CN" altLang="zh-CN" dirty="0">
                <a:solidFill>
                  <a:srgbClr val="0000FF"/>
                </a:solidFill>
              </a:rPr>
              <a:t>分解</a:t>
            </a:r>
            <a:r>
              <a:rPr lang="zh-CN" altLang="zh-CN" dirty="0" smtClean="0">
                <a:solidFill>
                  <a:srgbClr val="0000FF"/>
                </a:solidFill>
              </a:rPr>
              <a:t>结果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19</a:t>
            </a:fld>
            <a:endParaRPr lang="zh-CN" altLang="en-US" dirty="0"/>
          </a:p>
        </p:txBody>
      </p:sp>
      <p:sp>
        <p:nvSpPr>
          <p:cNvPr id="9" name="Rectangle 25"/>
          <p:cNvSpPr>
            <a:spLocks noChangeArrowheads="1"/>
          </p:cNvSpPr>
          <p:nvPr/>
        </p:nvSpPr>
        <p:spPr bwMode="auto">
          <a:xfrm>
            <a:off x="2366411" y="1763985"/>
            <a:ext cx="2136507" cy="4401319"/>
          </a:xfrm>
          <a:prstGeom prst="rect">
            <a:avLst/>
          </a:prstGeom>
          <a:solidFill>
            <a:srgbClr val="FFFFFF"/>
          </a:solidFill>
          <a:ln w="12700">
            <a:solidFill>
              <a:srgbClr val="000000"/>
            </a:solidFill>
            <a:prstDash val="dash"/>
            <a:miter lim="800000"/>
            <a:headEnd/>
            <a:tailEnd/>
          </a:ln>
        </p:spPr>
        <p:txBody>
          <a:bodyPr rot="0" vert="horz" wrap="square" lIns="0" tIns="28804" rIns="0" bIns="28804" anchor="t" anchorCtr="0" upright="1">
            <a:noAutofit/>
          </a:bodyPr>
          <a:lstStyle/>
          <a:p>
            <a:pPr indent="255905" algn="just">
              <a:lnSpc>
                <a:spcPts val="30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10" name="Rectangle 25"/>
          <p:cNvSpPr>
            <a:spLocks noChangeArrowheads="1"/>
          </p:cNvSpPr>
          <p:nvPr/>
        </p:nvSpPr>
        <p:spPr bwMode="auto">
          <a:xfrm>
            <a:off x="3600836" y="2071584"/>
            <a:ext cx="5225960" cy="3078144"/>
          </a:xfrm>
          <a:prstGeom prst="rect">
            <a:avLst/>
          </a:prstGeom>
          <a:solidFill>
            <a:srgbClr val="FFFFFF">
              <a:alpha val="0"/>
            </a:srgbClr>
          </a:solidFill>
          <a:ln w="12700">
            <a:solidFill>
              <a:srgbClr val="000000"/>
            </a:solidFill>
            <a:prstDash val="dash"/>
            <a:miter lim="800000"/>
            <a:headEnd/>
            <a:tailEnd/>
          </a:ln>
        </p:spPr>
        <p:txBody>
          <a:bodyPr rot="0" vert="horz" wrap="square" lIns="0" tIns="28804" rIns="0" bIns="28804" anchor="t" anchorCtr="0" upright="1">
            <a:noAutofit/>
          </a:bodyPr>
          <a:lstStyle/>
          <a:p>
            <a:pPr indent="255905" algn="just">
              <a:lnSpc>
                <a:spcPts val="30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11" name="Rectangle 25"/>
          <p:cNvSpPr>
            <a:spLocks noChangeArrowheads="1"/>
          </p:cNvSpPr>
          <p:nvPr/>
        </p:nvSpPr>
        <p:spPr bwMode="auto">
          <a:xfrm>
            <a:off x="448605" y="2071584"/>
            <a:ext cx="2821544" cy="3078996"/>
          </a:xfrm>
          <a:prstGeom prst="rect">
            <a:avLst/>
          </a:prstGeom>
          <a:solidFill>
            <a:srgbClr val="FFFFFF">
              <a:alpha val="0"/>
            </a:srgbClr>
          </a:solidFill>
          <a:ln w="12700">
            <a:solidFill>
              <a:srgbClr val="000000"/>
            </a:solidFill>
            <a:prstDash val="dash"/>
            <a:miter lim="800000"/>
            <a:headEnd/>
            <a:tailEnd/>
          </a:ln>
        </p:spPr>
        <p:txBody>
          <a:bodyPr rot="0" vert="horz" wrap="square" lIns="0" tIns="28804" rIns="0" bIns="28804" anchor="t" anchorCtr="0" upright="1">
            <a:noAutofit/>
          </a:bodyPr>
          <a:lstStyle/>
          <a:p>
            <a:pPr indent="255905" algn="just">
              <a:lnSpc>
                <a:spcPts val="30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cxnSp>
        <p:nvCxnSpPr>
          <p:cNvPr id="12" name="Line 13"/>
          <p:cNvCxnSpPr/>
          <p:nvPr/>
        </p:nvCxnSpPr>
        <p:spPr bwMode="auto">
          <a:xfrm>
            <a:off x="1855985" y="3235428"/>
            <a:ext cx="915815" cy="16638"/>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3" name="Rectangle 14"/>
          <p:cNvSpPr>
            <a:spLocks noChangeArrowheads="1"/>
          </p:cNvSpPr>
          <p:nvPr/>
        </p:nvSpPr>
        <p:spPr bwMode="auto">
          <a:xfrm>
            <a:off x="770776" y="2262378"/>
            <a:ext cx="1085209" cy="2673558"/>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78740">
              <a:lnSpc>
                <a:spcPts val="3000"/>
              </a:lnSpc>
              <a:spcAft>
                <a:spcPts val="0"/>
              </a:spcAft>
            </a:pPr>
            <a:r>
              <a:rPr lang="en-US" sz="2000" dirty="0" err="1" smtClean="0">
                <a:effectLst/>
                <a:latin typeface="微软雅黑" pitchFamily="34" charset="-122"/>
                <a:ea typeface="微软雅黑" pitchFamily="34" charset="-122"/>
                <a:cs typeface="宋体"/>
              </a:rPr>
              <a:t>CName</a:t>
            </a:r>
            <a:endParaRPr lang="zh-CN" sz="2000" dirty="0">
              <a:effectLst/>
              <a:latin typeface="微软雅黑" pitchFamily="34" charset="-122"/>
              <a:ea typeface="微软雅黑" pitchFamily="34" charset="-122"/>
              <a:cs typeface="宋体"/>
            </a:endParaRPr>
          </a:p>
          <a:p>
            <a:pPr indent="78740">
              <a:lnSpc>
                <a:spcPts val="3000"/>
              </a:lnSpc>
              <a:spcAft>
                <a:spcPts val="0"/>
              </a:spcAft>
            </a:pPr>
            <a:r>
              <a:rPr lang="en-US" sz="2000" dirty="0" err="1">
                <a:effectLst/>
                <a:latin typeface="微软雅黑" pitchFamily="34" charset="-122"/>
                <a:ea typeface="微软雅黑" pitchFamily="34" charset="-122"/>
                <a:cs typeface="宋体"/>
              </a:rPr>
              <a:t>CSex</a:t>
            </a:r>
            <a:endParaRPr lang="zh-CN" sz="2000" dirty="0">
              <a:effectLst/>
              <a:latin typeface="微软雅黑" pitchFamily="34" charset="-122"/>
              <a:ea typeface="微软雅黑" pitchFamily="34" charset="-122"/>
              <a:cs typeface="宋体"/>
            </a:endParaRPr>
          </a:p>
          <a:p>
            <a:pPr indent="78740">
              <a:lnSpc>
                <a:spcPts val="3000"/>
              </a:lnSpc>
              <a:spcAft>
                <a:spcPts val="0"/>
              </a:spcAft>
            </a:pPr>
            <a:r>
              <a:rPr lang="en-US" sz="2000" dirty="0">
                <a:effectLst/>
                <a:latin typeface="微软雅黑" pitchFamily="34" charset="-122"/>
                <a:ea typeface="微软雅黑" pitchFamily="34" charset="-122"/>
                <a:cs typeface="宋体"/>
              </a:rPr>
              <a:t>Birth</a:t>
            </a:r>
            <a:endParaRPr lang="zh-CN" sz="2000" dirty="0">
              <a:effectLst/>
              <a:latin typeface="微软雅黑" pitchFamily="34" charset="-122"/>
              <a:ea typeface="微软雅黑" pitchFamily="34" charset="-122"/>
              <a:cs typeface="宋体"/>
            </a:endParaRPr>
          </a:p>
          <a:p>
            <a:pPr indent="78740">
              <a:lnSpc>
                <a:spcPts val="3000"/>
              </a:lnSpc>
              <a:spcAft>
                <a:spcPts val="0"/>
              </a:spcAft>
            </a:pPr>
            <a:r>
              <a:rPr lang="en-US" sz="2000" dirty="0">
                <a:effectLst/>
                <a:latin typeface="微软雅黑" pitchFamily="34" charset="-122"/>
                <a:ea typeface="微软雅黑" pitchFamily="34" charset="-122"/>
                <a:cs typeface="宋体"/>
              </a:rPr>
              <a:t>Marry</a:t>
            </a:r>
            <a:endParaRPr lang="zh-CN" sz="2000" dirty="0">
              <a:effectLst/>
              <a:latin typeface="微软雅黑" pitchFamily="34" charset="-122"/>
              <a:ea typeface="微软雅黑" pitchFamily="34" charset="-122"/>
              <a:cs typeface="宋体"/>
            </a:endParaRPr>
          </a:p>
          <a:p>
            <a:pPr indent="78740">
              <a:lnSpc>
                <a:spcPts val="3000"/>
              </a:lnSpc>
              <a:spcAft>
                <a:spcPts val="0"/>
              </a:spcAft>
            </a:pPr>
            <a:r>
              <a:rPr lang="en-US" sz="2000" dirty="0">
                <a:effectLst/>
                <a:latin typeface="微软雅黑" pitchFamily="34" charset="-122"/>
                <a:ea typeface="微软雅黑" pitchFamily="34" charset="-122"/>
                <a:cs typeface="宋体"/>
              </a:rPr>
              <a:t>Photo</a:t>
            </a:r>
            <a:endParaRPr lang="zh-CN" sz="2000" dirty="0">
              <a:effectLst/>
              <a:latin typeface="微软雅黑" pitchFamily="34" charset="-122"/>
              <a:ea typeface="微软雅黑" pitchFamily="34" charset="-122"/>
              <a:cs typeface="宋体"/>
            </a:endParaRPr>
          </a:p>
          <a:p>
            <a:pPr indent="78740">
              <a:lnSpc>
                <a:spcPts val="3000"/>
              </a:lnSpc>
              <a:spcAft>
                <a:spcPts val="0"/>
              </a:spcAft>
            </a:pPr>
            <a:r>
              <a:rPr lang="en-US" sz="2000" dirty="0">
                <a:effectLst/>
                <a:latin typeface="微软雅黑" pitchFamily="34" charset="-122"/>
                <a:ea typeface="微软雅黑" pitchFamily="34" charset="-122"/>
                <a:cs typeface="宋体"/>
              </a:rPr>
              <a:t>Email</a:t>
            </a:r>
            <a:endParaRPr lang="zh-CN" sz="2000" dirty="0">
              <a:effectLst/>
              <a:latin typeface="微软雅黑" pitchFamily="34" charset="-122"/>
              <a:ea typeface="微软雅黑" pitchFamily="34" charset="-122"/>
              <a:cs typeface="宋体"/>
            </a:endParaRPr>
          </a:p>
        </p:txBody>
      </p:sp>
      <p:sp>
        <p:nvSpPr>
          <p:cNvPr id="14" name="Rectangle 15"/>
          <p:cNvSpPr>
            <a:spLocks noChangeArrowheads="1"/>
          </p:cNvSpPr>
          <p:nvPr/>
        </p:nvSpPr>
        <p:spPr bwMode="auto">
          <a:xfrm>
            <a:off x="2615632" y="2262376"/>
            <a:ext cx="1654944" cy="1719588"/>
          </a:xfrm>
          <a:prstGeom prst="rect">
            <a:avLst/>
          </a:prstGeom>
          <a:solidFill>
            <a:srgbClr val="FFFFFF">
              <a:alpha val="0"/>
            </a:srgbClr>
          </a:solidFill>
          <a:ln w="12700">
            <a:solidFill>
              <a:srgbClr val="000000"/>
            </a:solidFill>
            <a:miter lim="800000"/>
            <a:headEnd/>
            <a:tailEnd/>
          </a:ln>
        </p:spPr>
        <p:txBody>
          <a:bodyPr rot="0" vert="horz" wrap="square" lIns="0" tIns="28804" rIns="0" bIns="28804" anchor="t" anchorCtr="0" upright="1">
            <a:noAutofit/>
          </a:bodyPr>
          <a:lstStyle/>
          <a:p>
            <a:pPr indent="128270" algn="ctr">
              <a:lnSpc>
                <a:spcPts val="3000"/>
              </a:lnSpc>
              <a:spcAft>
                <a:spcPts val="0"/>
              </a:spcAft>
            </a:pPr>
            <a:r>
              <a:rPr lang="en-US" sz="2000" b="1">
                <a:solidFill>
                  <a:srgbClr val="000000"/>
                </a:solidFill>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indent="128270" algn="ctr">
              <a:lnSpc>
                <a:spcPts val="30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algn="ctr">
              <a:lnSpc>
                <a:spcPts val="3000"/>
              </a:lnSpc>
              <a:spcAft>
                <a:spcPts val="0"/>
              </a:spcAft>
            </a:pPr>
            <a:r>
              <a:rPr lang="en-US" sz="2000" b="1">
                <a:solidFill>
                  <a:srgbClr val="000000"/>
                </a:solidFill>
                <a:effectLst/>
                <a:latin typeface="微软雅黑" pitchFamily="34" charset="-122"/>
                <a:ea typeface="微软雅黑" pitchFamily="34" charset="-122"/>
                <a:cs typeface="宋体"/>
              </a:rPr>
              <a:t>CNo     BNo</a:t>
            </a:r>
            <a:endParaRPr lang="zh-CN" sz="2000">
              <a:effectLst/>
              <a:latin typeface="微软雅黑" pitchFamily="34" charset="-122"/>
              <a:ea typeface="微软雅黑" pitchFamily="34" charset="-122"/>
              <a:cs typeface="宋体"/>
            </a:endParaRPr>
          </a:p>
        </p:txBody>
      </p:sp>
      <p:cxnSp>
        <p:nvCxnSpPr>
          <p:cNvPr id="15" name="Line 16"/>
          <p:cNvCxnSpPr/>
          <p:nvPr/>
        </p:nvCxnSpPr>
        <p:spPr bwMode="auto">
          <a:xfrm flipH="1">
            <a:off x="4139952" y="3252066"/>
            <a:ext cx="78175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6" name="Rectangle 17"/>
          <p:cNvSpPr>
            <a:spLocks noChangeArrowheads="1"/>
          </p:cNvSpPr>
          <p:nvPr/>
        </p:nvSpPr>
        <p:spPr bwMode="auto">
          <a:xfrm>
            <a:off x="7549942" y="2262376"/>
            <a:ext cx="1067122" cy="255431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algn="ctr">
              <a:lnSpc>
                <a:spcPts val="3000"/>
              </a:lnSpc>
              <a:spcAft>
                <a:spcPts val="0"/>
              </a:spcAft>
            </a:pPr>
            <a:r>
              <a:rPr lang="en-US" sz="2000">
                <a:effectLst/>
                <a:latin typeface="微软雅黑" pitchFamily="34" charset="-122"/>
                <a:ea typeface="微软雅黑" pitchFamily="34" charset="-122"/>
                <a:cs typeface="宋体"/>
              </a:rPr>
              <a:t>PName</a:t>
            </a:r>
            <a:endParaRPr lang="zh-CN" sz="2000">
              <a:effectLst/>
              <a:latin typeface="微软雅黑" pitchFamily="34" charset="-122"/>
              <a:ea typeface="微软雅黑" pitchFamily="34" charset="-122"/>
              <a:cs typeface="宋体"/>
            </a:endParaRPr>
          </a:p>
          <a:p>
            <a:pPr algn="ctr">
              <a:lnSpc>
                <a:spcPts val="3000"/>
              </a:lnSpc>
              <a:spcAft>
                <a:spcPts val="0"/>
              </a:spcAft>
            </a:pPr>
            <a:r>
              <a:rPr lang="en-US" sz="2000">
                <a:effectLst/>
                <a:latin typeface="微软雅黑" pitchFamily="34" charset="-122"/>
                <a:ea typeface="微软雅黑" pitchFamily="34" charset="-122"/>
                <a:cs typeface="宋体"/>
              </a:rPr>
              <a:t>PCode</a:t>
            </a:r>
            <a:endParaRPr lang="zh-CN" sz="2000">
              <a:effectLst/>
              <a:latin typeface="微软雅黑" pitchFamily="34" charset="-122"/>
              <a:ea typeface="微软雅黑" pitchFamily="34" charset="-122"/>
              <a:cs typeface="宋体"/>
            </a:endParaRPr>
          </a:p>
          <a:p>
            <a:pPr algn="ctr">
              <a:lnSpc>
                <a:spcPts val="3000"/>
              </a:lnSpc>
              <a:spcAft>
                <a:spcPts val="0"/>
              </a:spcAft>
            </a:pPr>
            <a:r>
              <a:rPr lang="en-US" sz="2000">
                <a:effectLst/>
                <a:latin typeface="微软雅黑" pitchFamily="34" charset="-122"/>
                <a:ea typeface="微软雅黑" pitchFamily="34" charset="-122"/>
                <a:cs typeface="宋体"/>
              </a:rPr>
              <a:t>PAddr</a:t>
            </a:r>
            <a:endParaRPr lang="zh-CN" sz="2000">
              <a:effectLst/>
              <a:latin typeface="微软雅黑" pitchFamily="34" charset="-122"/>
              <a:ea typeface="微软雅黑" pitchFamily="34" charset="-122"/>
              <a:cs typeface="宋体"/>
            </a:endParaRPr>
          </a:p>
          <a:p>
            <a:pPr algn="ctr">
              <a:lnSpc>
                <a:spcPts val="3000"/>
              </a:lnSpc>
              <a:spcAft>
                <a:spcPts val="0"/>
              </a:spcAft>
            </a:pPr>
            <a:r>
              <a:rPr lang="en-US" sz="2000">
                <a:effectLst/>
                <a:latin typeface="微软雅黑" pitchFamily="34" charset="-122"/>
                <a:ea typeface="微软雅黑" pitchFamily="34" charset="-122"/>
                <a:cs typeface="宋体"/>
              </a:rPr>
              <a:t>Phone</a:t>
            </a:r>
            <a:endParaRPr lang="zh-CN" sz="2000">
              <a:effectLst/>
              <a:latin typeface="微软雅黑" pitchFamily="34" charset="-122"/>
              <a:ea typeface="微软雅黑" pitchFamily="34" charset="-122"/>
              <a:cs typeface="宋体"/>
            </a:endParaRPr>
          </a:p>
          <a:p>
            <a:pPr algn="ctr">
              <a:lnSpc>
                <a:spcPts val="3000"/>
              </a:lnSpc>
              <a:spcAft>
                <a:spcPts val="0"/>
              </a:spcAft>
            </a:pPr>
            <a:r>
              <a:rPr lang="en-US" sz="2000">
                <a:effectLst/>
                <a:latin typeface="微软雅黑" pitchFamily="34" charset="-122"/>
                <a:ea typeface="微软雅黑" pitchFamily="34" charset="-122"/>
                <a:cs typeface="宋体"/>
              </a:rPr>
              <a:t>Email</a:t>
            </a:r>
            <a:endParaRPr lang="zh-CN" sz="2000">
              <a:effectLst/>
              <a:latin typeface="微软雅黑" pitchFamily="34" charset="-122"/>
              <a:ea typeface="微软雅黑" pitchFamily="34" charset="-122"/>
              <a:cs typeface="宋体"/>
            </a:endParaRPr>
          </a:p>
          <a:p>
            <a:pPr algn="ctr">
              <a:lnSpc>
                <a:spcPts val="3000"/>
              </a:lnSpc>
              <a:spcAft>
                <a:spcPts val="0"/>
              </a:spcAft>
            </a:pPr>
            <a:r>
              <a:rPr lang="en-US" sz="2000">
                <a:effectLst/>
                <a:latin typeface="微软雅黑" pitchFamily="34" charset="-122"/>
                <a:ea typeface="微软雅黑" pitchFamily="34" charset="-122"/>
                <a:cs typeface="宋体"/>
              </a:rPr>
              <a:t>HPage</a:t>
            </a:r>
            <a:endParaRPr lang="zh-CN" sz="2000">
              <a:effectLst/>
              <a:latin typeface="微软雅黑" pitchFamily="34" charset="-122"/>
              <a:ea typeface="微软雅黑" pitchFamily="34" charset="-122"/>
              <a:cs typeface="宋体"/>
            </a:endParaRPr>
          </a:p>
        </p:txBody>
      </p:sp>
      <p:sp>
        <p:nvSpPr>
          <p:cNvPr id="17" name="Rectangle 18"/>
          <p:cNvSpPr>
            <a:spLocks noChangeArrowheads="1"/>
          </p:cNvSpPr>
          <p:nvPr/>
        </p:nvSpPr>
        <p:spPr bwMode="auto">
          <a:xfrm>
            <a:off x="4921701" y="2262378"/>
            <a:ext cx="2314595" cy="2673558"/>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88900">
              <a:lnSpc>
                <a:spcPts val="3000"/>
              </a:lnSpc>
              <a:spcAft>
                <a:spcPts val="0"/>
              </a:spcAft>
            </a:pPr>
            <a:r>
              <a:rPr lang="en-US" sz="2000" dirty="0" err="1" smtClean="0">
                <a:effectLst/>
                <a:latin typeface="微软雅黑" pitchFamily="34" charset="-122"/>
                <a:ea typeface="微软雅黑" pitchFamily="34" charset="-122"/>
                <a:cs typeface="宋体"/>
              </a:rPr>
              <a:t>BName</a:t>
            </a:r>
            <a:endParaRPr lang="zh-CN" sz="2000" dirty="0">
              <a:effectLst/>
              <a:latin typeface="微软雅黑" pitchFamily="34" charset="-122"/>
              <a:ea typeface="微软雅黑" pitchFamily="34" charset="-122"/>
              <a:cs typeface="宋体"/>
            </a:endParaRPr>
          </a:p>
          <a:p>
            <a:pPr indent="88900">
              <a:lnSpc>
                <a:spcPts val="3000"/>
              </a:lnSpc>
              <a:spcAft>
                <a:spcPts val="0"/>
              </a:spcAft>
            </a:pPr>
            <a:r>
              <a:rPr lang="en-US" sz="2000" dirty="0">
                <a:effectLst/>
                <a:latin typeface="微软雅黑" pitchFamily="34" charset="-122"/>
                <a:ea typeface="微软雅黑" pitchFamily="34" charset="-122"/>
                <a:cs typeface="宋体"/>
              </a:rPr>
              <a:t>Author</a:t>
            </a:r>
            <a:endParaRPr lang="zh-CN" sz="2000" dirty="0">
              <a:effectLst/>
              <a:latin typeface="微软雅黑" pitchFamily="34" charset="-122"/>
              <a:ea typeface="微软雅黑" pitchFamily="34" charset="-122"/>
              <a:cs typeface="宋体"/>
            </a:endParaRPr>
          </a:p>
          <a:p>
            <a:pPr indent="88900">
              <a:lnSpc>
                <a:spcPts val="3000"/>
              </a:lnSpc>
              <a:spcAft>
                <a:spcPts val="0"/>
              </a:spcAft>
            </a:pPr>
            <a:r>
              <a:rPr lang="en-US" sz="2000" dirty="0" err="1" smtClean="0">
                <a:effectLst/>
                <a:latin typeface="微软雅黑" pitchFamily="34" charset="-122"/>
                <a:ea typeface="微软雅黑" pitchFamily="34" charset="-122"/>
                <a:cs typeface="宋体"/>
              </a:rPr>
              <a:t>EditNo</a:t>
            </a:r>
            <a:r>
              <a:rPr lang="en-US" sz="2000" dirty="0" smtClean="0">
                <a:effectLst/>
                <a:latin typeface="微软雅黑" pitchFamily="34" charset="-122"/>
                <a:ea typeface="微软雅黑" pitchFamily="34" charset="-122"/>
                <a:cs typeface="宋体"/>
              </a:rPr>
              <a:t>      </a:t>
            </a:r>
            <a:r>
              <a:rPr lang="en-US" sz="2000" dirty="0" err="1" smtClean="0">
                <a:effectLst/>
                <a:latin typeface="微软雅黑" pitchFamily="34" charset="-122"/>
                <a:ea typeface="微软雅黑" pitchFamily="34" charset="-122"/>
                <a:cs typeface="宋体"/>
              </a:rPr>
              <a:t>PNo</a:t>
            </a:r>
            <a:endParaRPr lang="zh-CN" sz="2000" dirty="0">
              <a:effectLst/>
              <a:latin typeface="微软雅黑" pitchFamily="34" charset="-122"/>
              <a:ea typeface="微软雅黑" pitchFamily="34" charset="-122"/>
              <a:cs typeface="宋体"/>
            </a:endParaRPr>
          </a:p>
          <a:p>
            <a:pPr indent="88900">
              <a:lnSpc>
                <a:spcPts val="3000"/>
              </a:lnSpc>
              <a:spcAft>
                <a:spcPts val="0"/>
              </a:spcAft>
            </a:pPr>
            <a:r>
              <a:rPr lang="en-US" sz="2000" dirty="0">
                <a:effectLst/>
                <a:latin typeface="微软雅黑" pitchFamily="34" charset="-122"/>
                <a:ea typeface="微软雅黑" pitchFamily="34" charset="-122"/>
                <a:cs typeface="宋体"/>
              </a:rPr>
              <a:t>Price</a:t>
            </a:r>
            <a:endParaRPr lang="zh-CN" sz="2000" dirty="0">
              <a:effectLst/>
              <a:latin typeface="微软雅黑" pitchFamily="34" charset="-122"/>
              <a:ea typeface="微软雅黑" pitchFamily="34" charset="-122"/>
              <a:cs typeface="宋体"/>
            </a:endParaRPr>
          </a:p>
          <a:p>
            <a:pPr indent="88900">
              <a:lnSpc>
                <a:spcPts val="3000"/>
              </a:lnSpc>
              <a:spcAft>
                <a:spcPts val="0"/>
              </a:spcAft>
            </a:pPr>
            <a:r>
              <a:rPr lang="en-US" sz="2000" dirty="0" err="1">
                <a:effectLst/>
                <a:latin typeface="微软雅黑" pitchFamily="34" charset="-122"/>
                <a:ea typeface="微软雅黑" pitchFamily="34" charset="-122"/>
                <a:cs typeface="宋体"/>
              </a:rPr>
              <a:t>PPrice</a:t>
            </a:r>
            <a:endParaRPr lang="zh-CN" sz="2000" dirty="0">
              <a:effectLst/>
              <a:latin typeface="微软雅黑" pitchFamily="34" charset="-122"/>
              <a:ea typeface="微软雅黑" pitchFamily="34" charset="-122"/>
              <a:cs typeface="宋体"/>
            </a:endParaRPr>
          </a:p>
          <a:p>
            <a:pPr indent="88900">
              <a:lnSpc>
                <a:spcPts val="3000"/>
              </a:lnSpc>
              <a:spcAft>
                <a:spcPts val="0"/>
              </a:spcAft>
            </a:pPr>
            <a:r>
              <a:rPr lang="en-US" sz="2000" dirty="0" err="1">
                <a:effectLst/>
                <a:latin typeface="微软雅黑" pitchFamily="34" charset="-122"/>
                <a:ea typeface="微软雅黑" pitchFamily="34" charset="-122"/>
                <a:cs typeface="宋体"/>
              </a:rPr>
              <a:t>SPrice</a:t>
            </a:r>
            <a:endParaRPr lang="zh-CN" sz="2000" dirty="0">
              <a:effectLst/>
              <a:latin typeface="微软雅黑" pitchFamily="34" charset="-122"/>
              <a:ea typeface="微软雅黑" pitchFamily="34" charset="-122"/>
              <a:cs typeface="宋体"/>
            </a:endParaRPr>
          </a:p>
        </p:txBody>
      </p:sp>
      <p:sp>
        <p:nvSpPr>
          <p:cNvPr id="18" name="Rectangle 19"/>
          <p:cNvSpPr>
            <a:spLocks noChangeArrowheads="1"/>
          </p:cNvSpPr>
          <p:nvPr/>
        </p:nvSpPr>
        <p:spPr bwMode="auto">
          <a:xfrm>
            <a:off x="2832674" y="5460620"/>
            <a:ext cx="1220860" cy="488660"/>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algn="ctr">
              <a:lnSpc>
                <a:spcPts val="3000"/>
              </a:lnSpc>
              <a:spcAft>
                <a:spcPts val="0"/>
              </a:spcAft>
            </a:pPr>
            <a:r>
              <a:rPr lang="en-US" sz="2000" dirty="0" err="1">
                <a:solidFill>
                  <a:srgbClr val="000000"/>
                </a:solidFill>
                <a:effectLst/>
                <a:latin typeface="微软雅黑" pitchFamily="34" charset="-122"/>
                <a:ea typeface="微软雅黑" pitchFamily="34" charset="-122"/>
                <a:cs typeface="宋体"/>
              </a:rPr>
              <a:t>PDate</a:t>
            </a:r>
            <a:endParaRPr lang="zh-CN" sz="2000" dirty="0">
              <a:effectLst/>
              <a:latin typeface="微软雅黑" pitchFamily="34" charset="-122"/>
              <a:ea typeface="微软雅黑" pitchFamily="34" charset="-122"/>
              <a:cs typeface="宋体"/>
            </a:endParaRPr>
          </a:p>
        </p:txBody>
      </p:sp>
      <p:cxnSp>
        <p:nvCxnSpPr>
          <p:cNvPr id="19" name="Line 20"/>
          <p:cNvCxnSpPr/>
          <p:nvPr/>
        </p:nvCxnSpPr>
        <p:spPr bwMode="auto">
          <a:xfrm flipV="1">
            <a:off x="3443104" y="3981963"/>
            <a:ext cx="0" cy="1478657"/>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20" name="Line 21"/>
          <p:cNvCxnSpPr/>
          <p:nvPr/>
        </p:nvCxnSpPr>
        <p:spPr bwMode="auto">
          <a:xfrm flipH="1">
            <a:off x="1855985" y="2748903"/>
            <a:ext cx="732516" cy="0"/>
          </a:xfrm>
          <a:prstGeom prst="line">
            <a:avLst/>
          </a:prstGeom>
          <a:noFill/>
          <a:ln w="1270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cxnSp>
        <p:nvCxnSpPr>
          <p:cNvPr id="21" name="Line 22"/>
          <p:cNvCxnSpPr/>
          <p:nvPr/>
        </p:nvCxnSpPr>
        <p:spPr bwMode="auto">
          <a:xfrm flipH="1" flipV="1">
            <a:off x="4270576" y="2715401"/>
            <a:ext cx="651125" cy="0"/>
          </a:xfrm>
          <a:prstGeom prst="line">
            <a:avLst/>
          </a:prstGeom>
          <a:noFill/>
          <a:ln w="12700">
            <a:solidFill>
              <a:srgbClr val="000000"/>
            </a:solidFill>
            <a:prstDash val="dash"/>
            <a:round/>
            <a:headEnd type="triangle" w="med" len="med"/>
            <a:tailEnd/>
          </a:ln>
          <a:extLst>
            <a:ext uri="{909E8E84-426E-40DD-AFC4-6F175D3DCCD1}">
              <a14:hiddenFill xmlns:a14="http://schemas.microsoft.com/office/drawing/2010/main">
                <a:noFill/>
              </a14:hiddenFill>
            </a:ext>
          </a:extLst>
        </p:spPr>
      </p:cxnSp>
      <p:cxnSp>
        <p:nvCxnSpPr>
          <p:cNvPr id="22" name="Line 23"/>
          <p:cNvCxnSpPr/>
          <p:nvPr/>
        </p:nvCxnSpPr>
        <p:spPr bwMode="auto">
          <a:xfrm flipH="1">
            <a:off x="6804248" y="3278301"/>
            <a:ext cx="745694"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26" name="Rectangle 2"/>
          <p:cNvSpPr>
            <a:spLocks noChangeArrowheads="1"/>
          </p:cNvSpPr>
          <p:nvPr/>
        </p:nvSpPr>
        <p:spPr bwMode="auto">
          <a:xfrm>
            <a:off x="4487616" y="188640"/>
            <a:ext cx="45488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zh-CN" altLang="en-US" b="0" i="0" u="none" strike="noStrike" cap="none" normalizeH="0" baseline="0" dirty="0" smtClean="0">
                <a:ln>
                  <a:noFill/>
                </a:ln>
                <a:solidFill>
                  <a:srgbClr val="0000FF"/>
                </a:solidFill>
                <a:effectLst/>
                <a:latin typeface="微软雅黑" pitchFamily="34" charset="-122"/>
                <a:ea typeface="微软雅黑" pitchFamily="34" charset="-122"/>
                <a:cs typeface="Times New Roman" pitchFamily="18" charset="0"/>
              </a:rPr>
              <a:t>提示：</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在进行</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2NF</a:t>
            </a: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分解时，一般需要把包含候选键的属性集合及其相应的函数依赖单独分解出来，因为它是连接的基本条件</a:t>
            </a:r>
            <a:endPar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endParaRPr>
          </a:p>
          <a:p>
            <a:pPr lvl="0" fontAlgn="base">
              <a:spcBef>
                <a:spcPct val="0"/>
              </a:spcBef>
              <a:spcAft>
                <a:spcPct val="0"/>
              </a:spcAft>
            </a:pPr>
            <a:r>
              <a:rPr kumimoji="0" lang="zh-CN" altLang="en-US"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例如：</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en-US" altLang="zh-CN" b="0" i="0" u="none" strike="noStrike" cap="none" normalizeH="0" baseline="0" dirty="0" err="1" smtClean="0">
                <a:ln>
                  <a:noFill/>
                </a:ln>
                <a:solidFill>
                  <a:schemeClr val="tx1"/>
                </a:solidFill>
                <a:effectLst/>
                <a:latin typeface="微软雅黑" pitchFamily="34" charset="-122"/>
                <a:ea typeface="微软雅黑" pitchFamily="34" charset="-122"/>
                <a:cs typeface="Times New Roman" pitchFamily="18" charset="0"/>
              </a:rPr>
              <a:t>BNo,CNo</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r>
              <a:rPr lang="en-US" altLang="zh-CN" dirty="0" err="1" smtClean="0">
                <a:latin typeface="微软雅黑" pitchFamily="34" charset="-122"/>
                <a:ea typeface="微软雅黑" pitchFamily="34" charset="-122"/>
                <a:cs typeface="Times New Roman" pitchFamily="18" charset="0"/>
              </a:rPr>
              <a:t>PDate</a:t>
            </a:r>
            <a:r>
              <a:rPr lang="zh-CN" altLang="en-US" dirty="0">
                <a:latin typeface="微软雅黑" pitchFamily="34" charset="-122"/>
                <a:ea typeface="微软雅黑" pitchFamily="34" charset="-122"/>
                <a:cs typeface="Times New Roman" pitchFamily="18" charset="0"/>
              </a:rPr>
              <a:t>，尽管它存在一定的数据冗余</a:t>
            </a:r>
            <a:r>
              <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 </a:t>
            </a:r>
            <a:endParaRPr kumimoji="0" lang="en-US" altLang="zh-CN" b="0" i="0" u="none" strike="noStrike" cap="none" normalizeH="0" baseline="0" dirty="0" smtClean="0">
              <a:ln>
                <a:noFill/>
              </a:ln>
              <a:solidFill>
                <a:schemeClr val="tx1"/>
              </a:solidFill>
              <a:effectLst/>
              <a:latin typeface="微软雅黑" pitchFamily="34" charset="-122"/>
              <a:ea typeface="微软雅黑" pitchFamily="34" charset="-122"/>
              <a:cs typeface="宋体" pitchFamily="2" charset="-122"/>
            </a:endParaRPr>
          </a:p>
        </p:txBody>
      </p:sp>
      <p:graphicFrame>
        <p:nvGraphicFramePr>
          <p:cNvPr id="27" name="对象 26"/>
          <p:cNvGraphicFramePr>
            <a:graphicFrameLocks noChangeAspect="1"/>
          </p:cNvGraphicFramePr>
          <p:nvPr>
            <p:extLst>
              <p:ext uri="{D42A27DB-BD31-4B8C-83A1-F6EECF244321}">
                <p14:modId xmlns:p14="http://schemas.microsoft.com/office/powerpoint/2010/main" val="130770208"/>
              </p:ext>
            </p:extLst>
          </p:nvPr>
        </p:nvGraphicFramePr>
        <p:xfrm>
          <a:off x="6496275" y="1052736"/>
          <a:ext cx="700165" cy="320128"/>
        </p:xfrm>
        <a:graphic>
          <a:graphicData uri="http://schemas.openxmlformats.org/presentationml/2006/ole">
            <mc:AlternateContent xmlns:mc="http://schemas.openxmlformats.org/markup-compatibility/2006">
              <mc:Choice xmlns:v="urn:schemas-microsoft-com:vml" Requires="v">
                <p:oleObj spid="_x0000_s6386" name="公式" r:id="rId3" imgW="368140" imgH="203112" progId="Equation.3">
                  <p:embed/>
                </p:oleObj>
              </mc:Choice>
              <mc:Fallback>
                <p:oleObj name="公式" r:id="rId3" imgW="368140"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275" y="1052736"/>
                        <a:ext cx="700165" cy="320128"/>
                      </a:xfrm>
                      <a:prstGeom prst="rect">
                        <a:avLst/>
                      </a:prstGeom>
                      <a:noFill/>
                    </p:spPr>
                  </p:pic>
                </p:oleObj>
              </mc:Fallback>
            </mc:AlternateContent>
          </a:graphicData>
        </a:graphic>
      </p:graphicFrame>
    </p:spTree>
    <p:extLst>
      <p:ext uri="{BB962C8B-B14F-4D97-AF65-F5344CB8AC3E}">
        <p14:creationId xmlns:p14="http://schemas.microsoft.com/office/powerpoint/2010/main" val="1614290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6.2.3 </a:t>
            </a:r>
            <a:r>
              <a:rPr lang="zh-CN" altLang="zh-CN" dirty="0">
                <a:solidFill>
                  <a:srgbClr val="0000FF"/>
                </a:solidFill>
              </a:rPr>
              <a:t>第二范式</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20</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例</a:t>
            </a:r>
            <a:r>
              <a:rPr lang="en-US" altLang="zh-CN" sz="2000" dirty="0">
                <a:solidFill>
                  <a:srgbClr val="0000FF"/>
                </a:solidFill>
              </a:rPr>
              <a:t>6.4  </a:t>
            </a:r>
            <a:r>
              <a:rPr lang="en-US" altLang="zh-CN" sz="2000" dirty="0" smtClean="0"/>
              <a:t>R(U,F)</a:t>
            </a:r>
            <a:r>
              <a:rPr lang="zh-CN" altLang="zh-CN" sz="2000" dirty="0" smtClean="0"/>
              <a:t>：</a:t>
            </a:r>
            <a:r>
              <a:rPr lang="en-US" altLang="zh-CN" sz="2000" dirty="0" smtClean="0"/>
              <a:t>U</a:t>
            </a:r>
            <a:r>
              <a:rPr lang="en-US" altLang="zh-CN" sz="2000" dirty="0"/>
              <a:t>={ A,B,C,D,E }</a:t>
            </a:r>
            <a:r>
              <a:rPr lang="zh-CN" altLang="zh-CN" sz="2000" dirty="0"/>
              <a:t>；</a:t>
            </a:r>
            <a:r>
              <a:rPr lang="en-US" altLang="zh-CN" sz="2000" dirty="0"/>
              <a:t>F={ AD</a:t>
            </a:r>
            <a:r>
              <a:rPr lang="zh-CN" altLang="zh-CN" sz="2000" dirty="0"/>
              <a:t>→</a:t>
            </a:r>
            <a:r>
              <a:rPr lang="en-US" altLang="zh-CN" sz="2000" dirty="0"/>
              <a:t>E,A</a:t>
            </a:r>
            <a:r>
              <a:rPr lang="zh-CN" altLang="zh-CN" sz="2000" dirty="0"/>
              <a:t>→</a:t>
            </a:r>
            <a:r>
              <a:rPr lang="en-US" altLang="zh-CN" sz="2000" dirty="0"/>
              <a:t>B,B</a:t>
            </a:r>
            <a:r>
              <a:rPr lang="zh-CN" altLang="zh-CN" sz="2000" dirty="0"/>
              <a:t>→</a:t>
            </a:r>
            <a:r>
              <a:rPr lang="en-US" altLang="zh-CN" sz="2000" dirty="0"/>
              <a:t>C }</a:t>
            </a:r>
            <a:r>
              <a:rPr lang="zh-CN" altLang="zh-CN" sz="2000" dirty="0"/>
              <a:t>。</a:t>
            </a:r>
          </a:p>
          <a:p>
            <a:pPr marL="360363" indent="0">
              <a:buNone/>
            </a:pPr>
            <a:r>
              <a:rPr lang="zh-CN" altLang="zh-CN" sz="2000" dirty="0"/>
              <a:t>判断</a:t>
            </a:r>
            <a:r>
              <a:rPr lang="en-US" altLang="zh-CN" sz="2000" dirty="0"/>
              <a:t>R(U,F) </a:t>
            </a:r>
            <a:r>
              <a:rPr lang="zh-CN" altLang="zh-CN" sz="2000" dirty="0"/>
              <a:t>∈</a:t>
            </a:r>
            <a:r>
              <a:rPr lang="en-US" altLang="zh-CN" sz="2000" dirty="0"/>
              <a:t>2NF</a:t>
            </a:r>
            <a:r>
              <a:rPr lang="zh-CN" altLang="zh-CN" sz="2000" dirty="0"/>
              <a:t>？，如果不是，则分解</a:t>
            </a:r>
            <a:r>
              <a:rPr lang="en-US" altLang="zh-CN" sz="2000" dirty="0"/>
              <a:t>R(U,F)</a:t>
            </a:r>
            <a:r>
              <a:rPr lang="zh-CN" altLang="zh-CN" sz="2000" dirty="0"/>
              <a:t>，使之满足</a:t>
            </a:r>
            <a:r>
              <a:rPr lang="en-US" altLang="zh-CN" sz="2000" dirty="0"/>
              <a:t>2NF</a:t>
            </a:r>
            <a:r>
              <a:rPr lang="zh-CN" altLang="zh-CN" sz="2000" dirty="0"/>
              <a:t>。</a:t>
            </a:r>
          </a:p>
          <a:p>
            <a:pPr marL="0" indent="0">
              <a:buNone/>
            </a:pPr>
            <a:r>
              <a:rPr lang="zh-CN" altLang="zh-CN" sz="2000" dirty="0" smtClean="0">
                <a:solidFill>
                  <a:srgbClr val="0000FF"/>
                </a:solidFill>
              </a:rPr>
              <a:t>（</a:t>
            </a:r>
            <a:r>
              <a:rPr lang="en-US" altLang="zh-CN" sz="2000" dirty="0">
                <a:solidFill>
                  <a:srgbClr val="0000FF"/>
                </a:solidFill>
              </a:rPr>
              <a:t>1</a:t>
            </a:r>
            <a:r>
              <a:rPr lang="zh-CN" altLang="zh-CN" sz="2000" dirty="0">
                <a:solidFill>
                  <a:srgbClr val="0000FF"/>
                </a:solidFill>
              </a:rPr>
              <a:t>）确定候选建</a:t>
            </a:r>
          </a:p>
          <a:p>
            <a:pPr marL="625475" indent="0">
              <a:buNone/>
            </a:pPr>
            <a:r>
              <a:rPr lang="zh-CN" altLang="zh-CN" sz="2000" dirty="0"/>
              <a:t>根据</a:t>
            </a:r>
            <a:r>
              <a:rPr lang="en-US" altLang="zh-CN" sz="2000" dirty="0"/>
              <a:t>F</a:t>
            </a:r>
            <a:r>
              <a:rPr lang="zh-CN" altLang="zh-CN" sz="2000" dirty="0"/>
              <a:t>不难看出，</a:t>
            </a:r>
            <a:r>
              <a:rPr lang="en-US" altLang="zh-CN" sz="2000" dirty="0"/>
              <a:t>R(U,F)</a:t>
            </a:r>
            <a:r>
              <a:rPr lang="zh-CN" altLang="zh-CN" sz="2000" dirty="0"/>
              <a:t>的候选建为</a:t>
            </a:r>
            <a:r>
              <a:rPr lang="en-US" altLang="zh-CN" sz="2000" dirty="0"/>
              <a:t>AD</a:t>
            </a:r>
            <a:r>
              <a:rPr lang="zh-CN" altLang="zh-CN" sz="2000" dirty="0"/>
              <a:t>。</a:t>
            </a:r>
            <a:r>
              <a:rPr lang="en-US" altLang="zh-CN" sz="2000" dirty="0"/>
              <a:t>A</a:t>
            </a:r>
            <a:r>
              <a:rPr lang="zh-CN" altLang="zh-CN" sz="2000" dirty="0"/>
              <a:t>和</a:t>
            </a:r>
            <a:r>
              <a:rPr lang="en-US" altLang="zh-CN" sz="2000" dirty="0"/>
              <a:t>D</a:t>
            </a:r>
            <a:r>
              <a:rPr lang="zh-CN" altLang="zh-CN" sz="2000" dirty="0"/>
              <a:t>为主属性；</a:t>
            </a:r>
            <a:r>
              <a:rPr lang="en-US" altLang="zh-CN" sz="2000" dirty="0"/>
              <a:t>B</a:t>
            </a:r>
            <a:r>
              <a:rPr lang="zh-CN" altLang="zh-CN" sz="2000" dirty="0"/>
              <a:t>，</a:t>
            </a:r>
            <a:r>
              <a:rPr lang="en-US" altLang="zh-CN" sz="2000" dirty="0"/>
              <a:t>C</a:t>
            </a:r>
            <a:r>
              <a:rPr lang="zh-CN" altLang="zh-CN" sz="2000" dirty="0"/>
              <a:t>和</a:t>
            </a:r>
            <a:r>
              <a:rPr lang="en-US" altLang="zh-CN" sz="2000" dirty="0"/>
              <a:t>E</a:t>
            </a:r>
            <a:r>
              <a:rPr lang="zh-CN" altLang="zh-CN" sz="2000" dirty="0"/>
              <a:t>为非主属性。</a:t>
            </a:r>
          </a:p>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）判断是否存在部分函数依赖</a:t>
            </a:r>
          </a:p>
          <a:p>
            <a:r>
              <a:rPr lang="zh-CN" altLang="zh-CN" sz="2000" dirty="0"/>
              <a:t>因为：</a:t>
            </a:r>
            <a:r>
              <a:rPr lang="en-US" altLang="zh-CN" sz="2000" dirty="0"/>
              <a:t>A</a:t>
            </a:r>
            <a:r>
              <a:rPr lang="zh-CN" altLang="zh-CN" sz="2000" dirty="0"/>
              <a:t>→</a:t>
            </a:r>
            <a:r>
              <a:rPr lang="en-US" altLang="zh-CN" sz="2000" dirty="0"/>
              <a:t>B, B</a:t>
            </a:r>
            <a:r>
              <a:rPr lang="zh-CN" altLang="zh-CN" sz="2000" dirty="0"/>
              <a:t>→</a:t>
            </a:r>
            <a:r>
              <a:rPr lang="en-US" altLang="zh-CN" sz="2000" dirty="0"/>
              <a:t>C</a:t>
            </a:r>
            <a:r>
              <a:rPr lang="zh-CN" altLang="zh-CN" sz="2000" dirty="0"/>
              <a:t>，所以：</a:t>
            </a:r>
            <a:r>
              <a:rPr lang="en-US" altLang="zh-CN" sz="2000" dirty="0"/>
              <a:t>AD </a:t>
            </a:r>
            <a:r>
              <a:rPr lang="en-US" altLang="zh-CN" sz="2000" dirty="0" smtClean="0"/>
              <a:t>         </a:t>
            </a:r>
            <a:r>
              <a:rPr lang="en-US" altLang="zh-CN" sz="2000" dirty="0"/>
              <a:t>B</a:t>
            </a:r>
            <a:r>
              <a:rPr lang="zh-CN" altLang="zh-CN" sz="2000" dirty="0"/>
              <a:t>和</a:t>
            </a:r>
            <a:r>
              <a:rPr lang="en-US" altLang="zh-CN" sz="2000" dirty="0"/>
              <a:t>AD  </a:t>
            </a:r>
            <a:r>
              <a:rPr lang="en-US" altLang="zh-CN" sz="2000" dirty="0" smtClean="0"/>
              <a:t>       C</a:t>
            </a:r>
            <a:r>
              <a:rPr lang="zh-CN" altLang="zh-CN" sz="2000" dirty="0"/>
              <a:t>。即：</a:t>
            </a:r>
            <a:r>
              <a:rPr lang="en-US" altLang="zh-CN" sz="2000" dirty="0"/>
              <a:t>B</a:t>
            </a:r>
            <a:r>
              <a:rPr lang="zh-CN" altLang="zh-CN" sz="2000" dirty="0"/>
              <a:t>和</a:t>
            </a:r>
            <a:r>
              <a:rPr lang="en-US" altLang="zh-CN" sz="2000" dirty="0"/>
              <a:t>C</a:t>
            </a:r>
            <a:r>
              <a:rPr lang="zh-CN" altLang="zh-CN" sz="2000" dirty="0"/>
              <a:t>均部分函数依赖于</a:t>
            </a:r>
            <a:r>
              <a:rPr lang="en-US" altLang="zh-CN" sz="2000" dirty="0"/>
              <a:t>AD</a:t>
            </a:r>
            <a:r>
              <a:rPr lang="zh-CN" altLang="zh-CN" sz="2000" dirty="0"/>
              <a:t>。因此：</a:t>
            </a:r>
            <a:r>
              <a:rPr lang="en-US" altLang="zh-CN" sz="2000" dirty="0"/>
              <a:t>R(U,F) </a:t>
            </a:r>
            <a:r>
              <a:rPr lang="en-US" altLang="zh-CN" sz="2000" dirty="0" smtClean="0"/>
              <a:t>       2NF</a:t>
            </a:r>
            <a:r>
              <a:rPr lang="zh-CN" altLang="zh-CN" sz="2000" dirty="0"/>
              <a:t>。</a:t>
            </a:r>
          </a:p>
          <a:p>
            <a:r>
              <a:rPr lang="en-US" altLang="zh-CN" sz="2000" dirty="0"/>
              <a:t>R(U,F)</a:t>
            </a:r>
            <a:r>
              <a:rPr lang="zh-CN" altLang="zh-CN" sz="2000" dirty="0"/>
              <a:t>的</a:t>
            </a:r>
            <a:r>
              <a:rPr lang="en-US" altLang="zh-CN" sz="2000" dirty="0"/>
              <a:t>2NF</a:t>
            </a:r>
            <a:r>
              <a:rPr lang="zh-CN" altLang="zh-CN" sz="2000" dirty="0">
                <a:solidFill>
                  <a:srgbClr val="0000FF"/>
                </a:solidFill>
              </a:rPr>
              <a:t>分解结果</a:t>
            </a:r>
            <a:r>
              <a:rPr lang="zh-CN" altLang="zh-CN" sz="2000" dirty="0"/>
              <a:t>如下：</a:t>
            </a:r>
          </a:p>
          <a:p>
            <a:pPr marL="360363" indent="0">
              <a:buNone/>
            </a:pP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)=({A,D,E},{AD</a:t>
            </a:r>
            <a:r>
              <a:rPr lang="zh-CN" altLang="zh-CN" sz="2000" dirty="0"/>
              <a:t>→</a:t>
            </a:r>
            <a:r>
              <a:rPr lang="en-US" altLang="zh-CN" sz="2000" dirty="0"/>
              <a:t>E})</a:t>
            </a:r>
            <a:endParaRPr lang="zh-CN" altLang="zh-CN" sz="2000" dirty="0"/>
          </a:p>
          <a:p>
            <a:pPr marL="360363" indent="0">
              <a:buNone/>
            </a:pP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)=({A,B,C},{ A</a:t>
            </a:r>
            <a:r>
              <a:rPr lang="zh-CN" altLang="zh-CN" sz="2000" dirty="0"/>
              <a:t>→</a:t>
            </a:r>
            <a:r>
              <a:rPr lang="en-US" altLang="zh-CN" sz="2000" dirty="0"/>
              <a:t>B,B</a:t>
            </a:r>
            <a:r>
              <a:rPr lang="zh-CN" altLang="zh-CN" sz="2000" dirty="0"/>
              <a:t>→</a:t>
            </a:r>
            <a:r>
              <a:rPr lang="en-US" altLang="zh-CN" sz="2000" dirty="0"/>
              <a:t>C})</a:t>
            </a:r>
            <a:endParaRPr lang="zh-CN" altLang="zh-CN" sz="2000" dirty="0"/>
          </a:p>
          <a:p>
            <a:r>
              <a:rPr lang="zh-CN" altLang="zh-CN" sz="2000" dirty="0"/>
              <a:t>不难证明，</a:t>
            </a:r>
            <a:r>
              <a:rPr lang="en-US" altLang="zh-CN" sz="2000" dirty="0">
                <a:solidFill>
                  <a:srgbClr val="0000FF"/>
                </a:solidFill>
              </a:rPr>
              <a:t>R</a:t>
            </a:r>
            <a:r>
              <a:rPr lang="en-US" altLang="zh-CN" sz="2000" baseline="-25000" dirty="0">
                <a:solidFill>
                  <a:srgbClr val="0000FF"/>
                </a:solidFill>
              </a:rPr>
              <a:t>1</a:t>
            </a:r>
            <a:r>
              <a:rPr lang="en-US" altLang="zh-CN" sz="2000" dirty="0">
                <a:solidFill>
                  <a:srgbClr val="0000FF"/>
                </a:solidFill>
              </a:rPr>
              <a:t>(U</a:t>
            </a:r>
            <a:r>
              <a:rPr lang="en-US" altLang="zh-CN" sz="2000" baseline="-25000" dirty="0">
                <a:solidFill>
                  <a:srgbClr val="0000FF"/>
                </a:solidFill>
              </a:rPr>
              <a:t>1</a:t>
            </a:r>
            <a:r>
              <a:rPr lang="en-US" altLang="zh-CN" sz="2000" dirty="0">
                <a:solidFill>
                  <a:srgbClr val="0000FF"/>
                </a:solidFill>
              </a:rPr>
              <a:t>,F</a:t>
            </a:r>
            <a:r>
              <a:rPr lang="en-US" altLang="zh-CN" sz="2000" baseline="-25000" dirty="0">
                <a:solidFill>
                  <a:srgbClr val="0000FF"/>
                </a:solidFill>
              </a:rPr>
              <a:t>1</a:t>
            </a:r>
            <a:r>
              <a:rPr lang="en-US" altLang="zh-CN" sz="2000" dirty="0">
                <a:solidFill>
                  <a:srgbClr val="0000FF"/>
                </a:solidFill>
              </a:rPr>
              <a:t>) </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a:t>
            </a:r>
            <a:r>
              <a:rPr lang="en-US" altLang="zh-CN" sz="2000" dirty="0">
                <a:solidFill>
                  <a:srgbClr val="0000FF"/>
                </a:solidFill>
              </a:rPr>
              <a:t>R</a:t>
            </a:r>
            <a:r>
              <a:rPr lang="en-US" altLang="zh-CN" sz="2000" baseline="-25000" dirty="0">
                <a:solidFill>
                  <a:srgbClr val="0000FF"/>
                </a:solidFill>
              </a:rPr>
              <a:t>2</a:t>
            </a:r>
            <a:r>
              <a:rPr lang="en-US" altLang="zh-CN" sz="2000" dirty="0">
                <a:solidFill>
                  <a:srgbClr val="0000FF"/>
                </a:solidFill>
              </a:rPr>
              <a:t>(U</a:t>
            </a:r>
            <a:r>
              <a:rPr lang="en-US" altLang="zh-CN" sz="2000" baseline="-25000" dirty="0">
                <a:solidFill>
                  <a:srgbClr val="0000FF"/>
                </a:solidFill>
              </a:rPr>
              <a:t>2</a:t>
            </a:r>
            <a:r>
              <a:rPr lang="en-US" altLang="zh-CN" sz="2000" dirty="0">
                <a:solidFill>
                  <a:srgbClr val="0000FF"/>
                </a:solidFill>
              </a:rPr>
              <a:t>,F</a:t>
            </a:r>
            <a:r>
              <a:rPr lang="en-US" altLang="zh-CN" sz="2000" baseline="-25000" dirty="0">
                <a:solidFill>
                  <a:srgbClr val="0000FF"/>
                </a:solidFill>
              </a:rPr>
              <a:t>2</a:t>
            </a:r>
            <a:r>
              <a:rPr lang="en-US" altLang="zh-CN" sz="2000" dirty="0">
                <a:solidFill>
                  <a:srgbClr val="0000FF"/>
                </a:solidFill>
              </a:rPr>
              <a:t>) </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a:t>
            </a:r>
            <a:endParaRPr lang="zh-CN" altLang="en-US" sz="2000" dirty="0">
              <a:solidFill>
                <a:srgbClr val="0000FF"/>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78736527"/>
              </p:ext>
            </p:extLst>
          </p:nvPr>
        </p:nvGraphicFramePr>
        <p:xfrm>
          <a:off x="5580112" y="3573016"/>
          <a:ext cx="611187" cy="388937"/>
        </p:xfrm>
        <a:graphic>
          <a:graphicData uri="http://schemas.openxmlformats.org/presentationml/2006/ole">
            <mc:AlternateContent xmlns:mc="http://schemas.openxmlformats.org/markup-compatibility/2006">
              <mc:Choice xmlns:v="urn:schemas-microsoft-com:vml" Requires="v">
                <p:oleObj spid="_x0000_s8906" name="公式" r:id="rId3" imgW="368140" imgH="203112" progId="Equation.3">
                  <p:embed/>
                </p:oleObj>
              </mc:Choice>
              <mc:Fallback>
                <p:oleObj name="公式" r:id="rId3" imgW="368140" imgH="203112"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3573016"/>
                        <a:ext cx="61118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692454753"/>
              </p:ext>
            </p:extLst>
          </p:nvPr>
        </p:nvGraphicFramePr>
        <p:xfrm>
          <a:off x="4067944" y="3573016"/>
          <a:ext cx="611187" cy="388937"/>
        </p:xfrm>
        <a:graphic>
          <a:graphicData uri="http://schemas.openxmlformats.org/presentationml/2006/ole">
            <mc:AlternateContent xmlns:mc="http://schemas.openxmlformats.org/markup-compatibility/2006">
              <mc:Choice xmlns:v="urn:schemas-microsoft-com:vml" Requires="v">
                <p:oleObj spid="_x0000_s8907" name="公式" r:id="rId5" imgW="368140" imgH="203112" progId="Equation.3">
                  <p:embed/>
                </p:oleObj>
              </mc:Choice>
              <mc:Fallback>
                <p:oleObj name="公式" r:id="rId5" imgW="368140" imgH="203112"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3573016"/>
                        <a:ext cx="61118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59689544"/>
              </p:ext>
            </p:extLst>
          </p:nvPr>
        </p:nvGraphicFramePr>
        <p:xfrm>
          <a:off x="3851920" y="4077072"/>
          <a:ext cx="252412" cy="331937"/>
        </p:xfrm>
        <a:graphic>
          <a:graphicData uri="http://schemas.openxmlformats.org/presentationml/2006/ole">
            <mc:AlternateContent xmlns:mc="http://schemas.openxmlformats.org/markup-compatibility/2006">
              <mc:Choice xmlns:v="urn:schemas-microsoft-com:vml" Requires="v">
                <p:oleObj spid="_x0000_s8908" name="公式" r:id="rId6" imgW="114201" imgH="139579" progId="Equation.3">
                  <p:embed/>
                </p:oleObj>
              </mc:Choice>
              <mc:Fallback>
                <p:oleObj name="公式" r:id="rId6" imgW="114201" imgH="139579" progId="Equation.3">
                  <p:embed/>
                  <p:pic>
                    <p:nvPicPr>
                      <p:cNvPr id="0"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920" y="4077072"/>
                        <a:ext cx="252412" cy="33193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6082959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219256" cy="562074"/>
          </a:xfrm>
        </p:spPr>
        <p:txBody>
          <a:bodyPr>
            <a:normAutofit/>
          </a:bodyPr>
          <a:lstStyle/>
          <a:p>
            <a:r>
              <a:rPr lang="en-US" altLang="zh-CN" sz="2800" dirty="0"/>
              <a:t>6.2.3 </a:t>
            </a:r>
            <a:r>
              <a:rPr lang="zh-CN" altLang="zh-CN" sz="2800" dirty="0"/>
              <a:t>第二范式</a:t>
            </a:r>
            <a:endParaRPr lang="zh-CN" altLang="en-US" sz="32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提示：</a:t>
            </a:r>
            <a:r>
              <a:rPr lang="en-US" altLang="zh-CN" sz="2000" dirty="0"/>
              <a:t>2NF</a:t>
            </a:r>
            <a:r>
              <a:rPr lang="zh-CN" altLang="zh-CN" sz="2000" dirty="0"/>
              <a:t>虽然在一定程度上解决了插入异常、修改异常、删除异常和冗余数据等问题，但</a:t>
            </a:r>
            <a:r>
              <a:rPr lang="en-US" altLang="zh-CN" sz="2000" dirty="0"/>
              <a:t>2NF</a:t>
            </a:r>
            <a:r>
              <a:rPr lang="zh-CN" altLang="zh-CN" sz="2000" dirty="0"/>
              <a:t>一般也不是最理想的关系模式，仍然会破坏数据完整性。</a:t>
            </a:r>
          </a:p>
          <a:p>
            <a:r>
              <a:rPr lang="zh-CN" altLang="zh-CN" sz="2000" dirty="0">
                <a:solidFill>
                  <a:srgbClr val="0000FF"/>
                </a:solidFill>
              </a:rPr>
              <a:t>结论：</a:t>
            </a:r>
            <a:r>
              <a:rPr lang="zh-CN" altLang="zh-CN" sz="2000" dirty="0"/>
              <a:t>解决不满足</a:t>
            </a:r>
            <a:r>
              <a:rPr lang="en-US" altLang="zh-CN" sz="2000" dirty="0"/>
              <a:t>2NF</a:t>
            </a:r>
            <a:r>
              <a:rPr lang="zh-CN" altLang="zh-CN" sz="2000" dirty="0"/>
              <a:t>的方法是分解关系模式，消除所有非主属性对候选键的部分函数依赖关系。即：</a:t>
            </a:r>
          </a:p>
          <a:p>
            <a:r>
              <a:rPr lang="zh-CN" altLang="zh-CN" sz="2000" dirty="0"/>
              <a:t>对于</a:t>
            </a:r>
            <a:r>
              <a:rPr lang="en-US" altLang="zh-CN" sz="2000" dirty="0"/>
              <a:t>R</a:t>
            </a:r>
            <a:r>
              <a:rPr lang="zh-CN" altLang="zh-CN" sz="2000" dirty="0"/>
              <a:t>∈</a:t>
            </a:r>
            <a:r>
              <a:rPr lang="en-US" altLang="zh-CN" sz="2000" dirty="0"/>
              <a:t>1NF</a:t>
            </a:r>
            <a:r>
              <a:rPr lang="zh-CN" altLang="zh-CN" sz="2000" dirty="0"/>
              <a:t>，只要存在一个非主属性部分函数依赖于</a:t>
            </a:r>
            <a:r>
              <a:rPr lang="en-US" altLang="zh-CN" sz="2000" dirty="0"/>
              <a:t>R</a:t>
            </a:r>
            <a:r>
              <a:rPr lang="zh-CN" altLang="zh-CN" sz="2000" dirty="0"/>
              <a:t>的候选键，</a:t>
            </a:r>
            <a:r>
              <a:rPr lang="zh-CN" altLang="zh-CN" sz="2000" dirty="0" smtClean="0"/>
              <a:t>则</a:t>
            </a:r>
            <a:endParaRPr lang="en-US" altLang="zh-CN" sz="2000" dirty="0" smtClean="0"/>
          </a:p>
          <a:p>
            <a:pPr marL="360363" indent="0">
              <a:buNone/>
            </a:pPr>
            <a:r>
              <a:rPr lang="en-US" altLang="zh-CN" sz="2000" dirty="0" smtClean="0">
                <a:solidFill>
                  <a:srgbClr val="0000FF"/>
                </a:solidFill>
              </a:rPr>
              <a:t>R      2NF</a:t>
            </a:r>
            <a:r>
              <a:rPr lang="zh-CN" altLang="zh-CN" sz="2000" dirty="0"/>
              <a:t>。</a:t>
            </a:r>
          </a:p>
        </p:txBody>
      </p:sp>
      <p:graphicFrame>
        <p:nvGraphicFramePr>
          <p:cNvPr id="3" name="对象 2"/>
          <p:cNvGraphicFramePr>
            <a:graphicFrameLocks noChangeAspect="1"/>
          </p:cNvGraphicFramePr>
          <p:nvPr>
            <p:extLst>
              <p:ext uri="{D42A27DB-BD31-4B8C-83A1-F6EECF244321}">
                <p14:modId xmlns:p14="http://schemas.microsoft.com/office/powerpoint/2010/main" val="893197926"/>
              </p:ext>
            </p:extLst>
          </p:nvPr>
        </p:nvGraphicFramePr>
        <p:xfrm>
          <a:off x="827584" y="3645024"/>
          <a:ext cx="252413" cy="331788"/>
        </p:xfrm>
        <a:graphic>
          <a:graphicData uri="http://schemas.openxmlformats.org/presentationml/2006/ole">
            <mc:AlternateContent xmlns:mc="http://schemas.openxmlformats.org/markup-compatibility/2006">
              <mc:Choice xmlns:v="urn:schemas-microsoft-com:vml" Requires="v">
                <p:oleObj spid="_x0000_s63606" name="公式" r:id="rId3" imgW="114201" imgH="139579" progId="Equation.3">
                  <p:embed/>
                </p:oleObj>
              </mc:Choice>
              <mc:Fallback>
                <p:oleObj name="公式" r:id="rId3" imgW="114201" imgH="139579" progId="Equation.3">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3645024"/>
                        <a:ext cx="25241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28660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6.2.4 </a:t>
            </a:r>
            <a:r>
              <a:rPr lang="zh-CN" altLang="zh-CN" sz="2800" dirty="0">
                <a:solidFill>
                  <a:srgbClr val="0000FF"/>
                </a:solidFill>
              </a:rPr>
              <a:t>第三范</a:t>
            </a:r>
            <a:r>
              <a:rPr lang="zh-CN" altLang="zh-CN" sz="2800" dirty="0"/>
              <a:t>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定义</a:t>
            </a:r>
            <a:r>
              <a:rPr lang="en-US" altLang="zh-CN" sz="2000" dirty="0">
                <a:solidFill>
                  <a:srgbClr val="0000FF"/>
                </a:solidFill>
              </a:rPr>
              <a:t>6.7  </a:t>
            </a:r>
            <a:r>
              <a:rPr lang="zh-CN" altLang="zh-CN" sz="2000" dirty="0"/>
              <a:t>如果</a:t>
            </a:r>
            <a:r>
              <a:rPr lang="en-US" altLang="zh-CN" sz="2000" dirty="0"/>
              <a:t>R</a:t>
            </a:r>
            <a:r>
              <a:rPr lang="zh-CN" altLang="zh-CN" sz="2000" dirty="0"/>
              <a:t>（</a:t>
            </a:r>
            <a:r>
              <a:rPr lang="en-US" altLang="zh-CN" sz="2000" dirty="0"/>
              <a:t>U</a:t>
            </a:r>
            <a:r>
              <a:rPr lang="zh-CN" altLang="zh-CN" sz="2000" dirty="0"/>
              <a:t>，</a:t>
            </a:r>
            <a:r>
              <a:rPr lang="en-US" altLang="zh-CN" sz="2000" dirty="0"/>
              <a:t>F</a:t>
            </a:r>
            <a:r>
              <a:rPr lang="zh-CN" altLang="zh-CN" sz="2000" dirty="0"/>
              <a:t>）∈</a:t>
            </a:r>
            <a:r>
              <a:rPr lang="en-US" altLang="zh-CN" sz="2000" dirty="0"/>
              <a:t>2NF</a:t>
            </a:r>
            <a:r>
              <a:rPr lang="zh-CN" altLang="zh-CN" sz="2000" dirty="0"/>
              <a:t>，且</a:t>
            </a:r>
            <a:r>
              <a:rPr lang="en-US" altLang="zh-CN" sz="2000" dirty="0"/>
              <a:t>R</a:t>
            </a:r>
            <a:r>
              <a:rPr lang="zh-CN" altLang="zh-CN" sz="2000" dirty="0"/>
              <a:t>的每个非主属性都不传递函数依赖于</a:t>
            </a:r>
            <a:r>
              <a:rPr lang="en-US" altLang="zh-CN" sz="2000" dirty="0"/>
              <a:t>R</a:t>
            </a:r>
            <a:r>
              <a:rPr lang="zh-CN" altLang="zh-CN" sz="2000" dirty="0"/>
              <a:t>的候选键，则</a:t>
            </a:r>
            <a:r>
              <a:rPr lang="en-US" altLang="zh-CN" sz="2000" dirty="0">
                <a:solidFill>
                  <a:srgbClr val="0000FF"/>
                </a:solidFill>
              </a:rPr>
              <a:t>R</a:t>
            </a:r>
            <a:r>
              <a:rPr lang="zh-CN" altLang="zh-CN" sz="2000" dirty="0">
                <a:solidFill>
                  <a:srgbClr val="0000FF"/>
                </a:solidFill>
              </a:rPr>
              <a:t>∈</a:t>
            </a:r>
            <a:r>
              <a:rPr lang="en-US" altLang="zh-CN" sz="2000" dirty="0">
                <a:solidFill>
                  <a:srgbClr val="0000FF"/>
                </a:solidFill>
              </a:rPr>
              <a:t>3NF</a:t>
            </a:r>
            <a:r>
              <a:rPr lang="zh-CN" altLang="zh-CN" sz="2000" dirty="0"/>
              <a:t>。</a:t>
            </a:r>
          </a:p>
          <a:p>
            <a:r>
              <a:rPr lang="zh-CN" altLang="zh-CN" sz="2000" dirty="0"/>
              <a:t>显然，如果</a:t>
            </a:r>
            <a:r>
              <a:rPr lang="en-US" altLang="zh-CN" sz="2000" dirty="0"/>
              <a:t>R</a:t>
            </a:r>
            <a:r>
              <a:rPr lang="zh-CN" altLang="zh-CN" sz="2000" dirty="0"/>
              <a:t>∈</a:t>
            </a:r>
            <a:r>
              <a:rPr lang="en-US" altLang="zh-CN" sz="2000" dirty="0"/>
              <a:t>3NF</a:t>
            </a:r>
            <a:r>
              <a:rPr lang="zh-CN" altLang="zh-CN" sz="2000" dirty="0"/>
              <a:t>，则</a:t>
            </a:r>
            <a:r>
              <a:rPr lang="en-US" altLang="zh-CN" sz="2000" dirty="0"/>
              <a:t>R</a:t>
            </a:r>
            <a:r>
              <a:rPr lang="zh-CN" altLang="zh-CN" sz="2000" dirty="0"/>
              <a:t>的每个非主属性，既不部分函数依赖于候选键，也不传递函数依赖于候选键。即：如果</a:t>
            </a:r>
            <a:r>
              <a:rPr lang="en-US" altLang="zh-CN" sz="2000" dirty="0"/>
              <a:t>R</a:t>
            </a:r>
            <a:r>
              <a:rPr lang="zh-CN" altLang="zh-CN" sz="2000" dirty="0"/>
              <a:t>∈</a:t>
            </a:r>
            <a:r>
              <a:rPr lang="en-US" altLang="zh-CN" sz="2000" dirty="0"/>
              <a:t>3NF</a:t>
            </a:r>
            <a:r>
              <a:rPr lang="zh-CN" altLang="zh-CN" sz="2000" dirty="0"/>
              <a:t>，则</a:t>
            </a:r>
            <a:r>
              <a:rPr lang="en-US" altLang="zh-CN" sz="2000" dirty="0"/>
              <a:t>R</a:t>
            </a:r>
            <a:r>
              <a:rPr lang="zh-CN" altLang="zh-CN" sz="2000" dirty="0"/>
              <a:t>∈</a:t>
            </a:r>
            <a:r>
              <a:rPr lang="en-US" altLang="zh-CN" sz="2000" dirty="0"/>
              <a:t>2NF</a:t>
            </a:r>
            <a:r>
              <a:rPr lang="zh-CN" altLang="zh-CN" sz="2000" dirty="0"/>
              <a:t>。</a:t>
            </a:r>
          </a:p>
          <a:p>
            <a:r>
              <a:rPr lang="zh-CN" altLang="zh-CN" sz="2000" dirty="0">
                <a:solidFill>
                  <a:srgbClr val="0000FF"/>
                </a:solidFill>
              </a:rPr>
              <a:t>例</a:t>
            </a:r>
            <a:r>
              <a:rPr lang="en-US" altLang="zh-CN" sz="2000" dirty="0">
                <a:solidFill>
                  <a:srgbClr val="0000FF"/>
                </a:solidFill>
              </a:rPr>
              <a:t>6.5  </a:t>
            </a:r>
            <a:r>
              <a:rPr lang="zh-CN" altLang="zh-CN" sz="2000" dirty="0"/>
              <a:t>在例</a:t>
            </a:r>
            <a:r>
              <a:rPr lang="en-US" altLang="zh-CN" sz="2000" dirty="0"/>
              <a:t>6.3</a:t>
            </a:r>
            <a:r>
              <a:rPr lang="zh-CN" altLang="zh-CN" sz="2000" dirty="0"/>
              <a:t>中，则：</a:t>
            </a:r>
          </a:p>
          <a:p>
            <a:pPr marL="360363" indent="0">
              <a:buNone/>
            </a:pPr>
            <a:r>
              <a:rPr lang="zh-CN" altLang="zh-CN" sz="2000" dirty="0"/>
              <a:t>判断</a:t>
            </a:r>
            <a:r>
              <a:rPr lang="en-US" altLang="zh-CN" sz="2000" dirty="0" err="1"/>
              <a:t>BInfo</a:t>
            </a:r>
            <a:r>
              <a:rPr lang="zh-CN" altLang="zh-CN" sz="2000" dirty="0"/>
              <a:t>∈</a:t>
            </a:r>
            <a:r>
              <a:rPr lang="en-US" altLang="zh-CN" sz="2000" dirty="0"/>
              <a:t>3NF</a:t>
            </a:r>
            <a:r>
              <a:rPr lang="zh-CN" altLang="zh-CN" sz="2000" dirty="0"/>
              <a:t>？，如果不是，则分解相应的关系模式，使之满足</a:t>
            </a:r>
            <a:r>
              <a:rPr lang="en-US" altLang="zh-CN" sz="2000" dirty="0"/>
              <a:t>3NF</a:t>
            </a:r>
            <a:r>
              <a:rPr lang="zh-CN" altLang="zh-CN" sz="2000" dirty="0"/>
              <a:t>。</a:t>
            </a:r>
          </a:p>
          <a:p>
            <a:pPr marL="0" indent="0">
              <a:buNone/>
            </a:pPr>
            <a:r>
              <a:rPr lang="zh-CN" altLang="zh-CN" sz="2000" dirty="0">
                <a:solidFill>
                  <a:srgbClr val="0000FF"/>
                </a:solidFill>
              </a:rPr>
              <a:t>分析：</a:t>
            </a:r>
          </a:p>
          <a:p>
            <a:r>
              <a:rPr lang="zh-CN" altLang="zh-CN" sz="2000" dirty="0"/>
              <a:t>在例</a:t>
            </a:r>
            <a:r>
              <a:rPr lang="en-US" altLang="zh-CN" sz="2000" dirty="0"/>
              <a:t>6.3</a:t>
            </a:r>
            <a:r>
              <a:rPr lang="zh-CN" altLang="zh-CN" sz="2000" dirty="0"/>
              <a:t>中，显然成立：</a:t>
            </a:r>
            <a:r>
              <a:rPr lang="en-US" altLang="zh-CN" sz="2000" dirty="0" err="1"/>
              <a:t>Cust</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 </a:t>
            </a:r>
            <a:r>
              <a:rPr lang="zh-CN" altLang="zh-CN" sz="2000" dirty="0"/>
              <a:t>∈</a:t>
            </a:r>
            <a:r>
              <a:rPr lang="en-US" altLang="zh-CN" sz="2000" dirty="0"/>
              <a:t>3NF</a:t>
            </a:r>
            <a:r>
              <a:rPr lang="zh-CN" altLang="zh-CN" sz="2000" dirty="0"/>
              <a:t>，</a:t>
            </a:r>
            <a:r>
              <a:rPr lang="en-US" altLang="zh-CN" sz="2000" dirty="0"/>
              <a:t>Buy(U</a:t>
            </a:r>
            <a:r>
              <a:rPr lang="en-US" altLang="zh-CN" sz="2000" baseline="-25000" dirty="0"/>
              <a:t>2</a:t>
            </a:r>
            <a:r>
              <a:rPr lang="en-US" altLang="zh-CN" sz="2000" dirty="0"/>
              <a:t>,F</a:t>
            </a:r>
            <a:r>
              <a:rPr lang="en-US" altLang="zh-CN" sz="2000" baseline="-25000" dirty="0"/>
              <a:t>2</a:t>
            </a:r>
            <a:r>
              <a:rPr lang="en-US" altLang="zh-CN" sz="2000" dirty="0"/>
              <a:t>) </a:t>
            </a:r>
            <a:r>
              <a:rPr lang="zh-CN" altLang="zh-CN" sz="2000" dirty="0"/>
              <a:t>∈</a:t>
            </a:r>
            <a:r>
              <a:rPr lang="en-US" altLang="zh-CN" sz="2000" dirty="0"/>
              <a:t>3NF</a:t>
            </a:r>
            <a:r>
              <a:rPr lang="zh-CN" altLang="zh-CN" sz="2000" dirty="0"/>
              <a:t>。</a:t>
            </a:r>
          </a:p>
          <a:p>
            <a:r>
              <a:rPr lang="zh-CN" altLang="zh-CN" sz="2000" dirty="0"/>
              <a:t>那么：</a:t>
            </a:r>
            <a:r>
              <a:rPr lang="en-US" altLang="zh-CN" sz="2000" dirty="0" err="1"/>
              <a:t>PressBook</a:t>
            </a:r>
            <a:r>
              <a:rPr lang="en-US" altLang="zh-CN" sz="2000" dirty="0"/>
              <a:t>(U</a:t>
            </a:r>
            <a:r>
              <a:rPr lang="en-US" altLang="zh-CN" sz="2000" baseline="-25000" dirty="0"/>
              <a:t>3</a:t>
            </a:r>
            <a:r>
              <a:rPr lang="en-US" altLang="zh-CN" sz="2000" dirty="0"/>
              <a:t>,F</a:t>
            </a:r>
            <a:r>
              <a:rPr lang="en-US" altLang="zh-CN" sz="2000" baseline="-25000" dirty="0"/>
              <a:t>3</a:t>
            </a:r>
            <a:r>
              <a:rPr lang="en-US" altLang="zh-CN" sz="2000" dirty="0"/>
              <a:t>) </a:t>
            </a:r>
            <a:r>
              <a:rPr lang="zh-CN" altLang="zh-CN" sz="2000" dirty="0"/>
              <a:t>∈</a:t>
            </a:r>
            <a:r>
              <a:rPr lang="en-US" altLang="zh-CN" sz="2000" dirty="0"/>
              <a:t>3NF</a:t>
            </a:r>
            <a:r>
              <a:rPr lang="zh-CN" altLang="zh-CN" sz="2000" dirty="0"/>
              <a:t>？</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）确定候选建</a:t>
            </a:r>
          </a:p>
          <a:p>
            <a:r>
              <a:rPr lang="zh-CN" altLang="zh-CN" sz="2000" dirty="0"/>
              <a:t>根据</a:t>
            </a:r>
            <a:r>
              <a:rPr lang="en-US" altLang="zh-CN" sz="2000" dirty="0"/>
              <a:t>F</a:t>
            </a:r>
            <a:r>
              <a:rPr lang="en-US" altLang="zh-CN" sz="2000" baseline="-25000" dirty="0"/>
              <a:t>3</a:t>
            </a:r>
            <a:r>
              <a:rPr lang="zh-CN" altLang="zh-CN" sz="2000" dirty="0"/>
              <a:t>不难看出，</a:t>
            </a:r>
            <a:r>
              <a:rPr lang="en-US" altLang="zh-CN" sz="2000" dirty="0" err="1"/>
              <a:t>PressBook</a:t>
            </a:r>
            <a:r>
              <a:rPr lang="zh-CN" altLang="zh-CN" sz="2000" dirty="0"/>
              <a:t>的候选建为</a:t>
            </a:r>
            <a:r>
              <a:rPr lang="en-US" altLang="zh-CN" sz="2000" dirty="0" err="1"/>
              <a:t>BNo</a:t>
            </a:r>
            <a:r>
              <a:rPr lang="zh-CN" altLang="zh-CN" sz="2000" dirty="0"/>
              <a:t>。</a:t>
            </a:r>
            <a:r>
              <a:rPr lang="en-US" altLang="zh-CN" sz="2000" dirty="0" err="1"/>
              <a:t>BNo</a:t>
            </a:r>
            <a:r>
              <a:rPr lang="zh-CN" altLang="zh-CN" sz="2000" dirty="0"/>
              <a:t>为主属性；其他属性为非主属性。</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22</a:t>
            </a:fld>
            <a:endParaRPr lang="zh-CN" altLang="en-US" dirty="0"/>
          </a:p>
        </p:txBody>
      </p:sp>
    </p:spTree>
    <p:extLst>
      <p:ext uri="{BB962C8B-B14F-4D97-AF65-F5344CB8AC3E}">
        <p14:creationId xmlns:p14="http://schemas.microsoft.com/office/powerpoint/2010/main" val="3579636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6.2.4 </a:t>
            </a:r>
            <a:r>
              <a:rPr lang="zh-CN" altLang="zh-CN" sz="2800" dirty="0"/>
              <a:t>第三范式</a:t>
            </a:r>
            <a:endParaRPr lang="zh-CN" altLang="en-US" sz="3200" dirty="0"/>
          </a:p>
        </p:txBody>
      </p:sp>
      <p:sp>
        <p:nvSpPr>
          <p:cNvPr id="3" name="文本占位符 2"/>
          <p:cNvSpPr>
            <a:spLocks noGrp="1"/>
          </p:cNvSpPr>
          <p:nvPr>
            <p:ph type="body" idx="1"/>
          </p:nvPr>
        </p:nvSpPr>
        <p:spPr>
          <a:xfrm>
            <a:off x="179512" y="836712"/>
            <a:ext cx="8712968" cy="5544616"/>
          </a:xfrm>
        </p:spPr>
        <p:txBody>
          <a:bodyPr>
            <a:noAutofit/>
          </a:bodyPr>
          <a:lstStyle/>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a:t>
            </a:r>
            <a:r>
              <a:rPr lang="en-US" altLang="zh-CN" sz="2000" dirty="0">
                <a:solidFill>
                  <a:srgbClr val="0000FF"/>
                </a:solidFill>
              </a:rPr>
              <a:t>3NF</a:t>
            </a:r>
            <a:r>
              <a:rPr lang="zh-CN" altLang="zh-CN" sz="2000" dirty="0">
                <a:solidFill>
                  <a:srgbClr val="0000FF"/>
                </a:solidFill>
              </a:rPr>
              <a:t>分解</a:t>
            </a:r>
          </a:p>
          <a:p>
            <a:r>
              <a:rPr lang="zh-CN" altLang="zh-CN" sz="2000" dirty="0"/>
              <a:t>在</a:t>
            </a:r>
            <a:r>
              <a:rPr lang="en-US" altLang="zh-CN" sz="2000" dirty="0"/>
              <a:t>F</a:t>
            </a:r>
            <a:r>
              <a:rPr lang="en-US" altLang="zh-CN" sz="2000" baseline="-25000" dirty="0"/>
              <a:t>3</a:t>
            </a:r>
            <a:r>
              <a:rPr lang="zh-CN" altLang="zh-CN" sz="2000" dirty="0"/>
              <a:t>中，因为存在如下函数依赖：</a:t>
            </a:r>
          </a:p>
          <a:p>
            <a:r>
              <a:rPr lang="en-US" altLang="zh-CN" sz="2000" dirty="0" err="1"/>
              <a:t>BNo</a:t>
            </a:r>
            <a:r>
              <a:rPr lang="en-US" altLang="zh-CN" sz="2000" dirty="0"/>
              <a:t> </a:t>
            </a:r>
            <a:r>
              <a:rPr lang="zh-CN" altLang="zh-CN" sz="2000" dirty="0"/>
              <a:t>→</a:t>
            </a:r>
            <a:r>
              <a:rPr lang="en-US" altLang="zh-CN" sz="2000" dirty="0"/>
              <a:t> (</a:t>
            </a:r>
            <a:r>
              <a:rPr lang="en-US" altLang="zh-CN" sz="2000" dirty="0" err="1"/>
              <a:t>BName</a:t>
            </a:r>
            <a:r>
              <a:rPr lang="zh-CN" altLang="zh-CN" sz="2000" dirty="0"/>
              <a:t>，</a:t>
            </a:r>
            <a:r>
              <a:rPr lang="en-US" altLang="zh-CN" sz="2000" dirty="0"/>
              <a:t>Author</a:t>
            </a:r>
            <a:r>
              <a:rPr lang="zh-CN" altLang="zh-CN" sz="2000" dirty="0"/>
              <a:t>，</a:t>
            </a:r>
            <a:r>
              <a:rPr lang="en-US" altLang="zh-CN" sz="2000" dirty="0" err="1"/>
              <a:t>PNo</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en-US" altLang="zh-CN" sz="2000" dirty="0"/>
              <a:t>)</a:t>
            </a:r>
            <a:endParaRPr lang="zh-CN" altLang="zh-CN" sz="2000" dirty="0"/>
          </a:p>
          <a:p>
            <a:r>
              <a:rPr lang="en-US" altLang="zh-CN" sz="2000" dirty="0" err="1"/>
              <a:t>PNo</a:t>
            </a:r>
            <a:r>
              <a:rPr lang="en-US" altLang="zh-CN" sz="2000" dirty="0"/>
              <a:t> </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p>
          <a:p>
            <a:r>
              <a:rPr lang="zh-CN" altLang="zh-CN" sz="2000" dirty="0"/>
              <a:t>所以：非主属性</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和</a:t>
            </a:r>
            <a:r>
              <a:rPr lang="en-US" altLang="zh-CN" sz="2000" dirty="0" err="1"/>
              <a:t>HPage</a:t>
            </a:r>
            <a:r>
              <a:rPr lang="zh-CN" altLang="zh-CN" sz="2000" dirty="0"/>
              <a:t>均传递依赖于候选键</a:t>
            </a:r>
            <a:r>
              <a:rPr lang="en-US" altLang="zh-CN" sz="2000" dirty="0" err="1"/>
              <a:t>BNo</a:t>
            </a:r>
            <a:r>
              <a:rPr lang="zh-CN" altLang="zh-CN" sz="2000" dirty="0"/>
              <a:t>，即：</a:t>
            </a:r>
          </a:p>
          <a:p>
            <a:r>
              <a:rPr lang="en-US" altLang="zh-CN" sz="2000" dirty="0" err="1"/>
              <a:t>BNo</a:t>
            </a:r>
            <a:r>
              <a:rPr lang="en-US" altLang="zh-CN" sz="2000" dirty="0"/>
              <a:t>  </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p>
          <a:p>
            <a:r>
              <a:rPr lang="zh-CN" altLang="zh-CN" sz="2000" dirty="0"/>
              <a:t>所以：</a:t>
            </a:r>
            <a:r>
              <a:rPr lang="en-US" altLang="zh-CN" sz="2000" dirty="0" err="1"/>
              <a:t>PressBook</a:t>
            </a:r>
            <a:r>
              <a:rPr lang="en-US" altLang="zh-CN" sz="2000" dirty="0"/>
              <a:t>(U</a:t>
            </a:r>
            <a:r>
              <a:rPr lang="en-US" altLang="zh-CN" sz="2000" baseline="-25000" dirty="0"/>
              <a:t>3</a:t>
            </a:r>
            <a:r>
              <a:rPr lang="en-US" altLang="zh-CN" sz="2000" dirty="0"/>
              <a:t>,F</a:t>
            </a:r>
            <a:r>
              <a:rPr lang="en-US" altLang="zh-CN" sz="2000" baseline="-25000" dirty="0"/>
              <a:t>3</a:t>
            </a:r>
            <a:r>
              <a:rPr lang="en-US" altLang="zh-CN" sz="2000" dirty="0"/>
              <a:t>) </a:t>
            </a:r>
            <a:r>
              <a:rPr lang="en-US" altLang="zh-CN" sz="2000" dirty="0" smtClean="0"/>
              <a:t>        3NF</a:t>
            </a:r>
            <a:r>
              <a:rPr lang="zh-CN" altLang="zh-CN" sz="2000" dirty="0"/>
              <a:t>。</a:t>
            </a:r>
          </a:p>
          <a:p>
            <a:r>
              <a:rPr lang="zh-CN" altLang="zh-CN" sz="2000" dirty="0"/>
              <a:t>因此：采用</a:t>
            </a:r>
            <a:r>
              <a:rPr lang="zh-CN" altLang="zh-CN" sz="2000" dirty="0">
                <a:solidFill>
                  <a:srgbClr val="0000FF"/>
                </a:solidFill>
              </a:rPr>
              <a:t>投影分解法</a:t>
            </a:r>
            <a:r>
              <a:rPr lang="zh-CN" altLang="zh-CN" sz="2000" dirty="0"/>
              <a:t>，把导致</a:t>
            </a:r>
            <a:r>
              <a:rPr lang="en-US" altLang="zh-CN" sz="2000" dirty="0" err="1"/>
              <a:t>PressBook</a:t>
            </a:r>
            <a:r>
              <a:rPr lang="en-US" altLang="zh-CN" sz="2000" dirty="0"/>
              <a:t> 3NF</a:t>
            </a:r>
            <a:r>
              <a:rPr lang="zh-CN" altLang="zh-CN" sz="2000" dirty="0"/>
              <a:t>的传递函数依赖进行分解。</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23</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883501375"/>
              </p:ext>
            </p:extLst>
          </p:nvPr>
        </p:nvGraphicFramePr>
        <p:xfrm>
          <a:off x="3563888" y="4077072"/>
          <a:ext cx="504056" cy="504056"/>
        </p:xfrm>
        <a:graphic>
          <a:graphicData uri="http://schemas.openxmlformats.org/presentationml/2006/ole">
            <mc:AlternateContent xmlns:mc="http://schemas.openxmlformats.org/markup-compatibility/2006">
              <mc:Choice xmlns:v="urn:schemas-microsoft-com:vml" Requires="v">
                <p:oleObj spid="_x0000_s9454" name="公式" r:id="rId3" imgW="114201" imgH="139579" progId="Equation.3">
                  <p:embed/>
                </p:oleObj>
              </mc:Choice>
              <mc:Fallback>
                <p:oleObj name="公式" r:id="rId3" imgW="114201" imgH="13957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4077072"/>
                        <a:ext cx="504056" cy="504056"/>
                      </a:xfrm>
                      <a:prstGeom prst="rect">
                        <a:avLst/>
                      </a:prstGeom>
                      <a:noFill/>
                    </p:spPr>
                  </p:pic>
                </p:oleObj>
              </mc:Fallback>
            </mc:AlternateContent>
          </a:graphicData>
        </a:graphic>
      </p:graphicFrame>
    </p:spTree>
    <p:extLst>
      <p:ext uri="{BB962C8B-B14F-4D97-AF65-F5344CB8AC3E}">
        <p14:creationId xmlns:p14="http://schemas.microsoft.com/office/powerpoint/2010/main" val="1346299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6.2.4 </a:t>
            </a:r>
            <a:r>
              <a:rPr lang="zh-CN" altLang="zh-CN" sz="2800" dirty="0"/>
              <a:t>第三范式</a:t>
            </a:r>
            <a:endParaRPr lang="zh-CN" altLang="en-US" sz="3200" dirty="0"/>
          </a:p>
        </p:txBody>
      </p:sp>
      <p:sp>
        <p:nvSpPr>
          <p:cNvPr id="3" name="文本占位符 2"/>
          <p:cNvSpPr>
            <a:spLocks noGrp="1"/>
          </p:cNvSpPr>
          <p:nvPr>
            <p:ph type="body" idx="1"/>
          </p:nvPr>
        </p:nvSpPr>
        <p:spPr>
          <a:xfrm>
            <a:off x="179512" y="836712"/>
            <a:ext cx="8712968" cy="5544616"/>
          </a:xfrm>
        </p:spPr>
        <p:txBody>
          <a:bodyPr>
            <a:noAutofit/>
          </a:bodyPr>
          <a:lstStyle/>
          <a:p>
            <a:r>
              <a:rPr lang="en-US" altLang="zh-CN" sz="2000" dirty="0" err="1"/>
              <a:t>PressBook</a:t>
            </a:r>
            <a:r>
              <a:rPr lang="zh-CN" altLang="zh-CN" sz="2000" dirty="0"/>
              <a:t>的</a:t>
            </a:r>
            <a:r>
              <a:rPr lang="en-US" altLang="zh-CN" sz="2000" dirty="0">
                <a:solidFill>
                  <a:srgbClr val="0000FF"/>
                </a:solidFill>
              </a:rPr>
              <a:t>3NF</a:t>
            </a:r>
            <a:r>
              <a:rPr lang="zh-CN" altLang="zh-CN" sz="2000" dirty="0">
                <a:solidFill>
                  <a:srgbClr val="0000FF"/>
                </a:solidFill>
              </a:rPr>
              <a:t>分解结果</a:t>
            </a:r>
            <a:r>
              <a:rPr lang="zh-CN" altLang="zh-CN" sz="2000" dirty="0"/>
              <a:t>如下： </a:t>
            </a:r>
          </a:p>
          <a:p>
            <a:r>
              <a:rPr lang="en-US" altLang="zh-CN" sz="2000" dirty="0" err="1">
                <a:solidFill>
                  <a:srgbClr val="0000FF"/>
                </a:solidFill>
              </a:rPr>
              <a:t>PressBook</a:t>
            </a:r>
            <a:r>
              <a:rPr lang="en-US" altLang="zh-CN" sz="2000" dirty="0">
                <a:solidFill>
                  <a:srgbClr val="0000FF"/>
                </a:solidFill>
              </a:rPr>
              <a:t>=Press</a:t>
            </a:r>
            <a:r>
              <a:rPr lang="zh-CN" altLang="zh-CN" sz="2000" dirty="0">
                <a:solidFill>
                  <a:srgbClr val="0000FF"/>
                </a:solidFill>
              </a:rPr>
              <a:t>∪</a:t>
            </a:r>
            <a:r>
              <a:rPr lang="en-US" altLang="zh-CN" sz="2000" dirty="0">
                <a:solidFill>
                  <a:srgbClr val="0000FF"/>
                </a:solidFill>
              </a:rPr>
              <a:t>Book</a:t>
            </a:r>
            <a:endParaRPr lang="zh-CN" altLang="zh-CN" sz="2000" dirty="0">
              <a:solidFill>
                <a:srgbClr val="0000FF"/>
              </a:solidFill>
            </a:endParaRPr>
          </a:p>
          <a:p>
            <a:pPr marL="0" indent="0">
              <a:buNone/>
            </a:pPr>
            <a:r>
              <a:rPr lang="en-US" altLang="zh-CN" sz="2000" dirty="0">
                <a:solidFill>
                  <a:srgbClr val="0000FF"/>
                </a:solidFill>
              </a:rPr>
              <a:t>1</a:t>
            </a:r>
            <a:r>
              <a:rPr lang="zh-CN" altLang="zh-CN" sz="2000" dirty="0">
                <a:solidFill>
                  <a:srgbClr val="0000FF"/>
                </a:solidFill>
              </a:rPr>
              <a:t>）</a:t>
            </a:r>
            <a:r>
              <a:rPr lang="en-US" altLang="zh-CN" sz="2000" dirty="0">
                <a:solidFill>
                  <a:srgbClr val="0000FF"/>
                </a:solidFill>
              </a:rPr>
              <a:t>Book(U</a:t>
            </a:r>
            <a:r>
              <a:rPr lang="en-US" altLang="zh-CN" sz="2000" baseline="-25000" dirty="0">
                <a:solidFill>
                  <a:srgbClr val="0000FF"/>
                </a:solidFill>
              </a:rPr>
              <a:t>4</a:t>
            </a:r>
            <a:r>
              <a:rPr lang="en-US" altLang="zh-CN" sz="2000" dirty="0">
                <a:solidFill>
                  <a:srgbClr val="0000FF"/>
                </a:solidFill>
              </a:rPr>
              <a:t>,F</a:t>
            </a:r>
            <a:r>
              <a:rPr lang="en-US" altLang="zh-CN" sz="2000" baseline="-25000" dirty="0">
                <a:solidFill>
                  <a:srgbClr val="0000FF"/>
                </a:solidFill>
              </a:rPr>
              <a:t>4</a:t>
            </a:r>
            <a:r>
              <a:rPr lang="en-US" altLang="zh-CN" sz="2000" dirty="0">
                <a:solidFill>
                  <a:srgbClr val="0000FF"/>
                </a:solidFill>
              </a:rPr>
              <a:t>)</a:t>
            </a:r>
            <a:r>
              <a:rPr lang="zh-CN" altLang="zh-CN" sz="2000" dirty="0">
                <a:solidFill>
                  <a:srgbClr val="0000FF"/>
                </a:solidFill>
              </a:rPr>
              <a:t>：</a:t>
            </a:r>
          </a:p>
          <a:p>
            <a:r>
              <a:rPr lang="en-US" altLang="zh-CN" sz="2000" dirty="0"/>
              <a:t>U</a:t>
            </a:r>
            <a:r>
              <a:rPr lang="en-US" altLang="zh-CN" sz="2000" baseline="-25000" dirty="0"/>
              <a:t>4</a:t>
            </a:r>
            <a:r>
              <a:rPr lang="en-US" altLang="zh-CN" sz="2000" dirty="0"/>
              <a:t>={ </a:t>
            </a:r>
            <a:r>
              <a:rPr lang="en-US" altLang="zh-CN" sz="2000" dirty="0" err="1"/>
              <a:t>BNo</a:t>
            </a:r>
            <a:r>
              <a:rPr lang="zh-CN"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2000" dirty="0" err="1"/>
              <a:t>PNo</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en-US" altLang="zh-CN" sz="2000" dirty="0"/>
              <a:t> }</a:t>
            </a:r>
            <a:endParaRPr lang="zh-CN" altLang="zh-CN" sz="2000" dirty="0"/>
          </a:p>
          <a:p>
            <a:r>
              <a:rPr lang="en-US" altLang="zh-CN" sz="2000" dirty="0"/>
              <a:t>F</a:t>
            </a:r>
            <a:r>
              <a:rPr lang="en-US" altLang="zh-CN" sz="2000" baseline="-25000" dirty="0"/>
              <a:t>4</a:t>
            </a:r>
            <a:r>
              <a:rPr lang="en-US" altLang="zh-CN" sz="2000" dirty="0"/>
              <a:t>={ </a:t>
            </a:r>
            <a:r>
              <a:rPr lang="en-US" altLang="zh-CN" sz="2000" dirty="0" err="1"/>
              <a:t>BNo</a:t>
            </a:r>
            <a:r>
              <a:rPr lang="en-US" altLang="zh-CN" sz="2000" dirty="0"/>
              <a:t> </a:t>
            </a:r>
            <a:r>
              <a:rPr lang="zh-CN" altLang="zh-CN" sz="2000" dirty="0"/>
              <a:t>→</a:t>
            </a:r>
            <a:r>
              <a:rPr lang="en-US" altLang="zh-CN" sz="2000" dirty="0"/>
              <a:t> (</a:t>
            </a:r>
            <a:r>
              <a:rPr lang="en-US" altLang="zh-CN" sz="2000" dirty="0" err="1"/>
              <a:t>BName</a:t>
            </a:r>
            <a:r>
              <a:rPr lang="zh-CN" altLang="zh-CN" sz="2000" dirty="0"/>
              <a:t>，</a:t>
            </a:r>
            <a:r>
              <a:rPr lang="en-US" altLang="zh-CN" sz="2000" dirty="0"/>
              <a:t>Author</a:t>
            </a:r>
            <a:r>
              <a:rPr lang="zh-CN" altLang="zh-CN" sz="2000" dirty="0"/>
              <a:t>，</a:t>
            </a:r>
            <a:r>
              <a:rPr lang="en-US" altLang="zh-CN" sz="2000" dirty="0" err="1"/>
              <a:t>PNo</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en-US" altLang="zh-CN" sz="2000" dirty="0"/>
              <a:t>) }</a:t>
            </a:r>
            <a:endParaRPr lang="zh-CN" altLang="zh-CN" sz="2000" dirty="0"/>
          </a:p>
          <a:p>
            <a:pPr marL="0" indent="0">
              <a:buNone/>
            </a:pPr>
            <a:r>
              <a:rPr lang="en-US" altLang="zh-CN" sz="2000" dirty="0">
                <a:solidFill>
                  <a:srgbClr val="0000FF"/>
                </a:solidFill>
              </a:rPr>
              <a:t>2</a:t>
            </a:r>
            <a:r>
              <a:rPr lang="zh-CN" altLang="zh-CN" sz="2000" dirty="0">
                <a:solidFill>
                  <a:srgbClr val="0000FF"/>
                </a:solidFill>
              </a:rPr>
              <a:t>）</a:t>
            </a:r>
            <a:r>
              <a:rPr lang="en-US" altLang="zh-CN" sz="2000" dirty="0">
                <a:solidFill>
                  <a:srgbClr val="0000FF"/>
                </a:solidFill>
              </a:rPr>
              <a:t>Press(U</a:t>
            </a:r>
            <a:r>
              <a:rPr lang="en-US" altLang="zh-CN" sz="2000" baseline="-25000" dirty="0">
                <a:solidFill>
                  <a:srgbClr val="0000FF"/>
                </a:solidFill>
              </a:rPr>
              <a:t>5</a:t>
            </a:r>
            <a:r>
              <a:rPr lang="en-US" altLang="zh-CN" sz="2000" dirty="0">
                <a:solidFill>
                  <a:srgbClr val="0000FF"/>
                </a:solidFill>
              </a:rPr>
              <a:t>,F</a:t>
            </a:r>
            <a:r>
              <a:rPr lang="en-US" altLang="zh-CN" sz="2000" baseline="-25000" dirty="0">
                <a:solidFill>
                  <a:srgbClr val="0000FF"/>
                </a:solidFill>
              </a:rPr>
              <a:t>5</a:t>
            </a:r>
            <a:r>
              <a:rPr lang="en-US" altLang="zh-CN" sz="2000" dirty="0">
                <a:solidFill>
                  <a:srgbClr val="0000FF"/>
                </a:solidFill>
              </a:rPr>
              <a:t>)</a:t>
            </a:r>
            <a:r>
              <a:rPr lang="zh-CN" altLang="zh-CN" sz="2000" dirty="0">
                <a:solidFill>
                  <a:srgbClr val="0000FF"/>
                </a:solidFill>
              </a:rPr>
              <a:t>：</a:t>
            </a:r>
          </a:p>
          <a:p>
            <a:r>
              <a:rPr lang="en-US" altLang="zh-CN" sz="2000" dirty="0"/>
              <a:t>U</a:t>
            </a:r>
            <a:r>
              <a:rPr lang="en-US" altLang="zh-CN" sz="2000" baseline="-25000" dirty="0"/>
              <a:t>5</a:t>
            </a:r>
            <a:r>
              <a:rPr lang="en-US" altLang="zh-CN" sz="2000" dirty="0"/>
              <a:t>={ </a:t>
            </a:r>
            <a:r>
              <a:rPr lang="en-US" altLang="zh-CN" sz="2000" dirty="0" err="1"/>
              <a:t>PNo</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en-US" altLang="zh-CN" sz="2000" dirty="0"/>
              <a:t> }</a:t>
            </a:r>
            <a:endParaRPr lang="zh-CN" altLang="zh-CN" sz="2000" dirty="0"/>
          </a:p>
          <a:p>
            <a:r>
              <a:rPr lang="en-US" altLang="zh-CN" sz="2000" dirty="0"/>
              <a:t>F</a:t>
            </a:r>
            <a:r>
              <a:rPr lang="en-US" altLang="zh-CN" sz="2000" baseline="-25000" dirty="0"/>
              <a:t>5</a:t>
            </a:r>
            <a:r>
              <a:rPr lang="en-US" altLang="zh-CN" sz="2000" dirty="0"/>
              <a:t>={ </a:t>
            </a:r>
            <a:r>
              <a:rPr lang="en-US" altLang="zh-CN" sz="2000" dirty="0" err="1"/>
              <a:t>PNo</a:t>
            </a:r>
            <a:r>
              <a:rPr lang="en-US" altLang="zh-CN" sz="2000" dirty="0"/>
              <a:t> </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r>
              <a:rPr lang="en-US" altLang="zh-CN" sz="2000" dirty="0"/>
              <a:t>}</a:t>
            </a:r>
            <a:endParaRPr lang="zh-CN" altLang="zh-CN" sz="2000" dirty="0"/>
          </a:p>
          <a:p>
            <a:r>
              <a:rPr lang="zh-CN" altLang="zh-CN" sz="2000" dirty="0"/>
              <a:t>不难证明，</a:t>
            </a:r>
            <a:r>
              <a:rPr lang="en-US" altLang="zh-CN" sz="2000" dirty="0"/>
              <a:t>Book(U</a:t>
            </a:r>
            <a:r>
              <a:rPr lang="en-US" altLang="zh-CN" sz="2000" baseline="-25000" dirty="0"/>
              <a:t>4</a:t>
            </a:r>
            <a:r>
              <a:rPr lang="en-US" altLang="zh-CN" sz="2000" dirty="0"/>
              <a:t>,F</a:t>
            </a:r>
            <a:r>
              <a:rPr lang="en-US" altLang="zh-CN" sz="2000" baseline="-25000" dirty="0"/>
              <a:t>4</a:t>
            </a:r>
            <a:r>
              <a:rPr lang="en-US" altLang="zh-CN" sz="2000" dirty="0"/>
              <a:t>) </a:t>
            </a:r>
            <a:r>
              <a:rPr lang="zh-CN" altLang="zh-CN" sz="2000" dirty="0"/>
              <a:t>∈</a:t>
            </a:r>
            <a:r>
              <a:rPr lang="en-US" altLang="zh-CN" sz="2000" dirty="0"/>
              <a:t>3NF</a:t>
            </a:r>
            <a:r>
              <a:rPr lang="zh-CN" altLang="zh-CN" sz="2000" dirty="0"/>
              <a:t>，</a:t>
            </a:r>
            <a:r>
              <a:rPr lang="en-US" altLang="zh-CN" sz="2000" dirty="0"/>
              <a:t>Press(U</a:t>
            </a:r>
            <a:r>
              <a:rPr lang="en-US" altLang="zh-CN" sz="2000" baseline="-25000" dirty="0"/>
              <a:t>5</a:t>
            </a:r>
            <a:r>
              <a:rPr lang="en-US" altLang="zh-CN" sz="2000" dirty="0"/>
              <a:t>,F</a:t>
            </a:r>
            <a:r>
              <a:rPr lang="en-US" altLang="zh-CN" sz="2000" baseline="-25000" dirty="0"/>
              <a:t>5</a:t>
            </a:r>
            <a:r>
              <a:rPr lang="en-US" altLang="zh-CN" sz="2000" dirty="0"/>
              <a:t>) </a:t>
            </a:r>
            <a:r>
              <a:rPr lang="zh-CN" altLang="zh-CN" sz="2000" dirty="0"/>
              <a:t>∈</a:t>
            </a:r>
            <a:r>
              <a:rPr lang="en-US" altLang="zh-CN" sz="2000" dirty="0"/>
              <a:t>3NF</a:t>
            </a:r>
            <a:r>
              <a:rPr lang="zh-CN" altLang="zh-CN" sz="2000" dirty="0"/>
              <a:t>。</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24</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168357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6.2.4 </a:t>
            </a:r>
            <a:r>
              <a:rPr lang="zh-CN" altLang="zh-CN" sz="2800" dirty="0"/>
              <a:t>第三范式</a:t>
            </a:r>
            <a:endParaRPr lang="zh-CN" altLang="en-US" sz="3200" dirty="0"/>
          </a:p>
        </p:txBody>
      </p:sp>
      <p:sp>
        <p:nvSpPr>
          <p:cNvPr id="3" name="文本占位符 2"/>
          <p:cNvSpPr>
            <a:spLocks noGrp="1"/>
          </p:cNvSpPr>
          <p:nvPr>
            <p:ph type="body" idx="1"/>
          </p:nvPr>
        </p:nvSpPr>
        <p:spPr>
          <a:xfrm>
            <a:off x="179512" y="620688"/>
            <a:ext cx="8712968" cy="504056"/>
          </a:xfrm>
        </p:spPr>
        <p:txBody>
          <a:bodyPr>
            <a:noAutofit/>
          </a:bodyPr>
          <a:lstStyle/>
          <a:p>
            <a:r>
              <a:rPr lang="en-US" altLang="zh-CN" sz="2000" dirty="0" err="1"/>
              <a:t>PressBook</a:t>
            </a:r>
            <a:r>
              <a:rPr lang="zh-CN" altLang="zh-CN" sz="2000" dirty="0"/>
              <a:t>的</a:t>
            </a:r>
            <a:r>
              <a:rPr lang="en-US" altLang="zh-CN" sz="2000" dirty="0">
                <a:solidFill>
                  <a:srgbClr val="0000FF"/>
                </a:solidFill>
              </a:rPr>
              <a:t>3NF</a:t>
            </a:r>
            <a:r>
              <a:rPr lang="zh-CN" altLang="zh-CN" sz="2000" dirty="0">
                <a:solidFill>
                  <a:srgbClr val="0000FF"/>
                </a:solidFill>
              </a:rPr>
              <a:t>分解</a:t>
            </a:r>
            <a:r>
              <a:rPr lang="zh-CN" altLang="zh-CN" sz="2000" dirty="0"/>
              <a:t>如图</a:t>
            </a:r>
            <a:r>
              <a:rPr lang="en-US" altLang="zh-CN" sz="2000" dirty="0"/>
              <a:t>6.4</a:t>
            </a:r>
            <a:r>
              <a:rPr lang="zh-CN" altLang="zh-CN" sz="2000" dirty="0"/>
              <a:t>所示。</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25</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25"/>
          <p:cNvSpPr>
            <a:spLocks noChangeArrowheads="1"/>
          </p:cNvSpPr>
          <p:nvPr/>
        </p:nvSpPr>
        <p:spPr bwMode="auto">
          <a:xfrm>
            <a:off x="2241018" y="1270771"/>
            <a:ext cx="2024404" cy="3327466"/>
          </a:xfrm>
          <a:prstGeom prst="rect">
            <a:avLst/>
          </a:prstGeom>
          <a:solidFill>
            <a:srgbClr val="FFFFFF"/>
          </a:solidFill>
          <a:ln w="12700">
            <a:solidFill>
              <a:srgbClr val="000000"/>
            </a:solidFill>
            <a:prstDash val="dash"/>
            <a:miter lim="800000"/>
            <a:headEnd/>
            <a:tailEnd/>
          </a:ln>
        </p:spPr>
        <p:txBody>
          <a:bodyPr rot="0" vert="horz" wrap="square" lIns="0" tIns="28804" rIns="0" bIns="28804" anchor="t" anchorCtr="0" upright="1">
            <a:noAutofit/>
          </a:bodyPr>
          <a:lstStyle/>
          <a:p>
            <a:pPr indent="255905" algn="just">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11" name="Rectangle 25"/>
          <p:cNvSpPr>
            <a:spLocks noChangeArrowheads="1"/>
          </p:cNvSpPr>
          <p:nvPr/>
        </p:nvSpPr>
        <p:spPr bwMode="auto">
          <a:xfrm>
            <a:off x="3410674" y="1495464"/>
            <a:ext cx="3537589" cy="2248508"/>
          </a:xfrm>
          <a:prstGeom prst="rect">
            <a:avLst/>
          </a:prstGeom>
          <a:solidFill>
            <a:srgbClr val="FFFFFF">
              <a:alpha val="0"/>
            </a:srgbClr>
          </a:solidFill>
          <a:ln w="12700">
            <a:solidFill>
              <a:srgbClr val="000000"/>
            </a:solidFill>
            <a:prstDash val="dash"/>
            <a:miter lim="800000"/>
            <a:headEnd/>
            <a:tailEnd/>
          </a:ln>
        </p:spPr>
        <p:txBody>
          <a:bodyPr rot="0" vert="horz" wrap="square" lIns="0" tIns="28804" rIns="0" bIns="28804" anchor="t" anchorCtr="0" upright="1">
            <a:noAutofit/>
          </a:bodyPr>
          <a:lstStyle/>
          <a:p>
            <a:pPr indent="255905" algn="just">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12" name="Rectangle 25"/>
          <p:cNvSpPr>
            <a:spLocks noChangeArrowheads="1"/>
          </p:cNvSpPr>
          <p:nvPr/>
        </p:nvSpPr>
        <p:spPr bwMode="auto">
          <a:xfrm>
            <a:off x="423840" y="1495464"/>
            <a:ext cx="2673496" cy="2249130"/>
          </a:xfrm>
          <a:prstGeom prst="rect">
            <a:avLst/>
          </a:prstGeom>
          <a:solidFill>
            <a:srgbClr val="FFFFFF">
              <a:alpha val="0"/>
            </a:srgbClr>
          </a:solidFill>
          <a:ln w="12700">
            <a:solidFill>
              <a:srgbClr val="000000"/>
            </a:solidFill>
            <a:prstDash val="dash"/>
            <a:miter lim="800000"/>
            <a:headEnd/>
            <a:tailEnd/>
          </a:ln>
        </p:spPr>
        <p:txBody>
          <a:bodyPr rot="0" vert="horz" wrap="square" lIns="0" tIns="28804" rIns="0" bIns="28804" anchor="t" anchorCtr="0" upright="1">
            <a:noAutofit/>
          </a:bodyPr>
          <a:lstStyle/>
          <a:p>
            <a:pPr indent="255905" algn="just">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cxnSp>
        <p:nvCxnSpPr>
          <p:cNvPr id="13" name="Line 13"/>
          <p:cNvCxnSpPr/>
          <p:nvPr/>
        </p:nvCxnSpPr>
        <p:spPr bwMode="auto">
          <a:xfrm flipV="1">
            <a:off x="1757375" y="2345623"/>
            <a:ext cx="925441"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4" name="Rectangle 14"/>
          <p:cNvSpPr>
            <a:spLocks noChangeArrowheads="1"/>
          </p:cNvSpPr>
          <p:nvPr/>
        </p:nvSpPr>
        <p:spPr bwMode="auto">
          <a:xfrm>
            <a:off x="729107" y="1634835"/>
            <a:ext cx="1028268" cy="1952968"/>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78740">
              <a:lnSpc>
                <a:spcPts val="2200"/>
              </a:lnSpc>
              <a:spcAft>
                <a:spcPts val="0"/>
              </a:spcAft>
            </a:pPr>
            <a:r>
              <a:rPr lang="en-US" sz="2000" dirty="0" err="1" smtClean="0">
                <a:effectLst/>
                <a:latin typeface="微软雅黑" pitchFamily="34" charset="-122"/>
                <a:ea typeface="微软雅黑" pitchFamily="34" charset="-122"/>
                <a:cs typeface="宋体"/>
              </a:rPr>
              <a:t>CName</a:t>
            </a:r>
            <a:endParaRPr lang="zh-CN" sz="2000" dirty="0">
              <a:effectLst/>
              <a:latin typeface="微软雅黑" pitchFamily="34" charset="-122"/>
              <a:ea typeface="微软雅黑" pitchFamily="34" charset="-122"/>
              <a:cs typeface="宋体"/>
            </a:endParaRPr>
          </a:p>
          <a:p>
            <a:pPr indent="78740">
              <a:lnSpc>
                <a:spcPts val="2200"/>
              </a:lnSpc>
              <a:spcAft>
                <a:spcPts val="0"/>
              </a:spcAft>
            </a:pPr>
            <a:r>
              <a:rPr lang="en-US" sz="2000" dirty="0" err="1">
                <a:effectLst/>
                <a:latin typeface="微软雅黑" pitchFamily="34" charset="-122"/>
                <a:ea typeface="微软雅黑" pitchFamily="34" charset="-122"/>
                <a:cs typeface="宋体"/>
              </a:rPr>
              <a:t>CSex</a:t>
            </a:r>
            <a:endParaRPr lang="zh-CN" sz="2000" dirty="0">
              <a:effectLst/>
              <a:latin typeface="微软雅黑" pitchFamily="34" charset="-122"/>
              <a:ea typeface="微软雅黑" pitchFamily="34" charset="-122"/>
              <a:cs typeface="宋体"/>
            </a:endParaRPr>
          </a:p>
          <a:p>
            <a:pPr indent="78740">
              <a:lnSpc>
                <a:spcPts val="2200"/>
              </a:lnSpc>
              <a:spcAft>
                <a:spcPts val="0"/>
              </a:spcAft>
            </a:pPr>
            <a:r>
              <a:rPr lang="en-US" sz="2000" dirty="0">
                <a:effectLst/>
                <a:latin typeface="微软雅黑" pitchFamily="34" charset="-122"/>
                <a:ea typeface="微软雅黑" pitchFamily="34" charset="-122"/>
                <a:cs typeface="宋体"/>
              </a:rPr>
              <a:t>Birth</a:t>
            </a:r>
            <a:endParaRPr lang="zh-CN" sz="2000" dirty="0">
              <a:effectLst/>
              <a:latin typeface="微软雅黑" pitchFamily="34" charset="-122"/>
              <a:ea typeface="微软雅黑" pitchFamily="34" charset="-122"/>
              <a:cs typeface="宋体"/>
            </a:endParaRPr>
          </a:p>
          <a:p>
            <a:pPr indent="78740">
              <a:lnSpc>
                <a:spcPts val="2200"/>
              </a:lnSpc>
              <a:spcAft>
                <a:spcPts val="0"/>
              </a:spcAft>
            </a:pPr>
            <a:r>
              <a:rPr lang="en-US" sz="2000" dirty="0">
                <a:effectLst/>
                <a:latin typeface="微软雅黑" pitchFamily="34" charset="-122"/>
                <a:ea typeface="微软雅黑" pitchFamily="34" charset="-122"/>
                <a:cs typeface="宋体"/>
              </a:rPr>
              <a:t>Marry</a:t>
            </a:r>
            <a:endParaRPr lang="zh-CN" sz="2000" dirty="0">
              <a:effectLst/>
              <a:latin typeface="微软雅黑" pitchFamily="34" charset="-122"/>
              <a:ea typeface="微软雅黑" pitchFamily="34" charset="-122"/>
              <a:cs typeface="宋体"/>
            </a:endParaRPr>
          </a:p>
          <a:p>
            <a:pPr indent="78740">
              <a:lnSpc>
                <a:spcPts val="2200"/>
              </a:lnSpc>
              <a:spcAft>
                <a:spcPts val="0"/>
              </a:spcAft>
            </a:pPr>
            <a:r>
              <a:rPr lang="en-US" sz="2000" dirty="0">
                <a:effectLst/>
                <a:latin typeface="微软雅黑" pitchFamily="34" charset="-122"/>
                <a:ea typeface="微软雅黑" pitchFamily="34" charset="-122"/>
                <a:cs typeface="宋体"/>
              </a:rPr>
              <a:t>Photo</a:t>
            </a:r>
            <a:endParaRPr lang="zh-CN" sz="2000" dirty="0">
              <a:effectLst/>
              <a:latin typeface="微软雅黑" pitchFamily="34" charset="-122"/>
              <a:ea typeface="微软雅黑" pitchFamily="34" charset="-122"/>
              <a:cs typeface="宋体"/>
            </a:endParaRPr>
          </a:p>
          <a:p>
            <a:pPr indent="78740">
              <a:lnSpc>
                <a:spcPts val="2200"/>
              </a:lnSpc>
              <a:spcAft>
                <a:spcPts val="0"/>
              </a:spcAft>
            </a:pPr>
            <a:r>
              <a:rPr lang="en-US" sz="2000" dirty="0">
                <a:effectLst/>
                <a:latin typeface="微软雅黑" pitchFamily="34" charset="-122"/>
                <a:ea typeface="微软雅黑" pitchFamily="34" charset="-122"/>
                <a:cs typeface="宋体"/>
              </a:rPr>
              <a:t>Email</a:t>
            </a:r>
            <a:endParaRPr lang="zh-CN" sz="2000" dirty="0">
              <a:effectLst/>
              <a:latin typeface="微软雅黑" pitchFamily="34" charset="-122"/>
              <a:ea typeface="微软雅黑" pitchFamily="34" charset="-122"/>
              <a:cs typeface="宋体"/>
            </a:endParaRPr>
          </a:p>
        </p:txBody>
      </p:sp>
      <p:sp>
        <p:nvSpPr>
          <p:cNvPr id="15" name="Rectangle 15"/>
          <p:cNvSpPr>
            <a:spLocks noChangeArrowheads="1"/>
          </p:cNvSpPr>
          <p:nvPr/>
        </p:nvSpPr>
        <p:spPr bwMode="auto">
          <a:xfrm>
            <a:off x="2477162" y="1634833"/>
            <a:ext cx="1568108" cy="1256116"/>
          </a:xfrm>
          <a:prstGeom prst="rect">
            <a:avLst/>
          </a:prstGeom>
          <a:solidFill>
            <a:srgbClr val="FFFFFF">
              <a:alpha val="0"/>
            </a:srgbClr>
          </a:solidFill>
          <a:ln w="12700">
            <a:solidFill>
              <a:srgbClr val="000000"/>
            </a:solidFill>
            <a:miter lim="800000"/>
            <a:headEnd/>
            <a:tailEnd/>
          </a:ln>
        </p:spPr>
        <p:txBody>
          <a:bodyPr rot="0" vert="horz" wrap="square" lIns="0" tIns="28804" rIns="0" bIns="28804" anchor="t" anchorCtr="0" upright="1">
            <a:noAutofit/>
          </a:bodyPr>
          <a:lstStyle/>
          <a:p>
            <a:pPr indent="128270" algn="ctr">
              <a:lnSpc>
                <a:spcPts val="2200"/>
              </a:lnSpc>
              <a:spcAft>
                <a:spcPts val="0"/>
              </a:spcAft>
            </a:pPr>
            <a:r>
              <a:rPr lang="en-US" sz="2000" b="1">
                <a:solidFill>
                  <a:srgbClr val="000000"/>
                </a:solidFill>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indent="128270" algn="ctr">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algn="ctr">
              <a:lnSpc>
                <a:spcPts val="2200"/>
              </a:lnSpc>
              <a:spcAft>
                <a:spcPts val="0"/>
              </a:spcAft>
            </a:pPr>
            <a:r>
              <a:rPr lang="en-US" sz="2000" b="1">
                <a:solidFill>
                  <a:srgbClr val="000000"/>
                </a:solidFill>
                <a:effectLst/>
                <a:latin typeface="微软雅黑" pitchFamily="34" charset="-122"/>
                <a:ea typeface="微软雅黑" pitchFamily="34" charset="-122"/>
                <a:cs typeface="宋体"/>
              </a:rPr>
              <a:t>CNo     BNo</a:t>
            </a:r>
            <a:endParaRPr lang="zh-CN" sz="2000">
              <a:effectLst/>
              <a:latin typeface="微软雅黑" pitchFamily="34" charset="-122"/>
              <a:ea typeface="微软雅黑" pitchFamily="34" charset="-122"/>
              <a:cs typeface="宋体"/>
            </a:endParaRPr>
          </a:p>
        </p:txBody>
      </p:sp>
      <p:cxnSp>
        <p:nvCxnSpPr>
          <p:cNvPr id="16" name="Line 16"/>
          <p:cNvCxnSpPr/>
          <p:nvPr/>
        </p:nvCxnSpPr>
        <p:spPr bwMode="auto">
          <a:xfrm flipH="1" flipV="1">
            <a:off x="3839617" y="2357777"/>
            <a:ext cx="822614"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7" name="Rectangle 17"/>
          <p:cNvSpPr>
            <a:spLocks noChangeArrowheads="1"/>
          </p:cNvSpPr>
          <p:nvPr/>
        </p:nvSpPr>
        <p:spPr bwMode="auto">
          <a:xfrm>
            <a:off x="7152567" y="1772817"/>
            <a:ext cx="1011130" cy="1814986"/>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algn="ctr">
              <a:lnSpc>
                <a:spcPts val="2200"/>
              </a:lnSpc>
              <a:spcAft>
                <a:spcPts val="0"/>
              </a:spcAft>
            </a:pPr>
            <a:r>
              <a:rPr lang="en-US" sz="2000" dirty="0" err="1">
                <a:effectLst/>
                <a:latin typeface="微软雅黑" pitchFamily="34" charset="-122"/>
                <a:ea typeface="微软雅黑" pitchFamily="34" charset="-122"/>
                <a:cs typeface="宋体"/>
              </a:rPr>
              <a:t>PName</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err="1">
                <a:effectLst/>
                <a:latin typeface="微软雅黑" pitchFamily="34" charset="-122"/>
                <a:ea typeface="微软雅黑" pitchFamily="34" charset="-122"/>
                <a:cs typeface="宋体"/>
              </a:rPr>
              <a:t>PCode</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err="1">
                <a:effectLst/>
                <a:latin typeface="微软雅黑" pitchFamily="34" charset="-122"/>
                <a:ea typeface="微软雅黑" pitchFamily="34" charset="-122"/>
                <a:cs typeface="宋体"/>
              </a:rPr>
              <a:t>PAddr</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a:effectLst/>
                <a:latin typeface="微软雅黑" pitchFamily="34" charset="-122"/>
                <a:ea typeface="微软雅黑" pitchFamily="34" charset="-122"/>
                <a:cs typeface="宋体"/>
              </a:rPr>
              <a:t>Phone</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a:effectLst/>
                <a:latin typeface="微软雅黑" pitchFamily="34" charset="-122"/>
                <a:ea typeface="微软雅黑" pitchFamily="34" charset="-122"/>
                <a:cs typeface="宋体"/>
              </a:rPr>
              <a:t>Email</a:t>
            </a:r>
            <a:endParaRPr lang="zh-CN" sz="2000" dirty="0">
              <a:effectLst/>
              <a:latin typeface="微软雅黑" pitchFamily="34" charset="-122"/>
              <a:ea typeface="微软雅黑" pitchFamily="34" charset="-122"/>
              <a:cs typeface="宋体"/>
            </a:endParaRPr>
          </a:p>
          <a:p>
            <a:pPr algn="ctr">
              <a:lnSpc>
                <a:spcPts val="2200"/>
              </a:lnSpc>
              <a:spcAft>
                <a:spcPts val="0"/>
              </a:spcAft>
            </a:pPr>
            <a:r>
              <a:rPr lang="en-US" sz="2000" dirty="0" err="1">
                <a:effectLst/>
                <a:latin typeface="微软雅黑" pitchFamily="34" charset="-122"/>
                <a:ea typeface="微软雅黑" pitchFamily="34" charset="-122"/>
                <a:cs typeface="宋体"/>
              </a:rPr>
              <a:t>HPage</a:t>
            </a:r>
            <a:endParaRPr lang="zh-CN" sz="2000" dirty="0">
              <a:effectLst/>
              <a:latin typeface="微软雅黑" pitchFamily="34" charset="-122"/>
              <a:ea typeface="微软雅黑" pitchFamily="34" charset="-122"/>
              <a:cs typeface="宋体"/>
            </a:endParaRPr>
          </a:p>
        </p:txBody>
      </p:sp>
      <p:sp>
        <p:nvSpPr>
          <p:cNvPr id="18" name="Rectangle 18"/>
          <p:cNvSpPr>
            <a:spLocks noChangeArrowheads="1"/>
          </p:cNvSpPr>
          <p:nvPr/>
        </p:nvSpPr>
        <p:spPr bwMode="auto">
          <a:xfrm>
            <a:off x="4662231" y="1634835"/>
            <a:ext cx="1956138" cy="1952968"/>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88900">
              <a:lnSpc>
                <a:spcPts val="2200"/>
              </a:lnSpc>
              <a:spcAft>
                <a:spcPts val="0"/>
              </a:spcAft>
            </a:pPr>
            <a:r>
              <a:rPr lang="en-US" sz="2000" dirty="0" err="1" smtClean="0">
                <a:effectLst/>
                <a:latin typeface="微软雅黑" pitchFamily="34" charset="-122"/>
                <a:ea typeface="微软雅黑" pitchFamily="34" charset="-122"/>
                <a:cs typeface="宋体"/>
              </a:rPr>
              <a:t>BName</a:t>
            </a:r>
            <a:endParaRPr lang="zh-CN" sz="2000" dirty="0">
              <a:effectLst/>
              <a:latin typeface="微软雅黑" pitchFamily="34" charset="-122"/>
              <a:ea typeface="微软雅黑" pitchFamily="34" charset="-122"/>
              <a:cs typeface="宋体"/>
            </a:endParaRPr>
          </a:p>
          <a:p>
            <a:pPr indent="88900">
              <a:lnSpc>
                <a:spcPts val="2200"/>
              </a:lnSpc>
              <a:spcAft>
                <a:spcPts val="0"/>
              </a:spcAft>
            </a:pPr>
            <a:r>
              <a:rPr lang="en-US" sz="2000" dirty="0">
                <a:effectLst/>
                <a:latin typeface="微软雅黑" pitchFamily="34" charset="-122"/>
                <a:ea typeface="微软雅黑" pitchFamily="34" charset="-122"/>
                <a:cs typeface="宋体"/>
              </a:rPr>
              <a:t>Author</a:t>
            </a:r>
            <a:endParaRPr lang="zh-CN" sz="2000" dirty="0">
              <a:effectLst/>
              <a:latin typeface="微软雅黑" pitchFamily="34" charset="-122"/>
              <a:ea typeface="微软雅黑" pitchFamily="34" charset="-122"/>
              <a:cs typeface="宋体"/>
            </a:endParaRPr>
          </a:p>
          <a:p>
            <a:pPr indent="88900">
              <a:lnSpc>
                <a:spcPts val="2200"/>
              </a:lnSpc>
              <a:spcAft>
                <a:spcPts val="0"/>
              </a:spcAft>
            </a:pPr>
            <a:r>
              <a:rPr lang="en-US" dirty="0" err="1" smtClean="0">
                <a:effectLst/>
                <a:latin typeface="微软雅黑" pitchFamily="34" charset="-122"/>
                <a:ea typeface="微软雅黑" pitchFamily="34" charset="-122"/>
                <a:cs typeface="宋体"/>
              </a:rPr>
              <a:t>EditNo</a:t>
            </a:r>
            <a:r>
              <a:rPr lang="en-US" dirty="0" smtClean="0">
                <a:effectLst/>
                <a:latin typeface="微软雅黑" pitchFamily="34" charset="-122"/>
                <a:ea typeface="微软雅黑" pitchFamily="34" charset="-122"/>
                <a:cs typeface="宋体"/>
              </a:rPr>
              <a:t>     </a:t>
            </a:r>
            <a:r>
              <a:rPr lang="en-US" dirty="0" err="1" smtClean="0">
                <a:effectLst/>
                <a:latin typeface="微软雅黑" pitchFamily="34" charset="-122"/>
                <a:ea typeface="微软雅黑" pitchFamily="34" charset="-122"/>
                <a:cs typeface="宋体"/>
              </a:rPr>
              <a:t>PNo</a:t>
            </a:r>
            <a:endParaRPr lang="zh-CN" dirty="0">
              <a:effectLst/>
              <a:latin typeface="微软雅黑" pitchFamily="34" charset="-122"/>
              <a:ea typeface="微软雅黑" pitchFamily="34" charset="-122"/>
              <a:cs typeface="宋体"/>
            </a:endParaRPr>
          </a:p>
          <a:p>
            <a:pPr indent="88900">
              <a:lnSpc>
                <a:spcPts val="2200"/>
              </a:lnSpc>
              <a:spcAft>
                <a:spcPts val="0"/>
              </a:spcAft>
            </a:pPr>
            <a:r>
              <a:rPr lang="en-US" sz="2000" dirty="0">
                <a:effectLst/>
                <a:latin typeface="微软雅黑" pitchFamily="34" charset="-122"/>
                <a:ea typeface="微软雅黑" pitchFamily="34" charset="-122"/>
                <a:cs typeface="宋体"/>
              </a:rPr>
              <a:t>Price</a:t>
            </a:r>
            <a:endParaRPr lang="zh-CN" sz="2000" dirty="0">
              <a:effectLst/>
              <a:latin typeface="微软雅黑" pitchFamily="34" charset="-122"/>
              <a:ea typeface="微软雅黑" pitchFamily="34" charset="-122"/>
              <a:cs typeface="宋体"/>
            </a:endParaRPr>
          </a:p>
          <a:p>
            <a:pPr indent="88900">
              <a:lnSpc>
                <a:spcPts val="2200"/>
              </a:lnSpc>
              <a:spcAft>
                <a:spcPts val="0"/>
              </a:spcAft>
            </a:pPr>
            <a:r>
              <a:rPr lang="en-US" sz="2000" dirty="0" err="1">
                <a:effectLst/>
                <a:latin typeface="微软雅黑" pitchFamily="34" charset="-122"/>
                <a:ea typeface="微软雅黑" pitchFamily="34" charset="-122"/>
                <a:cs typeface="宋体"/>
              </a:rPr>
              <a:t>PPrice</a:t>
            </a:r>
            <a:endParaRPr lang="zh-CN" sz="2000" dirty="0">
              <a:effectLst/>
              <a:latin typeface="微软雅黑" pitchFamily="34" charset="-122"/>
              <a:ea typeface="微软雅黑" pitchFamily="34" charset="-122"/>
              <a:cs typeface="宋体"/>
            </a:endParaRPr>
          </a:p>
          <a:p>
            <a:pPr indent="88900">
              <a:lnSpc>
                <a:spcPts val="2200"/>
              </a:lnSpc>
              <a:spcAft>
                <a:spcPts val="0"/>
              </a:spcAft>
            </a:pPr>
            <a:r>
              <a:rPr lang="en-US" sz="2000" dirty="0" err="1">
                <a:effectLst/>
                <a:latin typeface="微软雅黑" pitchFamily="34" charset="-122"/>
                <a:ea typeface="微软雅黑" pitchFamily="34" charset="-122"/>
                <a:cs typeface="宋体"/>
              </a:rPr>
              <a:t>SPrice</a:t>
            </a:r>
            <a:endParaRPr lang="zh-CN" sz="2000" dirty="0">
              <a:effectLst/>
              <a:latin typeface="微软雅黑" pitchFamily="34" charset="-122"/>
              <a:ea typeface="微软雅黑" pitchFamily="34" charset="-122"/>
              <a:cs typeface="宋体"/>
            </a:endParaRPr>
          </a:p>
        </p:txBody>
      </p:sp>
      <p:sp>
        <p:nvSpPr>
          <p:cNvPr id="19" name="Rectangle 19"/>
          <p:cNvSpPr>
            <a:spLocks noChangeArrowheads="1"/>
          </p:cNvSpPr>
          <p:nvPr/>
        </p:nvSpPr>
        <p:spPr bwMode="auto">
          <a:xfrm>
            <a:off x="2682816" y="3971071"/>
            <a:ext cx="1156801" cy="473859"/>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algn="ctr">
              <a:lnSpc>
                <a:spcPts val="2200"/>
              </a:lnSpc>
              <a:spcAft>
                <a:spcPts val="0"/>
              </a:spcAft>
            </a:pPr>
            <a:r>
              <a:rPr lang="en-US" sz="2000" dirty="0" err="1">
                <a:solidFill>
                  <a:srgbClr val="000000"/>
                </a:solidFill>
                <a:effectLst/>
                <a:latin typeface="微软雅黑" pitchFamily="34" charset="-122"/>
                <a:ea typeface="微软雅黑" pitchFamily="34" charset="-122"/>
                <a:cs typeface="宋体"/>
              </a:rPr>
              <a:t>PDate</a:t>
            </a:r>
            <a:endParaRPr lang="zh-CN" sz="2000" dirty="0">
              <a:effectLst/>
              <a:latin typeface="微软雅黑" pitchFamily="34" charset="-122"/>
              <a:ea typeface="微软雅黑" pitchFamily="34" charset="-122"/>
              <a:cs typeface="宋体"/>
            </a:endParaRPr>
          </a:p>
        </p:txBody>
      </p:sp>
      <p:cxnSp>
        <p:nvCxnSpPr>
          <p:cNvPr id="20" name="Line 20"/>
          <p:cNvCxnSpPr/>
          <p:nvPr/>
        </p:nvCxnSpPr>
        <p:spPr bwMode="auto">
          <a:xfrm flipV="1">
            <a:off x="3261216" y="2890949"/>
            <a:ext cx="0" cy="1080122"/>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21" name="Line 21"/>
          <p:cNvCxnSpPr/>
          <p:nvPr/>
        </p:nvCxnSpPr>
        <p:spPr bwMode="auto">
          <a:xfrm flipH="1">
            <a:off x="1757375" y="1990229"/>
            <a:ext cx="694081" cy="0"/>
          </a:xfrm>
          <a:prstGeom prst="line">
            <a:avLst/>
          </a:prstGeom>
          <a:noFill/>
          <a:ln w="1270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cxnSp>
        <p:nvCxnSpPr>
          <p:cNvPr id="22" name="Line 22"/>
          <p:cNvCxnSpPr/>
          <p:nvPr/>
        </p:nvCxnSpPr>
        <p:spPr bwMode="auto">
          <a:xfrm flipH="1" flipV="1">
            <a:off x="4045271" y="1965757"/>
            <a:ext cx="616961" cy="0"/>
          </a:xfrm>
          <a:prstGeom prst="line">
            <a:avLst/>
          </a:prstGeom>
          <a:noFill/>
          <a:ln w="12700">
            <a:solidFill>
              <a:srgbClr val="000000"/>
            </a:solidFill>
            <a:prstDash val="dash"/>
            <a:round/>
            <a:headEnd type="triangle" w="med" len="med"/>
            <a:tailEnd/>
          </a:ln>
          <a:extLst>
            <a:ext uri="{909E8E84-426E-40DD-AFC4-6F175D3DCCD1}">
              <a14:hiddenFill xmlns:a14="http://schemas.microsoft.com/office/drawing/2010/main">
                <a:noFill/>
              </a14:hiddenFill>
            </a:ext>
          </a:extLst>
        </p:spPr>
      </p:cxnSp>
      <p:cxnSp>
        <p:nvCxnSpPr>
          <p:cNvPr id="23" name="Line 23"/>
          <p:cNvCxnSpPr/>
          <p:nvPr/>
        </p:nvCxnSpPr>
        <p:spPr bwMode="auto">
          <a:xfrm flipH="1">
            <a:off x="6300192" y="2358009"/>
            <a:ext cx="852377" cy="11345"/>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24" name="Rectangle 25"/>
          <p:cNvSpPr>
            <a:spLocks noChangeArrowheads="1"/>
          </p:cNvSpPr>
          <p:nvPr/>
        </p:nvSpPr>
        <p:spPr bwMode="auto">
          <a:xfrm>
            <a:off x="5640300" y="1246039"/>
            <a:ext cx="2736304" cy="2700300"/>
          </a:xfrm>
          <a:prstGeom prst="rect">
            <a:avLst/>
          </a:prstGeom>
          <a:solidFill>
            <a:srgbClr val="FFFFFF">
              <a:alpha val="0"/>
            </a:srgbClr>
          </a:solidFill>
          <a:ln w="12700">
            <a:solidFill>
              <a:srgbClr val="000000"/>
            </a:solidFill>
            <a:prstDash val="lgDashDot"/>
            <a:miter lim="800000"/>
            <a:headEnd/>
            <a:tailEnd/>
          </a:ln>
        </p:spPr>
        <p:txBody>
          <a:bodyPr rot="0" vert="horz" wrap="square" lIns="0" tIns="28804" rIns="0" bIns="28804" anchor="t" anchorCtr="0" upright="1">
            <a:noAutofit/>
          </a:bodyPr>
          <a:lstStyle/>
          <a:p>
            <a:pPr indent="255905" algn="just">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26" name="矩形 25"/>
          <p:cNvSpPr/>
          <p:nvPr/>
        </p:nvSpPr>
        <p:spPr>
          <a:xfrm>
            <a:off x="395912" y="4797152"/>
            <a:ext cx="8324624" cy="1200329"/>
          </a:xfrm>
          <a:prstGeom prst="rect">
            <a:avLst/>
          </a:prstGeom>
        </p:spPr>
        <p:txBody>
          <a:bodyPr wrap="square">
            <a:spAutoFit/>
          </a:bodyPr>
          <a:lstStyle/>
          <a:p>
            <a:r>
              <a:rPr lang="zh-CN" altLang="zh-CN" dirty="0">
                <a:solidFill>
                  <a:srgbClr val="0000FF"/>
                </a:solidFill>
                <a:latin typeface="微软雅黑" pitchFamily="34" charset="-122"/>
                <a:ea typeface="微软雅黑" pitchFamily="34" charset="-122"/>
              </a:rPr>
              <a:t>提示：</a:t>
            </a:r>
            <a:r>
              <a:rPr lang="zh-CN" altLang="zh-CN" dirty="0">
                <a:latin typeface="微软雅黑" pitchFamily="34" charset="-122"/>
                <a:ea typeface="微软雅黑" pitchFamily="34" charset="-122"/>
              </a:rPr>
              <a:t>在进行</a:t>
            </a:r>
            <a:r>
              <a:rPr lang="en-US" altLang="zh-CN" dirty="0">
                <a:latin typeface="微软雅黑" pitchFamily="34" charset="-122"/>
                <a:ea typeface="微软雅黑" pitchFamily="34" charset="-122"/>
              </a:rPr>
              <a:t>3NF</a:t>
            </a:r>
            <a:r>
              <a:rPr lang="zh-CN" altLang="zh-CN" dirty="0">
                <a:latin typeface="微软雅黑" pitchFamily="34" charset="-122"/>
                <a:ea typeface="微软雅黑" pitchFamily="34" charset="-122"/>
              </a:rPr>
              <a:t>分解时，一般需要把中间起传递作用的属性集合同时分配到分解前后的关系模式中。因为它是连接的基本条件，尽管它存在一定的数据冗余。</a:t>
            </a:r>
          </a:p>
          <a:p>
            <a:r>
              <a:rPr lang="zh-CN" altLang="zh-CN" dirty="0">
                <a:latin typeface="微软雅黑" pitchFamily="34" charset="-122"/>
                <a:ea typeface="微软雅黑" pitchFamily="34" charset="-122"/>
              </a:rPr>
              <a:t>例如：</a:t>
            </a:r>
            <a:r>
              <a:rPr lang="en-US" altLang="zh-CN" dirty="0" err="1">
                <a:latin typeface="微软雅黑" pitchFamily="34" charset="-122"/>
                <a:ea typeface="微软雅黑" pitchFamily="34" charset="-122"/>
              </a:rPr>
              <a:t>BNo</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PNo</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PNo</a:t>
            </a:r>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PName</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PCode</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PAddr</a:t>
            </a:r>
            <a:r>
              <a:rPr lang="zh-CN" altLang="zh-CN" dirty="0">
                <a:latin typeface="微软雅黑" pitchFamily="34" charset="-122"/>
                <a:ea typeface="微软雅黑" pitchFamily="34" charset="-122"/>
              </a:rPr>
              <a:t>，</a:t>
            </a:r>
            <a:r>
              <a:rPr lang="en-US" altLang="zh-CN" dirty="0">
                <a:latin typeface="微软雅黑" pitchFamily="34" charset="-122"/>
                <a:ea typeface="微软雅黑" pitchFamily="34" charset="-122"/>
              </a:rPr>
              <a:t>Phone</a:t>
            </a:r>
            <a:r>
              <a:rPr lang="zh-CN" altLang="zh-CN" dirty="0">
                <a:latin typeface="微软雅黑" pitchFamily="34" charset="-122"/>
                <a:ea typeface="微软雅黑" pitchFamily="34" charset="-122"/>
              </a:rPr>
              <a:t>，</a:t>
            </a:r>
            <a:r>
              <a:rPr lang="en-US" altLang="zh-CN" dirty="0">
                <a:latin typeface="微软雅黑" pitchFamily="34" charset="-122"/>
                <a:ea typeface="微软雅黑" pitchFamily="34" charset="-122"/>
              </a:rPr>
              <a:t>Email</a:t>
            </a:r>
            <a:r>
              <a:rPr lang="zh-CN" altLang="zh-CN" dirty="0">
                <a:latin typeface="微软雅黑" pitchFamily="34" charset="-122"/>
                <a:ea typeface="微软雅黑" pitchFamily="34" charset="-122"/>
              </a:rPr>
              <a:t>，</a:t>
            </a:r>
            <a:r>
              <a:rPr lang="en-US" altLang="zh-CN" dirty="0" err="1">
                <a:latin typeface="微软雅黑" pitchFamily="34" charset="-122"/>
                <a:ea typeface="微软雅黑" pitchFamily="34" charset="-122"/>
              </a:rPr>
              <a:t>HPage</a:t>
            </a:r>
            <a:r>
              <a:rPr lang="zh-CN" altLang="zh-CN" dirty="0">
                <a:latin typeface="微软雅黑" pitchFamily="34" charset="-122"/>
                <a:ea typeface="微软雅黑" pitchFamily="34" charset="-122"/>
              </a:rPr>
              <a:t>），所以把</a:t>
            </a:r>
            <a:r>
              <a:rPr lang="en-US" altLang="zh-CN" dirty="0" err="1">
                <a:latin typeface="微软雅黑" pitchFamily="34" charset="-122"/>
                <a:ea typeface="微软雅黑" pitchFamily="34" charset="-122"/>
              </a:rPr>
              <a:t>PNo</a:t>
            </a:r>
            <a:r>
              <a:rPr lang="zh-CN" altLang="zh-CN" dirty="0">
                <a:latin typeface="微软雅黑" pitchFamily="34" charset="-122"/>
                <a:ea typeface="微软雅黑" pitchFamily="34" charset="-122"/>
              </a:rPr>
              <a:t>同时分配到</a:t>
            </a:r>
            <a:r>
              <a:rPr lang="en-US" altLang="zh-CN" dirty="0">
                <a:latin typeface="微软雅黑" pitchFamily="34" charset="-122"/>
                <a:ea typeface="微软雅黑" pitchFamily="34" charset="-122"/>
              </a:rPr>
              <a:t>Book</a:t>
            </a:r>
            <a:r>
              <a:rPr lang="zh-CN" altLang="zh-CN" dirty="0">
                <a:latin typeface="微软雅黑" pitchFamily="34" charset="-122"/>
                <a:ea typeface="微软雅黑" pitchFamily="34" charset="-122"/>
              </a:rPr>
              <a:t>和</a:t>
            </a:r>
            <a:r>
              <a:rPr lang="en-US" altLang="zh-CN" dirty="0">
                <a:latin typeface="微软雅黑" pitchFamily="34" charset="-122"/>
                <a:ea typeface="微软雅黑" pitchFamily="34" charset="-122"/>
              </a:rPr>
              <a:t>Press</a:t>
            </a:r>
            <a:r>
              <a:rPr lang="zh-CN" altLang="zh-CN" dirty="0">
                <a:latin typeface="微软雅黑" pitchFamily="34" charset="-122"/>
                <a:ea typeface="微软雅黑" pitchFamily="34" charset="-122"/>
              </a:rPr>
              <a:t>中。</a:t>
            </a:r>
          </a:p>
        </p:txBody>
      </p:sp>
    </p:spTree>
    <p:extLst>
      <p:ext uri="{BB962C8B-B14F-4D97-AF65-F5344CB8AC3E}">
        <p14:creationId xmlns:p14="http://schemas.microsoft.com/office/powerpoint/2010/main" val="1303141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err="1"/>
              <a:t>BInfo</a:t>
            </a:r>
            <a:r>
              <a:rPr lang="zh-CN" altLang="zh-CN" sz="2400" dirty="0"/>
              <a:t>的最终</a:t>
            </a:r>
            <a:r>
              <a:rPr lang="en-US" altLang="zh-CN" sz="2400" dirty="0"/>
              <a:t>3NF</a:t>
            </a:r>
            <a:r>
              <a:rPr lang="zh-CN" altLang="zh-CN" sz="2400" dirty="0"/>
              <a:t>分解结果</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en-US" altLang="zh-CN" sz="2000" dirty="0" err="1">
                <a:solidFill>
                  <a:srgbClr val="0000FF"/>
                </a:solidFill>
              </a:rPr>
              <a:t>Cust</a:t>
            </a:r>
            <a:r>
              <a:rPr lang="en-US" altLang="zh-CN" sz="2000" dirty="0">
                <a:solidFill>
                  <a:srgbClr val="0000FF"/>
                </a:solidFill>
              </a:rPr>
              <a:t>(U</a:t>
            </a:r>
            <a:r>
              <a:rPr lang="en-US" altLang="zh-CN" sz="2000" baseline="-25000" dirty="0">
                <a:solidFill>
                  <a:srgbClr val="0000FF"/>
                </a:solidFill>
              </a:rPr>
              <a:t>1</a:t>
            </a:r>
            <a:r>
              <a:rPr lang="en-US" altLang="zh-CN" sz="2000" dirty="0">
                <a:solidFill>
                  <a:srgbClr val="0000FF"/>
                </a:solidFill>
              </a:rPr>
              <a:t>,F</a:t>
            </a:r>
            <a:r>
              <a:rPr lang="en-US" altLang="zh-CN" sz="2000" baseline="-25000" dirty="0">
                <a:solidFill>
                  <a:srgbClr val="0000FF"/>
                </a:solidFill>
              </a:rPr>
              <a:t>1</a:t>
            </a:r>
            <a:r>
              <a:rPr lang="en-US" altLang="zh-CN" sz="2000" dirty="0">
                <a:solidFill>
                  <a:srgbClr val="0000FF"/>
                </a:solidFill>
              </a:rPr>
              <a:t>)</a:t>
            </a:r>
            <a:r>
              <a:rPr lang="zh-CN" altLang="zh-CN" sz="2000" dirty="0">
                <a:solidFill>
                  <a:srgbClr val="0000FF"/>
                </a:solidFill>
              </a:rPr>
              <a:t>：</a:t>
            </a:r>
          </a:p>
          <a:p>
            <a:pPr marL="360363" indent="0">
              <a:buNone/>
            </a:pPr>
            <a:r>
              <a:rPr lang="en-US" altLang="zh-CN" sz="2000" dirty="0"/>
              <a:t>U</a:t>
            </a:r>
            <a:r>
              <a:rPr lang="en-US" altLang="zh-CN" sz="2000" baseline="-25000" dirty="0"/>
              <a:t>1</a:t>
            </a:r>
            <a:r>
              <a:rPr lang="en-US" altLang="zh-CN" sz="2000" dirty="0"/>
              <a:t>={ </a:t>
            </a:r>
            <a:r>
              <a:rPr lang="en-US" altLang="zh-CN" sz="2000" dirty="0" err="1"/>
              <a:t>CNo</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 }</a:t>
            </a:r>
            <a:endParaRPr lang="zh-CN" altLang="zh-CN" sz="2000" dirty="0"/>
          </a:p>
          <a:p>
            <a:pPr marL="360363" indent="0">
              <a:buNone/>
            </a:pPr>
            <a:r>
              <a:rPr lang="en-US" altLang="zh-CN" sz="2000" dirty="0"/>
              <a:t>F</a:t>
            </a:r>
            <a:r>
              <a:rPr lang="en-US" altLang="zh-CN" sz="2000" baseline="-25000" dirty="0"/>
              <a:t>1</a:t>
            </a:r>
            <a:r>
              <a:rPr lang="en-US" altLang="zh-CN" sz="2000" dirty="0"/>
              <a:t>={ </a:t>
            </a:r>
            <a:r>
              <a:rPr lang="en-US" altLang="zh-CN" sz="2000" dirty="0" err="1"/>
              <a:t>CNo</a:t>
            </a:r>
            <a:r>
              <a:rPr lang="en-US" altLang="zh-CN" sz="2000" dirty="0"/>
              <a:t> </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r>
              <a:rPr lang="en-US" altLang="zh-CN" sz="2000" dirty="0"/>
              <a:t>}</a:t>
            </a:r>
            <a:endParaRPr lang="zh-CN" altLang="zh-CN" sz="2000" dirty="0"/>
          </a:p>
          <a:p>
            <a:r>
              <a:rPr lang="en-US" altLang="zh-CN" sz="2000" dirty="0">
                <a:solidFill>
                  <a:srgbClr val="0000FF"/>
                </a:solidFill>
              </a:rPr>
              <a:t>Buy(U</a:t>
            </a:r>
            <a:r>
              <a:rPr lang="en-US" altLang="zh-CN" sz="2000" baseline="-25000" dirty="0">
                <a:solidFill>
                  <a:srgbClr val="0000FF"/>
                </a:solidFill>
              </a:rPr>
              <a:t>2</a:t>
            </a:r>
            <a:r>
              <a:rPr lang="en-US" altLang="zh-CN" sz="2000" dirty="0">
                <a:solidFill>
                  <a:srgbClr val="0000FF"/>
                </a:solidFill>
              </a:rPr>
              <a:t>,F</a:t>
            </a:r>
            <a:r>
              <a:rPr lang="en-US" altLang="zh-CN" sz="2000" baseline="-25000" dirty="0">
                <a:solidFill>
                  <a:srgbClr val="0000FF"/>
                </a:solidFill>
              </a:rPr>
              <a:t>2</a:t>
            </a:r>
            <a:r>
              <a:rPr lang="en-US" altLang="zh-CN" sz="2000" dirty="0">
                <a:solidFill>
                  <a:srgbClr val="0000FF"/>
                </a:solidFill>
              </a:rPr>
              <a:t>)</a:t>
            </a:r>
            <a:r>
              <a:rPr lang="zh-CN" altLang="zh-CN" sz="2000" dirty="0">
                <a:solidFill>
                  <a:srgbClr val="0000FF"/>
                </a:solidFill>
              </a:rPr>
              <a:t>：</a:t>
            </a:r>
          </a:p>
          <a:p>
            <a:pPr marL="360363" indent="0">
              <a:buNone/>
            </a:pPr>
            <a:r>
              <a:rPr lang="en-US" altLang="zh-CN" sz="2000" dirty="0"/>
              <a:t>U</a:t>
            </a:r>
            <a:r>
              <a:rPr lang="en-US" altLang="zh-CN" sz="2000" baseline="-25000" dirty="0"/>
              <a:t>2</a:t>
            </a:r>
            <a:r>
              <a:rPr lang="en-US" altLang="zh-CN" sz="2000" dirty="0"/>
              <a:t>={ </a:t>
            </a:r>
            <a:r>
              <a:rPr lang="en-US" altLang="zh-CN" sz="2000" dirty="0" err="1"/>
              <a:t>BNo,CNo,PDate</a:t>
            </a:r>
            <a:r>
              <a:rPr lang="en-US" altLang="zh-CN" sz="2000" dirty="0"/>
              <a:t> </a:t>
            </a:r>
            <a:r>
              <a:rPr lang="en-US" altLang="zh-CN" sz="2000" dirty="0" smtClean="0"/>
              <a:t>}   F</a:t>
            </a:r>
            <a:r>
              <a:rPr lang="en-US" altLang="zh-CN" sz="2000" baseline="-25000" dirty="0" smtClean="0"/>
              <a:t>2</a:t>
            </a:r>
            <a:r>
              <a:rPr lang="en-US" altLang="zh-CN" sz="2000" dirty="0"/>
              <a:t>={ (</a:t>
            </a:r>
            <a:r>
              <a:rPr lang="en-US" altLang="zh-CN" sz="2000" dirty="0" err="1"/>
              <a:t>BNo,CNo</a:t>
            </a:r>
            <a:r>
              <a:rPr lang="en-US" altLang="zh-CN" sz="2000" dirty="0"/>
              <a:t>) </a:t>
            </a:r>
            <a:r>
              <a:rPr lang="zh-CN" altLang="zh-CN" sz="2000" dirty="0"/>
              <a:t>→</a:t>
            </a:r>
            <a:r>
              <a:rPr lang="en-US" altLang="zh-CN" sz="2000" dirty="0"/>
              <a:t> </a:t>
            </a:r>
            <a:r>
              <a:rPr lang="en-US" altLang="zh-CN" sz="2000" dirty="0" err="1"/>
              <a:t>PDate</a:t>
            </a:r>
            <a:r>
              <a:rPr lang="en-US" altLang="zh-CN" sz="2000" dirty="0"/>
              <a:t> }</a:t>
            </a:r>
            <a:endParaRPr lang="zh-CN" altLang="zh-CN" sz="2000" dirty="0"/>
          </a:p>
          <a:p>
            <a:r>
              <a:rPr lang="en-US" altLang="zh-CN" sz="2000" dirty="0">
                <a:solidFill>
                  <a:srgbClr val="0000FF"/>
                </a:solidFill>
              </a:rPr>
              <a:t>Book(U</a:t>
            </a:r>
            <a:r>
              <a:rPr lang="en-US" altLang="zh-CN" sz="2000" baseline="-25000" dirty="0">
                <a:solidFill>
                  <a:srgbClr val="0000FF"/>
                </a:solidFill>
              </a:rPr>
              <a:t>4</a:t>
            </a:r>
            <a:r>
              <a:rPr lang="en-US" altLang="zh-CN" sz="2000" dirty="0">
                <a:solidFill>
                  <a:srgbClr val="0000FF"/>
                </a:solidFill>
              </a:rPr>
              <a:t>,F</a:t>
            </a:r>
            <a:r>
              <a:rPr lang="en-US" altLang="zh-CN" sz="2000" baseline="-25000" dirty="0">
                <a:solidFill>
                  <a:srgbClr val="0000FF"/>
                </a:solidFill>
              </a:rPr>
              <a:t>4</a:t>
            </a:r>
            <a:r>
              <a:rPr lang="en-US" altLang="zh-CN" sz="2000" dirty="0">
                <a:solidFill>
                  <a:srgbClr val="0000FF"/>
                </a:solidFill>
              </a:rPr>
              <a:t>)</a:t>
            </a:r>
            <a:r>
              <a:rPr lang="zh-CN" altLang="zh-CN" sz="2000" dirty="0">
                <a:solidFill>
                  <a:srgbClr val="0000FF"/>
                </a:solidFill>
              </a:rPr>
              <a:t>：</a:t>
            </a:r>
          </a:p>
          <a:p>
            <a:pPr marL="360363" indent="0">
              <a:buNone/>
            </a:pPr>
            <a:r>
              <a:rPr lang="en-US" altLang="zh-CN" sz="2000" dirty="0"/>
              <a:t>U</a:t>
            </a:r>
            <a:r>
              <a:rPr lang="en-US" altLang="zh-CN" sz="2000" baseline="-25000" dirty="0"/>
              <a:t>4</a:t>
            </a:r>
            <a:r>
              <a:rPr lang="en-US" altLang="zh-CN" sz="2000" dirty="0"/>
              <a:t>={ </a:t>
            </a:r>
            <a:r>
              <a:rPr lang="en-US" altLang="zh-CN" sz="2000" dirty="0" err="1"/>
              <a:t>BNo</a:t>
            </a:r>
            <a:r>
              <a:rPr lang="zh-CN"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1800" dirty="0" err="1"/>
              <a:t>PNo</a:t>
            </a:r>
            <a:r>
              <a:rPr lang="zh-CN" altLang="zh-CN" sz="1800" dirty="0"/>
              <a:t>，</a:t>
            </a:r>
            <a:r>
              <a:rPr lang="en-US" altLang="zh-CN" sz="1800" dirty="0" err="1"/>
              <a:t>EditNo</a:t>
            </a:r>
            <a:r>
              <a:rPr lang="zh-CN" altLang="zh-CN" sz="1800" dirty="0"/>
              <a:t>，</a:t>
            </a:r>
            <a:r>
              <a:rPr lang="en-US" altLang="zh-CN" sz="1800" dirty="0"/>
              <a:t>Price</a:t>
            </a:r>
            <a:r>
              <a:rPr lang="zh-CN" altLang="zh-CN" sz="1800" dirty="0"/>
              <a:t>，</a:t>
            </a:r>
            <a:r>
              <a:rPr lang="en-US" altLang="zh-CN" sz="1800" dirty="0" err="1"/>
              <a:t>PPrice</a:t>
            </a:r>
            <a:r>
              <a:rPr lang="zh-CN" altLang="zh-CN" sz="1800" dirty="0"/>
              <a:t>，</a:t>
            </a:r>
            <a:r>
              <a:rPr lang="en-US" altLang="zh-CN" sz="1800" dirty="0" err="1"/>
              <a:t>SPrice</a:t>
            </a:r>
            <a:r>
              <a:rPr lang="en-US" altLang="zh-CN" sz="1800" dirty="0"/>
              <a:t> }</a:t>
            </a:r>
            <a:endParaRPr lang="zh-CN" altLang="zh-CN" sz="1800" dirty="0"/>
          </a:p>
          <a:p>
            <a:pPr marL="360363" indent="0">
              <a:buNone/>
            </a:pPr>
            <a:r>
              <a:rPr lang="en-US" altLang="zh-CN" sz="2000" dirty="0"/>
              <a:t>F</a:t>
            </a:r>
            <a:r>
              <a:rPr lang="en-US" altLang="zh-CN" sz="2000" baseline="-25000" dirty="0"/>
              <a:t>4</a:t>
            </a:r>
            <a:r>
              <a:rPr lang="en-US" altLang="zh-CN" sz="2000" dirty="0"/>
              <a:t>={ </a:t>
            </a:r>
            <a:r>
              <a:rPr lang="en-US" altLang="zh-CN" sz="1800" dirty="0" err="1"/>
              <a:t>BNo</a:t>
            </a:r>
            <a:r>
              <a:rPr lang="en-US" altLang="zh-CN" sz="1800" dirty="0"/>
              <a:t> </a:t>
            </a:r>
            <a:r>
              <a:rPr lang="zh-CN" altLang="zh-CN" sz="1800" dirty="0"/>
              <a:t>→</a:t>
            </a:r>
            <a:r>
              <a:rPr lang="en-US" altLang="zh-CN" sz="1800" dirty="0"/>
              <a:t> (</a:t>
            </a:r>
            <a:r>
              <a:rPr lang="en-US" altLang="zh-CN" sz="1800" dirty="0" err="1"/>
              <a:t>BName</a:t>
            </a:r>
            <a:r>
              <a:rPr lang="zh-CN" altLang="zh-CN" sz="1800" dirty="0"/>
              <a:t>，</a:t>
            </a:r>
            <a:r>
              <a:rPr lang="en-US" altLang="zh-CN" sz="1800" dirty="0"/>
              <a:t>Author</a:t>
            </a:r>
            <a:r>
              <a:rPr lang="zh-CN" altLang="zh-CN" sz="1800" dirty="0"/>
              <a:t>，</a:t>
            </a:r>
            <a:r>
              <a:rPr lang="en-US" altLang="zh-CN" sz="1800" dirty="0" err="1"/>
              <a:t>PNo</a:t>
            </a:r>
            <a:r>
              <a:rPr lang="zh-CN" altLang="zh-CN" sz="1800" dirty="0"/>
              <a:t>，</a:t>
            </a:r>
            <a:r>
              <a:rPr lang="en-US" altLang="zh-CN" sz="1800" dirty="0" err="1"/>
              <a:t>EditNo</a:t>
            </a:r>
            <a:r>
              <a:rPr lang="zh-CN" altLang="zh-CN" sz="1800" dirty="0"/>
              <a:t>，</a:t>
            </a:r>
            <a:r>
              <a:rPr lang="en-US" altLang="zh-CN" sz="1800" dirty="0"/>
              <a:t>Price</a:t>
            </a:r>
            <a:r>
              <a:rPr lang="zh-CN" altLang="zh-CN" sz="1800" dirty="0"/>
              <a:t>，</a:t>
            </a:r>
            <a:r>
              <a:rPr lang="en-US" altLang="zh-CN" sz="1800" dirty="0" err="1"/>
              <a:t>PPrice</a:t>
            </a:r>
            <a:r>
              <a:rPr lang="zh-CN" altLang="zh-CN" sz="1800" dirty="0"/>
              <a:t>，</a:t>
            </a:r>
            <a:r>
              <a:rPr lang="en-US" altLang="zh-CN" sz="1800" dirty="0" err="1"/>
              <a:t>SPrice</a:t>
            </a:r>
            <a:r>
              <a:rPr lang="en-US" altLang="zh-CN" sz="1800" dirty="0"/>
              <a:t>)</a:t>
            </a:r>
            <a:r>
              <a:rPr lang="en-US" altLang="zh-CN" sz="2000" dirty="0"/>
              <a:t> }</a:t>
            </a:r>
            <a:endParaRPr lang="zh-CN" altLang="zh-CN" sz="2000" dirty="0"/>
          </a:p>
          <a:p>
            <a:r>
              <a:rPr lang="en-US" altLang="zh-CN" sz="2000" dirty="0">
                <a:solidFill>
                  <a:srgbClr val="0000FF"/>
                </a:solidFill>
              </a:rPr>
              <a:t>Press(U</a:t>
            </a:r>
            <a:r>
              <a:rPr lang="en-US" altLang="zh-CN" sz="2000" baseline="-25000" dirty="0">
                <a:solidFill>
                  <a:srgbClr val="0000FF"/>
                </a:solidFill>
              </a:rPr>
              <a:t>5</a:t>
            </a:r>
            <a:r>
              <a:rPr lang="en-US" altLang="zh-CN" sz="2000" dirty="0">
                <a:solidFill>
                  <a:srgbClr val="0000FF"/>
                </a:solidFill>
              </a:rPr>
              <a:t>,F</a:t>
            </a:r>
            <a:r>
              <a:rPr lang="en-US" altLang="zh-CN" sz="2000" baseline="-25000" dirty="0">
                <a:solidFill>
                  <a:srgbClr val="0000FF"/>
                </a:solidFill>
              </a:rPr>
              <a:t>5</a:t>
            </a:r>
            <a:r>
              <a:rPr lang="en-US" altLang="zh-CN" sz="2000" dirty="0">
                <a:solidFill>
                  <a:srgbClr val="0000FF"/>
                </a:solidFill>
              </a:rPr>
              <a:t>)</a:t>
            </a:r>
            <a:r>
              <a:rPr lang="zh-CN" altLang="zh-CN" sz="2000" dirty="0">
                <a:solidFill>
                  <a:srgbClr val="0000FF"/>
                </a:solidFill>
              </a:rPr>
              <a:t>：</a:t>
            </a:r>
          </a:p>
          <a:p>
            <a:pPr marL="360363" indent="0">
              <a:buNone/>
            </a:pPr>
            <a:r>
              <a:rPr lang="en-US" altLang="zh-CN" sz="2000" dirty="0"/>
              <a:t>U</a:t>
            </a:r>
            <a:r>
              <a:rPr lang="en-US" altLang="zh-CN" sz="2000" baseline="-25000" dirty="0"/>
              <a:t>5</a:t>
            </a:r>
            <a:r>
              <a:rPr lang="en-US" altLang="zh-CN" sz="2000" dirty="0"/>
              <a:t>={ </a:t>
            </a:r>
            <a:r>
              <a:rPr lang="en-US" altLang="zh-CN" sz="2000" dirty="0" err="1"/>
              <a:t>PNo</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en-US" altLang="zh-CN" sz="2000" dirty="0"/>
              <a:t> }</a:t>
            </a:r>
            <a:endParaRPr lang="zh-CN" altLang="zh-CN" sz="2000" dirty="0"/>
          </a:p>
          <a:p>
            <a:pPr marL="360363" indent="0">
              <a:buNone/>
            </a:pPr>
            <a:r>
              <a:rPr lang="en-US" altLang="zh-CN" sz="2000" dirty="0"/>
              <a:t>F</a:t>
            </a:r>
            <a:r>
              <a:rPr lang="en-US" altLang="zh-CN" sz="2000" baseline="-25000" dirty="0"/>
              <a:t>5</a:t>
            </a:r>
            <a:r>
              <a:rPr lang="en-US" altLang="zh-CN" sz="2000" dirty="0"/>
              <a:t>={ </a:t>
            </a:r>
            <a:r>
              <a:rPr lang="en-US" altLang="zh-CN" sz="2000" dirty="0" err="1"/>
              <a:t>PNo</a:t>
            </a:r>
            <a:r>
              <a:rPr lang="en-US" altLang="zh-CN" sz="2000" dirty="0"/>
              <a:t> </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r>
              <a:rPr lang="en-US" altLang="zh-CN" sz="2000" dirty="0"/>
              <a:t>}</a:t>
            </a:r>
            <a:endParaRPr lang="zh-CN" altLang="zh-CN" sz="2000" dirty="0"/>
          </a:p>
          <a:p>
            <a:r>
              <a:rPr lang="en-US" altLang="zh-CN" sz="1800" dirty="0">
                <a:solidFill>
                  <a:srgbClr val="0000FF"/>
                </a:solidFill>
              </a:rPr>
              <a:t> </a:t>
            </a:r>
            <a:r>
              <a:rPr lang="zh-CN" altLang="zh-CN" sz="1800" dirty="0" smtClean="0">
                <a:solidFill>
                  <a:srgbClr val="0000FF"/>
                </a:solidFill>
              </a:rPr>
              <a:t>思考</a:t>
            </a:r>
            <a:r>
              <a:rPr lang="zh-CN" altLang="zh-CN" sz="1800" dirty="0">
                <a:solidFill>
                  <a:srgbClr val="0000FF"/>
                </a:solidFill>
              </a:rPr>
              <a:t>：</a:t>
            </a:r>
            <a:r>
              <a:rPr lang="zh-CN" altLang="zh-CN" sz="1800" dirty="0"/>
              <a:t>分析</a:t>
            </a:r>
            <a:r>
              <a:rPr lang="en-US" altLang="zh-CN" sz="1800" dirty="0" err="1"/>
              <a:t>BInfo</a:t>
            </a:r>
            <a:r>
              <a:rPr lang="zh-CN" altLang="zh-CN" sz="1800" dirty="0" smtClean="0"/>
              <a:t>的分解过程与</a:t>
            </a:r>
            <a:r>
              <a:rPr lang="en-US" altLang="zh-CN" sz="1800" dirty="0"/>
              <a:t>EBook</a:t>
            </a:r>
            <a:r>
              <a:rPr lang="zh-CN" altLang="zh-CN" sz="1800" dirty="0"/>
              <a:t>的“</a:t>
            </a:r>
            <a:r>
              <a:rPr lang="en-US" altLang="zh-CN" sz="1800" dirty="0"/>
              <a:t>E-R</a:t>
            </a:r>
            <a:r>
              <a:rPr lang="zh-CN" altLang="zh-CN" sz="1800" dirty="0"/>
              <a:t>图向关系模式转换过程”的</a:t>
            </a:r>
            <a:r>
              <a:rPr lang="zh-CN" altLang="zh-CN" sz="1800" dirty="0" smtClean="0"/>
              <a:t>区别。</a:t>
            </a:r>
            <a:endParaRPr lang="zh-CN" altLang="zh-CN" sz="18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26</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842961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6.2.4 </a:t>
            </a:r>
            <a:r>
              <a:rPr lang="zh-CN" altLang="zh-CN" sz="2400" dirty="0"/>
              <a:t>第三范式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pPr marL="722313" indent="-722313">
              <a:buNone/>
            </a:pPr>
            <a:r>
              <a:rPr lang="zh-CN" altLang="zh-CN" sz="2000" dirty="0">
                <a:solidFill>
                  <a:srgbClr val="0000FF"/>
                </a:solidFill>
              </a:rPr>
              <a:t>例</a:t>
            </a:r>
            <a:r>
              <a:rPr lang="en-US" altLang="zh-CN" sz="2000" dirty="0">
                <a:solidFill>
                  <a:srgbClr val="0000FF"/>
                </a:solidFill>
              </a:rPr>
              <a:t>6.6  </a:t>
            </a:r>
            <a:r>
              <a:rPr lang="zh-CN" altLang="zh-CN" sz="2000" dirty="0"/>
              <a:t>在例</a:t>
            </a:r>
            <a:r>
              <a:rPr lang="en-US" altLang="zh-CN" sz="2000" dirty="0"/>
              <a:t>6.4</a:t>
            </a:r>
            <a:r>
              <a:rPr lang="zh-CN" altLang="zh-CN" sz="2000" dirty="0"/>
              <a:t>的</a:t>
            </a:r>
            <a:r>
              <a:rPr lang="en-US" altLang="zh-CN" sz="2000" dirty="0"/>
              <a:t>R(U,F)</a:t>
            </a:r>
            <a:r>
              <a:rPr lang="zh-CN" altLang="zh-CN" sz="2000" dirty="0"/>
              <a:t>中，请判断</a:t>
            </a:r>
            <a:r>
              <a:rPr lang="en-US" altLang="zh-CN" sz="2000" dirty="0"/>
              <a:t>R(U,F) </a:t>
            </a:r>
            <a:r>
              <a:rPr lang="zh-CN" altLang="zh-CN" sz="2000" dirty="0"/>
              <a:t>∈</a:t>
            </a:r>
            <a:r>
              <a:rPr lang="en-US" altLang="zh-CN" sz="2000" dirty="0"/>
              <a:t>3NF</a:t>
            </a:r>
            <a:r>
              <a:rPr lang="zh-CN" altLang="zh-CN" sz="2000" dirty="0"/>
              <a:t>？如果不是，则分解相应的关系模式，使之满足</a:t>
            </a:r>
            <a:r>
              <a:rPr lang="en-US" altLang="zh-CN" sz="2000" dirty="0"/>
              <a:t>3NF</a:t>
            </a:r>
            <a:r>
              <a:rPr lang="zh-CN" altLang="zh-CN" sz="2000" dirty="0"/>
              <a:t>。</a:t>
            </a:r>
          </a:p>
          <a:p>
            <a:r>
              <a:rPr lang="zh-CN" altLang="zh-CN" sz="2000" dirty="0" smtClean="0"/>
              <a:t>对于</a:t>
            </a:r>
            <a:r>
              <a:rPr lang="en-US" altLang="zh-CN" sz="2000" dirty="0"/>
              <a:t>R(U,F)</a:t>
            </a:r>
            <a:r>
              <a:rPr lang="zh-CN" altLang="zh-CN" sz="2000" dirty="0"/>
              <a:t>的</a:t>
            </a:r>
            <a:r>
              <a:rPr lang="en-US" altLang="zh-CN" sz="2000" dirty="0"/>
              <a:t>2NF</a:t>
            </a:r>
            <a:r>
              <a:rPr lang="zh-CN" altLang="zh-CN" sz="2000" dirty="0"/>
              <a:t>分解结果，则显然成立</a:t>
            </a: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 </a:t>
            </a:r>
            <a:r>
              <a:rPr lang="zh-CN" altLang="zh-CN" sz="2000" dirty="0"/>
              <a:t>∈</a:t>
            </a:r>
            <a:r>
              <a:rPr lang="en-US" altLang="zh-CN" sz="2000" dirty="0"/>
              <a:t>3NF</a:t>
            </a:r>
            <a:r>
              <a:rPr lang="zh-CN" altLang="zh-CN" sz="2000" dirty="0"/>
              <a:t>。</a:t>
            </a:r>
          </a:p>
          <a:p>
            <a:pPr marL="360363" indent="0">
              <a:buNone/>
            </a:pPr>
            <a:r>
              <a:rPr lang="zh-CN" altLang="zh-CN" sz="2000" dirty="0"/>
              <a:t>那么：</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 </a:t>
            </a:r>
            <a:r>
              <a:rPr lang="zh-CN" altLang="zh-CN" sz="2000" dirty="0"/>
              <a:t>∈</a:t>
            </a:r>
            <a:r>
              <a:rPr lang="en-US" altLang="zh-CN" sz="2000" dirty="0"/>
              <a:t>3NF</a:t>
            </a:r>
            <a:r>
              <a:rPr lang="zh-CN" altLang="zh-CN" sz="2000" dirty="0"/>
              <a:t>？</a:t>
            </a:r>
          </a:p>
          <a:p>
            <a:r>
              <a:rPr lang="zh-CN" altLang="zh-CN" sz="2000" dirty="0"/>
              <a:t>由于在</a:t>
            </a:r>
            <a:r>
              <a:rPr lang="en-US" altLang="zh-CN" sz="2000" dirty="0"/>
              <a:t>F</a:t>
            </a:r>
            <a:r>
              <a:rPr lang="en-US" altLang="zh-CN" sz="2000" baseline="-25000" dirty="0"/>
              <a:t>2</a:t>
            </a:r>
            <a:r>
              <a:rPr lang="zh-CN" altLang="zh-CN" sz="2000" dirty="0"/>
              <a:t>中存在：</a:t>
            </a:r>
            <a:r>
              <a:rPr lang="en-US" altLang="zh-CN" sz="2000" dirty="0"/>
              <a:t>A</a:t>
            </a:r>
            <a:r>
              <a:rPr lang="zh-CN" altLang="zh-CN" sz="2000" dirty="0"/>
              <a:t>→</a:t>
            </a:r>
            <a:r>
              <a:rPr lang="en-US" altLang="zh-CN" sz="2000" dirty="0"/>
              <a:t>B, B</a:t>
            </a:r>
            <a:r>
              <a:rPr lang="zh-CN" altLang="zh-CN" sz="2000" dirty="0"/>
              <a:t>→</a:t>
            </a:r>
            <a:r>
              <a:rPr lang="en-US" altLang="zh-CN" sz="2000" dirty="0"/>
              <a:t>C</a:t>
            </a:r>
            <a:r>
              <a:rPr lang="zh-CN" altLang="zh-CN" sz="2000" dirty="0"/>
              <a:t>，所以非主属性</a:t>
            </a:r>
            <a:r>
              <a:rPr lang="en-US" altLang="zh-CN" sz="2000" dirty="0"/>
              <a:t>C</a:t>
            </a:r>
            <a:r>
              <a:rPr lang="zh-CN" altLang="zh-CN" sz="2000" dirty="0"/>
              <a:t>传递依赖于候选键</a:t>
            </a:r>
            <a:r>
              <a:rPr lang="en-US" altLang="zh-CN" sz="2000" dirty="0"/>
              <a:t>A</a:t>
            </a:r>
            <a:r>
              <a:rPr lang="zh-CN" altLang="zh-CN" sz="2000" dirty="0"/>
              <a:t>，即：</a:t>
            </a:r>
          </a:p>
          <a:p>
            <a:pPr marL="360363" indent="0">
              <a:buNone/>
            </a:pPr>
            <a:r>
              <a:rPr lang="en-US" altLang="zh-CN" sz="2000" dirty="0" smtClean="0"/>
              <a:t>A            </a:t>
            </a:r>
            <a:r>
              <a:rPr lang="en-US" altLang="zh-CN" sz="2000" dirty="0"/>
              <a:t>C</a:t>
            </a:r>
            <a:r>
              <a:rPr lang="zh-CN" altLang="zh-CN" sz="2000" dirty="0" smtClean="0"/>
              <a:t>。所以</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 </a:t>
            </a:r>
            <a:r>
              <a:rPr lang="en-US" altLang="zh-CN" sz="2000" dirty="0" smtClean="0"/>
              <a:t>        3NF</a:t>
            </a:r>
            <a:r>
              <a:rPr lang="zh-CN" altLang="zh-CN" sz="2000" dirty="0"/>
              <a:t>。</a:t>
            </a:r>
          </a:p>
          <a:p>
            <a:r>
              <a:rPr lang="zh-CN" altLang="zh-CN" sz="2000" dirty="0"/>
              <a:t>因此采用</a:t>
            </a:r>
            <a:r>
              <a:rPr lang="zh-CN" altLang="zh-CN" sz="2000" dirty="0">
                <a:solidFill>
                  <a:srgbClr val="0000FF"/>
                </a:solidFill>
              </a:rPr>
              <a:t>投影分解法</a:t>
            </a:r>
            <a:r>
              <a:rPr lang="zh-CN" altLang="zh-CN" sz="2000" dirty="0"/>
              <a:t>，把导致</a:t>
            </a:r>
            <a:r>
              <a:rPr lang="en-US" altLang="zh-CN" sz="2000" dirty="0"/>
              <a:t> 3NF </a:t>
            </a:r>
            <a:r>
              <a:rPr lang="zh-CN" altLang="zh-CN" sz="2000" dirty="0"/>
              <a:t>的传递函数依赖进行分解如下： </a:t>
            </a:r>
          </a:p>
          <a:p>
            <a:pPr marL="360363" indent="0">
              <a:buNone/>
            </a:pPr>
            <a:r>
              <a:rPr lang="en-US" altLang="zh-CN" sz="2000" dirty="0"/>
              <a:t>R</a:t>
            </a:r>
            <a:r>
              <a:rPr lang="en-US" altLang="zh-CN" sz="2000" baseline="-25000" dirty="0"/>
              <a:t>2</a:t>
            </a:r>
            <a:r>
              <a:rPr lang="en-US" altLang="zh-CN" sz="2000" dirty="0"/>
              <a:t> = R</a:t>
            </a:r>
            <a:r>
              <a:rPr lang="en-US" altLang="zh-CN" sz="2000" baseline="-25000" dirty="0"/>
              <a:t>21</a:t>
            </a:r>
            <a:r>
              <a:rPr lang="zh-CN" altLang="zh-CN" sz="2000" dirty="0"/>
              <a:t>∪</a:t>
            </a:r>
            <a:r>
              <a:rPr lang="en-US" altLang="zh-CN" sz="2000" dirty="0"/>
              <a:t>R</a:t>
            </a:r>
            <a:r>
              <a:rPr lang="en-US" altLang="zh-CN" sz="2000" baseline="-25000" dirty="0"/>
              <a:t>22</a:t>
            </a:r>
            <a:endParaRPr lang="zh-CN" altLang="zh-CN" sz="2000" dirty="0"/>
          </a:p>
          <a:p>
            <a:pPr marL="360363" indent="0">
              <a:buNone/>
            </a:pPr>
            <a:r>
              <a:rPr lang="en-US" altLang="zh-CN" sz="2000" dirty="0"/>
              <a:t>1</a:t>
            </a:r>
            <a:r>
              <a:rPr lang="zh-CN" altLang="zh-CN" sz="2000" dirty="0"/>
              <a:t>）</a:t>
            </a:r>
            <a:r>
              <a:rPr lang="en-US" altLang="zh-CN" sz="2000" dirty="0"/>
              <a:t>R</a:t>
            </a:r>
            <a:r>
              <a:rPr lang="en-US" altLang="zh-CN" sz="2000" baseline="-25000" dirty="0"/>
              <a:t>21</a:t>
            </a:r>
            <a:r>
              <a:rPr lang="en-US" altLang="zh-CN" sz="2000" dirty="0"/>
              <a:t>(U</a:t>
            </a:r>
            <a:r>
              <a:rPr lang="en-US" altLang="zh-CN" sz="2000" baseline="-25000" dirty="0"/>
              <a:t>21</a:t>
            </a:r>
            <a:r>
              <a:rPr lang="en-US" altLang="zh-CN" sz="2000" dirty="0"/>
              <a:t>,F</a:t>
            </a:r>
            <a:r>
              <a:rPr lang="en-US" altLang="zh-CN" sz="2000" baseline="-25000" dirty="0"/>
              <a:t>21</a:t>
            </a:r>
            <a:r>
              <a:rPr lang="en-US" altLang="zh-CN" sz="2000" dirty="0"/>
              <a:t>)</a:t>
            </a:r>
            <a:r>
              <a:rPr lang="zh-CN" altLang="zh-CN" sz="2000" dirty="0" smtClean="0"/>
              <a:t>：</a:t>
            </a:r>
            <a:r>
              <a:rPr lang="en-US" altLang="zh-CN" sz="2000" dirty="0" smtClean="0"/>
              <a:t>U</a:t>
            </a:r>
            <a:r>
              <a:rPr lang="en-US" altLang="zh-CN" sz="2000" baseline="-25000" dirty="0" smtClean="0"/>
              <a:t>21</a:t>
            </a:r>
            <a:r>
              <a:rPr lang="en-US" altLang="zh-CN" sz="2000" dirty="0"/>
              <a:t>={A,B}</a:t>
            </a:r>
            <a:r>
              <a:rPr lang="zh-CN" altLang="zh-CN" sz="2000" dirty="0"/>
              <a:t>；</a:t>
            </a:r>
            <a:r>
              <a:rPr lang="en-US" altLang="zh-CN" sz="2000" dirty="0"/>
              <a:t>F</a:t>
            </a:r>
            <a:r>
              <a:rPr lang="en-US" altLang="zh-CN" sz="2000" baseline="-25000" dirty="0"/>
              <a:t>21</a:t>
            </a:r>
            <a:r>
              <a:rPr lang="en-US" altLang="zh-CN" sz="2000" dirty="0"/>
              <a:t>={A</a:t>
            </a:r>
            <a:r>
              <a:rPr lang="zh-CN" altLang="zh-CN" sz="2000" dirty="0"/>
              <a:t>→</a:t>
            </a:r>
            <a:r>
              <a:rPr lang="en-US" altLang="zh-CN" sz="2000" dirty="0"/>
              <a:t>B}</a:t>
            </a:r>
            <a:endParaRPr lang="zh-CN" altLang="zh-CN" sz="2000" dirty="0"/>
          </a:p>
          <a:p>
            <a:pPr marL="360363" indent="0">
              <a:buNone/>
            </a:pPr>
            <a:r>
              <a:rPr lang="en-US" altLang="zh-CN" sz="2000" dirty="0"/>
              <a:t>2</a:t>
            </a:r>
            <a:r>
              <a:rPr lang="zh-CN" altLang="zh-CN" sz="2000" dirty="0"/>
              <a:t>）</a:t>
            </a:r>
            <a:r>
              <a:rPr lang="en-US" altLang="zh-CN" sz="2000" dirty="0"/>
              <a:t>R</a:t>
            </a:r>
            <a:r>
              <a:rPr lang="en-US" altLang="zh-CN" sz="2000" baseline="-25000" dirty="0"/>
              <a:t>22</a:t>
            </a:r>
            <a:r>
              <a:rPr lang="en-US" altLang="zh-CN" sz="2000" dirty="0"/>
              <a:t>(U</a:t>
            </a:r>
            <a:r>
              <a:rPr lang="en-US" altLang="zh-CN" sz="2000" baseline="-25000" dirty="0"/>
              <a:t>22</a:t>
            </a:r>
            <a:r>
              <a:rPr lang="en-US" altLang="zh-CN" sz="2000" dirty="0"/>
              <a:t>,F</a:t>
            </a:r>
            <a:r>
              <a:rPr lang="en-US" altLang="zh-CN" sz="2000" baseline="-25000" dirty="0"/>
              <a:t>22</a:t>
            </a:r>
            <a:r>
              <a:rPr lang="en-US" altLang="zh-CN" sz="2000" dirty="0"/>
              <a:t>)</a:t>
            </a:r>
            <a:r>
              <a:rPr lang="zh-CN" altLang="zh-CN" sz="2000" dirty="0" smtClean="0"/>
              <a:t>：</a:t>
            </a:r>
            <a:r>
              <a:rPr lang="en-US" altLang="zh-CN" sz="2000" dirty="0" smtClean="0"/>
              <a:t>U</a:t>
            </a:r>
            <a:r>
              <a:rPr lang="en-US" altLang="zh-CN" sz="2000" baseline="-25000" dirty="0" smtClean="0"/>
              <a:t>22</a:t>
            </a:r>
            <a:r>
              <a:rPr lang="en-US" altLang="zh-CN" sz="2000" dirty="0"/>
              <a:t>={B,C}</a:t>
            </a:r>
            <a:r>
              <a:rPr lang="zh-CN" altLang="zh-CN" sz="2000" dirty="0"/>
              <a:t>；</a:t>
            </a:r>
            <a:r>
              <a:rPr lang="en-US" altLang="zh-CN" sz="2000" dirty="0"/>
              <a:t>F</a:t>
            </a:r>
            <a:r>
              <a:rPr lang="en-US" altLang="zh-CN" sz="2000" baseline="-25000" dirty="0"/>
              <a:t>22</a:t>
            </a:r>
            <a:r>
              <a:rPr lang="en-US" altLang="zh-CN" sz="2000" dirty="0"/>
              <a:t>={B</a:t>
            </a:r>
            <a:r>
              <a:rPr lang="zh-CN" altLang="zh-CN" sz="2000" dirty="0"/>
              <a:t>→</a:t>
            </a:r>
            <a:r>
              <a:rPr lang="en-US" altLang="zh-CN" sz="2000" dirty="0"/>
              <a:t>C}</a:t>
            </a:r>
            <a:endParaRPr lang="zh-CN" altLang="zh-CN" sz="2000" dirty="0"/>
          </a:p>
          <a:p>
            <a:pPr marL="360363" indent="0">
              <a:buNone/>
            </a:pPr>
            <a:r>
              <a:rPr lang="zh-CN" altLang="zh-CN" sz="2000" dirty="0"/>
              <a:t>不难证明：</a:t>
            </a:r>
            <a:r>
              <a:rPr lang="en-US" altLang="zh-CN" sz="2000" dirty="0"/>
              <a:t>R</a:t>
            </a:r>
            <a:r>
              <a:rPr lang="en-US" altLang="zh-CN" sz="2000" baseline="-25000" dirty="0"/>
              <a:t>21</a:t>
            </a:r>
            <a:r>
              <a:rPr lang="en-US" altLang="zh-CN" sz="2000" dirty="0"/>
              <a:t>(U</a:t>
            </a:r>
            <a:r>
              <a:rPr lang="en-US" altLang="zh-CN" sz="2000" baseline="-25000" dirty="0"/>
              <a:t>21</a:t>
            </a:r>
            <a:r>
              <a:rPr lang="en-US" altLang="zh-CN" sz="2000" dirty="0"/>
              <a:t>,F</a:t>
            </a:r>
            <a:r>
              <a:rPr lang="en-US" altLang="zh-CN" sz="2000" baseline="-25000" dirty="0"/>
              <a:t>21</a:t>
            </a:r>
            <a:r>
              <a:rPr lang="en-US" altLang="zh-CN" sz="2000" dirty="0"/>
              <a:t>) </a:t>
            </a:r>
            <a:r>
              <a:rPr lang="zh-CN" altLang="zh-CN" sz="2000" dirty="0"/>
              <a:t>∈</a:t>
            </a:r>
            <a:r>
              <a:rPr lang="en-US" altLang="zh-CN" sz="2000" dirty="0"/>
              <a:t>3NF</a:t>
            </a:r>
            <a:r>
              <a:rPr lang="zh-CN" altLang="zh-CN" sz="2000" dirty="0"/>
              <a:t>，</a:t>
            </a:r>
            <a:r>
              <a:rPr lang="en-US" altLang="zh-CN" sz="2000" dirty="0"/>
              <a:t>R</a:t>
            </a:r>
            <a:r>
              <a:rPr lang="en-US" altLang="zh-CN" sz="2000" baseline="-25000" dirty="0"/>
              <a:t>22</a:t>
            </a:r>
            <a:r>
              <a:rPr lang="en-US" altLang="zh-CN" sz="2000" dirty="0"/>
              <a:t>(U</a:t>
            </a:r>
            <a:r>
              <a:rPr lang="en-US" altLang="zh-CN" sz="2000" baseline="-25000" dirty="0"/>
              <a:t>22</a:t>
            </a:r>
            <a:r>
              <a:rPr lang="en-US" altLang="zh-CN" sz="2000" dirty="0"/>
              <a:t>,F</a:t>
            </a:r>
            <a:r>
              <a:rPr lang="en-US" altLang="zh-CN" sz="2000" baseline="-25000" dirty="0"/>
              <a:t>22</a:t>
            </a:r>
            <a:r>
              <a:rPr lang="en-US" altLang="zh-CN" sz="2000" dirty="0"/>
              <a:t>) </a:t>
            </a:r>
            <a:r>
              <a:rPr lang="zh-CN" altLang="zh-CN" sz="2000" dirty="0"/>
              <a:t>∈</a:t>
            </a:r>
            <a:r>
              <a:rPr lang="en-US" altLang="zh-CN" sz="2000" dirty="0"/>
              <a:t>3NF</a:t>
            </a:r>
            <a:r>
              <a:rPr lang="zh-CN" altLang="zh-CN" sz="2000" dirty="0"/>
              <a:t>。</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2019年9月8日星期日9时4分47秒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27</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4259638759"/>
              </p:ext>
            </p:extLst>
          </p:nvPr>
        </p:nvGraphicFramePr>
        <p:xfrm>
          <a:off x="971600" y="2924944"/>
          <a:ext cx="683568" cy="434998"/>
        </p:xfrm>
        <a:graphic>
          <a:graphicData uri="http://schemas.openxmlformats.org/presentationml/2006/ole">
            <mc:AlternateContent xmlns:mc="http://schemas.openxmlformats.org/markup-compatibility/2006">
              <mc:Choice xmlns:v="urn:schemas-microsoft-com:vml" Requires="v">
                <p:oleObj spid="_x0000_s11728" name="公式" r:id="rId3" imgW="368140" imgH="203112" progId="Equation.3">
                  <p:embed/>
                </p:oleObj>
              </mc:Choice>
              <mc:Fallback>
                <p:oleObj name="公式" r:id="rId3" imgW="368140"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2924944"/>
                        <a:ext cx="683568" cy="434998"/>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669993940"/>
              </p:ext>
            </p:extLst>
          </p:nvPr>
        </p:nvGraphicFramePr>
        <p:xfrm>
          <a:off x="3995936" y="2924944"/>
          <a:ext cx="503238" cy="504825"/>
        </p:xfrm>
        <a:graphic>
          <a:graphicData uri="http://schemas.openxmlformats.org/presentationml/2006/ole">
            <mc:AlternateContent xmlns:mc="http://schemas.openxmlformats.org/markup-compatibility/2006">
              <mc:Choice xmlns:v="urn:schemas-microsoft-com:vml" Requires="v">
                <p:oleObj spid="_x0000_s11729" name="公式" r:id="rId5" imgW="114201" imgH="139579" progId="Equation.3">
                  <p:embed/>
                </p:oleObj>
              </mc:Choice>
              <mc:Fallback>
                <p:oleObj name="公式" r:id="rId5" imgW="114201" imgH="139579" progId="Equation.3">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5936" y="2924944"/>
                        <a:ext cx="50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68485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6.2.4 </a:t>
            </a:r>
            <a:r>
              <a:rPr lang="zh-CN" altLang="zh-CN" sz="2400" dirty="0"/>
              <a:t>第三范式</a:t>
            </a:r>
            <a:endParaRPr lang="zh-CN" altLang="en-US" sz="3200" dirty="0"/>
          </a:p>
        </p:txBody>
      </p:sp>
      <p:sp>
        <p:nvSpPr>
          <p:cNvPr id="3" name="文本占位符 2"/>
          <p:cNvSpPr>
            <a:spLocks noGrp="1"/>
          </p:cNvSpPr>
          <p:nvPr>
            <p:ph type="body" idx="1"/>
          </p:nvPr>
        </p:nvSpPr>
        <p:spPr>
          <a:xfrm>
            <a:off x="179512" y="836712"/>
            <a:ext cx="8712968" cy="5544616"/>
          </a:xfrm>
        </p:spPr>
        <p:txBody>
          <a:bodyPr>
            <a:noAutofit/>
          </a:bodyPr>
          <a:lstStyle/>
          <a:p>
            <a:r>
              <a:rPr lang="zh-CN" altLang="zh-CN" sz="2000" dirty="0"/>
              <a:t>如果</a:t>
            </a:r>
            <a:r>
              <a:rPr lang="en-US" altLang="zh-CN" sz="2000" dirty="0"/>
              <a:t>R</a:t>
            </a:r>
            <a:r>
              <a:rPr lang="zh-CN" altLang="zh-CN" sz="2000" dirty="0"/>
              <a:t>（</a:t>
            </a:r>
            <a:r>
              <a:rPr lang="en-US" altLang="zh-CN" sz="2000" dirty="0"/>
              <a:t>U</a:t>
            </a:r>
            <a:r>
              <a:rPr lang="zh-CN" altLang="zh-CN" sz="2000" dirty="0"/>
              <a:t>，</a:t>
            </a:r>
            <a:r>
              <a:rPr lang="en-US" altLang="zh-CN" sz="2000" dirty="0"/>
              <a:t>F</a:t>
            </a:r>
            <a:r>
              <a:rPr lang="zh-CN" altLang="zh-CN" sz="2000" dirty="0"/>
              <a:t>）∈</a:t>
            </a:r>
            <a:r>
              <a:rPr lang="en-US" altLang="zh-CN" sz="2000" dirty="0"/>
              <a:t>1NF</a:t>
            </a:r>
            <a:r>
              <a:rPr lang="zh-CN" altLang="zh-CN" sz="2000" dirty="0"/>
              <a:t>，并且</a:t>
            </a:r>
            <a:r>
              <a:rPr lang="en-US" altLang="zh-CN" sz="2000" dirty="0"/>
              <a:t>R</a:t>
            </a:r>
            <a:r>
              <a:rPr lang="zh-CN" altLang="zh-CN" sz="2000" dirty="0"/>
              <a:t>的每个非主属性都不传递函数依赖于</a:t>
            </a:r>
            <a:r>
              <a:rPr lang="en-US" altLang="zh-CN" sz="2000" dirty="0"/>
              <a:t>R</a:t>
            </a:r>
            <a:r>
              <a:rPr lang="zh-CN" altLang="zh-CN" sz="2000" dirty="0"/>
              <a:t>的候选键，则</a:t>
            </a:r>
            <a:r>
              <a:rPr lang="en-US" altLang="zh-CN" sz="2000" dirty="0">
                <a:solidFill>
                  <a:srgbClr val="0000FF"/>
                </a:solidFill>
              </a:rPr>
              <a:t>R</a:t>
            </a:r>
            <a:r>
              <a:rPr lang="zh-CN" altLang="zh-CN" sz="2000" dirty="0">
                <a:solidFill>
                  <a:srgbClr val="0000FF"/>
                </a:solidFill>
              </a:rPr>
              <a:t>不一定满足</a:t>
            </a:r>
            <a:r>
              <a:rPr lang="en-US" altLang="zh-CN" sz="2000" dirty="0">
                <a:solidFill>
                  <a:srgbClr val="0000FF"/>
                </a:solidFill>
              </a:rPr>
              <a:t>3NF</a:t>
            </a:r>
            <a:r>
              <a:rPr lang="zh-CN" altLang="zh-CN" sz="2000" dirty="0"/>
              <a:t>。反例如下：</a:t>
            </a:r>
          </a:p>
          <a:p>
            <a:r>
              <a:rPr lang="zh-CN" altLang="zh-CN" sz="2000" dirty="0">
                <a:solidFill>
                  <a:srgbClr val="0000FF"/>
                </a:solidFill>
              </a:rPr>
              <a:t>例</a:t>
            </a:r>
            <a:r>
              <a:rPr lang="en-US" altLang="zh-CN" sz="2000" dirty="0">
                <a:solidFill>
                  <a:srgbClr val="0000FF"/>
                </a:solidFill>
              </a:rPr>
              <a:t>6.7  </a:t>
            </a:r>
            <a:r>
              <a:rPr lang="zh-CN" altLang="zh-CN" sz="2000" dirty="0"/>
              <a:t>关系模式</a:t>
            </a:r>
            <a:r>
              <a:rPr lang="en-US" altLang="zh-CN" sz="2000" dirty="0" err="1"/>
              <a:t>BuyTest</a:t>
            </a:r>
            <a:r>
              <a:rPr lang="en-US" altLang="zh-CN" sz="2000" dirty="0"/>
              <a:t>(U,F)</a:t>
            </a:r>
            <a:r>
              <a:rPr lang="zh-CN" altLang="zh-CN" sz="2000" dirty="0"/>
              <a:t>如下（如图</a:t>
            </a:r>
            <a:r>
              <a:rPr lang="en-US" altLang="zh-CN" sz="2000" dirty="0"/>
              <a:t>6.5</a:t>
            </a:r>
            <a:r>
              <a:rPr lang="zh-CN" altLang="zh-CN" sz="2000" dirty="0"/>
              <a:t>所示）：</a:t>
            </a:r>
          </a:p>
          <a:p>
            <a:pPr marL="360363" indent="0">
              <a:buNone/>
            </a:pPr>
            <a:r>
              <a:rPr lang="en-US" altLang="zh-CN" sz="2000" dirty="0"/>
              <a:t>U={</a:t>
            </a:r>
            <a:r>
              <a:rPr lang="en-US" altLang="zh-CN" sz="2000" dirty="0" err="1"/>
              <a:t>BNo,BName,CNo,CName,PDate</a:t>
            </a:r>
            <a:r>
              <a:rPr lang="en-US" altLang="zh-CN" sz="2000" dirty="0"/>
              <a:t>}</a:t>
            </a:r>
            <a:endParaRPr lang="zh-CN" altLang="zh-CN" sz="2000" dirty="0"/>
          </a:p>
          <a:p>
            <a:pPr marL="360363" indent="0">
              <a:buNone/>
            </a:pPr>
            <a:r>
              <a:rPr lang="en-US" altLang="zh-CN" sz="2000" dirty="0"/>
              <a:t>F={</a:t>
            </a:r>
            <a:r>
              <a:rPr lang="en-US" altLang="zh-CN" sz="2000" dirty="0" err="1"/>
              <a:t>BNo</a:t>
            </a:r>
            <a:r>
              <a:rPr lang="zh-CN" altLang="zh-CN" sz="2000" dirty="0"/>
              <a:t>→</a:t>
            </a:r>
            <a:r>
              <a:rPr lang="en-US" altLang="zh-CN" sz="2000" dirty="0" err="1"/>
              <a:t>BName,CNo</a:t>
            </a:r>
            <a:r>
              <a:rPr lang="zh-CN" altLang="zh-CN" sz="2000" dirty="0"/>
              <a:t>→</a:t>
            </a:r>
            <a:r>
              <a:rPr lang="en-US" altLang="zh-CN" sz="2000" dirty="0" err="1"/>
              <a:t>CName</a:t>
            </a:r>
            <a:r>
              <a:rPr lang="en-US" altLang="zh-CN" sz="2000" dirty="0"/>
              <a:t>,(</a:t>
            </a:r>
            <a:r>
              <a:rPr lang="en-US" altLang="zh-CN" sz="2000" dirty="0" err="1"/>
              <a:t>BNo,CNo</a:t>
            </a:r>
            <a:r>
              <a:rPr lang="en-US" altLang="zh-CN" sz="2000" dirty="0"/>
              <a:t>)</a:t>
            </a:r>
            <a:r>
              <a:rPr lang="zh-CN" altLang="zh-CN" sz="2000" dirty="0"/>
              <a:t>→</a:t>
            </a:r>
            <a:r>
              <a:rPr lang="en-US" altLang="zh-CN" sz="2000" dirty="0" err="1"/>
              <a:t>PDate</a:t>
            </a:r>
            <a:r>
              <a:rPr lang="en-US" altLang="zh-CN" sz="2000" dirty="0"/>
              <a:t>}</a:t>
            </a:r>
            <a:endParaRPr lang="zh-CN" altLang="zh-CN" sz="2000" dirty="0"/>
          </a:p>
          <a:p>
            <a:r>
              <a:rPr lang="zh-CN" altLang="zh-CN" sz="2000" dirty="0">
                <a:solidFill>
                  <a:srgbClr val="0000FF"/>
                </a:solidFill>
              </a:rPr>
              <a:t>则：</a:t>
            </a:r>
            <a:r>
              <a:rPr lang="en-US" altLang="zh-CN" sz="2000" dirty="0" err="1"/>
              <a:t>BuyTest</a:t>
            </a:r>
            <a:r>
              <a:rPr lang="en-US" altLang="zh-CN" sz="2000" dirty="0"/>
              <a:t> (U,F) </a:t>
            </a:r>
            <a:r>
              <a:rPr lang="en-US" altLang="zh-CN" sz="2000" dirty="0" smtClean="0"/>
              <a:t>        3NF</a:t>
            </a:r>
            <a:r>
              <a:rPr lang="zh-CN" altLang="zh-CN" sz="2000" dirty="0"/>
              <a:t>。</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28</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1591665386"/>
              </p:ext>
            </p:extLst>
          </p:nvPr>
        </p:nvGraphicFramePr>
        <p:xfrm>
          <a:off x="2771800" y="3140968"/>
          <a:ext cx="503238" cy="504825"/>
        </p:xfrm>
        <a:graphic>
          <a:graphicData uri="http://schemas.openxmlformats.org/presentationml/2006/ole">
            <mc:AlternateContent xmlns:mc="http://schemas.openxmlformats.org/markup-compatibility/2006">
              <mc:Choice xmlns:v="urn:schemas-microsoft-com:vml" Requires="v">
                <p:oleObj spid="_x0000_s14569" name="公式" r:id="rId3" imgW="114201" imgH="139579" progId="Equation.3">
                  <p:embed/>
                </p:oleObj>
              </mc:Choice>
              <mc:Fallback>
                <p:oleObj name="公式" r:id="rId3" imgW="114201" imgH="13957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3140968"/>
                        <a:ext cx="50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57964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6.2.4 </a:t>
            </a:r>
            <a:r>
              <a:rPr lang="zh-CN" altLang="zh-CN" sz="2400" dirty="0"/>
              <a:t>第三范式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t>根据</a:t>
            </a:r>
            <a:r>
              <a:rPr lang="en-US" altLang="zh-CN" sz="2000" dirty="0" err="1"/>
              <a:t>BuyTest</a:t>
            </a:r>
            <a:r>
              <a:rPr lang="en-US" altLang="zh-CN" sz="2000" dirty="0"/>
              <a:t> (U,F)</a:t>
            </a:r>
            <a:r>
              <a:rPr lang="zh-CN" altLang="zh-CN" sz="2000" dirty="0"/>
              <a:t>的</a:t>
            </a:r>
            <a:r>
              <a:rPr lang="en-US" altLang="zh-CN" sz="2000" dirty="0"/>
              <a:t>F</a:t>
            </a:r>
            <a:r>
              <a:rPr lang="zh-CN" altLang="zh-CN" sz="2000" dirty="0"/>
              <a:t>不难看出，</a:t>
            </a:r>
            <a:r>
              <a:rPr lang="en-US" altLang="zh-CN" sz="2000" dirty="0"/>
              <a:t>(</a:t>
            </a:r>
            <a:r>
              <a:rPr lang="en-US" altLang="zh-CN" sz="2000" dirty="0" err="1"/>
              <a:t>BNo,CNo</a:t>
            </a:r>
            <a:r>
              <a:rPr lang="en-US" altLang="zh-CN" sz="2000" dirty="0"/>
              <a:t>)</a:t>
            </a:r>
            <a:r>
              <a:rPr lang="zh-CN" altLang="zh-CN" sz="2000" dirty="0"/>
              <a:t>是</a:t>
            </a:r>
            <a:r>
              <a:rPr lang="en-US" altLang="zh-CN" sz="2000" dirty="0" err="1"/>
              <a:t>BuyTest</a:t>
            </a:r>
            <a:r>
              <a:rPr lang="en-US" altLang="zh-CN" sz="2000" dirty="0"/>
              <a:t> (U,F)</a:t>
            </a:r>
            <a:r>
              <a:rPr lang="zh-CN" altLang="zh-CN" sz="2000" dirty="0"/>
              <a:t>的唯一候选键，而且非主属性</a:t>
            </a:r>
            <a:r>
              <a:rPr lang="en-US" altLang="zh-CN" sz="2000" dirty="0" err="1"/>
              <a:t>BName</a:t>
            </a:r>
            <a:r>
              <a:rPr lang="zh-CN" altLang="zh-CN" sz="2000" dirty="0"/>
              <a:t>和</a:t>
            </a:r>
            <a:r>
              <a:rPr lang="en-US" altLang="zh-CN" sz="2000" dirty="0" err="1"/>
              <a:t>CName</a:t>
            </a:r>
            <a:r>
              <a:rPr lang="zh-CN" altLang="zh-CN" sz="2000" dirty="0"/>
              <a:t>均部分函数依赖于候选键</a:t>
            </a:r>
            <a:r>
              <a:rPr lang="en-US" altLang="zh-CN" sz="2000" dirty="0"/>
              <a:t>(</a:t>
            </a:r>
            <a:r>
              <a:rPr lang="en-US" altLang="zh-CN" sz="2000" dirty="0" err="1"/>
              <a:t>BNo,CNo</a:t>
            </a:r>
            <a:r>
              <a:rPr lang="en-US" altLang="zh-CN" sz="2000" dirty="0"/>
              <a:t>)</a:t>
            </a:r>
            <a:r>
              <a:rPr lang="zh-CN" altLang="zh-CN" sz="2000" dirty="0"/>
              <a:t>，因此</a:t>
            </a:r>
            <a:r>
              <a:rPr lang="en-US" altLang="zh-CN" sz="2000" dirty="0" err="1"/>
              <a:t>BuyTest</a:t>
            </a:r>
            <a:r>
              <a:rPr lang="en-US" altLang="zh-CN" sz="2000" dirty="0"/>
              <a:t>(U,F</a:t>
            </a:r>
            <a:r>
              <a:rPr lang="en-US" altLang="zh-CN" sz="2000" dirty="0" smtClean="0"/>
              <a:t>)     2NF</a:t>
            </a:r>
            <a:r>
              <a:rPr lang="zh-CN" altLang="zh-CN" sz="2000" dirty="0"/>
              <a:t>，又因为</a:t>
            </a:r>
            <a:r>
              <a:rPr lang="en-US" altLang="zh-CN" sz="2000" dirty="0" smtClean="0"/>
              <a:t>2NF  </a:t>
            </a:r>
            <a:r>
              <a:rPr lang="en-US" altLang="zh-CN" sz="2000" dirty="0" smtClean="0">
                <a:sym typeface="Symbol"/>
              </a:rPr>
              <a:t></a:t>
            </a:r>
            <a:r>
              <a:rPr lang="en-US" altLang="zh-CN" sz="2000" dirty="0" smtClean="0"/>
              <a:t>  3NF</a:t>
            </a:r>
            <a:r>
              <a:rPr lang="zh-CN" altLang="zh-CN" sz="2000" dirty="0"/>
              <a:t>，从而</a:t>
            </a:r>
            <a:r>
              <a:rPr lang="en-US" altLang="zh-CN" sz="2000" dirty="0" err="1"/>
              <a:t>BuyTest</a:t>
            </a:r>
            <a:r>
              <a:rPr lang="en-US" altLang="zh-CN" sz="2000" dirty="0"/>
              <a:t>(U,F) 3NF</a:t>
            </a:r>
            <a:r>
              <a:rPr lang="zh-CN" altLang="zh-CN" sz="2000" dirty="0"/>
              <a:t>。</a:t>
            </a:r>
          </a:p>
          <a:p>
            <a:r>
              <a:rPr lang="zh-CN" altLang="zh-CN" sz="2000" dirty="0"/>
              <a:t>但是：</a:t>
            </a:r>
            <a:r>
              <a:rPr lang="en-US" altLang="zh-CN" sz="2000" dirty="0" err="1"/>
              <a:t>BuyTest</a:t>
            </a:r>
            <a:r>
              <a:rPr lang="en-US" altLang="zh-CN" sz="2000" dirty="0"/>
              <a:t> (U,F)</a:t>
            </a:r>
            <a:r>
              <a:rPr lang="zh-CN" altLang="zh-CN" sz="2000" dirty="0"/>
              <a:t>∈</a:t>
            </a:r>
            <a:r>
              <a:rPr lang="en-US" altLang="zh-CN" sz="2000" dirty="0"/>
              <a:t>1NF</a:t>
            </a:r>
            <a:r>
              <a:rPr lang="zh-CN" altLang="zh-CN" sz="2000" dirty="0"/>
              <a:t>，并且根据传递函数依赖的定义，</a:t>
            </a:r>
            <a:r>
              <a:rPr lang="en-US" altLang="zh-CN" sz="2000" dirty="0" err="1"/>
              <a:t>BuyTest</a:t>
            </a:r>
            <a:r>
              <a:rPr lang="en-US" altLang="zh-CN" sz="2000" dirty="0"/>
              <a:t> (U,F)</a:t>
            </a:r>
            <a:r>
              <a:rPr lang="zh-CN" altLang="zh-CN" sz="2000" dirty="0"/>
              <a:t>的每一个非主属性都不传递函数依赖于候选键</a:t>
            </a:r>
            <a:r>
              <a:rPr lang="en-US" altLang="zh-CN" sz="2000" dirty="0"/>
              <a:t>(</a:t>
            </a:r>
            <a:r>
              <a:rPr lang="en-US" altLang="zh-CN" sz="2000" dirty="0" err="1"/>
              <a:t>BNo,CNo</a:t>
            </a:r>
            <a:r>
              <a:rPr lang="en-US" altLang="zh-CN" sz="2000" dirty="0"/>
              <a:t>)</a:t>
            </a:r>
            <a:r>
              <a:rPr lang="zh-CN" altLang="zh-CN" sz="2000" dirty="0"/>
              <a:t>。</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29</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955506540"/>
              </p:ext>
            </p:extLst>
          </p:nvPr>
        </p:nvGraphicFramePr>
        <p:xfrm>
          <a:off x="2627784" y="1556792"/>
          <a:ext cx="503238" cy="504825"/>
        </p:xfrm>
        <a:graphic>
          <a:graphicData uri="http://schemas.openxmlformats.org/presentationml/2006/ole">
            <mc:AlternateContent xmlns:mc="http://schemas.openxmlformats.org/markup-compatibility/2006">
              <mc:Choice xmlns:v="urn:schemas-microsoft-com:vml" Requires="v">
                <p:oleObj spid="_x0000_s15593" name="公式" r:id="rId3" imgW="114201" imgH="139579" progId="Equation.3">
                  <p:embed/>
                </p:oleObj>
              </mc:Choice>
              <mc:Fallback>
                <p:oleObj name="公式" r:id="rId3" imgW="114201" imgH="13957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1556792"/>
                        <a:ext cx="50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10"/>
          <p:cNvGrpSpPr/>
          <p:nvPr/>
        </p:nvGrpSpPr>
        <p:grpSpPr>
          <a:xfrm>
            <a:off x="922020" y="3136741"/>
            <a:ext cx="7322388" cy="2735545"/>
            <a:chOff x="0" y="-32385"/>
            <a:chExt cx="3227070" cy="1150620"/>
          </a:xfrm>
        </p:grpSpPr>
        <p:grpSp>
          <p:nvGrpSpPr>
            <p:cNvPr id="12" name="组合 11"/>
            <p:cNvGrpSpPr/>
            <p:nvPr/>
          </p:nvGrpSpPr>
          <p:grpSpPr>
            <a:xfrm>
              <a:off x="0" y="85725"/>
              <a:ext cx="3227070" cy="992505"/>
              <a:chOff x="0" y="0"/>
              <a:chExt cx="3227070" cy="992505"/>
            </a:xfrm>
          </p:grpSpPr>
          <p:sp>
            <p:nvSpPr>
              <p:cNvPr id="14" name="Rectangle 94"/>
              <p:cNvSpPr>
                <a:spLocks noChangeArrowheads="1"/>
              </p:cNvSpPr>
              <p:nvPr/>
            </p:nvSpPr>
            <p:spPr bwMode="auto">
              <a:xfrm>
                <a:off x="0" y="0"/>
                <a:ext cx="1584960" cy="548640"/>
              </a:xfrm>
              <a:prstGeom prst="rect">
                <a:avLst/>
              </a:prstGeom>
              <a:solidFill>
                <a:srgbClr val="FFFFFF"/>
              </a:solidFill>
              <a:ln w="12700">
                <a:solidFill>
                  <a:srgbClr val="000000"/>
                </a:solidFill>
                <a:prstDash val="dash"/>
                <a:miter lim="800000"/>
                <a:headEnd/>
                <a:tailEnd/>
              </a:ln>
            </p:spPr>
            <p:txBody>
              <a:bodyPr rot="0" vert="horz" wrap="square" lIns="0" tIns="28804" rIns="0" bIns="28804" anchor="t" anchorCtr="0" upright="1">
                <a:noAutofit/>
              </a:bodyPr>
              <a:lstStyle/>
              <a:p>
                <a:pPr indent="254000" algn="just">
                  <a:lnSpc>
                    <a:spcPts val="36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15" name="Rectangle 95"/>
              <p:cNvSpPr>
                <a:spLocks noChangeArrowheads="1"/>
              </p:cNvSpPr>
              <p:nvPr/>
            </p:nvSpPr>
            <p:spPr bwMode="auto">
              <a:xfrm>
                <a:off x="1733550" y="0"/>
                <a:ext cx="1493520" cy="548640"/>
              </a:xfrm>
              <a:prstGeom prst="rect">
                <a:avLst/>
              </a:prstGeom>
              <a:solidFill>
                <a:srgbClr val="FFFFFF"/>
              </a:solidFill>
              <a:ln w="12700">
                <a:solidFill>
                  <a:srgbClr val="000000"/>
                </a:solidFill>
                <a:prstDash val="dash"/>
                <a:miter lim="800000"/>
                <a:headEnd/>
                <a:tailEnd/>
              </a:ln>
            </p:spPr>
            <p:txBody>
              <a:bodyPr rot="0" vert="horz" wrap="square" lIns="0" tIns="28804" rIns="0" bIns="28804" anchor="t" anchorCtr="0" upright="1">
                <a:noAutofit/>
              </a:bodyPr>
              <a:lstStyle/>
              <a:p>
                <a:pPr indent="254000" algn="just">
                  <a:lnSpc>
                    <a:spcPts val="36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cxnSp>
            <p:nvCxnSpPr>
              <p:cNvPr id="16" name="Line 96"/>
              <p:cNvCxnSpPr/>
              <p:nvPr/>
            </p:nvCxnSpPr>
            <p:spPr bwMode="auto">
              <a:xfrm flipV="1">
                <a:off x="762000" y="333375"/>
                <a:ext cx="54864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17" name="Rectangle 97"/>
              <p:cNvSpPr>
                <a:spLocks noChangeArrowheads="1"/>
              </p:cNvSpPr>
              <p:nvPr/>
            </p:nvSpPr>
            <p:spPr bwMode="auto">
              <a:xfrm>
                <a:off x="152400" y="152400"/>
                <a:ext cx="594360" cy="243840"/>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3600"/>
                  </a:lnSpc>
                  <a:spcAft>
                    <a:spcPts val="0"/>
                  </a:spcAft>
                </a:pPr>
                <a:r>
                  <a:rPr lang="zh-CN" sz="2000" dirty="0">
                    <a:solidFill>
                      <a:srgbClr val="000000"/>
                    </a:solidFill>
                    <a:effectLst/>
                    <a:latin typeface="微软雅黑" pitchFamily="34" charset="-122"/>
                    <a:ea typeface="微软雅黑" pitchFamily="34" charset="-122"/>
                    <a:cs typeface="宋体"/>
                  </a:rPr>
                  <a:t>CName</a:t>
                </a:r>
                <a:endParaRPr lang="zh-CN" sz="2000" dirty="0">
                  <a:effectLst/>
                  <a:latin typeface="微软雅黑" pitchFamily="34" charset="-122"/>
                  <a:ea typeface="微软雅黑" pitchFamily="34" charset="-122"/>
                  <a:cs typeface="宋体"/>
                </a:endParaRPr>
              </a:p>
            </p:txBody>
          </p:sp>
          <p:sp>
            <p:nvSpPr>
              <p:cNvPr id="18" name="Rectangle 98"/>
              <p:cNvSpPr>
                <a:spLocks noChangeArrowheads="1"/>
              </p:cNvSpPr>
              <p:nvPr/>
            </p:nvSpPr>
            <p:spPr bwMode="auto">
              <a:xfrm>
                <a:off x="1190625" y="104775"/>
                <a:ext cx="929640" cy="350520"/>
              </a:xfrm>
              <a:prstGeom prst="rect">
                <a:avLst/>
              </a:prstGeom>
              <a:solidFill>
                <a:srgbClr val="FFFFFF">
                  <a:alpha val="0"/>
                </a:srgbClr>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6000"/>
                  </a:lnSpc>
                  <a:spcAft>
                    <a:spcPts val="0"/>
                  </a:spcAft>
                </a:pPr>
                <a:r>
                  <a:rPr lang="zh-CN" sz="2000" b="1" dirty="0" smtClean="0">
                    <a:solidFill>
                      <a:srgbClr val="000000"/>
                    </a:solidFill>
                    <a:effectLst/>
                    <a:latin typeface="微软雅黑" pitchFamily="34" charset="-122"/>
                    <a:ea typeface="微软雅黑" pitchFamily="34" charset="-122"/>
                    <a:cs typeface="宋体"/>
                  </a:rPr>
                  <a:t>CNo      </a:t>
                </a:r>
                <a:r>
                  <a:rPr lang="zh-CN" sz="2000" b="1" dirty="0">
                    <a:solidFill>
                      <a:srgbClr val="000000"/>
                    </a:solidFill>
                    <a:effectLst/>
                    <a:latin typeface="微软雅黑" pitchFamily="34" charset="-122"/>
                    <a:ea typeface="微软雅黑" pitchFamily="34" charset="-122"/>
                    <a:cs typeface="宋体"/>
                  </a:rPr>
                  <a:t>BNo</a:t>
                </a:r>
                <a:endParaRPr lang="zh-CN" sz="2000" dirty="0">
                  <a:effectLst/>
                  <a:latin typeface="微软雅黑" pitchFamily="34" charset="-122"/>
                  <a:ea typeface="微软雅黑" pitchFamily="34" charset="-122"/>
                  <a:cs typeface="宋体"/>
                </a:endParaRPr>
              </a:p>
            </p:txBody>
          </p:sp>
          <p:cxnSp>
            <p:nvCxnSpPr>
              <p:cNvPr id="19" name="Line 99"/>
              <p:cNvCxnSpPr/>
              <p:nvPr/>
            </p:nvCxnSpPr>
            <p:spPr bwMode="auto">
              <a:xfrm flipH="1">
                <a:off x="2000250" y="333375"/>
                <a:ext cx="502920" cy="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20" name="Rectangle 100"/>
              <p:cNvSpPr>
                <a:spLocks noChangeArrowheads="1"/>
              </p:cNvSpPr>
              <p:nvPr/>
            </p:nvSpPr>
            <p:spPr bwMode="auto">
              <a:xfrm>
                <a:off x="2495550" y="133350"/>
                <a:ext cx="594360" cy="243840"/>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3600"/>
                  </a:lnSpc>
                  <a:spcAft>
                    <a:spcPts val="0"/>
                  </a:spcAft>
                </a:pPr>
                <a:r>
                  <a:rPr lang="zh-CN" sz="2000" dirty="0">
                    <a:solidFill>
                      <a:srgbClr val="000000"/>
                    </a:solidFill>
                    <a:effectLst/>
                    <a:latin typeface="微软雅黑" pitchFamily="34" charset="-122"/>
                    <a:ea typeface="微软雅黑" pitchFamily="34" charset="-122"/>
                    <a:cs typeface="宋体"/>
                  </a:rPr>
                  <a:t>BName</a:t>
                </a:r>
                <a:endParaRPr lang="zh-CN" sz="2000" dirty="0">
                  <a:effectLst/>
                  <a:latin typeface="微软雅黑" pitchFamily="34" charset="-122"/>
                  <a:ea typeface="微软雅黑" pitchFamily="34" charset="-122"/>
                  <a:cs typeface="宋体"/>
                </a:endParaRPr>
              </a:p>
            </p:txBody>
          </p:sp>
          <p:sp>
            <p:nvSpPr>
              <p:cNvPr id="21" name="Rectangle 101"/>
              <p:cNvSpPr>
                <a:spLocks noChangeArrowheads="1"/>
              </p:cNvSpPr>
              <p:nvPr/>
            </p:nvSpPr>
            <p:spPr bwMode="auto">
              <a:xfrm>
                <a:off x="1371600" y="733425"/>
                <a:ext cx="594360" cy="259080"/>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3600"/>
                  </a:lnSpc>
                  <a:spcAft>
                    <a:spcPts val="0"/>
                  </a:spcAft>
                </a:pPr>
                <a:r>
                  <a:rPr lang="zh-CN" sz="2000" dirty="0">
                    <a:solidFill>
                      <a:srgbClr val="000000"/>
                    </a:solidFill>
                    <a:effectLst/>
                    <a:latin typeface="微软雅黑" pitchFamily="34" charset="-122"/>
                    <a:ea typeface="微软雅黑" pitchFamily="34" charset="-122"/>
                    <a:cs typeface="宋体"/>
                  </a:rPr>
                  <a:t>PDate</a:t>
                </a:r>
                <a:endParaRPr lang="zh-CN" sz="2000" dirty="0">
                  <a:effectLst/>
                  <a:latin typeface="微软雅黑" pitchFamily="34" charset="-122"/>
                  <a:ea typeface="微软雅黑" pitchFamily="34" charset="-122"/>
                  <a:cs typeface="宋体"/>
                </a:endParaRPr>
              </a:p>
            </p:txBody>
          </p:sp>
          <p:cxnSp>
            <p:nvCxnSpPr>
              <p:cNvPr id="22" name="Line 102"/>
              <p:cNvCxnSpPr/>
              <p:nvPr/>
            </p:nvCxnSpPr>
            <p:spPr bwMode="auto">
              <a:xfrm flipV="1">
                <a:off x="1657350" y="457200"/>
                <a:ext cx="0" cy="259080"/>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23" name="Line 103"/>
              <p:cNvCxnSpPr/>
              <p:nvPr/>
            </p:nvCxnSpPr>
            <p:spPr bwMode="auto">
              <a:xfrm flipH="1">
                <a:off x="762000" y="200025"/>
                <a:ext cx="411480" cy="0"/>
              </a:xfrm>
              <a:prstGeom prst="line">
                <a:avLst/>
              </a:prstGeom>
              <a:noFill/>
              <a:ln w="1270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cxnSp>
            <p:nvCxnSpPr>
              <p:cNvPr id="24" name="Line 104"/>
              <p:cNvCxnSpPr/>
              <p:nvPr/>
            </p:nvCxnSpPr>
            <p:spPr bwMode="auto">
              <a:xfrm flipH="1" flipV="1">
                <a:off x="2114550" y="200025"/>
                <a:ext cx="381000" cy="0"/>
              </a:xfrm>
              <a:prstGeom prst="line">
                <a:avLst/>
              </a:prstGeom>
              <a:noFill/>
              <a:ln w="12700">
                <a:solidFill>
                  <a:srgbClr val="000000"/>
                </a:solidFill>
                <a:prstDash val="dash"/>
                <a:round/>
                <a:headEnd type="triangle" w="med" len="med"/>
                <a:tailEnd/>
              </a:ln>
              <a:extLst>
                <a:ext uri="{909E8E84-426E-40DD-AFC4-6F175D3DCCD1}">
                  <a14:hiddenFill xmlns:a14="http://schemas.microsoft.com/office/drawing/2010/main">
                    <a:noFill/>
                  </a14:hiddenFill>
                </a:ext>
              </a:extLst>
            </p:spPr>
          </p:cxnSp>
        </p:grpSp>
        <p:sp>
          <p:nvSpPr>
            <p:cNvPr id="13" name="矩形 12"/>
            <p:cNvSpPr>
              <a:spLocks noChangeArrowheads="1"/>
            </p:cNvSpPr>
            <p:nvPr/>
          </p:nvSpPr>
          <p:spPr bwMode="auto">
            <a:xfrm>
              <a:off x="1083945" y="-32385"/>
              <a:ext cx="1143000" cy="1150620"/>
            </a:xfrm>
            <a:prstGeom prst="rect">
              <a:avLst/>
            </a:prstGeom>
            <a:solidFill>
              <a:srgbClr val="FFFFFF">
                <a:alpha val="0"/>
              </a:srgbClr>
            </a:solidFill>
            <a:ln w="12700">
              <a:solidFill>
                <a:srgbClr val="000000"/>
              </a:solidFill>
              <a:prstDash val="dash"/>
              <a:miter lim="800000"/>
              <a:headEnd/>
              <a:tailEnd/>
            </a:ln>
          </p:spPr>
          <p:txBody>
            <a:bodyPr rot="0" vert="horz" wrap="square" lIns="0" tIns="28804" rIns="0" bIns="28804" anchor="t" anchorCtr="0" upright="1">
              <a:noAutofit/>
            </a:bodyPr>
            <a:lstStyle/>
            <a:p>
              <a:pPr indent="127000" algn="ctr">
                <a:lnSpc>
                  <a:spcPts val="3600"/>
                </a:lnSpc>
                <a:spcAft>
                  <a:spcPts val="0"/>
                </a:spcAft>
              </a:pPr>
              <a:r>
                <a:rPr lang="zh-CN" sz="2000" b="1">
                  <a:solidFill>
                    <a:srgbClr val="000000"/>
                  </a:solidFill>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grpSp>
    </p:spTree>
    <p:extLst>
      <p:ext uri="{BB962C8B-B14F-4D97-AF65-F5344CB8AC3E}">
        <p14:creationId xmlns:p14="http://schemas.microsoft.com/office/powerpoint/2010/main" val="1016668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6.2.4 </a:t>
            </a:r>
            <a:r>
              <a:rPr lang="zh-CN" altLang="zh-CN" sz="2400" dirty="0"/>
              <a:t>第三范式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思考：</a:t>
            </a:r>
            <a:r>
              <a:rPr lang="zh-CN" altLang="zh-CN" sz="2000" dirty="0"/>
              <a:t>如果</a:t>
            </a:r>
            <a:r>
              <a:rPr lang="en-US" altLang="zh-CN" sz="2000" dirty="0"/>
              <a:t>R</a:t>
            </a:r>
            <a:r>
              <a:rPr lang="zh-CN" altLang="zh-CN" sz="2000" dirty="0"/>
              <a:t>（</a:t>
            </a:r>
            <a:r>
              <a:rPr lang="en-US" altLang="zh-CN" sz="2000" dirty="0"/>
              <a:t>U</a:t>
            </a:r>
            <a:r>
              <a:rPr lang="zh-CN" altLang="zh-CN" sz="2000" dirty="0"/>
              <a:t>，</a:t>
            </a:r>
            <a:r>
              <a:rPr lang="en-US" altLang="zh-CN" sz="2000" dirty="0"/>
              <a:t>F</a:t>
            </a:r>
            <a:r>
              <a:rPr lang="zh-CN" altLang="zh-CN" sz="2000" dirty="0"/>
              <a:t>）无非主属性，则</a:t>
            </a:r>
            <a:r>
              <a:rPr lang="en-US" altLang="zh-CN" sz="2000" dirty="0"/>
              <a:t>R</a:t>
            </a:r>
            <a:r>
              <a:rPr lang="zh-CN" altLang="zh-CN" sz="2000" dirty="0"/>
              <a:t>∈</a:t>
            </a:r>
            <a:r>
              <a:rPr lang="en-US" altLang="zh-CN" sz="2000" dirty="0"/>
              <a:t>3NF</a:t>
            </a:r>
            <a:r>
              <a:rPr lang="zh-CN" altLang="zh-CN" sz="2000" dirty="0"/>
              <a:t>？</a:t>
            </a:r>
          </a:p>
          <a:p>
            <a:r>
              <a:rPr lang="zh-CN" altLang="zh-CN" sz="2000" dirty="0">
                <a:solidFill>
                  <a:srgbClr val="0000FF"/>
                </a:solidFill>
              </a:rPr>
              <a:t>提示：</a:t>
            </a:r>
            <a:r>
              <a:rPr lang="en-US" altLang="zh-CN" sz="2000" dirty="0"/>
              <a:t>3NF</a:t>
            </a:r>
            <a:r>
              <a:rPr lang="zh-CN" altLang="zh-CN" sz="2000" dirty="0"/>
              <a:t>虽然在一定程度上解决了插入异常、修改异常、删除异常和冗余数据等问题，但</a:t>
            </a:r>
            <a:r>
              <a:rPr lang="en-US" altLang="zh-CN" sz="2000" dirty="0"/>
              <a:t>3NF</a:t>
            </a:r>
            <a:r>
              <a:rPr lang="zh-CN" altLang="zh-CN" sz="2000" dirty="0"/>
              <a:t>一般也不是最理想的关系模式，仍然会破坏数据完整性。</a:t>
            </a:r>
          </a:p>
          <a:p>
            <a:r>
              <a:rPr lang="zh-CN" altLang="zh-CN" sz="2000" dirty="0">
                <a:solidFill>
                  <a:srgbClr val="0000FF"/>
                </a:solidFill>
              </a:rPr>
              <a:t>结论：</a:t>
            </a:r>
            <a:r>
              <a:rPr lang="zh-CN" altLang="zh-CN" sz="2000" dirty="0"/>
              <a:t>解决不满足</a:t>
            </a:r>
            <a:r>
              <a:rPr lang="en-US" altLang="zh-CN" sz="2000" dirty="0"/>
              <a:t>3NF</a:t>
            </a:r>
            <a:r>
              <a:rPr lang="zh-CN" altLang="zh-CN" sz="2000" dirty="0"/>
              <a:t>的方法是分解关系模式，消除所有非主属性对候选键的部分函数依赖关系和传递函数依赖关系。即：</a:t>
            </a:r>
          </a:p>
          <a:p>
            <a:r>
              <a:rPr lang="zh-CN" altLang="zh-CN" sz="2000" dirty="0"/>
              <a:t>对于</a:t>
            </a:r>
            <a:r>
              <a:rPr lang="en-US" altLang="zh-CN" sz="2000" dirty="0"/>
              <a:t>R</a:t>
            </a:r>
            <a:r>
              <a:rPr lang="zh-CN" altLang="zh-CN" sz="2000" dirty="0"/>
              <a:t>∈</a:t>
            </a:r>
            <a:r>
              <a:rPr lang="en-US" altLang="zh-CN" sz="2000" dirty="0"/>
              <a:t>1NF</a:t>
            </a:r>
            <a:r>
              <a:rPr lang="zh-CN" altLang="zh-CN" sz="2000" dirty="0"/>
              <a:t>，只要存在一个非主属性部分函数依赖于</a:t>
            </a:r>
            <a:r>
              <a:rPr lang="en-US" altLang="zh-CN" sz="2000" dirty="0"/>
              <a:t>R</a:t>
            </a:r>
            <a:r>
              <a:rPr lang="zh-CN" altLang="zh-CN" sz="2000" dirty="0"/>
              <a:t>的候选键，或者存在一个非主属性传递函数依赖于</a:t>
            </a:r>
            <a:r>
              <a:rPr lang="en-US" altLang="zh-CN" sz="2000" dirty="0"/>
              <a:t>R</a:t>
            </a:r>
            <a:r>
              <a:rPr lang="zh-CN" altLang="zh-CN" sz="2000" dirty="0"/>
              <a:t>的候选键，则</a:t>
            </a:r>
            <a:r>
              <a:rPr lang="en-US" altLang="zh-CN" sz="2000" dirty="0"/>
              <a:t>R </a:t>
            </a:r>
            <a:r>
              <a:rPr lang="en-US" altLang="zh-CN" sz="2000" dirty="0" smtClean="0"/>
              <a:t>     3NF</a:t>
            </a:r>
            <a:r>
              <a:rPr lang="zh-CN" altLang="zh-CN" sz="2000" dirty="0"/>
              <a:t>。</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30</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832337803"/>
              </p:ext>
            </p:extLst>
          </p:nvPr>
        </p:nvGraphicFramePr>
        <p:xfrm>
          <a:off x="6012160" y="3861048"/>
          <a:ext cx="503238" cy="504825"/>
        </p:xfrm>
        <a:graphic>
          <a:graphicData uri="http://schemas.openxmlformats.org/presentationml/2006/ole">
            <mc:AlternateContent xmlns:mc="http://schemas.openxmlformats.org/markup-compatibility/2006">
              <mc:Choice xmlns:v="urn:schemas-microsoft-com:vml" Requires="v">
                <p:oleObj spid="_x0000_s16615" name="公式" r:id="rId3" imgW="114201" imgH="139579" progId="Equation.3">
                  <p:embed/>
                </p:oleObj>
              </mc:Choice>
              <mc:Fallback>
                <p:oleObj name="公式" r:id="rId3" imgW="114201" imgH="139579" progId="Equation.3">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160" y="3861048"/>
                        <a:ext cx="50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98598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6.2.5 </a:t>
            </a:r>
            <a:r>
              <a:rPr lang="en-US" altLang="zh-CN" sz="2800" dirty="0" smtClean="0"/>
              <a:t>  </a:t>
            </a:r>
            <a:r>
              <a:rPr lang="en-US" altLang="zh-CN" sz="2800" dirty="0" smtClean="0">
                <a:solidFill>
                  <a:srgbClr val="0000FF"/>
                </a:solidFill>
              </a:rPr>
              <a:t>BC</a:t>
            </a:r>
            <a:r>
              <a:rPr lang="zh-CN" altLang="zh-CN" sz="2800" dirty="0">
                <a:solidFill>
                  <a:srgbClr val="0000FF"/>
                </a:solidFill>
              </a:rPr>
              <a:t>范式</a:t>
            </a:r>
            <a:endParaRPr lang="zh-CN" altLang="en-US" sz="3200" dirty="0">
              <a:solidFill>
                <a:srgbClr val="0000FF"/>
              </a:solidFill>
            </a:endParaRPr>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定义</a:t>
            </a:r>
            <a:r>
              <a:rPr lang="en-US" altLang="zh-CN" sz="2000" dirty="0">
                <a:solidFill>
                  <a:srgbClr val="0000FF"/>
                </a:solidFill>
              </a:rPr>
              <a:t>6.8  </a:t>
            </a:r>
            <a:r>
              <a:rPr lang="zh-CN" altLang="zh-CN" sz="2000" dirty="0"/>
              <a:t>对于</a:t>
            </a:r>
            <a:r>
              <a:rPr lang="en-US" altLang="zh-CN" sz="2000" dirty="0"/>
              <a:t>R</a:t>
            </a:r>
            <a:r>
              <a:rPr lang="zh-CN" altLang="zh-CN" sz="2000" dirty="0"/>
              <a:t>（</a:t>
            </a:r>
            <a:r>
              <a:rPr lang="en-US" altLang="zh-CN" sz="2000" dirty="0"/>
              <a:t>U</a:t>
            </a:r>
            <a:r>
              <a:rPr lang="zh-CN" altLang="zh-CN" sz="2000" dirty="0"/>
              <a:t>，</a:t>
            </a:r>
            <a:r>
              <a:rPr lang="en-US" altLang="zh-CN" sz="2000" dirty="0"/>
              <a:t>F</a:t>
            </a:r>
            <a:r>
              <a:rPr lang="zh-CN" altLang="zh-CN" sz="2000" dirty="0"/>
              <a:t>）∈</a:t>
            </a:r>
            <a:r>
              <a:rPr lang="en-US" altLang="zh-CN" sz="2000" dirty="0"/>
              <a:t>1NF</a:t>
            </a:r>
            <a:r>
              <a:rPr lang="zh-CN" altLang="zh-CN" sz="2000" dirty="0"/>
              <a:t>的任意非平凡函数依赖</a:t>
            </a:r>
            <a:r>
              <a:rPr lang="en-US" altLang="zh-CN" sz="2000" dirty="0"/>
              <a:t>X</a:t>
            </a:r>
            <a:r>
              <a:rPr lang="zh-CN" altLang="zh-CN" sz="2000" dirty="0"/>
              <a:t>→</a:t>
            </a:r>
            <a:r>
              <a:rPr lang="en-US" altLang="zh-CN" sz="2000" dirty="0"/>
              <a:t>Y</a:t>
            </a:r>
            <a:r>
              <a:rPr lang="zh-CN" altLang="zh-CN" sz="2000" dirty="0"/>
              <a:t>，如果</a:t>
            </a:r>
            <a:r>
              <a:rPr lang="en-US" altLang="zh-CN" sz="2000" dirty="0"/>
              <a:t>X</a:t>
            </a:r>
            <a:r>
              <a:rPr lang="zh-CN" altLang="zh-CN" sz="2000" dirty="0"/>
              <a:t>必含有候选键，则</a:t>
            </a:r>
            <a:r>
              <a:rPr lang="en-US" altLang="zh-CN" sz="2000" dirty="0">
                <a:solidFill>
                  <a:srgbClr val="0000FF"/>
                </a:solidFill>
              </a:rPr>
              <a:t>R</a:t>
            </a:r>
            <a:r>
              <a:rPr lang="zh-CN" altLang="zh-CN" sz="2000" dirty="0">
                <a:solidFill>
                  <a:srgbClr val="0000FF"/>
                </a:solidFill>
              </a:rPr>
              <a:t>∈</a:t>
            </a:r>
            <a:r>
              <a:rPr lang="en-US" altLang="zh-CN" sz="2000" dirty="0">
                <a:solidFill>
                  <a:srgbClr val="0000FF"/>
                </a:solidFill>
              </a:rPr>
              <a:t>BCNF</a:t>
            </a:r>
            <a:r>
              <a:rPr lang="zh-CN" altLang="zh-CN" sz="2000" dirty="0"/>
              <a:t>。</a:t>
            </a:r>
          </a:p>
          <a:p>
            <a:r>
              <a:rPr lang="zh-CN" altLang="zh-CN" sz="2000" dirty="0"/>
              <a:t>根据定义</a:t>
            </a:r>
            <a:r>
              <a:rPr lang="en-US" altLang="zh-CN" sz="2000" dirty="0"/>
              <a:t>6.8</a:t>
            </a:r>
            <a:r>
              <a:rPr lang="zh-CN" altLang="zh-CN" sz="2000" dirty="0"/>
              <a:t>不难证明：</a:t>
            </a:r>
            <a:r>
              <a:rPr lang="zh-CN" altLang="zh-CN" sz="2000" dirty="0">
                <a:solidFill>
                  <a:srgbClr val="0000FF"/>
                </a:solidFill>
              </a:rPr>
              <a:t>如果</a:t>
            </a:r>
            <a:r>
              <a:rPr lang="en-US" altLang="zh-CN" sz="2000" dirty="0">
                <a:solidFill>
                  <a:srgbClr val="0000FF"/>
                </a:solidFill>
              </a:rPr>
              <a:t>R</a:t>
            </a:r>
            <a:r>
              <a:rPr lang="zh-CN" altLang="zh-CN" sz="2000" dirty="0">
                <a:solidFill>
                  <a:srgbClr val="0000FF"/>
                </a:solidFill>
              </a:rPr>
              <a:t>∈</a:t>
            </a:r>
            <a:r>
              <a:rPr lang="en-US" altLang="zh-CN" sz="2000" dirty="0">
                <a:solidFill>
                  <a:srgbClr val="0000FF"/>
                </a:solidFill>
              </a:rPr>
              <a:t>BCNF</a:t>
            </a:r>
            <a:r>
              <a:rPr lang="zh-CN" altLang="zh-CN" sz="2000" dirty="0">
                <a:solidFill>
                  <a:srgbClr val="0000FF"/>
                </a:solidFill>
              </a:rPr>
              <a:t>，则</a:t>
            </a:r>
            <a:r>
              <a:rPr lang="en-US" altLang="zh-CN" sz="2000" dirty="0">
                <a:solidFill>
                  <a:srgbClr val="0000FF"/>
                </a:solidFill>
              </a:rPr>
              <a:t>R</a:t>
            </a:r>
            <a:r>
              <a:rPr lang="zh-CN" altLang="zh-CN" sz="2000" dirty="0">
                <a:solidFill>
                  <a:srgbClr val="0000FF"/>
                </a:solidFill>
              </a:rPr>
              <a:t>的所有属性（主属性</a:t>
            </a:r>
            <a:r>
              <a:rPr lang="en-US" altLang="zh-CN" sz="2000" dirty="0">
                <a:solidFill>
                  <a:srgbClr val="0000FF"/>
                </a:solidFill>
              </a:rPr>
              <a:t>+</a:t>
            </a:r>
            <a:r>
              <a:rPr lang="zh-CN" altLang="zh-CN" sz="2000" dirty="0">
                <a:solidFill>
                  <a:srgbClr val="0000FF"/>
                </a:solidFill>
              </a:rPr>
              <a:t>非主属性）均完全函数依赖于</a:t>
            </a:r>
            <a:r>
              <a:rPr lang="en-US" altLang="zh-CN" sz="2000" dirty="0">
                <a:solidFill>
                  <a:srgbClr val="0000FF"/>
                </a:solidFill>
              </a:rPr>
              <a:t>R</a:t>
            </a:r>
            <a:r>
              <a:rPr lang="zh-CN" altLang="zh-CN" sz="2000" dirty="0">
                <a:solidFill>
                  <a:srgbClr val="0000FF"/>
                </a:solidFill>
              </a:rPr>
              <a:t>的候选键，且均不传递依赖于</a:t>
            </a:r>
            <a:r>
              <a:rPr lang="en-US" altLang="zh-CN" sz="2000" dirty="0">
                <a:solidFill>
                  <a:srgbClr val="0000FF"/>
                </a:solidFill>
              </a:rPr>
              <a:t>R</a:t>
            </a:r>
            <a:r>
              <a:rPr lang="zh-CN" altLang="zh-CN" sz="2000" dirty="0">
                <a:solidFill>
                  <a:srgbClr val="0000FF"/>
                </a:solidFill>
              </a:rPr>
              <a:t>的候选键</a:t>
            </a:r>
            <a:r>
              <a:rPr lang="zh-CN" altLang="zh-CN" sz="2000" dirty="0"/>
              <a:t>。即：</a:t>
            </a:r>
          </a:p>
          <a:p>
            <a:r>
              <a:rPr lang="en-US" altLang="zh-CN" sz="2000" dirty="0"/>
              <a:t>BCNF</a:t>
            </a:r>
            <a:r>
              <a:rPr lang="zh-CN" altLang="zh-CN" sz="2000" dirty="0"/>
              <a:t>在</a:t>
            </a:r>
            <a:r>
              <a:rPr lang="en-US" altLang="zh-CN" sz="2000" dirty="0"/>
              <a:t>3NF</a:t>
            </a:r>
            <a:r>
              <a:rPr lang="zh-CN" altLang="zh-CN" sz="2000" dirty="0"/>
              <a:t>的基础上，进一步消除了主属性对候选键的部分函数依赖和传递函数依赖。</a:t>
            </a:r>
          </a:p>
          <a:p>
            <a:r>
              <a:rPr lang="en-US" altLang="zh-CN" sz="2000" dirty="0">
                <a:solidFill>
                  <a:srgbClr val="0000FF"/>
                </a:solidFill>
              </a:rPr>
              <a:t>BCNF</a:t>
            </a:r>
            <a:r>
              <a:rPr lang="zh-CN" altLang="zh-CN" sz="2000" dirty="0">
                <a:solidFill>
                  <a:srgbClr val="0000FF"/>
                </a:solidFill>
              </a:rPr>
              <a:t>的等价描述</a:t>
            </a:r>
            <a:r>
              <a:rPr lang="zh-CN" altLang="zh-CN" sz="2000" dirty="0" smtClean="0">
                <a:solidFill>
                  <a:srgbClr val="0000FF"/>
                </a:solidFill>
              </a:rPr>
              <a:t>：</a:t>
            </a:r>
            <a:r>
              <a:rPr lang="zh-CN" altLang="zh-CN" sz="2000" dirty="0" smtClean="0"/>
              <a:t>如果</a:t>
            </a:r>
            <a:r>
              <a:rPr lang="en-US" altLang="zh-CN" sz="2000" dirty="0"/>
              <a:t>R(U,F)</a:t>
            </a:r>
            <a:r>
              <a:rPr lang="zh-CN" altLang="zh-CN" sz="2000" dirty="0"/>
              <a:t>∈</a:t>
            </a:r>
            <a:r>
              <a:rPr lang="en-US" altLang="zh-CN" sz="2000" dirty="0"/>
              <a:t>1NF</a:t>
            </a:r>
            <a:r>
              <a:rPr lang="zh-CN" altLang="zh-CN" sz="2000" dirty="0"/>
              <a:t>，则</a:t>
            </a:r>
            <a:r>
              <a:rPr lang="en-US" altLang="zh-CN" sz="2000" dirty="0"/>
              <a:t>R</a:t>
            </a:r>
            <a:r>
              <a:rPr lang="zh-CN" altLang="zh-CN" sz="2000" dirty="0"/>
              <a:t>的每个属性既不部分，也不传递函数依赖于</a:t>
            </a:r>
            <a:r>
              <a:rPr lang="en-US" altLang="zh-CN" sz="2000" dirty="0"/>
              <a:t>R</a:t>
            </a:r>
            <a:r>
              <a:rPr lang="zh-CN" altLang="zh-CN" sz="2000" dirty="0"/>
              <a:t>的候选键。</a:t>
            </a:r>
          </a:p>
          <a:p>
            <a:r>
              <a:rPr lang="zh-CN" altLang="zh-CN" sz="2000" dirty="0"/>
              <a:t>不难证明，以下结论</a:t>
            </a:r>
            <a:r>
              <a:rPr lang="zh-CN" altLang="zh-CN" sz="2000" dirty="0">
                <a:solidFill>
                  <a:srgbClr val="0000FF"/>
                </a:solidFill>
              </a:rPr>
              <a:t>成立</a:t>
            </a:r>
            <a:r>
              <a:rPr lang="zh-CN" altLang="zh-CN" sz="2000" dirty="0"/>
              <a:t>：</a:t>
            </a:r>
          </a:p>
          <a:p>
            <a:pPr marL="0" indent="0">
              <a:buNone/>
            </a:pPr>
            <a:r>
              <a:rPr lang="zh-CN" altLang="zh-CN" sz="2000" dirty="0"/>
              <a:t>（</a:t>
            </a:r>
            <a:r>
              <a:rPr lang="en-US" altLang="zh-CN" sz="2000" dirty="0"/>
              <a:t>1</a:t>
            </a:r>
            <a:r>
              <a:rPr lang="zh-CN" altLang="zh-CN" sz="2000" dirty="0"/>
              <a:t>）如果</a:t>
            </a:r>
            <a:r>
              <a:rPr lang="en-US" altLang="zh-CN" sz="2000" dirty="0"/>
              <a:t>R</a:t>
            </a:r>
            <a:r>
              <a:rPr lang="zh-CN" altLang="zh-CN" sz="2000" dirty="0"/>
              <a:t>∈</a:t>
            </a:r>
            <a:r>
              <a:rPr lang="en-US" altLang="zh-CN" sz="2000" dirty="0"/>
              <a:t>BCNF</a:t>
            </a:r>
            <a:r>
              <a:rPr lang="zh-CN" altLang="zh-CN" sz="2000" dirty="0"/>
              <a:t>，则</a:t>
            </a:r>
            <a:r>
              <a:rPr lang="en-US" altLang="zh-CN" sz="2000" dirty="0"/>
              <a:t>R</a:t>
            </a:r>
            <a:r>
              <a:rPr lang="zh-CN" altLang="zh-CN" sz="2000" dirty="0"/>
              <a:t>∈</a:t>
            </a:r>
            <a:r>
              <a:rPr lang="en-US" altLang="zh-CN" sz="2000" dirty="0"/>
              <a:t>3NF</a:t>
            </a:r>
            <a:r>
              <a:rPr lang="zh-CN" altLang="zh-CN" sz="2000" dirty="0"/>
              <a:t>；如果</a:t>
            </a:r>
            <a:r>
              <a:rPr lang="en-US" altLang="zh-CN" sz="2000" dirty="0"/>
              <a:t>R</a:t>
            </a:r>
            <a:r>
              <a:rPr lang="zh-CN" altLang="zh-CN" sz="2000" dirty="0"/>
              <a:t>∈</a:t>
            </a:r>
            <a:r>
              <a:rPr lang="en-US" altLang="zh-CN" sz="2000" dirty="0"/>
              <a:t>3NF</a:t>
            </a:r>
            <a:r>
              <a:rPr lang="zh-CN" altLang="zh-CN" sz="2000" dirty="0"/>
              <a:t>，则</a:t>
            </a:r>
            <a:r>
              <a:rPr lang="en-US" altLang="zh-CN" sz="2000" dirty="0"/>
              <a:t>R</a:t>
            </a:r>
            <a:r>
              <a:rPr lang="zh-CN" altLang="zh-CN" sz="2000" dirty="0"/>
              <a:t>不一定满足</a:t>
            </a:r>
            <a:r>
              <a:rPr lang="en-US" altLang="zh-CN" sz="2000" dirty="0"/>
              <a:t>BCNF</a:t>
            </a:r>
            <a:r>
              <a:rPr lang="zh-CN" altLang="zh-CN" sz="2000" dirty="0"/>
              <a:t>。</a:t>
            </a:r>
          </a:p>
          <a:p>
            <a:pPr marL="0" indent="0">
              <a:buNone/>
            </a:pPr>
            <a:r>
              <a:rPr lang="zh-CN" altLang="zh-CN" sz="2000" dirty="0"/>
              <a:t>（</a:t>
            </a:r>
            <a:r>
              <a:rPr lang="en-US" altLang="zh-CN" sz="2000" dirty="0"/>
              <a:t>2</a:t>
            </a:r>
            <a:r>
              <a:rPr lang="zh-CN" altLang="zh-CN" sz="2000" dirty="0"/>
              <a:t>）如果</a:t>
            </a:r>
            <a:r>
              <a:rPr lang="en-US" altLang="zh-CN" sz="2000" dirty="0"/>
              <a:t>R</a:t>
            </a:r>
            <a:r>
              <a:rPr lang="zh-CN" altLang="zh-CN" sz="2000" dirty="0"/>
              <a:t>∈</a:t>
            </a:r>
            <a:r>
              <a:rPr lang="en-US" altLang="zh-CN" sz="2000" dirty="0"/>
              <a:t>3NF</a:t>
            </a:r>
            <a:r>
              <a:rPr lang="zh-CN" altLang="zh-CN" sz="2000" dirty="0"/>
              <a:t>，且</a:t>
            </a:r>
            <a:r>
              <a:rPr lang="en-US" altLang="zh-CN" sz="2000" dirty="0"/>
              <a:t>R</a:t>
            </a:r>
            <a:r>
              <a:rPr lang="zh-CN" altLang="zh-CN" sz="2000" dirty="0"/>
              <a:t>只有一个候选键，则</a:t>
            </a:r>
            <a:r>
              <a:rPr lang="en-US" altLang="zh-CN" sz="2000" dirty="0"/>
              <a:t>R</a:t>
            </a:r>
            <a:r>
              <a:rPr lang="zh-CN" altLang="zh-CN" sz="2000" dirty="0"/>
              <a:t>∈</a:t>
            </a:r>
            <a:r>
              <a:rPr lang="en-US" altLang="zh-CN" sz="2000" dirty="0"/>
              <a:t>BCNF</a:t>
            </a:r>
            <a:r>
              <a:rPr lang="zh-CN" altLang="zh-CN" sz="2000" dirty="0"/>
              <a:t>。</a:t>
            </a:r>
          </a:p>
          <a:p>
            <a:pPr marL="0" indent="0">
              <a:buNone/>
            </a:pPr>
            <a:r>
              <a:rPr lang="zh-CN" altLang="zh-CN" sz="2000" dirty="0"/>
              <a:t>（</a:t>
            </a:r>
            <a:r>
              <a:rPr lang="en-US" altLang="zh-CN" sz="2000" dirty="0"/>
              <a:t>3</a:t>
            </a:r>
            <a:r>
              <a:rPr lang="zh-CN" altLang="zh-CN" sz="2000" dirty="0"/>
              <a:t>）如果</a:t>
            </a:r>
            <a:r>
              <a:rPr lang="en-US" altLang="zh-CN" sz="2000" dirty="0"/>
              <a:t>R</a:t>
            </a:r>
            <a:r>
              <a:rPr lang="zh-CN" altLang="zh-CN" sz="2000" dirty="0"/>
              <a:t>的候选键为全键，则</a:t>
            </a:r>
            <a:r>
              <a:rPr lang="en-US" altLang="zh-CN" sz="2000" dirty="0"/>
              <a:t>R</a:t>
            </a:r>
            <a:r>
              <a:rPr lang="zh-CN" altLang="zh-CN" sz="2000" dirty="0"/>
              <a:t>∈</a:t>
            </a:r>
            <a:r>
              <a:rPr lang="en-US" altLang="zh-CN" sz="2000" dirty="0"/>
              <a:t>BCNF</a:t>
            </a:r>
            <a:r>
              <a:rPr lang="zh-CN" altLang="zh-CN" sz="2000" dirty="0" smtClean="0"/>
              <a:t>。</a:t>
            </a:r>
            <a:endParaRPr lang="zh-CN" altLang="zh-CN" sz="20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31</a:t>
            </a:fld>
            <a:endParaRPr lang="zh-CN" altLang="en-US" dirty="0"/>
          </a:p>
        </p:txBody>
      </p:sp>
    </p:spTree>
    <p:extLst>
      <p:ext uri="{BB962C8B-B14F-4D97-AF65-F5344CB8AC3E}">
        <p14:creationId xmlns:p14="http://schemas.microsoft.com/office/powerpoint/2010/main" val="2709326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6.2.5 </a:t>
            </a:r>
            <a:r>
              <a:rPr lang="en-US" altLang="zh-CN" sz="2800" dirty="0" smtClean="0"/>
              <a:t>  BC</a:t>
            </a:r>
            <a:r>
              <a:rPr lang="zh-CN" altLang="zh-CN" sz="28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例</a:t>
            </a:r>
            <a:r>
              <a:rPr lang="en-US" altLang="zh-CN" sz="2000" dirty="0">
                <a:solidFill>
                  <a:srgbClr val="0000FF"/>
                </a:solidFill>
              </a:rPr>
              <a:t>6.8  </a:t>
            </a:r>
            <a:r>
              <a:rPr lang="zh-CN" altLang="zh-CN" sz="2000" dirty="0"/>
              <a:t>如果</a:t>
            </a:r>
            <a:r>
              <a:rPr lang="en-US" altLang="zh-CN" sz="2000" dirty="0"/>
              <a:t>R(A,B,C,D)</a:t>
            </a:r>
            <a:r>
              <a:rPr lang="zh-CN" altLang="zh-CN" sz="2000" dirty="0"/>
              <a:t>∈</a:t>
            </a:r>
            <a:r>
              <a:rPr lang="en-US" altLang="zh-CN" sz="2000" dirty="0"/>
              <a:t>1NF</a:t>
            </a:r>
            <a:r>
              <a:rPr lang="zh-CN" altLang="zh-CN" sz="2000" dirty="0"/>
              <a:t>的函数依赖集为</a:t>
            </a:r>
            <a:r>
              <a:rPr lang="en-US" altLang="zh-CN" sz="2000" dirty="0"/>
              <a:t>F={AB</a:t>
            </a:r>
            <a:r>
              <a:rPr lang="zh-CN" altLang="zh-CN" sz="2000" dirty="0"/>
              <a:t>→</a:t>
            </a:r>
            <a:r>
              <a:rPr lang="en-US" altLang="zh-CN" sz="2000" dirty="0"/>
              <a:t>D,D</a:t>
            </a:r>
            <a:r>
              <a:rPr lang="zh-CN" altLang="zh-CN" sz="2000" dirty="0"/>
              <a:t>→</a:t>
            </a:r>
            <a:r>
              <a:rPr lang="en-US" altLang="zh-CN" sz="2000" dirty="0"/>
              <a:t>C}</a:t>
            </a:r>
            <a:r>
              <a:rPr lang="zh-CN" altLang="zh-CN" sz="2000" dirty="0"/>
              <a:t>，则</a:t>
            </a:r>
            <a:r>
              <a:rPr lang="en-US" altLang="zh-CN" sz="2000" dirty="0" smtClean="0"/>
              <a:t>R        </a:t>
            </a:r>
            <a:r>
              <a:rPr lang="en-US" altLang="zh-CN" sz="2000" dirty="0" err="1" smtClean="0"/>
              <a:t>BCNF</a:t>
            </a:r>
            <a:r>
              <a:rPr lang="zh-CN" altLang="zh-CN" sz="2000" dirty="0"/>
              <a:t>。</a:t>
            </a:r>
          </a:p>
          <a:p>
            <a:pPr marL="360363" indent="0">
              <a:buNone/>
            </a:pPr>
            <a:r>
              <a:rPr lang="zh-CN" altLang="zh-CN" sz="2000" dirty="0"/>
              <a:t>因为：</a:t>
            </a:r>
            <a:r>
              <a:rPr lang="en-US" altLang="zh-CN" sz="2000" dirty="0"/>
              <a:t>R</a:t>
            </a:r>
            <a:r>
              <a:rPr lang="zh-CN" altLang="zh-CN" sz="2000" dirty="0"/>
              <a:t>的唯一候选键为</a:t>
            </a:r>
            <a:r>
              <a:rPr lang="en-US" altLang="zh-CN" sz="2000" dirty="0"/>
              <a:t>AB</a:t>
            </a:r>
            <a:r>
              <a:rPr lang="zh-CN" altLang="zh-CN" sz="2000" dirty="0"/>
              <a:t>，对于</a:t>
            </a:r>
            <a:r>
              <a:rPr lang="en-US" altLang="zh-CN" sz="2000" dirty="0"/>
              <a:t>F</a:t>
            </a:r>
            <a:r>
              <a:rPr lang="zh-CN" altLang="zh-CN" sz="2000" dirty="0"/>
              <a:t>中的函数依赖</a:t>
            </a:r>
            <a:r>
              <a:rPr lang="en-US" altLang="zh-CN" sz="2000" dirty="0"/>
              <a:t>D</a:t>
            </a:r>
            <a:r>
              <a:rPr lang="zh-CN" altLang="zh-CN" sz="2000" dirty="0"/>
              <a:t>→</a:t>
            </a:r>
            <a:r>
              <a:rPr lang="en-US" altLang="zh-CN" sz="2000" dirty="0"/>
              <a:t>C</a:t>
            </a:r>
            <a:r>
              <a:rPr lang="zh-CN" altLang="zh-CN" sz="2000" dirty="0"/>
              <a:t>，</a:t>
            </a:r>
            <a:r>
              <a:rPr lang="en-US" altLang="zh-CN" sz="2000" dirty="0"/>
              <a:t>D</a:t>
            </a:r>
            <a:r>
              <a:rPr lang="zh-CN" altLang="zh-CN" sz="2000" dirty="0"/>
              <a:t>不包含候选键，</a:t>
            </a:r>
          </a:p>
          <a:p>
            <a:pPr marL="360363" indent="0">
              <a:buNone/>
            </a:pPr>
            <a:r>
              <a:rPr lang="zh-CN" altLang="zh-CN" sz="2000" dirty="0"/>
              <a:t>所以</a:t>
            </a:r>
            <a:r>
              <a:rPr lang="en-US" altLang="zh-CN" sz="2000" dirty="0"/>
              <a:t>R(A,B,C,D) </a:t>
            </a:r>
            <a:r>
              <a:rPr lang="en-US" altLang="zh-CN" sz="2000" dirty="0" smtClean="0"/>
              <a:t>       </a:t>
            </a:r>
            <a:r>
              <a:rPr lang="en-US" altLang="zh-CN" sz="2000" dirty="0" err="1" smtClean="0"/>
              <a:t>BCNF</a:t>
            </a:r>
            <a:r>
              <a:rPr lang="zh-CN" altLang="zh-CN" sz="2000" dirty="0"/>
              <a:t>。</a:t>
            </a:r>
          </a:p>
          <a:p>
            <a:r>
              <a:rPr lang="en-US" altLang="zh-CN" sz="2000" dirty="0"/>
              <a:t>R</a:t>
            </a:r>
            <a:r>
              <a:rPr lang="zh-CN" altLang="zh-CN" sz="2000" dirty="0"/>
              <a:t>的</a:t>
            </a:r>
            <a:r>
              <a:rPr lang="en-US" altLang="zh-CN" sz="2000" dirty="0"/>
              <a:t>BCNF</a:t>
            </a:r>
            <a:r>
              <a:rPr lang="zh-CN" altLang="zh-CN" sz="2000" dirty="0">
                <a:solidFill>
                  <a:srgbClr val="0000FF"/>
                </a:solidFill>
              </a:rPr>
              <a:t>分解结果</a:t>
            </a:r>
            <a:r>
              <a:rPr lang="zh-CN" altLang="zh-CN" sz="2000" dirty="0"/>
              <a:t>：</a:t>
            </a:r>
          </a:p>
          <a:p>
            <a:pPr marL="360363" indent="0">
              <a:buNone/>
            </a:pPr>
            <a:r>
              <a:rPr lang="en-US" altLang="zh-CN" sz="2000" dirty="0"/>
              <a:t>R=R</a:t>
            </a:r>
            <a:r>
              <a:rPr lang="en-US" altLang="zh-CN" sz="2000" baseline="-25000" dirty="0"/>
              <a:t>1</a:t>
            </a:r>
            <a:r>
              <a:rPr lang="zh-CN" altLang="zh-CN" sz="2000" dirty="0"/>
              <a:t>∪</a:t>
            </a:r>
            <a:r>
              <a:rPr lang="en-US" altLang="zh-CN" sz="2000" dirty="0"/>
              <a:t>R</a:t>
            </a:r>
            <a:r>
              <a:rPr lang="en-US" altLang="zh-CN" sz="2000" baseline="-25000" dirty="0"/>
              <a:t>2</a:t>
            </a:r>
            <a:endParaRPr lang="zh-CN" altLang="zh-CN" sz="2000" dirty="0"/>
          </a:p>
          <a:p>
            <a:pPr marL="360363" indent="0">
              <a:buNone/>
            </a:pP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)=({A,B,D},{AB</a:t>
            </a:r>
            <a:r>
              <a:rPr lang="zh-CN" altLang="zh-CN" sz="2000" dirty="0"/>
              <a:t>→</a:t>
            </a:r>
            <a:r>
              <a:rPr lang="en-US" altLang="zh-CN" sz="2000" dirty="0"/>
              <a:t>D})</a:t>
            </a:r>
            <a:endParaRPr lang="zh-CN" altLang="zh-CN" sz="2000" dirty="0"/>
          </a:p>
          <a:p>
            <a:pPr marL="360363" indent="0">
              <a:buNone/>
            </a:pP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)=({D,C},{D</a:t>
            </a:r>
            <a:r>
              <a:rPr lang="zh-CN" altLang="zh-CN" sz="2000" dirty="0"/>
              <a:t>→</a:t>
            </a:r>
            <a:r>
              <a:rPr lang="en-US" altLang="zh-CN" sz="2000" dirty="0"/>
              <a:t>C})</a:t>
            </a:r>
            <a:endParaRPr lang="zh-CN" altLang="zh-CN" sz="2000" dirty="0"/>
          </a:p>
          <a:p>
            <a:pPr marL="360363" indent="0">
              <a:buNone/>
            </a:pPr>
            <a:r>
              <a:rPr lang="zh-CN" altLang="zh-CN" sz="2000" dirty="0"/>
              <a:t>显然：</a:t>
            </a: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 </a:t>
            </a:r>
            <a:r>
              <a:rPr lang="zh-CN" altLang="zh-CN" sz="2000" dirty="0"/>
              <a:t>∈</a:t>
            </a:r>
            <a:r>
              <a:rPr lang="en-US" altLang="zh-CN" sz="2000" dirty="0"/>
              <a:t>BCNF</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 </a:t>
            </a:r>
            <a:r>
              <a:rPr lang="zh-CN" altLang="zh-CN" sz="2000" dirty="0"/>
              <a:t>∈</a:t>
            </a:r>
            <a:r>
              <a:rPr lang="en-US" altLang="zh-CN" sz="2000" dirty="0"/>
              <a:t>BCNF</a:t>
            </a:r>
            <a:r>
              <a:rPr lang="zh-CN" altLang="zh-CN" sz="2000" dirty="0"/>
              <a:t>。</a:t>
            </a:r>
          </a:p>
          <a:p>
            <a:pPr marL="0" indent="0">
              <a:buNone/>
            </a:pPr>
            <a:endParaRPr lang="zh-CN" altLang="zh-CN" sz="2000" dirty="0"/>
          </a:p>
          <a:p>
            <a:r>
              <a:rPr lang="zh-CN" altLang="zh-CN" sz="2000" dirty="0">
                <a:solidFill>
                  <a:srgbClr val="0000FF"/>
                </a:solidFill>
              </a:rPr>
              <a:t>思考：</a:t>
            </a:r>
            <a:r>
              <a:rPr lang="en-US" altLang="zh-CN" sz="2000" dirty="0"/>
              <a:t>R(A,B,C,D)</a:t>
            </a:r>
            <a:r>
              <a:rPr lang="zh-CN" altLang="zh-CN" sz="2000" dirty="0"/>
              <a:t>∈</a:t>
            </a:r>
            <a:r>
              <a:rPr lang="en-US" altLang="zh-CN" sz="2000" dirty="0"/>
              <a:t>3NF</a:t>
            </a:r>
            <a:r>
              <a:rPr lang="zh-CN" altLang="zh-CN" sz="2000" dirty="0"/>
              <a:t>？说明原因</a:t>
            </a:r>
            <a:r>
              <a:rPr lang="zh-CN" altLang="zh-CN" sz="2000" dirty="0" smtClean="0"/>
              <a:t>。</a:t>
            </a:r>
            <a:endParaRPr lang="zh-CN" altLang="zh-CN" sz="20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32</a:t>
            </a:fld>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609041425"/>
              </p:ext>
            </p:extLst>
          </p:nvPr>
        </p:nvGraphicFramePr>
        <p:xfrm>
          <a:off x="8244408" y="620688"/>
          <a:ext cx="503237" cy="504825"/>
        </p:xfrm>
        <a:graphic>
          <a:graphicData uri="http://schemas.openxmlformats.org/presentationml/2006/ole">
            <mc:AlternateContent xmlns:mc="http://schemas.openxmlformats.org/markup-compatibility/2006">
              <mc:Choice xmlns:v="urn:schemas-microsoft-com:vml" Requires="v">
                <p:oleObj spid="_x0000_s75820" name="公式" r:id="rId3" imgW="114201" imgH="139579" progId="Equation.3">
                  <p:embed/>
                </p:oleObj>
              </mc:Choice>
              <mc:Fallback>
                <p:oleObj name="公式" r:id="rId3" imgW="114201" imgH="139579" progId="Equation.3">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4408" y="620688"/>
                        <a:ext cx="5032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04329811"/>
              </p:ext>
            </p:extLst>
          </p:nvPr>
        </p:nvGraphicFramePr>
        <p:xfrm>
          <a:off x="2411760" y="1988840"/>
          <a:ext cx="503237" cy="504825"/>
        </p:xfrm>
        <a:graphic>
          <a:graphicData uri="http://schemas.openxmlformats.org/presentationml/2006/ole">
            <mc:AlternateContent xmlns:mc="http://schemas.openxmlformats.org/markup-compatibility/2006">
              <mc:Choice xmlns:v="urn:schemas-microsoft-com:vml" Requires="v">
                <p:oleObj spid="_x0000_s75821" name="公式" r:id="rId5" imgW="114201" imgH="139579" progId="Equation.3">
                  <p:embed/>
                </p:oleObj>
              </mc:Choice>
              <mc:Fallback>
                <p:oleObj name="公式" r:id="rId5" imgW="114201" imgH="139579" progId="Equation.3">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1988840"/>
                        <a:ext cx="503237" cy="5048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82373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6.2.5 </a:t>
            </a:r>
            <a:r>
              <a:rPr lang="en-US" altLang="zh-CN" sz="2800" dirty="0" smtClean="0"/>
              <a:t>  BC</a:t>
            </a:r>
            <a:r>
              <a:rPr lang="zh-CN" altLang="zh-CN" sz="28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例</a:t>
            </a:r>
            <a:r>
              <a:rPr lang="en-US" altLang="zh-CN" sz="2000" dirty="0">
                <a:solidFill>
                  <a:srgbClr val="0000FF"/>
                </a:solidFill>
              </a:rPr>
              <a:t>6.9  </a:t>
            </a:r>
            <a:r>
              <a:rPr lang="zh-CN" altLang="zh-CN" sz="2000" dirty="0"/>
              <a:t>如果</a:t>
            </a:r>
            <a:r>
              <a:rPr lang="en-US" altLang="zh-CN" sz="2000" dirty="0"/>
              <a:t>R(A,B,C)</a:t>
            </a:r>
            <a:r>
              <a:rPr lang="zh-CN" altLang="zh-CN" sz="2000" dirty="0"/>
              <a:t>∈</a:t>
            </a:r>
            <a:r>
              <a:rPr lang="en-US" altLang="zh-CN" sz="2000" dirty="0"/>
              <a:t>1NF</a:t>
            </a:r>
            <a:r>
              <a:rPr lang="zh-CN" altLang="zh-CN" sz="2000" dirty="0"/>
              <a:t>的函数依赖集为</a:t>
            </a:r>
            <a:r>
              <a:rPr lang="en-US" altLang="zh-CN" sz="2000" dirty="0"/>
              <a:t>F={AB</a:t>
            </a:r>
            <a:r>
              <a:rPr lang="zh-CN" altLang="zh-CN" sz="2000" dirty="0"/>
              <a:t>→</a:t>
            </a:r>
            <a:r>
              <a:rPr lang="en-US" altLang="zh-CN" sz="2000" dirty="0"/>
              <a:t>C,BC</a:t>
            </a:r>
            <a:r>
              <a:rPr lang="zh-CN" altLang="zh-CN" sz="2000" dirty="0"/>
              <a:t>→</a:t>
            </a:r>
            <a:r>
              <a:rPr lang="en-US" altLang="zh-CN" sz="2000" dirty="0"/>
              <a:t>A}</a:t>
            </a:r>
            <a:r>
              <a:rPr lang="zh-CN" altLang="zh-CN" sz="2000" dirty="0"/>
              <a:t>，则</a:t>
            </a:r>
            <a:r>
              <a:rPr lang="en-US" altLang="zh-CN" sz="2000" dirty="0"/>
              <a:t>R</a:t>
            </a:r>
            <a:r>
              <a:rPr lang="zh-CN" altLang="zh-CN" sz="2000" dirty="0"/>
              <a:t>∈</a:t>
            </a:r>
            <a:r>
              <a:rPr lang="en-US" altLang="zh-CN" sz="2000" dirty="0"/>
              <a:t>BCNF</a:t>
            </a:r>
            <a:r>
              <a:rPr lang="zh-CN" altLang="zh-CN" sz="2000" dirty="0"/>
              <a:t>。</a:t>
            </a:r>
          </a:p>
          <a:p>
            <a:pPr marL="360363" indent="0">
              <a:buNone/>
            </a:pPr>
            <a:r>
              <a:rPr lang="zh-CN" altLang="zh-CN" sz="2000" dirty="0"/>
              <a:t>因为：</a:t>
            </a:r>
            <a:r>
              <a:rPr lang="en-US" altLang="zh-CN" sz="2000" dirty="0"/>
              <a:t>R</a:t>
            </a:r>
            <a:r>
              <a:rPr lang="zh-CN" altLang="zh-CN" sz="2000" dirty="0"/>
              <a:t>的候选键为</a:t>
            </a:r>
            <a:r>
              <a:rPr lang="en-US" altLang="zh-CN" sz="2000" dirty="0"/>
              <a:t>AB</a:t>
            </a:r>
            <a:r>
              <a:rPr lang="zh-CN" altLang="zh-CN" sz="2000" dirty="0"/>
              <a:t>和</a:t>
            </a:r>
            <a:r>
              <a:rPr lang="en-US" altLang="zh-CN" sz="2000" dirty="0"/>
              <a:t>BC</a:t>
            </a:r>
            <a:r>
              <a:rPr lang="zh-CN" altLang="zh-CN" sz="2000" dirty="0"/>
              <a:t>，由于</a:t>
            </a:r>
            <a:r>
              <a:rPr lang="en-US" altLang="zh-CN" sz="2000" dirty="0"/>
              <a:t>R(A,B,C)</a:t>
            </a:r>
            <a:r>
              <a:rPr lang="zh-CN" altLang="zh-CN" sz="2000" dirty="0"/>
              <a:t>的每个非平凡函数依赖均包含候选键，根据定义</a:t>
            </a:r>
            <a:r>
              <a:rPr lang="en-US" altLang="zh-CN" sz="2000" dirty="0"/>
              <a:t>6.8</a:t>
            </a:r>
            <a:r>
              <a:rPr lang="zh-CN" altLang="zh-CN" sz="2000" dirty="0"/>
              <a:t>可知，</a:t>
            </a:r>
            <a:r>
              <a:rPr lang="en-US" altLang="zh-CN" sz="2000" dirty="0"/>
              <a:t>R(A,B,C)</a:t>
            </a:r>
            <a:r>
              <a:rPr lang="zh-CN" altLang="zh-CN" sz="2000" dirty="0"/>
              <a:t>∈</a:t>
            </a:r>
            <a:r>
              <a:rPr lang="en-US" altLang="zh-CN" sz="2000" dirty="0"/>
              <a:t>BCNF</a:t>
            </a:r>
            <a:r>
              <a:rPr lang="zh-CN" altLang="zh-CN" sz="2000" dirty="0"/>
              <a:t>。</a:t>
            </a:r>
          </a:p>
          <a:p>
            <a:r>
              <a:rPr lang="zh-CN" altLang="zh-CN" sz="2000" dirty="0">
                <a:solidFill>
                  <a:srgbClr val="0000FF"/>
                </a:solidFill>
              </a:rPr>
              <a:t>例</a:t>
            </a:r>
            <a:r>
              <a:rPr lang="en-US" altLang="zh-CN" sz="2000" dirty="0">
                <a:solidFill>
                  <a:srgbClr val="0000FF"/>
                </a:solidFill>
              </a:rPr>
              <a:t>6.10  </a:t>
            </a:r>
            <a:r>
              <a:rPr lang="zh-CN" altLang="zh-CN" sz="2000" dirty="0"/>
              <a:t>如果</a:t>
            </a:r>
            <a:r>
              <a:rPr lang="en-US" altLang="zh-CN" sz="2000" dirty="0"/>
              <a:t>R(A,B,C)</a:t>
            </a:r>
            <a:r>
              <a:rPr lang="zh-CN" altLang="zh-CN" sz="2000" dirty="0"/>
              <a:t>∈</a:t>
            </a:r>
            <a:r>
              <a:rPr lang="en-US" altLang="zh-CN" sz="2000" dirty="0"/>
              <a:t>1NF</a:t>
            </a:r>
            <a:r>
              <a:rPr lang="zh-CN" altLang="zh-CN" sz="2000" dirty="0"/>
              <a:t>的函数依赖集为</a:t>
            </a:r>
            <a:r>
              <a:rPr lang="en-US" altLang="zh-CN" sz="2000" dirty="0"/>
              <a:t>F={AB</a:t>
            </a:r>
            <a:r>
              <a:rPr lang="zh-CN" altLang="zh-CN" sz="2000" dirty="0"/>
              <a:t>→</a:t>
            </a:r>
            <a:r>
              <a:rPr lang="en-US" altLang="zh-CN" sz="2000" dirty="0"/>
              <a:t>C,AC</a:t>
            </a:r>
            <a:r>
              <a:rPr lang="zh-CN" altLang="zh-CN" sz="2000" dirty="0"/>
              <a:t>→</a:t>
            </a:r>
            <a:r>
              <a:rPr lang="en-US" altLang="zh-CN" sz="2000" dirty="0"/>
              <a:t>B,B</a:t>
            </a:r>
            <a:r>
              <a:rPr lang="zh-CN" altLang="zh-CN" sz="2000" dirty="0"/>
              <a:t>→</a:t>
            </a:r>
            <a:r>
              <a:rPr lang="en-US" altLang="zh-CN" sz="2000" dirty="0"/>
              <a:t>C}</a:t>
            </a:r>
            <a:r>
              <a:rPr lang="zh-CN" altLang="zh-CN" sz="2000" dirty="0"/>
              <a:t>，则</a:t>
            </a:r>
            <a:r>
              <a:rPr lang="en-US" altLang="zh-CN" sz="2000" dirty="0"/>
              <a:t>R BCNF</a:t>
            </a:r>
            <a:r>
              <a:rPr lang="zh-CN" altLang="zh-CN" sz="2000" dirty="0"/>
              <a:t>。</a:t>
            </a:r>
          </a:p>
          <a:p>
            <a:pPr marL="360363" indent="0">
              <a:buNone/>
            </a:pPr>
            <a:r>
              <a:rPr lang="zh-CN" altLang="zh-CN" sz="2000" dirty="0"/>
              <a:t>因为：</a:t>
            </a:r>
            <a:r>
              <a:rPr lang="en-US" altLang="zh-CN" sz="2000" dirty="0"/>
              <a:t>R</a:t>
            </a:r>
            <a:r>
              <a:rPr lang="zh-CN" altLang="zh-CN" sz="2000" dirty="0"/>
              <a:t>的候选键为</a:t>
            </a:r>
            <a:r>
              <a:rPr lang="en-US" altLang="zh-CN" sz="2000" dirty="0"/>
              <a:t>AB</a:t>
            </a:r>
            <a:r>
              <a:rPr lang="zh-CN" altLang="zh-CN" sz="2000" dirty="0"/>
              <a:t>和</a:t>
            </a:r>
            <a:r>
              <a:rPr lang="en-US" altLang="zh-CN" sz="2000" dirty="0"/>
              <a:t>AC</a:t>
            </a:r>
            <a:r>
              <a:rPr lang="zh-CN" altLang="zh-CN" sz="2000" dirty="0"/>
              <a:t>，对于</a:t>
            </a:r>
            <a:r>
              <a:rPr lang="en-US" altLang="zh-CN" sz="2000" dirty="0"/>
              <a:t>F</a:t>
            </a:r>
            <a:r>
              <a:rPr lang="zh-CN" altLang="zh-CN" sz="2000" dirty="0"/>
              <a:t>中的函数依赖</a:t>
            </a:r>
            <a:r>
              <a:rPr lang="en-US" altLang="zh-CN" sz="2000" dirty="0"/>
              <a:t>B</a:t>
            </a:r>
            <a:r>
              <a:rPr lang="zh-CN" altLang="zh-CN" sz="2000" dirty="0"/>
              <a:t>→</a:t>
            </a:r>
            <a:r>
              <a:rPr lang="en-US" altLang="zh-CN" sz="2000" dirty="0"/>
              <a:t>C</a:t>
            </a:r>
            <a:r>
              <a:rPr lang="zh-CN" altLang="zh-CN" sz="2000" dirty="0"/>
              <a:t>，</a:t>
            </a:r>
            <a:r>
              <a:rPr lang="en-US" altLang="zh-CN" sz="2000" dirty="0"/>
              <a:t>B</a:t>
            </a:r>
            <a:r>
              <a:rPr lang="zh-CN" altLang="zh-CN" sz="2000" dirty="0"/>
              <a:t>不包含候选键，</a:t>
            </a:r>
          </a:p>
          <a:p>
            <a:pPr marL="360363" indent="0">
              <a:buNone/>
            </a:pPr>
            <a:r>
              <a:rPr lang="zh-CN" altLang="zh-CN" sz="2000" dirty="0"/>
              <a:t>所以：</a:t>
            </a:r>
            <a:r>
              <a:rPr lang="en-US" altLang="zh-CN" sz="2000" dirty="0"/>
              <a:t>R(A,B,C) BCNF</a:t>
            </a:r>
            <a:r>
              <a:rPr lang="zh-CN" altLang="zh-CN" sz="2000" dirty="0"/>
              <a:t>。</a:t>
            </a:r>
          </a:p>
          <a:p>
            <a:pPr marL="360363" indent="0">
              <a:buNone/>
            </a:pPr>
            <a:r>
              <a:rPr lang="en-US" altLang="zh-CN" sz="2000" dirty="0"/>
              <a:t>R</a:t>
            </a:r>
            <a:r>
              <a:rPr lang="zh-CN" altLang="zh-CN" sz="2000" dirty="0"/>
              <a:t>的</a:t>
            </a:r>
            <a:r>
              <a:rPr lang="en-US" altLang="zh-CN" sz="2000" dirty="0"/>
              <a:t>BCNF</a:t>
            </a:r>
            <a:r>
              <a:rPr lang="zh-CN" altLang="zh-CN" sz="2000" dirty="0"/>
              <a:t>分解结果</a:t>
            </a:r>
            <a:r>
              <a:rPr lang="zh-CN" altLang="zh-CN" sz="2000" dirty="0" smtClean="0"/>
              <a:t>：</a:t>
            </a:r>
            <a:r>
              <a:rPr lang="en-US" altLang="zh-CN" sz="2000" dirty="0" smtClean="0"/>
              <a:t>R=R</a:t>
            </a:r>
            <a:r>
              <a:rPr lang="en-US" altLang="zh-CN" sz="2000" baseline="-25000" dirty="0" smtClean="0"/>
              <a:t>1</a:t>
            </a:r>
            <a:r>
              <a:rPr lang="zh-CN" altLang="zh-CN" sz="2000" dirty="0"/>
              <a:t>∪</a:t>
            </a:r>
            <a:r>
              <a:rPr lang="en-US" altLang="zh-CN" sz="2000" dirty="0" smtClean="0"/>
              <a:t>R</a:t>
            </a:r>
            <a:r>
              <a:rPr lang="en-US" altLang="zh-CN" sz="2000" baseline="-25000" dirty="0" smtClean="0"/>
              <a:t>2</a:t>
            </a:r>
            <a:endParaRPr lang="zh-CN" altLang="zh-CN" sz="2000" dirty="0" smtClean="0"/>
          </a:p>
          <a:p>
            <a:pPr marL="360363" indent="0">
              <a:buNone/>
            </a:pPr>
            <a:r>
              <a:rPr lang="en-US" altLang="zh-CN" sz="2000" dirty="0" smtClean="0"/>
              <a:t>R</a:t>
            </a:r>
            <a:r>
              <a:rPr lang="en-US" altLang="zh-CN" sz="2000" baseline="-25000" dirty="0" smtClean="0"/>
              <a:t>1</a:t>
            </a:r>
            <a:r>
              <a:rPr lang="en-US" altLang="zh-CN" sz="2000" dirty="0" smtClean="0"/>
              <a:t>(U</a:t>
            </a:r>
            <a:r>
              <a:rPr lang="en-US" altLang="zh-CN" sz="2000" baseline="-25000" dirty="0" smtClean="0"/>
              <a:t>1</a:t>
            </a:r>
            <a:r>
              <a:rPr lang="en-US" altLang="zh-CN" sz="2000" dirty="0" smtClean="0"/>
              <a:t>,F</a:t>
            </a:r>
            <a:r>
              <a:rPr lang="en-US" altLang="zh-CN" sz="2000" baseline="-25000" dirty="0" smtClean="0"/>
              <a:t>1</a:t>
            </a:r>
            <a:r>
              <a:rPr lang="en-US" altLang="zh-CN" sz="2000" dirty="0" smtClean="0"/>
              <a:t>)=({A,B},</a:t>
            </a:r>
            <a:r>
              <a:rPr lang="en-US" altLang="zh-CN" sz="2000" dirty="0" smtClean="0">
                <a:sym typeface="Symbol"/>
              </a:rPr>
              <a:t></a:t>
            </a:r>
            <a:r>
              <a:rPr lang="en-US" altLang="zh-CN" sz="2000" dirty="0" smtClean="0"/>
              <a:t>)      R</a:t>
            </a:r>
            <a:r>
              <a:rPr lang="en-US" altLang="zh-CN" sz="2000" baseline="-25000" dirty="0" smtClean="0"/>
              <a:t>2</a:t>
            </a:r>
            <a:r>
              <a:rPr lang="en-US" altLang="zh-CN" sz="2000" dirty="0" smtClean="0"/>
              <a:t>(U</a:t>
            </a:r>
            <a:r>
              <a:rPr lang="en-US" altLang="zh-CN" sz="2000" baseline="-25000" dirty="0" smtClean="0"/>
              <a:t>2</a:t>
            </a:r>
            <a:r>
              <a:rPr lang="en-US" altLang="zh-CN" sz="2000" dirty="0" smtClean="0"/>
              <a:t>,F</a:t>
            </a:r>
            <a:r>
              <a:rPr lang="en-US" altLang="zh-CN" sz="2000" baseline="-25000" dirty="0" smtClean="0"/>
              <a:t>2</a:t>
            </a:r>
            <a:r>
              <a:rPr lang="en-US" altLang="zh-CN" sz="2000" dirty="0"/>
              <a:t>)=({B,C},{B</a:t>
            </a:r>
            <a:r>
              <a:rPr lang="zh-CN" altLang="zh-CN" sz="2000" dirty="0"/>
              <a:t>→</a:t>
            </a:r>
            <a:r>
              <a:rPr lang="en-US" altLang="zh-CN" sz="2000" dirty="0"/>
              <a:t>C})</a:t>
            </a:r>
            <a:endParaRPr lang="zh-CN" altLang="zh-CN" sz="2000" dirty="0"/>
          </a:p>
          <a:p>
            <a:pPr marL="360363" indent="0">
              <a:buNone/>
            </a:pPr>
            <a:r>
              <a:rPr lang="zh-CN" altLang="zh-CN" sz="2000" dirty="0"/>
              <a:t>显然：</a:t>
            </a: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 </a:t>
            </a:r>
            <a:r>
              <a:rPr lang="zh-CN" altLang="zh-CN" sz="2000" dirty="0"/>
              <a:t>∈</a:t>
            </a:r>
            <a:r>
              <a:rPr lang="en-US" altLang="zh-CN" sz="2000" dirty="0"/>
              <a:t>BCNF</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 </a:t>
            </a:r>
            <a:r>
              <a:rPr lang="zh-CN" altLang="zh-CN" sz="2000" dirty="0"/>
              <a:t>∈</a:t>
            </a:r>
            <a:r>
              <a:rPr lang="en-US" altLang="zh-CN" sz="2000" dirty="0"/>
              <a:t>BCNF</a:t>
            </a:r>
            <a:r>
              <a:rPr lang="zh-CN" altLang="zh-CN" sz="2000" dirty="0"/>
              <a:t>。</a:t>
            </a:r>
          </a:p>
          <a:p>
            <a:r>
              <a:rPr lang="en-US" altLang="zh-CN" sz="2000" dirty="0"/>
              <a:t> </a:t>
            </a:r>
            <a:r>
              <a:rPr lang="zh-CN" altLang="zh-CN" sz="2000" dirty="0" smtClean="0">
                <a:solidFill>
                  <a:srgbClr val="0000FF"/>
                </a:solidFill>
              </a:rPr>
              <a:t>思考</a:t>
            </a:r>
            <a:r>
              <a:rPr lang="zh-CN" altLang="zh-CN" sz="2000" dirty="0">
                <a:solidFill>
                  <a:srgbClr val="0000FF"/>
                </a:solidFill>
              </a:rPr>
              <a:t>：</a:t>
            </a:r>
            <a:r>
              <a:rPr lang="en-US" altLang="zh-CN" sz="2000" dirty="0"/>
              <a:t>R(A,B,C)</a:t>
            </a:r>
            <a:r>
              <a:rPr lang="zh-CN" altLang="zh-CN" sz="2000" dirty="0"/>
              <a:t>是否满足</a:t>
            </a:r>
            <a:r>
              <a:rPr lang="en-US" altLang="zh-CN" sz="2000" dirty="0"/>
              <a:t>3NF</a:t>
            </a:r>
            <a:r>
              <a:rPr lang="zh-CN" altLang="zh-CN" sz="2000" dirty="0"/>
              <a:t>？说明原因。</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33</a:t>
            </a:fld>
            <a:endParaRPr lang="zh-CN" altLang="en-US" dirty="0"/>
          </a:p>
        </p:txBody>
      </p:sp>
    </p:spTree>
    <p:extLst>
      <p:ext uri="{BB962C8B-B14F-4D97-AF65-F5344CB8AC3E}">
        <p14:creationId xmlns:p14="http://schemas.microsoft.com/office/powerpoint/2010/main" val="2469793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fontScale="90000"/>
          </a:bodyPr>
          <a:lstStyle/>
          <a:p>
            <a:r>
              <a:rPr lang="en-US" altLang="zh-CN" sz="2800" dirty="0"/>
              <a:t>6.2.5 </a:t>
            </a:r>
            <a:r>
              <a:rPr lang="en-US" altLang="zh-CN" sz="2800" dirty="0" smtClean="0"/>
              <a:t>  BC</a:t>
            </a:r>
            <a:r>
              <a:rPr lang="zh-CN" altLang="zh-CN" sz="28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例</a:t>
            </a:r>
            <a:r>
              <a:rPr lang="en-US" altLang="zh-CN" sz="2000" dirty="0">
                <a:solidFill>
                  <a:srgbClr val="0000FF"/>
                </a:solidFill>
              </a:rPr>
              <a:t>6.11  </a:t>
            </a:r>
            <a:r>
              <a:rPr lang="zh-CN" altLang="zh-CN" sz="2000" dirty="0"/>
              <a:t>如果</a:t>
            </a:r>
            <a:r>
              <a:rPr lang="en-US" altLang="zh-CN" sz="2000" dirty="0"/>
              <a:t>R(A,B,C)</a:t>
            </a:r>
            <a:r>
              <a:rPr lang="zh-CN" altLang="zh-CN" sz="2000" dirty="0"/>
              <a:t>∈</a:t>
            </a:r>
            <a:r>
              <a:rPr lang="en-US" altLang="zh-CN" sz="2000" dirty="0"/>
              <a:t>1NF</a:t>
            </a:r>
            <a:r>
              <a:rPr lang="zh-CN" altLang="zh-CN" sz="2000" dirty="0"/>
              <a:t>的函数依赖集为空集（</a:t>
            </a:r>
            <a:r>
              <a:rPr lang="en-US" altLang="zh-CN" sz="2000" dirty="0"/>
              <a:t>F=</a:t>
            </a:r>
            <a:r>
              <a:rPr lang="en-US" altLang="zh-CN" sz="2000" dirty="0">
                <a:sym typeface="Symbol"/>
              </a:rPr>
              <a:t></a:t>
            </a:r>
            <a:r>
              <a:rPr lang="zh-CN" altLang="zh-CN" sz="2000" dirty="0"/>
              <a:t>），则</a:t>
            </a:r>
            <a:r>
              <a:rPr lang="en-US" altLang="zh-CN" sz="2000" dirty="0"/>
              <a:t>R</a:t>
            </a:r>
            <a:r>
              <a:rPr lang="zh-CN" altLang="zh-CN" sz="2000" dirty="0"/>
              <a:t>∈</a:t>
            </a:r>
            <a:r>
              <a:rPr lang="en-US" altLang="zh-CN" sz="2000" dirty="0"/>
              <a:t>BCNF</a:t>
            </a:r>
            <a:r>
              <a:rPr lang="zh-CN" altLang="zh-CN" sz="2000" dirty="0"/>
              <a:t>。</a:t>
            </a:r>
          </a:p>
          <a:p>
            <a:pPr marL="360363" indent="0">
              <a:buNone/>
            </a:pPr>
            <a:r>
              <a:rPr lang="zh-CN" altLang="zh-CN" sz="2000" dirty="0"/>
              <a:t>因为：</a:t>
            </a:r>
            <a:r>
              <a:rPr lang="en-US" altLang="zh-CN" sz="2000" dirty="0"/>
              <a:t>F=</a:t>
            </a:r>
            <a:r>
              <a:rPr lang="en-US" altLang="zh-CN" sz="2000" dirty="0">
                <a:sym typeface="Symbol"/>
              </a:rPr>
              <a:t></a:t>
            </a:r>
            <a:r>
              <a:rPr lang="zh-CN" altLang="zh-CN" sz="2000" dirty="0"/>
              <a:t>，所以</a:t>
            </a:r>
            <a:r>
              <a:rPr lang="en-US" altLang="zh-CN" sz="2000" dirty="0"/>
              <a:t>A,B,C </a:t>
            </a:r>
            <a:r>
              <a:rPr lang="zh-CN" altLang="zh-CN" sz="2000" dirty="0"/>
              <a:t>之间不存在任何函数依赖关系。</a:t>
            </a:r>
          </a:p>
          <a:p>
            <a:pPr marL="360363" indent="0">
              <a:buNone/>
            </a:pPr>
            <a:r>
              <a:rPr lang="zh-CN" altLang="zh-CN" sz="2000" dirty="0"/>
              <a:t>所以：</a:t>
            </a:r>
            <a:r>
              <a:rPr lang="en-US" altLang="zh-CN" sz="2000" dirty="0"/>
              <a:t>R</a:t>
            </a:r>
            <a:r>
              <a:rPr lang="zh-CN" altLang="zh-CN" sz="2000" dirty="0"/>
              <a:t>的候选键为</a:t>
            </a:r>
            <a:r>
              <a:rPr lang="en-US" altLang="zh-CN" sz="2000" dirty="0"/>
              <a:t>ABC</a:t>
            </a:r>
            <a:r>
              <a:rPr lang="zh-CN" altLang="zh-CN" sz="2000" dirty="0"/>
              <a:t>（即：全键）。因此，</a:t>
            </a:r>
            <a:r>
              <a:rPr lang="en-US" altLang="zh-CN" sz="2000" dirty="0"/>
              <a:t>R(A,B,C)</a:t>
            </a:r>
            <a:r>
              <a:rPr lang="zh-CN" altLang="zh-CN" sz="2000" dirty="0"/>
              <a:t>∈</a:t>
            </a:r>
            <a:r>
              <a:rPr lang="en-US" altLang="zh-CN" sz="2000" dirty="0"/>
              <a:t>BCNF</a:t>
            </a:r>
            <a:r>
              <a:rPr lang="zh-CN" altLang="zh-CN" sz="2000" dirty="0"/>
              <a:t>。</a:t>
            </a:r>
          </a:p>
          <a:p>
            <a:pPr>
              <a:lnSpc>
                <a:spcPts val="3300"/>
              </a:lnSpc>
            </a:pPr>
            <a:r>
              <a:rPr lang="zh-CN" altLang="zh-CN" sz="2000" dirty="0" smtClean="0">
                <a:solidFill>
                  <a:srgbClr val="0000FF"/>
                </a:solidFill>
              </a:rPr>
              <a:t>结论</a:t>
            </a:r>
            <a:r>
              <a:rPr lang="zh-CN" altLang="zh-CN" sz="2000" dirty="0">
                <a:solidFill>
                  <a:srgbClr val="0000FF"/>
                </a:solidFill>
              </a:rPr>
              <a:t>：</a:t>
            </a:r>
            <a:r>
              <a:rPr lang="zh-CN" altLang="zh-CN" sz="2000" dirty="0"/>
              <a:t>解决不满足</a:t>
            </a:r>
            <a:r>
              <a:rPr lang="en-US" altLang="zh-CN" sz="2000" dirty="0"/>
              <a:t>BCNF</a:t>
            </a:r>
            <a:r>
              <a:rPr lang="zh-CN" altLang="zh-CN" sz="2000" dirty="0"/>
              <a:t>的方法是分解关系模式，消除所有属性对候选键的部分函数依赖关系和传递函数依赖关系。即：</a:t>
            </a:r>
          </a:p>
          <a:p>
            <a:pPr>
              <a:lnSpc>
                <a:spcPts val="3300"/>
              </a:lnSpc>
            </a:pPr>
            <a:r>
              <a:rPr lang="zh-CN" altLang="zh-CN" sz="2000" dirty="0"/>
              <a:t>对于</a:t>
            </a:r>
            <a:r>
              <a:rPr lang="en-US" altLang="zh-CN" sz="2000" dirty="0"/>
              <a:t>R</a:t>
            </a:r>
            <a:r>
              <a:rPr lang="zh-CN" altLang="zh-CN" sz="2000" dirty="0"/>
              <a:t>∈</a:t>
            </a:r>
            <a:r>
              <a:rPr lang="en-US" altLang="zh-CN" sz="2000" dirty="0"/>
              <a:t>1NF</a:t>
            </a:r>
            <a:r>
              <a:rPr lang="zh-CN" altLang="zh-CN" sz="2000" dirty="0"/>
              <a:t>，只要存在一个属性部分函数依赖于</a:t>
            </a:r>
            <a:r>
              <a:rPr lang="en-US" altLang="zh-CN" sz="2000" dirty="0"/>
              <a:t>R</a:t>
            </a:r>
            <a:r>
              <a:rPr lang="zh-CN" altLang="zh-CN" sz="2000" dirty="0"/>
              <a:t>的候选键；或者存在一个属性传递函数依赖于</a:t>
            </a:r>
            <a:r>
              <a:rPr lang="en-US" altLang="zh-CN" sz="2000" dirty="0"/>
              <a:t>R</a:t>
            </a:r>
            <a:r>
              <a:rPr lang="zh-CN" altLang="zh-CN" sz="2000" dirty="0"/>
              <a:t>的候选键；或者存在一个函数依赖，其决定属性集不包含</a:t>
            </a:r>
            <a:r>
              <a:rPr lang="en-US" altLang="zh-CN" sz="2000" dirty="0"/>
              <a:t>R</a:t>
            </a:r>
            <a:r>
              <a:rPr lang="zh-CN" altLang="zh-CN" sz="2000" dirty="0"/>
              <a:t>的候选键，则</a:t>
            </a:r>
            <a:r>
              <a:rPr lang="en-US" altLang="zh-CN" sz="2000" dirty="0" smtClean="0"/>
              <a:t>R     </a:t>
            </a:r>
            <a:r>
              <a:rPr lang="en-US" altLang="zh-CN" sz="2000" dirty="0"/>
              <a:t>BCNF</a:t>
            </a:r>
            <a:r>
              <a:rPr lang="zh-CN" altLang="zh-CN" sz="2000" dirty="0"/>
              <a:t>。</a:t>
            </a:r>
          </a:p>
          <a:p>
            <a:pPr>
              <a:lnSpc>
                <a:spcPts val="3300"/>
              </a:lnSpc>
            </a:pPr>
            <a:r>
              <a:rPr lang="zh-CN" altLang="zh-CN" sz="2000" dirty="0"/>
              <a:t>在函数依赖的范畴内，</a:t>
            </a:r>
            <a:r>
              <a:rPr lang="en-US" altLang="zh-CN" sz="2000" dirty="0">
                <a:solidFill>
                  <a:srgbClr val="0000FF"/>
                </a:solidFill>
              </a:rPr>
              <a:t>BCNF</a:t>
            </a:r>
            <a:r>
              <a:rPr lang="zh-CN" altLang="zh-CN" sz="2000" dirty="0">
                <a:solidFill>
                  <a:srgbClr val="0000FF"/>
                </a:solidFill>
              </a:rPr>
              <a:t>达到了范式规范化的最高级别</a:t>
            </a:r>
            <a:r>
              <a:rPr lang="zh-CN" altLang="zh-CN" sz="2000" dirty="0"/>
              <a:t>，实现了函数依赖的“彻底分离”，已经“基本上”解决了插入异常、修改异常和删除异常等问题。</a:t>
            </a:r>
          </a:p>
          <a:p>
            <a:pPr>
              <a:lnSpc>
                <a:spcPts val="3300"/>
              </a:lnSpc>
            </a:pPr>
            <a:r>
              <a:rPr lang="zh-CN" altLang="zh-CN" sz="2000" dirty="0">
                <a:solidFill>
                  <a:srgbClr val="0000FF"/>
                </a:solidFill>
              </a:rPr>
              <a:t>思考：</a:t>
            </a:r>
            <a:r>
              <a:rPr lang="zh-CN" altLang="zh-CN" sz="2000" dirty="0"/>
              <a:t>满足</a:t>
            </a:r>
            <a:r>
              <a:rPr lang="en-US" altLang="zh-CN" sz="2000" dirty="0"/>
              <a:t>BCNF</a:t>
            </a:r>
            <a:r>
              <a:rPr lang="zh-CN" altLang="zh-CN" sz="2000" dirty="0"/>
              <a:t>的关系模式</a:t>
            </a:r>
            <a:r>
              <a:rPr lang="en-US" altLang="zh-CN" sz="2000" dirty="0"/>
              <a:t>R</a:t>
            </a:r>
            <a:r>
              <a:rPr lang="zh-CN" altLang="zh-CN" sz="2000" dirty="0"/>
              <a:t>存在冗余数据吗？插入、修改和删除是否出现异常？</a:t>
            </a:r>
            <a:r>
              <a:rPr lang="en-US" altLang="zh-CN" sz="2000" dirty="0"/>
              <a:t>R</a:t>
            </a:r>
            <a:r>
              <a:rPr lang="zh-CN" altLang="zh-CN" sz="2000" dirty="0"/>
              <a:t>是最理想的关系模式吗？</a:t>
            </a:r>
            <a:r>
              <a:rPr lang="en-US" altLang="zh-CN" sz="2000" dirty="0"/>
              <a:t>R</a:t>
            </a:r>
            <a:r>
              <a:rPr lang="zh-CN" altLang="zh-CN" sz="2000" dirty="0"/>
              <a:t>存在多值依赖吗？</a:t>
            </a:r>
          </a:p>
          <a:p>
            <a:endParaRPr lang="zh-CN" altLang="zh-CN" sz="20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34</a:t>
            </a:fld>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695512052"/>
              </p:ext>
            </p:extLst>
          </p:nvPr>
        </p:nvGraphicFramePr>
        <p:xfrm>
          <a:off x="3491880" y="3645024"/>
          <a:ext cx="503237" cy="504825"/>
        </p:xfrm>
        <a:graphic>
          <a:graphicData uri="http://schemas.openxmlformats.org/presentationml/2006/ole">
            <mc:AlternateContent xmlns:mc="http://schemas.openxmlformats.org/markup-compatibility/2006">
              <mc:Choice xmlns:v="urn:schemas-microsoft-com:vml" Requires="v">
                <p:oleObj spid="_x0000_s65636" name="公式" r:id="rId3" imgW="114201" imgH="139579" progId="Equation.3">
                  <p:embed/>
                </p:oleObj>
              </mc:Choice>
              <mc:Fallback>
                <p:oleObj name="公式" r:id="rId3" imgW="114201" imgH="139579" progId="Equation.3">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3645024"/>
                        <a:ext cx="5032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37587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定义</a:t>
            </a:r>
            <a:r>
              <a:rPr lang="en-US" altLang="zh-CN" sz="2000" dirty="0">
                <a:solidFill>
                  <a:srgbClr val="0000FF"/>
                </a:solidFill>
              </a:rPr>
              <a:t>6.9  </a:t>
            </a:r>
            <a:r>
              <a:rPr lang="zh-CN" altLang="zh-CN" sz="2000" dirty="0"/>
              <a:t>对于关系模式</a:t>
            </a:r>
            <a:r>
              <a:rPr lang="en-US" altLang="zh-CN" sz="2000" dirty="0"/>
              <a:t>R(U</a:t>
            </a:r>
            <a:r>
              <a:rPr lang="zh-CN" altLang="zh-CN" sz="2000" dirty="0"/>
              <a:t>，</a:t>
            </a:r>
            <a:r>
              <a:rPr lang="en-US" altLang="zh-CN" sz="2000" dirty="0"/>
              <a:t>F)</a:t>
            </a:r>
            <a:r>
              <a:rPr lang="zh-CN" altLang="zh-CN" sz="2000" dirty="0"/>
              <a:t>，</a:t>
            </a:r>
            <a:r>
              <a:rPr lang="en-US" altLang="zh-CN" sz="2000" dirty="0"/>
              <a:t>X</a:t>
            </a:r>
            <a:r>
              <a:rPr lang="zh-CN" altLang="zh-CN" sz="2000" dirty="0"/>
              <a:t>和</a:t>
            </a:r>
            <a:r>
              <a:rPr lang="en-US" altLang="zh-CN" sz="2000" dirty="0"/>
              <a:t>Y</a:t>
            </a:r>
            <a:r>
              <a:rPr lang="zh-CN" altLang="zh-CN" sz="2000" dirty="0"/>
              <a:t>是</a:t>
            </a:r>
            <a:r>
              <a:rPr lang="en-US" altLang="zh-CN" sz="2000" dirty="0"/>
              <a:t>U</a:t>
            </a:r>
            <a:r>
              <a:rPr lang="zh-CN" altLang="zh-CN" sz="2000" dirty="0"/>
              <a:t>的子集，且</a:t>
            </a:r>
            <a:r>
              <a:rPr lang="en-US" altLang="zh-CN" sz="2000" dirty="0"/>
              <a:t>Z</a:t>
            </a:r>
            <a:r>
              <a:rPr lang="zh-CN" altLang="zh-CN" sz="2000" dirty="0"/>
              <a:t>＝</a:t>
            </a:r>
            <a:r>
              <a:rPr lang="en-US" altLang="zh-CN" sz="2000" dirty="0"/>
              <a:t>U</a:t>
            </a:r>
            <a:r>
              <a:rPr lang="zh-CN" altLang="zh-CN" sz="2000" dirty="0"/>
              <a:t>－</a:t>
            </a:r>
            <a:r>
              <a:rPr lang="en-US" altLang="zh-CN" sz="2000" dirty="0"/>
              <a:t>X</a:t>
            </a:r>
            <a:r>
              <a:rPr lang="zh-CN" altLang="zh-CN" sz="2000" dirty="0"/>
              <a:t>－</a:t>
            </a:r>
            <a:r>
              <a:rPr lang="en-US" altLang="zh-CN" sz="2000" dirty="0"/>
              <a:t>Y</a:t>
            </a:r>
            <a:r>
              <a:rPr lang="zh-CN" altLang="zh-CN" sz="2000" dirty="0"/>
              <a:t>。如果</a:t>
            </a:r>
            <a:r>
              <a:rPr lang="en-US" altLang="zh-CN" sz="2000" dirty="0"/>
              <a:t>R</a:t>
            </a:r>
            <a:r>
              <a:rPr lang="zh-CN" altLang="zh-CN" sz="2000" dirty="0"/>
              <a:t>的关系中存在元组</a:t>
            </a:r>
            <a:r>
              <a:rPr lang="en-US" altLang="zh-CN" sz="2000" dirty="0"/>
              <a:t>s</a:t>
            </a:r>
            <a:r>
              <a:rPr lang="en-US" altLang="zh-CN" sz="2000" baseline="-25000" dirty="0"/>
              <a:t>1</a:t>
            </a:r>
            <a:r>
              <a:rPr lang="en-US" altLang="zh-CN" sz="2000" dirty="0"/>
              <a:t>=(x,y</a:t>
            </a:r>
            <a:r>
              <a:rPr lang="en-US" altLang="zh-CN" sz="2000" baseline="-25000" dirty="0"/>
              <a:t>1</a:t>
            </a:r>
            <a:r>
              <a:rPr lang="en-US" altLang="zh-CN" sz="2000" dirty="0"/>
              <a:t>,z</a:t>
            </a:r>
            <a:r>
              <a:rPr lang="en-US" altLang="zh-CN" sz="2000" baseline="-25000" dirty="0"/>
              <a:t>1</a:t>
            </a:r>
            <a:r>
              <a:rPr lang="en-US" altLang="zh-CN" sz="2000" dirty="0"/>
              <a:t>)</a:t>
            </a:r>
            <a:r>
              <a:rPr lang="zh-CN" altLang="zh-CN" sz="2000" dirty="0"/>
              <a:t>和</a:t>
            </a:r>
            <a:r>
              <a:rPr lang="en-US" altLang="zh-CN" sz="2000" dirty="0"/>
              <a:t>s</a:t>
            </a:r>
            <a:r>
              <a:rPr lang="en-US" altLang="zh-CN" sz="2000" baseline="-25000" dirty="0"/>
              <a:t>2</a:t>
            </a:r>
            <a:r>
              <a:rPr lang="en-US" altLang="zh-CN" sz="2000" dirty="0"/>
              <a:t>=(x,y</a:t>
            </a:r>
            <a:r>
              <a:rPr lang="en-US" altLang="zh-CN" sz="2000" baseline="-25000" dirty="0"/>
              <a:t>2</a:t>
            </a:r>
            <a:r>
              <a:rPr lang="en-US" altLang="zh-CN" sz="2000" dirty="0"/>
              <a:t>,z</a:t>
            </a:r>
            <a:r>
              <a:rPr lang="en-US" altLang="zh-CN" sz="2000" baseline="-25000" dirty="0"/>
              <a:t>2</a:t>
            </a:r>
            <a:r>
              <a:rPr lang="en-US" altLang="zh-CN" sz="2000" dirty="0"/>
              <a:t>)</a:t>
            </a:r>
            <a:r>
              <a:rPr lang="zh-CN" altLang="zh-CN" sz="2000" dirty="0"/>
              <a:t>，则</a:t>
            </a:r>
            <a:r>
              <a:rPr lang="en-US" altLang="zh-CN" sz="2000" dirty="0"/>
              <a:t>R</a:t>
            </a:r>
            <a:r>
              <a:rPr lang="zh-CN" altLang="zh-CN" sz="2000" dirty="0"/>
              <a:t>的关系中一定存在元组</a:t>
            </a:r>
            <a:r>
              <a:rPr lang="en-US" altLang="zh-CN" sz="2000" dirty="0"/>
              <a:t>t</a:t>
            </a:r>
            <a:r>
              <a:rPr lang="en-US" altLang="zh-CN" sz="2000" baseline="-25000" dirty="0"/>
              <a:t>1</a:t>
            </a:r>
            <a:r>
              <a:rPr lang="en-US" altLang="zh-CN" sz="2000" dirty="0"/>
              <a:t>=(x,y</a:t>
            </a:r>
            <a:r>
              <a:rPr lang="en-US" altLang="zh-CN" sz="2000" baseline="-25000" dirty="0"/>
              <a:t>2</a:t>
            </a:r>
            <a:r>
              <a:rPr lang="en-US" altLang="zh-CN" sz="2000" dirty="0"/>
              <a:t>,z</a:t>
            </a:r>
            <a:r>
              <a:rPr lang="en-US" altLang="zh-CN" sz="2000" baseline="-25000" dirty="0"/>
              <a:t>1</a:t>
            </a:r>
            <a:r>
              <a:rPr lang="en-US" altLang="zh-CN" sz="2000" dirty="0"/>
              <a:t>)</a:t>
            </a:r>
            <a:r>
              <a:rPr lang="zh-CN" altLang="zh-CN" sz="2000" dirty="0"/>
              <a:t>和</a:t>
            </a:r>
            <a:r>
              <a:rPr lang="en-US" altLang="zh-CN" sz="2000" dirty="0"/>
              <a:t>t</a:t>
            </a:r>
            <a:r>
              <a:rPr lang="en-US" altLang="zh-CN" sz="2000" baseline="-25000" dirty="0"/>
              <a:t>2</a:t>
            </a:r>
            <a:r>
              <a:rPr lang="en-US" altLang="zh-CN" sz="2000" dirty="0"/>
              <a:t>=(x,y</a:t>
            </a:r>
            <a:r>
              <a:rPr lang="en-US" altLang="zh-CN" sz="2000" baseline="-25000" dirty="0"/>
              <a:t>1</a:t>
            </a:r>
            <a:r>
              <a:rPr lang="en-US" altLang="zh-CN" sz="2000" dirty="0"/>
              <a:t>,z</a:t>
            </a:r>
            <a:r>
              <a:rPr lang="en-US" altLang="zh-CN" sz="2000" baseline="-25000" dirty="0"/>
              <a:t>2</a:t>
            </a:r>
            <a:r>
              <a:rPr lang="en-US" altLang="zh-CN" sz="2000" dirty="0"/>
              <a:t>)</a:t>
            </a:r>
            <a:r>
              <a:rPr lang="zh-CN" altLang="zh-CN" sz="2000" dirty="0"/>
              <a:t>，则称</a:t>
            </a:r>
            <a:r>
              <a:rPr lang="en-US" altLang="zh-CN" sz="2000" dirty="0"/>
              <a:t>Y</a:t>
            </a:r>
            <a:r>
              <a:rPr lang="zh-CN" altLang="zh-CN" sz="2000" dirty="0">
                <a:solidFill>
                  <a:srgbClr val="0000FF"/>
                </a:solidFill>
              </a:rPr>
              <a:t>多值依赖</a:t>
            </a:r>
            <a:r>
              <a:rPr lang="zh-CN" altLang="zh-CN" sz="2000" dirty="0"/>
              <a:t>于</a:t>
            </a:r>
            <a:r>
              <a:rPr lang="en-US" altLang="zh-CN" sz="2000" dirty="0"/>
              <a:t>X</a:t>
            </a:r>
            <a:r>
              <a:rPr lang="zh-CN" altLang="zh-CN" sz="2000" dirty="0"/>
              <a:t>，记为</a:t>
            </a:r>
            <a:r>
              <a:rPr lang="en-US" altLang="zh-CN" sz="2000" dirty="0"/>
              <a:t>X</a:t>
            </a:r>
            <a:r>
              <a:rPr lang="zh-CN" altLang="zh-CN" sz="2000" dirty="0"/>
              <a:t>→→</a:t>
            </a:r>
            <a:r>
              <a:rPr lang="en-US" altLang="zh-CN" sz="2000" dirty="0"/>
              <a:t>Y</a:t>
            </a:r>
            <a:r>
              <a:rPr lang="zh-CN" altLang="zh-CN" sz="2000" dirty="0"/>
              <a:t>。其中：</a:t>
            </a:r>
            <a:r>
              <a:rPr lang="en-US" altLang="zh-CN" sz="2000" dirty="0" err="1"/>
              <a:t>x,y</a:t>
            </a:r>
            <a:r>
              <a:rPr lang="en-US" altLang="zh-CN" sz="2000" baseline="-25000" dirty="0" err="1"/>
              <a:t>i</a:t>
            </a:r>
            <a:r>
              <a:rPr lang="en-US" altLang="zh-CN" sz="2000" dirty="0" err="1"/>
              <a:t>,z</a:t>
            </a:r>
            <a:r>
              <a:rPr lang="en-US" altLang="zh-CN" sz="2000" baseline="-25000" dirty="0" err="1"/>
              <a:t>i</a:t>
            </a:r>
            <a:r>
              <a:rPr lang="zh-CN" altLang="zh-CN" sz="2000" dirty="0"/>
              <a:t>（</a:t>
            </a:r>
            <a:r>
              <a:rPr lang="en-US" altLang="zh-CN" sz="2000" dirty="0"/>
              <a:t>i=1</a:t>
            </a:r>
            <a:r>
              <a:rPr lang="zh-CN" altLang="zh-CN" sz="2000" dirty="0"/>
              <a:t>，</a:t>
            </a:r>
            <a:r>
              <a:rPr lang="en-US" altLang="zh-CN" sz="2000" dirty="0"/>
              <a:t>2</a:t>
            </a:r>
            <a:r>
              <a:rPr lang="zh-CN" altLang="zh-CN" sz="2000" dirty="0"/>
              <a:t>）分别为元组在</a:t>
            </a:r>
            <a:r>
              <a:rPr lang="en-US" altLang="zh-CN" sz="2000" dirty="0"/>
              <a:t>X,Y,Z</a:t>
            </a:r>
            <a:r>
              <a:rPr lang="zh-CN" altLang="zh-CN" sz="2000" dirty="0"/>
              <a:t>上的分量值。</a:t>
            </a:r>
          </a:p>
          <a:p>
            <a:r>
              <a:rPr lang="zh-CN" altLang="zh-CN" sz="2000" dirty="0"/>
              <a:t>在定义</a:t>
            </a:r>
            <a:r>
              <a:rPr lang="en-US" altLang="zh-CN" sz="2000" dirty="0"/>
              <a:t>6.9</a:t>
            </a:r>
            <a:r>
              <a:rPr lang="zh-CN" altLang="zh-CN" sz="2000" dirty="0"/>
              <a:t>中，通过分析</a:t>
            </a:r>
            <a:r>
              <a:rPr lang="en-US" altLang="zh-CN" sz="2000" dirty="0"/>
              <a:t>s</a:t>
            </a:r>
            <a:r>
              <a:rPr lang="en-US" altLang="zh-CN" sz="2000" baseline="-25000" dirty="0"/>
              <a:t>1</a:t>
            </a:r>
            <a:r>
              <a:rPr lang="en-US" altLang="zh-CN" sz="2000" dirty="0"/>
              <a:t>,s</a:t>
            </a:r>
            <a:r>
              <a:rPr lang="en-US" altLang="zh-CN" sz="2000" baseline="-25000" dirty="0"/>
              <a:t>2</a:t>
            </a:r>
            <a:r>
              <a:rPr lang="zh-CN" altLang="zh-CN" sz="2000" dirty="0"/>
              <a:t>与</a:t>
            </a:r>
            <a:r>
              <a:rPr lang="en-US" altLang="zh-CN" sz="2000" dirty="0"/>
              <a:t>t</a:t>
            </a:r>
            <a:r>
              <a:rPr lang="en-US" altLang="zh-CN" sz="2000" baseline="-25000" dirty="0"/>
              <a:t>1</a:t>
            </a:r>
            <a:r>
              <a:rPr lang="en-US" altLang="zh-CN" sz="2000" dirty="0"/>
              <a:t>,t</a:t>
            </a:r>
            <a:r>
              <a:rPr lang="en-US" altLang="zh-CN" sz="2000" baseline="-25000" dirty="0"/>
              <a:t>2</a:t>
            </a:r>
            <a:r>
              <a:rPr lang="zh-CN" altLang="zh-CN" sz="2000" dirty="0"/>
              <a:t>的特征，不难发现</a:t>
            </a:r>
            <a:r>
              <a:rPr lang="en-US" altLang="zh-CN" sz="2000" dirty="0"/>
              <a:t>t</a:t>
            </a:r>
            <a:r>
              <a:rPr lang="en-US" altLang="zh-CN" sz="2000" baseline="-25000" dirty="0"/>
              <a:t>1</a:t>
            </a:r>
            <a:r>
              <a:rPr lang="en-US" altLang="zh-CN" sz="2000" dirty="0"/>
              <a:t>,t</a:t>
            </a:r>
            <a:r>
              <a:rPr lang="en-US" altLang="zh-CN" sz="2000" baseline="-25000" dirty="0"/>
              <a:t>2</a:t>
            </a:r>
            <a:r>
              <a:rPr lang="zh-CN" altLang="zh-CN" sz="2000" dirty="0"/>
              <a:t>是交换</a:t>
            </a:r>
            <a:r>
              <a:rPr lang="en-US" altLang="zh-CN" sz="2000" dirty="0"/>
              <a:t>s</a:t>
            </a:r>
            <a:r>
              <a:rPr lang="en-US" altLang="zh-CN" sz="2000" baseline="-25000" dirty="0"/>
              <a:t>1</a:t>
            </a:r>
            <a:r>
              <a:rPr lang="en-US" altLang="zh-CN" sz="2000" dirty="0"/>
              <a:t>,s</a:t>
            </a:r>
            <a:r>
              <a:rPr lang="en-US" altLang="zh-CN" sz="2000" baseline="-25000" dirty="0"/>
              <a:t>2</a:t>
            </a:r>
            <a:r>
              <a:rPr lang="zh-CN" altLang="zh-CN" sz="2000" dirty="0"/>
              <a:t>的</a:t>
            </a:r>
            <a:r>
              <a:rPr lang="en-US" altLang="zh-CN" sz="2000" dirty="0"/>
              <a:t>Y</a:t>
            </a:r>
            <a:r>
              <a:rPr lang="zh-CN" altLang="zh-CN" sz="2000" dirty="0"/>
              <a:t>分量值后所得到的两个元组，而且</a:t>
            </a:r>
            <a:r>
              <a:rPr lang="en-US" altLang="zh-CN" sz="2000" dirty="0"/>
              <a:t>s</a:t>
            </a:r>
            <a:r>
              <a:rPr lang="en-US" altLang="zh-CN" sz="2000" baseline="-25000" dirty="0"/>
              <a:t>1</a:t>
            </a:r>
            <a:r>
              <a:rPr lang="en-US" altLang="zh-CN" sz="2000" dirty="0"/>
              <a:t>,s</a:t>
            </a:r>
            <a:r>
              <a:rPr lang="en-US" altLang="zh-CN" sz="2000" baseline="-25000" dirty="0"/>
              <a:t>2</a:t>
            </a:r>
            <a:r>
              <a:rPr lang="zh-CN" altLang="zh-CN" sz="2000" dirty="0"/>
              <a:t>与</a:t>
            </a:r>
            <a:r>
              <a:rPr lang="en-US" altLang="zh-CN" sz="2000" dirty="0"/>
              <a:t>t</a:t>
            </a:r>
            <a:r>
              <a:rPr lang="en-US" altLang="zh-CN" sz="2000" baseline="-25000" dirty="0"/>
              <a:t>1</a:t>
            </a:r>
            <a:r>
              <a:rPr lang="en-US" altLang="zh-CN" sz="2000" dirty="0"/>
              <a:t>,t</a:t>
            </a:r>
            <a:r>
              <a:rPr lang="en-US" altLang="zh-CN" sz="2000" baseline="-25000" dirty="0"/>
              <a:t>2</a:t>
            </a:r>
            <a:r>
              <a:rPr lang="zh-CN" altLang="zh-CN" sz="2000" dirty="0"/>
              <a:t>的</a:t>
            </a:r>
            <a:r>
              <a:rPr lang="en-US" altLang="zh-CN" sz="2000" dirty="0"/>
              <a:t>X,Z</a:t>
            </a:r>
            <a:r>
              <a:rPr lang="zh-CN" altLang="zh-CN" sz="2000" dirty="0"/>
              <a:t>的分量值保持不变。</a:t>
            </a:r>
          </a:p>
          <a:p>
            <a:r>
              <a:rPr lang="zh-CN" altLang="zh-CN" sz="2000" dirty="0"/>
              <a:t>多值依赖的等价定义：</a:t>
            </a:r>
          </a:p>
          <a:p>
            <a:r>
              <a:rPr lang="zh-CN" altLang="zh-CN" sz="2000" dirty="0">
                <a:solidFill>
                  <a:srgbClr val="0000FF"/>
                </a:solidFill>
              </a:rPr>
              <a:t>定义</a:t>
            </a:r>
            <a:r>
              <a:rPr lang="en-US" altLang="zh-CN" sz="2000" dirty="0">
                <a:solidFill>
                  <a:srgbClr val="0000FF"/>
                </a:solidFill>
              </a:rPr>
              <a:t>6.10  </a:t>
            </a:r>
            <a:r>
              <a:rPr lang="zh-CN" altLang="zh-CN" sz="2000" dirty="0"/>
              <a:t>对于关系模式</a:t>
            </a:r>
            <a:r>
              <a:rPr lang="en-US" altLang="zh-CN" sz="2000" dirty="0"/>
              <a:t>R(U</a:t>
            </a:r>
            <a:r>
              <a:rPr lang="zh-CN" altLang="zh-CN" sz="2000" dirty="0"/>
              <a:t>，</a:t>
            </a:r>
            <a:r>
              <a:rPr lang="en-US" altLang="zh-CN" sz="2000" dirty="0"/>
              <a:t>F)</a:t>
            </a:r>
            <a:r>
              <a:rPr lang="zh-CN" altLang="zh-CN" sz="2000" dirty="0"/>
              <a:t>，</a:t>
            </a:r>
            <a:r>
              <a:rPr lang="en-US" altLang="zh-CN" sz="2000" dirty="0"/>
              <a:t>X</a:t>
            </a:r>
            <a:r>
              <a:rPr lang="zh-CN" altLang="zh-CN" sz="2000" dirty="0"/>
              <a:t>和</a:t>
            </a:r>
            <a:r>
              <a:rPr lang="en-US" altLang="zh-CN" sz="2000" dirty="0"/>
              <a:t>Y</a:t>
            </a:r>
            <a:r>
              <a:rPr lang="zh-CN" altLang="zh-CN" sz="2000" dirty="0"/>
              <a:t>是</a:t>
            </a:r>
            <a:r>
              <a:rPr lang="en-US" altLang="zh-CN" sz="2000" dirty="0"/>
              <a:t>U</a:t>
            </a:r>
            <a:r>
              <a:rPr lang="zh-CN" altLang="zh-CN" sz="2000" dirty="0"/>
              <a:t>的子集，且</a:t>
            </a:r>
            <a:r>
              <a:rPr lang="en-US" altLang="zh-CN" sz="2000" dirty="0"/>
              <a:t>Z</a:t>
            </a:r>
            <a:r>
              <a:rPr lang="zh-CN" altLang="zh-CN" sz="2000" dirty="0"/>
              <a:t>＝</a:t>
            </a:r>
            <a:r>
              <a:rPr lang="en-US" altLang="zh-CN" sz="2000" dirty="0"/>
              <a:t>U</a:t>
            </a:r>
            <a:r>
              <a:rPr lang="zh-CN" altLang="zh-CN" sz="2000" dirty="0"/>
              <a:t>－</a:t>
            </a:r>
            <a:r>
              <a:rPr lang="en-US" altLang="zh-CN" sz="2000" dirty="0"/>
              <a:t>X</a:t>
            </a:r>
            <a:r>
              <a:rPr lang="zh-CN" altLang="zh-CN" sz="2000" dirty="0"/>
              <a:t>－</a:t>
            </a:r>
            <a:r>
              <a:rPr lang="en-US" altLang="zh-CN" sz="2000" dirty="0"/>
              <a:t>Y</a:t>
            </a:r>
            <a:r>
              <a:rPr lang="zh-CN" altLang="zh-CN" sz="2000" dirty="0"/>
              <a:t>。如果</a:t>
            </a:r>
            <a:r>
              <a:rPr lang="en-US" altLang="zh-CN" sz="2000" dirty="0"/>
              <a:t>R</a:t>
            </a:r>
            <a:r>
              <a:rPr lang="zh-CN" altLang="zh-CN" sz="2000" dirty="0"/>
              <a:t>的关系在</a:t>
            </a:r>
            <a:r>
              <a:rPr lang="en-US" altLang="zh-CN" sz="2000" dirty="0"/>
              <a:t>(X</a:t>
            </a:r>
            <a:r>
              <a:rPr lang="zh-CN" altLang="zh-CN" sz="2000" dirty="0"/>
              <a:t>，</a:t>
            </a:r>
            <a:r>
              <a:rPr lang="en-US" altLang="zh-CN" sz="2000" dirty="0"/>
              <a:t>Z)</a:t>
            </a:r>
            <a:r>
              <a:rPr lang="zh-CN" altLang="zh-CN" sz="2000" dirty="0"/>
              <a:t>上的每个值所对应的一组</a:t>
            </a:r>
            <a:r>
              <a:rPr lang="en-US" altLang="zh-CN" sz="2000" dirty="0"/>
              <a:t>Y</a:t>
            </a:r>
            <a:r>
              <a:rPr lang="zh-CN" altLang="zh-CN" sz="2000" dirty="0"/>
              <a:t>值，只取决于</a:t>
            </a:r>
            <a:r>
              <a:rPr lang="en-US" altLang="zh-CN" sz="2000" dirty="0"/>
              <a:t>X</a:t>
            </a:r>
            <a:r>
              <a:rPr lang="zh-CN" altLang="zh-CN" sz="2000" dirty="0"/>
              <a:t>值而与</a:t>
            </a:r>
            <a:r>
              <a:rPr lang="en-US" altLang="zh-CN" sz="2000" dirty="0"/>
              <a:t>Z</a:t>
            </a:r>
            <a:r>
              <a:rPr lang="zh-CN" altLang="zh-CN" sz="2000" dirty="0"/>
              <a:t>值无关，则称</a:t>
            </a:r>
            <a:r>
              <a:rPr lang="en-US" altLang="zh-CN" sz="2000" dirty="0"/>
              <a:t>Y</a:t>
            </a:r>
            <a:r>
              <a:rPr lang="zh-CN" altLang="zh-CN" sz="2000" dirty="0"/>
              <a:t>多值依赖于</a:t>
            </a:r>
            <a:r>
              <a:rPr lang="en-US" altLang="zh-CN" sz="2000" dirty="0"/>
              <a:t>X</a:t>
            </a:r>
            <a:r>
              <a:rPr lang="zh-CN" altLang="zh-CN" sz="2000" dirty="0"/>
              <a:t>。</a:t>
            </a:r>
          </a:p>
          <a:p>
            <a:endParaRPr lang="zh-CN" altLang="zh-CN" sz="20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35</a:t>
            </a:fld>
            <a:endParaRPr lang="zh-CN" altLang="en-US" dirty="0"/>
          </a:p>
        </p:txBody>
      </p:sp>
    </p:spTree>
    <p:extLst>
      <p:ext uri="{BB962C8B-B14F-4D97-AF65-F5344CB8AC3E}">
        <p14:creationId xmlns:p14="http://schemas.microsoft.com/office/powerpoint/2010/main" val="2210169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t>对于定义</a:t>
            </a:r>
            <a:r>
              <a:rPr lang="en-US" altLang="zh-CN" sz="2000" dirty="0"/>
              <a:t>6.9</a:t>
            </a:r>
            <a:r>
              <a:rPr lang="zh-CN" altLang="zh-CN" sz="2000" dirty="0"/>
              <a:t>和定义</a:t>
            </a:r>
            <a:r>
              <a:rPr lang="en-US" altLang="zh-CN" sz="2000" dirty="0"/>
              <a:t>6.10</a:t>
            </a:r>
            <a:r>
              <a:rPr lang="zh-CN" altLang="zh-CN" sz="2000" dirty="0"/>
              <a:t>的</a:t>
            </a:r>
            <a:r>
              <a:rPr lang="zh-CN" altLang="zh-CN" sz="2000" dirty="0">
                <a:solidFill>
                  <a:srgbClr val="0000FF"/>
                </a:solidFill>
              </a:rPr>
              <a:t>分析</a:t>
            </a:r>
            <a:r>
              <a:rPr lang="zh-CN" altLang="zh-CN" sz="2000" dirty="0"/>
              <a:t>：</a:t>
            </a:r>
          </a:p>
          <a:p>
            <a:r>
              <a:rPr lang="zh-CN" altLang="zh-CN" sz="2000" dirty="0"/>
              <a:t>对于定义</a:t>
            </a:r>
            <a:r>
              <a:rPr lang="en-US" altLang="zh-CN" sz="2000" dirty="0"/>
              <a:t>6.9</a:t>
            </a:r>
            <a:r>
              <a:rPr lang="zh-CN" altLang="zh-CN" sz="2000" dirty="0"/>
              <a:t>中的四个元组，假设</a:t>
            </a:r>
            <a:r>
              <a:rPr lang="en-US" altLang="zh-CN" sz="2000" dirty="0"/>
              <a:t>s</a:t>
            </a:r>
            <a:r>
              <a:rPr lang="en-US" altLang="zh-CN" sz="2000" baseline="-25000" dirty="0"/>
              <a:t>1</a:t>
            </a:r>
            <a:r>
              <a:rPr lang="en-US" altLang="zh-CN" sz="2000" dirty="0"/>
              <a:t>,s</a:t>
            </a:r>
            <a:r>
              <a:rPr lang="en-US" altLang="zh-CN" sz="2000" baseline="-25000" dirty="0"/>
              <a:t>2</a:t>
            </a:r>
            <a:r>
              <a:rPr lang="en-US" altLang="zh-CN" sz="2000" dirty="0"/>
              <a:t>,t</a:t>
            </a:r>
            <a:r>
              <a:rPr lang="en-US" altLang="zh-CN" sz="2000" baseline="-25000" dirty="0"/>
              <a:t>1</a:t>
            </a:r>
            <a:r>
              <a:rPr lang="en-US" altLang="zh-CN" sz="2000" dirty="0"/>
              <a:t>,t</a:t>
            </a:r>
            <a:r>
              <a:rPr lang="en-US" altLang="zh-CN" sz="2000" baseline="-25000" dirty="0"/>
              <a:t>2</a:t>
            </a:r>
            <a:r>
              <a:rPr lang="zh-CN" altLang="zh-CN" sz="2000" dirty="0"/>
              <a:t>这四个元组组成的关系为</a:t>
            </a:r>
            <a:r>
              <a:rPr lang="en-US" altLang="zh-CN" sz="2000" dirty="0"/>
              <a:t>S</a:t>
            </a:r>
            <a:r>
              <a:rPr lang="zh-CN" altLang="zh-CN" sz="2000" dirty="0"/>
              <a:t>，则</a:t>
            </a:r>
            <a:r>
              <a:rPr lang="en-US" altLang="zh-CN" sz="2000" dirty="0"/>
              <a:t>S</a:t>
            </a:r>
            <a:r>
              <a:rPr lang="zh-CN" altLang="zh-CN" sz="2000" dirty="0"/>
              <a:t>在</a:t>
            </a:r>
            <a:r>
              <a:rPr lang="en-US" altLang="zh-CN" sz="2000" dirty="0"/>
              <a:t>(X</a:t>
            </a:r>
            <a:r>
              <a:rPr lang="zh-CN" altLang="zh-CN" sz="2000" dirty="0"/>
              <a:t>，</a:t>
            </a:r>
            <a:r>
              <a:rPr lang="en-US" altLang="zh-CN" sz="2000" dirty="0"/>
              <a:t>Z)</a:t>
            </a:r>
            <a:r>
              <a:rPr lang="zh-CN" altLang="zh-CN" sz="2000" dirty="0"/>
              <a:t>上的值</a:t>
            </a:r>
            <a:r>
              <a:rPr lang="en-US" altLang="zh-CN" sz="2000" dirty="0"/>
              <a:t>x,z</a:t>
            </a:r>
            <a:r>
              <a:rPr lang="en-US" altLang="zh-CN" sz="2000" baseline="-25000" dirty="0"/>
              <a:t>1</a:t>
            </a:r>
            <a:r>
              <a:rPr lang="en-US" altLang="zh-CN" sz="2000" dirty="0"/>
              <a:t>(</a:t>
            </a:r>
            <a:r>
              <a:rPr lang="zh-CN" altLang="zh-CN" sz="2000" dirty="0"/>
              <a:t>或</a:t>
            </a:r>
            <a:r>
              <a:rPr lang="en-US" altLang="zh-CN" sz="2000" dirty="0"/>
              <a:t>x,z</a:t>
            </a:r>
            <a:r>
              <a:rPr lang="en-US" altLang="zh-CN" sz="2000" baseline="-25000" dirty="0"/>
              <a:t>2</a:t>
            </a:r>
            <a:r>
              <a:rPr lang="en-US" altLang="zh-CN" sz="2000" dirty="0"/>
              <a:t>)</a:t>
            </a:r>
            <a:r>
              <a:rPr lang="zh-CN" altLang="zh-CN" sz="2000" dirty="0"/>
              <a:t>所对应的一组</a:t>
            </a:r>
            <a:r>
              <a:rPr lang="en-US" altLang="zh-CN" sz="2000" dirty="0"/>
              <a:t>Y</a:t>
            </a:r>
            <a:r>
              <a:rPr lang="zh-CN" altLang="zh-CN" sz="2000" dirty="0"/>
              <a:t>值</a:t>
            </a:r>
            <a:r>
              <a:rPr lang="en-US" altLang="zh-CN" sz="2000" dirty="0"/>
              <a:t>{y</a:t>
            </a:r>
            <a:r>
              <a:rPr lang="en-US" altLang="zh-CN" sz="2000" baseline="-25000" dirty="0"/>
              <a:t>1</a:t>
            </a:r>
            <a:r>
              <a:rPr lang="en-US" altLang="zh-CN" sz="2000" dirty="0"/>
              <a:t>,y</a:t>
            </a:r>
            <a:r>
              <a:rPr lang="en-US" altLang="zh-CN" sz="2000" baseline="-25000" dirty="0"/>
              <a:t>2</a:t>
            </a:r>
            <a:r>
              <a:rPr lang="en-US" altLang="zh-CN" sz="2000" dirty="0"/>
              <a:t>}</a:t>
            </a:r>
            <a:r>
              <a:rPr lang="zh-CN" altLang="zh-CN" sz="2000" dirty="0"/>
              <a:t>，只决定于</a:t>
            </a:r>
            <a:r>
              <a:rPr lang="en-US" altLang="zh-CN" sz="2000" dirty="0"/>
              <a:t>X</a:t>
            </a:r>
            <a:r>
              <a:rPr lang="zh-CN" altLang="zh-CN" sz="2000" dirty="0"/>
              <a:t>值</a:t>
            </a:r>
            <a:r>
              <a:rPr lang="en-US" altLang="zh-CN" sz="2000" dirty="0"/>
              <a:t>x(</a:t>
            </a:r>
            <a:r>
              <a:rPr lang="zh-CN" altLang="zh-CN" sz="2000" dirty="0"/>
              <a:t>即：</a:t>
            </a:r>
            <a:r>
              <a:rPr lang="en-US" altLang="zh-CN" sz="2000" dirty="0"/>
              <a:t>x</a:t>
            </a:r>
            <a:r>
              <a:rPr lang="zh-CN" altLang="zh-CN" sz="2000" dirty="0"/>
              <a:t>→</a:t>
            </a:r>
            <a:r>
              <a:rPr lang="en-US" altLang="zh-CN" sz="2000" dirty="0"/>
              <a:t>(y</a:t>
            </a:r>
            <a:r>
              <a:rPr lang="en-US" altLang="zh-CN" sz="2000" baseline="-25000" dirty="0"/>
              <a:t>1</a:t>
            </a:r>
            <a:r>
              <a:rPr lang="en-US" altLang="zh-CN" sz="2000" dirty="0"/>
              <a:t>,y</a:t>
            </a:r>
            <a:r>
              <a:rPr lang="en-US" altLang="zh-CN" sz="2000" baseline="-25000" dirty="0"/>
              <a:t>2</a:t>
            </a:r>
            <a:r>
              <a:rPr lang="en-US" altLang="zh-CN" sz="2000" dirty="0"/>
              <a:t>)),</a:t>
            </a:r>
            <a:r>
              <a:rPr lang="zh-CN" altLang="zh-CN" sz="2000" dirty="0"/>
              <a:t>而与</a:t>
            </a:r>
            <a:r>
              <a:rPr lang="en-US" altLang="zh-CN" sz="2000" dirty="0"/>
              <a:t>Z</a:t>
            </a:r>
            <a:r>
              <a:rPr lang="zh-CN" altLang="zh-CN" sz="2000" dirty="0"/>
              <a:t>值</a:t>
            </a:r>
            <a:r>
              <a:rPr lang="en-US" altLang="zh-CN" sz="2000" dirty="0"/>
              <a:t>z</a:t>
            </a:r>
            <a:r>
              <a:rPr lang="en-US" altLang="zh-CN" sz="2000" baseline="-25000" dirty="0"/>
              <a:t>1</a:t>
            </a:r>
            <a:r>
              <a:rPr lang="en-US" altLang="zh-CN" sz="2000" dirty="0"/>
              <a:t>(</a:t>
            </a:r>
            <a:r>
              <a:rPr lang="zh-CN" altLang="zh-CN" sz="2000" dirty="0"/>
              <a:t>或</a:t>
            </a:r>
            <a:r>
              <a:rPr lang="en-US" altLang="zh-CN" sz="2000" dirty="0"/>
              <a:t>z</a:t>
            </a:r>
            <a:r>
              <a:rPr lang="en-US" altLang="zh-CN" sz="2000" baseline="-25000" dirty="0"/>
              <a:t>2</a:t>
            </a:r>
            <a:r>
              <a:rPr lang="en-US" altLang="zh-CN" sz="2000" dirty="0"/>
              <a:t>)</a:t>
            </a:r>
            <a:r>
              <a:rPr lang="zh-CN" altLang="zh-CN" sz="2000" dirty="0"/>
              <a:t>无关。即：</a:t>
            </a:r>
          </a:p>
          <a:p>
            <a:r>
              <a:rPr lang="en-US" altLang="zh-CN" sz="2000" dirty="0"/>
              <a:t>s</a:t>
            </a:r>
            <a:r>
              <a:rPr lang="en-US" altLang="zh-CN" sz="2000" baseline="-25000" dirty="0"/>
              <a:t>1</a:t>
            </a:r>
            <a:r>
              <a:rPr lang="en-US" altLang="zh-CN" sz="2000" dirty="0"/>
              <a:t>=(x,y</a:t>
            </a:r>
            <a:r>
              <a:rPr lang="en-US" altLang="zh-CN" sz="2000" baseline="-25000" dirty="0"/>
              <a:t>1</a:t>
            </a:r>
            <a:r>
              <a:rPr lang="en-US" altLang="zh-CN" sz="2000" dirty="0"/>
              <a:t>,z</a:t>
            </a:r>
            <a:r>
              <a:rPr lang="en-US" altLang="zh-CN" sz="2000" baseline="-25000" dirty="0"/>
              <a:t>1</a:t>
            </a:r>
            <a:r>
              <a:rPr lang="en-US" altLang="zh-CN" sz="2000" dirty="0"/>
              <a:t>)</a:t>
            </a:r>
            <a:r>
              <a:rPr lang="zh-CN" altLang="zh-CN" sz="2000" dirty="0"/>
              <a:t>和</a:t>
            </a:r>
            <a:r>
              <a:rPr lang="en-US" altLang="zh-CN" sz="2000" dirty="0"/>
              <a:t>t</a:t>
            </a:r>
            <a:r>
              <a:rPr lang="en-US" altLang="zh-CN" sz="2000" baseline="-25000" dirty="0"/>
              <a:t>1</a:t>
            </a:r>
            <a:r>
              <a:rPr lang="en-US" altLang="zh-CN" sz="2000" dirty="0"/>
              <a:t>=(x,y</a:t>
            </a:r>
            <a:r>
              <a:rPr lang="en-US" altLang="zh-CN" sz="2000" baseline="-25000" dirty="0"/>
              <a:t>2</a:t>
            </a:r>
            <a:r>
              <a:rPr lang="en-US" altLang="zh-CN" sz="2000" dirty="0"/>
              <a:t>,z</a:t>
            </a:r>
            <a:r>
              <a:rPr lang="en-US" altLang="zh-CN" sz="2000" baseline="-25000" dirty="0"/>
              <a:t>1</a:t>
            </a:r>
            <a:r>
              <a:rPr lang="en-US" altLang="zh-CN" sz="2000" dirty="0"/>
              <a:t>)</a:t>
            </a:r>
            <a:r>
              <a:rPr lang="zh-CN" altLang="zh-CN" sz="2000" dirty="0"/>
              <a:t>在</a:t>
            </a:r>
            <a:r>
              <a:rPr lang="en-US" altLang="zh-CN" sz="2000" dirty="0"/>
              <a:t>(X</a:t>
            </a:r>
            <a:r>
              <a:rPr lang="zh-CN" altLang="zh-CN" sz="2000" dirty="0"/>
              <a:t>，</a:t>
            </a:r>
            <a:r>
              <a:rPr lang="en-US" altLang="zh-CN" sz="2000" dirty="0"/>
              <a:t>Z)</a:t>
            </a:r>
            <a:r>
              <a:rPr lang="zh-CN" altLang="zh-CN" sz="2000" dirty="0"/>
              <a:t>上的值</a:t>
            </a:r>
            <a:r>
              <a:rPr lang="en-US" altLang="zh-CN" sz="2000" dirty="0"/>
              <a:t>x,z</a:t>
            </a:r>
            <a:r>
              <a:rPr lang="en-US" altLang="zh-CN" sz="2000" baseline="-25000" dirty="0"/>
              <a:t>1</a:t>
            </a:r>
            <a:r>
              <a:rPr lang="zh-CN" altLang="zh-CN" sz="2000" dirty="0"/>
              <a:t>，所对应的</a:t>
            </a:r>
            <a:r>
              <a:rPr lang="en-US" altLang="zh-CN" sz="2000" dirty="0"/>
              <a:t>Y</a:t>
            </a:r>
            <a:r>
              <a:rPr lang="zh-CN" altLang="zh-CN" sz="2000" dirty="0"/>
              <a:t>值为</a:t>
            </a:r>
            <a:r>
              <a:rPr lang="en-US" altLang="zh-CN" sz="2000" dirty="0"/>
              <a:t>{y</a:t>
            </a:r>
            <a:r>
              <a:rPr lang="en-US" altLang="zh-CN" sz="2000" baseline="-25000" dirty="0"/>
              <a:t>1</a:t>
            </a:r>
            <a:r>
              <a:rPr lang="en-US" altLang="zh-CN" sz="2000" dirty="0"/>
              <a:t>,y</a:t>
            </a:r>
            <a:r>
              <a:rPr lang="en-US" altLang="zh-CN" sz="2000" baseline="-25000" dirty="0"/>
              <a:t>2</a:t>
            </a:r>
            <a:r>
              <a:rPr lang="en-US" altLang="zh-CN" sz="2000" dirty="0"/>
              <a:t>}</a:t>
            </a:r>
            <a:r>
              <a:rPr lang="zh-CN" altLang="zh-CN" sz="2000" dirty="0"/>
              <a:t>，只取决于</a:t>
            </a:r>
            <a:r>
              <a:rPr lang="en-US" altLang="zh-CN" sz="2000" dirty="0"/>
              <a:t>X</a:t>
            </a:r>
            <a:r>
              <a:rPr lang="zh-CN" altLang="zh-CN" sz="2000" dirty="0"/>
              <a:t>值</a:t>
            </a:r>
            <a:r>
              <a:rPr lang="en-US" altLang="zh-CN" sz="2000" dirty="0"/>
              <a:t>x</a:t>
            </a:r>
            <a:r>
              <a:rPr lang="zh-CN" altLang="zh-CN" sz="2000" dirty="0"/>
              <a:t>，而与</a:t>
            </a:r>
            <a:r>
              <a:rPr lang="en-US" altLang="zh-CN" sz="2000" dirty="0"/>
              <a:t>Z</a:t>
            </a:r>
            <a:r>
              <a:rPr lang="zh-CN" altLang="zh-CN" sz="2000" dirty="0"/>
              <a:t>值</a:t>
            </a:r>
            <a:r>
              <a:rPr lang="en-US" altLang="zh-CN" sz="2000" dirty="0"/>
              <a:t>z</a:t>
            </a:r>
            <a:r>
              <a:rPr lang="en-US" altLang="zh-CN" sz="2000" baseline="-25000" dirty="0"/>
              <a:t>1</a:t>
            </a:r>
            <a:r>
              <a:rPr lang="zh-CN" altLang="zh-CN" sz="2000" dirty="0"/>
              <a:t>无关。亦即：</a:t>
            </a:r>
          </a:p>
          <a:p>
            <a:r>
              <a:rPr lang="en-US" altLang="zh-CN" sz="2000" dirty="0"/>
              <a:t>s</a:t>
            </a:r>
            <a:r>
              <a:rPr lang="en-US" altLang="zh-CN" sz="2000" baseline="-25000" dirty="0"/>
              <a:t>2</a:t>
            </a:r>
            <a:r>
              <a:rPr lang="en-US" altLang="zh-CN" sz="2000" dirty="0"/>
              <a:t>=(x,y</a:t>
            </a:r>
            <a:r>
              <a:rPr lang="en-US" altLang="zh-CN" sz="2000" baseline="-25000" dirty="0"/>
              <a:t>2</a:t>
            </a:r>
            <a:r>
              <a:rPr lang="en-US" altLang="zh-CN" sz="2000" dirty="0"/>
              <a:t>,z</a:t>
            </a:r>
            <a:r>
              <a:rPr lang="en-US" altLang="zh-CN" sz="2000" baseline="-25000" dirty="0"/>
              <a:t>2</a:t>
            </a:r>
            <a:r>
              <a:rPr lang="en-US" altLang="zh-CN" sz="2000" dirty="0"/>
              <a:t>)</a:t>
            </a:r>
            <a:r>
              <a:rPr lang="zh-CN" altLang="zh-CN" sz="2000" dirty="0"/>
              <a:t>和</a:t>
            </a:r>
            <a:r>
              <a:rPr lang="en-US" altLang="zh-CN" sz="2000" dirty="0"/>
              <a:t>t</a:t>
            </a:r>
            <a:r>
              <a:rPr lang="en-US" altLang="zh-CN" sz="2000" baseline="-25000" dirty="0"/>
              <a:t>2</a:t>
            </a:r>
            <a:r>
              <a:rPr lang="en-US" altLang="zh-CN" sz="2000" dirty="0"/>
              <a:t>=(x,y</a:t>
            </a:r>
            <a:r>
              <a:rPr lang="en-US" altLang="zh-CN" sz="2000" baseline="-25000" dirty="0"/>
              <a:t>1</a:t>
            </a:r>
            <a:r>
              <a:rPr lang="en-US" altLang="zh-CN" sz="2000" dirty="0"/>
              <a:t>,z</a:t>
            </a:r>
            <a:r>
              <a:rPr lang="en-US" altLang="zh-CN" sz="2000" baseline="-25000" dirty="0"/>
              <a:t>2</a:t>
            </a:r>
            <a:r>
              <a:rPr lang="en-US" altLang="zh-CN" sz="2000" dirty="0"/>
              <a:t>) </a:t>
            </a:r>
            <a:r>
              <a:rPr lang="zh-CN" altLang="zh-CN" sz="2000" dirty="0"/>
              <a:t>在</a:t>
            </a:r>
            <a:r>
              <a:rPr lang="en-US" altLang="zh-CN" sz="2000" dirty="0"/>
              <a:t>(X</a:t>
            </a:r>
            <a:r>
              <a:rPr lang="zh-CN" altLang="zh-CN" sz="2000" dirty="0"/>
              <a:t>，</a:t>
            </a:r>
            <a:r>
              <a:rPr lang="en-US" altLang="zh-CN" sz="2000" dirty="0"/>
              <a:t>Z)</a:t>
            </a:r>
            <a:r>
              <a:rPr lang="zh-CN" altLang="zh-CN" sz="2000" dirty="0"/>
              <a:t>上的值</a:t>
            </a:r>
            <a:r>
              <a:rPr lang="en-US" altLang="zh-CN" sz="2000" dirty="0"/>
              <a:t>x,z</a:t>
            </a:r>
            <a:r>
              <a:rPr lang="en-US" altLang="zh-CN" sz="2000" baseline="-25000" dirty="0"/>
              <a:t>2</a:t>
            </a:r>
            <a:r>
              <a:rPr lang="zh-CN" altLang="zh-CN" sz="2000" dirty="0"/>
              <a:t>，所对应的</a:t>
            </a:r>
            <a:r>
              <a:rPr lang="en-US" altLang="zh-CN" sz="2000" dirty="0"/>
              <a:t>Y</a:t>
            </a:r>
            <a:r>
              <a:rPr lang="zh-CN" altLang="zh-CN" sz="2000" dirty="0"/>
              <a:t>值仍然为</a:t>
            </a:r>
            <a:r>
              <a:rPr lang="en-US" altLang="zh-CN" sz="2000" dirty="0"/>
              <a:t>{y</a:t>
            </a:r>
            <a:r>
              <a:rPr lang="en-US" altLang="zh-CN" sz="2000" baseline="-25000" dirty="0"/>
              <a:t>1</a:t>
            </a:r>
            <a:r>
              <a:rPr lang="en-US" altLang="zh-CN" sz="2000" dirty="0"/>
              <a:t>,y</a:t>
            </a:r>
            <a:r>
              <a:rPr lang="en-US" altLang="zh-CN" sz="2000" baseline="-25000" dirty="0"/>
              <a:t>2</a:t>
            </a:r>
            <a:r>
              <a:rPr lang="en-US" altLang="zh-CN" sz="2000" dirty="0"/>
              <a:t>}</a:t>
            </a:r>
            <a:r>
              <a:rPr lang="zh-CN" altLang="zh-CN" sz="2000" dirty="0"/>
              <a:t>，只取决于</a:t>
            </a:r>
            <a:r>
              <a:rPr lang="en-US" altLang="zh-CN" sz="2000" dirty="0"/>
              <a:t>X</a:t>
            </a:r>
            <a:r>
              <a:rPr lang="zh-CN" altLang="zh-CN" sz="2000" dirty="0"/>
              <a:t>值</a:t>
            </a:r>
            <a:r>
              <a:rPr lang="en-US" altLang="zh-CN" sz="2000" dirty="0"/>
              <a:t>x</a:t>
            </a:r>
            <a:r>
              <a:rPr lang="zh-CN" altLang="zh-CN" sz="2000" dirty="0"/>
              <a:t>，而与</a:t>
            </a:r>
            <a:r>
              <a:rPr lang="en-US" altLang="zh-CN" sz="2000" dirty="0"/>
              <a:t>Z</a:t>
            </a:r>
            <a:r>
              <a:rPr lang="zh-CN" altLang="zh-CN" sz="2000" dirty="0"/>
              <a:t>值</a:t>
            </a:r>
            <a:r>
              <a:rPr lang="en-US" altLang="zh-CN" sz="2000" dirty="0"/>
              <a:t>z</a:t>
            </a:r>
            <a:r>
              <a:rPr lang="en-US" altLang="zh-CN" sz="2000" baseline="-25000" dirty="0"/>
              <a:t>2</a:t>
            </a:r>
            <a:r>
              <a:rPr lang="zh-CN" altLang="zh-CN" sz="2000" dirty="0"/>
              <a:t>无关。</a:t>
            </a:r>
          </a:p>
          <a:p>
            <a:r>
              <a:rPr lang="zh-CN" altLang="zh-CN" sz="2000" dirty="0"/>
              <a:t>约定：若</a:t>
            </a:r>
            <a:r>
              <a:rPr lang="en-US" altLang="zh-CN" sz="2000" dirty="0"/>
              <a:t>X</a:t>
            </a:r>
            <a:r>
              <a:rPr lang="zh-CN" altLang="zh-CN" sz="2000" dirty="0"/>
              <a:t>→→</a:t>
            </a:r>
            <a:r>
              <a:rPr lang="en-US" altLang="zh-CN" sz="2000" dirty="0"/>
              <a:t>Y</a:t>
            </a:r>
            <a:r>
              <a:rPr lang="zh-CN" altLang="zh-CN" sz="2000" dirty="0"/>
              <a:t>，而</a:t>
            </a:r>
            <a:r>
              <a:rPr lang="en-US" altLang="zh-CN" sz="2000" dirty="0"/>
              <a:t>Z</a:t>
            </a:r>
            <a:r>
              <a:rPr lang="zh-CN" altLang="zh-CN" sz="2000" dirty="0"/>
              <a:t>＝</a:t>
            </a:r>
            <a:r>
              <a:rPr lang="en-US" altLang="zh-CN" sz="2000" dirty="0">
                <a:sym typeface="Symbol"/>
              </a:rPr>
              <a:t></a:t>
            </a:r>
            <a:r>
              <a:rPr lang="zh-CN" altLang="zh-CN" sz="2000" dirty="0"/>
              <a:t>，则</a:t>
            </a:r>
            <a:r>
              <a:rPr lang="en-US" altLang="zh-CN" sz="2000" dirty="0"/>
              <a:t>X</a:t>
            </a:r>
            <a:r>
              <a:rPr lang="zh-CN" altLang="zh-CN" sz="2000" dirty="0"/>
              <a:t>→→</a:t>
            </a:r>
            <a:r>
              <a:rPr lang="en-US" altLang="zh-CN" sz="2000" dirty="0"/>
              <a:t>Y</a:t>
            </a:r>
            <a:r>
              <a:rPr lang="zh-CN" altLang="zh-CN" sz="2000" dirty="0"/>
              <a:t>称为平凡多值依赖；否则为非平凡多值依赖</a:t>
            </a:r>
            <a:r>
              <a:rPr lang="zh-CN" altLang="zh-CN" sz="2000" dirty="0" smtClean="0"/>
              <a:t>。</a:t>
            </a:r>
            <a:endParaRPr lang="zh-CN" altLang="zh-CN" sz="20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36</a:t>
            </a:fld>
            <a:endParaRPr lang="zh-CN" altLang="en-US" dirty="0"/>
          </a:p>
        </p:txBody>
      </p:sp>
    </p:spTree>
    <p:extLst>
      <p:ext uri="{BB962C8B-B14F-4D97-AF65-F5344CB8AC3E}">
        <p14:creationId xmlns:p14="http://schemas.microsoft.com/office/powerpoint/2010/main" val="2742834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1584176"/>
          </a:xfrm>
        </p:spPr>
        <p:txBody>
          <a:bodyPr>
            <a:noAutofit/>
          </a:bodyPr>
          <a:lstStyle/>
          <a:p>
            <a:r>
              <a:rPr lang="zh-CN" altLang="zh-CN" sz="2000" dirty="0">
                <a:solidFill>
                  <a:srgbClr val="0000FF"/>
                </a:solidFill>
              </a:rPr>
              <a:t>例</a:t>
            </a:r>
            <a:r>
              <a:rPr lang="en-US" altLang="zh-CN" sz="2000" dirty="0">
                <a:solidFill>
                  <a:srgbClr val="0000FF"/>
                </a:solidFill>
              </a:rPr>
              <a:t>6.12  </a:t>
            </a:r>
            <a:r>
              <a:rPr lang="zh-CN" altLang="zh-CN" sz="2000" dirty="0"/>
              <a:t>对于关系模式：配送（书库，职工，图书），要求每个书库有多个职工和多种图书，同时要求每个职工管理所在书库的图书（如表</a:t>
            </a:r>
            <a:r>
              <a:rPr lang="en-US" altLang="zh-CN" sz="2000" dirty="0"/>
              <a:t>6.1</a:t>
            </a:r>
            <a:r>
              <a:rPr lang="zh-CN" altLang="zh-CN" sz="2000" dirty="0"/>
              <a:t>所示）。</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37</a:t>
            </a:fld>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390542917"/>
              </p:ext>
            </p:extLst>
          </p:nvPr>
        </p:nvGraphicFramePr>
        <p:xfrm>
          <a:off x="1691680" y="1844824"/>
          <a:ext cx="5328593" cy="4431766"/>
        </p:xfrm>
        <a:graphic>
          <a:graphicData uri="http://schemas.openxmlformats.org/drawingml/2006/table">
            <a:tbl>
              <a:tblPr firstRow="1" firstCol="1" bandRow="1" bandCol="1">
                <a:tableStyleId>{5C22544A-7EE6-4342-B048-85BDC9FD1C3A}</a:tableStyleId>
              </a:tblPr>
              <a:tblGrid>
                <a:gridCol w="1775521"/>
                <a:gridCol w="1776536"/>
                <a:gridCol w="1776536"/>
              </a:tblGrid>
              <a:tr h="504056">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书库</a:t>
                      </a: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职工</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图书</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1</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张磊</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高等数学</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1</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张磊</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图像分析</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1</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张磊</a:t>
                      </a:r>
                    </a:p>
                  </a:txBody>
                  <a:tcPr marL="17780" marR="17780" marT="0" marB="0" anchor="ctr"/>
                </a:tc>
                <a:tc>
                  <a:txBody>
                    <a:bodyPr/>
                    <a:lstStyle/>
                    <a:p>
                      <a:pPr indent="127000" algn="ctr">
                        <a:lnSpc>
                          <a:spcPts val="1200"/>
                        </a:lnSpc>
                        <a:spcAft>
                          <a:spcPts val="0"/>
                        </a:spcAft>
                        <a:tabLst>
                          <a:tab pos="5257800" algn="l"/>
                        </a:tabLst>
                      </a:pPr>
                      <a:r>
                        <a:rPr lang="en-US" sz="1800" kern="100">
                          <a:effectLst/>
                          <a:latin typeface="微软雅黑" pitchFamily="34" charset="-122"/>
                          <a:ea typeface="微软雅黑" pitchFamily="34" charset="-122"/>
                        </a:rPr>
                        <a:t>Java</a:t>
                      </a:r>
                      <a:r>
                        <a:rPr lang="zh-CN" sz="1800" kern="100">
                          <a:effectLst/>
                          <a:latin typeface="微软雅黑" pitchFamily="34" charset="-122"/>
                          <a:ea typeface="微软雅黑" pitchFamily="34" charset="-122"/>
                        </a:rPr>
                        <a:t>语言</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1</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李丽</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高等数学</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1</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李丽</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图像分析</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1</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李丽</a:t>
                      </a:r>
                    </a:p>
                  </a:txBody>
                  <a:tcPr marL="17780" marR="17780" marT="0" marB="0" anchor="ctr"/>
                </a:tc>
                <a:tc>
                  <a:txBody>
                    <a:bodyPr/>
                    <a:lstStyle/>
                    <a:p>
                      <a:pPr indent="127000" algn="ctr">
                        <a:lnSpc>
                          <a:spcPts val="1200"/>
                        </a:lnSpc>
                        <a:spcAft>
                          <a:spcPts val="0"/>
                        </a:spcAft>
                        <a:tabLst>
                          <a:tab pos="5257800" algn="l"/>
                        </a:tabLst>
                      </a:pPr>
                      <a:r>
                        <a:rPr lang="en-US" sz="1800" kern="100">
                          <a:effectLst/>
                          <a:latin typeface="微软雅黑" pitchFamily="34" charset="-122"/>
                          <a:ea typeface="微软雅黑" pitchFamily="34" charset="-122"/>
                        </a:rPr>
                        <a:t>Java</a:t>
                      </a:r>
                      <a:r>
                        <a:rPr lang="zh-CN" sz="1800" kern="100">
                          <a:effectLst/>
                          <a:latin typeface="微软雅黑" pitchFamily="34" charset="-122"/>
                          <a:ea typeface="微软雅黑" pitchFamily="34" charset="-122"/>
                        </a:rPr>
                        <a:t>语言</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2</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王娟</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数据结构</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2</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王娟</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软件工程</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2</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a:effectLst/>
                          <a:latin typeface="微软雅黑" pitchFamily="34" charset="-122"/>
                          <a:ea typeface="微软雅黑" pitchFamily="34" charset="-122"/>
                        </a:rPr>
                        <a:t>孙亮</a:t>
                      </a: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数据结构</a:t>
                      </a:r>
                    </a:p>
                  </a:txBody>
                  <a:tcPr marL="17780" marR="17780" marT="0" marB="0" anchor="ctr"/>
                </a:tc>
              </a:tr>
              <a:tr h="392771">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库</a:t>
                      </a:r>
                      <a:r>
                        <a:rPr lang="en-US" sz="1800" kern="100">
                          <a:effectLst/>
                          <a:latin typeface="微软雅黑" pitchFamily="34" charset="-122"/>
                          <a:ea typeface="微软雅黑" pitchFamily="34" charset="-122"/>
                        </a:rPr>
                        <a:t>2</a:t>
                      </a:r>
                      <a:endParaRPr lang="zh-CN" sz="1800" kern="100">
                        <a:effectLst/>
                        <a:latin typeface="微软雅黑" pitchFamily="34" charset="-122"/>
                        <a:ea typeface="微软雅黑" pitchFamily="34" charset="-122"/>
                      </a:endParaRPr>
                    </a:p>
                  </a:txBody>
                  <a:tcPr marL="17780" marR="17780" marT="0" marB="0" anchor="ctr"/>
                </a:tc>
                <a:tc>
                  <a:txBody>
                    <a:bodyPr/>
                    <a:lstStyle/>
                    <a:p>
                      <a:pPr indent="-18415" algn="ctr">
                        <a:lnSpc>
                          <a:spcPts val="1200"/>
                        </a:lnSpc>
                        <a:spcAft>
                          <a:spcPts val="0"/>
                        </a:spcAft>
                        <a:tabLst>
                          <a:tab pos="5257800" algn="l"/>
                        </a:tabLst>
                      </a:pPr>
                      <a:r>
                        <a:rPr lang="zh-CN" sz="1800" kern="100" dirty="0">
                          <a:effectLst/>
                          <a:latin typeface="微软雅黑" pitchFamily="34" charset="-122"/>
                          <a:ea typeface="微软雅黑" pitchFamily="34" charset="-122"/>
                        </a:rPr>
                        <a:t>孙亮</a:t>
                      </a:r>
                    </a:p>
                  </a:txBody>
                  <a:tcPr marL="17780" marR="17780" marT="0" marB="0" anchor="ctr"/>
                </a:tc>
                <a:tc>
                  <a:txBody>
                    <a:bodyPr/>
                    <a:lstStyle/>
                    <a:p>
                      <a:pPr indent="127000" algn="ctr">
                        <a:lnSpc>
                          <a:spcPts val="1200"/>
                        </a:lnSpc>
                        <a:spcAft>
                          <a:spcPts val="0"/>
                        </a:spcAft>
                        <a:tabLst>
                          <a:tab pos="5257800" algn="l"/>
                        </a:tabLst>
                      </a:pPr>
                      <a:r>
                        <a:rPr lang="zh-CN" sz="1800" kern="100" dirty="0">
                          <a:effectLst/>
                          <a:latin typeface="微软雅黑" pitchFamily="34" charset="-122"/>
                          <a:ea typeface="微软雅黑" pitchFamily="34" charset="-122"/>
                        </a:rPr>
                        <a:t>软件工程</a:t>
                      </a:r>
                    </a:p>
                  </a:txBody>
                  <a:tcPr marL="17780" marR="17780" marT="0" marB="0" anchor="ctr"/>
                </a:tc>
              </a:tr>
            </a:tbl>
          </a:graphicData>
        </a:graphic>
      </p:graphicFrame>
    </p:spTree>
    <p:extLst>
      <p:ext uri="{BB962C8B-B14F-4D97-AF65-F5344CB8AC3E}">
        <p14:creationId xmlns:p14="http://schemas.microsoft.com/office/powerpoint/2010/main" val="2142365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）根据定义</a:t>
            </a:r>
            <a:r>
              <a:rPr lang="en-US" altLang="zh-CN" sz="2000" dirty="0">
                <a:solidFill>
                  <a:srgbClr val="0000FF"/>
                </a:solidFill>
              </a:rPr>
              <a:t>6.9</a:t>
            </a:r>
            <a:r>
              <a:rPr lang="zh-CN" altLang="zh-CN" sz="2000" dirty="0">
                <a:solidFill>
                  <a:srgbClr val="0000FF"/>
                </a:solidFill>
              </a:rPr>
              <a:t>判断配送的多值依赖</a:t>
            </a:r>
          </a:p>
          <a:p>
            <a:r>
              <a:rPr lang="zh-CN" altLang="zh-CN" sz="2000" dirty="0"/>
              <a:t>设</a:t>
            </a:r>
            <a:r>
              <a:rPr lang="en-US" altLang="zh-CN" sz="2000" dirty="0"/>
              <a:t>X={</a:t>
            </a:r>
            <a:r>
              <a:rPr lang="zh-CN" altLang="zh-CN" sz="2000" dirty="0"/>
              <a:t>书库</a:t>
            </a:r>
            <a:r>
              <a:rPr lang="en-US" altLang="zh-CN" sz="2000" dirty="0"/>
              <a:t>}</a:t>
            </a:r>
            <a:r>
              <a:rPr lang="zh-CN" altLang="zh-CN" sz="2000" dirty="0"/>
              <a:t>，</a:t>
            </a:r>
            <a:r>
              <a:rPr lang="en-US" altLang="zh-CN" sz="2000" dirty="0"/>
              <a:t>Y={</a:t>
            </a:r>
            <a:r>
              <a:rPr lang="zh-CN" altLang="zh-CN" sz="2000" dirty="0"/>
              <a:t>职工</a:t>
            </a:r>
            <a:r>
              <a:rPr lang="en-US" altLang="zh-CN" sz="2000" dirty="0"/>
              <a:t>}</a:t>
            </a:r>
            <a:r>
              <a:rPr lang="zh-CN" altLang="zh-CN" sz="2000" dirty="0"/>
              <a:t>，</a:t>
            </a:r>
            <a:r>
              <a:rPr lang="en-US" altLang="zh-CN" sz="2000" dirty="0"/>
              <a:t>Z={</a:t>
            </a:r>
            <a:r>
              <a:rPr lang="zh-CN" altLang="zh-CN" sz="2000" dirty="0"/>
              <a:t>图书</a:t>
            </a:r>
            <a:r>
              <a:rPr lang="en-US" altLang="zh-CN" sz="2000" dirty="0"/>
              <a:t>}</a:t>
            </a:r>
            <a:r>
              <a:rPr lang="zh-CN" altLang="zh-CN" sz="2000" dirty="0"/>
              <a:t>，对于配送关系中的元组：</a:t>
            </a:r>
          </a:p>
          <a:p>
            <a:r>
              <a:rPr lang="en-US" altLang="zh-CN" sz="2000" dirty="0"/>
              <a:t>s</a:t>
            </a:r>
            <a:r>
              <a:rPr lang="en-US" altLang="zh-CN" sz="2000" baseline="-25000" dirty="0"/>
              <a:t>1</a:t>
            </a:r>
            <a:r>
              <a:rPr lang="en-US" altLang="zh-CN" sz="2000" dirty="0"/>
              <a:t>=</a:t>
            </a:r>
            <a:r>
              <a:rPr lang="zh-CN" altLang="zh-CN" sz="2000" dirty="0"/>
              <a:t>（库</a:t>
            </a:r>
            <a:r>
              <a:rPr lang="en-US" altLang="zh-CN" sz="2000" dirty="0"/>
              <a:t>1</a:t>
            </a:r>
            <a:r>
              <a:rPr lang="zh-CN" altLang="zh-CN" sz="2000" dirty="0"/>
              <a:t>，张磊，高等数学）和</a:t>
            </a:r>
            <a:r>
              <a:rPr lang="en-US" altLang="zh-CN" sz="2000" dirty="0"/>
              <a:t>s2=</a:t>
            </a:r>
            <a:r>
              <a:rPr lang="zh-CN" altLang="zh-CN" sz="2000" dirty="0"/>
              <a:t>（库</a:t>
            </a:r>
            <a:r>
              <a:rPr lang="en-US" altLang="zh-CN" sz="2000" dirty="0"/>
              <a:t>1</a:t>
            </a:r>
            <a:r>
              <a:rPr lang="zh-CN" altLang="zh-CN" sz="2000" dirty="0"/>
              <a:t>，李丽，图像分析），则：</a:t>
            </a:r>
          </a:p>
          <a:p>
            <a:r>
              <a:rPr lang="en-US" altLang="zh-CN" sz="2000" dirty="0"/>
              <a:t>t1=</a:t>
            </a:r>
            <a:r>
              <a:rPr lang="zh-CN" altLang="zh-CN" sz="2000" dirty="0"/>
              <a:t>（库</a:t>
            </a:r>
            <a:r>
              <a:rPr lang="en-US" altLang="zh-CN" sz="2000" dirty="0"/>
              <a:t>1</a:t>
            </a:r>
            <a:r>
              <a:rPr lang="zh-CN" altLang="zh-CN" sz="2000" dirty="0"/>
              <a:t>，李丽，高等数学）和</a:t>
            </a:r>
            <a:r>
              <a:rPr lang="en-US" altLang="zh-CN" sz="2000" dirty="0"/>
              <a:t>t</a:t>
            </a:r>
            <a:r>
              <a:rPr lang="en-US" altLang="zh-CN" sz="2000" baseline="-25000" dirty="0"/>
              <a:t>2</a:t>
            </a:r>
            <a:r>
              <a:rPr lang="en-US" altLang="zh-CN" sz="2000" dirty="0"/>
              <a:t>=</a:t>
            </a:r>
            <a:r>
              <a:rPr lang="zh-CN" altLang="zh-CN" sz="2000" dirty="0"/>
              <a:t>（库</a:t>
            </a:r>
            <a:r>
              <a:rPr lang="en-US" altLang="zh-CN" sz="2000" dirty="0"/>
              <a:t>1</a:t>
            </a:r>
            <a:r>
              <a:rPr lang="zh-CN" altLang="zh-CN" sz="2000" dirty="0"/>
              <a:t>，张磊，图像分析）也在配送关系中。</a:t>
            </a:r>
          </a:p>
          <a:p>
            <a:r>
              <a:rPr lang="zh-CN" altLang="zh-CN" sz="2000" dirty="0"/>
              <a:t>因此，职工多值依赖于书库。</a:t>
            </a:r>
          </a:p>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）根据定义</a:t>
            </a:r>
            <a:r>
              <a:rPr lang="en-US" altLang="zh-CN" sz="2000" dirty="0">
                <a:solidFill>
                  <a:srgbClr val="0000FF"/>
                </a:solidFill>
              </a:rPr>
              <a:t>6.10</a:t>
            </a:r>
            <a:r>
              <a:rPr lang="zh-CN" altLang="zh-CN" sz="2000" dirty="0">
                <a:solidFill>
                  <a:srgbClr val="0000FF"/>
                </a:solidFill>
              </a:rPr>
              <a:t>判断配送的多值依赖</a:t>
            </a:r>
          </a:p>
          <a:p>
            <a:r>
              <a:rPr lang="zh-CN" altLang="zh-CN" sz="2000" dirty="0"/>
              <a:t>设</a:t>
            </a:r>
            <a:r>
              <a:rPr lang="en-US" altLang="zh-CN" sz="2000" dirty="0"/>
              <a:t>X={</a:t>
            </a:r>
            <a:r>
              <a:rPr lang="zh-CN" altLang="zh-CN" sz="2000" dirty="0"/>
              <a:t>书库</a:t>
            </a:r>
            <a:r>
              <a:rPr lang="en-US" altLang="zh-CN" sz="2000" dirty="0"/>
              <a:t>}</a:t>
            </a:r>
            <a:r>
              <a:rPr lang="zh-CN" altLang="zh-CN" sz="2000" dirty="0"/>
              <a:t>，</a:t>
            </a:r>
            <a:r>
              <a:rPr lang="en-US" altLang="zh-CN" sz="2000" dirty="0"/>
              <a:t>Y={</a:t>
            </a:r>
            <a:r>
              <a:rPr lang="zh-CN" altLang="zh-CN" sz="2000" dirty="0"/>
              <a:t>职工</a:t>
            </a:r>
            <a:r>
              <a:rPr lang="en-US" altLang="zh-CN" sz="2000" dirty="0"/>
              <a:t>}</a:t>
            </a:r>
            <a:r>
              <a:rPr lang="zh-CN" altLang="zh-CN" sz="2000" dirty="0"/>
              <a:t>，</a:t>
            </a:r>
            <a:r>
              <a:rPr lang="en-US" altLang="zh-CN" sz="2000" dirty="0"/>
              <a:t>Z={</a:t>
            </a:r>
            <a:r>
              <a:rPr lang="zh-CN" altLang="zh-CN" sz="2000" dirty="0"/>
              <a:t>图书</a:t>
            </a:r>
            <a:r>
              <a:rPr lang="en-US" altLang="zh-CN" sz="2000" dirty="0"/>
              <a:t>}</a:t>
            </a:r>
            <a:r>
              <a:rPr lang="zh-CN" altLang="zh-CN" sz="2000" dirty="0"/>
              <a:t>，则配送在</a:t>
            </a:r>
            <a:r>
              <a:rPr lang="en-US" altLang="zh-CN" sz="2000" dirty="0"/>
              <a:t>(X</a:t>
            </a:r>
            <a:r>
              <a:rPr lang="zh-CN" altLang="zh-CN" sz="2000" dirty="0"/>
              <a:t>，</a:t>
            </a:r>
            <a:r>
              <a:rPr lang="en-US" altLang="zh-CN" sz="2000" dirty="0"/>
              <a:t>Z)</a:t>
            </a:r>
            <a:r>
              <a:rPr lang="zh-CN" altLang="zh-CN" sz="2000" dirty="0"/>
              <a:t>上的值：</a:t>
            </a:r>
          </a:p>
          <a:p>
            <a:r>
              <a:rPr lang="zh-CN" altLang="zh-CN" sz="2000" dirty="0"/>
              <a:t>（库</a:t>
            </a:r>
            <a:r>
              <a:rPr lang="en-US" altLang="zh-CN" sz="2000" dirty="0"/>
              <a:t>1, </a:t>
            </a:r>
            <a:r>
              <a:rPr lang="zh-CN" altLang="zh-CN" sz="2000" dirty="0"/>
              <a:t>高等数学</a:t>
            </a:r>
            <a:r>
              <a:rPr lang="en-US" altLang="zh-CN" sz="2000" dirty="0"/>
              <a:t>)</a:t>
            </a:r>
            <a:r>
              <a:rPr lang="zh-CN" altLang="zh-CN" sz="2000" dirty="0"/>
              <a:t>、或（库</a:t>
            </a:r>
            <a:r>
              <a:rPr lang="en-US" altLang="zh-CN" sz="2000" dirty="0"/>
              <a:t>1,</a:t>
            </a:r>
            <a:r>
              <a:rPr lang="zh-CN" altLang="zh-CN" sz="2000" dirty="0"/>
              <a:t>图像分析</a:t>
            </a:r>
            <a:r>
              <a:rPr lang="en-US" altLang="zh-CN" sz="2000" dirty="0"/>
              <a:t>)</a:t>
            </a:r>
            <a:r>
              <a:rPr lang="zh-CN" altLang="zh-CN" sz="2000" dirty="0"/>
              <a:t>、或（库</a:t>
            </a:r>
            <a:r>
              <a:rPr lang="en-US" altLang="zh-CN" sz="2000" dirty="0"/>
              <a:t>1, Java</a:t>
            </a:r>
            <a:r>
              <a:rPr lang="zh-CN" altLang="zh-CN" sz="2000" dirty="0"/>
              <a:t>语言）所对应的一组</a:t>
            </a:r>
            <a:r>
              <a:rPr lang="en-US" altLang="zh-CN" sz="2000" dirty="0"/>
              <a:t>Y</a:t>
            </a:r>
            <a:r>
              <a:rPr lang="zh-CN" altLang="zh-CN" sz="2000" dirty="0"/>
              <a:t>值</a:t>
            </a:r>
            <a:r>
              <a:rPr lang="en-US" altLang="zh-CN" sz="2000" dirty="0"/>
              <a:t>{</a:t>
            </a:r>
            <a:r>
              <a:rPr lang="zh-CN" altLang="zh-CN" sz="2000" dirty="0"/>
              <a:t>张磊</a:t>
            </a:r>
            <a:r>
              <a:rPr lang="en-US" altLang="zh-CN" sz="2000" dirty="0"/>
              <a:t>,</a:t>
            </a:r>
            <a:r>
              <a:rPr lang="zh-CN" altLang="zh-CN" sz="2000" dirty="0"/>
              <a:t>李丽</a:t>
            </a:r>
            <a:r>
              <a:rPr lang="en-US" altLang="zh-CN" sz="2000" dirty="0"/>
              <a:t>}</a:t>
            </a:r>
            <a:r>
              <a:rPr lang="zh-CN" altLang="zh-CN" sz="2000" dirty="0"/>
              <a:t>，只取决于</a:t>
            </a:r>
            <a:r>
              <a:rPr lang="en-US" altLang="zh-CN" sz="2000" dirty="0"/>
              <a:t>X</a:t>
            </a:r>
            <a:r>
              <a:rPr lang="zh-CN" altLang="zh-CN" sz="2000" dirty="0"/>
              <a:t>值：库</a:t>
            </a:r>
            <a:r>
              <a:rPr lang="en-US" altLang="zh-CN" sz="2000" dirty="0"/>
              <a:t>1(</a:t>
            </a:r>
            <a:r>
              <a:rPr lang="zh-CN" altLang="zh-CN" sz="2000" dirty="0"/>
              <a:t>即：库</a:t>
            </a:r>
            <a:r>
              <a:rPr lang="en-US" altLang="zh-CN" sz="2000" dirty="0"/>
              <a:t>1</a:t>
            </a:r>
            <a:r>
              <a:rPr lang="zh-CN" altLang="zh-CN" sz="2000" dirty="0"/>
              <a:t>→</a:t>
            </a:r>
            <a:r>
              <a:rPr lang="en-US" altLang="zh-CN" sz="2000" dirty="0"/>
              <a:t>(</a:t>
            </a:r>
            <a:r>
              <a:rPr lang="zh-CN" altLang="zh-CN" sz="2000" dirty="0"/>
              <a:t>张磊</a:t>
            </a:r>
            <a:r>
              <a:rPr lang="en-US" altLang="zh-CN" sz="2000" dirty="0"/>
              <a:t>,</a:t>
            </a:r>
            <a:r>
              <a:rPr lang="zh-CN" altLang="zh-CN" sz="2000" dirty="0"/>
              <a:t>李丽</a:t>
            </a:r>
            <a:r>
              <a:rPr lang="en-US" altLang="zh-CN" sz="2000" dirty="0"/>
              <a:t>)),</a:t>
            </a:r>
            <a:r>
              <a:rPr lang="zh-CN" altLang="zh-CN" sz="2000" dirty="0"/>
              <a:t>而与</a:t>
            </a:r>
            <a:r>
              <a:rPr lang="en-US" altLang="zh-CN" sz="2000" dirty="0"/>
              <a:t>Z</a:t>
            </a:r>
            <a:r>
              <a:rPr lang="zh-CN" altLang="zh-CN" sz="2000" dirty="0"/>
              <a:t>值高等数学、或图像分析、或</a:t>
            </a:r>
            <a:r>
              <a:rPr lang="en-US" altLang="zh-CN" sz="2000" dirty="0"/>
              <a:t>Java</a:t>
            </a:r>
            <a:r>
              <a:rPr lang="zh-CN" altLang="zh-CN" sz="2000" dirty="0"/>
              <a:t>语言无关。因此，职工多值依赖于书库。</a:t>
            </a:r>
          </a:p>
          <a:p>
            <a:r>
              <a:rPr lang="en-US" altLang="zh-CN" sz="2000" dirty="0"/>
              <a:t> </a:t>
            </a:r>
            <a:r>
              <a:rPr lang="zh-CN" altLang="zh-CN" sz="2000" dirty="0" smtClean="0"/>
              <a:t>思考</a:t>
            </a:r>
            <a:r>
              <a:rPr lang="zh-CN" altLang="zh-CN" sz="2000" dirty="0"/>
              <a:t>：分析图书对书库的多值依赖关系。</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38</a:t>
            </a:fld>
            <a:endParaRPr lang="zh-CN" altLang="en-US" dirty="0"/>
          </a:p>
        </p:txBody>
      </p:sp>
    </p:spTree>
    <p:extLst>
      <p:ext uri="{BB962C8B-B14F-4D97-AF65-F5344CB8AC3E}">
        <p14:creationId xmlns:p14="http://schemas.microsoft.com/office/powerpoint/2010/main" val="3034467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t>因为配送中存在多值依赖，从而导致表</a:t>
            </a:r>
            <a:r>
              <a:rPr lang="en-US" altLang="zh-CN" sz="2000" dirty="0"/>
              <a:t>6.1</a:t>
            </a:r>
            <a:r>
              <a:rPr lang="zh-CN" altLang="zh-CN" sz="2000" dirty="0"/>
              <a:t>中存在大量的冗余数据、插入</a:t>
            </a:r>
            <a:r>
              <a:rPr lang="en-US" altLang="zh-CN" sz="2000" dirty="0"/>
              <a:t>/</a:t>
            </a:r>
            <a:r>
              <a:rPr lang="zh-CN" altLang="zh-CN" sz="2000" dirty="0"/>
              <a:t>修改</a:t>
            </a:r>
            <a:r>
              <a:rPr lang="en-US" altLang="zh-CN" sz="2000" dirty="0"/>
              <a:t>/</a:t>
            </a:r>
            <a:r>
              <a:rPr lang="zh-CN" altLang="zh-CN" sz="2000" dirty="0"/>
              <a:t>删除数据复杂等问题。</a:t>
            </a:r>
          </a:p>
          <a:p>
            <a:r>
              <a:rPr lang="zh-CN" altLang="zh-CN" sz="2000" dirty="0"/>
              <a:t>多值依赖的</a:t>
            </a:r>
            <a:r>
              <a:rPr lang="zh-CN" altLang="zh-CN" sz="2000" dirty="0">
                <a:solidFill>
                  <a:srgbClr val="0000FF"/>
                </a:solidFill>
              </a:rPr>
              <a:t>基本性质</a:t>
            </a:r>
            <a:r>
              <a:rPr lang="zh-CN" altLang="zh-CN" sz="2000" dirty="0"/>
              <a:t>：</a:t>
            </a:r>
          </a:p>
          <a:p>
            <a:r>
              <a:rPr lang="zh-CN" altLang="zh-CN" sz="2000" dirty="0"/>
              <a:t>（</a:t>
            </a:r>
            <a:r>
              <a:rPr lang="en-US" altLang="zh-CN" sz="2000" dirty="0"/>
              <a:t>1</a:t>
            </a:r>
            <a:r>
              <a:rPr lang="zh-CN" altLang="zh-CN" sz="2000" dirty="0"/>
              <a:t>）如果</a:t>
            </a:r>
            <a:r>
              <a:rPr lang="en-US" altLang="zh-CN" sz="2000" dirty="0"/>
              <a:t>X</a:t>
            </a:r>
            <a:r>
              <a:rPr lang="zh-CN" altLang="zh-CN" sz="2000" dirty="0"/>
              <a:t>→→</a:t>
            </a:r>
            <a:r>
              <a:rPr lang="en-US" altLang="zh-CN" sz="2000" dirty="0"/>
              <a:t>Y</a:t>
            </a:r>
            <a:r>
              <a:rPr lang="zh-CN" altLang="zh-CN" sz="2000" dirty="0"/>
              <a:t>，则</a:t>
            </a:r>
            <a:r>
              <a:rPr lang="en-US" altLang="zh-CN" sz="2000" dirty="0"/>
              <a:t>X</a:t>
            </a:r>
            <a:r>
              <a:rPr lang="zh-CN" altLang="zh-CN" sz="2000" dirty="0"/>
              <a:t>→→</a:t>
            </a:r>
            <a:r>
              <a:rPr lang="en-US" altLang="zh-CN" sz="2000" dirty="0"/>
              <a:t>Z</a:t>
            </a:r>
            <a:r>
              <a:rPr lang="zh-CN" altLang="zh-CN" sz="2000" dirty="0"/>
              <a:t>，其中</a:t>
            </a:r>
            <a:r>
              <a:rPr lang="en-US" altLang="zh-CN" sz="2000" dirty="0"/>
              <a:t>Z</a:t>
            </a:r>
            <a:r>
              <a:rPr lang="zh-CN" altLang="zh-CN" sz="2000" dirty="0"/>
              <a:t>＝</a:t>
            </a:r>
            <a:r>
              <a:rPr lang="en-US" altLang="zh-CN" sz="2000" dirty="0"/>
              <a:t>U</a:t>
            </a:r>
            <a:r>
              <a:rPr lang="zh-CN" altLang="zh-CN" sz="2000" dirty="0"/>
              <a:t>－</a:t>
            </a:r>
            <a:r>
              <a:rPr lang="en-US" altLang="zh-CN" sz="2000" dirty="0"/>
              <a:t>X</a:t>
            </a:r>
            <a:r>
              <a:rPr lang="zh-CN" altLang="zh-CN" sz="2000" dirty="0"/>
              <a:t>－</a:t>
            </a:r>
            <a:r>
              <a:rPr lang="en-US" altLang="zh-CN" sz="2000" dirty="0"/>
              <a:t>Y</a:t>
            </a:r>
            <a:r>
              <a:rPr lang="zh-CN" altLang="zh-CN" sz="2000" dirty="0"/>
              <a:t>（对称性）。</a:t>
            </a:r>
          </a:p>
          <a:p>
            <a:r>
              <a:rPr lang="zh-CN" altLang="zh-CN" sz="2000" dirty="0"/>
              <a:t>（</a:t>
            </a:r>
            <a:r>
              <a:rPr lang="en-US" altLang="zh-CN" sz="2000" dirty="0"/>
              <a:t>2</a:t>
            </a:r>
            <a:r>
              <a:rPr lang="zh-CN" altLang="zh-CN" sz="2000" dirty="0"/>
              <a:t>）如果</a:t>
            </a:r>
            <a:r>
              <a:rPr lang="en-US" altLang="zh-CN" sz="2000" dirty="0"/>
              <a:t>X</a:t>
            </a:r>
            <a:r>
              <a:rPr lang="zh-CN" altLang="zh-CN" sz="2000" dirty="0"/>
              <a:t>→→</a:t>
            </a:r>
            <a:r>
              <a:rPr lang="en-US" altLang="zh-CN" sz="2000" dirty="0"/>
              <a:t>Y</a:t>
            </a:r>
            <a:r>
              <a:rPr lang="zh-CN" altLang="zh-CN" sz="2000" dirty="0"/>
              <a:t>，</a:t>
            </a:r>
            <a:r>
              <a:rPr lang="en-US" altLang="zh-CN" sz="2000" dirty="0"/>
              <a:t>Y</a:t>
            </a:r>
            <a:r>
              <a:rPr lang="zh-CN" altLang="zh-CN" sz="2000" dirty="0"/>
              <a:t>→→</a:t>
            </a:r>
            <a:r>
              <a:rPr lang="en-US" altLang="zh-CN" sz="2000" dirty="0"/>
              <a:t>Z</a:t>
            </a:r>
            <a:r>
              <a:rPr lang="zh-CN" altLang="zh-CN" sz="2000" dirty="0"/>
              <a:t>， 则</a:t>
            </a:r>
            <a:r>
              <a:rPr lang="en-US" altLang="zh-CN" sz="2000" dirty="0"/>
              <a:t>X</a:t>
            </a:r>
            <a:r>
              <a:rPr lang="zh-CN" altLang="zh-CN" sz="2000" dirty="0"/>
              <a:t>→→</a:t>
            </a:r>
            <a:r>
              <a:rPr lang="en-US" altLang="zh-CN" sz="2000" dirty="0"/>
              <a:t>Z–Y</a:t>
            </a:r>
            <a:r>
              <a:rPr lang="zh-CN" altLang="zh-CN" sz="2000" dirty="0"/>
              <a:t>（传递性）。</a:t>
            </a:r>
          </a:p>
          <a:p>
            <a:r>
              <a:rPr lang="zh-CN" altLang="zh-CN" sz="2000" dirty="0"/>
              <a:t>（</a:t>
            </a:r>
            <a:r>
              <a:rPr lang="en-US" altLang="zh-CN" sz="2000" dirty="0"/>
              <a:t>3</a:t>
            </a:r>
            <a:r>
              <a:rPr lang="zh-CN" altLang="zh-CN" sz="2000" dirty="0"/>
              <a:t>）如果</a:t>
            </a:r>
            <a:r>
              <a:rPr lang="en-US" altLang="zh-CN" sz="2000" dirty="0"/>
              <a:t>X</a:t>
            </a:r>
            <a:r>
              <a:rPr lang="zh-CN" altLang="zh-CN" sz="2000" dirty="0"/>
              <a:t>→</a:t>
            </a:r>
            <a:r>
              <a:rPr lang="en-US" altLang="zh-CN" sz="2000" dirty="0"/>
              <a:t>Y</a:t>
            </a:r>
            <a:r>
              <a:rPr lang="zh-CN" altLang="zh-CN" sz="2000" dirty="0"/>
              <a:t>，则</a:t>
            </a:r>
            <a:r>
              <a:rPr lang="en-US" altLang="zh-CN" sz="2000" dirty="0"/>
              <a:t>X</a:t>
            </a:r>
            <a:r>
              <a:rPr lang="zh-CN" altLang="zh-CN" sz="2000" dirty="0"/>
              <a:t>→→</a:t>
            </a:r>
            <a:r>
              <a:rPr lang="en-US" altLang="zh-CN" sz="2000" dirty="0"/>
              <a:t>Y</a:t>
            </a:r>
            <a:r>
              <a:rPr lang="zh-CN" altLang="zh-CN" sz="2000" dirty="0"/>
              <a:t>（函数依赖是多值依赖的特例）。</a:t>
            </a:r>
          </a:p>
          <a:p>
            <a:r>
              <a:rPr lang="zh-CN" altLang="zh-CN" sz="2000" dirty="0"/>
              <a:t>（</a:t>
            </a:r>
            <a:r>
              <a:rPr lang="en-US" altLang="zh-CN" sz="2000" dirty="0"/>
              <a:t>4</a:t>
            </a:r>
            <a:r>
              <a:rPr lang="zh-CN" altLang="zh-CN" sz="2000" dirty="0"/>
              <a:t>）如果</a:t>
            </a:r>
            <a:r>
              <a:rPr lang="en-US" altLang="zh-CN" sz="2000" dirty="0"/>
              <a:t>X</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Z</a:t>
            </a:r>
            <a:r>
              <a:rPr lang="zh-CN" altLang="zh-CN" sz="2000" dirty="0"/>
              <a:t>，则</a:t>
            </a:r>
            <a:r>
              <a:rPr lang="en-US" altLang="zh-CN" sz="2000" dirty="0"/>
              <a:t>X</a:t>
            </a:r>
            <a:r>
              <a:rPr lang="zh-CN" altLang="zh-CN" sz="2000" dirty="0"/>
              <a:t>→→</a:t>
            </a:r>
            <a:r>
              <a:rPr lang="en-US" altLang="zh-CN" sz="2000" dirty="0"/>
              <a:t>Y</a:t>
            </a:r>
            <a:r>
              <a:rPr lang="zh-CN" altLang="zh-CN" sz="2000" dirty="0"/>
              <a:t>∪</a:t>
            </a:r>
            <a:r>
              <a:rPr lang="en-US" altLang="zh-CN" sz="2000" dirty="0"/>
              <a:t>Z</a:t>
            </a:r>
            <a:r>
              <a:rPr lang="zh-CN" altLang="zh-CN" sz="2000" dirty="0"/>
              <a:t>。</a:t>
            </a:r>
          </a:p>
          <a:p>
            <a:r>
              <a:rPr lang="zh-CN" altLang="zh-CN" sz="2000" dirty="0"/>
              <a:t>（</a:t>
            </a:r>
            <a:r>
              <a:rPr lang="en-US" altLang="zh-CN" sz="2000" dirty="0"/>
              <a:t>5</a:t>
            </a:r>
            <a:r>
              <a:rPr lang="zh-CN" altLang="zh-CN" sz="2000" dirty="0"/>
              <a:t>）如果</a:t>
            </a:r>
            <a:r>
              <a:rPr lang="en-US" altLang="zh-CN" sz="2000" dirty="0"/>
              <a:t>X</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Z</a:t>
            </a:r>
            <a:r>
              <a:rPr lang="zh-CN" altLang="zh-CN" sz="2000" dirty="0"/>
              <a:t>，则</a:t>
            </a:r>
            <a:r>
              <a:rPr lang="en-US" altLang="zh-CN" sz="2000" dirty="0"/>
              <a:t>X</a:t>
            </a:r>
            <a:r>
              <a:rPr lang="zh-CN" altLang="zh-CN" sz="2000" dirty="0"/>
              <a:t>→→</a:t>
            </a:r>
            <a:r>
              <a:rPr lang="en-US" altLang="zh-CN" sz="2000" dirty="0"/>
              <a:t>Y</a:t>
            </a:r>
            <a:r>
              <a:rPr lang="zh-CN" altLang="zh-CN" sz="2000" dirty="0"/>
              <a:t>∩</a:t>
            </a:r>
            <a:r>
              <a:rPr lang="en-US" altLang="zh-CN" sz="2000" dirty="0"/>
              <a:t>Z</a:t>
            </a:r>
            <a:r>
              <a:rPr lang="zh-CN" altLang="zh-CN" sz="2000" dirty="0"/>
              <a:t>。</a:t>
            </a:r>
          </a:p>
          <a:p>
            <a:r>
              <a:rPr lang="zh-CN" altLang="zh-CN" sz="2000" dirty="0"/>
              <a:t>（</a:t>
            </a:r>
            <a:r>
              <a:rPr lang="en-US" altLang="zh-CN" sz="2000" dirty="0"/>
              <a:t>6</a:t>
            </a:r>
            <a:r>
              <a:rPr lang="zh-CN" altLang="zh-CN" sz="2000" dirty="0"/>
              <a:t>）如果</a:t>
            </a:r>
            <a:r>
              <a:rPr lang="en-US" altLang="zh-CN" sz="2000" dirty="0"/>
              <a:t>X</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Z</a:t>
            </a:r>
            <a:r>
              <a:rPr lang="zh-CN" altLang="zh-CN" sz="2000" dirty="0"/>
              <a:t>，则</a:t>
            </a:r>
            <a:r>
              <a:rPr lang="en-US" altLang="zh-CN" sz="2000" dirty="0"/>
              <a:t>X</a:t>
            </a:r>
            <a:r>
              <a:rPr lang="zh-CN" altLang="zh-CN" sz="2000" dirty="0"/>
              <a:t>→→</a:t>
            </a:r>
            <a:r>
              <a:rPr lang="en-US" altLang="zh-CN" sz="2000" dirty="0"/>
              <a:t>Y-Z</a:t>
            </a:r>
            <a:r>
              <a:rPr lang="zh-CN" altLang="zh-CN" sz="2000" dirty="0"/>
              <a:t>，</a:t>
            </a:r>
            <a:r>
              <a:rPr lang="en-US" altLang="zh-CN" sz="2000" dirty="0"/>
              <a:t>X</a:t>
            </a:r>
            <a:r>
              <a:rPr lang="zh-CN" altLang="zh-CN" sz="2000" dirty="0"/>
              <a:t>→→</a:t>
            </a:r>
            <a:r>
              <a:rPr lang="en-US" altLang="zh-CN" sz="2000" dirty="0"/>
              <a:t>Z-Y</a:t>
            </a:r>
            <a:r>
              <a:rPr lang="zh-CN" altLang="zh-CN" sz="2000" dirty="0"/>
              <a:t>。</a:t>
            </a:r>
          </a:p>
          <a:p>
            <a:r>
              <a:rPr lang="zh-CN" altLang="zh-CN" sz="2000" dirty="0"/>
              <a:t>（</a:t>
            </a:r>
            <a:r>
              <a:rPr lang="en-US" altLang="zh-CN" sz="2000" dirty="0"/>
              <a:t>7</a:t>
            </a:r>
            <a:r>
              <a:rPr lang="zh-CN" altLang="zh-CN" sz="2000" dirty="0"/>
              <a:t>）如果</a:t>
            </a:r>
            <a:r>
              <a:rPr lang="en-US" altLang="zh-CN" sz="2000" dirty="0"/>
              <a:t>X</a:t>
            </a:r>
            <a:r>
              <a:rPr lang="zh-CN" altLang="zh-CN" sz="2000" dirty="0"/>
              <a:t>→→</a:t>
            </a:r>
            <a:r>
              <a:rPr lang="en-US" altLang="zh-CN" sz="2000" dirty="0"/>
              <a:t>Y</a:t>
            </a:r>
            <a:r>
              <a:rPr lang="zh-CN" altLang="zh-CN" sz="2000" dirty="0"/>
              <a:t>在</a:t>
            </a:r>
            <a:r>
              <a:rPr lang="en-US" altLang="zh-CN" sz="2000" dirty="0"/>
              <a:t>U</a:t>
            </a:r>
            <a:r>
              <a:rPr lang="zh-CN" altLang="zh-CN" sz="2000" dirty="0"/>
              <a:t>上成立，则在</a:t>
            </a:r>
            <a:r>
              <a:rPr lang="en-US" altLang="zh-CN" sz="2000" dirty="0"/>
              <a:t>W</a:t>
            </a:r>
            <a:r>
              <a:rPr lang="zh-CN" altLang="zh-CN" sz="2000" dirty="0"/>
              <a:t>（</a:t>
            </a:r>
            <a:r>
              <a:rPr lang="en-US" altLang="zh-CN" sz="2000" dirty="0"/>
              <a:t>X</a:t>
            </a:r>
            <a:r>
              <a:rPr lang="zh-CN" altLang="zh-CN" sz="2000" dirty="0"/>
              <a:t>∪</a:t>
            </a:r>
            <a:r>
              <a:rPr lang="en-US" altLang="zh-CN" sz="2000" dirty="0"/>
              <a:t>Y</a:t>
            </a:r>
            <a:r>
              <a:rPr lang="en-US" altLang="zh-CN" sz="2000" dirty="0">
                <a:sym typeface="Symbol"/>
              </a:rPr>
              <a:t></a:t>
            </a:r>
            <a:r>
              <a:rPr lang="en-US" altLang="zh-CN" sz="2000" dirty="0"/>
              <a:t>W</a:t>
            </a:r>
            <a:r>
              <a:rPr lang="en-US" altLang="zh-CN" sz="2000" dirty="0">
                <a:sym typeface="Symbol"/>
              </a:rPr>
              <a:t></a:t>
            </a:r>
            <a:r>
              <a:rPr lang="en-US" altLang="zh-CN" sz="2000" dirty="0"/>
              <a:t>U</a:t>
            </a:r>
            <a:r>
              <a:rPr lang="zh-CN" altLang="zh-CN" sz="2000" dirty="0"/>
              <a:t>）上一定成立；反之不真。</a:t>
            </a:r>
          </a:p>
          <a:p>
            <a:r>
              <a:rPr lang="zh-CN" altLang="zh-CN" sz="2000" dirty="0"/>
              <a:t>（</a:t>
            </a:r>
            <a:r>
              <a:rPr lang="en-US" altLang="zh-CN" sz="2000" dirty="0"/>
              <a:t>8</a:t>
            </a:r>
            <a:r>
              <a:rPr lang="zh-CN" altLang="zh-CN" sz="2000" dirty="0"/>
              <a:t>）如果</a:t>
            </a:r>
            <a:r>
              <a:rPr lang="en-US" altLang="zh-CN" sz="2000" dirty="0"/>
              <a:t>X</a:t>
            </a:r>
            <a:r>
              <a:rPr lang="zh-CN" altLang="zh-CN" sz="2000" dirty="0"/>
              <a:t>→→</a:t>
            </a:r>
            <a:r>
              <a:rPr lang="en-US" altLang="zh-CN" sz="2000" dirty="0"/>
              <a:t>Y</a:t>
            </a:r>
            <a:r>
              <a:rPr lang="zh-CN" altLang="zh-CN" sz="2000" dirty="0"/>
              <a:t>，且</a:t>
            </a:r>
            <a:r>
              <a:rPr lang="en-US" altLang="zh-CN" sz="2000" dirty="0" smtClean="0"/>
              <a:t>Z </a:t>
            </a:r>
            <a:r>
              <a:rPr lang="en-US" altLang="zh-CN" sz="2000" dirty="0" smtClean="0">
                <a:sym typeface="Symbol"/>
              </a:rPr>
              <a:t> </a:t>
            </a:r>
            <a:r>
              <a:rPr lang="en-US" altLang="zh-CN" sz="2000" dirty="0" smtClean="0"/>
              <a:t>Y</a:t>
            </a:r>
            <a:r>
              <a:rPr lang="zh-CN" altLang="zh-CN" sz="2000" dirty="0"/>
              <a:t>，则</a:t>
            </a:r>
            <a:r>
              <a:rPr lang="en-US" altLang="zh-CN" sz="2000" dirty="0"/>
              <a:t>X</a:t>
            </a:r>
            <a:r>
              <a:rPr lang="zh-CN" altLang="zh-CN" sz="2000" dirty="0"/>
              <a:t>→→</a:t>
            </a:r>
            <a:r>
              <a:rPr lang="en-US" altLang="zh-CN" sz="2000" dirty="0"/>
              <a:t>Z</a:t>
            </a:r>
            <a:r>
              <a:rPr lang="zh-CN" altLang="zh-CN" sz="2000" dirty="0"/>
              <a:t>不一定成立</a:t>
            </a:r>
            <a:r>
              <a:rPr lang="zh-CN" altLang="zh-CN" sz="2000" dirty="0" smtClean="0"/>
              <a:t>。</a:t>
            </a:r>
            <a:endParaRPr lang="zh-CN" altLang="zh-CN" sz="2000"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39</a:t>
            </a:fld>
            <a:endParaRPr lang="zh-CN" altLang="en-US" dirty="0"/>
          </a:p>
        </p:txBody>
      </p:sp>
    </p:spTree>
    <p:extLst>
      <p:ext uri="{BB962C8B-B14F-4D97-AF65-F5344CB8AC3E}">
        <p14:creationId xmlns:p14="http://schemas.microsoft.com/office/powerpoint/2010/main" val="3088203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solidFill>
                  <a:srgbClr val="0000FF"/>
                </a:solidFill>
              </a:rPr>
              <a:t>定义</a:t>
            </a:r>
            <a:r>
              <a:rPr lang="en-US" altLang="zh-CN" sz="2000" dirty="0">
                <a:solidFill>
                  <a:srgbClr val="0000FF"/>
                </a:solidFill>
              </a:rPr>
              <a:t>6.11  </a:t>
            </a:r>
            <a:r>
              <a:rPr lang="zh-CN" altLang="zh-CN" sz="2000" dirty="0"/>
              <a:t>如果</a:t>
            </a:r>
            <a:r>
              <a:rPr lang="en-US" altLang="zh-CN" sz="2000" dirty="0"/>
              <a:t>R(U, F)</a:t>
            </a:r>
            <a:r>
              <a:rPr lang="zh-CN" altLang="zh-CN" sz="2000" dirty="0"/>
              <a:t>∈</a:t>
            </a:r>
            <a:r>
              <a:rPr lang="en-US" altLang="zh-CN" sz="2000" dirty="0"/>
              <a:t>1NF</a:t>
            </a:r>
            <a:r>
              <a:rPr lang="zh-CN" altLang="zh-CN" sz="2000" dirty="0"/>
              <a:t>的每个非平凡多值依赖</a:t>
            </a:r>
            <a:r>
              <a:rPr lang="en-US" altLang="zh-CN" sz="2000" dirty="0"/>
              <a:t>X</a:t>
            </a:r>
            <a:r>
              <a:rPr lang="zh-CN" altLang="zh-CN" sz="2000" dirty="0"/>
              <a:t>→→</a:t>
            </a:r>
            <a:r>
              <a:rPr lang="en-US" altLang="zh-CN" sz="2000" dirty="0"/>
              <a:t>Y</a:t>
            </a:r>
            <a:r>
              <a:rPr lang="zh-CN" altLang="zh-CN" sz="2000" dirty="0"/>
              <a:t>（</a:t>
            </a:r>
            <a:r>
              <a:rPr lang="en-US" altLang="zh-CN" sz="2000" dirty="0"/>
              <a:t>Y</a:t>
            </a:r>
            <a:r>
              <a:rPr lang="en-US" altLang="zh-CN" sz="2000" dirty="0">
                <a:sym typeface="Symbol"/>
              </a:rPr>
              <a:t></a:t>
            </a:r>
            <a:r>
              <a:rPr lang="en-US" altLang="zh-CN" sz="2000" dirty="0"/>
              <a:t>X</a:t>
            </a:r>
            <a:r>
              <a:rPr lang="zh-CN" altLang="zh-CN" sz="2000" dirty="0"/>
              <a:t>），</a:t>
            </a:r>
            <a:r>
              <a:rPr lang="en-US" altLang="zh-CN" sz="2000" dirty="0"/>
              <a:t>X</a:t>
            </a:r>
            <a:r>
              <a:rPr lang="zh-CN" altLang="zh-CN" sz="2000" dirty="0"/>
              <a:t>都含有候选键，则</a:t>
            </a:r>
            <a:r>
              <a:rPr lang="en-US" altLang="zh-CN" sz="2000" dirty="0">
                <a:solidFill>
                  <a:srgbClr val="0000FF"/>
                </a:solidFill>
              </a:rPr>
              <a:t>R</a:t>
            </a:r>
            <a:r>
              <a:rPr lang="zh-CN" altLang="zh-CN" sz="2000" dirty="0">
                <a:solidFill>
                  <a:srgbClr val="0000FF"/>
                </a:solidFill>
              </a:rPr>
              <a:t>∈</a:t>
            </a:r>
            <a:r>
              <a:rPr lang="en-US" altLang="zh-CN" sz="2000" dirty="0">
                <a:solidFill>
                  <a:srgbClr val="0000FF"/>
                </a:solidFill>
              </a:rPr>
              <a:t>4NF</a:t>
            </a:r>
            <a:r>
              <a:rPr lang="zh-CN" altLang="zh-CN" sz="2000" dirty="0"/>
              <a:t>。显然，如果</a:t>
            </a:r>
            <a:r>
              <a:rPr lang="en-US" altLang="zh-CN" sz="2000" dirty="0"/>
              <a:t>R</a:t>
            </a:r>
            <a:r>
              <a:rPr lang="zh-CN" altLang="zh-CN" sz="2000" dirty="0"/>
              <a:t>∈</a:t>
            </a:r>
            <a:r>
              <a:rPr lang="en-US" altLang="zh-CN" sz="2000" dirty="0"/>
              <a:t>4NF</a:t>
            </a:r>
            <a:r>
              <a:rPr lang="zh-CN" altLang="zh-CN" sz="2000" dirty="0"/>
              <a:t>，则</a:t>
            </a:r>
            <a:r>
              <a:rPr lang="en-US" altLang="zh-CN" sz="2000" dirty="0"/>
              <a:t>R</a:t>
            </a:r>
            <a:r>
              <a:rPr lang="zh-CN" altLang="zh-CN" sz="2000" dirty="0"/>
              <a:t>∈</a:t>
            </a:r>
            <a:r>
              <a:rPr lang="en-US" altLang="zh-CN" sz="2000" dirty="0"/>
              <a:t>BCNF</a:t>
            </a:r>
            <a:r>
              <a:rPr lang="zh-CN" altLang="zh-CN" sz="2000" dirty="0"/>
              <a:t>。</a:t>
            </a:r>
          </a:p>
          <a:p>
            <a:r>
              <a:rPr lang="zh-CN" altLang="zh-CN" sz="2000" dirty="0"/>
              <a:t>根据定义</a:t>
            </a:r>
            <a:r>
              <a:rPr lang="en-US" altLang="zh-CN" sz="2000" dirty="0"/>
              <a:t>6.11</a:t>
            </a:r>
            <a:r>
              <a:rPr lang="zh-CN" altLang="zh-CN" sz="2000" dirty="0"/>
              <a:t>不难证明，</a:t>
            </a:r>
            <a:r>
              <a:rPr lang="en-US" altLang="zh-CN" sz="2000" dirty="0"/>
              <a:t>4NF</a:t>
            </a:r>
            <a:r>
              <a:rPr lang="zh-CN" altLang="zh-CN" sz="2000" dirty="0"/>
              <a:t>不允许存在非平凡且非函数依赖的多值依赖。</a:t>
            </a:r>
          </a:p>
          <a:p>
            <a:r>
              <a:rPr lang="zh-CN" altLang="zh-CN" sz="2000" dirty="0"/>
              <a:t>例如：在例</a:t>
            </a:r>
            <a:r>
              <a:rPr lang="en-US" altLang="zh-CN" sz="2000" dirty="0"/>
              <a:t>6.12</a:t>
            </a:r>
            <a:r>
              <a:rPr lang="zh-CN" altLang="zh-CN" sz="2000" dirty="0"/>
              <a:t>中，配送（书库，职工，图书）的候选键是全键，则配送∈</a:t>
            </a:r>
            <a:r>
              <a:rPr lang="en-US" altLang="zh-CN" sz="2000" dirty="0"/>
              <a:t>BCNF</a:t>
            </a:r>
            <a:r>
              <a:rPr lang="zh-CN" altLang="zh-CN" sz="2000" dirty="0"/>
              <a:t>，但是，配送不满足</a:t>
            </a:r>
            <a:r>
              <a:rPr lang="en-US" altLang="zh-CN" sz="2000" dirty="0"/>
              <a:t>4NF</a:t>
            </a:r>
            <a:r>
              <a:rPr lang="zh-CN" altLang="zh-CN" sz="2000" dirty="0"/>
              <a:t>，因为配送存在多值依赖：书库→→管理员；书库→→图书。</a:t>
            </a:r>
          </a:p>
          <a:p>
            <a:r>
              <a:rPr lang="zh-CN" altLang="zh-CN" sz="2000" dirty="0"/>
              <a:t>采用投影分解法，配送的</a:t>
            </a:r>
            <a:r>
              <a:rPr lang="en-US" altLang="zh-CN" sz="2000" dirty="0"/>
              <a:t>4NF</a:t>
            </a:r>
            <a:r>
              <a:rPr lang="zh-CN" altLang="zh-CN" sz="2000" dirty="0"/>
              <a:t>分解结果：</a:t>
            </a:r>
          </a:p>
          <a:p>
            <a:r>
              <a:rPr lang="zh-CN" altLang="zh-CN" sz="2000" dirty="0"/>
              <a:t>配送</a:t>
            </a:r>
            <a:r>
              <a:rPr lang="en-US" altLang="zh-CN" sz="2000" dirty="0"/>
              <a:t>1</a:t>
            </a:r>
            <a:r>
              <a:rPr lang="zh-CN" altLang="zh-CN" sz="2000" dirty="0"/>
              <a:t>（书库，管理员</a:t>
            </a:r>
            <a:r>
              <a:rPr lang="en-US" altLang="zh-CN" sz="2000" dirty="0"/>
              <a:t>)</a:t>
            </a:r>
            <a:r>
              <a:rPr lang="zh-CN" altLang="zh-CN" sz="2000" dirty="0"/>
              <a:t>，配送</a:t>
            </a:r>
            <a:r>
              <a:rPr lang="en-US" altLang="zh-CN" sz="2000" dirty="0"/>
              <a:t>2</a:t>
            </a:r>
            <a:r>
              <a:rPr lang="zh-CN" altLang="zh-CN" sz="2000" dirty="0"/>
              <a:t>（书库，图书</a:t>
            </a:r>
            <a:r>
              <a:rPr lang="en-US" altLang="zh-CN" sz="2000" dirty="0"/>
              <a:t>)</a:t>
            </a:r>
            <a:r>
              <a:rPr lang="zh-CN" altLang="zh-CN" sz="2000" dirty="0"/>
              <a:t>。</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40</a:t>
            </a:fld>
            <a:endParaRPr lang="zh-CN" altLang="en-US" dirty="0"/>
          </a:p>
        </p:txBody>
      </p:sp>
    </p:spTree>
    <p:extLst>
      <p:ext uri="{BB962C8B-B14F-4D97-AF65-F5344CB8AC3E}">
        <p14:creationId xmlns:p14="http://schemas.microsoft.com/office/powerpoint/2010/main" val="2599664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90066"/>
          </a:xfrm>
        </p:spPr>
        <p:txBody>
          <a:bodyPr>
            <a:normAutofit/>
          </a:bodyPr>
          <a:lstStyle/>
          <a:p>
            <a:r>
              <a:rPr lang="en-US" altLang="zh-CN" sz="2400" dirty="0"/>
              <a:t>6.2.6 </a:t>
            </a:r>
            <a:r>
              <a:rPr lang="en-US" altLang="zh-CN" sz="2400" dirty="0" smtClean="0"/>
              <a:t>  </a:t>
            </a:r>
            <a:r>
              <a:rPr lang="zh-CN" altLang="zh-CN" sz="2400" dirty="0" smtClean="0"/>
              <a:t>第四</a:t>
            </a:r>
            <a:r>
              <a:rPr lang="zh-CN" altLang="zh-CN" sz="2400" dirty="0"/>
              <a:t>范式</a:t>
            </a:r>
            <a:endParaRPr lang="zh-CN" altLang="en-US" sz="3200" dirty="0"/>
          </a:p>
        </p:txBody>
      </p:sp>
      <p:sp>
        <p:nvSpPr>
          <p:cNvPr id="3" name="文本占位符 2"/>
          <p:cNvSpPr>
            <a:spLocks noGrp="1"/>
          </p:cNvSpPr>
          <p:nvPr>
            <p:ph type="body" idx="1"/>
          </p:nvPr>
        </p:nvSpPr>
        <p:spPr>
          <a:xfrm>
            <a:off x="179512" y="620688"/>
            <a:ext cx="8712968" cy="5760640"/>
          </a:xfrm>
        </p:spPr>
        <p:txBody>
          <a:bodyPr>
            <a:noAutofit/>
          </a:bodyPr>
          <a:lstStyle/>
          <a:p>
            <a:r>
              <a:rPr lang="zh-CN" altLang="zh-CN" sz="2000" dirty="0"/>
              <a:t>结论：解决不满足</a:t>
            </a:r>
            <a:r>
              <a:rPr lang="en-US" altLang="zh-CN" sz="2000" dirty="0"/>
              <a:t>4NF</a:t>
            </a:r>
            <a:r>
              <a:rPr lang="zh-CN" altLang="zh-CN" sz="2000" dirty="0"/>
              <a:t>的方法是分解关系模式，消除所有非平凡且非函数依赖的多值依赖。即：</a:t>
            </a:r>
          </a:p>
          <a:p>
            <a:r>
              <a:rPr lang="zh-CN" altLang="zh-CN" sz="2000" dirty="0"/>
              <a:t>对于</a:t>
            </a:r>
            <a:r>
              <a:rPr lang="en-US" altLang="zh-CN" sz="2000" dirty="0"/>
              <a:t>R</a:t>
            </a:r>
            <a:r>
              <a:rPr lang="zh-CN" altLang="zh-CN" sz="2000" dirty="0"/>
              <a:t>∈</a:t>
            </a:r>
            <a:r>
              <a:rPr lang="en-US" altLang="zh-CN" sz="2000" dirty="0"/>
              <a:t>1NF</a:t>
            </a:r>
            <a:r>
              <a:rPr lang="zh-CN" altLang="zh-CN" sz="2000" dirty="0"/>
              <a:t>，只要存在一个多值依赖</a:t>
            </a:r>
            <a:r>
              <a:rPr lang="en-US" altLang="zh-CN" sz="2000" dirty="0"/>
              <a:t>X</a:t>
            </a:r>
            <a:r>
              <a:rPr lang="zh-CN" altLang="zh-CN" sz="2000" dirty="0"/>
              <a:t>→→</a:t>
            </a:r>
            <a:r>
              <a:rPr lang="en-US" altLang="zh-CN" sz="2000" dirty="0"/>
              <a:t>Y</a:t>
            </a:r>
            <a:r>
              <a:rPr lang="zh-CN" altLang="zh-CN" sz="2000" dirty="0"/>
              <a:t>，但是</a:t>
            </a:r>
            <a:r>
              <a:rPr lang="en-US" altLang="zh-CN" sz="2000" dirty="0"/>
              <a:t>X</a:t>
            </a:r>
            <a:r>
              <a:rPr lang="zh-CN" altLang="zh-CN" sz="2000" dirty="0"/>
              <a:t>不包含</a:t>
            </a:r>
            <a:r>
              <a:rPr lang="en-US" altLang="zh-CN" sz="2000" dirty="0"/>
              <a:t>R</a:t>
            </a:r>
            <a:r>
              <a:rPr lang="zh-CN" altLang="zh-CN" sz="2000" dirty="0"/>
              <a:t>的候选键</a:t>
            </a:r>
            <a:r>
              <a:rPr lang="en-US" altLang="zh-CN" sz="2000" dirty="0"/>
              <a:t>,</a:t>
            </a:r>
            <a:r>
              <a:rPr lang="zh-CN" altLang="zh-CN" sz="2000" dirty="0"/>
              <a:t>则</a:t>
            </a:r>
            <a:r>
              <a:rPr lang="en-US" altLang="zh-CN" sz="2000" dirty="0"/>
              <a:t>R </a:t>
            </a:r>
            <a:r>
              <a:rPr lang="en-US" altLang="zh-CN" sz="2000" dirty="0" smtClean="0"/>
              <a:t>     4NF</a:t>
            </a:r>
            <a:r>
              <a:rPr lang="zh-CN" altLang="zh-CN" sz="2000" dirty="0"/>
              <a:t>。</a:t>
            </a:r>
          </a:p>
          <a:p>
            <a:r>
              <a:rPr lang="zh-CN" altLang="zh-CN" sz="2000" dirty="0"/>
              <a:t>在多值依赖的范畴内，</a:t>
            </a:r>
            <a:r>
              <a:rPr lang="en-US" altLang="zh-CN" sz="2000" dirty="0"/>
              <a:t>4NF</a:t>
            </a:r>
            <a:r>
              <a:rPr lang="zh-CN" altLang="zh-CN" sz="2000" dirty="0"/>
              <a:t>达到了范式规范化的最高级别，并“基本上”解决了数据冗余、插入异常、修改异常和删除异常等问题。但是</a:t>
            </a:r>
            <a:r>
              <a:rPr lang="en-US" altLang="zh-CN" sz="2000" dirty="0"/>
              <a:t>4NF</a:t>
            </a:r>
            <a:r>
              <a:rPr lang="zh-CN" altLang="zh-CN" sz="2000" dirty="0"/>
              <a:t>仍然存在一定的问题。</a:t>
            </a:r>
          </a:p>
          <a:p>
            <a:r>
              <a:rPr lang="zh-CN" altLang="zh-CN" sz="2000" dirty="0"/>
              <a:t>因此需要使用连接依赖，使关系模式达到更高级的范式</a:t>
            </a:r>
            <a:r>
              <a:rPr lang="en-US" altLang="zh-CN" sz="2000" dirty="0"/>
              <a:t>5NF</a:t>
            </a:r>
            <a:r>
              <a:rPr lang="zh-CN" altLang="zh-CN" sz="2000" dirty="0"/>
              <a:t>。即：</a:t>
            </a:r>
          </a:p>
          <a:p>
            <a:r>
              <a:rPr lang="zh-CN" altLang="zh-CN" sz="2000" dirty="0"/>
              <a:t>对于</a:t>
            </a:r>
            <a:r>
              <a:rPr lang="en-US" altLang="zh-CN" sz="2000" dirty="0"/>
              <a:t>R</a:t>
            </a:r>
            <a:r>
              <a:rPr lang="zh-CN" altLang="zh-CN" sz="2000" dirty="0"/>
              <a:t>∈</a:t>
            </a:r>
            <a:r>
              <a:rPr lang="en-US" altLang="zh-CN" sz="2000" dirty="0"/>
              <a:t>4NF</a:t>
            </a:r>
            <a:r>
              <a:rPr lang="zh-CN" altLang="zh-CN" sz="2000" dirty="0"/>
              <a:t>，如果消除关系模式中的连接依赖，则</a:t>
            </a:r>
            <a:r>
              <a:rPr lang="en-US" altLang="zh-CN" sz="2000" dirty="0"/>
              <a:t>R</a:t>
            </a:r>
            <a:r>
              <a:rPr lang="zh-CN" altLang="zh-CN" sz="2000" dirty="0"/>
              <a:t>∈</a:t>
            </a:r>
            <a:r>
              <a:rPr lang="en-US" altLang="zh-CN" sz="2000" dirty="0"/>
              <a:t>5NF</a:t>
            </a:r>
            <a:r>
              <a:rPr lang="zh-CN" altLang="zh-CN" sz="2000" dirty="0"/>
              <a:t>。连接依赖和</a:t>
            </a:r>
            <a:r>
              <a:rPr lang="en-US" altLang="zh-CN" sz="2000" dirty="0"/>
              <a:t>5NF</a:t>
            </a:r>
            <a:r>
              <a:rPr lang="zh-CN" altLang="zh-CN" sz="2000" dirty="0"/>
              <a:t>的有关内容，请参阅相关文献。</a:t>
            </a: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41</a:t>
            </a:fld>
            <a:endParaRPr lang="zh-CN" altLang="en-US" dirty="0"/>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378671819"/>
              </p:ext>
            </p:extLst>
          </p:nvPr>
        </p:nvGraphicFramePr>
        <p:xfrm>
          <a:off x="1043608" y="2060848"/>
          <a:ext cx="467544" cy="476672"/>
        </p:xfrm>
        <a:graphic>
          <a:graphicData uri="http://schemas.openxmlformats.org/presentationml/2006/ole">
            <mc:AlternateContent xmlns:mc="http://schemas.openxmlformats.org/markup-compatibility/2006">
              <mc:Choice xmlns:v="urn:schemas-microsoft-com:vml" Requires="v">
                <p:oleObj spid="_x0000_s27845" name="公式" r:id="rId3" imgW="114201" imgH="139579" progId="Equation.3">
                  <p:embed/>
                </p:oleObj>
              </mc:Choice>
              <mc:Fallback>
                <p:oleObj name="公式" r:id="rId3" imgW="114201" imgH="13957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060848"/>
                        <a:ext cx="467544" cy="476672"/>
                      </a:xfrm>
                      <a:prstGeom prst="rect">
                        <a:avLst/>
                      </a:prstGeom>
                      <a:noFill/>
                    </p:spPr>
                  </p:pic>
                </p:oleObj>
              </mc:Fallback>
            </mc:AlternateContent>
          </a:graphicData>
        </a:graphic>
      </p:graphicFrame>
    </p:spTree>
    <p:extLst>
      <p:ext uri="{BB962C8B-B14F-4D97-AF65-F5344CB8AC3E}">
        <p14:creationId xmlns:p14="http://schemas.microsoft.com/office/powerpoint/2010/main" val="3941749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219256" cy="418058"/>
          </a:xfrm>
        </p:spPr>
        <p:txBody>
          <a:bodyPr>
            <a:normAutofit fontScale="90000"/>
          </a:bodyPr>
          <a:lstStyle/>
          <a:p>
            <a:r>
              <a:rPr lang="zh-CN" altLang="zh-CN" dirty="0"/>
              <a:t>关系模式的</a:t>
            </a:r>
            <a:r>
              <a:rPr lang="zh-CN" altLang="zh-CN" dirty="0">
                <a:solidFill>
                  <a:srgbClr val="0000FF"/>
                </a:solidFill>
              </a:rPr>
              <a:t>规范化</a:t>
            </a:r>
            <a:r>
              <a:rPr lang="zh-CN" altLang="zh-CN" dirty="0" smtClean="0">
                <a:solidFill>
                  <a:srgbClr val="0000FF"/>
                </a:solidFill>
              </a:rPr>
              <a:t>过程</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42</a:t>
            </a:fld>
            <a:endParaRPr lang="zh-CN" altLang="en-US" dirty="0"/>
          </a:p>
        </p:txBody>
      </p:sp>
      <p:grpSp>
        <p:nvGrpSpPr>
          <p:cNvPr id="9" name="组合 8"/>
          <p:cNvGrpSpPr>
            <a:grpSpLocks/>
          </p:cNvGrpSpPr>
          <p:nvPr/>
        </p:nvGrpSpPr>
        <p:grpSpPr bwMode="auto">
          <a:xfrm>
            <a:off x="179512" y="1208334"/>
            <a:ext cx="8712968" cy="4884961"/>
            <a:chOff x="2190" y="8482"/>
            <a:chExt cx="6552" cy="4508"/>
          </a:xfrm>
        </p:grpSpPr>
        <p:grpSp>
          <p:nvGrpSpPr>
            <p:cNvPr id="10" name="Group 107"/>
            <p:cNvGrpSpPr>
              <a:grpSpLocks/>
            </p:cNvGrpSpPr>
            <p:nvPr/>
          </p:nvGrpSpPr>
          <p:grpSpPr bwMode="auto">
            <a:xfrm>
              <a:off x="2190" y="8482"/>
              <a:ext cx="2904" cy="4508"/>
              <a:chOff x="2190" y="1620"/>
              <a:chExt cx="2904" cy="4584"/>
            </a:xfrm>
          </p:grpSpPr>
          <p:cxnSp>
            <p:nvCxnSpPr>
              <p:cNvPr id="17" name="Line 108"/>
              <p:cNvCxnSpPr/>
              <p:nvPr/>
            </p:nvCxnSpPr>
            <p:spPr bwMode="auto">
              <a:xfrm flipV="1">
                <a:off x="4734" y="3660"/>
                <a:ext cx="0" cy="48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8" name="Rectangle 109"/>
              <p:cNvSpPr>
                <a:spLocks noChangeArrowheads="1"/>
              </p:cNvSpPr>
              <p:nvPr/>
            </p:nvSpPr>
            <p:spPr bwMode="auto">
              <a:xfrm>
                <a:off x="3666" y="3300"/>
                <a:ext cx="1428" cy="38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BCNF</a:t>
                </a:r>
                <a:endParaRPr lang="zh-CN" sz="1600">
                  <a:solidFill>
                    <a:srgbClr val="0000FF"/>
                  </a:solidFill>
                  <a:effectLst/>
                  <a:latin typeface="微软雅黑" pitchFamily="34" charset="-122"/>
                  <a:ea typeface="微软雅黑" pitchFamily="34" charset="-122"/>
                  <a:cs typeface="宋体"/>
                </a:endParaRPr>
              </a:p>
            </p:txBody>
          </p:sp>
          <p:cxnSp>
            <p:nvCxnSpPr>
              <p:cNvPr id="19" name="Line 110"/>
              <p:cNvCxnSpPr/>
              <p:nvPr/>
            </p:nvCxnSpPr>
            <p:spPr bwMode="auto">
              <a:xfrm flipV="1">
                <a:off x="4734" y="2820"/>
                <a:ext cx="0" cy="48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0" name="Rectangle 111"/>
              <p:cNvSpPr>
                <a:spLocks noChangeArrowheads="1"/>
              </p:cNvSpPr>
              <p:nvPr/>
            </p:nvSpPr>
            <p:spPr bwMode="auto">
              <a:xfrm>
                <a:off x="3942" y="2460"/>
                <a:ext cx="1152" cy="38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2600"/>
                  </a:lnSpc>
                  <a:spcAft>
                    <a:spcPts val="0"/>
                  </a:spcAft>
                </a:pPr>
                <a:r>
                  <a:rPr lang="zh-CN" sz="1600" b="1" dirty="0">
                    <a:solidFill>
                      <a:srgbClr val="0000FF"/>
                    </a:solidFill>
                    <a:effectLst/>
                    <a:latin typeface="微软雅黑" pitchFamily="34" charset="-122"/>
                    <a:ea typeface="微软雅黑" pitchFamily="34" charset="-122"/>
                    <a:cs typeface="宋体"/>
                  </a:rPr>
                  <a:t>4NF</a:t>
                </a:r>
                <a:endParaRPr lang="zh-CN" sz="1600" dirty="0">
                  <a:solidFill>
                    <a:srgbClr val="0000FF"/>
                  </a:solidFill>
                  <a:effectLst/>
                  <a:latin typeface="微软雅黑" pitchFamily="34" charset="-122"/>
                  <a:ea typeface="微软雅黑" pitchFamily="34" charset="-122"/>
                  <a:cs typeface="宋体"/>
                </a:endParaRPr>
              </a:p>
            </p:txBody>
          </p:sp>
          <p:cxnSp>
            <p:nvCxnSpPr>
              <p:cNvPr id="21" name="Line 112"/>
              <p:cNvCxnSpPr/>
              <p:nvPr/>
            </p:nvCxnSpPr>
            <p:spPr bwMode="auto">
              <a:xfrm flipV="1">
                <a:off x="4734" y="4500"/>
                <a:ext cx="0" cy="48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2" name="Rectangle 113"/>
              <p:cNvSpPr>
                <a:spLocks noChangeArrowheads="1"/>
              </p:cNvSpPr>
              <p:nvPr/>
            </p:nvSpPr>
            <p:spPr bwMode="auto">
              <a:xfrm>
                <a:off x="3222" y="4140"/>
                <a:ext cx="1872" cy="38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3NF</a:t>
                </a:r>
                <a:endParaRPr lang="zh-CN" sz="1600">
                  <a:solidFill>
                    <a:srgbClr val="0000FF"/>
                  </a:solidFill>
                  <a:effectLst/>
                  <a:latin typeface="微软雅黑" pitchFamily="34" charset="-122"/>
                  <a:ea typeface="微软雅黑" pitchFamily="34" charset="-122"/>
                  <a:cs typeface="宋体"/>
                </a:endParaRPr>
              </a:p>
            </p:txBody>
          </p:sp>
          <p:cxnSp>
            <p:nvCxnSpPr>
              <p:cNvPr id="23" name="Line 114"/>
              <p:cNvCxnSpPr/>
              <p:nvPr/>
            </p:nvCxnSpPr>
            <p:spPr bwMode="auto">
              <a:xfrm flipV="1">
                <a:off x="4710" y="1980"/>
                <a:ext cx="0" cy="48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4" name="Rectangle 115"/>
              <p:cNvSpPr>
                <a:spLocks noChangeArrowheads="1"/>
              </p:cNvSpPr>
              <p:nvPr/>
            </p:nvSpPr>
            <p:spPr bwMode="auto">
              <a:xfrm>
                <a:off x="4302" y="1620"/>
                <a:ext cx="768" cy="38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5NF</a:t>
                </a:r>
                <a:endParaRPr lang="zh-CN" sz="1600">
                  <a:solidFill>
                    <a:srgbClr val="0000FF"/>
                  </a:solidFill>
                  <a:effectLst/>
                  <a:latin typeface="微软雅黑" pitchFamily="34" charset="-122"/>
                  <a:ea typeface="微软雅黑" pitchFamily="34" charset="-122"/>
                  <a:cs typeface="宋体"/>
                </a:endParaRPr>
              </a:p>
            </p:txBody>
          </p:sp>
          <p:cxnSp>
            <p:nvCxnSpPr>
              <p:cNvPr id="25" name="Line 116"/>
              <p:cNvCxnSpPr/>
              <p:nvPr/>
            </p:nvCxnSpPr>
            <p:spPr bwMode="auto">
              <a:xfrm flipV="1">
                <a:off x="4734" y="5340"/>
                <a:ext cx="0" cy="48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6" name="Rectangle 117"/>
              <p:cNvSpPr>
                <a:spLocks noChangeArrowheads="1"/>
              </p:cNvSpPr>
              <p:nvPr/>
            </p:nvSpPr>
            <p:spPr bwMode="auto">
              <a:xfrm>
                <a:off x="2730" y="4980"/>
                <a:ext cx="2364" cy="38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2NF</a:t>
                </a:r>
                <a:endParaRPr lang="zh-CN" sz="1600">
                  <a:solidFill>
                    <a:srgbClr val="0000FF"/>
                  </a:solidFill>
                  <a:effectLst/>
                  <a:latin typeface="微软雅黑" pitchFamily="34" charset="-122"/>
                  <a:ea typeface="微软雅黑" pitchFamily="34" charset="-122"/>
                  <a:cs typeface="宋体"/>
                </a:endParaRPr>
              </a:p>
            </p:txBody>
          </p:sp>
          <p:sp>
            <p:nvSpPr>
              <p:cNvPr id="27" name="Rectangle 118"/>
              <p:cNvSpPr>
                <a:spLocks noChangeArrowheads="1"/>
              </p:cNvSpPr>
              <p:nvPr/>
            </p:nvSpPr>
            <p:spPr bwMode="auto">
              <a:xfrm>
                <a:off x="2190" y="5820"/>
                <a:ext cx="2904" cy="384"/>
              </a:xfrm>
              <a:prstGeom prst="rect">
                <a:avLst/>
              </a:prstGeom>
              <a:solidFill>
                <a:srgbClr val="FFFFFF"/>
              </a:solidFill>
              <a:ln w="12700">
                <a:solidFill>
                  <a:srgbClr val="000000"/>
                </a:solidFill>
                <a:miter lim="800000"/>
                <a:headEnd/>
                <a:tailEnd/>
              </a:ln>
            </p:spPr>
            <p:txBody>
              <a:bodyPr rot="0" vert="horz" wrap="square" lIns="0" tIns="28804" rIns="0" bIns="28804"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1NF</a:t>
                </a:r>
                <a:endParaRPr lang="zh-CN" sz="1600">
                  <a:solidFill>
                    <a:srgbClr val="0000FF"/>
                  </a:solidFill>
                  <a:effectLst/>
                  <a:latin typeface="微软雅黑" pitchFamily="34" charset="-122"/>
                  <a:ea typeface="微软雅黑" pitchFamily="34" charset="-122"/>
                  <a:cs typeface="宋体"/>
                </a:endParaRPr>
              </a:p>
            </p:txBody>
          </p:sp>
        </p:grpSp>
        <p:grpSp>
          <p:nvGrpSpPr>
            <p:cNvPr id="11" name="Group 119"/>
            <p:cNvGrpSpPr>
              <a:grpSpLocks/>
            </p:cNvGrpSpPr>
            <p:nvPr/>
          </p:nvGrpSpPr>
          <p:grpSpPr bwMode="auto">
            <a:xfrm>
              <a:off x="4710" y="8844"/>
              <a:ext cx="4032" cy="3816"/>
              <a:chOff x="4710" y="1980"/>
              <a:chExt cx="4032" cy="3816"/>
            </a:xfrm>
          </p:grpSpPr>
          <p:sp>
            <p:nvSpPr>
              <p:cNvPr id="12" name="AutoShape 120"/>
              <p:cNvSpPr>
                <a:spLocks noChangeArrowheads="1"/>
              </p:cNvSpPr>
              <p:nvPr/>
            </p:nvSpPr>
            <p:spPr bwMode="auto">
              <a:xfrm>
                <a:off x="4710" y="1980"/>
                <a:ext cx="3984" cy="456"/>
              </a:xfrm>
              <a:prstGeom prst="leftArrowCallout">
                <a:avLst>
                  <a:gd name="adj1" fmla="val 11407"/>
                  <a:gd name="adj2" fmla="val 18639"/>
                  <a:gd name="adj3" fmla="val 48255"/>
                  <a:gd name="adj4" fmla="val 83532"/>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消除连接依赖</a:t>
                </a:r>
                <a:endParaRPr lang="zh-CN" sz="1600">
                  <a:solidFill>
                    <a:srgbClr val="0000FF"/>
                  </a:solidFill>
                  <a:effectLst/>
                  <a:latin typeface="微软雅黑" pitchFamily="34" charset="-122"/>
                  <a:ea typeface="微软雅黑" pitchFamily="34" charset="-122"/>
                  <a:cs typeface="宋体"/>
                </a:endParaRPr>
              </a:p>
            </p:txBody>
          </p:sp>
          <p:sp>
            <p:nvSpPr>
              <p:cNvPr id="13" name="AutoShape 121"/>
              <p:cNvSpPr>
                <a:spLocks noChangeArrowheads="1"/>
              </p:cNvSpPr>
              <p:nvPr/>
            </p:nvSpPr>
            <p:spPr bwMode="auto">
              <a:xfrm>
                <a:off x="4734" y="2796"/>
                <a:ext cx="3984" cy="456"/>
              </a:xfrm>
              <a:prstGeom prst="leftArrowCallout">
                <a:avLst>
                  <a:gd name="adj1" fmla="val 11407"/>
                  <a:gd name="adj2" fmla="val 18639"/>
                  <a:gd name="adj3" fmla="val 48255"/>
                  <a:gd name="adj4" fmla="val 83532"/>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1600" b="1" dirty="0">
                    <a:solidFill>
                      <a:srgbClr val="0000FF"/>
                    </a:solidFill>
                    <a:effectLst/>
                    <a:latin typeface="微软雅黑" pitchFamily="34" charset="-122"/>
                    <a:ea typeface="微软雅黑" pitchFamily="34" charset="-122"/>
                    <a:cs typeface="宋体"/>
                  </a:rPr>
                  <a:t>消除非平凡且非函数依赖的多值依赖</a:t>
                </a:r>
                <a:endParaRPr lang="zh-CN" sz="1600" dirty="0">
                  <a:solidFill>
                    <a:srgbClr val="0000FF"/>
                  </a:solidFill>
                  <a:effectLst/>
                  <a:latin typeface="微软雅黑" pitchFamily="34" charset="-122"/>
                  <a:ea typeface="微软雅黑" pitchFamily="34" charset="-122"/>
                  <a:cs typeface="宋体"/>
                </a:endParaRPr>
              </a:p>
              <a:p>
                <a:pPr indent="254000" algn="just">
                  <a:lnSpc>
                    <a:spcPts val="2600"/>
                  </a:lnSpc>
                  <a:spcAft>
                    <a:spcPts val="0"/>
                  </a:spcAft>
                </a:pPr>
                <a:r>
                  <a:rPr lang="en-US" sz="1600" dirty="0">
                    <a:solidFill>
                      <a:srgbClr val="0000FF"/>
                    </a:solidFill>
                    <a:effectLst/>
                    <a:latin typeface="微软雅黑" pitchFamily="34" charset="-122"/>
                    <a:ea typeface="微软雅黑" pitchFamily="34" charset="-122"/>
                    <a:cs typeface="宋体"/>
                  </a:rPr>
                  <a:t> </a:t>
                </a:r>
                <a:endParaRPr lang="zh-CN" sz="1600" dirty="0">
                  <a:solidFill>
                    <a:srgbClr val="0000FF"/>
                  </a:solidFill>
                  <a:effectLst/>
                  <a:latin typeface="微软雅黑" pitchFamily="34" charset="-122"/>
                  <a:ea typeface="微软雅黑" pitchFamily="34" charset="-122"/>
                  <a:cs typeface="宋体"/>
                </a:endParaRPr>
              </a:p>
            </p:txBody>
          </p:sp>
          <p:sp>
            <p:nvSpPr>
              <p:cNvPr id="14" name="AutoShape 122"/>
              <p:cNvSpPr>
                <a:spLocks noChangeArrowheads="1"/>
              </p:cNvSpPr>
              <p:nvPr/>
            </p:nvSpPr>
            <p:spPr bwMode="auto">
              <a:xfrm>
                <a:off x="4734" y="3684"/>
                <a:ext cx="3984" cy="456"/>
              </a:xfrm>
              <a:prstGeom prst="leftArrowCallout">
                <a:avLst>
                  <a:gd name="adj1" fmla="val 11407"/>
                  <a:gd name="adj2" fmla="val 18639"/>
                  <a:gd name="adj3" fmla="val 48255"/>
                  <a:gd name="adj4" fmla="val 83532"/>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消除主属性对候选键的部分和传递函数依赖</a:t>
                </a:r>
                <a:endParaRPr lang="zh-CN" sz="1600">
                  <a:solidFill>
                    <a:srgbClr val="0000FF"/>
                  </a:solidFill>
                  <a:effectLst/>
                  <a:latin typeface="微软雅黑" pitchFamily="34" charset="-122"/>
                  <a:ea typeface="微软雅黑" pitchFamily="34" charset="-122"/>
                  <a:cs typeface="宋体"/>
                </a:endParaRPr>
              </a:p>
            </p:txBody>
          </p:sp>
          <p:sp>
            <p:nvSpPr>
              <p:cNvPr id="15" name="AutoShape 123"/>
              <p:cNvSpPr>
                <a:spLocks noChangeArrowheads="1"/>
              </p:cNvSpPr>
              <p:nvPr/>
            </p:nvSpPr>
            <p:spPr bwMode="auto">
              <a:xfrm>
                <a:off x="4734" y="4476"/>
                <a:ext cx="3984" cy="456"/>
              </a:xfrm>
              <a:prstGeom prst="leftArrowCallout">
                <a:avLst>
                  <a:gd name="adj1" fmla="val 11407"/>
                  <a:gd name="adj2" fmla="val 18639"/>
                  <a:gd name="adj3" fmla="val 48255"/>
                  <a:gd name="adj4" fmla="val 83532"/>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消除非主属性对候选键的传递函数依赖</a:t>
                </a:r>
                <a:endParaRPr lang="zh-CN" sz="1600">
                  <a:solidFill>
                    <a:srgbClr val="0000FF"/>
                  </a:solidFill>
                  <a:effectLst/>
                  <a:latin typeface="微软雅黑" pitchFamily="34" charset="-122"/>
                  <a:ea typeface="微软雅黑" pitchFamily="34" charset="-122"/>
                  <a:cs typeface="宋体"/>
                </a:endParaRPr>
              </a:p>
              <a:p>
                <a:pPr indent="254000" algn="just">
                  <a:lnSpc>
                    <a:spcPts val="2600"/>
                  </a:lnSpc>
                  <a:spcAft>
                    <a:spcPts val="0"/>
                  </a:spcAft>
                </a:pPr>
                <a:r>
                  <a:rPr lang="en-US" sz="1600">
                    <a:solidFill>
                      <a:srgbClr val="0000FF"/>
                    </a:solidFill>
                    <a:effectLst/>
                    <a:latin typeface="微软雅黑" pitchFamily="34" charset="-122"/>
                    <a:ea typeface="微软雅黑" pitchFamily="34" charset="-122"/>
                    <a:cs typeface="宋体"/>
                  </a:rPr>
                  <a:t> </a:t>
                </a:r>
                <a:endParaRPr lang="zh-CN" sz="1600">
                  <a:solidFill>
                    <a:srgbClr val="0000FF"/>
                  </a:solidFill>
                  <a:effectLst/>
                  <a:latin typeface="微软雅黑" pitchFamily="34" charset="-122"/>
                  <a:ea typeface="微软雅黑" pitchFamily="34" charset="-122"/>
                  <a:cs typeface="宋体"/>
                </a:endParaRPr>
              </a:p>
            </p:txBody>
          </p:sp>
          <p:sp>
            <p:nvSpPr>
              <p:cNvPr id="16" name="AutoShape 124"/>
              <p:cNvSpPr>
                <a:spLocks noChangeArrowheads="1"/>
              </p:cNvSpPr>
              <p:nvPr/>
            </p:nvSpPr>
            <p:spPr bwMode="auto">
              <a:xfrm>
                <a:off x="4758" y="5340"/>
                <a:ext cx="3984" cy="456"/>
              </a:xfrm>
              <a:prstGeom prst="leftArrowCallout">
                <a:avLst>
                  <a:gd name="adj1" fmla="val 11407"/>
                  <a:gd name="adj2" fmla="val 18639"/>
                  <a:gd name="adj3" fmla="val 48255"/>
                  <a:gd name="adj4" fmla="val 83532"/>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indent="127000" algn="ctr">
                  <a:lnSpc>
                    <a:spcPts val="2600"/>
                  </a:lnSpc>
                  <a:spcAft>
                    <a:spcPts val="0"/>
                  </a:spcAft>
                </a:pPr>
                <a:r>
                  <a:rPr lang="zh-CN" sz="1600" b="1">
                    <a:solidFill>
                      <a:srgbClr val="0000FF"/>
                    </a:solidFill>
                    <a:effectLst/>
                    <a:latin typeface="微软雅黑" pitchFamily="34" charset="-122"/>
                    <a:ea typeface="微软雅黑" pitchFamily="34" charset="-122"/>
                    <a:cs typeface="宋体"/>
                  </a:rPr>
                  <a:t>消除非主属性对候选键的部分函数依赖</a:t>
                </a:r>
                <a:endParaRPr lang="zh-CN" sz="1600">
                  <a:solidFill>
                    <a:srgbClr val="0000FF"/>
                  </a:solidFill>
                  <a:effectLst/>
                  <a:latin typeface="微软雅黑" pitchFamily="34" charset="-122"/>
                  <a:ea typeface="微软雅黑" pitchFamily="34" charset="-122"/>
                  <a:cs typeface="宋体"/>
                </a:endParaRPr>
              </a:p>
            </p:txBody>
          </p:sp>
        </p:grpSp>
      </p:grpSp>
    </p:spTree>
    <p:extLst>
      <p:ext uri="{BB962C8B-B14F-4D97-AF65-F5344CB8AC3E}">
        <p14:creationId xmlns:p14="http://schemas.microsoft.com/office/powerpoint/2010/main" val="5041888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zh-CN" dirty="0"/>
              <a:t>关系模式规范化</a:t>
            </a:r>
            <a:endParaRPr lang="zh-CN" altLang="en-US" dirty="0"/>
          </a:p>
        </p:txBody>
      </p:sp>
      <p:sp>
        <p:nvSpPr>
          <p:cNvPr id="3" name="文本占位符 2"/>
          <p:cNvSpPr>
            <a:spLocks noGrp="1"/>
          </p:cNvSpPr>
          <p:nvPr>
            <p:ph type="body" idx="1"/>
          </p:nvPr>
        </p:nvSpPr>
        <p:spPr/>
        <p:txBody>
          <a:bodyPr/>
          <a:lstStyle/>
          <a:p>
            <a:r>
              <a:rPr lang="zh-CN" altLang="zh-CN" dirty="0" smtClean="0">
                <a:solidFill>
                  <a:srgbClr val="0000FF"/>
                </a:solidFill>
              </a:rPr>
              <a:t>规范化</a:t>
            </a:r>
            <a:r>
              <a:rPr lang="zh-CN" altLang="en-US" dirty="0" smtClean="0">
                <a:solidFill>
                  <a:srgbClr val="0000FF"/>
                </a:solidFill>
              </a:rPr>
              <a:t>：</a:t>
            </a:r>
            <a:r>
              <a:rPr lang="zh-CN" altLang="zh-CN" dirty="0" smtClean="0"/>
              <a:t>分解</a:t>
            </a:r>
            <a:r>
              <a:rPr lang="zh-CN" altLang="zh-CN" dirty="0"/>
              <a:t>低级关系模式使其转换为高级关系模式的过程</a:t>
            </a:r>
            <a:r>
              <a:rPr lang="en-US" altLang="zh-CN" dirty="0"/>
              <a:t>(</a:t>
            </a:r>
            <a:r>
              <a:rPr lang="zh-CN" altLang="zh-CN" dirty="0"/>
              <a:t>范式</a:t>
            </a:r>
            <a:r>
              <a:rPr lang="zh-CN" altLang="zh-CN" dirty="0" smtClean="0"/>
              <a:t>分解</a:t>
            </a:r>
            <a:endParaRPr lang="en-US" altLang="zh-CN" dirty="0" smtClean="0"/>
          </a:p>
          <a:p>
            <a:pPr marL="457200" lvl="1" indent="-457200">
              <a:buFont typeface="Wingdings" pitchFamily="2" charset="2"/>
              <a:buChar char="n"/>
            </a:pPr>
            <a:r>
              <a:rPr lang="en-US" altLang="zh-CN" sz="2600" dirty="0">
                <a:solidFill>
                  <a:srgbClr val="0000FF"/>
                </a:solidFill>
              </a:rPr>
              <a:t>Armstrong</a:t>
            </a:r>
            <a:r>
              <a:rPr lang="zh-CN" altLang="zh-CN" sz="2600" dirty="0">
                <a:solidFill>
                  <a:srgbClr val="0000FF"/>
                </a:solidFill>
              </a:rPr>
              <a:t>公理</a:t>
            </a:r>
          </a:p>
          <a:p>
            <a:pPr marL="457200" lvl="1" indent="-457200">
              <a:buFont typeface="Wingdings" pitchFamily="2" charset="2"/>
              <a:buChar char="n"/>
            </a:pPr>
            <a:r>
              <a:rPr lang="zh-CN" altLang="zh-CN" sz="2600" dirty="0">
                <a:solidFill>
                  <a:srgbClr val="0000FF"/>
                </a:solidFill>
              </a:rPr>
              <a:t>函数依赖集闭包</a:t>
            </a:r>
          </a:p>
          <a:p>
            <a:pPr marL="457200" lvl="1" indent="-457200">
              <a:buFont typeface="Wingdings" pitchFamily="2" charset="2"/>
              <a:buChar char="n"/>
            </a:pPr>
            <a:r>
              <a:rPr lang="zh-CN" altLang="zh-CN" sz="2600" dirty="0">
                <a:solidFill>
                  <a:srgbClr val="0000FF"/>
                </a:solidFill>
              </a:rPr>
              <a:t>属性集闭包</a:t>
            </a:r>
          </a:p>
          <a:p>
            <a:pPr marL="457200" lvl="1" indent="-457200">
              <a:buFont typeface="Wingdings" pitchFamily="2" charset="2"/>
              <a:buChar char="n"/>
            </a:pPr>
            <a:r>
              <a:rPr lang="zh-CN" altLang="zh-CN" sz="2600" dirty="0">
                <a:solidFill>
                  <a:srgbClr val="0000FF"/>
                </a:solidFill>
              </a:rPr>
              <a:t>最小函数依赖集</a:t>
            </a:r>
          </a:p>
          <a:p>
            <a:pPr marL="457200" lvl="1" indent="-457200">
              <a:buFont typeface="Wingdings" pitchFamily="2" charset="2"/>
              <a:buChar char="n"/>
            </a:pPr>
            <a:r>
              <a:rPr lang="zh-CN" altLang="zh-CN" sz="2600" dirty="0">
                <a:solidFill>
                  <a:srgbClr val="0000FF"/>
                </a:solidFill>
              </a:rPr>
              <a:t>关系模式分解</a:t>
            </a:r>
          </a:p>
          <a:p>
            <a:pPr marL="457200" lvl="1" indent="-457200">
              <a:buFont typeface="Wingdings" pitchFamily="2" charset="2"/>
              <a:buChar char="n"/>
            </a:pPr>
            <a:r>
              <a:rPr lang="zh-CN" altLang="zh-CN" sz="2600" dirty="0">
                <a:solidFill>
                  <a:srgbClr val="0000FF"/>
                </a:solidFill>
              </a:rPr>
              <a:t>关系模式的分解算法</a:t>
            </a:r>
          </a:p>
          <a:p>
            <a:endParaRPr lang="zh-CN" altLang="zh-CN"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43</a:t>
            </a:fld>
            <a:endParaRPr lang="zh-CN" altLang="en-US" dirty="0"/>
          </a:p>
        </p:txBody>
      </p:sp>
    </p:spTree>
    <p:extLst>
      <p:ext uri="{BB962C8B-B14F-4D97-AF65-F5344CB8AC3E}">
        <p14:creationId xmlns:p14="http://schemas.microsoft.com/office/powerpoint/2010/main" val="603351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6.3.1  Armstrong</a:t>
            </a:r>
            <a:r>
              <a:rPr lang="zh-CN" altLang="zh-CN" dirty="0"/>
              <a:t>公理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44</a:t>
            </a:fld>
            <a:endParaRPr lang="zh-CN" altLang="en-US" dirty="0"/>
          </a:p>
        </p:txBody>
      </p:sp>
      <p:sp>
        <p:nvSpPr>
          <p:cNvPr id="7" name="文本占位符 6"/>
          <p:cNvSpPr>
            <a:spLocks noGrp="1"/>
          </p:cNvSpPr>
          <p:nvPr>
            <p:ph type="body" idx="1"/>
          </p:nvPr>
        </p:nvSpPr>
        <p:spPr>
          <a:xfrm>
            <a:off x="107504" y="692696"/>
            <a:ext cx="8856984" cy="5616624"/>
          </a:xfrm>
        </p:spPr>
        <p:txBody>
          <a:bodyPr>
            <a:normAutofit/>
          </a:bodyPr>
          <a:lstStyle/>
          <a:p>
            <a:r>
              <a:rPr lang="en-US" altLang="zh-CN" sz="2000" dirty="0"/>
              <a:t>Armstrong</a:t>
            </a:r>
            <a:r>
              <a:rPr lang="zh-CN" altLang="zh-CN" sz="2000" dirty="0"/>
              <a:t>公理作为关系模式规范化的核心，可以解决如下问题：</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）计算函数依赖的</a:t>
            </a:r>
            <a:r>
              <a:rPr lang="zh-CN" altLang="zh-CN" sz="2000" dirty="0" smtClean="0">
                <a:solidFill>
                  <a:srgbClr val="0000FF"/>
                </a:solidFill>
              </a:rPr>
              <a:t>闭包</a:t>
            </a:r>
            <a:r>
              <a:rPr lang="en-US" altLang="zh-CN" sz="2000" dirty="0" smtClean="0">
                <a:solidFill>
                  <a:srgbClr val="0000FF"/>
                </a:solidFill>
              </a:rPr>
              <a:t>        </a:t>
            </a:r>
            <a:r>
              <a:rPr lang="zh-CN" altLang="zh-CN" sz="2000" dirty="0">
                <a:solidFill>
                  <a:srgbClr val="0000FF"/>
                </a:solidFill>
              </a:rPr>
              <a:t>。</a:t>
            </a:r>
          </a:p>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）确定关系模式的候选键。</a:t>
            </a:r>
          </a:p>
          <a:p>
            <a:pPr marL="0" indent="0">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）计算属性集合的闭包</a:t>
            </a:r>
            <a:r>
              <a:rPr lang="en-US" altLang="zh-CN" sz="2000" dirty="0">
                <a:solidFill>
                  <a:srgbClr val="0000FF"/>
                </a:solidFill>
              </a:rPr>
              <a:t> </a:t>
            </a:r>
            <a:r>
              <a:rPr lang="en-US" altLang="zh-CN" sz="2000" dirty="0" smtClean="0">
                <a:solidFill>
                  <a:srgbClr val="0000FF"/>
                </a:solidFill>
              </a:rPr>
              <a:t>        </a:t>
            </a:r>
            <a:r>
              <a:rPr lang="zh-CN" altLang="zh-CN" sz="2000" dirty="0" smtClean="0">
                <a:solidFill>
                  <a:srgbClr val="0000FF"/>
                </a:solidFill>
              </a:rPr>
              <a:t>。</a:t>
            </a:r>
            <a:endParaRPr lang="zh-CN" altLang="zh-CN" sz="2000" dirty="0">
              <a:solidFill>
                <a:srgbClr val="0000FF"/>
              </a:solidFill>
            </a:endParaRPr>
          </a:p>
          <a:p>
            <a:pPr marL="0" indent="0">
              <a:buNone/>
            </a:pPr>
            <a:r>
              <a:rPr lang="zh-CN" altLang="zh-CN" sz="2000" dirty="0">
                <a:solidFill>
                  <a:srgbClr val="0000FF"/>
                </a:solidFill>
              </a:rPr>
              <a:t>（</a:t>
            </a:r>
            <a:r>
              <a:rPr lang="en-US" altLang="zh-CN" sz="2000" dirty="0">
                <a:solidFill>
                  <a:srgbClr val="0000FF"/>
                </a:solidFill>
              </a:rPr>
              <a:t>4</a:t>
            </a:r>
            <a:r>
              <a:rPr lang="zh-CN" altLang="zh-CN" sz="2000" dirty="0">
                <a:solidFill>
                  <a:srgbClr val="0000FF"/>
                </a:solidFill>
              </a:rPr>
              <a:t>）计算最小函数依赖</a:t>
            </a:r>
            <a:r>
              <a:rPr lang="zh-CN" altLang="zh-CN" sz="2000" dirty="0" smtClean="0">
                <a:solidFill>
                  <a:srgbClr val="0000FF"/>
                </a:solidFill>
              </a:rPr>
              <a:t>集</a:t>
            </a:r>
            <a:r>
              <a:rPr lang="en-US" altLang="zh-CN" sz="2000" dirty="0" err="1" smtClean="0">
                <a:solidFill>
                  <a:srgbClr val="0000FF"/>
                </a:solidFill>
              </a:rPr>
              <a:t>Fmin</a:t>
            </a:r>
            <a:r>
              <a:rPr lang="zh-CN" altLang="zh-CN" sz="2000" dirty="0" smtClean="0">
                <a:solidFill>
                  <a:srgbClr val="0000FF"/>
                </a:solidFill>
              </a:rPr>
              <a:t>。</a:t>
            </a:r>
            <a:endParaRPr lang="zh-CN" altLang="zh-CN" sz="2000" dirty="0">
              <a:solidFill>
                <a:srgbClr val="0000FF"/>
              </a:solidFill>
            </a:endParaRPr>
          </a:p>
          <a:p>
            <a:r>
              <a:rPr lang="zh-CN" altLang="zh-CN" sz="2000" dirty="0">
                <a:solidFill>
                  <a:srgbClr val="0000FF"/>
                </a:solidFill>
              </a:rPr>
              <a:t>定义</a:t>
            </a:r>
            <a:r>
              <a:rPr lang="en-US" altLang="zh-CN" sz="2000" dirty="0">
                <a:solidFill>
                  <a:srgbClr val="0000FF"/>
                </a:solidFill>
              </a:rPr>
              <a:t>6.12  </a:t>
            </a:r>
            <a:r>
              <a:rPr lang="zh-CN" altLang="zh-CN" sz="2000" dirty="0"/>
              <a:t>对于关系模式</a:t>
            </a:r>
            <a:r>
              <a:rPr lang="en-US" altLang="zh-CN" sz="2000" dirty="0"/>
              <a:t>R(U,F)</a:t>
            </a:r>
            <a:r>
              <a:rPr lang="zh-CN" altLang="zh-CN" sz="2000" dirty="0"/>
              <a:t>∈</a:t>
            </a:r>
            <a:r>
              <a:rPr lang="en-US" altLang="zh-CN" sz="2000" dirty="0"/>
              <a:t>1NF</a:t>
            </a:r>
            <a:r>
              <a:rPr lang="zh-CN" altLang="zh-CN" sz="2000" dirty="0"/>
              <a:t>，如果在</a:t>
            </a:r>
            <a:r>
              <a:rPr lang="en-US" altLang="zh-CN" sz="2000" dirty="0"/>
              <a:t>R(U,F)</a:t>
            </a:r>
            <a:r>
              <a:rPr lang="zh-CN" altLang="zh-CN" sz="2000" dirty="0"/>
              <a:t>下</a:t>
            </a:r>
            <a:r>
              <a:rPr lang="en-US" altLang="zh-CN" sz="2000" dirty="0"/>
              <a:t>X</a:t>
            </a:r>
            <a:r>
              <a:rPr lang="zh-CN" altLang="zh-CN" sz="2000" dirty="0"/>
              <a:t>→</a:t>
            </a:r>
            <a:r>
              <a:rPr lang="en-US" altLang="zh-CN" sz="2000" dirty="0"/>
              <a:t>Y</a:t>
            </a:r>
            <a:r>
              <a:rPr lang="zh-CN" altLang="zh-CN" sz="2000" dirty="0"/>
              <a:t>，则称函数依赖集</a:t>
            </a:r>
            <a:r>
              <a:rPr lang="en-US" altLang="zh-CN" sz="2000" dirty="0"/>
              <a:t>F</a:t>
            </a:r>
            <a:r>
              <a:rPr lang="zh-CN" altLang="zh-CN" sz="2000" dirty="0"/>
              <a:t>逻辑蕴涵</a:t>
            </a:r>
            <a:r>
              <a:rPr lang="en-US" altLang="zh-CN" sz="2000" dirty="0"/>
              <a:t>X</a:t>
            </a:r>
            <a:r>
              <a:rPr lang="zh-CN" altLang="zh-CN" sz="2000" dirty="0"/>
              <a:t>→</a:t>
            </a:r>
            <a:r>
              <a:rPr lang="en-US" altLang="zh-CN" sz="2000" dirty="0"/>
              <a:t>Y</a:t>
            </a:r>
            <a:r>
              <a:rPr lang="zh-CN" altLang="zh-CN" sz="2000" dirty="0"/>
              <a:t>（</a:t>
            </a:r>
            <a:r>
              <a:rPr lang="en-US" altLang="zh-CN" sz="2000" dirty="0"/>
              <a:t>F</a:t>
            </a:r>
            <a:r>
              <a:rPr lang="zh-CN" altLang="zh-CN" sz="2000" dirty="0"/>
              <a:t>蕴涵</a:t>
            </a:r>
            <a:r>
              <a:rPr lang="en-US" altLang="zh-CN" sz="2000" dirty="0"/>
              <a:t>X</a:t>
            </a:r>
            <a:r>
              <a:rPr lang="zh-CN" altLang="zh-CN" sz="2000" dirty="0"/>
              <a:t>→</a:t>
            </a:r>
            <a:r>
              <a:rPr lang="en-US" altLang="zh-CN" sz="2000" dirty="0"/>
              <a:t>Y</a:t>
            </a:r>
            <a:r>
              <a:rPr lang="zh-CN" altLang="zh-CN" sz="2000" dirty="0"/>
              <a:t>）。记为：</a:t>
            </a:r>
            <a:r>
              <a:rPr lang="en-US" altLang="zh-CN" sz="2000" dirty="0"/>
              <a:t>F </a:t>
            </a:r>
            <a:r>
              <a:rPr lang="en-US" altLang="zh-CN" sz="2000" dirty="0" smtClean="0"/>
              <a:t>        X</a:t>
            </a:r>
            <a:r>
              <a:rPr lang="zh-CN" altLang="zh-CN" sz="2000" dirty="0"/>
              <a:t>→</a:t>
            </a:r>
            <a:r>
              <a:rPr lang="en-US" altLang="zh-CN" sz="2000" dirty="0"/>
              <a:t>Y</a:t>
            </a:r>
            <a:r>
              <a:rPr lang="zh-CN" altLang="zh-CN" sz="2000" dirty="0"/>
              <a:t>。</a:t>
            </a:r>
          </a:p>
          <a:p>
            <a:r>
              <a:rPr lang="zh-CN" altLang="zh-CN" sz="2000" dirty="0">
                <a:solidFill>
                  <a:srgbClr val="0000FF"/>
                </a:solidFill>
              </a:rPr>
              <a:t>提示：</a:t>
            </a:r>
            <a:r>
              <a:rPr lang="zh-CN" altLang="zh-CN" sz="2000" dirty="0"/>
              <a:t>如果</a:t>
            </a:r>
            <a:r>
              <a:rPr lang="en-US" altLang="zh-CN" sz="2000" dirty="0" smtClean="0"/>
              <a:t>F         </a:t>
            </a:r>
            <a:r>
              <a:rPr lang="en-US" altLang="zh-CN" sz="2000" dirty="0"/>
              <a:t>X</a:t>
            </a:r>
            <a:r>
              <a:rPr lang="zh-CN" altLang="zh-CN" sz="2000" dirty="0"/>
              <a:t>→</a:t>
            </a:r>
            <a:r>
              <a:rPr lang="en-US" altLang="zh-CN" sz="2000" dirty="0"/>
              <a:t>Y</a:t>
            </a:r>
            <a:r>
              <a:rPr lang="zh-CN" altLang="zh-CN" sz="2000" dirty="0"/>
              <a:t>，则</a:t>
            </a:r>
            <a:r>
              <a:rPr lang="en-US" altLang="zh-CN" sz="2000" dirty="0"/>
              <a:t>X</a:t>
            </a:r>
            <a:r>
              <a:rPr lang="zh-CN" altLang="zh-CN" sz="2000" dirty="0"/>
              <a:t>→</a:t>
            </a:r>
            <a:r>
              <a:rPr lang="en-US" altLang="zh-CN" sz="2000" dirty="0"/>
              <a:t>Y</a:t>
            </a:r>
            <a:r>
              <a:rPr lang="zh-CN" altLang="zh-CN" sz="2000" dirty="0"/>
              <a:t>可能属于</a:t>
            </a:r>
            <a:r>
              <a:rPr lang="en-US" altLang="zh-CN" sz="2000" dirty="0"/>
              <a:t>F</a:t>
            </a:r>
            <a:r>
              <a:rPr lang="zh-CN" altLang="zh-CN" sz="2000" dirty="0"/>
              <a:t>，也可能不属于</a:t>
            </a:r>
            <a:r>
              <a:rPr lang="en-US" altLang="zh-CN" sz="2000" dirty="0"/>
              <a:t>F</a:t>
            </a:r>
            <a:r>
              <a:rPr lang="zh-CN" altLang="zh-CN" sz="2000" dirty="0"/>
              <a:t>。</a:t>
            </a:r>
          </a:p>
          <a:p>
            <a:r>
              <a:rPr lang="zh-CN" altLang="zh-CN" sz="2000" dirty="0">
                <a:solidFill>
                  <a:srgbClr val="0000FF"/>
                </a:solidFill>
              </a:rPr>
              <a:t>例如：</a:t>
            </a:r>
            <a:r>
              <a:rPr lang="zh-CN" altLang="zh-CN" sz="2000" dirty="0"/>
              <a:t>对于</a:t>
            </a:r>
            <a:r>
              <a:rPr lang="en-US" altLang="zh-CN" sz="2000" dirty="0"/>
              <a:t>R(U,F)</a:t>
            </a:r>
            <a:r>
              <a:rPr lang="zh-CN" altLang="zh-CN" sz="2000" dirty="0"/>
              <a:t>，</a:t>
            </a:r>
            <a:r>
              <a:rPr lang="en-US" altLang="zh-CN" sz="2000" dirty="0"/>
              <a:t>U={A,B,C}</a:t>
            </a:r>
            <a:r>
              <a:rPr lang="zh-CN" altLang="zh-CN" sz="2000" dirty="0"/>
              <a:t>，</a:t>
            </a:r>
            <a:r>
              <a:rPr lang="en-US" altLang="zh-CN" sz="2000" dirty="0"/>
              <a:t>F={A</a:t>
            </a:r>
            <a:r>
              <a:rPr lang="zh-CN" altLang="zh-CN" sz="2000" dirty="0"/>
              <a:t>→</a:t>
            </a:r>
            <a:r>
              <a:rPr lang="en-US" altLang="zh-CN" sz="2000" dirty="0"/>
              <a:t>B,B</a:t>
            </a:r>
            <a:r>
              <a:rPr lang="zh-CN" altLang="zh-CN" sz="2000" dirty="0"/>
              <a:t>→</a:t>
            </a:r>
            <a:r>
              <a:rPr lang="en-US" altLang="zh-CN" sz="2000" dirty="0"/>
              <a:t>C}</a:t>
            </a:r>
            <a:r>
              <a:rPr lang="zh-CN" altLang="zh-CN" sz="2000" dirty="0"/>
              <a:t>，</a:t>
            </a:r>
            <a:r>
              <a:rPr lang="zh-CN" altLang="zh-CN" sz="2000" dirty="0" smtClean="0"/>
              <a:t>则</a:t>
            </a:r>
            <a:endParaRPr lang="en-US" altLang="zh-CN" sz="2000" dirty="0" smtClean="0"/>
          </a:p>
          <a:p>
            <a:pPr marL="360363" indent="0">
              <a:buNone/>
            </a:pPr>
            <a:r>
              <a:rPr lang="en-US" altLang="zh-CN" sz="2000" dirty="0" smtClean="0"/>
              <a:t>F        A</a:t>
            </a:r>
            <a:r>
              <a:rPr lang="zh-CN" altLang="zh-CN" sz="2000" dirty="0"/>
              <a:t>→</a:t>
            </a:r>
            <a:r>
              <a:rPr lang="en-US" altLang="zh-CN" sz="2000" dirty="0"/>
              <a:t>B</a:t>
            </a:r>
            <a:r>
              <a:rPr lang="zh-CN" altLang="zh-CN" sz="2000" dirty="0"/>
              <a:t>，</a:t>
            </a:r>
            <a:r>
              <a:rPr lang="en-US" altLang="zh-CN" sz="2000" dirty="0"/>
              <a:t>F </a:t>
            </a:r>
            <a:r>
              <a:rPr lang="en-US" altLang="zh-CN" sz="2000" dirty="0" smtClean="0"/>
              <a:t>       B</a:t>
            </a:r>
            <a:r>
              <a:rPr lang="zh-CN" altLang="zh-CN" sz="2000" dirty="0"/>
              <a:t>→</a:t>
            </a:r>
            <a:r>
              <a:rPr lang="en-US" altLang="zh-CN" sz="2000" dirty="0"/>
              <a:t>C</a:t>
            </a:r>
            <a:r>
              <a:rPr lang="zh-CN" altLang="zh-CN" sz="2000" dirty="0"/>
              <a:t>，</a:t>
            </a:r>
            <a:r>
              <a:rPr lang="en-US" altLang="zh-CN" sz="2000" dirty="0"/>
              <a:t>F </a:t>
            </a:r>
            <a:r>
              <a:rPr lang="en-US" altLang="zh-CN" sz="2000" dirty="0" smtClean="0"/>
              <a:t>        A</a:t>
            </a:r>
            <a:r>
              <a:rPr lang="zh-CN" altLang="zh-CN" sz="2000" dirty="0"/>
              <a:t>→</a:t>
            </a:r>
            <a:r>
              <a:rPr lang="en-US" altLang="zh-CN" sz="2000" dirty="0"/>
              <a:t>C</a:t>
            </a:r>
            <a:r>
              <a:rPr lang="zh-CN" altLang="zh-CN" sz="2000" dirty="0"/>
              <a:t>；其中</a:t>
            </a:r>
            <a:r>
              <a:rPr lang="en-US" altLang="zh-CN" sz="2000" dirty="0"/>
              <a:t>A</a:t>
            </a:r>
            <a:r>
              <a:rPr lang="zh-CN" altLang="zh-CN" sz="2000" dirty="0"/>
              <a:t>→</a:t>
            </a:r>
            <a:r>
              <a:rPr lang="en-US" altLang="zh-CN" sz="2000" dirty="0"/>
              <a:t>B</a:t>
            </a:r>
            <a:r>
              <a:rPr lang="zh-CN" altLang="zh-CN" sz="2000" dirty="0"/>
              <a:t>∈</a:t>
            </a:r>
            <a:r>
              <a:rPr lang="en-US" altLang="zh-CN" sz="2000" dirty="0"/>
              <a:t>F</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F</a:t>
            </a:r>
            <a:r>
              <a:rPr lang="zh-CN" altLang="zh-CN" sz="2000" dirty="0"/>
              <a:t>，但是</a:t>
            </a:r>
            <a:r>
              <a:rPr lang="en-US" altLang="zh-CN" sz="2000" dirty="0"/>
              <a:t>A</a:t>
            </a:r>
            <a:r>
              <a:rPr lang="zh-CN" altLang="zh-CN" sz="2000" dirty="0"/>
              <a:t>→</a:t>
            </a:r>
            <a:r>
              <a:rPr lang="en-US" altLang="zh-CN" sz="2000" dirty="0"/>
              <a:t>C </a:t>
            </a:r>
            <a:r>
              <a:rPr lang="en-US" altLang="zh-CN" sz="2000" dirty="0" smtClean="0"/>
              <a:t>      F</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116655359"/>
              </p:ext>
            </p:extLst>
          </p:nvPr>
        </p:nvGraphicFramePr>
        <p:xfrm>
          <a:off x="5724128" y="3501008"/>
          <a:ext cx="504056" cy="432048"/>
        </p:xfrm>
        <a:graphic>
          <a:graphicData uri="http://schemas.openxmlformats.org/presentationml/2006/ole">
            <mc:AlternateContent xmlns:mc="http://schemas.openxmlformats.org/markup-compatibility/2006">
              <mc:Choice xmlns:v="urn:schemas-microsoft-com:vml" Requires="v">
                <p:oleObj spid="_x0000_s71176" name="公式" r:id="rId3" imgW="177646" imgH="139579" progId="Equation.3">
                  <p:embed/>
                </p:oleObj>
              </mc:Choice>
              <mc:Fallback>
                <p:oleObj name="公式" r:id="rId3" imgW="177646" imgH="13957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3501008"/>
                        <a:ext cx="504056" cy="432048"/>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523132688"/>
              </p:ext>
            </p:extLst>
          </p:nvPr>
        </p:nvGraphicFramePr>
        <p:xfrm>
          <a:off x="2051720" y="3933056"/>
          <a:ext cx="504056" cy="432048"/>
        </p:xfrm>
        <a:graphic>
          <a:graphicData uri="http://schemas.openxmlformats.org/presentationml/2006/ole">
            <mc:AlternateContent xmlns:mc="http://schemas.openxmlformats.org/markup-compatibility/2006">
              <mc:Choice xmlns:v="urn:schemas-microsoft-com:vml" Requires="v">
                <p:oleObj spid="_x0000_s71177" name="公式" r:id="rId5" imgW="177646" imgH="139579" progId="Equation.3">
                  <p:embed/>
                </p:oleObj>
              </mc:Choice>
              <mc:Fallback>
                <p:oleObj name="公式" r:id="rId5" imgW="177646" imgH="13957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933056"/>
                        <a:ext cx="504056" cy="432048"/>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126119222"/>
              </p:ext>
            </p:extLst>
          </p:nvPr>
        </p:nvGraphicFramePr>
        <p:xfrm>
          <a:off x="3275856" y="1124744"/>
          <a:ext cx="539750" cy="488950"/>
        </p:xfrm>
        <a:graphic>
          <a:graphicData uri="http://schemas.openxmlformats.org/presentationml/2006/ole">
            <mc:AlternateContent xmlns:mc="http://schemas.openxmlformats.org/markup-compatibility/2006">
              <mc:Choice xmlns:v="urn:schemas-microsoft-com:vml" Requires="v">
                <p:oleObj spid="_x0000_s71178" name="公式" r:id="rId6" imgW="202936" imgH="177569" progId="Equation.3">
                  <p:embed/>
                </p:oleObj>
              </mc:Choice>
              <mc:Fallback>
                <p:oleObj name="公式" r:id="rId6" imgW="202936" imgH="177569" progId="Equation.3">
                  <p:embed/>
                  <p:pic>
                    <p:nvPicPr>
                      <p:cNvPr id="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856" y="1124744"/>
                        <a:ext cx="539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609950116"/>
              </p:ext>
            </p:extLst>
          </p:nvPr>
        </p:nvGraphicFramePr>
        <p:xfrm>
          <a:off x="3275856" y="2132856"/>
          <a:ext cx="539750" cy="476250"/>
        </p:xfrm>
        <a:graphic>
          <a:graphicData uri="http://schemas.openxmlformats.org/presentationml/2006/ole">
            <mc:AlternateContent xmlns:mc="http://schemas.openxmlformats.org/markup-compatibility/2006">
              <mc:Choice xmlns:v="urn:schemas-microsoft-com:vml" Requires="v">
                <p:oleObj spid="_x0000_s71179" name="公式" r:id="rId8" imgW="215619" imgH="215619" progId="Equation.3">
                  <p:embed/>
                </p:oleObj>
              </mc:Choice>
              <mc:Fallback>
                <p:oleObj name="公式" r:id="rId8" imgW="215619" imgH="215619" progId="Equation.3">
                  <p:embed/>
                  <p:pic>
                    <p:nvPicPr>
                      <p:cNvPr id="0"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5856" y="2132856"/>
                        <a:ext cx="539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04908334"/>
              </p:ext>
            </p:extLst>
          </p:nvPr>
        </p:nvGraphicFramePr>
        <p:xfrm>
          <a:off x="755576" y="4869160"/>
          <a:ext cx="504056" cy="432048"/>
        </p:xfrm>
        <a:graphic>
          <a:graphicData uri="http://schemas.openxmlformats.org/presentationml/2006/ole">
            <mc:AlternateContent xmlns:mc="http://schemas.openxmlformats.org/markup-compatibility/2006">
              <mc:Choice xmlns:v="urn:schemas-microsoft-com:vml" Requires="v">
                <p:oleObj spid="_x0000_s71180" name="公式" r:id="rId10" imgW="177646" imgH="139579" progId="Equation.3">
                  <p:embed/>
                </p:oleObj>
              </mc:Choice>
              <mc:Fallback>
                <p:oleObj name="公式" r:id="rId10" imgW="177646" imgH="13957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4869160"/>
                        <a:ext cx="504056" cy="43204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45241329"/>
              </p:ext>
            </p:extLst>
          </p:nvPr>
        </p:nvGraphicFramePr>
        <p:xfrm>
          <a:off x="2339752" y="4869160"/>
          <a:ext cx="504056" cy="432048"/>
        </p:xfrm>
        <a:graphic>
          <a:graphicData uri="http://schemas.openxmlformats.org/presentationml/2006/ole">
            <mc:AlternateContent xmlns:mc="http://schemas.openxmlformats.org/markup-compatibility/2006">
              <mc:Choice xmlns:v="urn:schemas-microsoft-com:vml" Requires="v">
                <p:oleObj spid="_x0000_s71181" name="公式" r:id="rId11" imgW="177646" imgH="139579" progId="Equation.3">
                  <p:embed/>
                </p:oleObj>
              </mc:Choice>
              <mc:Fallback>
                <p:oleObj name="公式" r:id="rId11" imgW="177646" imgH="13957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4869160"/>
                        <a:ext cx="504056" cy="432048"/>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345241329"/>
              </p:ext>
            </p:extLst>
          </p:nvPr>
        </p:nvGraphicFramePr>
        <p:xfrm>
          <a:off x="3923928" y="4869160"/>
          <a:ext cx="504056" cy="432048"/>
        </p:xfrm>
        <a:graphic>
          <a:graphicData uri="http://schemas.openxmlformats.org/presentationml/2006/ole">
            <mc:AlternateContent xmlns:mc="http://schemas.openxmlformats.org/markup-compatibility/2006">
              <mc:Choice xmlns:v="urn:schemas-microsoft-com:vml" Requires="v">
                <p:oleObj spid="_x0000_s71182" name="公式" r:id="rId12" imgW="177646" imgH="139579" progId="Equation.3">
                  <p:embed/>
                </p:oleObj>
              </mc:Choice>
              <mc:Fallback>
                <p:oleObj name="公式" r:id="rId12" imgW="177646" imgH="13957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928" y="4869160"/>
                        <a:ext cx="504056" cy="432048"/>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788413035"/>
              </p:ext>
            </p:extLst>
          </p:nvPr>
        </p:nvGraphicFramePr>
        <p:xfrm>
          <a:off x="1187624" y="5301208"/>
          <a:ext cx="468312" cy="476250"/>
        </p:xfrm>
        <a:graphic>
          <a:graphicData uri="http://schemas.openxmlformats.org/presentationml/2006/ole">
            <mc:AlternateContent xmlns:mc="http://schemas.openxmlformats.org/markup-compatibility/2006">
              <mc:Choice xmlns:v="urn:schemas-microsoft-com:vml" Requires="v">
                <p:oleObj spid="_x0000_s71183" name="公式" r:id="rId13" imgW="114201" imgH="139579" progId="Equation.3">
                  <p:embed/>
                </p:oleObj>
              </mc:Choice>
              <mc:Fallback>
                <p:oleObj name="公式" r:id="rId13" imgW="114201" imgH="139579" progId="Equation.3">
                  <p:embed/>
                  <p:pic>
                    <p:nvPicPr>
                      <p:cNvPr id="0" name="对象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7624" y="5301208"/>
                        <a:ext cx="468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295907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6.3.1  Armstrong</a:t>
            </a:r>
            <a:r>
              <a:rPr lang="zh-CN" altLang="zh-CN" dirty="0"/>
              <a:t>公理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45</a:t>
            </a:fld>
            <a:endParaRPr lang="zh-CN" altLang="en-US" dirty="0"/>
          </a:p>
        </p:txBody>
      </p:sp>
      <p:sp>
        <p:nvSpPr>
          <p:cNvPr id="7" name="文本占位符 6"/>
          <p:cNvSpPr>
            <a:spLocks noGrp="1"/>
          </p:cNvSpPr>
          <p:nvPr>
            <p:ph type="body" idx="1"/>
          </p:nvPr>
        </p:nvSpPr>
        <p:spPr>
          <a:xfrm>
            <a:off x="179512" y="620688"/>
            <a:ext cx="8784976" cy="5688632"/>
          </a:xfrm>
        </p:spPr>
        <p:txBody>
          <a:bodyPr>
            <a:normAutofit/>
          </a:bodyPr>
          <a:lstStyle/>
          <a:p>
            <a:pPr marL="0" indent="0">
              <a:buNone/>
            </a:pPr>
            <a:r>
              <a:rPr lang="en-US" altLang="zh-CN" sz="2000" dirty="0"/>
              <a:t>Armstrong</a:t>
            </a:r>
            <a:r>
              <a:rPr lang="zh-CN" altLang="zh-CN" sz="2000" dirty="0"/>
              <a:t>公理是由</a:t>
            </a:r>
            <a:r>
              <a:rPr lang="en-US" altLang="zh-CN" sz="2000" dirty="0" err="1"/>
              <a:t>W.W.Armstrong</a:t>
            </a:r>
            <a:r>
              <a:rPr lang="zh-CN" altLang="zh-CN" sz="2000" dirty="0"/>
              <a:t>于</a:t>
            </a:r>
            <a:r>
              <a:rPr lang="en-US" altLang="zh-CN" sz="2000" dirty="0"/>
              <a:t>1974</a:t>
            </a:r>
            <a:r>
              <a:rPr lang="zh-CN" altLang="zh-CN" sz="2000" dirty="0"/>
              <a:t>提出的，具体内容如下：</a:t>
            </a:r>
          </a:p>
          <a:p>
            <a:r>
              <a:rPr lang="en-US" altLang="zh-CN" sz="2000" dirty="0">
                <a:solidFill>
                  <a:srgbClr val="0000FF"/>
                </a:solidFill>
              </a:rPr>
              <a:t>Armstrong</a:t>
            </a:r>
            <a:r>
              <a:rPr lang="zh-CN" altLang="zh-CN" sz="2000" dirty="0">
                <a:solidFill>
                  <a:srgbClr val="0000FF"/>
                </a:solidFill>
              </a:rPr>
              <a:t>公理</a:t>
            </a:r>
            <a:r>
              <a:rPr lang="en-US" altLang="zh-CN" sz="2000" dirty="0">
                <a:solidFill>
                  <a:srgbClr val="0000FF"/>
                </a:solidFill>
              </a:rPr>
              <a:t>  </a:t>
            </a:r>
            <a:r>
              <a:rPr lang="zh-CN" altLang="zh-CN" sz="2000" dirty="0"/>
              <a:t>关系模式</a:t>
            </a:r>
            <a:r>
              <a:rPr lang="en-US" altLang="zh-CN" sz="2000" dirty="0"/>
              <a:t>R(U,F)</a:t>
            </a:r>
            <a:r>
              <a:rPr lang="zh-CN" altLang="zh-CN" sz="2000" dirty="0"/>
              <a:t>∈</a:t>
            </a:r>
            <a:r>
              <a:rPr lang="en-US" altLang="zh-CN" sz="2000" dirty="0"/>
              <a:t>1NF</a:t>
            </a:r>
            <a:r>
              <a:rPr lang="zh-CN" altLang="zh-CN" sz="2000" dirty="0"/>
              <a:t>，如果</a:t>
            </a:r>
            <a:r>
              <a:rPr lang="en-US" altLang="zh-CN" sz="2000" dirty="0"/>
              <a:t>W</a:t>
            </a:r>
            <a:r>
              <a:rPr lang="zh-CN" altLang="zh-CN" sz="2000" dirty="0"/>
              <a:t>，</a:t>
            </a:r>
            <a:r>
              <a:rPr lang="en-US" altLang="zh-CN" sz="2000" dirty="0"/>
              <a:t>X</a:t>
            </a:r>
            <a:r>
              <a:rPr lang="zh-CN" altLang="zh-CN" sz="2000" dirty="0"/>
              <a:t>，</a:t>
            </a:r>
            <a:r>
              <a:rPr lang="en-US" altLang="zh-CN" sz="2000" dirty="0"/>
              <a:t>Y</a:t>
            </a:r>
            <a:r>
              <a:rPr lang="zh-CN" altLang="zh-CN" sz="2000" dirty="0"/>
              <a:t>，</a:t>
            </a:r>
            <a:r>
              <a:rPr lang="en-US" altLang="zh-CN" sz="2000" dirty="0" smtClean="0"/>
              <a:t>Z </a:t>
            </a:r>
            <a:r>
              <a:rPr lang="en-US" altLang="zh-CN" sz="2000" dirty="0" smtClean="0">
                <a:sym typeface="Symbol"/>
              </a:rPr>
              <a:t></a:t>
            </a:r>
            <a:r>
              <a:rPr lang="en-US" altLang="zh-CN" sz="2000" dirty="0" smtClean="0"/>
              <a:t> </a:t>
            </a:r>
            <a:r>
              <a:rPr lang="en-US" altLang="zh-CN" sz="2000" dirty="0"/>
              <a:t>U</a:t>
            </a:r>
            <a:r>
              <a:rPr lang="zh-CN" altLang="zh-CN" sz="2000" dirty="0"/>
              <a:t>，则成立：</a:t>
            </a:r>
          </a:p>
          <a:p>
            <a:pPr marL="0" indent="0">
              <a:buNone/>
            </a:pPr>
            <a:r>
              <a:rPr lang="zh-CN" altLang="zh-CN" sz="2000" dirty="0"/>
              <a:t>（</a:t>
            </a:r>
            <a:r>
              <a:rPr lang="en-US" altLang="zh-CN" sz="2000" dirty="0"/>
              <a:t>1</a:t>
            </a:r>
            <a:r>
              <a:rPr lang="zh-CN" altLang="zh-CN" sz="2000" dirty="0"/>
              <a:t>）自反律：如果</a:t>
            </a:r>
            <a:r>
              <a:rPr lang="en-US" altLang="zh-CN" sz="2000" dirty="0" smtClean="0"/>
              <a:t>Y</a:t>
            </a:r>
            <a:r>
              <a:rPr lang="en-US" altLang="zh-CN" sz="2000" dirty="0">
                <a:sym typeface="Symbol"/>
              </a:rPr>
              <a:t>  </a:t>
            </a:r>
            <a:r>
              <a:rPr lang="en-US" altLang="zh-CN" sz="2000" dirty="0" smtClean="0"/>
              <a:t>X</a:t>
            </a:r>
            <a:r>
              <a:rPr lang="zh-CN" altLang="zh-CN" sz="2000" dirty="0"/>
              <a:t>，则</a:t>
            </a:r>
            <a:r>
              <a:rPr lang="en-US" altLang="zh-CN" sz="2000" dirty="0"/>
              <a:t>X</a:t>
            </a:r>
            <a:r>
              <a:rPr lang="zh-CN" altLang="zh-CN" sz="2000" dirty="0"/>
              <a:t>→</a:t>
            </a:r>
            <a:r>
              <a:rPr lang="en-US" altLang="zh-CN" sz="2000" dirty="0"/>
              <a:t>Y</a:t>
            </a:r>
            <a:r>
              <a:rPr lang="zh-CN" altLang="zh-CN" sz="2000" dirty="0"/>
              <a:t>。</a:t>
            </a:r>
          </a:p>
          <a:p>
            <a:pPr marL="0" indent="0">
              <a:buNone/>
            </a:pPr>
            <a:r>
              <a:rPr lang="zh-CN" altLang="zh-CN" sz="2000" dirty="0"/>
              <a:t>（</a:t>
            </a:r>
            <a:r>
              <a:rPr lang="en-US" altLang="zh-CN" sz="2000" dirty="0"/>
              <a:t>2</a:t>
            </a:r>
            <a:r>
              <a:rPr lang="zh-CN" altLang="zh-CN" sz="2000" dirty="0"/>
              <a:t>）增广律：如果</a:t>
            </a:r>
            <a:r>
              <a:rPr lang="en-US" altLang="zh-CN" sz="2000" dirty="0"/>
              <a:t>X</a:t>
            </a:r>
            <a:r>
              <a:rPr lang="zh-CN" altLang="zh-CN" sz="2000" dirty="0"/>
              <a:t>→</a:t>
            </a:r>
            <a:r>
              <a:rPr lang="en-US" altLang="zh-CN" sz="2000" dirty="0"/>
              <a:t>Y</a:t>
            </a:r>
            <a:r>
              <a:rPr lang="zh-CN" altLang="zh-CN" sz="2000" dirty="0"/>
              <a:t>，则</a:t>
            </a:r>
            <a:r>
              <a:rPr lang="en-US" altLang="zh-CN" sz="2000" dirty="0"/>
              <a:t>XZ</a:t>
            </a:r>
            <a:r>
              <a:rPr lang="zh-CN" altLang="zh-CN" sz="2000" dirty="0"/>
              <a:t>→</a:t>
            </a:r>
            <a:r>
              <a:rPr lang="en-US" altLang="zh-CN" sz="2000" dirty="0"/>
              <a:t>YZ</a:t>
            </a:r>
            <a:r>
              <a:rPr lang="zh-CN" altLang="zh-CN" sz="2000" dirty="0"/>
              <a:t>。</a:t>
            </a:r>
          </a:p>
          <a:p>
            <a:pPr marL="0" indent="0">
              <a:buNone/>
            </a:pPr>
            <a:r>
              <a:rPr lang="zh-CN" altLang="zh-CN" sz="2000" dirty="0"/>
              <a:t>（</a:t>
            </a:r>
            <a:r>
              <a:rPr lang="en-US" altLang="zh-CN" sz="2000" dirty="0"/>
              <a:t>3</a:t>
            </a:r>
            <a:r>
              <a:rPr lang="zh-CN" altLang="zh-CN" sz="2000" dirty="0"/>
              <a:t>）传递律：如果</a:t>
            </a:r>
            <a:r>
              <a:rPr lang="en-US" altLang="zh-CN" sz="2000" dirty="0"/>
              <a:t>X</a:t>
            </a:r>
            <a:r>
              <a:rPr lang="zh-CN" altLang="zh-CN" sz="2000" dirty="0"/>
              <a:t>→</a:t>
            </a:r>
            <a:r>
              <a:rPr lang="en-US" altLang="zh-CN" sz="2000" dirty="0"/>
              <a:t>Y</a:t>
            </a:r>
            <a:r>
              <a:rPr lang="zh-CN" altLang="zh-CN" sz="2000" dirty="0"/>
              <a:t>，</a:t>
            </a:r>
            <a:r>
              <a:rPr lang="en-US" altLang="zh-CN" sz="2000" dirty="0"/>
              <a:t>Y</a:t>
            </a:r>
            <a:r>
              <a:rPr lang="zh-CN" altLang="zh-CN" sz="2000" dirty="0"/>
              <a:t>→</a:t>
            </a:r>
            <a:r>
              <a:rPr lang="en-US" altLang="zh-CN" sz="2000" dirty="0"/>
              <a:t>Z</a:t>
            </a:r>
            <a:r>
              <a:rPr lang="zh-CN" altLang="zh-CN" sz="2000" dirty="0"/>
              <a:t>，则</a:t>
            </a:r>
            <a:r>
              <a:rPr lang="en-US" altLang="zh-CN" sz="2000" dirty="0"/>
              <a:t>X</a:t>
            </a:r>
            <a:r>
              <a:rPr lang="zh-CN" altLang="zh-CN" sz="2000" dirty="0"/>
              <a:t>→</a:t>
            </a:r>
            <a:r>
              <a:rPr lang="en-US" altLang="zh-CN" sz="2000" dirty="0"/>
              <a:t>Z</a:t>
            </a:r>
            <a:r>
              <a:rPr lang="zh-CN" altLang="zh-CN" sz="2000" dirty="0"/>
              <a:t>。</a:t>
            </a:r>
          </a:p>
          <a:p>
            <a:r>
              <a:rPr lang="en-US" altLang="zh-CN" sz="2000" dirty="0">
                <a:solidFill>
                  <a:srgbClr val="0000FF"/>
                </a:solidFill>
              </a:rPr>
              <a:t>Armstrong</a:t>
            </a:r>
            <a:r>
              <a:rPr lang="zh-CN" altLang="zh-CN" sz="2000" dirty="0">
                <a:solidFill>
                  <a:srgbClr val="0000FF"/>
                </a:solidFill>
              </a:rPr>
              <a:t>公理的推广规则</a:t>
            </a:r>
            <a:r>
              <a:rPr lang="zh-CN" altLang="zh-CN" sz="2000" dirty="0"/>
              <a:t>：</a:t>
            </a:r>
          </a:p>
          <a:p>
            <a:pPr marL="0" indent="0">
              <a:buNone/>
            </a:pPr>
            <a:r>
              <a:rPr lang="zh-CN" altLang="zh-CN" sz="2000" dirty="0"/>
              <a:t>（</a:t>
            </a:r>
            <a:r>
              <a:rPr lang="en-US" altLang="zh-CN" sz="2000" dirty="0"/>
              <a:t>1</a:t>
            </a:r>
            <a:r>
              <a:rPr lang="zh-CN" altLang="zh-CN" sz="2000" dirty="0"/>
              <a:t>）合并律：如果</a:t>
            </a:r>
            <a:r>
              <a:rPr lang="en-US" altLang="zh-CN" sz="2000" dirty="0"/>
              <a:t>X</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Z</a:t>
            </a:r>
            <a:r>
              <a:rPr lang="zh-CN" altLang="zh-CN" sz="2000" dirty="0"/>
              <a:t>，则</a:t>
            </a:r>
            <a:r>
              <a:rPr lang="en-US" altLang="zh-CN" sz="2000" dirty="0"/>
              <a:t>X</a:t>
            </a:r>
            <a:r>
              <a:rPr lang="zh-CN" altLang="zh-CN" sz="2000" dirty="0"/>
              <a:t>→</a:t>
            </a:r>
            <a:r>
              <a:rPr lang="en-US" altLang="zh-CN" sz="2000" dirty="0"/>
              <a:t>YZ</a:t>
            </a:r>
            <a:r>
              <a:rPr lang="zh-CN" altLang="zh-CN" sz="2000" dirty="0"/>
              <a:t>。</a:t>
            </a:r>
          </a:p>
          <a:p>
            <a:pPr marL="0" indent="0">
              <a:buNone/>
            </a:pPr>
            <a:r>
              <a:rPr lang="zh-CN" altLang="zh-CN" sz="2000" dirty="0"/>
              <a:t>（</a:t>
            </a:r>
            <a:r>
              <a:rPr lang="en-US" altLang="zh-CN" sz="2000" dirty="0"/>
              <a:t>2</a:t>
            </a:r>
            <a:r>
              <a:rPr lang="zh-CN" altLang="zh-CN" sz="2000" dirty="0"/>
              <a:t>）分解律：如果</a:t>
            </a:r>
            <a:r>
              <a:rPr lang="en-US" altLang="zh-CN" sz="2000" dirty="0"/>
              <a:t>X</a:t>
            </a:r>
            <a:r>
              <a:rPr lang="zh-CN" altLang="zh-CN" sz="2000" dirty="0"/>
              <a:t>→</a:t>
            </a:r>
            <a:r>
              <a:rPr lang="en-US" altLang="zh-CN" sz="2000" dirty="0"/>
              <a:t>YZ</a:t>
            </a:r>
            <a:r>
              <a:rPr lang="zh-CN" altLang="zh-CN" sz="2000" dirty="0"/>
              <a:t>，则</a:t>
            </a:r>
            <a:r>
              <a:rPr lang="en-US" altLang="zh-CN" sz="2000" dirty="0"/>
              <a:t>X</a:t>
            </a:r>
            <a:r>
              <a:rPr lang="zh-CN" altLang="zh-CN" sz="2000" dirty="0"/>
              <a:t>→</a:t>
            </a:r>
            <a:r>
              <a:rPr lang="en-US" altLang="zh-CN" sz="2000" dirty="0"/>
              <a:t>Y</a:t>
            </a:r>
            <a:r>
              <a:rPr lang="zh-CN" altLang="zh-CN" sz="2000" dirty="0"/>
              <a:t>，</a:t>
            </a:r>
            <a:r>
              <a:rPr lang="en-US" altLang="zh-CN" sz="2000" dirty="0"/>
              <a:t>X</a:t>
            </a:r>
            <a:r>
              <a:rPr lang="zh-CN" altLang="zh-CN" sz="2000" dirty="0"/>
              <a:t>→</a:t>
            </a:r>
            <a:r>
              <a:rPr lang="en-US" altLang="zh-CN" sz="2000" dirty="0"/>
              <a:t>Z</a:t>
            </a:r>
            <a:r>
              <a:rPr lang="zh-CN" altLang="zh-CN" sz="2000" dirty="0"/>
              <a:t>。</a:t>
            </a:r>
          </a:p>
          <a:p>
            <a:pPr marL="0" indent="0">
              <a:buNone/>
            </a:pPr>
            <a:r>
              <a:rPr lang="zh-CN" altLang="zh-CN" sz="2000" dirty="0"/>
              <a:t>（</a:t>
            </a:r>
            <a:r>
              <a:rPr lang="en-US" altLang="zh-CN" sz="2000" dirty="0"/>
              <a:t>3</a:t>
            </a:r>
            <a:r>
              <a:rPr lang="zh-CN" altLang="zh-CN" sz="2000" dirty="0"/>
              <a:t>）伪传递：如果</a:t>
            </a:r>
            <a:r>
              <a:rPr lang="en-US" altLang="zh-CN" sz="2000" dirty="0"/>
              <a:t>X</a:t>
            </a:r>
            <a:r>
              <a:rPr lang="zh-CN" altLang="zh-CN" sz="2000" dirty="0"/>
              <a:t>→</a:t>
            </a:r>
            <a:r>
              <a:rPr lang="en-US" altLang="zh-CN" sz="2000" dirty="0"/>
              <a:t>Y</a:t>
            </a:r>
            <a:r>
              <a:rPr lang="zh-CN" altLang="zh-CN" sz="2000" dirty="0"/>
              <a:t>，</a:t>
            </a:r>
            <a:r>
              <a:rPr lang="en-US" altLang="zh-CN" sz="2000" dirty="0"/>
              <a:t>YW</a:t>
            </a:r>
            <a:r>
              <a:rPr lang="zh-CN" altLang="zh-CN" sz="2000" dirty="0"/>
              <a:t>→</a:t>
            </a:r>
            <a:r>
              <a:rPr lang="en-US" altLang="zh-CN" sz="2000" dirty="0"/>
              <a:t>Z</a:t>
            </a:r>
            <a:r>
              <a:rPr lang="zh-CN" altLang="zh-CN" sz="2000" dirty="0"/>
              <a:t>，则有</a:t>
            </a:r>
            <a:r>
              <a:rPr lang="en-US" altLang="zh-CN" sz="2000" dirty="0"/>
              <a:t>XW</a:t>
            </a:r>
            <a:r>
              <a:rPr lang="zh-CN" altLang="zh-CN" sz="2000" dirty="0"/>
              <a:t>→</a:t>
            </a:r>
            <a:r>
              <a:rPr lang="en-US" altLang="zh-CN" sz="2000" dirty="0"/>
              <a:t>Z</a:t>
            </a:r>
            <a:r>
              <a:rPr lang="zh-CN" altLang="zh-CN" sz="2000" dirty="0"/>
              <a:t>。</a:t>
            </a:r>
          </a:p>
          <a:p>
            <a:r>
              <a:rPr lang="zh-CN" altLang="zh-CN" sz="2000" dirty="0"/>
              <a:t>根据分解律和合并律，不难证明，推论</a:t>
            </a:r>
            <a:r>
              <a:rPr lang="en-US" altLang="zh-CN" sz="2000" dirty="0"/>
              <a:t>6.1</a:t>
            </a:r>
            <a:r>
              <a:rPr lang="zh-CN" altLang="zh-CN" sz="2000" dirty="0"/>
              <a:t>和推论</a:t>
            </a:r>
            <a:r>
              <a:rPr lang="en-US" altLang="zh-CN" sz="2000" dirty="0"/>
              <a:t>6.2</a:t>
            </a:r>
            <a:r>
              <a:rPr lang="zh-CN" altLang="zh-CN" sz="2000" dirty="0"/>
              <a:t>成立。</a:t>
            </a:r>
          </a:p>
          <a:p>
            <a:r>
              <a:rPr lang="zh-CN" altLang="zh-CN" sz="2000" dirty="0">
                <a:solidFill>
                  <a:srgbClr val="0000FF"/>
                </a:solidFill>
              </a:rPr>
              <a:t>推论</a:t>
            </a:r>
            <a:r>
              <a:rPr lang="en-US" altLang="zh-CN" sz="2000" dirty="0">
                <a:solidFill>
                  <a:srgbClr val="0000FF"/>
                </a:solidFill>
              </a:rPr>
              <a:t>6.l  </a:t>
            </a:r>
            <a:r>
              <a:rPr lang="en-US" altLang="zh-CN" sz="2000" dirty="0"/>
              <a:t>X</a:t>
            </a:r>
            <a:r>
              <a:rPr lang="zh-CN" altLang="zh-CN" sz="2000" dirty="0"/>
              <a:t>→</a:t>
            </a:r>
            <a:r>
              <a:rPr lang="en-US" altLang="zh-CN" sz="2000" dirty="0"/>
              <a:t>A</a:t>
            </a:r>
            <a:r>
              <a:rPr lang="en-US" altLang="zh-CN" sz="2000" baseline="-25000" dirty="0"/>
              <a:t>1</a:t>
            </a:r>
            <a:r>
              <a:rPr lang="en-US" altLang="zh-CN" sz="2000" dirty="0"/>
              <a:t>A</a:t>
            </a:r>
            <a:r>
              <a:rPr lang="en-US" altLang="zh-CN" sz="2000" baseline="-25000" dirty="0"/>
              <a:t>2</a:t>
            </a:r>
            <a:r>
              <a:rPr lang="en-US" altLang="zh-CN" sz="2000" dirty="0"/>
              <a:t>…</a:t>
            </a:r>
            <a:r>
              <a:rPr lang="en-US" altLang="zh-CN" sz="2000" dirty="0" err="1"/>
              <a:t>A</a:t>
            </a:r>
            <a:r>
              <a:rPr lang="en-US" altLang="zh-CN" sz="2000" baseline="-25000" dirty="0" err="1"/>
              <a:t>k</a:t>
            </a:r>
            <a:r>
              <a:rPr lang="zh-CN" altLang="zh-CN" sz="2000" dirty="0"/>
              <a:t>当且仅当</a:t>
            </a:r>
            <a:r>
              <a:rPr lang="en-US" altLang="zh-CN" sz="2000" dirty="0"/>
              <a:t>X</a:t>
            </a:r>
            <a:r>
              <a:rPr lang="zh-CN" altLang="zh-CN" sz="2000" dirty="0"/>
              <a:t>→</a:t>
            </a:r>
            <a:r>
              <a:rPr lang="en-US" altLang="zh-CN" sz="2000" dirty="0"/>
              <a:t>A</a:t>
            </a:r>
            <a:r>
              <a:rPr lang="en-US" altLang="zh-CN" sz="2000" baseline="-25000" dirty="0"/>
              <a:t>i</a:t>
            </a:r>
            <a:r>
              <a:rPr lang="en-US" altLang="zh-CN" sz="2000" dirty="0"/>
              <a:t>(i=l,2,…,k)</a:t>
            </a:r>
            <a:r>
              <a:rPr lang="zh-CN" altLang="zh-CN" sz="2000" dirty="0"/>
              <a:t>。</a:t>
            </a:r>
          </a:p>
          <a:p>
            <a:r>
              <a:rPr lang="zh-CN" altLang="zh-CN" sz="2000" dirty="0">
                <a:solidFill>
                  <a:srgbClr val="0000FF"/>
                </a:solidFill>
              </a:rPr>
              <a:t>推论</a:t>
            </a:r>
            <a:r>
              <a:rPr lang="en-US" altLang="zh-CN" sz="2000" dirty="0">
                <a:solidFill>
                  <a:srgbClr val="0000FF"/>
                </a:solidFill>
              </a:rPr>
              <a:t>6.2  </a:t>
            </a:r>
            <a:r>
              <a:rPr lang="en-US" altLang="zh-CN" sz="2000" dirty="0"/>
              <a:t>Armstrong</a:t>
            </a:r>
            <a:r>
              <a:rPr lang="zh-CN" altLang="zh-CN" sz="2000" dirty="0"/>
              <a:t>公理是封闭的。</a:t>
            </a:r>
          </a:p>
        </p:txBody>
      </p:sp>
    </p:spTree>
    <p:extLst>
      <p:ext uri="{BB962C8B-B14F-4D97-AF65-F5344CB8AC3E}">
        <p14:creationId xmlns:p14="http://schemas.microsoft.com/office/powerpoint/2010/main" val="27745891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6.3.2  </a:t>
            </a:r>
            <a:r>
              <a:rPr lang="zh-CN" altLang="zh-CN" dirty="0"/>
              <a:t>函数依赖集闭包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46</a:t>
            </a:fld>
            <a:endParaRPr lang="zh-CN" altLang="en-US" dirty="0"/>
          </a:p>
        </p:txBody>
      </p:sp>
      <p:sp>
        <p:nvSpPr>
          <p:cNvPr id="7" name="文本占位符 6"/>
          <p:cNvSpPr>
            <a:spLocks noGrp="1"/>
          </p:cNvSpPr>
          <p:nvPr>
            <p:ph type="body" idx="1"/>
          </p:nvPr>
        </p:nvSpPr>
        <p:spPr>
          <a:xfrm>
            <a:off x="107504" y="620688"/>
            <a:ext cx="8928992" cy="2520280"/>
          </a:xfrm>
        </p:spPr>
        <p:txBody>
          <a:bodyPr>
            <a:normAutofit/>
          </a:bodyPr>
          <a:lstStyle/>
          <a:p>
            <a:r>
              <a:rPr lang="zh-CN" altLang="zh-CN" sz="2000" dirty="0">
                <a:solidFill>
                  <a:srgbClr val="0000FF"/>
                </a:solidFill>
              </a:rPr>
              <a:t>定义</a:t>
            </a:r>
            <a:r>
              <a:rPr lang="en-US" altLang="zh-CN" sz="2000" dirty="0">
                <a:solidFill>
                  <a:srgbClr val="0000FF"/>
                </a:solidFill>
              </a:rPr>
              <a:t>6.13  </a:t>
            </a:r>
            <a:r>
              <a:rPr lang="zh-CN" altLang="zh-CN" sz="2000" dirty="0"/>
              <a:t>函数依赖集闭包是指在关系模式</a:t>
            </a:r>
            <a:r>
              <a:rPr lang="en-US" altLang="zh-CN" sz="2000" dirty="0"/>
              <a:t>R(U,F)</a:t>
            </a:r>
            <a:r>
              <a:rPr lang="zh-CN" altLang="zh-CN" sz="2000" dirty="0"/>
              <a:t>中，</a:t>
            </a:r>
            <a:r>
              <a:rPr lang="en-US" altLang="zh-CN" sz="2000" dirty="0"/>
              <a:t>F</a:t>
            </a:r>
            <a:r>
              <a:rPr lang="zh-CN" altLang="zh-CN" sz="2000" dirty="0"/>
              <a:t>所逻辑蕴含的所有函数依赖的集合。记为</a:t>
            </a:r>
            <a:r>
              <a:rPr lang="zh-CN" altLang="zh-CN" sz="2000" dirty="0" smtClean="0"/>
              <a:t>：</a:t>
            </a:r>
            <a:r>
              <a:rPr lang="en-US" altLang="zh-CN" sz="2000" dirty="0" smtClean="0"/>
              <a:t>           </a:t>
            </a:r>
            <a:endParaRPr lang="zh-CN" altLang="zh-CN" sz="2000" dirty="0"/>
          </a:p>
          <a:p>
            <a:pPr marL="360363" indent="0">
              <a:buNone/>
            </a:pPr>
            <a:r>
              <a:rPr lang="zh-CN" altLang="zh-CN" sz="2000" dirty="0">
                <a:solidFill>
                  <a:srgbClr val="0000FF"/>
                </a:solidFill>
              </a:rPr>
              <a:t>显然成立</a:t>
            </a:r>
            <a:r>
              <a:rPr lang="zh-CN" altLang="zh-CN" sz="2000" dirty="0"/>
              <a:t>：</a:t>
            </a:r>
            <a:r>
              <a:rPr lang="en-US" altLang="zh-CN" sz="2000" dirty="0"/>
              <a:t> </a:t>
            </a:r>
            <a:r>
              <a:rPr lang="en-US" altLang="zh-CN" sz="2000" dirty="0" smtClean="0"/>
              <a:t>           ={ </a:t>
            </a:r>
            <a:r>
              <a:rPr lang="en-US" altLang="zh-CN" sz="2000" dirty="0"/>
              <a:t>X</a:t>
            </a:r>
            <a:r>
              <a:rPr lang="zh-CN" altLang="zh-CN" sz="2000" dirty="0"/>
              <a:t>→</a:t>
            </a:r>
            <a:r>
              <a:rPr lang="en-US" altLang="zh-CN" sz="2000" dirty="0"/>
              <a:t>Y | F X</a:t>
            </a:r>
            <a:r>
              <a:rPr lang="zh-CN" altLang="zh-CN" sz="2000" dirty="0"/>
              <a:t>→</a:t>
            </a:r>
            <a:r>
              <a:rPr lang="en-US" altLang="zh-CN" sz="2000" dirty="0"/>
              <a:t>Y}</a:t>
            </a:r>
            <a:r>
              <a:rPr lang="zh-CN" altLang="zh-CN" sz="2000" dirty="0"/>
              <a:t>。</a:t>
            </a:r>
          </a:p>
          <a:p>
            <a:r>
              <a:rPr lang="zh-CN" altLang="zh-CN" sz="2000" dirty="0">
                <a:solidFill>
                  <a:srgbClr val="0000FF"/>
                </a:solidFill>
              </a:rPr>
              <a:t>例</a:t>
            </a:r>
            <a:r>
              <a:rPr lang="en-US" altLang="zh-CN" sz="2000" dirty="0">
                <a:solidFill>
                  <a:srgbClr val="0000FF"/>
                </a:solidFill>
              </a:rPr>
              <a:t>6.13  </a:t>
            </a:r>
            <a:r>
              <a:rPr lang="zh-CN" altLang="zh-CN" sz="2000" dirty="0"/>
              <a:t>对于</a:t>
            </a:r>
            <a:r>
              <a:rPr lang="en-US" altLang="zh-CN" sz="2000" dirty="0"/>
              <a:t>R</a:t>
            </a:r>
            <a:r>
              <a:rPr lang="zh-CN" altLang="zh-CN" sz="2000" dirty="0"/>
              <a:t>（</a:t>
            </a:r>
            <a:r>
              <a:rPr lang="en-US" altLang="zh-CN" sz="2000" dirty="0"/>
              <a:t>X</a:t>
            </a:r>
            <a:r>
              <a:rPr lang="zh-CN" altLang="zh-CN" sz="2000" dirty="0"/>
              <a:t>，</a:t>
            </a:r>
            <a:r>
              <a:rPr lang="en-US" altLang="zh-CN" sz="2000" dirty="0"/>
              <a:t>Y</a:t>
            </a:r>
            <a:r>
              <a:rPr lang="zh-CN" altLang="zh-CN" sz="2000" dirty="0"/>
              <a:t>，</a:t>
            </a:r>
            <a:r>
              <a:rPr lang="en-US" altLang="zh-CN" sz="2000" dirty="0"/>
              <a:t>Z</a:t>
            </a:r>
            <a:r>
              <a:rPr lang="zh-CN" altLang="zh-CN" sz="2000" dirty="0"/>
              <a:t>）∈</a:t>
            </a:r>
            <a:r>
              <a:rPr lang="en-US" altLang="zh-CN" sz="2000" dirty="0"/>
              <a:t>1NF</a:t>
            </a:r>
            <a:r>
              <a:rPr lang="zh-CN" altLang="zh-CN" sz="2000" dirty="0"/>
              <a:t>，如果</a:t>
            </a:r>
            <a:r>
              <a:rPr lang="en-US" altLang="zh-CN" sz="2000" dirty="0"/>
              <a:t>F={X</a:t>
            </a:r>
            <a:r>
              <a:rPr lang="zh-CN" altLang="zh-CN" sz="2000" dirty="0"/>
              <a:t>→</a:t>
            </a:r>
            <a:r>
              <a:rPr lang="en-US" altLang="zh-CN" sz="2000" dirty="0"/>
              <a:t>Y,Y</a:t>
            </a:r>
            <a:r>
              <a:rPr lang="zh-CN" altLang="zh-CN" sz="2000" dirty="0"/>
              <a:t>→</a:t>
            </a:r>
            <a:r>
              <a:rPr lang="en-US" altLang="zh-CN" sz="2000" dirty="0"/>
              <a:t>Z}</a:t>
            </a:r>
            <a:r>
              <a:rPr lang="zh-CN" altLang="zh-CN" sz="2000" dirty="0"/>
              <a:t>，</a:t>
            </a:r>
            <a:r>
              <a:rPr lang="zh-CN" altLang="zh-CN" sz="2000" dirty="0" smtClean="0"/>
              <a:t>计算</a:t>
            </a:r>
            <a:endParaRPr lang="zh-CN" altLang="zh-CN" sz="2000" dirty="0"/>
          </a:p>
          <a:p>
            <a:pPr marL="360363" indent="0">
              <a:buNone/>
            </a:pPr>
            <a:r>
              <a:rPr lang="zh-CN" altLang="zh-CN" sz="2000" dirty="0"/>
              <a:t>根据定义</a:t>
            </a:r>
            <a:r>
              <a:rPr lang="en-US" altLang="zh-CN" sz="2000" dirty="0"/>
              <a:t>6.12</a:t>
            </a:r>
            <a:r>
              <a:rPr lang="zh-CN" altLang="zh-CN" sz="2000" dirty="0"/>
              <a:t>和定义</a:t>
            </a:r>
            <a:r>
              <a:rPr lang="en-US" altLang="zh-CN" sz="2000" dirty="0"/>
              <a:t>6.13</a:t>
            </a:r>
            <a:r>
              <a:rPr lang="zh-CN" altLang="zh-CN" sz="2000" dirty="0"/>
              <a:t>，则不难导出</a:t>
            </a:r>
            <a:r>
              <a:rPr lang="en-US" altLang="zh-CN" sz="2000" dirty="0"/>
              <a:t> </a:t>
            </a:r>
            <a:r>
              <a:rPr lang="zh-CN" altLang="zh-CN" sz="2000" dirty="0"/>
              <a:t>中的所有</a:t>
            </a:r>
            <a:r>
              <a:rPr lang="en-US" altLang="zh-CN" sz="2000" dirty="0"/>
              <a:t>43</a:t>
            </a:r>
            <a:r>
              <a:rPr lang="zh-CN" altLang="zh-CN" sz="2000" dirty="0"/>
              <a:t>个函数依赖。即</a:t>
            </a:r>
            <a:r>
              <a:rPr lang="zh-CN" altLang="zh-CN" sz="2000" dirty="0" smtClean="0"/>
              <a:t>：</a:t>
            </a:r>
            <a:endParaRPr lang="zh-CN" altLang="zh-CN" sz="2000" dirty="0"/>
          </a:p>
        </p:txBody>
      </p:sp>
      <p:graphicFrame>
        <p:nvGraphicFramePr>
          <p:cNvPr id="3" name="表格 2"/>
          <p:cNvGraphicFramePr>
            <a:graphicFrameLocks noGrp="1"/>
          </p:cNvGraphicFramePr>
          <p:nvPr>
            <p:extLst>
              <p:ext uri="{D42A27DB-BD31-4B8C-83A1-F6EECF244321}">
                <p14:modId xmlns:p14="http://schemas.microsoft.com/office/powerpoint/2010/main" val="353799940"/>
              </p:ext>
            </p:extLst>
          </p:nvPr>
        </p:nvGraphicFramePr>
        <p:xfrm>
          <a:off x="179512" y="3068960"/>
          <a:ext cx="8640961" cy="3168353"/>
        </p:xfrm>
        <a:graphic>
          <a:graphicData uri="http://schemas.openxmlformats.org/drawingml/2006/table">
            <a:tbl>
              <a:tblPr firstRow="1" firstCol="1" lastRow="1" lastCol="1" bandRow="1" bandCol="1">
                <a:tableStyleId>{5C22544A-7EE6-4342-B048-85BDC9FD1C3A}</a:tableStyleId>
              </a:tblPr>
              <a:tblGrid>
                <a:gridCol w="1104345"/>
                <a:gridCol w="920288"/>
                <a:gridCol w="1074030"/>
                <a:gridCol w="1075113"/>
                <a:gridCol w="1135743"/>
                <a:gridCol w="1166059"/>
                <a:gridCol w="920288"/>
                <a:gridCol w="1245095"/>
              </a:tblGrid>
              <a:tr h="274302">
                <a:tc>
                  <a:txBody>
                    <a:bodyPr/>
                    <a:lstStyle/>
                    <a:p>
                      <a:pPr indent="127000" algn="just">
                        <a:lnSpc>
                          <a:spcPts val="1800"/>
                        </a:lnSpc>
                        <a:spcAft>
                          <a:spcPts val="0"/>
                        </a:spcAft>
                      </a:pPr>
                      <a:r>
                        <a:rPr lang="en-US" sz="1400" kern="100" dirty="0">
                          <a:effectLst/>
                          <a:latin typeface="微软雅黑" pitchFamily="34" charset="-122"/>
                          <a:ea typeface="微软雅黑" pitchFamily="34" charset="-122"/>
                        </a:rPr>
                        <a:t>{X</a:t>
                      </a:r>
                      <a:r>
                        <a:rPr lang="zh-CN" sz="1400" kern="100" dirty="0">
                          <a:effectLst/>
                          <a:latin typeface="微软雅黑" pitchFamily="34" charset="-122"/>
                          <a:ea typeface="微软雅黑" pitchFamily="34" charset="-122"/>
                        </a:rPr>
                        <a:t>→</a:t>
                      </a:r>
                      <a:r>
                        <a:rPr lang="en-US" sz="1400" kern="100" dirty="0">
                          <a:effectLst/>
                          <a:latin typeface="微软雅黑" pitchFamily="34" charset="-122"/>
                          <a:ea typeface="微软雅黑" pitchFamily="34" charset="-122"/>
                          <a:sym typeface="Symbol"/>
                        </a:rPr>
                        <a:t></a:t>
                      </a:r>
                      <a:r>
                        <a:rPr lang="en-US" sz="1400" kern="100" dirty="0">
                          <a:effectLst/>
                          <a:latin typeface="微软雅黑" pitchFamily="34" charset="-122"/>
                          <a:ea typeface="微软雅黑" pitchFamily="34" charset="-122"/>
                        </a:rPr>
                        <a:t>,</a:t>
                      </a:r>
                      <a:endParaRPr lang="zh-CN" sz="1400" kern="100" dirty="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XZ,</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YZ,</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X</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XYZ,</a:t>
                      </a:r>
                      <a:endParaRPr lang="zh-CN" sz="1400" kern="100">
                        <a:effectLst/>
                        <a:latin typeface="微软雅黑" pitchFamily="34" charset="-122"/>
                        <a:ea typeface="微软雅黑" pitchFamily="34" charset="-122"/>
                      </a:endParaRPr>
                    </a:p>
                  </a:txBody>
                  <a:tcPr marL="68580" marR="68580" marT="0" marB="0" anchor="ctr"/>
                </a:tc>
              </a:tr>
              <a:tr h="274302">
                <a:tc>
                  <a:txBody>
                    <a:bodyPr/>
                    <a:lstStyle/>
                    <a:p>
                      <a:pPr indent="127000" algn="just">
                        <a:lnSpc>
                          <a:spcPts val="1800"/>
                        </a:lnSpc>
                        <a:spcAft>
                          <a:spcPts val="0"/>
                        </a:spcAft>
                      </a:pPr>
                      <a:r>
                        <a:rPr lang="en-US" sz="1400" kern="100">
                          <a:effectLst/>
                          <a:latin typeface="微软雅黑" pitchFamily="34" charset="-122"/>
                          <a:ea typeface="微软雅黑" pitchFamily="34" charset="-122"/>
                        </a:rPr>
                        <a:t> 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YZ,</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r>
              <a:tr h="314006">
                <a:tc>
                  <a:txBody>
                    <a:bodyPr/>
                    <a:lstStyle/>
                    <a:p>
                      <a:pPr indent="127000" algn="just">
                        <a:lnSpc>
                          <a:spcPts val="1800"/>
                        </a:lnSpc>
                        <a:spcAft>
                          <a:spcPts val="0"/>
                        </a:spcAft>
                      </a:pPr>
                      <a:r>
                        <a:rPr lang="en-US" sz="1400" kern="100">
                          <a:effectLst/>
                          <a:latin typeface="微软雅黑" pitchFamily="34" charset="-122"/>
                          <a:ea typeface="微软雅黑" pitchFamily="34" charset="-122"/>
                        </a:rPr>
                        <a:t> 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r>
              <a:tr h="585713">
                <a:tc>
                  <a:txBody>
                    <a:bodyPr/>
                    <a:lstStyle/>
                    <a:p>
                      <a:pPr indent="127000" algn="just">
                        <a:lnSpc>
                          <a:spcPts val="1800"/>
                        </a:lnSpc>
                        <a:spcAft>
                          <a:spcPts val="0"/>
                        </a:spcAft>
                      </a:pPr>
                      <a:r>
                        <a:rPr lang="en-US" sz="1400" kern="100">
                          <a:effectLst/>
                          <a:latin typeface="微软雅黑" pitchFamily="34" charset="-122"/>
                          <a:ea typeface="微软雅黑" pitchFamily="34" charset="-122"/>
                        </a:rPr>
                        <a:t> 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YZ,</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XZ,</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XY</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XYZ,</a:t>
                      </a:r>
                      <a:endParaRPr lang="zh-CN" sz="1400" kern="100">
                        <a:effectLst/>
                        <a:latin typeface="微软雅黑" pitchFamily="34" charset="-122"/>
                        <a:ea typeface="微软雅黑" pitchFamily="34" charset="-122"/>
                      </a:endParaRPr>
                    </a:p>
                  </a:txBody>
                  <a:tcPr marL="68580" marR="68580" marT="0" marB="0" anchor="ctr"/>
                </a:tc>
              </a:tr>
              <a:tr h="585713">
                <a:tc>
                  <a:txBody>
                    <a:bodyPr/>
                    <a:lstStyle/>
                    <a:p>
                      <a:pPr indent="127000" algn="just">
                        <a:lnSpc>
                          <a:spcPts val="1800"/>
                        </a:lnSpc>
                        <a:spcAft>
                          <a:spcPts val="0"/>
                        </a:spcAft>
                      </a:pPr>
                      <a:r>
                        <a:rPr lang="en-US" sz="1400" kern="100">
                          <a:effectLst/>
                          <a:latin typeface="微软雅黑" pitchFamily="34" charset="-122"/>
                          <a:ea typeface="微软雅黑" pitchFamily="34" charset="-122"/>
                        </a:rPr>
                        <a:t> 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XZ,</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XZ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XYZ,</a:t>
                      </a:r>
                      <a:endParaRPr lang="zh-CN" sz="1400" kern="100">
                        <a:effectLst/>
                        <a:latin typeface="微软雅黑" pitchFamily="34" charset="-122"/>
                        <a:ea typeface="微软雅黑" pitchFamily="34" charset="-122"/>
                      </a:endParaRPr>
                    </a:p>
                  </a:txBody>
                  <a:tcPr marL="68580" marR="68580" marT="0" marB="0" anchor="ctr"/>
                </a:tc>
              </a:tr>
              <a:tr h="274302">
                <a:tc>
                  <a:txBody>
                    <a:bodyPr/>
                    <a:lstStyle/>
                    <a:p>
                      <a:pPr indent="127000" algn="just">
                        <a:lnSpc>
                          <a:spcPts val="1800"/>
                        </a:lnSpc>
                        <a:spcAft>
                          <a:spcPts val="0"/>
                        </a:spcAft>
                      </a:pPr>
                      <a:r>
                        <a:rPr lang="en-US" sz="1400" kern="100">
                          <a:effectLst/>
                          <a:latin typeface="微软雅黑" pitchFamily="34" charset="-122"/>
                          <a:ea typeface="微软雅黑" pitchFamily="34" charset="-122"/>
                        </a:rPr>
                        <a:t> 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YZ,</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r>
              <a:tr h="585713">
                <a:tc>
                  <a:txBody>
                    <a:bodyPr/>
                    <a:lstStyle/>
                    <a:p>
                      <a:pPr indent="127000" algn="just">
                        <a:lnSpc>
                          <a:spcPts val="1800"/>
                        </a:lnSpc>
                        <a:spcAft>
                          <a:spcPts val="0"/>
                        </a:spcAft>
                      </a:pPr>
                      <a:r>
                        <a:rPr lang="en-US" sz="1400" kern="100">
                          <a:effectLst/>
                          <a:latin typeface="微软雅黑" pitchFamily="34" charset="-122"/>
                          <a:ea typeface="微软雅黑" pitchFamily="34" charset="-122"/>
                        </a:rPr>
                        <a:t> 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Y,</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Z,</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dirty="0">
                          <a:effectLst/>
                          <a:latin typeface="微软雅黑" pitchFamily="34" charset="-122"/>
                          <a:ea typeface="微软雅黑" pitchFamily="34" charset="-122"/>
                        </a:rPr>
                        <a:t>XYZ</a:t>
                      </a:r>
                      <a:r>
                        <a:rPr lang="zh-CN" sz="1400" kern="100" dirty="0">
                          <a:effectLst/>
                          <a:latin typeface="微软雅黑" pitchFamily="34" charset="-122"/>
                          <a:ea typeface="微软雅黑" pitchFamily="34" charset="-122"/>
                        </a:rPr>
                        <a:t>→</a:t>
                      </a:r>
                      <a:r>
                        <a:rPr lang="en-US" sz="1400" kern="100" dirty="0">
                          <a:effectLst/>
                          <a:latin typeface="微软雅黑" pitchFamily="34" charset="-122"/>
                          <a:ea typeface="微软雅黑" pitchFamily="34" charset="-122"/>
                        </a:rPr>
                        <a:t>YZ,</a:t>
                      </a:r>
                      <a:endParaRPr lang="zh-CN" sz="1400" kern="100" dirty="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XZ,</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a:effectLst/>
                          <a:latin typeface="微软雅黑" pitchFamily="34" charset="-122"/>
                          <a:ea typeface="微软雅黑" pitchFamily="34" charset="-122"/>
                        </a:rPr>
                        <a:t>XYZ</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rPr>
                        <a:t>XYZ,</a:t>
                      </a:r>
                      <a:endParaRPr lang="zh-CN" sz="1400" kern="100">
                        <a:effectLst/>
                        <a:latin typeface="微软雅黑" pitchFamily="34" charset="-122"/>
                        <a:ea typeface="微软雅黑" pitchFamily="34" charset="-122"/>
                      </a:endParaRPr>
                    </a:p>
                  </a:txBody>
                  <a:tcPr marL="68580" marR="68580" marT="0" marB="0" anchor="ctr"/>
                </a:tc>
              </a:tr>
              <a:tr h="274302">
                <a:tc>
                  <a:txBody>
                    <a:bodyPr/>
                    <a:lstStyle/>
                    <a:p>
                      <a:pPr indent="38735" algn="just">
                        <a:lnSpc>
                          <a:spcPts val="1800"/>
                        </a:lnSpc>
                        <a:spcAft>
                          <a:spcPts val="0"/>
                        </a:spcAft>
                      </a:pPr>
                      <a:r>
                        <a:rPr lang="en-US" sz="1400" kern="100">
                          <a:effectLst/>
                          <a:latin typeface="微软雅黑" pitchFamily="34" charset="-122"/>
                          <a:ea typeface="微软雅黑" pitchFamily="34" charset="-122"/>
                          <a:sym typeface="Symbol"/>
                        </a:rPr>
                        <a:t></a:t>
                      </a:r>
                      <a:r>
                        <a:rPr lang="zh-CN" sz="1400" kern="100">
                          <a:effectLst/>
                          <a:latin typeface="微软雅黑" pitchFamily="34" charset="-122"/>
                          <a:ea typeface="微软雅黑" pitchFamily="34" charset="-122"/>
                        </a:rPr>
                        <a:t>→</a:t>
                      </a:r>
                      <a:r>
                        <a:rPr lang="en-US" sz="1400" kern="100">
                          <a:effectLst/>
                          <a:latin typeface="微软雅黑" pitchFamily="34" charset="-122"/>
                          <a:ea typeface="微软雅黑" pitchFamily="34" charset="-122"/>
                          <a:sym typeface="Symbol"/>
                        </a:rPr>
                        <a:t></a:t>
                      </a:r>
                      <a:r>
                        <a:rPr lang="en-US" sz="1400" kern="100">
                          <a:effectLst/>
                          <a:latin typeface="微软雅黑" pitchFamily="34" charset="-122"/>
                          <a:ea typeface="微软雅黑" pitchFamily="34" charset="-122"/>
                        </a:rPr>
                        <a:t>}</a:t>
                      </a:r>
                      <a:endParaRPr lang="zh-CN" sz="1400" kern="100">
                        <a:effectLst/>
                        <a:latin typeface="微软雅黑" pitchFamily="34" charset="-122"/>
                        <a:ea typeface="微软雅黑" pitchFamily="34" charset="-122"/>
                      </a:endParaRPr>
                    </a:p>
                  </a:txBody>
                  <a:tcPr marL="68580" marR="68580" marT="0" marB="0" anchor="ctr"/>
                </a:tc>
                <a:tc>
                  <a:txBody>
                    <a:bodyPr/>
                    <a:lstStyle/>
                    <a:p>
                      <a:pPr indent="-1968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825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1460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15875"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59690" algn="just">
                        <a:lnSpc>
                          <a:spcPts val="1800"/>
                        </a:lnSpc>
                        <a:spcAft>
                          <a:spcPts val="0"/>
                        </a:spcAft>
                      </a:pPr>
                      <a:r>
                        <a:rPr lang="en-US" sz="1400" kern="100">
                          <a:effectLst/>
                          <a:latin typeface="微软雅黑" pitchFamily="34" charset="-122"/>
                          <a:ea typeface="微软雅黑" pitchFamily="34" charset="-122"/>
                        </a:rPr>
                        <a:t> </a:t>
                      </a:r>
                      <a:endParaRPr lang="zh-CN" sz="1400" kern="100">
                        <a:effectLst/>
                        <a:latin typeface="微软雅黑" pitchFamily="34" charset="-122"/>
                        <a:ea typeface="微软雅黑" pitchFamily="34" charset="-122"/>
                      </a:endParaRPr>
                    </a:p>
                  </a:txBody>
                  <a:tcPr marL="68580" marR="68580" marT="0" marB="0" anchor="ctr"/>
                </a:tc>
                <a:tc>
                  <a:txBody>
                    <a:bodyPr/>
                    <a:lstStyle/>
                    <a:p>
                      <a:pPr indent="41275" algn="just">
                        <a:lnSpc>
                          <a:spcPts val="1800"/>
                        </a:lnSpc>
                        <a:spcAft>
                          <a:spcPts val="0"/>
                        </a:spcAft>
                      </a:pPr>
                      <a:r>
                        <a:rPr lang="en-US" sz="1400" kern="100" dirty="0">
                          <a:effectLst/>
                          <a:latin typeface="微软雅黑" pitchFamily="34" charset="-122"/>
                          <a:ea typeface="微软雅黑" pitchFamily="34" charset="-122"/>
                        </a:rPr>
                        <a:t> </a:t>
                      </a:r>
                      <a:endParaRPr lang="zh-CN" sz="1400" kern="100" dirty="0">
                        <a:effectLst/>
                        <a:latin typeface="微软雅黑" pitchFamily="34" charset="-122"/>
                        <a:ea typeface="微软雅黑" pitchFamily="34" charset="-122"/>
                      </a:endParaRPr>
                    </a:p>
                  </a:txBody>
                  <a:tcPr marL="68580" marR="68580" marT="0" marB="0" anchor="ctr"/>
                </a:tc>
              </a:tr>
            </a:tbl>
          </a:graphicData>
        </a:graphic>
      </p:graphicFrame>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1614101686"/>
              </p:ext>
            </p:extLst>
          </p:nvPr>
        </p:nvGraphicFramePr>
        <p:xfrm>
          <a:off x="3203848" y="1052736"/>
          <a:ext cx="539552" cy="488166"/>
        </p:xfrm>
        <a:graphic>
          <a:graphicData uri="http://schemas.openxmlformats.org/presentationml/2006/ole">
            <mc:AlternateContent xmlns:mc="http://schemas.openxmlformats.org/markup-compatibility/2006">
              <mc:Choice xmlns:v="urn:schemas-microsoft-com:vml" Requires="v">
                <p:oleObj spid="_x0000_s19082" name="公式" r:id="rId3" imgW="202936" imgH="177569" progId="Equation.3">
                  <p:embed/>
                </p:oleObj>
              </mc:Choice>
              <mc:Fallback>
                <p:oleObj name="公式" r:id="rId3" imgW="202936" imgH="17756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1052736"/>
                        <a:ext cx="539552" cy="488166"/>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44201485"/>
              </p:ext>
            </p:extLst>
          </p:nvPr>
        </p:nvGraphicFramePr>
        <p:xfrm>
          <a:off x="2051720" y="1556792"/>
          <a:ext cx="539552" cy="488166"/>
        </p:xfrm>
        <a:graphic>
          <a:graphicData uri="http://schemas.openxmlformats.org/presentationml/2006/ole">
            <mc:AlternateContent xmlns:mc="http://schemas.openxmlformats.org/markup-compatibility/2006">
              <mc:Choice xmlns:v="urn:schemas-microsoft-com:vml" Requires="v">
                <p:oleObj spid="_x0000_s19083" name="公式" r:id="rId5" imgW="202936" imgH="177569" progId="Equation.3">
                  <p:embed/>
                </p:oleObj>
              </mc:Choice>
              <mc:Fallback>
                <p:oleObj name="公式" r:id="rId5" imgW="202936"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1556792"/>
                        <a:ext cx="539552" cy="488166"/>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44201485"/>
              </p:ext>
            </p:extLst>
          </p:nvPr>
        </p:nvGraphicFramePr>
        <p:xfrm>
          <a:off x="7668344" y="1988840"/>
          <a:ext cx="539552" cy="488166"/>
        </p:xfrm>
        <a:graphic>
          <a:graphicData uri="http://schemas.openxmlformats.org/presentationml/2006/ole">
            <mc:AlternateContent xmlns:mc="http://schemas.openxmlformats.org/markup-compatibility/2006">
              <mc:Choice xmlns:v="urn:schemas-microsoft-com:vml" Requires="v">
                <p:oleObj spid="_x0000_s19084" name="公式" r:id="rId6" imgW="202936" imgH="177569" progId="Equation.3">
                  <p:embed/>
                </p:oleObj>
              </mc:Choice>
              <mc:Fallback>
                <p:oleObj name="公式" r:id="rId6" imgW="202936"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8344" y="1988840"/>
                        <a:ext cx="539552" cy="488166"/>
                      </a:xfrm>
                      <a:prstGeom prst="rect">
                        <a:avLst/>
                      </a:prstGeom>
                      <a:noFill/>
                    </p:spPr>
                  </p:pic>
                </p:oleObj>
              </mc:Fallback>
            </mc:AlternateContent>
          </a:graphicData>
        </a:graphic>
      </p:graphicFrame>
    </p:spTree>
    <p:extLst>
      <p:ext uri="{BB962C8B-B14F-4D97-AF65-F5344CB8AC3E}">
        <p14:creationId xmlns:p14="http://schemas.microsoft.com/office/powerpoint/2010/main" val="41443837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6.3.2  </a:t>
            </a:r>
            <a:r>
              <a:rPr lang="zh-CN" altLang="zh-CN" dirty="0"/>
              <a:t>函数依赖集闭包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47</a:t>
            </a:fld>
            <a:endParaRPr lang="zh-CN" altLang="en-US" dirty="0"/>
          </a:p>
        </p:txBody>
      </p:sp>
      <p:sp>
        <p:nvSpPr>
          <p:cNvPr id="3" name="文本占位符 2"/>
          <p:cNvSpPr>
            <a:spLocks noGrp="1"/>
          </p:cNvSpPr>
          <p:nvPr>
            <p:ph type="body" idx="1"/>
          </p:nvPr>
        </p:nvSpPr>
        <p:spPr/>
        <p:txBody>
          <a:bodyPr/>
          <a:lstStyle/>
          <a:p>
            <a:r>
              <a:rPr lang="zh-CN" altLang="zh-CN" dirty="0"/>
              <a:t>根据上述例题不难看出，</a:t>
            </a:r>
            <a:r>
              <a:rPr lang="en-US" altLang="zh-CN" dirty="0"/>
              <a:t> </a:t>
            </a:r>
            <a:r>
              <a:rPr lang="en-US" altLang="zh-CN" dirty="0" smtClean="0"/>
              <a:t>   </a:t>
            </a:r>
            <a:r>
              <a:rPr lang="zh-CN" altLang="zh-CN" dirty="0" smtClean="0"/>
              <a:t>中</a:t>
            </a:r>
            <a:r>
              <a:rPr lang="zh-CN" altLang="zh-CN" dirty="0"/>
              <a:t>包含了大量的平凡依赖；而且计算</a:t>
            </a:r>
            <a:r>
              <a:rPr lang="en-US" altLang="zh-CN" dirty="0"/>
              <a:t> </a:t>
            </a:r>
            <a:r>
              <a:rPr lang="en-US" altLang="zh-CN" dirty="0" smtClean="0"/>
              <a:t>     </a:t>
            </a:r>
            <a:r>
              <a:rPr lang="zh-CN" altLang="zh-CN" dirty="0" smtClean="0"/>
              <a:t>是</a:t>
            </a:r>
            <a:r>
              <a:rPr lang="zh-CN" altLang="zh-CN" dirty="0"/>
              <a:t>一个</a:t>
            </a:r>
            <a:r>
              <a:rPr lang="en-US" altLang="zh-CN" dirty="0"/>
              <a:t>NP-Hard </a:t>
            </a:r>
            <a:r>
              <a:rPr lang="zh-CN" altLang="zh-CN" dirty="0"/>
              <a:t>问题（</a:t>
            </a:r>
            <a:r>
              <a:rPr lang="en-US" altLang="zh-CN" dirty="0"/>
              <a:t>Non-Polynomial Hard Problem</a:t>
            </a:r>
            <a:r>
              <a:rPr lang="zh-CN" altLang="zh-CN" dirty="0"/>
              <a:t>，非多项式时间困难问题</a:t>
            </a:r>
            <a:r>
              <a:rPr lang="zh-CN" altLang="zh-CN" dirty="0" smtClean="0"/>
              <a:t>）</a:t>
            </a:r>
            <a:endParaRPr lang="en-US" altLang="zh-CN" dirty="0" smtClean="0"/>
          </a:p>
          <a:p>
            <a:r>
              <a:rPr lang="en-US" altLang="zh-CN" dirty="0" smtClean="0"/>
              <a:t>      </a:t>
            </a:r>
            <a:r>
              <a:rPr lang="zh-CN" altLang="en-US" dirty="0" smtClean="0"/>
              <a:t>的</a:t>
            </a:r>
            <a:r>
              <a:rPr lang="zh-CN" altLang="zh-CN" dirty="0" smtClean="0">
                <a:solidFill>
                  <a:srgbClr val="0000FF"/>
                </a:solidFill>
              </a:rPr>
              <a:t>计算</a:t>
            </a:r>
            <a:r>
              <a:rPr lang="zh-CN" altLang="zh-CN" dirty="0">
                <a:solidFill>
                  <a:srgbClr val="0000FF"/>
                </a:solidFill>
              </a:rPr>
              <a:t>复杂</a:t>
            </a:r>
            <a:r>
              <a:rPr lang="zh-CN" altLang="zh-CN" dirty="0" smtClean="0">
                <a:solidFill>
                  <a:srgbClr val="0000FF"/>
                </a:solidFill>
              </a:rPr>
              <a:t>度</a:t>
            </a:r>
            <a:r>
              <a:rPr lang="zh-CN" altLang="zh-CN" dirty="0" smtClean="0"/>
              <a:t>：</a:t>
            </a:r>
            <a:r>
              <a:rPr lang="en-US" altLang="zh-CN" dirty="0"/>
              <a:t>O(2</a:t>
            </a:r>
            <a:r>
              <a:rPr lang="en-US" altLang="zh-CN" baseline="30000" dirty="0"/>
              <a:t>n</a:t>
            </a:r>
            <a:r>
              <a:rPr lang="en-US" altLang="zh-CN" dirty="0"/>
              <a:t>)</a:t>
            </a:r>
            <a:r>
              <a:rPr lang="zh-CN" altLang="zh-CN" dirty="0" smtClean="0"/>
              <a:t>。</a:t>
            </a:r>
            <a:endParaRPr lang="zh-CN" altLang="en-US" dirty="0"/>
          </a:p>
        </p:txBody>
      </p:sp>
      <p:graphicFrame>
        <p:nvGraphicFramePr>
          <p:cNvPr id="9" name="对象 8"/>
          <p:cNvGraphicFramePr>
            <a:graphicFrameLocks noChangeAspect="1"/>
          </p:cNvGraphicFramePr>
          <p:nvPr>
            <p:extLst>
              <p:ext uri="{D42A27DB-BD31-4B8C-83A1-F6EECF244321}">
                <p14:modId xmlns:p14="http://schemas.microsoft.com/office/powerpoint/2010/main" val="2518347779"/>
              </p:ext>
            </p:extLst>
          </p:nvPr>
        </p:nvGraphicFramePr>
        <p:xfrm>
          <a:off x="1835696" y="1556792"/>
          <a:ext cx="539750" cy="487362"/>
        </p:xfrm>
        <a:graphic>
          <a:graphicData uri="http://schemas.openxmlformats.org/presentationml/2006/ole">
            <mc:AlternateContent xmlns:mc="http://schemas.openxmlformats.org/markup-compatibility/2006">
              <mc:Choice xmlns:v="urn:schemas-microsoft-com:vml" Requires="v">
                <p:oleObj spid="_x0000_s20102" name="公式" r:id="rId3" imgW="202936" imgH="177569" progId="Equation.3">
                  <p:embed/>
                </p:oleObj>
              </mc:Choice>
              <mc:Fallback>
                <p:oleObj name="公式" r:id="rId3" imgW="202936" imgH="177569" progId="Equation.3">
                  <p:embed/>
                  <p:pic>
                    <p:nvPicPr>
                      <p:cNvPr id="0"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1556792"/>
                        <a:ext cx="5397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96077465"/>
              </p:ext>
            </p:extLst>
          </p:nvPr>
        </p:nvGraphicFramePr>
        <p:xfrm>
          <a:off x="4139952" y="1124744"/>
          <a:ext cx="539750" cy="487362"/>
        </p:xfrm>
        <a:graphic>
          <a:graphicData uri="http://schemas.openxmlformats.org/presentationml/2006/ole">
            <mc:AlternateContent xmlns:mc="http://schemas.openxmlformats.org/markup-compatibility/2006">
              <mc:Choice xmlns:v="urn:schemas-microsoft-com:vml" Requires="v">
                <p:oleObj spid="_x0000_s20103" name="公式" r:id="rId5" imgW="202936" imgH="177569" progId="Equation.3">
                  <p:embed/>
                </p:oleObj>
              </mc:Choice>
              <mc:Fallback>
                <p:oleObj name="公式" r:id="rId5" imgW="202936"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1124744"/>
                        <a:ext cx="5397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96077465"/>
              </p:ext>
            </p:extLst>
          </p:nvPr>
        </p:nvGraphicFramePr>
        <p:xfrm>
          <a:off x="899592" y="2492896"/>
          <a:ext cx="539750" cy="487362"/>
        </p:xfrm>
        <a:graphic>
          <a:graphicData uri="http://schemas.openxmlformats.org/presentationml/2006/ole">
            <mc:AlternateContent xmlns:mc="http://schemas.openxmlformats.org/markup-compatibility/2006">
              <mc:Choice xmlns:v="urn:schemas-microsoft-com:vml" Requires="v">
                <p:oleObj spid="_x0000_s20104" name="公式" r:id="rId6" imgW="202936" imgH="177569" progId="Equation.3">
                  <p:embed/>
                </p:oleObj>
              </mc:Choice>
              <mc:Fallback>
                <p:oleObj name="公式" r:id="rId6" imgW="202936"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2492896"/>
                        <a:ext cx="53975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471798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6.3.3  </a:t>
            </a:r>
            <a:r>
              <a:rPr lang="zh-CN" altLang="zh-CN" dirty="0"/>
              <a:t>属性集闭包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48</a:t>
            </a:fld>
            <a:endParaRPr lang="zh-CN" altLang="en-US" dirty="0"/>
          </a:p>
        </p:txBody>
      </p:sp>
      <p:sp>
        <p:nvSpPr>
          <p:cNvPr id="7" name="文本占位符 6"/>
          <p:cNvSpPr>
            <a:spLocks noGrp="1"/>
          </p:cNvSpPr>
          <p:nvPr>
            <p:ph type="body" idx="1"/>
          </p:nvPr>
        </p:nvSpPr>
        <p:spPr>
          <a:xfrm>
            <a:off x="107504" y="620688"/>
            <a:ext cx="8856984" cy="5688632"/>
          </a:xfrm>
        </p:spPr>
        <p:txBody>
          <a:bodyPr>
            <a:normAutofit/>
          </a:bodyPr>
          <a:lstStyle/>
          <a:p>
            <a:r>
              <a:rPr lang="zh-CN" altLang="zh-CN" sz="2000" dirty="0">
                <a:solidFill>
                  <a:srgbClr val="0000FF"/>
                </a:solidFill>
              </a:rPr>
              <a:t>定义</a:t>
            </a:r>
            <a:r>
              <a:rPr lang="en-US" altLang="zh-CN" sz="2000" dirty="0">
                <a:solidFill>
                  <a:srgbClr val="0000FF"/>
                </a:solidFill>
              </a:rPr>
              <a:t>6.14  </a:t>
            </a:r>
            <a:r>
              <a:rPr lang="en-US" altLang="zh-CN" sz="2000" dirty="0"/>
              <a:t>U</a:t>
            </a:r>
            <a:r>
              <a:rPr lang="zh-CN" altLang="zh-CN" sz="2000" dirty="0"/>
              <a:t>中属性集</a:t>
            </a:r>
            <a:r>
              <a:rPr lang="en-US" altLang="zh-CN" sz="2000" dirty="0"/>
              <a:t>X</a:t>
            </a:r>
            <a:r>
              <a:rPr lang="zh-CN" altLang="zh-CN" sz="2000" dirty="0"/>
              <a:t>的闭包是指在</a:t>
            </a:r>
            <a:r>
              <a:rPr lang="en-US" altLang="zh-CN" sz="2000" dirty="0"/>
              <a:t>R(U,F)</a:t>
            </a:r>
            <a:r>
              <a:rPr lang="zh-CN" altLang="zh-CN" sz="2000" dirty="0"/>
              <a:t>中</a:t>
            </a:r>
            <a:r>
              <a:rPr lang="en-US" altLang="zh-CN" sz="2000" dirty="0"/>
              <a:t>,X</a:t>
            </a:r>
            <a:r>
              <a:rPr lang="zh-CN" altLang="zh-CN" sz="2000" dirty="0"/>
              <a:t>在</a:t>
            </a:r>
            <a:r>
              <a:rPr lang="en-US" altLang="zh-CN" sz="2000" dirty="0"/>
              <a:t>F</a:t>
            </a:r>
            <a:r>
              <a:rPr lang="zh-CN" altLang="zh-CN" sz="2000" dirty="0"/>
              <a:t>下按照</a:t>
            </a:r>
            <a:r>
              <a:rPr lang="en-US" altLang="zh-CN" sz="2000" dirty="0"/>
              <a:t>Armstrong</a:t>
            </a:r>
            <a:r>
              <a:rPr lang="zh-CN" altLang="zh-CN" sz="2000" dirty="0"/>
              <a:t>公理导出的所有属性的集合。记为</a:t>
            </a:r>
            <a:r>
              <a:rPr lang="zh-CN" altLang="zh-CN" sz="2000" dirty="0" smtClean="0"/>
              <a:t>：</a:t>
            </a:r>
            <a:endParaRPr lang="zh-CN" altLang="zh-CN" sz="2000" dirty="0"/>
          </a:p>
          <a:p>
            <a:r>
              <a:rPr lang="zh-CN" altLang="zh-CN" sz="2000" dirty="0">
                <a:solidFill>
                  <a:srgbClr val="0000FF"/>
                </a:solidFill>
              </a:rPr>
              <a:t>显然成立</a:t>
            </a:r>
            <a:r>
              <a:rPr lang="zh-CN" altLang="zh-CN" sz="2000" dirty="0" smtClean="0"/>
              <a:t>：</a:t>
            </a:r>
            <a:r>
              <a:rPr lang="en-US" altLang="zh-CN" sz="2000" dirty="0" smtClean="0"/>
              <a:t>      </a:t>
            </a:r>
            <a:r>
              <a:rPr lang="en-US" altLang="zh-CN" sz="2000" dirty="0"/>
              <a:t>={ A | F </a:t>
            </a:r>
            <a:r>
              <a:rPr lang="en-US" altLang="zh-CN" sz="2000" dirty="0" smtClean="0"/>
              <a:t>       X</a:t>
            </a:r>
            <a:r>
              <a:rPr lang="zh-CN" altLang="zh-CN" sz="2000" dirty="0"/>
              <a:t>→</a:t>
            </a:r>
            <a:r>
              <a:rPr lang="en-US" altLang="zh-CN" sz="2000" dirty="0"/>
              <a:t>A }</a:t>
            </a:r>
            <a:r>
              <a:rPr lang="zh-CN" altLang="zh-CN" sz="2000" dirty="0"/>
              <a:t>；</a:t>
            </a:r>
            <a:r>
              <a:rPr lang="zh-CN" altLang="zh-CN" sz="2000" dirty="0" smtClean="0"/>
              <a:t>而且</a:t>
            </a:r>
            <a:r>
              <a:rPr lang="en-US" altLang="zh-CN" sz="2000" dirty="0" smtClean="0"/>
              <a:t>           </a:t>
            </a:r>
            <a:endParaRPr lang="zh-CN" altLang="zh-CN" sz="2000" dirty="0"/>
          </a:p>
          <a:p>
            <a:r>
              <a:rPr lang="zh-CN" altLang="zh-CN" sz="2000" dirty="0">
                <a:solidFill>
                  <a:srgbClr val="0000FF"/>
                </a:solidFill>
              </a:rPr>
              <a:t>例</a:t>
            </a:r>
            <a:r>
              <a:rPr lang="en-US" altLang="zh-CN" sz="2000" dirty="0">
                <a:solidFill>
                  <a:srgbClr val="0000FF"/>
                </a:solidFill>
              </a:rPr>
              <a:t>6.14  </a:t>
            </a:r>
            <a:r>
              <a:rPr lang="zh-CN" altLang="zh-CN" sz="2000" dirty="0"/>
              <a:t>对于</a:t>
            </a:r>
            <a:r>
              <a:rPr lang="en-US" altLang="zh-CN" sz="2000" dirty="0"/>
              <a:t>R</a:t>
            </a:r>
            <a:r>
              <a:rPr lang="zh-CN" altLang="zh-CN" sz="2000" dirty="0"/>
              <a:t>（</a:t>
            </a:r>
            <a:r>
              <a:rPr lang="en-US" altLang="zh-CN" sz="2000" dirty="0"/>
              <a:t>X</a:t>
            </a:r>
            <a:r>
              <a:rPr lang="zh-CN" altLang="zh-CN" sz="2000" dirty="0"/>
              <a:t>，</a:t>
            </a:r>
            <a:r>
              <a:rPr lang="en-US" altLang="zh-CN" sz="2000" dirty="0"/>
              <a:t>Y</a:t>
            </a:r>
            <a:r>
              <a:rPr lang="zh-CN" altLang="zh-CN" sz="2000" dirty="0"/>
              <a:t>，</a:t>
            </a:r>
            <a:r>
              <a:rPr lang="en-US" altLang="zh-CN" sz="2000" dirty="0"/>
              <a:t>Z</a:t>
            </a:r>
            <a:r>
              <a:rPr lang="zh-CN" altLang="zh-CN" sz="2000" dirty="0"/>
              <a:t>）∈</a:t>
            </a:r>
            <a:r>
              <a:rPr lang="en-US" altLang="zh-CN" sz="2000" dirty="0"/>
              <a:t>1NF</a:t>
            </a:r>
            <a:r>
              <a:rPr lang="zh-CN" altLang="zh-CN" sz="2000" dirty="0"/>
              <a:t>，如果</a:t>
            </a:r>
            <a:r>
              <a:rPr lang="en-US" altLang="zh-CN" sz="2000" dirty="0"/>
              <a:t>F={X</a:t>
            </a:r>
            <a:r>
              <a:rPr lang="zh-CN" altLang="zh-CN" sz="2000" dirty="0"/>
              <a:t>→</a:t>
            </a:r>
            <a:r>
              <a:rPr lang="en-US" altLang="zh-CN" sz="2000" dirty="0"/>
              <a:t>Y,Y</a:t>
            </a:r>
            <a:r>
              <a:rPr lang="zh-CN" altLang="zh-CN" sz="2000" dirty="0"/>
              <a:t>→</a:t>
            </a:r>
            <a:r>
              <a:rPr lang="en-US" altLang="zh-CN" sz="2000" dirty="0"/>
              <a:t>Z}</a:t>
            </a:r>
            <a:r>
              <a:rPr lang="zh-CN" altLang="zh-CN" sz="2000" dirty="0"/>
              <a:t>，</a:t>
            </a:r>
            <a:r>
              <a:rPr lang="zh-CN" altLang="zh-CN" sz="2000" dirty="0" smtClean="0"/>
              <a:t>计算</a:t>
            </a:r>
            <a:endParaRPr lang="zh-CN" altLang="zh-CN" sz="2000" dirty="0"/>
          </a:p>
          <a:p>
            <a:pPr marL="360363" indent="0">
              <a:buNone/>
            </a:pPr>
            <a:r>
              <a:rPr lang="zh-CN" altLang="zh-CN" sz="2000" dirty="0"/>
              <a:t>根据定义</a:t>
            </a:r>
            <a:r>
              <a:rPr lang="en-US" altLang="zh-CN" sz="2000" dirty="0"/>
              <a:t>6.14</a:t>
            </a:r>
            <a:r>
              <a:rPr lang="zh-CN" altLang="zh-CN" sz="2000" dirty="0"/>
              <a:t>，由于</a:t>
            </a:r>
            <a:r>
              <a:rPr lang="en-US" altLang="zh-CN" sz="2000" dirty="0"/>
              <a:t>X</a:t>
            </a:r>
            <a:r>
              <a:rPr lang="zh-CN" altLang="zh-CN" sz="2000" dirty="0"/>
              <a:t>→</a:t>
            </a:r>
            <a:r>
              <a:rPr lang="en-US" altLang="zh-CN" sz="2000" dirty="0"/>
              <a:t>Y</a:t>
            </a:r>
            <a:r>
              <a:rPr lang="zh-CN" altLang="zh-CN" sz="2000" dirty="0"/>
              <a:t>，则</a:t>
            </a:r>
            <a:r>
              <a:rPr lang="en-US" altLang="zh-CN" sz="2000" dirty="0"/>
              <a:t> </a:t>
            </a:r>
            <a:r>
              <a:rPr lang="en-US" altLang="zh-CN" sz="2000" dirty="0" smtClean="0"/>
              <a:t>     =</a:t>
            </a:r>
            <a:r>
              <a:rPr lang="en-US" altLang="zh-CN" sz="2000" dirty="0"/>
              <a:t>XY</a:t>
            </a:r>
            <a:r>
              <a:rPr lang="zh-CN" altLang="zh-CN" sz="2000" dirty="0"/>
              <a:t>；又因为</a:t>
            </a:r>
            <a:r>
              <a:rPr lang="en-US" altLang="zh-CN" sz="2000" dirty="0"/>
              <a:t>Y</a:t>
            </a:r>
            <a:r>
              <a:rPr lang="zh-CN" altLang="zh-CN" sz="2000" dirty="0"/>
              <a:t>→</a:t>
            </a:r>
            <a:r>
              <a:rPr lang="en-US" altLang="zh-CN" sz="2000" dirty="0"/>
              <a:t>Z</a:t>
            </a:r>
            <a:r>
              <a:rPr lang="zh-CN" altLang="zh-CN" sz="2000" dirty="0"/>
              <a:t>，则</a:t>
            </a:r>
            <a:r>
              <a:rPr lang="en-US" altLang="zh-CN" sz="2000" dirty="0"/>
              <a:t> </a:t>
            </a:r>
            <a:r>
              <a:rPr lang="en-US" altLang="zh-CN" sz="2000" dirty="0" smtClean="0"/>
              <a:t>      =</a:t>
            </a:r>
            <a:r>
              <a:rPr lang="en-US" altLang="zh-CN" sz="2000" dirty="0"/>
              <a:t>XYZ</a:t>
            </a:r>
            <a:r>
              <a:rPr lang="zh-CN" altLang="zh-CN" sz="2000" dirty="0"/>
              <a:t>。</a:t>
            </a:r>
          </a:p>
          <a:p>
            <a:pPr marL="360363" indent="0">
              <a:buNone/>
            </a:pPr>
            <a:r>
              <a:rPr lang="zh-CN" altLang="zh-CN" sz="2000" dirty="0"/>
              <a:t>根据例</a:t>
            </a:r>
            <a:r>
              <a:rPr lang="en-US" altLang="zh-CN" sz="2000" dirty="0"/>
              <a:t>6.14</a:t>
            </a:r>
            <a:r>
              <a:rPr lang="zh-CN" altLang="zh-CN" sz="2000" dirty="0"/>
              <a:t>不难发现，利用</a:t>
            </a:r>
            <a:r>
              <a:rPr lang="en-US" altLang="zh-CN" sz="2000" dirty="0"/>
              <a:t>Armstrong</a:t>
            </a:r>
            <a:r>
              <a:rPr lang="zh-CN" altLang="zh-CN" sz="2000" dirty="0"/>
              <a:t>公理，计算“属性集闭包”变得比较容易。</a:t>
            </a:r>
          </a:p>
          <a:p>
            <a:r>
              <a:rPr lang="zh-CN" altLang="zh-CN" sz="2000" dirty="0"/>
              <a:t>如果把计算</a:t>
            </a:r>
            <a:r>
              <a:rPr lang="en-US" altLang="zh-CN" sz="2000" dirty="0"/>
              <a:t> </a:t>
            </a:r>
            <a:r>
              <a:rPr lang="en-US" altLang="zh-CN" sz="2000" dirty="0" smtClean="0"/>
              <a:t>     </a:t>
            </a:r>
            <a:r>
              <a:rPr lang="zh-CN" altLang="zh-CN" sz="2000" dirty="0" smtClean="0"/>
              <a:t>转换</a:t>
            </a:r>
            <a:r>
              <a:rPr lang="zh-CN" altLang="zh-CN" sz="2000" dirty="0"/>
              <a:t>为</a:t>
            </a:r>
            <a:r>
              <a:rPr lang="zh-CN" altLang="zh-CN" sz="2000" dirty="0" smtClean="0"/>
              <a:t>计算</a:t>
            </a:r>
            <a:r>
              <a:rPr lang="en-US" altLang="zh-CN" sz="2000" dirty="0" smtClean="0"/>
              <a:t>       </a:t>
            </a:r>
            <a:r>
              <a:rPr lang="zh-CN" altLang="zh-CN" sz="2000" dirty="0"/>
              <a:t>，将使计算</a:t>
            </a:r>
            <a:r>
              <a:rPr lang="en-US" altLang="zh-CN" sz="2000" dirty="0"/>
              <a:t> </a:t>
            </a:r>
            <a:r>
              <a:rPr lang="en-US" altLang="zh-CN" sz="2000" dirty="0" smtClean="0"/>
              <a:t>     </a:t>
            </a:r>
            <a:r>
              <a:rPr lang="zh-CN" altLang="zh-CN" sz="2000" dirty="0" smtClean="0"/>
              <a:t>变得</a:t>
            </a:r>
            <a:r>
              <a:rPr lang="zh-CN" altLang="zh-CN" sz="2000" dirty="0"/>
              <a:t>比较方便。推论</a:t>
            </a:r>
            <a:r>
              <a:rPr lang="en-US" altLang="zh-CN" sz="2000" dirty="0"/>
              <a:t>6.3</a:t>
            </a:r>
            <a:r>
              <a:rPr lang="zh-CN" altLang="zh-CN" sz="2000" dirty="0"/>
              <a:t>解决了该问题。</a:t>
            </a:r>
          </a:p>
          <a:p>
            <a:r>
              <a:rPr lang="zh-CN" altLang="zh-CN" sz="2000" dirty="0">
                <a:solidFill>
                  <a:srgbClr val="0000FF"/>
                </a:solidFill>
              </a:rPr>
              <a:t>推论</a:t>
            </a:r>
            <a:r>
              <a:rPr lang="en-US" altLang="zh-CN" sz="2000" dirty="0">
                <a:solidFill>
                  <a:srgbClr val="0000FF"/>
                </a:solidFill>
              </a:rPr>
              <a:t>6.3   </a:t>
            </a:r>
            <a:r>
              <a:rPr lang="en-US" altLang="zh-CN" sz="2000" dirty="0"/>
              <a:t>X</a:t>
            </a:r>
            <a:r>
              <a:rPr lang="zh-CN" altLang="zh-CN" sz="2000" dirty="0"/>
              <a:t>→</a:t>
            </a:r>
            <a:r>
              <a:rPr lang="en-US" altLang="zh-CN" sz="2000" dirty="0"/>
              <a:t>Y</a:t>
            </a:r>
            <a:r>
              <a:rPr lang="zh-CN" altLang="zh-CN" sz="2000" dirty="0"/>
              <a:t>∈</a:t>
            </a:r>
            <a:r>
              <a:rPr lang="en-US" altLang="zh-CN" sz="2000" dirty="0"/>
              <a:t> </a:t>
            </a:r>
            <a:r>
              <a:rPr lang="en-US" altLang="zh-CN" sz="2000" dirty="0" smtClean="0"/>
              <a:t>        </a:t>
            </a:r>
            <a:r>
              <a:rPr lang="zh-CN" altLang="zh-CN" sz="2000" dirty="0" smtClean="0"/>
              <a:t>当且仅当</a:t>
            </a:r>
            <a:r>
              <a:rPr lang="en-US" altLang="zh-CN" sz="2000" dirty="0" smtClean="0"/>
              <a:t> Y</a:t>
            </a:r>
            <a:endParaRPr lang="zh-CN" altLang="zh-CN" sz="2000" dirty="0"/>
          </a:p>
          <a:p>
            <a:pPr marL="360363" indent="0">
              <a:buNone/>
            </a:pPr>
            <a:r>
              <a:rPr lang="zh-CN" altLang="zh-CN" sz="2000" dirty="0" smtClean="0">
                <a:solidFill>
                  <a:srgbClr val="0000FF"/>
                </a:solidFill>
              </a:rPr>
              <a:t>判定</a:t>
            </a:r>
            <a:r>
              <a:rPr lang="zh-CN" altLang="zh-CN" sz="2000" dirty="0">
                <a:solidFill>
                  <a:srgbClr val="0000FF"/>
                </a:solidFill>
              </a:rPr>
              <a:t>：</a:t>
            </a:r>
            <a:r>
              <a:rPr lang="en-US" altLang="zh-CN" sz="2000" dirty="0"/>
              <a:t>X</a:t>
            </a:r>
            <a:r>
              <a:rPr lang="zh-CN" altLang="zh-CN" sz="2000" dirty="0"/>
              <a:t>→</a:t>
            </a:r>
            <a:r>
              <a:rPr lang="en-US" altLang="zh-CN" sz="2000" dirty="0"/>
              <a:t>Y</a:t>
            </a:r>
            <a:r>
              <a:rPr lang="zh-CN" altLang="zh-CN" sz="2000" dirty="0"/>
              <a:t>∈</a:t>
            </a:r>
            <a:r>
              <a:rPr lang="en-US" altLang="zh-CN" sz="2000" dirty="0"/>
              <a:t> </a:t>
            </a:r>
            <a:r>
              <a:rPr lang="en-US" altLang="zh-CN" sz="2000" dirty="0" smtClean="0"/>
              <a:t>       </a:t>
            </a:r>
            <a:r>
              <a:rPr lang="zh-CN" altLang="zh-CN" sz="2000" dirty="0" smtClean="0"/>
              <a:t>？</a:t>
            </a:r>
            <a:r>
              <a:rPr lang="zh-CN" altLang="zh-CN" sz="2000" dirty="0"/>
              <a:t>，转化为：计算</a:t>
            </a:r>
            <a:r>
              <a:rPr lang="en-US" altLang="zh-CN" sz="2000" dirty="0"/>
              <a:t> </a:t>
            </a:r>
            <a:r>
              <a:rPr lang="en-US" altLang="zh-CN" sz="2000" dirty="0" smtClean="0"/>
              <a:t>       =</a:t>
            </a:r>
            <a:r>
              <a:rPr lang="zh-CN" altLang="zh-CN" sz="2000" dirty="0"/>
              <a:t>？和判定</a:t>
            </a:r>
            <a:r>
              <a:rPr lang="en-US" altLang="zh-CN" sz="2000" dirty="0"/>
              <a:t>Y </a:t>
            </a:r>
            <a:r>
              <a:rPr lang="en-US" altLang="zh-CN" sz="2000" dirty="0" smtClean="0"/>
              <a:t>        </a:t>
            </a:r>
            <a:r>
              <a:rPr lang="zh-CN" altLang="zh-CN" sz="2000" dirty="0" smtClean="0"/>
              <a:t>？</a:t>
            </a:r>
            <a:endParaRPr lang="zh-CN" altLang="zh-CN" sz="2000" dirty="0"/>
          </a:p>
          <a:p>
            <a:r>
              <a:rPr lang="zh-CN" altLang="zh-CN" sz="2000" dirty="0">
                <a:solidFill>
                  <a:srgbClr val="0000FF"/>
                </a:solidFill>
              </a:rPr>
              <a:t>定义</a:t>
            </a:r>
            <a:r>
              <a:rPr lang="en-US" altLang="zh-CN" sz="2000" dirty="0">
                <a:solidFill>
                  <a:srgbClr val="0000FF"/>
                </a:solidFill>
              </a:rPr>
              <a:t>6.15  </a:t>
            </a:r>
            <a:r>
              <a:rPr lang="zh-CN" altLang="zh-CN" sz="2000" dirty="0"/>
              <a:t>对于</a:t>
            </a:r>
            <a:r>
              <a:rPr lang="en-US" altLang="zh-CN" sz="2000" dirty="0"/>
              <a:t>R(U,F)</a:t>
            </a:r>
            <a:r>
              <a:rPr lang="zh-CN" altLang="zh-CN" sz="2000" dirty="0"/>
              <a:t>，如果</a:t>
            </a:r>
            <a:r>
              <a:rPr lang="en-US" altLang="zh-CN" sz="2000" dirty="0" smtClean="0"/>
              <a:t>X        </a:t>
            </a:r>
            <a:r>
              <a:rPr lang="en-US" altLang="zh-CN" sz="2000" dirty="0"/>
              <a:t>U</a:t>
            </a:r>
            <a:r>
              <a:rPr lang="zh-CN" altLang="zh-CN" sz="2000" dirty="0"/>
              <a:t>，且</a:t>
            </a:r>
            <a:r>
              <a:rPr lang="en-US" altLang="zh-CN" sz="2000" dirty="0"/>
              <a:t> </a:t>
            </a:r>
            <a:r>
              <a:rPr lang="en-US" altLang="zh-CN" sz="2000" dirty="0" smtClean="0"/>
              <a:t>        =</a:t>
            </a:r>
            <a:r>
              <a:rPr lang="en-US" altLang="zh-CN" sz="2000" dirty="0"/>
              <a:t>U</a:t>
            </a:r>
            <a:r>
              <a:rPr lang="zh-CN" altLang="zh-CN" sz="2000" dirty="0"/>
              <a:t>，则</a:t>
            </a:r>
            <a:r>
              <a:rPr lang="en-US" altLang="zh-CN" sz="2000" dirty="0"/>
              <a:t>X</a:t>
            </a:r>
            <a:r>
              <a:rPr lang="zh-CN" altLang="zh-CN" sz="2000" dirty="0"/>
              <a:t>是</a:t>
            </a:r>
            <a:r>
              <a:rPr lang="zh-CN" altLang="zh-CN" sz="2000" dirty="0">
                <a:solidFill>
                  <a:srgbClr val="0000FF"/>
                </a:solidFill>
              </a:rPr>
              <a:t>候选键</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63968429"/>
              </p:ext>
            </p:extLst>
          </p:nvPr>
        </p:nvGraphicFramePr>
        <p:xfrm>
          <a:off x="4056313" y="1124744"/>
          <a:ext cx="539750" cy="476250"/>
        </p:xfrm>
        <a:graphic>
          <a:graphicData uri="http://schemas.openxmlformats.org/presentationml/2006/ole">
            <mc:AlternateContent xmlns:mc="http://schemas.openxmlformats.org/markup-compatibility/2006">
              <mc:Choice xmlns:v="urn:schemas-microsoft-com:vml" Requires="v">
                <p:oleObj spid="_x0000_s73211" name="公式" r:id="rId3" imgW="215619" imgH="215619" progId="Equation.3">
                  <p:embed/>
                </p:oleObj>
              </mc:Choice>
              <mc:Fallback>
                <p:oleObj name="公式" r:id="rId3" imgW="215619" imgH="21561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6313" y="1124744"/>
                        <a:ext cx="539750" cy="47625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429073045"/>
              </p:ext>
            </p:extLst>
          </p:nvPr>
        </p:nvGraphicFramePr>
        <p:xfrm>
          <a:off x="1691680" y="1556792"/>
          <a:ext cx="539552" cy="476672"/>
        </p:xfrm>
        <a:graphic>
          <a:graphicData uri="http://schemas.openxmlformats.org/presentationml/2006/ole">
            <mc:AlternateContent xmlns:mc="http://schemas.openxmlformats.org/markup-compatibility/2006">
              <mc:Choice xmlns:v="urn:schemas-microsoft-com:vml" Requires="v">
                <p:oleObj spid="_x0000_s73212" name="公式" r:id="rId5" imgW="215619" imgH="215619" progId="Equation.3">
                  <p:embed/>
                </p:oleObj>
              </mc:Choice>
              <mc:Fallback>
                <p:oleObj name="公式" r:id="rId5"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556792"/>
                        <a:ext cx="539552" cy="476672"/>
                      </a:xfrm>
                      <a:prstGeom prst="rect">
                        <a:avLst/>
                      </a:prstGeom>
                      <a:noFill/>
                    </p:spPr>
                  </p:pic>
                </p:oleObj>
              </mc:Fallback>
            </mc:AlternateContent>
          </a:graphicData>
        </a:graphic>
      </p:graphicFrame>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1698551646"/>
              </p:ext>
            </p:extLst>
          </p:nvPr>
        </p:nvGraphicFramePr>
        <p:xfrm>
          <a:off x="3203848" y="1628800"/>
          <a:ext cx="467544" cy="400752"/>
        </p:xfrm>
        <a:graphic>
          <a:graphicData uri="http://schemas.openxmlformats.org/presentationml/2006/ole">
            <mc:AlternateContent xmlns:mc="http://schemas.openxmlformats.org/markup-compatibility/2006">
              <mc:Choice xmlns:v="urn:schemas-microsoft-com:vml" Requires="v">
                <p:oleObj spid="_x0000_s73213" name="公式" r:id="rId6" imgW="177646" imgH="139579" progId="Equation.3">
                  <p:embed/>
                </p:oleObj>
              </mc:Choice>
              <mc:Fallback>
                <p:oleObj name="公式" r:id="rId6" imgW="177646" imgH="13957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848" y="1628800"/>
                        <a:ext cx="467544" cy="400752"/>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380737281"/>
              </p:ext>
            </p:extLst>
          </p:nvPr>
        </p:nvGraphicFramePr>
        <p:xfrm>
          <a:off x="5546725" y="1618853"/>
          <a:ext cx="969491" cy="449660"/>
        </p:xfrm>
        <a:graphic>
          <a:graphicData uri="http://schemas.openxmlformats.org/presentationml/2006/ole">
            <mc:AlternateContent xmlns:mc="http://schemas.openxmlformats.org/markup-compatibility/2006">
              <mc:Choice xmlns:v="urn:schemas-microsoft-com:vml" Requires="v">
                <p:oleObj spid="_x0000_s73214" name="公式" r:id="rId8" imgW="545760" imgH="228600" progId="Equation.3">
                  <p:embed/>
                </p:oleObj>
              </mc:Choice>
              <mc:Fallback>
                <p:oleObj name="公式" r:id="rId8" imgW="545760" imgH="228600" progId="Equation.3">
                  <p:embed/>
                  <p:pic>
                    <p:nvPicPr>
                      <p:cNvPr id="0" name=""/>
                      <p:cNvPicPr>
                        <a:picLocks noChangeAspect="1" noChangeArrowheads="1"/>
                      </p:cNvPicPr>
                      <p:nvPr/>
                    </p:nvPicPr>
                    <p:blipFill>
                      <a:blip r:embed="rId9"/>
                      <a:srcRect/>
                      <a:stretch>
                        <a:fillRect/>
                      </a:stretch>
                    </p:blipFill>
                    <p:spPr bwMode="auto">
                      <a:xfrm>
                        <a:off x="5546725" y="1618853"/>
                        <a:ext cx="969491" cy="449660"/>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457312816"/>
              </p:ext>
            </p:extLst>
          </p:nvPr>
        </p:nvGraphicFramePr>
        <p:xfrm>
          <a:off x="7596336" y="2060848"/>
          <a:ext cx="539750" cy="476250"/>
        </p:xfrm>
        <a:graphic>
          <a:graphicData uri="http://schemas.openxmlformats.org/presentationml/2006/ole">
            <mc:AlternateContent xmlns:mc="http://schemas.openxmlformats.org/markup-compatibility/2006">
              <mc:Choice xmlns:v="urn:schemas-microsoft-com:vml" Requires="v">
                <p:oleObj spid="_x0000_s73215" name="公式" r:id="rId10" imgW="215619" imgH="215619" progId="Equation.3">
                  <p:embed/>
                </p:oleObj>
              </mc:Choice>
              <mc:Fallback>
                <p:oleObj name="公式" r:id="rId10"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336" y="2060848"/>
                        <a:ext cx="539750" cy="476250"/>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025537482"/>
              </p:ext>
            </p:extLst>
          </p:nvPr>
        </p:nvGraphicFramePr>
        <p:xfrm>
          <a:off x="3851920" y="2492896"/>
          <a:ext cx="539750" cy="476250"/>
        </p:xfrm>
        <a:graphic>
          <a:graphicData uri="http://schemas.openxmlformats.org/presentationml/2006/ole">
            <mc:AlternateContent xmlns:mc="http://schemas.openxmlformats.org/markup-compatibility/2006">
              <mc:Choice xmlns:v="urn:schemas-microsoft-com:vml" Requires="v">
                <p:oleObj spid="_x0000_s73216" name="公式" r:id="rId11" imgW="215619" imgH="215619" progId="Equation.3">
                  <p:embed/>
                </p:oleObj>
              </mc:Choice>
              <mc:Fallback>
                <p:oleObj name="公式" r:id="rId11"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2492896"/>
                        <a:ext cx="539750" cy="476250"/>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6941352"/>
              </p:ext>
            </p:extLst>
          </p:nvPr>
        </p:nvGraphicFramePr>
        <p:xfrm>
          <a:off x="6948264" y="2492896"/>
          <a:ext cx="539750" cy="476250"/>
        </p:xfrm>
        <a:graphic>
          <a:graphicData uri="http://schemas.openxmlformats.org/presentationml/2006/ole">
            <mc:AlternateContent xmlns:mc="http://schemas.openxmlformats.org/markup-compatibility/2006">
              <mc:Choice xmlns:v="urn:schemas-microsoft-com:vml" Requires="v">
                <p:oleObj spid="_x0000_s73217" name="公式" r:id="rId12" imgW="215619" imgH="215619" progId="Equation.3">
                  <p:embed/>
                </p:oleObj>
              </mc:Choice>
              <mc:Fallback>
                <p:oleObj name="公式" r:id="rId12"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8264" y="2492896"/>
                        <a:ext cx="539750" cy="476250"/>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685452518"/>
              </p:ext>
            </p:extLst>
          </p:nvPr>
        </p:nvGraphicFramePr>
        <p:xfrm>
          <a:off x="1835696" y="3861048"/>
          <a:ext cx="432048" cy="417739"/>
        </p:xfrm>
        <a:graphic>
          <a:graphicData uri="http://schemas.openxmlformats.org/presentationml/2006/ole">
            <mc:AlternateContent xmlns:mc="http://schemas.openxmlformats.org/markup-compatibility/2006">
              <mc:Choice xmlns:v="urn:schemas-microsoft-com:vml" Requires="v">
                <p:oleObj spid="_x0000_s73218" name="公式" r:id="rId13" imgW="202936" imgH="177569" progId="Equation.3">
                  <p:embed/>
                </p:oleObj>
              </mc:Choice>
              <mc:Fallback>
                <p:oleObj name="公式" r:id="rId13" imgW="202936" imgH="177569" progId="Equation.3">
                  <p:embed/>
                  <p:pic>
                    <p:nvPicPr>
                      <p:cNvPr id="0" name="对象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696" y="3861048"/>
                        <a:ext cx="432048" cy="417739"/>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292177726"/>
              </p:ext>
            </p:extLst>
          </p:nvPr>
        </p:nvGraphicFramePr>
        <p:xfrm>
          <a:off x="3563888" y="3861048"/>
          <a:ext cx="539750" cy="476250"/>
        </p:xfrm>
        <a:graphic>
          <a:graphicData uri="http://schemas.openxmlformats.org/presentationml/2006/ole">
            <mc:AlternateContent xmlns:mc="http://schemas.openxmlformats.org/markup-compatibility/2006">
              <mc:Choice xmlns:v="urn:schemas-microsoft-com:vml" Requires="v">
                <p:oleObj spid="_x0000_s73219" name="公式" r:id="rId15" imgW="215619" imgH="215619" progId="Equation.3">
                  <p:embed/>
                </p:oleObj>
              </mc:Choice>
              <mc:Fallback>
                <p:oleObj name="公式" r:id="rId15"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3861048"/>
                        <a:ext cx="539750" cy="476250"/>
                      </a:xfrm>
                      <a:prstGeom prst="rect">
                        <a:avLst/>
                      </a:prstGeom>
                      <a:no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641633439"/>
              </p:ext>
            </p:extLst>
          </p:nvPr>
        </p:nvGraphicFramePr>
        <p:xfrm>
          <a:off x="5292080" y="3861048"/>
          <a:ext cx="432048" cy="417739"/>
        </p:xfrm>
        <a:graphic>
          <a:graphicData uri="http://schemas.openxmlformats.org/presentationml/2006/ole">
            <mc:AlternateContent xmlns:mc="http://schemas.openxmlformats.org/markup-compatibility/2006">
              <mc:Choice xmlns:v="urn:schemas-microsoft-com:vml" Requires="v">
                <p:oleObj spid="_x0000_s73220" name="公式" r:id="rId16" imgW="202936" imgH="177569" progId="Equation.3">
                  <p:embed/>
                </p:oleObj>
              </mc:Choice>
              <mc:Fallback>
                <p:oleObj name="公式" r:id="rId16" imgW="202936" imgH="17756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2080" y="3861048"/>
                        <a:ext cx="432048" cy="417739"/>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2037482315"/>
              </p:ext>
            </p:extLst>
          </p:nvPr>
        </p:nvGraphicFramePr>
        <p:xfrm>
          <a:off x="2483768" y="4797152"/>
          <a:ext cx="432048" cy="417739"/>
        </p:xfrm>
        <a:graphic>
          <a:graphicData uri="http://schemas.openxmlformats.org/presentationml/2006/ole">
            <mc:AlternateContent xmlns:mc="http://schemas.openxmlformats.org/markup-compatibility/2006">
              <mc:Choice xmlns:v="urn:schemas-microsoft-com:vml" Requires="v">
                <p:oleObj spid="_x0000_s73221" name="公式" r:id="rId17" imgW="202936" imgH="177569" progId="Equation.3">
                  <p:embed/>
                </p:oleObj>
              </mc:Choice>
              <mc:Fallback>
                <p:oleObj name="公式" r:id="rId17" imgW="202936" imgH="17756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83768" y="4797152"/>
                        <a:ext cx="432048" cy="417739"/>
                      </a:xfrm>
                      <a:prstGeom prst="rect">
                        <a:avLst/>
                      </a:prstGeom>
                      <a:noFill/>
                      <a:ln>
                        <a:noFill/>
                      </a:ln>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588350025"/>
              </p:ext>
            </p:extLst>
          </p:nvPr>
        </p:nvGraphicFramePr>
        <p:xfrm>
          <a:off x="4567645" y="4797152"/>
          <a:ext cx="676275" cy="449262"/>
        </p:xfrm>
        <a:graphic>
          <a:graphicData uri="http://schemas.openxmlformats.org/presentationml/2006/ole">
            <mc:AlternateContent xmlns:mc="http://schemas.openxmlformats.org/markup-compatibility/2006">
              <mc:Choice xmlns:v="urn:schemas-microsoft-com:vml" Requires="v">
                <p:oleObj spid="_x0000_s73222" name="公式" r:id="rId18" imgW="380880" imgH="228600" progId="Equation.3">
                  <p:embed/>
                </p:oleObj>
              </mc:Choice>
              <mc:Fallback>
                <p:oleObj name="公式" r:id="rId18" imgW="380880" imgH="228600" progId="Equation.3">
                  <p:embed/>
                  <p:pic>
                    <p:nvPicPr>
                      <p:cNvPr id="0" name=""/>
                      <p:cNvPicPr>
                        <a:picLocks noChangeAspect="1" noChangeArrowheads="1"/>
                      </p:cNvPicPr>
                      <p:nvPr/>
                    </p:nvPicPr>
                    <p:blipFill>
                      <a:blip r:embed="rId19"/>
                      <a:srcRect/>
                      <a:stretch>
                        <a:fillRect/>
                      </a:stretch>
                    </p:blipFill>
                    <p:spPr bwMode="auto">
                      <a:xfrm>
                        <a:off x="4567645" y="4797152"/>
                        <a:ext cx="676275" cy="449262"/>
                      </a:xfrm>
                      <a:prstGeom prst="rect">
                        <a:avLst/>
                      </a:prstGeom>
                      <a:no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037482315"/>
              </p:ext>
            </p:extLst>
          </p:nvPr>
        </p:nvGraphicFramePr>
        <p:xfrm>
          <a:off x="2195736" y="5229200"/>
          <a:ext cx="432048" cy="417739"/>
        </p:xfrm>
        <a:graphic>
          <a:graphicData uri="http://schemas.openxmlformats.org/presentationml/2006/ole">
            <mc:AlternateContent xmlns:mc="http://schemas.openxmlformats.org/markup-compatibility/2006">
              <mc:Choice xmlns:v="urn:schemas-microsoft-com:vml" Requires="v">
                <p:oleObj spid="_x0000_s73223" name="公式" r:id="rId20" imgW="202936" imgH="177569" progId="Equation.3">
                  <p:embed/>
                </p:oleObj>
              </mc:Choice>
              <mc:Fallback>
                <p:oleObj name="公式" r:id="rId20" imgW="202936" imgH="17756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5736" y="5229200"/>
                        <a:ext cx="432048" cy="417739"/>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211180268"/>
              </p:ext>
            </p:extLst>
          </p:nvPr>
        </p:nvGraphicFramePr>
        <p:xfrm>
          <a:off x="4716016" y="5229200"/>
          <a:ext cx="539750" cy="476250"/>
        </p:xfrm>
        <a:graphic>
          <a:graphicData uri="http://schemas.openxmlformats.org/presentationml/2006/ole">
            <mc:AlternateContent xmlns:mc="http://schemas.openxmlformats.org/markup-compatibility/2006">
              <mc:Choice xmlns:v="urn:schemas-microsoft-com:vml" Requires="v">
                <p:oleObj spid="_x0000_s73224" name="公式" r:id="rId21" imgW="215619" imgH="215619" progId="Equation.3">
                  <p:embed/>
                </p:oleObj>
              </mc:Choice>
              <mc:Fallback>
                <p:oleObj name="公式" r:id="rId21"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5229200"/>
                        <a:ext cx="539750" cy="476250"/>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918120744"/>
              </p:ext>
            </p:extLst>
          </p:nvPr>
        </p:nvGraphicFramePr>
        <p:xfrm>
          <a:off x="6732240" y="5229200"/>
          <a:ext cx="676275" cy="449262"/>
        </p:xfrm>
        <a:graphic>
          <a:graphicData uri="http://schemas.openxmlformats.org/presentationml/2006/ole">
            <mc:AlternateContent xmlns:mc="http://schemas.openxmlformats.org/markup-compatibility/2006">
              <mc:Choice xmlns:v="urn:schemas-microsoft-com:vml" Requires="v">
                <p:oleObj spid="_x0000_s73225" name="公式" r:id="rId22" imgW="380880" imgH="228600" progId="Equation.3">
                  <p:embed/>
                </p:oleObj>
              </mc:Choice>
              <mc:Fallback>
                <p:oleObj name="公式" r:id="rId22" imgW="380880" imgH="228600" progId="Equation.3">
                  <p:embed/>
                  <p:pic>
                    <p:nvPicPr>
                      <p:cNvPr id="0" name=""/>
                      <p:cNvPicPr>
                        <a:picLocks noChangeAspect="1" noChangeArrowheads="1"/>
                      </p:cNvPicPr>
                      <p:nvPr/>
                    </p:nvPicPr>
                    <p:blipFill>
                      <a:blip r:embed="rId19"/>
                      <a:srcRect/>
                      <a:stretch>
                        <a:fillRect/>
                      </a:stretch>
                    </p:blipFill>
                    <p:spPr bwMode="auto">
                      <a:xfrm>
                        <a:off x="6732240" y="5229200"/>
                        <a:ext cx="676275" cy="449262"/>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775119859"/>
              </p:ext>
            </p:extLst>
          </p:nvPr>
        </p:nvGraphicFramePr>
        <p:xfrm>
          <a:off x="4067944" y="5805264"/>
          <a:ext cx="269875" cy="302419"/>
        </p:xfrm>
        <a:graphic>
          <a:graphicData uri="http://schemas.openxmlformats.org/presentationml/2006/ole">
            <mc:AlternateContent xmlns:mc="http://schemas.openxmlformats.org/markup-compatibility/2006">
              <mc:Choice xmlns:v="urn:schemas-microsoft-com:vml" Requires="v">
                <p:oleObj spid="_x0000_s73226" name="公式" r:id="rId23" imgW="152280" imgH="152280" progId="Equation.3">
                  <p:embed/>
                </p:oleObj>
              </mc:Choice>
              <mc:Fallback>
                <p:oleObj name="公式" r:id="rId23" imgW="152280" imgH="152280" progId="Equation.3">
                  <p:embed/>
                  <p:pic>
                    <p:nvPicPr>
                      <p:cNvPr id="0" name=""/>
                      <p:cNvPicPr>
                        <a:picLocks noChangeAspect="1" noChangeArrowheads="1"/>
                      </p:cNvPicPr>
                      <p:nvPr/>
                    </p:nvPicPr>
                    <p:blipFill>
                      <a:blip r:embed="rId24"/>
                      <a:srcRect/>
                      <a:stretch>
                        <a:fillRect/>
                      </a:stretch>
                    </p:blipFill>
                    <p:spPr bwMode="auto">
                      <a:xfrm>
                        <a:off x="4067944" y="5805264"/>
                        <a:ext cx="269875" cy="302419"/>
                      </a:xfrm>
                      <a:prstGeom prst="rect">
                        <a:avLst/>
                      </a:prstGeom>
                      <a:noFill/>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211180268"/>
              </p:ext>
            </p:extLst>
          </p:nvPr>
        </p:nvGraphicFramePr>
        <p:xfrm>
          <a:off x="5292080" y="5661248"/>
          <a:ext cx="539750" cy="476250"/>
        </p:xfrm>
        <a:graphic>
          <a:graphicData uri="http://schemas.openxmlformats.org/presentationml/2006/ole">
            <mc:AlternateContent xmlns:mc="http://schemas.openxmlformats.org/markup-compatibility/2006">
              <mc:Choice xmlns:v="urn:schemas-microsoft-com:vml" Requires="v">
                <p:oleObj spid="_x0000_s73227" name="公式" r:id="rId25" imgW="215619" imgH="215619" progId="Equation.3">
                  <p:embed/>
                </p:oleObj>
              </mc:Choice>
              <mc:Fallback>
                <p:oleObj name="公式" r:id="rId25"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5661248"/>
                        <a:ext cx="539750" cy="476250"/>
                      </a:xfrm>
                      <a:prstGeom prst="rect">
                        <a:avLst/>
                      </a:prstGeom>
                      <a:noFill/>
                    </p:spPr>
                  </p:pic>
                </p:oleObj>
              </mc:Fallback>
            </mc:AlternateContent>
          </a:graphicData>
        </a:graphic>
      </p:graphicFrame>
    </p:spTree>
    <p:extLst>
      <p:ext uri="{BB962C8B-B14F-4D97-AF65-F5344CB8AC3E}">
        <p14:creationId xmlns:p14="http://schemas.microsoft.com/office/powerpoint/2010/main" val="414438376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6.3.3  </a:t>
            </a:r>
            <a:r>
              <a:rPr lang="zh-CN" altLang="zh-CN" dirty="0"/>
              <a:t>属性集闭包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49</a:t>
            </a:fld>
            <a:endParaRPr lang="zh-CN" altLang="en-US" dirty="0"/>
          </a:p>
        </p:txBody>
      </p:sp>
      <p:sp>
        <p:nvSpPr>
          <p:cNvPr id="7" name="文本占位符 6"/>
          <p:cNvSpPr>
            <a:spLocks noGrp="1"/>
          </p:cNvSpPr>
          <p:nvPr>
            <p:ph type="body" idx="1"/>
          </p:nvPr>
        </p:nvSpPr>
        <p:spPr>
          <a:xfrm>
            <a:off x="107504" y="620688"/>
            <a:ext cx="8856984" cy="5688632"/>
          </a:xfrm>
        </p:spPr>
        <p:txBody>
          <a:bodyPr>
            <a:normAutofit/>
          </a:bodyPr>
          <a:lstStyle/>
          <a:p>
            <a:r>
              <a:rPr lang="zh-CN" altLang="en-US" sz="2000" dirty="0" smtClean="0"/>
              <a:t>属性集闭包</a:t>
            </a:r>
            <a:r>
              <a:rPr lang="zh-CN" altLang="zh-CN" sz="2000" dirty="0" smtClean="0"/>
              <a:t>可以解决如下</a:t>
            </a:r>
            <a:r>
              <a:rPr lang="zh-CN" altLang="zh-CN" sz="2000" dirty="0"/>
              <a:t>问题：</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）判断候选键</a:t>
            </a:r>
          </a:p>
          <a:p>
            <a:pPr marL="360363" indent="0">
              <a:buNone/>
            </a:pPr>
            <a:r>
              <a:rPr lang="zh-CN" altLang="zh-CN" sz="2000" dirty="0"/>
              <a:t>判断属性集</a:t>
            </a:r>
            <a:r>
              <a:rPr lang="en-US" altLang="zh-CN" sz="2000" dirty="0"/>
              <a:t>X</a:t>
            </a:r>
            <a:r>
              <a:rPr lang="zh-CN" altLang="zh-CN" sz="2000" dirty="0"/>
              <a:t>为候选键的方法：</a:t>
            </a:r>
          </a:p>
          <a:p>
            <a:pPr marL="360363" indent="0">
              <a:buNone/>
            </a:pPr>
            <a:r>
              <a:rPr lang="zh-CN" altLang="zh-CN" sz="2000" dirty="0"/>
              <a:t>先计算</a:t>
            </a:r>
            <a:r>
              <a:rPr lang="en-US" altLang="zh-CN" sz="2000" dirty="0"/>
              <a:t> </a:t>
            </a:r>
            <a:r>
              <a:rPr lang="en-US" altLang="zh-CN" sz="2000" dirty="0" smtClean="0"/>
              <a:t>     </a:t>
            </a:r>
            <a:r>
              <a:rPr lang="zh-CN" altLang="zh-CN" sz="2000" dirty="0" smtClean="0"/>
              <a:t>，</a:t>
            </a:r>
            <a:r>
              <a:rPr lang="zh-CN" altLang="zh-CN" sz="2000" dirty="0"/>
              <a:t>再</a:t>
            </a:r>
            <a:r>
              <a:rPr lang="zh-CN" altLang="zh-CN" sz="2000" dirty="0" smtClean="0"/>
              <a:t>判断</a:t>
            </a:r>
            <a:r>
              <a:rPr lang="en-US" altLang="zh-CN" sz="2000" dirty="0" smtClean="0"/>
              <a:t>      </a:t>
            </a:r>
            <a:r>
              <a:rPr lang="en-US" altLang="zh-CN" sz="2000" dirty="0"/>
              <a:t>=U</a:t>
            </a:r>
            <a:r>
              <a:rPr lang="zh-CN" altLang="zh-CN" sz="2000" dirty="0"/>
              <a:t>？如果成立，则</a:t>
            </a:r>
            <a:r>
              <a:rPr lang="en-US" altLang="zh-CN" sz="2000" dirty="0"/>
              <a:t>X</a:t>
            </a:r>
            <a:r>
              <a:rPr lang="zh-CN" altLang="zh-CN" sz="2000" dirty="0"/>
              <a:t>是候选键，否则不是。</a:t>
            </a:r>
          </a:p>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）判断函数依赖是否成立</a:t>
            </a:r>
          </a:p>
          <a:p>
            <a:pPr marL="360363" indent="0">
              <a:buNone/>
            </a:pPr>
            <a:r>
              <a:rPr lang="zh-CN" altLang="zh-CN" sz="2000" dirty="0"/>
              <a:t>判断函数依赖</a:t>
            </a:r>
            <a:r>
              <a:rPr lang="en-US" altLang="zh-CN" sz="2000" dirty="0"/>
              <a:t>X</a:t>
            </a:r>
            <a:r>
              <a:rPr lang="zh-CN" altLang="zh-CN" sz="2000" dirty="0"/>
              <a:t>→</a:t>
            </a:r>
            <a:r>
              <a:rPr lang="en-US" altLang="zh-CN" sz="2000" dirty="0"/>
              <a:t>Y</a:t>
            </a:r>
            <a:r>
              <a:rPr lang="zh-CN" altLang="zh-CN" sz="2000" dirty="0"/>
              <a:t>，在</a:t>
            </a:r>
            <a:r>
              <a:rPr lang="en-US" altLang="zh-CN" sz="2000" dirty="0"/>
              <a:t>R(U,F)</a:t>
            </a:r>
            <a:r>
              <a:rPr lang="zh-CN" altLang="zh-CN" sz="2000" dirty="0"/>
              <a:t>下成立的方法：</a:t>
            </a:r>
          </a:p>
          <a:p>
            <a:pPr marL="360363" indent="0">
              <a:buNone/>
            </a:pPr>
            <a:r>
              <a:rPr lang="zh-CN" altLang="zh-CN" sz="2000" dirty="0"/>
              <a:t>先计算</a:t>
            </a:r>
            <a:r>
              <a:rPr lang="en-US" altLang="zh-CN" sz="2000" dirty="0"/>
              <a:t> </a:t>
            </a:r>
            <a:r>
              <a:rPr lang="en-US" altLang="zh-CN" sz="2000" dirty="0" smtClean="0"/>
              <a:t>    </a:t>
            </a:r>
            <a:r>
              <a:rPr lang="zh-CN" altLang="zh-CN" sz="2000" dirty="0" smtClean="0"/>
              <a:t>，</a:t>
            </a:r>
            <a:r>
              <a:rPr lang="zh-CN" altLang="zh-CN" sz="2000" dirty="0"/>
              <a:t>再</a:t>
            </a:r>
            <a:r>
              <a:rPr lang="zh-CN" altLang="zh-CN" sz="2000" dirty="0" smtClean="0"/>
              <a:t>判断</a:t>
            </a:r>
            <a:r>
              <a:rPr lang="en-US" altLang="zh-CN" sz="2000" dirty="0" smtClean="0"/>
              <a:t>        </a:t>
            </a:r>
            <a:r>
              <a:rPr lang="zh-CN" altLang="zh-CN" sz="2000" dirty="0" smtClean="0"/>
              <a:t>，</a:t>
            </a:r>
            <a:r>
              <a:rPr lang="en-US" altLang="zh-CN" sz="2000" dirty="0" smtClean="0"/>
              <a:t> </a:t>
            </a:r>
            <a:r>
              <a:rPr lang="zh-CN" altLang="en-US" sz="2000" dirty="0" smtClean="0"/>
              <a:t>？</a:t>
            </a:r>
            <a:r>
              <a:rPr lang="zh-CN" altLang="zh-CN" sz="2000" dirty="0" smtClean="0"/>
              <a:t>如果</a:t>
            </a:r>
            <a:r>
              <a:rPr lang="zh-CN" altLang="zh-CN" sz="2000" dirty="0"/>
              <a:t>成立，则</a:t>
            </a:r>
            <a:r>
              <a:rPr lang="en-US" altLang="zh-CN" sz="2000" dirty="0"/>
              <a:t>X</a:t>
            </a:r>
            <a:r>
              <a:rPr lang="zh-CN" altLang="zh-CN" sz="2000" dirty="0"/>
              <a:t>→</a:t>
            </a:r>
            <a:r>
              <a:rPr lang="en-US" altLang="zh-CN" sz="2000" dirty="0"/>
              <a:t>Y</a:t>
            </a:r>
            <a:r>
              <a:rPr lang="zh-CN" altLang="zh-CN" sz="2000" dirty="0" smtClean="0"/>
              <a:t>∈</a:t>
            </a:r>
            <a:r>
              <a:rPr lang="en-US" altLang="zh-CN" sz="2000" dirty="0" smtClean="0"/>
              <a:t>     </a:t>
            </a:r>
            <a:r>
              <a:rPr lang="zh-CN" altLang="zh-CN" sz="2000" dirty="0"/>
              <a:t>，否则不成立。</a:t>
            </a:r>
          </a:p>
          <a:p>
            <a:pPr marL="0" indent="0">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）计算</a:t>
            </a:r>
            <a:r>
              <a:rPr lang="en-US" altLang="zh-CN" sz="2000" dirty="0">
                <a:solidFill>
                  <a:srgbClr val="0000FF"/>
                </a:solidFill>
              </a:rPr>
              <a:t> </a:t>
            </a:r>
            <a:endParaRPr lang="zh-CN" altLang="zh-CN" sz="2000" dirty="0">
              <a:solidFill>
                <a:srgbClr val="0000FF"/>
              </a:solidFill>
            </a:endParaRPr>
          </a:p>
          <a:p>
            <a:pPr marL="360363" indent="0">
              <a:buNone/>
            </a:pPr>
            <a:r>
              <a:rPr lang="zh-CN" altLang="zh-CN" sz="2000" dirty="0" smtClean="0"/>
              <a:t>利用</a:t>
            </a:r>
            <a:r>
              <a:rPr lang="en-US" altLang="zh-CN" sz="2000" dirty="0" smtClean="0"/>
              <a:t>       </a:t>
            </a:r>
            <a:r>
              <a:rPr lang="zh-CN" altLang="zh-CN" sz="2000" dirty="0"/>
              <a:t>生成</a:t>
            </a:r>
            <a:r>
              <a:rPr lang="en-US" altLang="zh-CN" sz="2000" dirty="0"/>
              <a:t> </a:t>
            </a:r>
            <a:r>
              <a:rPr lang="en-US" altLang="zh-CN" sz="2000" dirty="0" smtClean="0"/>
              <a:t>       </a:t>
            </a:r>
            <a:r>
              <a:rPr lang="zh-CN" altLang="zh-CN" sz="2000" dirty="0" smtClean="0"/>
              <a:t>的</a:t>
            </a:r>
            <a:r>
              <a:rPr lang="zh-CN" altLang="zh-CN" sz="2000" dirty="0"/>
              <a:t>方法：</a:t>
            </a:r>
          </a:p>
          <a:p>
            <a:pPr marL="360363" indent="0">
              <a:buNone/>
            </a:pPr>
            <a:r>
              <a:rPr lang="zh-CN" altLang="zh-CN" sz="2000" dirty="0"/>
              <a:t>对于每一个</a:t>
            </a:r>
            <a:r>
              <a:rPr lang="en-US" altLang="zh-CN" sz="2000" dirty="0"/>
              <a:t>Z </a:t>
            </a:r>
            <a:r>
              <a:rPr lang="en-US" altLang="zh-CN" sz="2000" dirty="0" smtClean="0"/>
              <a:t>      U</a:t>
            </a:r>
            <a:r>
              <a:rPr lang="zh-CN" altLang="zh-CN" sz="2000" dirty="0"/>
              <a:t>，先计算</a:t>
            </a:r>
            <a:r>
              <a:rPr lang="en-US" altLang="zh-CN" sz="2000" dirty="0"/>
              <a:t> </a:t>
            </a:r>
            <a:r>
              <a:rPr lang="en-US" altLang="zh-CN" sz="2000" dirty="0" smtClean="0"/>
              <a:t>       </a:t>
            </a:r>
            <a:r>
              <a:rPr lang="zh-CN" altLang="zh-CN" sz="2000" dirty="0" smtClean="0"/>
              <a:t>，</a:t>
            </a:r>
            <a:r>
              <a:rPr lang="zh-CN" altLang="zh-CN" sz="2000" dirty="0"/>
              <a:t>再对</a:t>
            </a:r>
            <a:r>
              <a:rPr lang="en-US" altLang="zh-CN" sz="2000" dirty="0"/>
              <a:t> </a:t>
            </a:r>
            <a:r>
              <a:rPr lang="zh-CN" altLang="en-US" sz="2000" dirty="0" smtClean="0"/>
              <a:t>任意</a:t>
            </a:r>
            <a:r>
              <a:rPr lang="en-US" altLang="zh-CN" sz="2000" dirty="0" smtClean="0"/>
              <a:t>S         </a:t>
            </a:r>
            <a:r>
              <a:rPr lang="zh-CN" altLang="zh-CN" sz="2000" dirty="0" smtClean="0"/>
              <a:t>，</a:t>
            </a:r>
            <a:r>
              <a:rPr lang="zh-CN" altLang="zh-CN" sz="2000" dirty="0"/>
              <a:t>输出</a:t>
            </a:r>
            <a:r>
              <a:rPr lang="en-US" altLang="zh-CN" sz="2000" dirty="0"/>
              <a:t>Z</a:t>
            </a:r>
            <a:r>
              <a:rPr lang="zh-CN" altLang="zh-CN" sz="2000" dirty="0"/>
              <a:t>→</a:t>
            </a:r>
            <a:r>
              <a:rPr lang="en-US" altLang="zh-CN" sz="2000" dirty="0"/>
              <a:t>S</a:t>
            </a:r>
            <a:r>
              <a:rPr lang="zh-CN" altLang="zh-CN" sz="2000" dirty="0"/>
              <a:t>。</a:t>
            </a:r>
          </a:p>
          <a:p>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60546322"/>
              </p:ext>
            </p:extLst>
          </p:nvPr>
        </p:nvGraphicFramePr>
        <p:xfrm>
          <a:off x="2699792" y="2060848"/>
          <a:ext cx="539750" cy="476250"/>
        </p:xfrm>
        <a:graphic>
          <a:graphicData uri="http://schemas.openxmlformats.org/presentationml/2006/ole">
            <mc:AlternateContent xmlns:mc="http://schemas.openxmlformats.org/markup-compatibility/2006">
              <mc:Choice xmlns:v="urn:schemas-microsoft-com:vml" Requires="v">
                <p:oleObj spid="_x0000_s73989" name="公式" r:id="rId3" imgW="215619" imgH="215619" progId="Equation.3">
                  <p:embed/>
                </p:oleObj>
              </mc:Choice>
              <mc:Fallback>
                <p:oleObj name="公式" r:id="rId3"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2060848"/>
                        <a:ext cx="539750" cy="476250"/>
                      </a:xfrm>
                      <a:prstGeom prst="rect">
                        <a:avLst/>
                      </a:prstGeom>
                      <a:noFill/>
                    </p:spPr>
                  </p:pic>
                </p:oleObj>
              </mc:Fallback>
            </mc:AlternateContent>
          </a:graphicData>
        </a:graphic>
      </p:graphicFrame>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1560726251"/>
              </p:ext>
            </p:extLst>
          </p:nvPr>
        </p:nvGraphicFramePr>
        <p:xfrm>
          <a:off x="2644775" y="3416300"/>
          <a:ext cx="1016000" cy="474663"/>
        </p:xfrm>
        <a:graphic>
          <a:graphicData uri="http://schemas.openxmlformats.org/presentationml/2006/ole">
            <mc:AlternateContent xmlns:mc="http://schemas.openxmlformats.org/markup-compatibility/2006">
              <mc:Choice xmlns:v="urn:schemas-microsoft-com:vml" Requires="v">
                <p:oleObj spid="_x0000_s73990" name="公式" r:id="rId5" imgW="571320" imgH="241200" progId="Equation.3">
                  <p:embed/>
                </p:oleObj>
              </mc:Choice>
              <mc:Fallback>
                <p:oleObj name="公式" r:id="rId5" imgW="571320" imgH="241200" progId="Equation.3">
                  <p:embed/>
                  <p:pic>
                    <p:nvPicPr>
                      <p:cNvPr id="0" name=""/>
                      <p:cNvPicPr>
                        <a:picLocks noChangeAspect="1" noChangeArrowheads="1"/>
                      </p:cNvPicPr>
                      <p:nvPr/>
                    </p:nvPicPr>
                    <p:blipFill>
                      <a:blip r:embed="rId6"/>
                      <a:srcRect/>
                      <a:stretch>
                        <a:fillRect/>
                      </a:stretch>
                    </p:blipFill>
                    <p:spPr bwMode="auto">
                      <a:xfrm>
                        <a:off x="2644775" y="3416300"/>
                        <a:ext cx="1016000" cy="474663"/>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798908391"/>
              </p:ext>
            </p:extLst>
          </p:nvPr>
        </p:nvGraphicFramePr>
        <p:xfrm>
          <a:off x="1331640" y="2060848"/>
          <a:ext cx="539750" cy="476250"/>
        </p:xfrm>
        <a:graphic>
          <a:graphicData uri="http://schemas.openxmlformats.org/presentationml/2006/ole">
            <mc:AlternateContent xmlns:mc="http://schemas.openxmlformats.org/markup-compatibility/2006">
              <mc:Choice xmlns:v="urn:schemas-microsoft-com:vml" Requires="v">
                <p:oleObj spid="_x0000_s73991" name="公式" r:id="rId7" imgW="215619" imgH="215619" progId="Equation.3">
                  <p:embed/>
                </p:oleObj>
              </mc:Choice>
              <mc:Fallback>
                <p:oleObj name="公式" r:id="rId7"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2060848"/>
                        <a:ext cx="539750" cy="476250"/>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801431044"/>
              </p:ext>
            </p:extLst>
          </p:nvPr>
        </p:nvGraphicFramePr>
        <p:xfrm>
          <a:off x="1259632" y="3429000"/>
          <a:ext cx="539750" cy="476250"/>
        </p:xfrm>
        <a:graphic>
          <a:graphicData uri="http://schemas.openxmlformats.org/presentationml/2006/ole">
            <mc:AlternateContent xmlns:mc="http://schemas.openxmlformats.org/markup-compatibility/2006">
              <mc:Choice xmlns:v="urn:schemas-microsoft-com:vml" Requires="v">
                <p:oleObj spid="_x0000_s73992" name="公式" r:id="rId8" imgW="215619" imgH="215619" progId="Equation.3">
                  <p:embed/>
                </p:oleObj>
              </mc:Choice>
              <mc:Fallback>
                <p:oleObj name="公式" r:id="rId8"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3429000"/>
                        <a:ext cx="539750" cy="476250"/>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689524147"/>
              </p:ext>
            </p:extLst>
          </p:nvPr>
        </p:nvGraphicFramePr>
        <p:xfrm>
          <a:off x="1547664" y="3861048"/>
          <a:ext cx="432048" cy="417739"/>
        </p:xfrm>
        <a:graphic>
          <a:graphicData uri="http://schemas.openxmlformats.org/presentationml/2006/ole">
            <mc:AlternateContent xmlns:mc="http://schemas.openxmlformats.org/markup-compatibility/2006">
              <mc:Choice xmlns:v="urn:schemas-microsoft-com:vml" Requires="v">
                <p:oleObj spid="_x0000_s73993" name="公式" r:id="rId9" imgW="202936" imgH="177569" progId="Equation.3">
                  <p:embed/>
                </p:oleObj>
              </mc:Choice>
              <mc:Fallback>
                <p:oleObj name="公式" r:id="rId9" imgW="202936" imgH="17756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664" y="3861048"/>
                        <a:ext cx="432048" cy="417739"/>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780123940"/>
              </p:ext>
            </p:extLst>
          </p:nvPr>
        </p:nvGraphicFramePr>
        <p:xfrm>
          <a:off x="1043608" y="4293096"/>
          <a:ext cx="539750" cy="476250"/>
        </p:xfrm>
        <a:graphic>
          <a:graphicData uri="http://schemas.openxmlformats.org/presentationml/2006/ole">
            <mc:AlternateContent xmlns:mc="http://schemas.openxmlformats.org/markup-compatibility/2006">
              <mc:Choice xmlns:v="urn:schemas-microsoft-com:vml" Requires="v">
                <p:oleObj spid="_x0000_s73994" name="公式" r:id="rId11" imgW="215619" imgH="215619" progId="Equation.3">
                  <p:embed/>
                </p:oleObj>
              </mc:Choice>
              <mc:Fallback>
                <p:oleObj name="公式" r:id="rId11"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4293096"/>
                        <a:ext cx="539750" cy="476250"/>
                      </a:xfrm>
                      <a:prstGeom prst="rect">
                        <a:avLst/>
                      </a:prstGeom>
                      <a:no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881449192"/>
              </p:ext>
            </p:extLst>
          </p:nvPr>
        </p:nvGraphicFramePr>
        <p:xfrm>
          <a:off x="6228184" y="3429000"/>
          <a:ext cx="432048" cy="417739"/>
        </p:xfrm>
        <a:graphic>
          <a:graphicData uri="http://schemas.openxmlformats.org/presentationml/2006/ole">
            <mc:AlternateContent xmlns:mc="http://schemas.openxmlformats.org/markup-compatibility/2006">
              <mc:Choice xmlns:v="urn:schemas-microsoft-com:vml" Requires="v">
                <p:oleObj spid="_x0000_s73995" name="公式" r:id="rId12" imgW="202936" imgH="177569" progId="Equation.3">
                  <p:embed/>
                </p:oleObj>
              </mc:Choice>
              <mc:Fallback>
                <p:oleObj name="公式" r:id="rId12" imgW="202936" imgH="17756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8184" y="3429000"/>
                        <a:ext cx="432048" cy="417739"/>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382392678"/>
              </p:ext>
            </p:extLst>
          </p:nvPr>
        </p:nvGraphicFramePr>
        <p:xfrm>
          <a:off x="2195736" y="4293096"/>
          <a:ext cx="432048" cy="417739"/>
        </p:xfrm>
        <a:graphic>
          <a:graphicData uri="http://schemas.openxmlformats.org/presentationml/2006/ole">
            <mc:AlternateContent xmlns:mc="http://schemas.openxmlformats.org/markup-compatibility/2006">
              <mc:Choice xmlns:v="urn:schemas-microsoft-com:vml" Requires="v">
                <p:oleObj spid="_x0000_s73996" name="公式" r:id="rId13" imgW="202936" imgH="177569" progId="Equation.3">
                  <p:embed/>
                </p:oleObj>
              </mc:Choice>
              <mc:Fallback>
                <p:oleObj name="公式" r:id="rId13" imgW="202936" imgH="17756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736" y="4293096"/>
                        <a:ext cx="432048" cy="417739"/>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397539944"/>
              </p:ext>
            </p:extLst>
          </p:nvPr>
        </p:nvGraphicFramePr>
        <p:xfrm>
          <a:off x="3707904" y="4797152"/>
          <a:ext cx="539750" cy="503238"/>
        </p:xfrm>
        <a:graphic>
          <a:graphicData uri="http://schemas.openxmlformats.org/presentationml/2006/ole">
            <mc:AlternateContent xmlns:mc="http://schemas.openxmlformats.org/markup-compatibility/2006">
              <mc:Choice xmlns:v="urn:schemas-microsoft-com:vml" Requires="v">
                <p:oleObj spid="_x0000_s73997" name="公式" r:id="rId14" imgW="215640" imgH="228600" progId="Equation.3">
                  <p:embed/>
                </p:oleObj>
              </mc:Choice>
              <mc:Fallback>
                <p:oleObj name="公式" r:id="rId14" imgW="215640" imgH="228600" progId="Equation.3">
                  <p:embed/>
                  <p:pic>
                    <p:nvPicPr>
                      <p:cNvPr id="0" name=""/>
                      <p:cNvPicPr>
                        <a:picLocks noChangeAspect="1" noChangeArrowheads="1"/>
                      </p:cNvPicPr>
                      <p:nvPr/>
                    </p:nvPicPr>
                    <p:blipFill>
                      <a:blip r:embed="rId15"/>
                      <a:srcRect/>
                      <a:stretch>
                        <a:fillRect/>
                      </a:stretch>
                    </p:blipFill>
                    <p:spPr bwMode="auto">
                      <a:xfrm>
                        <a:off x="3707904" y="4797152"/>
                        <a:ext cx="539750" cy="503238"/>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821475429"/>
              </p:ext>
            </p:extLst>
          </p:nvPr>
        </p:nvGraphicFramePr>
        <p:xfrm>
          <a:off x="5796136" y="4797152"/>
          <a:ext cx="631825" cy="449263"/>
        </p:xfrm>
        <a:graphic>
          <a:graphicData uri="http://schemas.openxmlformats.org/presentationml/2006/ole">
            <mc:AlternateContent xmlns:mc="http://schemas.openxmlformats.org/markup-compatibility/2006">
              <mc:Choice xmlns:v="urn:schemas-microsoft-com:vml" Requires="v">
                <p:oleObj spid="_x0000_s73998" name="公式" r:id="rId16" imgW="355320" imgH="228600" progId="Equation.3">
                  <p:embed/>
                </p:oleObj>
              </mc:Choice>
              <mc:Fallback>
                <p:oleObj name="公式" r:id="rId16" imgW="355320" imgH="228600" progId="Equation.3">
                  <p:embed/>
                  <p:pic>
                    <p:nvPicPr>
                      <p:cNvPr id="0" name=""/>
                      <p:cNvPicPr>
                        <a:picLocks noChangeAspect="1" noChangeArrowheads="1"/>
                      </p:cNvPicPr>
                      <p:nvPr/>
                    </p:nvPicPr>
                    <p:blipFill>
                      <a:blip r:embed="rId17"/>
                      <a:srcRect/>
                      <a:stretch>
                        <a:fillRect/>
                      </a:stretch>
                    </p:blipFill>
                    <p:spPr bwMode="auto">
                      <a:xfrm>
                        <a:off x="5796136" y="4797152"/>
                        <a:ext cx="631825" cy="449263"/>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662894101"/>
              </p:ext>
            </p:extLst>
          </p:nvPr>
        </p:nvGraphicFramePr>
        <p:xfrm>
          <a:off x="2123728" y="4869160"/>
          <a:ext cx="269875" cy="302419"/>
        </p:xfrm>
        <a:graphic>
          <a:graphicData uri="http://schemas.openxmlformats.org/presentationml/2006/ole">
            <mc:AlternateContent xmlns:mc="http://schemas.openxmlformats.org/markup-compatibility/2006">
              <mc:Choice xmlns:v="urn:schemas-microsoft-com:vml" Requires="v">
                <p:oleObj spid="_x0000_s73999" name="公式" r:id="rId18" imgW="152280" imgH="152280" progId="Equation.3">
                  <p:embed/>
                </p:oleObj>
              </mc:Choice>
              <mc:Fallback>
                <p:oleObj name="公式" r:id="rId18" imgW="152280" imgH="152280" progId="Equation.3">
                  <p:embed/>
                  <p:pic>
                    <p:nvPicPr>
                      <p:cNvPr id="0" name=""/>
                      <p:cNvPicPr>
                        <a:picLocks noChangeAspect="1" noChangeArrowheads="1"/>
                      </p:cNvPicPr>
                      <p:nvPr/>
                    </p:nvPicPr>
                    <p:blipFill>
                      <a:blip r:embed="rId19"/>
                      <a:srcRect/>
                      <a:stretch>
                        <a:fillRect/>
                      </a:stretch>
                    </p:blipFill>
                    <p:spPr bwMode="auto">
                      <a:xfrm>
                        <a:off x="2123728" y="4869160"/>
                        <a:ext cx="269875" cy="302419"/>
                      </a:xfrm>
                      <a:prstGeom prst="rect">
                        <a:avLst/>
                      </a:prstGeom>
                      <a:noFill/>
                    </p:spPr>
                  </p:pic>
                </p:oleObj>
              </mc:Fallback>
            </mc:AlternateContent>
          </a:graphicData>
        </a:graphic>
      </p:graphicFrame>
    </p:spTree>
    <p:extLst>
      <p:ext uri="{BB962C8B-B14F-4D97-AF65-F5344CB8AC3E}">
        <p14:creationId xmlns:p14="http://schemas.microsoft.com/office/powerpoint/2010/main" val="165553447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6.3.3  </a:t>
            </a:r>
            <a:r>
              <a:rPr lang="zh-CN" altLang="zh-CN" dirty="0"/>
              <a:t>属性集闭包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50</a:t>
            </a:fld>
            <a:endParaRPr lang="zh-CN" altLang="en-US" dirty="0"/>
          </a:p>
        </p:txBody>
      </p:sp>
      <p:sp>
        <p:nvSpPr>
          <p:cNvPr id="7" name="文本占位符 6"/>
          <p:cNvSpPr>
            <a:spLocks noGrp="1"/>
          </p:cNvSpPr>
          <p:nvPr>
            <p:ph type="body" idx="1"/>
          </p:nvPr>
        </p:nvSpPr>
        <p:spPr>
          <a:xfrm>
            <a:off x="107504" y="620688"/>
            <a:ext cx="8856984" cy="5688632"/>
          </a:xfrm>
        </p:spPr>
        <p:txBody>
          <a:bodyPr>
            <a:normAutofit/>
          </a:bodyPr>
          <a:lstStyle/>
          <a:p>
            <a:r>
              <a:rPr lang="zh-CN" altLang="zh-CN" sz="2000" dirty="0">
                <a:solidFill>
                  <a:srgbClr val="0000FF"/>
                </a:solidFill>
              </a:rPr>
              <a:t>算法</a:t>
            </a:r>
            <a:r>
              <a:rPr lang="en-US" altLang="zh-CN" sz="2000" dirty="0">
                <a:solidFill>
                  <a:srgbClr val="0000FF"/>
                </a:solidFill>
              </a:rPr>
              <a:t>6.l  </a:t>
            </a:r>
            <a:r>
              <a:rPr lang="zh-CN" altLang="zh-CN" sz="2000" dirty="0"/>
              <a:t>对于</a:t>
            </a:r>
            <a:r>
              <a:rPr lang="en-US" altLang="zh-CN" sz="2000" dirty="0"/>
              <a:t>R(U,F)</a:t>
            </a:r>
            <a:r>
              <a:rPr lang="zh-CN" altLang="zh-CN" sz="2000" dirty="0"/>
              <a:t>∈</a:t>
            </a:r>
            <a:r>
              <a:rPr lang="en-US" altLang="zh-CN" sz="2000" dirty="0"/>
              <a:t>1NF</a:t>
            </a:r>
            <a:r>
              <a:rPr lang="zh-CN" altLang="zh-CN" sz="2000" dirty="0"/>
              <a:t>，如果</a:t>
            </a:r>
            <a:r>
              <a:rPr lang="en-US" altLang="zh-CN" sz="2000" dirty="0"/>
              <a:t>X U</a:t>
            </a:r>
            <a:r>
              <a:rPr lang="zh-CN" altLang="zh-CN" sz="2000" dirty="0"/>
              <a:t>，计算</a:t>
            </a:r>
            <a:r>
              <a:rPr lang="en-US" altLang="zh-CN" sz="2000" dirty="0"/>
              <a:t> </a:t>
            </a:r>
            <a:r>
              <a:rPr lang="en-US" altLang="zh-CN" sz="2000" dirty="0" smtClean="0"/>
              <a:t>       </a:t>
            </a:r>
            <a:r>
              <a:rPr lang="zh-CN" altLang="zh-CN" sz="2000" dirty="0" smtClean="0"/>
              <a:t>的</a:t>
            </a:r>
            <a:r>
              <a:rPr lang="zh-CN" altLang="zh-CN" sz="2000" dirty="0"/>
              <a:t>步骤：</a:t>
            </a:r>
          </a:p>
          <a:p>
            <a:pPr marL="625475" indent="-625475">
              <a:buNone/>
            </a:pPr>
            <a:r>
              <a:rPr lang="zh-CN" altLang="zh-CN" sz="2000" dirty="0"/>
              <a:t>（</a:t>
            </a:r>
            <a:r>
              <a:rPr lang="en-US" altLang="zh-CN" sz="2000" dirty="0"/>
              <a:t>1</a:t>
            </a:r>
            <a:r>
              <a:rPr lang="zh-CN" altLang="zh-CN" sz="2000" dirty="0"/>
              <a:t>）</a:t>
            </a:r>
            <a:r>
              <a:rPr lang="en-US" altLang="zh-CN" sz="2000" dirty="0"/>
              <a:t>i=1</a:t>
            </a:r>
            <a:r>
              <a:rPr lang="zh-CN" altLang="zh-CN" sz="2000" dirty="0"/>
              <a:t>，</a:t>
            </a:r>
            <a:r>
              <a:rPr lang="en-US" altLang="zh-CN" sz="2000" dirty="0"/>
              <a:t>X(i)=X</a:t>
            </a:r>
            <a:endParaRPr lang="zh-CN" altLang="zh-CN" sz="2000" dirty="0"/>
          </a:p>
          <a:p>
            <a:pPr marL="625475" indent="-625475">
              <a:buNone/>
            </a:pPr>
            <a:r>
              <a:rPr lang="zh-CN" altLang="zh-CN" sz="2000" dirty="0"/>
              <a:t>（</a:t>
            </a:r>
            <a:r>
              <a:rPr lang="en-US" altLang="zh-CN" sz="2000" dirty="0"/>
              <a:t>2</a:t>
            </a:r>
            <a:r>
              <a:rPr lang="zh-CN" altLang="zh-CN" sz="2000" dirty="0"/>
              <a:t>）计算</a:t>
            </a:r>
            <a:r>
              <a:rPr lang="en-US" altLang="zh-CN" sz="2000" dirty="0"/>
              <a:t>B={ W | F V</a:t>
            </a:r>
            <a:r>
              <a:rPr lang="zh-CN" altLang="zh-CN" sz="2000" dirty="0"/>
              <a:t>→</a:t>
            </a:r>
            <a:r>
              <a:rPr lang="en-US" altLang="zh-CN" sz="2000" dirty="0"/>
              <a:t>W </a:t>
            </a:r>
            <a:r>
              <a:rPr lang="zh-CN" altLang="zh-CN" sz="2000" dirty="0"/>
              <a:t>∧ </a:t>
            </a:r>
            <a:r>
              <a:rPr lang="en-US" altLang="zh-CN" sz="2000" dirty="0">
                <a:sym typeface="Symbol"/>
              </a:rPr>
              <a:t></a:t>
            </a:r>
            <a:r>
              <a:rPr lang="en-US" altLang="zh-CN" sz="2000" dirty="0"/>
              <a:t> V X(i) }</a:t>
            </a:r>
            <a:endParaRPr lang="zh-CN" altLang="zh-CN" sz="2000" dirty="0"/>
          </a:p>
          <a:p>
            <a:pPr marL="625475" indent="-625475">
              <a:buNone/>
            </a:pPr>
            <a:r>
              <a:rPr lang="zh-CN" altLang="zh-CN" sz="2000" dirty="0"/>
              <a:t>（</a:t>
            </a:r>
            <a:r>
              <a:rPr lang="en-US" altLang="zh-CN" sz="2000" dirty="0"/>
              <a:t>3</a:t>
            </a:r>
            <a:r>
              <a:rPr lang="zh-CN" altLang="zh-CN" sz="2000" dirty="0"/>
              <a:t>）</a:t>
            </a:r>
            <a:r>
              <a:rPr lang="en-US" altLang="zh-CN" sz="2000" dirty="0"/>
              <a:t>X(i+1)=B</a:t>
            </a:r>
            <a:r>
              <a:rPr lang="zh-CN" altLang="zh-CN" sz="2000" dirty="0"/>
              <a:t>∪</a:t>
            </a:r>
            <a:r>
              <a:rPr lang="en-US" altLang="zh-CN" sz="2000" dirty="0"/>
              <a:t>X(i) </a:t>
            </a:r>
            <a:endParaRPr lang="zh-CN" altLang="zh-CN" sz="2000" dirty="0"/>
          </a:p>
          <a:p>
            <a:pPr marL="625475" indent="-625475">
              <a:buNone/>
            </a:pPr>
            <a:r>
              <a:rPr lang="zh-CN" altLang="zh-CN" sz="2000" dirty="0"/>
              <a:t>（</a:t>
            </a:r>
            <a:r>
              <a:rPr lang="en-US" altLang="zh-CN" sz="2000" dirty="0"/>
              <a:t>4</a:t>
            </a:r>
            <a:r>
              <a:rPr lang="zh-CN" altLang="zh-CN" sz="2000" dirty="0"/>
              <a:t>）判断</a:t>
            </a:r>
            <a:r>
              <a:rPr lang="en-US" altLang="zh-CN" sz="2000" dirty="0"/>
              <a:t>X(i+1)=X(i)</a:t>
            </a:r>
            <a:r>
              <a:rPr lang="zh-CN" altLang="zh-CN" sz="2000" dirty="0"/>
              <a:t>？如果相等或</a:t>
            </a:r>
            <a:r>
              <a:rPr lang="en-US" altLang="zh-CN" sz="2000" dirty="0"/>
              <a:t>X(i+1)=U</a:t>
            </a:r>
            <a:r>
              <a:rPr lang="zh-CN" altLang="zh-CN" sz="2000" dirty="0"/>
              <a:t>，则</a:t>
            </a:r>
            <a:r>
              <a:rPr lang="en-US" altLang="zh-CN" sz="2000" dirty="0"/>
              <a:t> </a:t>
            </a:r>
            <a:r>
              <a:rPr lang="en-US" altLang="zh-CN" sz="2000" dirty="0" smtClean="0"/>
              <a:t>       = </a:t>
            </a:r>
            <a:r>
              <a:rPr lang="en-US" altLang="zh-CN" sz="2000" dirty="0"/>
              <a:t>X(i+1)</a:t>
            </a:r>
            <a:r>
              <a:rPr lang="zh-CN" altLang="zh-CN" sz="2000" dirty="0"/>
              <a:t>，结束；否则</a:t>
            </a:r>
            <a:r>
              <a:rPr lang="en-US" altLang="zh-CN" sz="2000" dirty="0"/>
              <a:t>i</a:t>
            </a:r>
            <a:r>
              <a:rPr lang="zh-CN" altLang="zh-CN" sz="2000" dirty="0"/>
              <a:t>←</a:t>
            </a:r>
            <a:r>
              <a:rPr lang="en-US" altLang="zh-CN" sz="2000" dirty="0" err="1"/>
              <a:t>i+l</a:t>
            </a:r>
            <a:r>
              <a:rPr lang="zh-CN" altLang="zh-CN" sz="2000" dirty="0"/>
              <a:t>，转向（</a:t>
            </a:r>
            <a:r>
              <a:rPr lang="en-US" altLang="zh-CN" sz="2000" dirty="0"/>
              <a:t>2</a:t>
            </a:r>
            <a:r>
              <a:rPr lang="zh-CN" altLang="zh-CN" sz="2000" dirty="0"/>
              <a:t>）。</a:t>
            </a:r>
          </a:p>
          <a:p>
            <a:r>
              <a:rPr lang="zh-CN" altLang="zh-CN" sz="2000" dirty="0" smtClean="0"/>
              <a:t>计算</a:t>
            </a:r>
            <a:r>
              <a:rPr lang="en-US" altLang="zh-CN" sz="2000" dirty="0" smtClean="0"/>
              <a:t>         </a:t>
            </a:r>
            <a:r>
              <a:rPr lang="zh-CN" altLang="zh-CN" sz="2000" dirty="0"/>
              <a:t>的</a:t>
            </a:r>
            <a:r>
              <a:rPr lang="zh-CN" altLang="zh-CN" sz="2000" dirty="0">
                <a:solidFill>
                  <a:srgbClr val="0000FF"/>
                </a:solidFill>
              </a:rPr>
              <a:t>算法复杂度</a:t>
            </a:r>
            <a:r>
              <a:rPr lang="zh-CN" altLang="zh-CN" sz="2000" dirty="0"/>
              <a:t>：</a:t>
            </a:r>
            <a:r>
              <a:rPr lang="en-US" altLang="zh-CN" sz="2000" dirty="0"/>
              <a:t>O(|U|-|X|)</a:t>
            </a:r>
            <a:r>
              <a:rPr lang="zh-CN" altLang="zh-CN" sz="2000" dirty="0"/>
              <a:t>。因为</a:t>
            </a:r>
            <a:r>
              <a:rPr lang="en-US" altLang="zh-CN" sz="2000" dirty="0"/>
              <a:t>1</a:t>
            </a:r>
            <a:r>
              <a:rPr lang="zh-CN" altLang="zh-CN" sz="2000" dirty="0"/>
              <a:t>≤</a:t>
            </a:r>
            <a:r>
              <a:rPr lang="en-US" altLang="zh-CN" sz="2000" dirty="0"/>
              <a:t>|X(i)|</a:t>
            </a:r>
            <a:r>
              <a:rPr lang="zh-CN" altLang="zh-CN" sz="2000" dirty="0"/>
              <a:t>＜</a:t>
            </a:r>
            <a:r>
              <a:rPr lang="en-US" altLang="zh-CN" sz="2000" dirty="0"/>
              <a:t>|X(i+1)|</a:t>
            </a:r>
            <a:r>
              <a:rPr lang="zh-CN" altLang="zh-CN" sz="2000" dirty="0"/>
              <a:t>≤</a:t>
            </a:r>
            <a:r>
              <a:rPr lang="en-US" altLang="zh-CN" sz="2000" dirty="0"/>
              <a:t>|U|</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2927765127"/>
              </p:ext>
            </p:extLst>
          </p:nvPr>
        </p:nvGraphicFramePr>
        <p:xfrm>
          <a:off x="1115616" y="3429000"/>
          <a:ext cx="539750" cy="476250"/>
        </p:xfrm>
        <a:graphic>
          <a:graphicData uri="http://schemas.openxmlformats.org/presentationml/2006/ole">
            <mc:AlternateContent xmlns:mc="http://schemas.openxmlformats.org/markup-compatibility/2006">
              <mc:Choice xmlns:v="urn:schemas-microsoft-com:vml" Requires="v">
                <p:oleObj spid="_x0000_s23146" name="公式" r:id="rId3" imgW="215619" imgH="215619" progId="Equation.3">
                  <p:embed/>
                </p:oleObj>
              </mc:Choice>
              <mc:Fallback>
                <p:oleObj name="公式" r:id="rId3"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3429000"/>
                        <a:ext cx="539750" cy="476250"/>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66405000"/>
              </p:ext>
            </p:extLst>
          </p:nvPr>
        </p:nvGraphicFramePr>
        <p:xfrm>
          <a:off x="6228184" y="2492896"/>
          <a:ext cx="539750" cy="476250"/>
        </p:xfrm>
        <a:graphic>
          <a:graphicData uri="http://schemas.openxmlformats.org/presentationml/2006/ole">
            <mc:AlternateContent xmlns:mc="http://schemas.openxmlformats.org/markup-compatibility/2006">
              <mc:Choice xmlns:v="urn:schemas-microsoft-com:vml" Requires="v">
                <p:oleObj spid="_x0000_s23147" name="公式" r:id="rId5" imgW="215619" imgH="215619" progId="Equation.3">
                  <p:embed/>
                </p:oleObj>
              </mc:Choice>
              <mc:Fallback>
                <p:oleObj name="公式" r:id="rId5"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2492896"/>
                        <a:ext cx="539750" cy="476250"/>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538107879"/>
              </p:ext>
            </p:extLst>
          </p:nvPr>
        </p:nvGraphicFramePr>
        <p:xfrm>
          <a:off x="5436096" y="692696"/>
          <a:ext cx="539750" cy="476250"/>
        </p:xfrm>
        <a:graphic>
          <a:graphicData uri="http://schemas.openxmlformats.org/presentationml/2006/ole">
            <mc:AlternateContent xmlns:mc="http://schemas.openxmlformats.org/markup-compatibility/2006">
              <mc:Choice xmlns:v="urn:schemas-microsoft-com:vml" Requires="v">
                <p:oleObj spid="_x0000_s23148" name="公式" r:id="rId6" imgW="215619" imgH="215619" progId="Equation.3">
                  <p:embed/>
                </p:oleObj>
              </mc:Choice>
              <mc:Fallback>
                <p:oleObj name="公式" r:id="rId6" imgW="215619"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692696"/>
                        <a:ext cx="539750" cy="476250"/>
                      </a:xfrm>
                      <a:prstGeom prst="rect">
                        <a:avLst/>
                      </a:prstGeom>
                      <a:noFill/>
                    </p:spPr>
                  </p:pic>
                </p:oleObj>
              </mc:Fallback>
            </mc:AlternateContent>
          </a:graphicData>
        </a:graphic>
      </p:graphicFrame>
    </p:spTree>
    <p:extLst>
      <p:ext uri="{BB962C8B-B14F-4D97-AF65-F5344CB8AC3E}">
        <p14:creationId xmlns:p14="http://schemas.microsoft.com/office/powerpoint/2010/main" val="14052019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6.3.3  </a:t>
            </a:r>
            <a:r>
              <a:rPr lang="zh-CN" altLang="zh-CN" dirty="0"/>
              <a:t>属性集闭包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51</a:t>
            </a:fld>
            <a:endParaRPr lang="zh-CN" altLang="en-US" dirty="0"/>
          </a:p>
        </p:txBody>
      </p:sp>
      <p:sp>
        <p:nvSpPr>
          <p:cNvPr id="7" name="文本占位符 6"/>
          <p:cNvSpPr>
            <a:spLocks noGrp="1"/>
          </p:cNvSpPr>
          <p:nvPr>
            <p:ph type="body" idx="1"/>
          </p:nvPr>
        </p:nvSpPr>
        <p:spPr>
          <a:xfrm>
            <a:off x="107504" y="620688"/>
            <a:ext cx="8856984" cy="6048672"/>
          </a:xfrm>
        </p:spPr>
        <p:txBody>
          <a:bodyPr>
            <a:normAutofit/>
          </a:bodyPr>
          <a:lstStyle/>
          <a:p>
            <a:r>
              <a:rPr lang="zh-CN" altLang="zh-CN" sz="2000" dirty="0">
                <a:solidFill>
                  <a:srgbClr val="0000FF"/>
                </a:solidFill>
              </a:rPr>
              <a:t>例</a:t>
            </a:r>
            <a:r>
              <a:rPr lang="en-US" altLang="zh-CN" sz="2000" dirty="0">
                <a:solidFill>
                  <a:srgbClr val="0000FF"/>
                </a:solidFill>
              </a:rPr>
              <a:t>6.15  </a:t>
            </a:r>
            <a:r>
              <a:rPr lang="zh-CN" altLang="zh-CN" sz="2000" dirty="0"/>
              <a:t>对于</a:t>
            </a:r>
            <a:r>
              <a:rPr lang="en-US" altLang="zh-CN" sz="2000" dirty="0"/>
              <a:t>R(U,F)</a:t>
            </a:r>
            <a:r>
              <a:rPr lang="zh-CN" altLang="zh-CN" sz="2000" dirty="0"/>
              <a:t>∈</a:t>
            </a:r>
            <a:r>
              <a:rPr lang="en-US" altLang="zh-CN" sz="2000" dirty="0"/>
              <a:t>1NF</a:t>
            </a:r>
            <a:r>
              <a:rPr lang="zh-CN" altLang="zh-CN" sz="2000" dirty="0"/>
              <a:t>，</a:t>
            </a:r>
            <a:r>
              <a:rPr lang="en-US" altLang="zh-CN" sz="2000" dirty="0"/>
              <a:t>U={A,B,C,D,E}</a:t>
            </a:r>
            <a:r>
              <a:rPr lang="zh-CN" altLang="zh-CN" sz="2000" dirty="0"/>
              <a:t>，</a:t>
            </a:r>
            <a:r>
              <a:rPr lang="en-US" altLang="zh-CN" sz="2000" dirty="0"/>
              <a:t>F={AB</a:t>
            </a:r>
            <a:r>
              <a:rPr lang="zh-CN" altLang="zh-CN" sz="2000" dirty="0"/>
              <a:t>→</a:t>
            </a:r>
            <a:r>
              <a:rPr lang="en-US" altLang="zh-CN" sz="2000" dirty="0"/>
              <a:t>C,B</a:t>
            </a:r>
            <a:r>
              <a:rPr lang="zh-CN" altLang="zh-CN" sz="2000" dirty="0"/>
              <a:t>→</a:t>
            </a:r>
            <a:r>
              <a:rPr lang="en-US" altLang="zh-CN" sz="2000" dirty="0"/>
              <a:t>D,C</a:t>
            </a:r>
            <a:r>
              <a:rPr lang="zh-CN" altLang="zh-CN" sz="2000" dirty="0"/>
              <a:t>→</a:t>
            </a:r>
            <a:r>
              <a:rPr lang="en-US" altLang="zh-CN" sz="2000" dirty="0"/>
              <a:t>E,EC</a:t>
            </a:r>
            <a:r>
              <a:rPr lang="zh-CN" altLang="zh-CN" sz="2000" dirty="0"/>
              <a:t>→</a:t>
            </a:r>
            <a:r>
              <a:rPr lang="en-US" altLang="zh-CN" sz="2000" dirty="0"/>
              <a:t>B,AC</a:t>
            </a:r>
            <a:r>
              <a:rPr lang="zh-CN" altLang="zh-CN" sz="2000" dirty="0"/>
              <a:t>→</a:t>
            </a:r>
            <a:r>
              <a:rPr lang="en-US" altLang="zh-CN" sz="2000" dirty="0"/>
              <a:t>B}</a:t>
            </a:r>
            <a:r>
              <a:rPr lang="zh-CN" altLang="zh-CN" sz="2000" dirty="0"/>
              <a:t>。计算</a:t>
            </a:r>
            <a:r>
              <a:rPr lang="en-US" altLang="zh-CN" sz="2000" dirty="0"/>
              <a:t> </a:t>
            </a:r>
            <a:r>
              <a:rPr lang="en-US" altLang="zh-CN" sz="2000" dirty="0" smtClean="0"/>
              <a:t>                 =</a:t>
            </a:r>
            <a:r>
              <a:rPr lang="zh-CN" altLang="zh-CN" sz="2000" dirty="0"/>
              <a:t>？</a:t>
            </a:r>
          </a:p>
          <a:p>
            <a:pPr>
              <a:lnSpc>
                <a:spcPts val="3300"/>
              </a:lnSpc>
            </a:pPr>
            <a:r>
              <a:rPr lang="zh-CN" altLang="zh-CN" sz="2000" dirty="0" smtClean="0"/>
              <a:t>（</a:t>
            </a:r>
            <a:r>
              <a:rPr lang="en-US" altLang="zh-CN" sz="2000" dirty="0"/>
              <a:t>1</a:t>
            </a:r>
            <a:r>
              <a:rPr lang="zh-CN" altLang="zh-CN" sz="2000" dirty="0"/>
              <a:t>）</a:t>
            </a:r>
            <a:r>
              <a:rPr lang="en-US" altLang="zh-CN" sz="2000" dirty="0"/>
              <a:t>i=1</a:t>
            </a:r>
            <a:r>
              <a:rPr lang="zh-CN" altLang="zh-CN" sz="2000" dirty="0"/>
              <a:t>，</a:t>
            </a:r>
            <a:r>
              <a:rPr lang="en-US" altLang="zh-CN" sz="2000" dirty="0"/>
              <a:t>X(1)=AB</a:t>
            </a:r>
            <a:endParaRPr lang="zh-CN" altLang="zh-CN" sz="2000" dirty="0"/>
          </a:p>
          <a:p>
            <a:pPr>
              <a:lnSpc>
                <a:spcPts val="3300"/>
              </a:lnSpc>
            </a:pPr>
            <a:r>
              <a:rPr lang="zh-CN" altLang="zh-CN" sz="2000" dirty="0"/>
              <a:t>（</a:t>
            </a:r>
            <a:r>
              <a:rPr lang="en-US" altLang="zh-CN" sz="2000" dirty="0"/>
              <a:t>2</a:t>
            </a:r>
            <a:r>
              <a:rPr lang="zh-CN" altLang="zh-CN" sz="2000" dirty="0"/>
              <a:t>）</a:t>
            </a:r>
            <a:r>
              <a:rPr lang="en-US" altLang="zh-CN" sz="2000" dirty="0"/>
              <a:t> V X(1)</a:t>
            </a:r>
            <a:r>
              <a:rPr lang="zh-CN" altLang="zh-CN" sz="2000" dirty="0"/>
              <a:t>，计算</a:t>
            </a:r>
            <a:r>
              <a:rPr lang="en-US" altLang="zh-CN" sz="2000" dirty="0"/>
              <a:t>Y={W | F V</a:t>
            </a:r>
            <a:r>
              <a:rPr lang="zh-CN" altLang="zh-CN" sz="2000" dirty="0"/>
              <a:t>→</a:t>
            </a:r>
            <a:r>
              <a:rPr lang="en-US" altLang="zh-CN" sz="2000" dirty="0"/>
              <a:t>W </a:t>
            </a:r>
            <a:r>
              <a:rPr lang="zh-CN" altLang="zh-CN" sz="2000" dirty="0"/>
              <a:t>∧ </a:t>
            </a:r>
            <a:r>
              <a:rPr lang="en-US" altLang="zh-CN" sz="2000" dirty="0">
                <a:sym typeface="Symbol"/>
              </a:rPr>
              <a:t></a:t>
            </a:r>
            <a:r>
              <a:rPr lang="en-US" altLang="zh-CN" sz="2000" dirty="0"/>
              <a:t> V X(1)}</a:t>
            </a:r>
            <a:r>
              <a:rPr lang="zh-CN" altLang="zh-CN" sz="2000" dirty="0"/>
              <a:t>；即：</a:t>
            </a:r>
          </a:p>
          <a:p>
            <a:pPr marL="625475" indent="0">
              <a:lnSpc>
                <a:spcPts val="3300"/>
              </a:lnSpc>
              <a:buNone/>
            </a:pPr>
            <a:r>
              <a:rPr lang="zh-CN" altLang="zh-CN" sz="2000" dirty="0"/>
              <a:t>计算：</a:t>
            </a:r>
            <a:r>
              <a:rPr lang="en-US" altLang="zh-CN" sz="2000" dirty="0"/>
              <a:t>{ W | F A</a:t>
            </a:r>
            <a:r>
              <a:rPr lang="zh-CN" altLang="zh-CN" sz="2000" dirty="0"/>
              <a:t>→</a:t>
            </a:r>
            <a:r>
              <a:rPr lang="en-US" altLang="zh-CN" sz="2000" dirty="0"/>
              <a:t>W }=</a:t>
            </a:r>
            <a:r>
              <a:rPr lang="zh-CN" altLang="zh-CN" sz="2000" dirty="0"/>
              <a:t>？，</a:t>
            </a:r>
            <a:r>
              <a:rPr lang="en-US" altLang="zh-CN" sz="2000" dirty="0"/>
              <a:t>{ W | F B</a:t>
            </a:r>
            <a:r>
              <a:rPr lang="zh-CN" altLang="zh-CN" sz="2000" dirty="0"/>
              <a:t>→</a:t>
            </a:r>
            <a:r>
              <a:rPr lang="en-US" altLang="zh-CN" sz="2000" dirty="0"/>
              <a:t>W }=</a:t>
            </a:r>
            <a:r>
              <a:rPr lang="zh-CN" altLang="zh-CN" sz="2000" dirty="0"/>
              <a:t>？，</a:t>
            </a:r>
            <a:r>
              <a:rPr lang="en-US" altLang="zh-CN" sz="2000" dirty="0"/>
              <a:t>{ W | F AB</a:t>
            </a:r>
            <a:r>
              <a:rPr lang="zh-CN" altLang="zh-CN" sz="2000" dirty="0"/>
              <a:t>→</a:t>
            </a:r>
            <a:r>
              <a:rPr lang="en-US" altLang="zh-CN" sz="2000" dirty="0"/>
              <a:t>W }=</a:t>
            </a:r>
            <a:r>
              <a:rPr lang="zh-CN" altLang="zh-CN" sz="2000" dirty="0"/>
              <a:t>？。</a:t>
            </a:r>
          </a:p>
          <a:p>
            <a:pPr marL="625475" indent="0">
              <a:lnSpc>
                <a:spcPts val="3300"/>
              </a:lnSpc>
              <a:buNone/>
            </a:pPr>
            <a:r>
              <a:rPr lang="zh-CN" altLang="zh-CN" sz="2000" dirty="0"/>
              <a:t>方法：依次扫描</a:t>
            </a:r>
            <a:r>
              <a:rPr lang="en-US" altLang="zh-CN" sz="2000" dirty="0"/>
              <a:t>F</a:t>
            </a:r>
            <a:r>
              <a:rPr lang="zh-CN" altLang="zh-CN" sz="2000" dirty="0"/>
              <a:t>的函数依赖，计算</a:t>
            </a:r>
            <a:r>
              <a:rPr lang="en-US" altLang="zh-CN" sz="2000" dirty="0"/>
              <a:t>X(1)</a:t>
            </a:r>
            <a:r>
              <a:rPr lang="zh-CN" altLang="zh-CN" sz="2000" dirty="0"/>
              <a:t>的子集分别为</a:t>
            </a:r>
            <a:r>
              <a:rPr lang="en-US" altLang="zh-CN" sz="2000" dirty="0"/>
              <a:t>A</a:t>
            </a:r>
            <a:r>
              <a:rPr lang="zh-CN" altLang="zh-CN" sz="2000" dirty="0"/>
              <a:t>，</a:t>
            </a:r>
            <a:r>
              <a:rPr lang="en-US" altLang="zh-CN" sz="2000" dirty="0"/>
              <a:t>B</a:t>
            </a:r>
            <a:r>
              <a:rPr lang="zh-CN" altLang="zh-CN" sz="2000" dirty="0"/>
              <a:t>，</a:t>
            </a:r>
            <a:r>
              <a:rPr lang="en-US" altLang="zh-CN" sz="2000" dirty="0"/>
              <a:t>AB</a:t>
            </a:r>
            <a:r>
              <a:rPr lang="zh-CN" altLang="zh-CN" sz="2000" dirty="0"/>
              <a:t>的函数依赖所导出的新属性。即：</a:t>
            </a:r>
            <a:r>
              <a:rPr lang="en-US" altLang="zh-CN" sz="2000" dirty="0"/>
              <a:t>A</a:t>
            </a:r>
            <a:r>
              <a:rPr lang="zh-CN" altLang="zh-CN" sz="2000" dirty="0"/>
              <a:t>→</a:t>
            </a:r>
            <a:r>
              <a:rPr lang="en-US" altLang="zh-CN" sz="2000" dirty="0">
                <a:sym typeface="Symbol"/>
              </a:rPr>
              <a:t></a:t>
            </a:r>
            <a:r>
              <a:rPr lang="zh-CN" altLang="zh-CN" sz="2000" dirty="0"/>
              <a:t>，</a:t>
            </a:r>
            <a:r>
              <a:rPr lang="en-US" altLang="zh-CN" sz="2000" dirty="0"/>
              <a:t>B</a:t>
            </a:r>
            <a:r>
              <a:rPr lang="zh-CN" altLang="zh-CN" sz="2000" dirty="0"/>
              <a:t>→</a:t>
            </a:r>
            <a:r>
              <a:rPr lang="en-US" altLang="zh-CN" sz="2000" dirty="0"/>
              <a:t>D</a:t>
            </a:r>
            <a:r>
              <a:rPr lang="zh-CN" altLang="zh-CN" sz="2000" dirty="0"/>
              <a:t>，</a:t>
            </a:r>
            <a:r>
              <a:rPr lang="en-US" altLang="zh-CN" sz="2000" dirty="0"/>
              <a:t>AB</a:t>
            </a:r>
            <a:r>
              <a:rPr lang="zh-CN" altLang="zh-CN" sz="2000" dirty="0"/>
              <a:t>→</a:t>
            </a:r>
            <a:r>
              <a:rPr lang="en-US" altLang="zh-CN" sz="2000" dirty="0"/>
              <a:t>C</a:t>
            </a:r>
            <a:r>
              <a:rPr lang="zh-CN" altLang="zh-CN" sz="2000" dirty="0"/>
              <a:t>，所以，</a:t>
            </a:r>
            <a:r>
              <a:rPr lang="en-US" altLang="zh-CN" sz="2000" dirty="0"/>
              <a:t>Y=CD</a:t>
            </a:r>
            <a:r>
              <a:rPr lang="zh-CN" altLang="zh-CN" sz="2000" dirty="0"/>
              <a:t>。</a:t>
            </a:r>
          </a:p>
          <a:p>
            <a:pPr>
              <a:lnSpc>
                <a:spcPts val="3300"/>
              </a:lnSpc>
            </a:pPr>
            <a:r>
              <a:rPr lang="zh-CN" altLang="zh-CN" sz="2000" dirty="0"/>
              <a:t>（</a:t>
            </a:r>
            <a:r>
              <a:rPr lang="en-US" altLang="zh-CN" sz="2000" dirty="0"/>
              <a:t>3</a:t>
            </a:r>
            <a:r>
              <a:rPr lang="zh-CN" altLang="zh-CN" sz="2000" dirty="0"/>
              <a:t>）</a:t>
            </a:r>
            <a:r>
              <a:rPr lang="en-US" altLang="zh-CN" sz="2000" dirty="0"/>
              <a:t>X(2)=Y</a:t>
            </a:r>
            <a:r>
              <a:rPr lang="zh-CN" altLang="zh-CN" sz="2000" dirty="0"/>
              <a:t>∪</a:t>
            </a:r>
            <a:r>
              <a:rPr lang="en-US" altLang="zh-CN" sz="2000" dirty="0"/>
              <a:t>X(1)=ABCD</a:t>
            </a:r>
            <a:r>
              <a:rPr lang="zh-CN" altLang="zh-CN" sz="2000" dirty="0"/>
              <a:t>。</a:t>
            </a:r>
          </a:p>
          <a:p>
            <a:pPr>
              <a:lnSpc>
                <a:spcPts val="3300"/>
              </a:lnSpc>
            </a:pPr>
            <a:r>
              <a:rPr lang="zh-CN" altLang="zh-CN" sz="2000" dirty="0"/>
              <a:t>（</a:t>
            </a:r>
            <a:r>
              <a:rPr lang="en-US" altLang="zh-CN" sz="2000" dirty="0"/>
              <a:t>4</a:t>
            </a:r>
            <a:r>
              <a:rPr lang="zh-CN" altLang="zh-CN" sz="2000" dirty="0"/>
              <a:t>）判断</a:t>
            </a:r>
            <a:r>
              <a:rPr lang="en-US" altLang="zh-CN" sz="2000" dirty="0"/>
              <a:t>X(2)=X(1)</a:t>
            </a:r>
            <a:r>
              <a:rPr lang="zh-CN" altLang="zh-CN" sz="2000" dirty="0"/>
              <a:t>？因为</a:t>
            </a:r>
            <a:r>
              <a:rPr lang="en-US" altLang="zh-CN" sz="2000" dirty="0"/>
              <a:t>X(2)</a:t>
            </a:r>
            <a:r>
              <a:rPr lang="zh-CN" altLang="zh-CN" sz="2000" dirty="0"/>
              <a:t>≠</a:t>
            </a:r>
            <a:r>
              <a:rPr lang="en-US" altLang="zh-CN" sz="2000" dirty="0"/>
              <a:t>X(1)</a:t>
            </a:r>
            <a:r>
              <a:rPr lang="zh-CN" altLang="zh-CN" sz="2000" dirty="0"/>
              <a:t>，且</a:t>
            </a:r>
            <a:r>
              <a:rPr lang="en-US" altLang="zh-CN" sz="2000" dirty="0"/>
              <a:t>X(2)</a:t>
            </a:r>
            <a:r>
              <a:rPr lang="zh-CN" altLang="zh-CN" sz="2000" dirty="0"/>
              <a:t>≠</a:t>
            </a:r>
            <a:r>
              <a:rPr lang="en-US" altLang="zh-CN" sz="2000" dirty="0"/>
              <a:t>U</a:t>
            </a:r>
            <a:r>
              <a:rPr lang="zh-CN" altLang="zh-CN" sz="2000" dirty="0"/>
              <a:t>，所以</a:t>
            </a:r>
            <a:r>
              <a:rPr lang="en-US" altLang="zh-CN" sz="2000" dirty="0"/>
              <a:t>X(1)</a:t>
            </a:r>
            <a:r>
              <a:rPr lang="en-US" altLang="zh-CN" sz="2000" dirty="0">
                <a:sym typeface="Symbol"/>
              </a:rPr>
              <a:t></a:t>
            </a:r>
            <a:r>
              <a:rPr lang="en-US" altLang="zh-CN" sz="2000" dirty="0"/>
              <a:t>X(2)</a:t>
            </a:r>
            <a:r>
              <a:rPr lang="zh-CN" altLang="zh-CN" sz="2000" dirty="0"/>
              <a:t>，转向（</a:t>
            </a:r>
            <a:r>
              <a:rPr lang="en-US" altLang="zh-CN" sz="2000" dirty="0"/>
              <a:t>2</a:t>
            </a:r>
            <a:r>
              <a:rPr lang="zh-CN" altLang="zh-CN" sz="2000" dirty="0"/>
              <a:t>），继续计算</a:t>
            </a:r>
            <a:r>
              <a:rPr lang="en-US" altLang="zh-CN" sz="2000" dirty="0"/>
              <a:t>X(1)=ABCD</a:t>
            </a:r>
            <a:r>
              <a:rPr lang="zh-CN" altLang="zh-CN" sz="2000" dirty="0"/>
              <a:t>的子集导出的新属性，即：</a:t>
            </a:r>
            <a:r>
              <a:rPr lang="en-US" altLang="zh-CN" sz="2000" dirty="0"/>
              <a:t>AB</a:t>
            </a:r>
            <a:r>
              <a:rPr lang="zh-CN" altLang="zh-CN" sz="2000" dirty="0"/>
              <a:t>→</a:t>
            </a:r>
            <a:r>
              <a:rPr lang="en-US" altLang="zh-CN" sz="2000" dirty="0"/>
              <a:t>C</a:t>
            </a:r>
            <a:r>
              <a:rPr lang="zh-CN" altLang="zh-CN" sz="2000" dirty="0"/>
              <a:t>，</a:t>
            </a:r>
            <a:r>
              <a:rPr lang="en-US" altLang="zh-CN" sz="2000" dirty="0"/>
              <a:t>B</a:t>
            </a:r>
            <a:r>
              <a:rPr lang="zh-CN" altLang="zh-CN" sz="2000" dirty="0"/>
              <a:t>→</a:t>
            </a:r>
            <a:r>
              <a:rPr lang="en-US" altLang="zh-CN" sz="2000" dirty="0"/>
              <a:t>D</a:t>
            </a:r>
            <a:r>
              <a:rPr lang="zh-CN" altLang="zh-CN" sz="2000" dirty="0"/>
              <a:t>，</a:t>
            </a:r>
            <a:r>
              <a:rPr lang="en-US" altLang="zh-CN" sz="2000" dirty="0"/>
              <a:t>C</a:t>
            </a:r>
            <a:r>
              <a:rPr lang="zh-CN" altLang="zh-CN" sz="2000" dirty="0"/>
              <a:t>→</a:t>
            </a:r>
            <a:r>
              <a:rPr lang="en-US" altLang="zh-CN" sz="2000" dirty="0"/>
              <a:t>E</a:t>
            </a:r>
            <a:r>
              <a:rPr lang="zh-CN" altLang="zh-CN" sz="2000" dirty="0"/>
              <a:t>，</a:t>
            </a:r>
            <a:r>
              <a:rPr lang="en-US" altLang="zh-CN" sz="2000" dirty="0"/>
              <a:t>AC</a:t>
            </a:r>
            <a:r>
              <a:rPr lang="zh-CN" altLang="zh-CN" sz="2000" dirty="0"/>
              <a:t>→</a:t>
            </a:r>
            <a:r>
              <a:rPr lang="en-US" altLang="zh-CN" sz="2000" dirty="0"/>
              <a:t>B</a:t>
            </a:r>
            <a:r>
              <a:rPr lang="zh-CN" altLang="zh-CN" sz="2000" dirty="0"/>
              <a:t>；所以，</a:t>
            </a:r>
            <a:r>
              <a:rPr lang="en-US" altLang="zh-CN" sz="2000" dirty="0"/>
              <a:t>Y=E</a:t>
            </a:r>
            <a:r>
              <a:rPr lang="zh-CN" altLang="zh-CN" sz="2000" dirty="0"/>
              <a:t>。</a:t>
            </a:r>
          </a:p>
          <a:p>
            <a:pPr>
              <a:lnSpc>
                <a:spcPts val="3300"/>
              </a:lnSpc>
            </a:pPr>
            <a:r>
              <a:rPr lang="zh-CN" altLang="zh-CN" sz="2000" dirty="0"/>
              <a:t>（</a:t>
            </a:r>
            <a:r>
              <a:rPr lang="en-US" altLang="zh-CN" sz="2000" dirty="0"/>
              <a:t>5</a:t>
            </a:r>
            <a:r>
              <a:rPr lang="zh-CN" altLang="zh-CN" sz="2000" dirty="0"/>
              <a:t>）</a:t>
            </a:r>
            <a:r>
              <a:rPr lang="en-US" altLang="zh-CN" sz="2000" dirty="0"/>
              <a:t>X(2)=Y</a:t>
            </a:r>
            <a:r>
              <a:rPr lang="zh-CN" altLang="zh-CN" sz="2000" dirty="0"/>
              <a:t>∪</a:t>
            </a:r>
            <a:r>
              <a:rPr lang="en-US" altLang="zh-CN" sz="2000" dirty="0"/>
              <a:t>X(1</a:t>
            </a:r>
            <a:r>
              <a:rPr lang="en-US" altLang="zh-CN" sz="2000" dirty="0" smtClean="0"/>
              <a:t>)=E</a:t>
            </a:r>
            <a:r>
              <a:rPr lang="zh-CN" altLang="zh-CN" sz="2000" dirty="0"/>
              <a:t>∪</a:t>
            </a:r>
            <a:r>
              <a:rPr lang="en-US" altLang="zh-CN" sz="2000" dirty="0"/>
              <a:t>X(1)=ABCDE</a:t>
            </a:r>
            <a:r>
              <a:rPr lang="zh-CN" altLang="zh-CN" sz="2000" dirty="0"/>
              <a:t>。</a:t>
            </a:r>
          </a:p>
          <a:p>
            <a:pPr>
              <a:lnSpc>
                <a:spcPts val="3300"/>
              </a:lnSpc>
            </a:pPr>
            <a:r>
              <a:rPr lang="zh-CN" altLang="zh-CN" sz="2000" dirty="0"/>
              <a:t>（</a:t>
            </a:r>
            <a:r>
              <a:rPr lang="en-US" altLang="zh-CN" sz="2000" dirty="0"/>
              <a:t>6</a:t>
            </a:r>
            <a:r>
              <a:rPr lang="zh-CN" altLang="zh-CN" sz="2000" dirty="0"/>
              <a:t>）因为</a:t>
            </a:r>
            <a:r>
              <a:rPr lang="en-US" altLang="zh-CN" sz="2000" dirty="0"/>
              <a:t>X(2)=U</a:t>
            </a:r>
            <a:r>
              <a:rPr lang="zh-CN" altLang="zh-CN" sz="2000" dirty="0"/>
              <a:t>，结束。</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2955783057"/>
              </p:ext>
            </p:extLst>
          </p:nvPr>
        </p:nvGraphicFramePr>
        <p:xfrm>
          <a:off x="5652120" y="1124744"/>
          <a:ext cx="1079500" cy="503237"/>
        </p:xfrm>
        <a:graphic>
          <a:graphicData uri="http://schemas.openxmlformats.org/presentationml/2006/ole">
            <mc:AlternateContent xmlns:mc="http://schemas.openxmlformats.org/markup-compatibility/2006">
              <mc:Choice xmlns:v="urn:schemas-microsoft-com:vml" Requires="v">
                <p:oleObj spid="_x0000_s23776" name="公式" r:id="rId3" imgW="431640" imgH="228600" progId="Equation.3">
                  <p:embed/>
                </p:oleObj>
              </mc:Choice>
              <mc:Fallback>
                <p:oleObj name="公式" r:id="rId3" imgW="431640" imgH="228600" progId="Equation.3">
                  <p:embed/>
                  <p:pic>
                    <p:nvPicPr>
                      <p:cNvPr id="0" name=""/>
                      <p:cNvPicPr>
                        <a:picLocks noChangeAspect="1" noChangeArrowheads="1"/>
                      </p:cNvPicPr>
                      <p:nvPr/>
                    </p:nvPicPr>
                    <p:blipFill>
                      <a:blip r:embed="rId4"/>
                      <a:srcRect/>
                      <a:stretch>
                        <a:fillRect/>
                      </a:stretch>
                    </p:blipFill>
                    <p:spPr bwMode="auto">
                      <a:xfrm>
                        <a:off x="5652120" y="1124744"/>
                        <a:ext cx="1079500" cy="503237"/>
                      </a:xfrm>
                      <a:prstGeom prst="rect">
                        <a:avLst/>
                      </a:prstGeom>
                      <a:noFill/>
                    </p:spPr>
                  </p:pic>
                </p:oleObj>
              </mc:Fallback>
            </mc:AlternateContent>
          </a:graphicData>
        </a:graphic>
      </p:graphicFrame>
    </p:spTree>
    <p:extLst>
      <p:ext uri="{BB962C8B-B14F-4D97-AF65-F5344CB8AC3E}">
        <p14:creationId xmlns:p14="http://schemas.microsoft.com/office/powerpoint/2010/main" val="18881218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6.3.3  </a:t>
            </a:r>
            <a:r>
              <a:rPr lang="zh-CN" altLang="zh-CN" dirty="0"/>
              <a:t>属性集闭包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52</a:t>
            </a:fld>
            <a:endParaRPr lang="zh-CN" altLang="en-US" dirty="0"/>
          </a:p>
        </p:txBody>
      </p:sp>
      <p:sp>
        <p:nvSpPr>
          <p:cNvPr id="7" name="文本占位符 6"/>
          <p:cNvSpPr>
            <a:spLocks noGrp="1"/>
          </p:cNvSpPr>
          <p:nvPr>
            <p:ph type="body" idx="1"/>
          </p:nvPr>
        </p:nvSpPr>
        <p:spPr>
          <a:xfrm>
            <a:off x="107504" y="620688"/>
            <a:ext cx="8856984" cy="2016224"/>
          </a:xfrm>
        </p:spPr>
        <p:txBody>
          <a:bodyPr>
            <a:normAutofit fontScale="92500"/>
          </a:bodyPr>
          <a:lstStyle/>
          <a:p>
            <a:r>
              <a:rPr lang="zh-CN" altLang="zh-CN" sz="2000" dirty="0">
                <a:solidFill>
                  <a:srgbClr val="0000FF"/>
                </a:solidFill>
              </a:rPr>
              <a:t>算法</a:t>
            </a:r>
            <a:r>
              <a:rPr lang="en-US" altLang="zh-CN" sz="2000" dirty="0" smtClean="0">
                <a:solidFill>
                  <a:srgbClr val="0000FF"/>
                </a:solidFill>
              </a:rPr>
              <a:t>6.l </a:t>
            </a:r>
            <a:r>
              <a:rPr lang="zh-CN" altLang="zh-CN" sz="2000" dirty="0" smtClean="0"/>
              <a:t>可以</a:t>
            </a:r>
            <a:r>
              <a:rPr lang="zh-CN" altLang="zh-CN" sz="2000" dirty="0"/>
              <a:t>简化如下（如图</a:t>
            </a:r>
            <a:r>
              <a:rPr lang="en-US" altLang="zh-CN" sz="2000" dirty="0"/>
              <a:t>6.7</a:t>
            </a:r>
            <a:r>
              <a:rPr lang="zh-CN" altLang="zh-CN" sz="2000" dirty="0"/>
              <a:t>所示）：</a:t>
            </a:r>
          </a:p>
          <a:p>
            <a:r>
              <a:rPr lang="zh-CN" altLang="zh-CN" sz="2000" dirty="0"/>
              <a:t>（</a:t>
            </a:r>
            <a:r>
              <a:rPr lang="en-US" altLang="zh-CN" sz="2000" dirty="0"/>
              <a:t>1</a:t>
            </a:r>
            <a:r>
              <a:rPr lang="zh-CN" altLang="zh-CN" sz="2000" dirty="0"/>
              <a:t>）</a:t>
            </a:r>
            <a:r>
              <a:rPr lang="en-US" altLang="zh-CN" sz="2000" dirty="0"/>
              <a:t> </a:t>
            </a:r>
            <a:r>
              <a:rPr lang="en-US" altLang="zh-CN" sz="2000" dirty="0" smtClean="0"/>
              <a:t>       =</a:t>
            </a:r>
            <a:r>
              <a:rPr lang="en-US" altLang="zh-CN" sz="2000" dirty="0"/>
              <a:t>X</a:t>
            </a:r>
            <a:r>
              <a:rPr lang="zh-CN" altLang="zh-CN" sz="2000" dirty="0"/>
              <a:t>。</a:t>
            </a:r>
          </a:p>
          <a:p>
            <a:r>
              <a:rPr lang="zh-CN" altLang="zh-CN" sz="2000" dirty="0"/>
              <a:t>（</a:t>
            </a:r>
            <a:r>
              <a:rPr lang="en-US" altLang="zh-CN" sz="2000" dirty="0"/>
              <a:t>2</a:t>
            </a:r>
            <a:r>
              <a:rPr lang="zh-CN" altLang="zh-CN" sz="2000" dirty="0"/>
              <a:t>）如果</a:t>
            </a:r>
            <a:r>
              <a:rPr lang="en-US" altLang="zh-CN" sz="2000" dirty="0"/>
              <a:t> </a:t>
            </a:r>
            <a:r>
              <a:rPr lang="zh-CN" altLang="en-US" sz="2000" dirty="0" smtClean="0"/>
              <a:t>存在</a:t>
            </a:r>
            <a:r>
              <a:rPr lang="en-US" altLang="zh-CN" sz="2000" dirty="0" smtClean="0"/>
              <a:t>Y           </a:t>
            </a:r>
            <a:r>
              <a:rPr lang="zh-CN" altLang="zh-CN" sz="2000" dirty="0" smtClean="0"/>
              <a:t>，</a:t>
            </a:r>
            <a:r>
              <a:rPr lang="zh-CN" altLang="zh-CN" sz="2000" dirty="0"/>
              <a:t>而且</a:t>
            </a:r>
            <a:r>
              <a:rPr lang="en-US" altLang="zh-CN" sz="2000" dirty="0"/>
              <a:t>Y</a:t>
            </a:r>
            <a:r>
              <a:rPr lang="zh-CN" altLang="zh-CN" sz="2000" dirty="0"/>
              <a:t>→</a:t>
            </a:r>
            <a:r>
              <a:rPr lang="en-US" altLang="zh-CN" sz="2000" dirty="0" smtClean="0"/>
              <a:t>A </a:t>
            </a:r>
            <a:r>
              <a:rPr lang="en-US" altLang="zh-CN" sz="2800" b="1" dirty="0" smtClean="0">
                <a:sym typeface="Symbol"/>
              </a:rPr>
              <a:t></a:t>
            </a:r>
            <a:r>
              <a:rPr lang="en-US" altLang="zh-CN" sz="2000" dirty="0" smtClean="0"/>
              <a:t> F</a:t>
            </a:r>
            <a:r>
              <a:rPr lang="zh-CN" altLang="zh-CN" sz="2000" dirty="0"/>
              <a:t>，则</a:t>
            </a:r>
            <a:r>
              <a:rPr lang="en-US" altLang="zh-CN" sz="2000" dirty="0"/>
              <a:t> </a:t>
            </a:r>
            <a:r>
              <a:rPr lang="en-US" altLang="zh-CN" sz="2000" dirty="0" smtClean="0"/>
              <a:t>           =        </a:t>
            </a:r>
            <a:r>
              <a:rPr lang="zh-CN" altLang="zh-CN" sz="2000" dirty="0" smtClean="0"/>
              <a:t>∪</a:t>
            </a:r>
            <a:r>
              <a:rPr lang="en-US" altLang="zh-CN" sz="2000" dirty="0"/>
              <a:t>A</a:t>
            </a:r>
            <a:r>
              <a:rPr lang="zh-CN" altLang="zh-CN" sz="2000" dirty="0"/>
              <a:t>。</a:t>
            </a:r>
          </a:p>
          <a:p>
            <a:r>
              <a:rPr lang="zh-CN" altLang="zh-CN" sz="2000" dirty="0"/>
              <a:t>（</a:t>
            </a:r>
            <a:r>
              <a:rPr lang="en-US" altLang="zh-CN" sz="2000" dirty="0"/>
              <a:t>3</a:t>
            </a:r>
            <a:r>
              <a:rPr lang="zh-CN" altLang="zh-CN" sz="2000" dirty="0"/>
              <a:t>）判断</a:t>
            </a:r>
            <a:r>
              <a:rPr lang="en-US" altLang="zh-CN" sz="2000" dirty="0"/>
              <a:t> </a:t>
            </a:r>
            <a:r>
              <a:rPr lang="en-US" altLang="zh-CN" sz="2000" dirty="0" smtClean="0"/>
              <a:t>     </a:t>
            </a:r>
            <a:r>
              <a:rPr lang="zh-CN" altLang="zh-CN" sz="2000" dirty="0" smtClean="0"/>
              <a:t>是否</a:t>
            </a:r>
            <a:r>
              <a:rPr lang="zh-CN" altLang="zh-CN" sz="2000" dirty="0"/>
              <a:t>改变，如果不改变，则</a:t>
            </a:r>
            <a:r>
              <a:rPr lang="zh-CN" altLang="zh-CN" sz="2000" dirty="0" smtClean="0"/>
              <a:t>输出</a:t>
            </a:r>
            <a:r>
              <a:rPr lang="en-US" altLang="zh-CN" sz="2000" dirty="0" smtClean="0"/>
              <a:t>        </a:t>
            </a:r>
            <a:r>
              <a:rPr lang="zh-CN" altLang="zh-CN" sz="2000" dirty="0"/>
              <a:t>，结束；否则转向（</a:t>
            </a:r>
            <a:r>
              <a:rPr lang="en-US" altLang="zh-CN" sz="2000" dirty="0"/>
              <a:t>2</a:t>
            </a:r>
            <a:r>
              <a:rPr lang="zh-CN" altLang="zh-CN" sz="2000" dirty="0"/>
              <a: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3703861816"/>
              </p:ext>
            </p:extLst>
          </p:nvPr>
        </p:nvGraphicFramePr>
        <p:xfrm>
          <a:off x="6444208" y="1556792"/>
          <a:ext cx="603250" cy="503237"/>
        </p:xfrm>
        <a:graphic>
          <a:graphicData uri="http://schemas.openxmlformats.org/presentationml/2006/ole">
            <mc:AlternateContent xmlns:mc="http://schemas.openxmlformats.org/markup-compatibility/2006">
              <mc:Choice xmlns:v="urn:schemas-microsoft-com:vml" Requires="v">
                <p:oleObj spid="_x0000_s70249" name="公式" r:id="rId3" imgW="241200" imgH="228600" progId="Equation.3">
                  <p:embed/>
                </p:oleObj>
              </mc:Choice>
              <mc:Fallback>
                <p:oleObj name="公式" r:id="rId3" imgW="241200" imgH="228600" progId="Equation.3">
                  <p:embed/>
                  <p:pic>
                    <p:nvPicPr>
                      <p:cNvPr id="0" name=""/>
                      <p:cNvPicPr>
                        <a:picLocks noChangeAspect="1" noChangeArrowheads="1"/>
                      </p:cNvPicPr>
                      <p:nvPr/>
                    </p:nvPicPr>
                    <p:blipFill>
                      <a:blip r:embed="rId4"/>
                      <a:srcRect/>
                      <a:stretch>
                        <a:fillRect/>
                      </a:stretch>
                    </p:blipFill>
                    <p:spPr bwMode="auto">
                      <a:xfrm>
                        <a:off x="6444208" y="1556792"/>
                        <a:ext cx="603250" cy="503237"/>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631655531"/>
              </p:ext>
            </p:extLst>
          </p:nvPr>
        </p:nvGraphicFramePr>
        <p:xfrm>
          <a:off x="1187624" y="1124744"/>
          <a:ext cx="539750" cy="476250"/>
        </p:xfrm>
        <a:graphic>
          <a:graphicData uri="http://schemas.openxmlformats.org/presentationml/2006/ole">
            <mc:AlternateContent xmlns:mc="http://schemas.openxmlformats.org/markup-compatibility/2006">
              <mc:Choice xmlns:v="urn:schemas-microsoft-com:vml" Requires="v">
                <p:oleObj spid="_x0000_s70250" name="公式" r:id="rId5" imgW="215619" imgH="215619" progId="Equation.3">
                  <p:embed/>
                </p:oleObj>
              </mc:Choice>
              <mc:Fallback>
                <p:oleObj name="公式" r:id="rId5" imgW="215619" imgH="215619" progId="Equation.3">
                  <p:embed/>
                  <p:pic>
                    <p:nvPicPr>
                      <p:cNvPr id="0"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4" y="1124744"/>
                        <a:ext cx="539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23126241"/>
              </p:ext>
            </p:extLst>
          </p:nvPr>
        </p:nvGraphicFramePr>
        <p:xfrm>
          <a:off x="2483768" y="1556792"/>
          <a:ext cx="857250" cy="503237"/>
        </p:xfrm>
        <a:graphic>
          <a:graphicData uri="http://schemas.openxmlformats.org/presentationml/2006/ole">
            <mc:AlternateContent xmlns:mc="http://schemas.openxmlformats.org/markup-compatibility/2006">
              <mc:Choice xmlns:v="urn:schemas-microsoft-com:vml" Requires="v">
                <p:oleObj spid="_x0000_s70251" name="公式" r:id="rId7" imgW="342720" imgH="228600" progId="Equation.3">
                  <p:embed/>
                </p:oleObj>
              </mc:Choice>
              <mc:Fallback>
                <p:oleObj name="公式" r:id="rId7" imgW="342720" imgH="228600" progId="Equation.3">
                  <p:embed/>
                  <p:pic>
                    <p:nvPicPr>
                      <p:cNvPr id="0" name=""/>
                      <p:cNvPicPr>
                        <a:picLocks noChangeAspect="1" noChangeArrowheads="1"/>
                      </p:cNvPicPr>
                      <p:nvPr/>
                    </p:nvPicPr>
                    <p:blipFill>
                      <a:blip r:embed="rId8"/>
                      <a:srcRect/>
                      <a:stretch>
                        <a:fillRect/>
                      </a:stretch>
                    </p:blipFill>
                    <p:spPr bwMode="auto">
                      <a:xfrm>
                        <a:off x="2483768" y="1556792"/>
                        <a:ext cx="8572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81230389"/>
              </p:ext>
            </p:extLst>
          </p:nvPr>
        </p:nvGraphicFramePr>
        <p:xfrm>
          <a:off x="5540151" y="1556792"/>
          <a:ext cx="603250" cy="503237"/>
        </p:xfrm>
        <a:graphic>
          <a:graphicData uri="http://schemas.openxmlformats.org/presentationml/2006/ole">
            <mc:AlternateContent xmlns:mc="http://schemas.openxmlformats.org/markup-compatibility/2006">
              <mc:Choice xmlns:v="urn:schemas-microsoft-com:vml" Requires="v">
                <p:oleObj spid="_x0000_s70252" name="公式" r:id="rId9" imgW="241200" imgH="228600" progId="Equation.3">
                  <p:embed/>
                </p:oleObj>
              </mc:Choice>
              <mc:Fallback>
                <p:oleObj name="公式" r:id="rId9" imgW="241200" imgH="228600" progId="Equation.3">
                  <p:embed/>
                  <p:pic>
                    <p:nvPicPr>
                      <p:cNvPr id="0" name=""/>
                      <p:cNvPicPr>
                        <a:picLocks noChangeAspect="1" noChangeArrowheads="1"/>
                      </p:cNvPicPr>
                      <p:nvPr/>
                    </p:nvPicPr>
                    <p:blipFill>
                      <a:blip r:embed="rId4"/>
                      <a:srcRect/>
                      <a:stretch>
                        <a:fillRect/>
                      </a:stretch>
                    </p:blipFill>
                    <p:spPr bwMode="auto">
                      <a:xfrm>
                        <a:off x="5540151" y="1556792"/>
                        <a:ext cx="603250" cy="503237"/>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03861816"/>
              </p:ext>
            </p:extLst>
          </p:nvPr>
        </p:nvGraphicFramePr>
        <p:xfrm>
          <a:off x="5508104" y="2060848"/>
          <a:ext cx="603250" cy="503237"/>
        </p:xfrm>
        <a:graphic>
          <a:graphicData uri="http://schemas.openxmlformats.org/presentationml/2006/ole">
            <mc:AlternateContent xmlns:mc="http://schemas.openxmlformats.org/markup-compatibility/2006">
              <mc:Choice xmlns:v="urn:schemas-microsoft-com:vml" Requires="v">
                <p:oleObj spid="_x0000_s70253" name="公式" r:id="rId10" imgW="241200" imgH="228600" progId="Equation.3">
                  <p:embed/>
                </p:oleObj>
              </mc:Choice>
              <mc:Fallback>
                <p:oleObj name="公式" r:id="rId10" imgW="241200" imgH="228600" progId="Equation.3">
                  <p:embed/>
                  <p:pic>
                    <p:nvPicPr>
                      <p:cNvPr id="0" name=""/>
                      <p:cNvPicPr>
                        <a:picLocks noChangeAspect="1" noChangeArrowheads="1"/>
                      </p:cNvPicPr>
                      <p:nvPr/>
                    </p:nvPicPr>
                    <p:blipFill>
                      <a:blip r:embed="rId4"/>
                      <a:srcRect/>
                      <a:stretch>
                        <a:fillRect/>
                      </a:stretch>
                    </p:blipFill>
                    <p:spPr bwMode="auto">
                      <a:xfrm>
                        <a:off x="5508104" y="2060848"/>
                        <a:ext cx="603250" cy="503237"/>
                      </a:xfrm>
                      <a:prstGeom prst="rect">
                        <a:avLst/>
                      </a:prstGeom>
                      <a:noFill/>
                    </p:spPr>
                  </p:pic>
                </p:oleObj>
              </mc:Fallback>
            </mc:AlternateContent>
          </a:graphicData>
        </a:graphic>
      </p:graphicFrame>
      <p:grpSp>
        <p:nvGrpSpPr>
          <p:cNvPr id="14" name="组合 13"/>
          <p:cNvGrpSpPr>
            <a:grpSpLocks/>
          </p:cNvGrpSpPr>
          <p:nvPr/>
        </p:nvGrpSpPr>
        <p:grpSpPr bwMode="auto">
          <a:xfrm>
            <a:off x="1370479" y="2821940"/>
            <a:ext cx="6297865" cy="3127340"/>
            <a:chOff x="3366" y="3180"/>
            <a:chExt cx="3831" cy="1740"/>
          </a:xfrm>
        </p:grpSpPr>
        <p:sp>
          <p:nvSpPr>
            <p:cNvPr id="15" name="Oval 139"/>
            <p:cNvSpPr>
              <a:spLocks noChangeArrowheads="1"/>
            </p:cNvSpPr>
            <p:nvPr/>
          </p:nvSpPr>
          <p:spPr bwMode="auto">
            <a:xfrm>
              <a:off x="3366" y="3180"/>
              <a:ext cx="3831" cy="1740"/>
            </a:xfrm>
            <a:prstGeom prst="ellipse">
              <a:avLst/>
            </a:prstGeom>
            <a:noFill/>
            <a:ln w="9525">
              <a:solidFill>
                <a:srgbClr val="000000"/>
              </a:solidFill>
              <a:miter lim="800000"/>
              <a:headEnd/>
              <a:tailEnd/>
            </a:ln>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endParaRPr lang="zh-CN" altLang="en-US" sz="2000">
                <a:latin typeface="微软雅黑" pitchFamily="34" charset="-122"/>
                <a:ea typeface="微软雅黑" pitchFamily="34" charset="-122"/>
              </a:endParaRPr>
            </a:p>
          </p:txBody>
        </p:sp>
        <p:sp>
          <p:nvSpPr>
            <p:cNvPr id="16" name="Oval 140"/>
            <p:cNvSpPr>
              <a:spLocks noChangeArrowheads="1"/>
            </p:cNvSpPr>
            <p:nvPr/>
          </p:nvSpPr>
          <p:spPr bwMode="auto">
            <a:xfrm>
              <a:off x="3765" y="3418"/>
              <a:ext cx="1401" cy="1200"/>
            </a:xfrm>
            <a:prstGeom prst="ellipse">
              <a:avLst/>
            </a:prstGeom>
            <a:noFill/>
            <a:ln w="9525">
              <a:solidFill>
                <a:srgbClr val="000000"/>
              </a:solidFill>
              <a:miter lim="800000"/>
              <a:headEnd/>
              <a:tailEnd/>
            </a:ln>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endParaRPr lang="zh-CN" altLang="en-US" sz="2000">
                <a:latin typeface="微软雅黑" pitchFamily="34" charset="-122"/>
                <a:ea typeface="微软雅黑" pitchFamily="34" charset="-122"/>
              </a:endParaRPr>
            </a:p>
          </p:txBody>
        </p:sp>
        <p:sp>
          <p:nvSpPr>
            <p:cNvPr id="18" name="Oval 141"/>
            <p:cNvSpPr>
              <a:spLocks noChangeArrowheads="1"/>
            </p:cNvSpPr>
            <p:nvPr/>
          </p:nvSpPr>
          <p:spPr bwMode="auto">
            <a:xfrm>
              <a:off x="4393" y="3772"/>
              <a:ext cx="584" cy="559"/>
            </a:xfrm>
            <a:prstGeom prst="ellipse">
              <a:avLst/>
            </a:prstGeom>
            <a:noFill/>
            <a:ln w="9525">
              <a:solidFill>
                <a:srgbClr val="000000"/>
              </a:solidFill>
              <a:prstDash val="dash"/>
              <a:miter lim="800000"/>
              <a:headEnd/>
              <a:tailEnd/>
            </a:ln>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pPr indent="127000" algn="ctr">
                <a:lnSpc>
                  <a:spcPts val="1200"/>
                </a:lnSpc>
                <a:spcAft>
                  <a:spcPts val="0"/>
                </a:spcAft>
              </a:pPr>
              <a:r>
                <a:rPr lang="en-US" sz="2000" b="1" i="1">
                  <a:effectLst/>
                  <a:latin typeface="微软雅黑" pitchFamily="34" charset="-122"/>
                  <a:ea typeface="微软雅黑" pitchFamily="34" charset="-122"/>
                  <a:cs typeface="宋体"/>
                </a:rPr>
                <a:t>Y</a:t>
              </a:r>
              <a:endParaRPr lang="zh-CN" sz="2000">
                <a:effectLst/>
                <a:latin typeface="微软雅黑" pitchFamily="34" charset="-122"/>
                <a:ea typeface="微软雅黑" pitchFamily="34" charset="-122"/>
                <a:cs typeface="宋体"/>
              </a:endParaRPr>
            </a:p>
          </p:txBody>
        </p:sp>
        <p:sp>
          <p:nvSpPr>
            <p:cNvPr id="19" name="Text Box 143"/>
            <p:cNvSpPr txBox="1">
              <a:spLocks noChangeArrowheads="1"/>
            </p:cNvSpPr>
            <p:nvPr/>
          </p:nvSpPr>
          <p:spPr bwMode="auto">
            <a:xfrm>
              <a:off x="5799" y="3793"/>
              <a:ext cx="888" cy="441"/>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61265" tIns="30632" rIns="61265" bIns="30632" upright="1">
              <a:noAutofit/>
            </a:bodyPr>
            <a:lstStyle/>
            <a:p>
              <a:pPr indent="127000" algn="just">
                <a:lnSpc>
                  <a:spcPts val="1560"/>
                </a:lnSpc>
                <a:spcAft>
                  <a:spcPts val="0"/>
                </a:spcAft>
              </a:pPr>
              <a:r>
                <a:rPr lang="zh-CN" sz="2000">
                  <a:effectLst/>
                  <a:latin typeface="微软雅黑" pitchFamily="34" charset="-122"/>
                  <a:ea typeface="微软雅黑" pitchFamily="34" charset="-122"/>
                  <a:cs typeface="宋体"/>
                </a:rPr>
                <a:t>新</a:t>
              </a: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cxnSp>
          <p:nvCxnSpPr>
            <p:cNvPr id="20" name="Line 144"/>
            <p:cNvCxnSpPr/>
            <p:nvPr/>
          </p:nvCxnSpPr>
          <p:spPr bwMode="auto">
            <a:xfrm flipV="1">
              <a:off x="4861" y="3660"/>
              <a:ext cx="536" cy="304"/>
            </a:xfrm>
            <a:prstGeom prst="line">
              <a:avLst/>
            </a:prstGeom>
            <a:noFill/>
            <a:ln w="952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cxnSp>
        <p:sp>
          <p:nvSpPr>
            <p:cNvPr id="21" name="Oval 141"/>
            <p:cNvSpPr>
              <a:spLocks noChangeArrowheads="1"/>
            </p:cNvSpPr>
            <p:nvPr/>
          </p:nvSpPr>
          <p:spPr bwMode="auto">
            <a:xfrm>
              <a:off x="5271" y="3233"/>
              <a:ext cx="612" cy="560"/>
            </a:xfrm>
            <a:prstGeom prst="ellipse">
              <a:avLst/>
            </a:prstGeom>
            <a:noFill/>
            <a:ln w="9525">
              <a:noFill/>
              <a:prstDash val="dash"/>
              <a:miter lim="800000"/>
              <a:headEnd/>
              <a:tailEnd/>
            </a:ln>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pPr indent="127000" algn="ctr">
                <a:lnSpc>
                  <a:spcPts val="1200"/>
                </a:lnSpc>
                <a:spcAft>
                  <a:spcPts val="0"/>
                </a:spcAft>
              </a:pPr>
              <a:r>
                <a:rPr lang="en-US" sz="2000" b="1">
                  <a:effectLst/>
                  <a:latin typeface="微软雅黑" pitchFamily="34" charset="-122"/>
                  <a:ea typeface="微软雅黑" pitchFamily="34" charset="-122"/>
                  <a:cs typeface="宋体"/>
                </a:rPr>
                <a:t>A</a:t>
              </a:r>
              <a:endParaRPr lang="zh-CN" sz="2000">
                <a:effectLst/>
                <a:latin typeface="微软雅黑" pitchFamily="34" charset="-122"/>
                <a:ea typeface="微软雅黑" pitchFamily="34" charset="-122"/>
                <a:cs typeface="宋体"/>
              </a:endParaRPr>
            </a:p>
          </p:txBody>
        </p:sp>
        <p:sp>
          <p:nvSpPr>
            <p:cNvPr id="22" name="Text Box 143"/>
            <p:cNvSpPr txBox="1">
              <a:spLocks noChangeArrowheads="1"/>
            </p:cNvSpPr>
            <p:nvPr/>
          </p:nvSpPr>
          <p:spPr bwMode="auto">
            <a:xfrm>
              <a:off x="3772" y="3793"/>
              <a:ext cx="645" cy="441"/>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61265" tIns="30632" rIns="61265" bIns="30632" upright="1">
              <a:noAutofit/>
            </a:bodyPr>
            <a:lstStyle/>
            <a:p>
              <a:pPr indent="127000" algn="just">
                <a:lnSpc>
                  <a:spcPts val="1560"/>
                </a:lnSpc>
                <a:spcAft>
                  <a:spcPts val="0"/>
                </a:spcAft>
              </a:pPr>
              <a:endParaRPr lang="en-US" sz="2000">
                <a:effectLst/>
                <a:latin typeface="微软雅黑" pitchFamily="34" charset="-122"/>
                <a:ea typeface="微软雅黑" pitchFamily="34" charset="-122"/>
                <a:cs typeface="宋体"/>
              </a:endParaRPr>
            </a:p>
          </p:txBody>
        </p:sp>
      </p:grpSp>
      <p:graphicFrame>
        <p:nvGraphicFramePr>
          <p:cNvPr id="23" name="对象 22"/>
          <p:cNvGraphicFramePr>
            <a:graphicFrameLocks noChangeAspect="1"/>
          </p:cNvGraphicFramePr>
          <p:nvPr>
            <p:extLst>
              <p:ext uri="{D42A27DB-BD31-4B8C-83A1-F6EECF244321}">
                <p14:modId xmlns:p14="http://schemas.microsoft.com/office/powerpoint/2010/main" val="1892129640"/>
              </p:ext>
            </p:extLst>
          </p:nvPr>
        </p:nvGraphicFramePr>
        <p:xfrm>
          <a:off x="2266451" y="4136687"/>
          <a:ext cx="603250" cy="503237"/>
        </p:xfrm>
        <a:graphic>
          <a:graphicData uri="http://schemas.openxmlformats.org/presentationml/2006/ole">
            <mc:AlternateContent xmlns:mc="http://schemas.openxmlformats.org/markup-compatibility/2006">
              <mc:Choice xmlns:v="urn:schemas-microsoft-com:vml" Requires="v">
                <p:oleObj spid="_x0000_s70254" name="公式" r:id="rId11" imgW="241200" imgH="228600" progId="Equation.3">
                  <p:embed/>
                </p:oleObj>
              </mc:Choice>
              <mc:Fallback>
                <p:oleObj name="公式" r:id="rId11" imgW="241200" imgH="228600" progId="Equation.3">
                  <p:embed/>
                  <p:pic>
                    <p:nvPicPr>
                      <p:cNvPr id="0" name=""/>
                      <p:cNvPicPr>
                        <a:picLocks noChangeAspect="1" noChangeArrowheads="1"/>
                      </p:cNvPicPr>
                      <p:nvPr/>
                    </p:nvPicPr>
                    <p:blipFill>
                      <a:blip r:embed="rId4"/>
                      <a:srcRect/>
                      <a:stretch>
                        <a:fillRect/>
                      </a:stretch>
                    </p:blipFill>
                    <p:spPr bwMode="auto">
                      <a:xfrm>
                        <a:off x="2266451" y="4136687"/>
                        <a:ext cx="603250" cy="503237"/>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892129640"/>
              </p:ext>
            </p:extLst>
          </p:nvPr>
        </p:nvGraphicFramePr>
        <p:xfrm>
          <a:off x="5798417" y="3750051"/>
          <a:ext cx="603250" cy="503237"/>
        </p:xfrm>
        <a:graphic>
          <a:graphicData uri="http://schemas.openxmlformats.org/presentationml/2006/ole">
            <mc:AlternateContent xmlns:mc="http://schemas.openxmlformats.org/markup-compatibility/2006">
              <mc:Choice xmlns:v="urn:schemas-microsoft-com:vml" Requires="v">
                <p:oleObj spid="_x0000_s70255" name="公式" r:id="rId12" imgW="241200" imgH="228600" progId="Equation.3">
                  <p:embed/>
                </p:oleObj>
              </mc:Choice>
              <mc:Fallback>
                <p:oleObj name="公式" r:id="rId12" imgW="241200" imgH="228600" progId="Equation.3">
                  <p:embed/>
                  <p:pic>
                    <p:nvPicPr>
                      <p:cNvPr id="0" name=""/>
                      <p:cNvPicPr>
                        <a:picLocks noChangeAspect="1" noChangeArrowheads="1"/>
                      </p:cNvPicPr>
                      <p:nvPr/>
                    </p:nvPicPr>
                    <p:blipFill>
                      <a:blip r:embed="rId4"/>
                      <a:srcRect/>
                      <a:stretch>
                        <a:fillRect/>
                      </a:stretch>
                    </p:blipFill>
                    <p:spPr bwMode="auto">
                      <a:xfrm>
                        <a:off x="5798417" y="3750051"/>
                        <a:ext cx="603250" cy="503237"/>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442181708"/>
              </p:ext>
            </p:extLst>
          </p:nvPr>
        </p:nvGraphicFramePr>
        <p:xfrm>
          <a:off x="1619672" y="2060848"/>
          <a:ext cx="539750" cy="476250"/>
        </p:xfrm>
        <a:graphic>
          <a:graphicData uri="http://schemas.openxmlformats.org/presentationml/2006/ole">
            <mc:AlternateContent xmlns:mc="http://schemas.openxmlformats.org/markup-compatibility/2006">
              <mc:Choice xmlns:v="urn:schemas-microsoft-com:vml" Requires="v">
                <p:oleObj spid="_x0000_s70256" name="公式" r:id="rId13" imgW="215619" imgH="215619" progId="Equation.3">
                  <p:embed/>
                </p:oleObj>
              </mc:Choice>
              <mc:Fallback>
                <p:oleObj name="公式" r:id="rId13" imgW="215619" imgH="21561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2060848"/>
                        <a:ext cx="539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91266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6.3.3  </a:t>
            </a:r>
            <a:r>
              <a:rPr lang="zh-CN" altLang="zh-CN" dirty="0"/>
              <a:t>属性集闭包</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53</a:t>
            </a:fld>
            <a:endParaRPr lang="zh-CN" altLang="en-US" dirty="0"/>
          </a:p>
        </p:txBody>
      </p:sp>
      <p:sp>
        <p:nvSpPr>
          <p:cNvPr id="7" name="文本占位符 6"/>
          <p:cNvSpPr>
            <a:spLocks noGrp="1"/>
          </p:cNvSpPr>
          <p:nvPr>
            <p:ph type="body" idx="1"/>
          </p:nvPr>
        </p:nvSpPr>
        <p:spPr>
          <a:xfrm>
            <a:off x="107504" y="620688"/>
            <a:ext cx="8856984" cy="4320480"/>
          </a:xfrm>
        </p:spPr>
        <p:txBody>
          <a:bodyPr>
            <a:normAutofit/>
          </a:bodyPr>
          <a:lstStyle/>
          <a:p>
            <a:pPr marL="0" indent="0">
              <a:buNone/>
            </a:pPr>
            <a:r>
              <a:rPr lang="zh-CN" altLang="zh-CN" sz="2000" dirty="0">
                <a:solidFill>
                  <a:srgbClr val="0000FF"/>
                </a:solidFill>
              </a:rPr>
              <a:t>例</a:t>
            </a:r>
            <a:r>
              <a:rPr lang="en-US" altLang="zh-CN" sz="2000" dirty="0">
                <a:solidFill>
                  <a:srgbClr val="0000FF"/>
                </a:solidFill>
              </a:rPr>
              <a:t>6.16  </a:t>
            </a:r>
            <a:r>
              <a:rPr lang="zh-CN" altLang="zh-CN" sz="2000" dirty="0"/>
              <a:t>对于</a:t>
            </a:r>
            <a:r>
              <a:rPr lang="en-US" altLang="zh-CN" sz="2000" dirty="0" smtClean="0"/>
              <a:t>R</a:t>
            </a:r>
            <a:r>
              <a:rPr lang="zh-CN" altLang="zh-CN" sz="2000" dirty="0" smtClean="0"/>
              <a:t>∈</a:t>
            </a:r>
            <a:r>
              <a:rPr lang="en-US" altLang="zh-CN" sz="2000" dirty="0"/>
              <a:t>1NF</a:t>
            </a:r>
            <a:r>
              <a:rPr lang="zh-CN" altLang="zh-CN" sz="2000" dirty="0"/>
              <a:t>，</a:t>
            </a:r>
            <a:r>
              <a:rPr lang="en-US" altLang="zh-CN" sz="2000" dirty="0"/>
              <a:t>U={A, B, C, D}</a:t>
            </a:r>
            <a:r>
              <a:rPr lang="zh-CN" altLang="zh-CN" sz="2000" dirty="0"/>
              <a:t>，</a:t>
            </a:r>
            <a:r>
              <a:rPr lang="en-US" altLang="zh-CN" sz="2000" dirty="0"/>
              <a:t>F={A</a:t>
            </a:r>
            <a:r>
              <a:rPr lang="zh-CN" altLang="zh-CN" sz="2000" dirty="0"/>
              <a:t>→</a:t>
            </a:r>
            <a:r>
              <a:rPr lang="en-US" altLang="zh-CN" sz="2000" dirty="0"/>
              <a:t>B,BC</a:t>
            </a:r>
            <a:r>
              <a:rPr lang="zh-CN" altLang="zh-CN" sz="2000" dirty="0"/>
              <a:t>→</a:t>
            </a:r>
            <a:r>
              <a:rPr lang="en-US" altLang="zh-CN" sz="2000" dirty="0"/>
              <a:t>D}</a:t>
            </a:r>
            <a:r>
              <a:rPr lang="zh-CN" altLang="zh-CN" sz="2000" dirty="0" smtClean="0"/>
              <a:t>，</a:t>
            </a:r>
            <a:endParaRPr lang="en-US" altLang="zh-CN" sz="2000" dirty="0" smtClean="0"/>
          </a:p>
          <a:p>
            <a:pPr marL="0" indent="0">
              <a:buNone/>
            </a:pPr>
            <a:r>
              <a:rPr lang="zh-CN" altLang="zh-CN" sz="2000" dirty="0" smtClean="0"/>
              <a:t>计算</a:t>
            </a:r>
            <a:r>
              <a:rPr lang="en-US" altLang="zh-CN" sz="2000" dirty="0" smtClean="0"/>
              <a:t>         </a:t>
            </a:r>
            <a:r>
              <a:rPr lang="zh-CN" altLang="zh-CN" sz="2000" dirty="0" smtClean="0"/>
              <a:t>、</a:t>
            </a:r>
            <a:r>
              <a:rPr lang="en-US" altLang="zh-CN" sz="2000" dirty="0" smtClean="0"/>
              <a:t>         </a:t>
            </a:r>
            <a:r>
              <a:rPr lang="zh-CN" altLang="zh-CN" sz="2000" dirty="0" smtClean="0"/>
              <a:t>、</a:t>
            </a:r>
            <a:r>
              <a:rPr lang="en-US" altLang="zh-CN" sz="2000" dirty="0" smtClean="0"/>
              <a:t>       </a:t>
            </a:r>
            <a:r>
              <a:rPr lang="zh-CN" altLang="zh-CN" sz="2000" dirty="0"/>
              <a:t>和</a:t>
            </a:r>
            <a:r>
              <a:rPr lang="en-US" altLang="zh-CN" sz="2000" dirty="0"/>
              <a:t> </a:t>
            </a:r>
            <a:r>
              <a:rPr lang="en-US" altLang="zh-CN" sz="2000" dirty="0" smtClean="0"/>
              <a:t>        </a:t>
            </a:r>
            <a:endParaRPr lang="zh-CN" altLang="zh-CN" sz="2000" dirty="0"/>
          </a:p>
          <a:p>
            <a:pPr marL="0" indent="0">
              <a:buNone/>
            </a:pPr>
            <a:r>
              <a:rPr lang="zh-CN" altLang="zh-CN" sz="2000" dirty="0" smtClean="0"/>
              <a:t>（</a:t>
            </a:r>
            <a:r>
              <a:rPr lang="en-US" altLang="zh-CN" sz="2000" dirty="0"/>
              <a:t>1</a:t>
            </a:r>
            <a:r>
              <a:rPr lang="zh-CN" altLang="zh-CN" sz="2000" dirty="0"/>
              <a:t>）</a:t>
            </a:r>
            <a:r>
              <a:rPr lang="en-US" altLang="zh-CN" sz="2000" dirty="0"/>
              <a:t> </a:t>
            </a:r>
            <a:r>
              <a:rPr lang="en-US" altLang="zh-CN" sz="2000" dirty="0" smtClean="0"/>
              <a:t>        =</a:t>
            </a:r>
            <a:r>
              <a:rPr lang="en-US" altLang="zh-CN" sz="2000" dirty="0"/>
              <a:t>A</a:t>
            </a:r>
            <a:endParaRPr lang="zh-CN" altLang="zh-CN" sz="2000" dirty="0"/>
          </a:p>
          <a:p>
            <a:pPr marL="541338" indent="0">
              <a:buNone/>
              <a:tabLst>
                <a:tab pos="625475" algn="l"/>
              </a:tabLst>
            </a:pPr>
            <a:r>
              <a:rPr lang="en-US" altLang="zh-CN" sz="2000" dirty="0"/>
              <a:t>A </a:t>
            </a:r>
            <a:r>
              <a:rPr lang="en-US" altLang="zh-CN" sz="2000" dirty="0" smtClean="0"/>
              <a:t>         </a:t>
            </a:r>
            <a:r>
              <a:rPr lang="zh-CN" altLang="zh-CN" sz="2000" dirty="0" smtClean="0"/>
              <a:t>，</a:t>
            </a:r>
            <a:r>
              <a:rPr lang="en-US" altLang="zh-CN" sz="2000" dirty="0"/>
              <a:t>A</a:t>
            </a:r>
            <a:r>
              <a:rPr lang="zh-CN" altLang="zh-CN" sz="2000" dirty="0"/>
              <a:t>→</a:t>
            </a:r>
            <a:r>
              <a:rPr lang="en-US" altLang="zh-CN" sz="2000" dirty="0"/>
              <a:t>B </a:t>
            </a:r>
            <a:r>
              <a:rPr lang="en-US" altLang="zh-CN" sz="3600" dirty="0" smtClean="0">
                <a:sym typeface="Symbol"/>
              </a:rPr>
              <a:t></a:t>
            </a:r>
            <a:r>
              <a:rPr lang="en-US" altLang="zh-CN" sz="2000" dirty="0" smtClean="0"/>
              <a:t> F</a:t>
            </a:r>
            <a:r>
              <a:rPr lang="zh-CN" altLang="zh-CN" sz="2000" dirty="0"/>
              <a:t>，</a:t>
            </a:r>
            <a:r>
              <a:rPr lang="en-US" altLang="zh-CN" sz="2000" dirty="0"/>
              <a:t> </a:t>
            </a:r>
            <a:r>
              <a:rPr lang="en-US" altLang="zh-CN" sz="2000" dirty="0" smtClean="0"/>
              <a:t>      =      </a:t>
            </a:r>
            <a:r>
              <a:rPr lang="zh-CN" altLang="zh-CN" sz="2000" dirty="0" smtClean="0"/>
              <a:t>∪</a:t>
            </a:r>
            <a:r>
              <a:rPr lang="en-US" altLang="zh-CN" sz="2000" dirty="0"/>
              <a:t>B=AB</a:t>
            </a:r>
            <a:r>
              <a:rPr lang="zh-CN" altLang="zh-CN" sz="2000" dirty="0"/>
              <a:t>。</a:t>
            </a:r>
          </a:p>
          <a:p>
            <a:pPr marL="0" indent="0">
              <a:buNone/>
            </a:pPr>
            <a:r>
              <a:rPr lang="zh-CN" altLang="zh-CN" sz="2000" dirty="0"/>
              <a:t>（</a:t>
            </a:r>
            <a:r>
              <a:rPr lang="en-US" altLang="zh-CN" sz="2000" dirty="0"/>
              <a:t>2</a:t>
            </a:r>
            <a:r>
              <a:rPr lang="zh-CN" altLang="zh-CN" sz="2000" dirty="0"/>
              <a:t>）</a:t>
            </a:r>
            <a:r>
              <a:rPr lang="en-US" altLang="zh-CN" sz="2000" dirty="0"/>
              <a:t> </a:t>
            </a:r>
            <a:r>
              <a:rPr lang="en-US" altLang="zh-CN" sz="2000" dirty="0" smtClean="0"/>
              <a:t>        =</a:t>
            </a:r>
            <a:r>
              <a:rPr lang="en-US" altLang="zh-CN" sz="2000" dirty="0"/>
              <a:t>B</a:t>
            </a:r>
            <a:r>
              <a:rPr lang="zh-CN" altLang="zh-CN" sz="2000" dirty="0"/>
              <a:t>。</a:t>
            </a:r>
          </a:p>
          <a:p>
            <a:pPr marL="0" indent="0">
              <a:buNone/>
            </a:pPr>
            <a:r>
              <a:rPr lang="zh-CN" altLang="zh-CN" sz="2000" dirty="0"/>
              <a:t>（</a:t>
            </a:r>
            <a:r>
              <a:rPr lang="en-US" altLang="zh-CN" sz="2000" dirty="0"/>
              <a:t>3</a:t>
            </a:r>
            <a:r>
              <a:rPr lang="zh-CN" altLang="zh-CN" sz="2000" dirty="0"/>
              <a:t>）</a:t>
            </a:r>
            <a:r>
              <a:rPr lang="en-US" altLang="zh-CN" sz="2000" dirty="0"/>
              <a:t> </a:t>
            </a:r>
            <a:r>
              <a:rPr lang="en-US" altLang="zh-CN" sz="2000" dirty="0" smtClean="0"/>
              <a:t>        =</a:t>
            </a:r>
            <a:r>
              <a:rPr lang="en-US" altLang="zh-CN" sz="2000" dirty="0"/>
              <a:t>C</a:t>
            </a:r>
            <a:r>
              <a:rPr lang="zh-CN" altLang="zh-CN" sz="2000" dirty="0"/>
              <a:t>。</a:t>
            </a:r>
          </a:p>
          <a:p>
            <a:pPr marL="0" indent="0">
              <a:buNone/>
            </a:pPr>
            <a:r>
              <a:rPr lang="zh-CN" altLang="zh-CN" sz="2000" dirty="0"/>
              <a:t>（</a:t>
            </a:r>
            <a:r>
              <a:rPr lang="en-US" altLang="zh-CN" sz="2000" dirty="0"/>
              <a:t>4</a:t>
            </a:r>
            <a:r>
              <a:rPr lang="zh-CN" altLang="zh-CN" sz="2000" dirty="0"/>
              <a:t>）</a:t>
            </a:r>
            <a:r>
              <a:rPr lang="en-US" altLang="zh-CN" sz="2000" dirty="0"/>
              <a:t> </a:t>
            </a:r>
            <a:r>
              <a:rPr lang="en-US" altLang="zh-CN" sz="2000" dirty="0" smtClean="0"/>
              <a:t>             =</a:t>
            </a:r>
            <a:r>
              <a:rPr lang="en-US" altLang="zh-CN" sz="2000" dirty="0"/>
              <a:t>AC</a:t>
            </a:r>
            <a:r>
              <a:rPr lang="zh-CN" altLang="zh-CN" sz="2000" dirty="0"/>
              <a:t>（如图</a:t>
            </a:r>
            <a:r>
              <a:rPr lang="en-US" altLang="zh-CN" sz="2000" dirty="0"/>
              <a:t>6.8</a:t>
            </a:r>
            <a:r>
              <a:rPr lang="zh-CN" altLang="zh-CN" sz="2000" dirty="0"/>
              <a:t>所示）</a:t>
            </a:r>
          </a:p>
          <a:p>
            <a:pPr marL="625475" indent="0">
              <a:buNone/>
            </a:pPr>
            <a:r>
              <a:rPr lang="en-US" altLang="zh-CN" sz="2000" dirty="0" smtClean="0"/>
              <a:t>A             </a:t>
            </a:r>
            <a:r>
              <a:rPr lang="zh-CN" altLang="zh-CN" sz="2000" dirty="0" smtClean="0"/>
              <a:t>，</a:t>
            </a:r>
            <a:r>
              <a:rPr lang="en-US" altLang="zh-CN" sz="2000" dirty="0"/>
              <a:t>A</a:t>
            </a:r>
            <a:r>
              <a:rPr lang="zh-CN" altLang="zh-CN" sz="2000" dirty="0"/>
              <a:t>→</a:t>
            </a:r>
            <a:r>
              <a:rPr lang="en-US" altLang="zh-CN" sz="2000" dirty="0"/>
              <a:t>B </a:t>
            </a:r>
            <a:r>
              <a:rPr lang="en-US" altLang="zh-CN" sz="3600" dirty="0" smtClean="0">
                <a:sym typeface="Symbol"/>
              </a:rPr>
              <a:t></a:t>
            </a:r>
            <a:r>
              <a:rPr lang="en-US" altLang="zh-CN" sz="2000" dirty="0" smtClean="0"/>
              <a:t>F</a:t>
            </a:r>
            <a:r>
              <a:rPr lang="zh-CN" altLang="zh-CN" sz="2000" dirty="0"/>
              <a:t>，</a:t>
            </a:r>
            <a:r>
              <a:rPr lang="en-US" altLang="zh-CN" sz="2000" dirty="0"/>
              <a:t> </a:t>
            </a:r>
            <a:r>
              <a:rPr lang="en-US" altLang="zh-CN" sz="2000" dirty="0" smtClean="0"/>
              <a:t>           =                </a:t>
            </a:r>
            <a:r>
              <a:rPr lang="zh-CN" altLang="zh-CN" sz="2000" dirty="0" smtClean="0"/>
              <a:t>∪</a:t>
            </a:r>
            <a:r>
              <a:rPr lang="en-US" altLang="zh-CN" sz="2000" dirty="0"/>
              <a:t>B=ABC</a:t>
            </a:r>
            <a:r>
              <a:rPr lang="zh-CN" altLang="zh-CN" sz="2000" dirty="0"/>
              <a:t>；</a:t>
            </a:r>
          </a:p>
          <a:p>
            <a:pPr marL="625475" indent="0">
              <a:buNone/>
            </a:pPr>
            <a:r>
              <a:rPr lang="en-US" altLang="zh-CN" sz="2000" dirty="0" smtClean="0"/>
              <a:t>BC           </a:t>
            </a:r>
            <a:r>
              <a:rPr lang="zh-CN" altLang="zh-CN" sz="2000" dirty="0" smtClean="0"/>
              <a:t>，</a:t>
            </a:r>
            <a:r>
              <a:rPr lang="en-US" altLang="zh-CN" sz="2000" dirty="0" smtClean="0"/>
              <a:t>BC</a:t>
            </a:r>
            <a:r>
              <a:rPr lang="zh-CN" altLang="zh-CN" sz="2000" dirty="0"/>
              <a:t>→</a:t>
            </a:r>
            <a:r>
              <a:rPr lang="en-US" altLang="zh-CN" sz="2000" dirty="0"/>
              <a:t>D F</a:t>
            </a:r>
            <a:r>
              <a:rPr lang="zh-CN" altLang="zh-CN" sz="2000" dirty="0" smtClean="0"/>
              <a:t>，</a:t>
            </a:r>
            <a:r>
              <a:rPr lang="en-US" altLang="zh-CN" sz="2000" dirty="0" smtClean="0"/>
              <a:t>               </a:t>
            </a:r>
            <a:r>
              <a:rPr lang="en-US" altLang="zh-CN" sz="2000" dirty="0"/>
              <a:t>= </a:t>
            </a:r>
            <a:r>
              <a:rPr lang="en-US" altLang="zh-CN" sz="2000" dirty="0" smtClean="0"/>
              <a:t>             </a:t>
            </a:r>
            <a:r>
              <a:rPr lang="zh-CN" altLang="zh-CN" sz="2000" dirty="0" smtClean="0"/>
              <a:t>∪</a:t>
            </a:r>
            <a:r>
              <a:rPr lang="en-US" altLang="zh-CN" sz="2000" dirty="0"/>
              <a:t>D=ABCD</a:t>
            </a:r>
            <a:r>
              <a:rPr lang="zh-CN" altLang="zh-CN" sz="2000" dirty="0"/>
              <a: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3362885594"/>
              </p:ext>
            </p:extLst>
          </p:nvPr>
        </p:nvGraphicFramePr>
        <p:xfrm>
          <a:off x="2483768" y="1124744"/>
          <a:ext cx="539750" cy="503237"/>
        </p:xfrm>
        <a:graphic>
          <a:graphicData uri="http://schemas.openxmlformats.org/presentationml/2006/ole">
            <mc:AlternateContent xmlns:mc="http://schemas.openxmlformats.org/markup-compatibility/2006">
              <mc:Choice xmlns:v="urn:schemas-microsoft-com:vml" Requires="v">
                <p:oleObj spid="_x0000_s75158" name="公式" r:id="rId3" imgW="215640" imgH="228600" progId="Equation.3">
                  <p:embed/>
                </p:oleObj>
              </mc:Choice>
              <mc:Fallback>
                <p:oleObj name="公式" r:id="rId3" imgW="215640" imgH="228600" progId="Equation.3">
                  <p:embed/>
                  <p:pic>
                    <p:nvPicPr>
                      <p:cNvPr id="0" name=""/>
                      <p:cNvPicPr>
                        <a:picLocks noChangeAspect="1" noChangeArrowheads="1"/>
                      </p:cNvPicPr>
                      <p:nvPr/>
                    </p:nvPicPr>
                    <p:blipFill>
                      <a:blip r:embed="rId4"/>
                      <a:srcRect/>
                      <a:stretch>
                        <a:fillRect/>
                      </a:stretch>
                    </p:blipFill>
                    <p:spPr bwMode="auto">
                      <a:xfrm>
                        <a:off x="2483768" y="1124744"/>
                        <a:ext cx="539750" cy="503237"/>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844747741"/>
              </p:ext>
            </p:extLst>
          </p:nvPr>
        </p:nvGraphicFramePr>
        <p:xfrm>
          <a:off x="755650" y="1112838"/>
          <a:ext cx="539750" cy="503237"/>
        </p:xfrm>
        <a:graphic>
          <a:graphicData uri="http://schemas.openxmlformats.org/presentationml/2006/ole">
            <mc:AlternateContent xmlns:mc="http://schemas.openxmlformats.org/markup-compatibility/2006">
              <mc:Choice xmlns:v="urn:schemas-microsoft-com:vml" Requires="v">
                <p:oleObj spid="_x0000_s75159" name="公式" r:id="rId5" imgW="215640" imgH="228600" progId="Equation.3">
                  <p:embed/>
                </p:oleObj>
              </mc:Choice>
              <mc:Fallback>
                <p:oleObj name="公式" r:id="rId5" imgW="215640" imgH="228600" progId="Equation.3">
                  <p:embed/>
                  <p:pic>
                    <p:nvPicPr>
                      <p:cNvPr id="0" name=""/>
                      <p:cNvPicPr>
                        <a:picLocks noChangeAspect="1" noChangeArrowheads="1"/>
                      </p:cNvPicPr>
                      <p:nvPr/>
                    </p:nvPicPr>
                    <p:blipFill>
                      <a:blip r:embed="rId6"/>
                      <a:srcRect/>
                      <a:stretch>
                        <a:fillRect/>
                      </a:stretch>
                    </p:blipFill>
                    <p:spPr bwMode="auto">
                      <a:xfrm>
                        <a:off x="755650" y="1112838"/>
                        <a:ext cx="539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049449084"/>
              </p:ext>
            </p:extLst>
          </p:nvPr>
        </p:nvGraphicFramePr>
        <p:xfrm>
          <a:off x="899592" y="1988840"/>
          <a:ext cx="889000" cy="503237"/>
        </p:xfrm>
        <a:graphic>
          <a:graphicData uri="http://schemas.openxmlformats.org/presentationml/2006/ole">
            <mc:AlternateContent xmlns:mc="http://schemas.openxmlformats.org/markup-compatibility/2006">
              <mc:Choice xmlns:v="urn:schemas-microsoft-com:vml" Requires="v">
                <p:oleObj spid="_x0000_s75160" name="公式" r:id="rId7" imgW="355320" imgH="228600" progId="Equation.3">
                  <p:embed/>
                </p:oleObj>
              </mc:Choice>
              <mc:Fallback>
                <p:oleObj name="公式" r:id="rId7" imgW="355320" imgH="228600" progId="Equation.3">
                  <p:embed/>
                  <p:pic>
                    <p:nvPicPr>
                      <p:cNvPr id="0" name=""/>
                      <p:cNvPicPr>
                        <a:picLocks noChangeAspect="1" noChangeArrowheads="1"/>
                      </p:cNvPicPr>
                      <p:nvPr/>
                    </p:nvPicPr>
                    <p:blipFill>
                      <a:blip r:embed="rId8"/>
                      <a:srcRect/>
                      <a:stretch>
                        <a:fillRect/>
                      </a:stretch>
                    </p:blipFill>
                    <p:spPr bwMode="auto">
                      <a:xfrm>
                        <a:off x="899592" y="1988840"/>
                        <a:ext cx="88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550448510"/>
              </p:ext>
            </p:extLst>
          </p:nvPr>
        </p:nvGraphicFramePr>
        <p:xfrm>
          <a:off x="1619672" y="1124744"/>
          <a:ext cx="539750" cy="503237"/>
        </p:xfrm>
        <a:graphic>
          <a:graphicData uri="http://schemas.openxmlformats.org/presentationml/2006/ole">
            <mc:AlternateContent xmlns:mc="http://schemas.openxmlformats.org/markup-compatibility/2006">
              <mc:Choice xmlns:v="urn:schemas-microsoft-com:vml" Requires="v">
                <p:oleObj spid="_x0000_s75161" name="公式" r:id="rId9" imgW="215640" imgH="228600" progId="Equation.3">
                  <p:embed/>
                </p:oleObj>
              </mc:Choice>
              <mc:Fallback>
                <p:oleObj name="公式" r:id="rId9" imgW="215640" imgH="228600" progId="Equation.3">
                  <p:embed/>
                  <p:pic>
                    <p:nvPicPr>
                      <p:cNvPr id="0" name=""/>
                      <p:cNvPicPr>
                        <a:picLocks noChangeAspect="1" noChangeArrowheads="1"/>
                      </p:cNvPicPr>
                      <p:nvPr/>
                    </p:nvPicPr>
                    <p:blipFill>
                      <a:blip r:embed="rId10"/>
                      <a:srcRect/>
                      <a:stretch>
                        <a:fillRect/>
                      </a:stretch>
                    </p:blipFill>
                    <p:spPr bwMode="auto">
                      <a:xfrm>
                        <a:off x="1619672" y="1124744"/>
                        <a:ext cx="539750" cy="503237"/>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517558269"/>
              </p:ext>
            </p:extLst>
          </p:nvPr>
        </p:nvGraphicFramePr>
        <p:xfrm>
          <a:off x="3449626" y="1124744"/>
          <a:ext cx="1111250" cy="503238"/>
        </p:xfrm>
        <a:graphic>
          <a:graphicData uri="http://schemas.openxmlformats.org/presentationml/2006/ole">
            <mc:AlternateContent xmlns:mc="http://schemas.openxmlformats.org/markup-compatibility/2006">
              <mc:Choice xmlns:v="urn:schemas-microsoft-com:vml" Requires="v">
                <p:oleObj spid="_x0000_s75162" name="公式" r:id="rId11" imgW="444240" imgH="228600" progId="Equation.3">
                  <p:embed/>
                </p:oleObj>
              </mc:Choice>
              <mc:Fallback>
                <p:oleObj name="公式" r:id="rId11" imgW="444240" imgH="228600" progId="Equation.3">
                  <p:embed/>
                  <p:pic>
                    <p:nvPicPr>
                      <p:cNvPr id="0" name=""/>
                      <p:cNvPicPr>
                        <a:picLocks noChangeAspect="1" noChangeArrowheads="1"/>
                      </p:cNvPicPr>
                      <p:nvPr/>
                    </p:nvPicPr>
                    <p:blipFill>
                      <a:blip r:embed="rId12"/>
                      <a:srcRect/>
                      <a:stretch>
                        <a:fillRect/>
                      </a:stretch>
                    </p:blipFill>
                    <p:spPr bwMode="auto">
                      <a:xfrm>
                        <a:off x="3449626" y="1124744"/>
                        <a:ext cx="1111250" cy="503238"/>
                      </a:xfrm>
                      <a:prstGeom prst="rect">
                        <a:avLst/>
                      </a:prstGeom>
                      <a:noFill/>
                    </p:spPr>
                  </p:pic>
                </p:oleObj>
              </mc:Fallback>
            </mc:AlternateContent>
          </a:graphicData>
        </a:graphic>
      </p:graphicFrame>
      <p:grpSp>
        <p:nvGrpSpPr>
          <p:cNvPr id="25" name="组合 24"/>
          <p:cNvGrpSpPr>
            <a:grpSpLocks/>
          </p:cNvGrpSpPr>
          <p:nvPr/>
        </p:nvGrpSpPr>
        <p:grpSpPr bwMode="auto">
          <a:xfrm>
            <a:off x="1259632" y="4832548"/>
            <a:ext cx="6595600" cy="1548780"/>
            <a:chOff x="3270" y="8352"/>
            <a:chExt cx="4152" cy="1584"/>
          </a:xfrm>
        </p:grpSpPr>
        <p:grpSp>
          <p:nvGrpSpPr>
            <p:cNvPr id="26" name="Group 127"/>
            <p:cNvGrpSpPr>
              <a:grpSpLocks/>
            </p:cNvGrpSpPr>
            <p:nvPr/>
          </p:nvGrpSpPr>
          <p:grpSpPr bwMode="auto">
            <a:xfrm>
              <a:off x="3270" y="8352"/>
              <a:ext cx="4152" cy="1584"/>
              <a:chOff x="4326" y="6408"/>
              <a:chExt cx="4152" cy="1584"/>
            </a:xfrm>
          </p:grpSpPr>
          <p:sp>
            <p:nvSpPr>
              <p:cNvPr id="28" name="AutoShape 128"/>
              <p:cNvSpPr>
                <a:spLocks noChangeArrowheads="1"/>
              </p:cNvSpPr>
              <p:nvPr/>
            </p:nvSpPr>
            <p:spPr bwMode="auto">
              <a:xfrm>
                <a:off x="4326" y="6408"/>
                <a:ext cx="4152" cy="1584"/>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95250" algn="ctr">
                  <a:lnSpc>
                    <a:spcPts val="2200"/>
                  </a:lnSpc>
                  <a:spcAft>
                    <a:spcPts val="0"/>
                  </a:spcAft>
                  <a:tabLst>
                    <a:tab pos="2637155" algn="ctr"/>
                    <a:tab pos="5274310" algn="r"/>
                    <a:tab pos="266700" algn="l"/>
                  </a:tabLst>
                </a:pPr>
                <a:r>
                  <a:rPr lang="en-US" sz="2000" kern="100">
                    <a:effectLst/>
                    <a:latin typeface="微软雅黑" pitchFamily="34" charset="-122"/>
                    <a:ea typeface="微软雅黑" pitchFamily="34" charset="-122"/>
                    <a:cs typeface="Times New Roman"/>
                  </a:rPr>
                  <a:t> </a:t>
                </a:r>
                <a:endParaRPr lang="zh-CN" sz="2000" kern="100">
                  <a:effectLst/>
                  <a:latin typeface="微软雅黑" pitchFamily="34" charset="-122"/>
                  <a:ea typeface="微软雅黑" pitchFamily="34" charset="-122"/>
                  <a:cs typeface="Times New Roman"/>
                </a:endParaRPr>
              </a:p>
              <a:p>
                <a:pPr indent="254000" algn="just">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p:txBody>
          </p:sp>
          <p:sp>
            <p:nvSpPr>
              <p:cNvPr id="29" name="AutoShape 129"/>
              <p:cNvSpPr>
                <a:spLocks noChangeArrowheads="1"/>
              </p:cNvSpPr>
              <p:nvPr/>
            </p:nvSpPr>
            <p:spPr bwMode="auto">
              <a:xfrm>
                <a:off x="4602" y="6564"/>
                <a:ext cx="2796" cy="1248"/>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indent="95250" algn="ctr">
                  <a:lnSpc>
                    <a:spcPts val="2200"/>
                  </a:lnSpc>
                  <a:spcAft>
                    <a:spcPts val="0"/>
                  </a:spcAft>
                  <a:tabLst>
                    <a:tab pos="2637155" algn="ctr"/>
                    <a:tab pos="5274310" algn="r"/>
                    <a:tab pos="266700" algn="l"/>
                  </a:tabLst>
                </a:pPr>
                <a:r>
                  <a:rPr lang="en-US" sz="2000" kern="100">
                    <a:effectLst/>
                    <a:latin typeface="微软雅黑" pitchFamily="34" charset="-122"/>
                    <a:ea typeface="微软雅黑" pitchFamily="34" charset="-122"/>
                    <a:cs typeface="Times New Roman"/>
                  </a:rPr>
                  <a:t> </a:t>
                </a:r>
                <a:endParaRPr lang="zh-CN" sz="2000" kern="100">
                  <a:effectLst/>
                  <a:latin typeface="微软雅黑" pitchFamily="34" charset="-122"/>
                  <a:ea typeface="微软雅黑" pitchFamily="34" charset="-122"/>
                  <a:cs typeface="Times New Roman"/>
                </a:endParaRPr>
              </a:p>
            </p:txBody>
          </p:sp>
          <p:sp>
            <p:nvSpPr>
              <p:cNvPr id="30" name="AutoShape 130"/>
              <p:cNvSpPr>
                <a:spLocks noChangeArrowheads="1"/>
              </p:cNvSpPr>
              <p:nvPr/>
            </p:nvSpPr>
            <p:spPr bwMode="auto">
              <a:xfrm>
                <a:off x="4830" y="6732"/>
                <a:ext cx="1440" cy="876"/>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lnSpc>
                    <a:spcPts val="2200"/>
                  </a:lnSpc>
                  <a:spcAft>
                    <a:spcPts val="0"/>
                  </a:spcAft>
                  <a:tabLst>
                    <a:tab pos="2637155" algn="ctr"/>
                    <a:tab pos="5274310" algn="r"/>
                    <a:tab pos="266700" algn="l"/>
                  </a:tabLst>
                </a:pPr>
                <a:r>
                  <a:rPr lang="en-US" sz="2000" u="sng" kern="100">
                    <a:effectLst/>
                    <a:latin typeface="微软雅黑" pitchFamily="34" charset="-122"/>
                    <a:ea typeface="微软雅黑" pitchFamily="34" charset="-122"/>
                    <a:cs typeface="Times New Roman"/>
                  </a:rPr>
                  <a:t>A</a:t>
                </a:r>
                <a:r>
                  <a:rPr lang="en-US" sz="2000" kern="100">
                    <a:effectLst/>
                    <a:latin typeface="微软雅黑" pitchFamily="34" charset="-122"/>
                    <a:ea typeface="微软雅黑" pitchFamily="34" charset="-122"/>
                    <a:cs typeface="Times New Roman"/>
                  </a:rPr>
                  <a:t>C</a:t>
                </a:r>
                <a:endParaRPr lang="zh-CN" sz="2000" kern="100">
                  <a:effectLst/>
                  <a:latin typeface="微软雅黑" pitchFamily="34" charset="-122"/>
                  <a:ea typeface="微软雅黑" pitchFamily="34" charset="-122"/>
                  <a:cs typeface="Times New Roman"/>
                </a:endParaRPr>
              </a:p>
            </p:txBody>
          </p:sp>
          <p:cxnSp>
            <p:nvCxnSpPr>
              <p:cNvPr id="31" name="Line 131"/>
              <p:cNvCxnSpPr/>
              <p:nvPr/>
            </p:nvCxnSpPr>
            <p:spPr bwMode="auto">
              <a:xfrm>
                <a:off x="5730" y="6960"/>
                <a:ext cx="85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2" name="Rectangle 132"/>
              <p:cNvSpPr>
                <a:spLocks noChangeArrowheads="1"/>
              </p:cNvSpPr>
              <p:nvPr/>
            </p:nvSpPr>
            <p:spPr bwMode="auto">
              <a:xfrm>
                <a:off x="5178" y="6996"/>
                <a:ext cx="792" cy="64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prstDash val="dash"/>
                    <a:miter lim="800000"/>
                    <a:headEnd/>
                    <a:tailEnd/>
                  </a14:hiddenLine>
                </a:ext>
              </a:extLst>
            </p:spPr>
            <p:txBody>
              <a:bodyPr rot="0" vert="horz" wrap="square" lIns="91440" tIns="45720" rIns="91440" bIns="45720" anchor="t" anchorCtr="0" upright="1">
                <a:noAutofit/>
              </a:bodyPr>
              <a:lstStyle/>
              <a:p>
                <a:pPr indent="190500" algn="ctr">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indent="127000" algn="ctr">
                  <a:lnSpc>
                    <a:spcPts val="2200"/>
                  </a:lnSpc>
                  <a:spcAft>
                    <a:spcPts val="0"/>
                  </a:spcAft>
                </a:pPr>
                <a:r>
                  <a:rPr lang="en-US" sz="2000">
                    <a:effectLst/>
                    <a:latin typeface="微软雅黑" pitchFamily="34" charset="-122"/>
                    <a:ea typeface="微软雅黑" pitchFamily="34" charset="-122"/>
                    <a:cs typeface="宋体"/>
                  </a:rPr>
                  <a:t>A</a:t>
                </a:r>
                <a:r>
                  <a:rPr lang="zh-CN" sz="2000">
                    <a:effectLst/>
                    <a:latin typeface="微软雅黑" pitchFamily="34" charset="-122"/>
                    <a:ea typeface="微软雅黑" pitchFamily="34" charset="-122"/>
                    <a:cs typeface="宋体"/>
                  </a:rPr>
                  <a:t>→</a:t>
                </a:r>
                <a:r>
                  <a:rPr lang="en-US" sz="2000">
                    <a:effectLst/>
                    <a:latin typeface="微软雅黑" pitchFamily="34" charset="-122"/>
                    <a:ea typeface="微软雅黑" pitchFamily="34" charset="-122"/>
                    <a:cs typeface="宋体"/>
                  </a:rPr>
                  <a:t>B</a:t>
                </a:r>
                <a:endParaRPr lang="zh-CN" sz="2000">
                  <a:effectLst/>
                  <a:latin typeface="微软雅黑" pitchFamily="34" charset="-122"/>
                  <a:ea typeface="微软雅黑" pitchFamily="34" charset="-122"/>
                  <a:cs typeface="宋体"/>
                </a:endParaRPr>
              </a:p>
            </p:txBody>
          </p:sp>
          <p:sp>
            <p:nvSpPr>
              <p:cNvPr id="33" name="Rectangle 133"/>
              <p:cNvSpPr>
                <a:spLocks noChangeArrowheads="1"/>
              </p:cNvSpPr>
              <p:nvPr/>
            </p:nvSpPr>
            <p:spPr bwMode="auto">
              <a:xfrm>
                <a:off x="6447" y="6996"/>
                <a:ext cx="792" cy="64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prstDash val="dash"/>
                    <a:miter lim="800000"/>
                    <a:headEnd/>
                    <a:tailEnd/>
                  </a14:hiddenLine>
                </a:ext>
              </a:extLst>
            </p:spPr>
            <p:txBody>
              <a:bodyPr rot="0" vert="horz" wrap="square" lIns="91440" tIns="45720" rIns="91440" bIns="45720" anchor="t" anchorCtr="0" upright="1">
                <a:noAutofit/>
              </a:bodyPr>
              <a:lstStyle/>
              <a:p>
                <a:pPr indent="190500" algn="ctr">
                  <a:lnSpc>
                    <a:spcPts val="2200"/>
                  </a:lnSpc>
                  <a:spcAft>
                    <a:spcPts val="0"/>
                  </a:spcAft>
                </a:pPr>
                <a:r>
                  <a:rPr lang="en-US" sz="2000">
                    <a:effectLst/>
                    <a:latin typeface="微软雅黑" pitchFamily="34" charset="-122"/>
                    <a:ea typeface="微软雅黑" pitchFamily="34" charset="-122"/>
                    <a:cs typeface="宋体"/>
                  </a:rPr>
                  <a:t> </a:t>
                </a:r>
                <a:endParaRPr lang="zh-CN" sz="2000">
                  <a:effectLst/>
                  <a:latin typeface="微软雅黑" pitchFamily="34" charset="-122"/>
                  <a:ea typeface="微软雅黑" pitchFamily="34" charset="-122"/>
                  <a:cs typeface="宋体"/>
                </a:endParaRPr>
              </a:p>
              <a:p>
                <a:pPr indent="127000" algn="ctr">
                  <a:lnSpc>
                    <a:spcPts val="2200"/>
                  </a:lnSpc>
                  <a:spcAft>
                    <a:spcPts val="0"/>
                  </a:spcAft>
                </a:pPr>
                <a:r>
                  <a:rPr lang="en-US" sz="2000">
                    <a:effectLst/>
                    <a:latin typeface="微软雅黑" pitchFamily="34" charset="-122"/>
                    <a:ea typeface="微软雅黑" pitchFamily="34" charset="-122"/>
                    <a:cs typeface="宋体"/>
                  </a:rPr>
                  <a:t>BC</a:t>
                </a:r>
                <a:r>
                  <a:rPr lang="zh-CN" sz="2000">
                    <a:effectLst/>
                    <a:latin typeface="微软雅黑" pitchFamily="34" charset="-122"/>
                    <a:ea typeface="微软雅黑" pitchFamily="34" charset="-122"/>
                    <a:cs typeface="宋体"/>
                  </a:rPr>
                  <a:t>→</a:t>
                </a:r>
                <a:r>
                  <a:rPr lang="en-US" sz="2000">
                    <a:effectLst/>
                    <a:latin typeface="微软雅黑" pitchFamily="34" charset="-122"/>
                    <a:ea typeface="微软雅黑" pitchFamily="34" charset="-122"/>
                    <a:cs typeface="宋体"/>
                  </a:rPr>
                  <a:t>D</a:t>
                </a:r>
                <a:endParaRPr lang="zh-CN" sz="2000">
                  <a:effectLst/>
                  <a:latin typeface="微软雅黑" pitchFamily="34" charset="-122"/>
                  <a:ea typeface="微软雅黑" pitchFamily="34" charset="-122"/>
                  <a:cs typeface="宋体"/>
                </a:endParaRPr>
              </a:p>
            </p:txBody>
          </p:sp>
          <p:cxnSp>
            <p:nvCxnSpPr>
              <p:cNvPr id="34" name="Line 134"/>
              <p:cNvCxnSpPr/>
              <p:nvPr/>
            </p:nvCxnSpPr>
            <p:spPr bwMode="auto">
              <a:xfrm>
                <a:off x="7026" y="6984"/>
                <a:ext cx="660" cy="1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5" name="Rectangle 135"/>
              <p:cNvSpPr>
                <a:spLocks noChangeArrowheads="1"/>
              </p:cNvSpPr>
              <p:nvPr/>
            </p:nvSpPr>
            <p:spPr bwMode="auto">
              <a:xfrm>
                <a:off x="7542" y="6984"/>
                <a:ext cx="828" cy="312"/>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indent="127000" algn="ctr">
                  <a:lnSpc>
                    <a:spcPts val="2200"/>
                  </a:lnSpc>
                  <a:spcAft>
                    <a:spcPts val="0"/>
                  </a:spcAft>
                </a:pPr>
                <a:r>
                  <a:rPr lang="en-US" sz="2000">
                    <a:effectLst/>
                    <a:latin typeface="微软雅黑" pitchFamily="34" charset="-122"/>
                    <a:ea typeface="微软雅黑" pitchFamily="34" charset="-122"/>
                    <a:cs typeface="宋体"/>
                  </a:rPr>
                  <a:t>ABCD</a:t>
                </a:r>
                <a:endParaRPr lang="zh-CN" sz="2000">
                  <a:effectLst/>
                  <a:latin typeface="微软雅黑" pitchFamily="34" charset="-122"/>
                  <a:ea typeface="微软雅黑" pitchFamily="34" charset="-122"/>
                  <a:cs typeface="宋体"/>
                </a:endParaRPr>
              </a:p>
            </p:txBody>
          </p:sp>
        </p:grpSp>
        <p:sp>
          <p:nvSpPr>
            <p:cNvPr id="27" name="Rectangle 136"/>
            <p:cNvSpPr>
              <a:spLocks noChangeArrowheads="1"/>
            </p:cNvSpPr>
            <p:nvPr/>
          </p:nvSpPr>
          <p:spPr bwMode="auto">
            <a:xfrm>
              <a:off x="5406" y="8712"/>
              <a:ext cx="672" cy="360"/>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indent="127000" algn="ctr">
                <a:lnSpc>
                  <a:spcPts val="2200"/>
                </a:lnSpc>
                <a:spcAft>
                  <a:spcPts val="0"/>
                </a:spcAft>
              </a:pPr>
              <a:r>
                <a:rPr lang="en-US" sz="2000">
                  <a:effectLst/>
                  <a:latin typeface="微软雅黑" pitchFamily="34" charset="-122"/>
                  <a:ea typeface="微软雅黑" pitchFamily="34" charset="-122"/>
                  <a:cs typeface="宋体"/>
                </a:rPr>
                <a:t>A</a:t>
              </a:r>
              <a:r>
                <a:rPr lang="en-US" sz="2000" u="sng">
                  <a:effectLst/>
                  <a:latin typeface="微软雅黑" pitchFamily="34" charset="-122"/>
                  <a:ea typeface="微软雅黑" pitchFamily="34" charset="-122"/>
                  <a:cs typeface="宋体"/>
                </a:rPr>
                <a:t>CB</a:t>
              </a:r>
              <a:endParaRPr lang="zh-CN" sz="2000">
                <a:effectLst/>
                <a:latin typeface="微软雅黑" pitchFamily="34" charset="-122"/>
                <a:ea typeface="微软雅黑" pitchFamily="34" charset="-122"/>
                <a:cs typeface="宋体"/>
              </a:endParaRPr>
            </a:p>
          </p:txBody>
        </p:sp>
      </p:grpSp>
      <p:graphicFrame>
        <p:nvGraphicFramePr>
          <p:cNvPr id="36" name="对象 35"/>
          <p:cNvGraphicFramePr>
            <a:graphicFrameLocks noChangeAspect="1"/>
          </p:cNvGraphicFramePr>
          <p:nvPr>
            <p:extLst>
              <p:ext uri="{D42A27DB-BD31-4B8C-83A1-F6EECF244321}">
                <p14:modId xmlns:p14="http://schemas.microsoft.com/office/powerpoint/2010/main" val="2929154332"/>
              </p:ext>
            </p:extLst>
          </p:nvPr>
        </p:nvGraphicFramePr>
        <p:xfrm>
          <a:off x="827584" y="1556792"/>
          <a:ext cx="539750" cy="503237"/>
        </p:xfrm>
        <a:graphic>
          <a:graphicData uri="http://schemas.openxmlformats.org/presentationml/2006/ole">
            <mc:AlternateContent xmlns:mc="http://schemas.openxmlformats.org/markup-compatibility/2006">
              <mc:Choice xmlns:v="urn:schemas-microsoft-com:vml" Requires="v">
                <p:oleObj spid="_x0000_s75163" name="公式" r:id="rId13" imgW="215640" imgH="228600" progId="Equation.3">
                  <p:embed/>
                </p:oleObj>
              </mc:Choice>
              <mc:Fallback>
                <p:oleObj name="公式" r:id="rId13" imgW="215640" imgH="228600" progId="Equation.3">
                  <p:embed/>
                  <p:pic>
                    <p:nvPicPr>
                      <p:cNvPr id="0" name=""/>
                      <p:cNvPicPr>
                        <a:picLocks noChangeAspect="1" noChangeArrowheads="1"/>
                      </p:cNvPicPr>
                      <p:nvPr/>
                    </p:nvPicPr>
                    <p:blipFill>
                      <a:blip r:embed="rId14"/>
                      <a:srcRect/>
                      <a:stretch>
                        <a:fillRect/>
                      </a:stretch>
                    </p:blipFill>
                    <p:spPr bwMode="auto">
                      <a:xfrm>
                        <a:off x="827584" y="1556792"/>
                        <a:ext cx="539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3686008855"/>
              </p:ext>
            </p:extLst>
          </p:nvPr>
        </p:nvGraphicFramePr>
        <p:xfrm>
          <a:off x="3347864" y="2060848"/>
          <a:ext cx="539750" cy="503237"/>
        </p:xfrm>
        <a:graphic>
          <a:graphicData uri="http://schemas.openxmlformats.org/presentationml/2006/ole">
            <mc:AlternateContent xmlns:mc="http://schemas.openxmlformats.org/markup-compatibility/2006">
              <mc:Choice xmlns:v="urn:schemas-microsoft-com:vml" Requires="v">
                <p:oleObj spid="_x0000_s75164" name="公式" r:id="rId15" imgW="215640" imgH="228600" progId="Equation.3">
                  <p:embed/>
                </p:oleObj>
              </mc:Choice>
              <mc:Fallback>
                <p:oleObj name="公式" r:id="rId15" imgW="215640" imgH="228600" progId="Equation.3">
                  <p:embed/>
                  <p:pic>
                    <p:nvPicPr>
                      <p:cNvPr id="0" name=""/>
                      <p:cNvPicPr>
                        <a:picLocks noChangeAspect="1" noChangeArrowheads="1"/>
                      </p:cNvPicPr>
                      <p:nvPr/>
                    </p:nvPicPr>
                    <p:blipFill>
                      <a:blip r:embed="rId16"/>
                      <a:srcRect/>
                      <a:stretch>
                        <a:fillRect/>
                      </a:stretch>
                    </p:blipFill>
                    <p:spPr bwMode="auto">
                      <a:xfrm>
                        <a:off x="3347864" y="2060848"/>
                        <a:ext cx="539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3686008855"/>
              </p:ext>
            </p:extLst>
          </p:nvPr>
        </p:nvGraphicFramePr>
        <p:xfrm>
          <a:off x="4033883" y="2060848"/>
          <a:ext cx="539750" cy="503237"/>
        </p:xfrm>
        <a:graphic>
          <a:graphicData uri="http://schemas.openxmlformats.org/presentationml/2006/ole">
            <mc:AlternateContent xmlns:mc="http://schemas.openxmlformats.org/markup-compatibility/2006">
              <mc:Choice xmlns:v="urn:schemas-microsoft-com:vml" Requires="v">
                <p:oleObj spid="_x0000_s75165" name="公式" r:id="rId17" imgW="215640" imgH="228600" progId="Equation.3">
                  <p:embed/>
                </p:oleObj>
              </mc:Choice>
              <mc:Fallback>
                <p:oleObj name="公式" r:id="rId17" imgW="215640" imgH="228600" progId="Equation.3">
                  <p:embed/>
                  <p:pic>
                    <p:nvPicPr>
                      <p:cNvPr id="0" name=""/>
                      <p:cNvPicPr>
                        <a:picLocks noChangeAspect="1" noChangeArrowheads="1"/>
                      </p:cNvPicPr>
                      <p:nvPr/>
                    </p:nvPicPr>
                    <p:blipFill>
                      <a:blip r:embed="rId16"/>
                      <a:srcRect/>
                      <a:stretch>
                        <a:fillRect/>
                      </a:stretch>
                    </p:blipFill>
                    <p:spPr bwMode="auto">
                      <a:xfrm>
                        <a:off x="4033883" y="2060848"/>
                        <a:ext cx="5397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418745466"/>
              </p:ext>
            </p:extLst>
          </p:nvPr>
        </p:nvGraphicFramePr>
        <p:xfrm>
          <a:off x="899592" y="2492896"/>
          <a:ext cx="539750" cy="503237"/>
        </p:xfrm>
        <a:graphic>
          <a:graphicData uri="http://schemas.openxmlformats.org/presentationml/2006/ole">
            <mc:AlternateContent xmlns:mc="http://schemas.openxmlformats.org/markup-compatibility/2006">
              <mc:Choice xmlns:v="urn:schemas-microsoft-com:vml" Requires="v">
                <p:oleObj spid="_x0000_s75166" name="公式" r:id="rId18" imgW="215640" imgH="228600" progId="Equation.3">
                  <p:embed/>
                </p:oleObj>
              </mc:Choice>
              <mc:Fallback>
                <p:oleObj name="公式" r:id="rId18" imgW="215640" imgH="228600" progId="Equation.3">
                  <p:embed/>
                  <p:pic>
                    <p:nvPicPr>
                      <p:cNvPr id="0" name=""/>
                      <p:cNvPicPr>
                        <a:picLocks noChangeAspect="1" noChangeArrowheads="1"/>
                      </p:cNvPicPr>
                      <p:nvPr/>
                    </p:nvPicPr>
                    <p:blipFill>
                      <a:blip r:embed="rId19"/>
                      <a:srcRect/>
                      <a:stretch>
                        <a:fillRect/>
                      </a:stretch>
                    </p:blipFill>
                    <p:spPr bwMode="auto">
                      <a:xfrm>
                        <a:off x="899592" y="2492896"/>
                        <a:ext cx="539750" cy="503237"/>
                      </a:xfrm>
                      <a:prstGeom prst="rect">
                        <a:avLst/>
                      </a:prstGeom>
                      <a:noFill/>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2658700312"/>
              </p:ext>
            </p:extLst>
          </p:nvPr>
        </p:nvGraphicFramePr>
        <p:xfrm>
          <a:off x="899592" y="2924944"/>
          <a:ext cx="539750" cy="503237"/>
        </p:xfrm>
        <a:graphic>
          <a:graphicData uri="http://schemas.openxmlformats.org/presentationml/2006/ole">
            <mc:AlternateContent xmlns:mc="http://schemas.openxmlformats.org/markup-compatibility/2006">
              <mc:Choice xmlns:v="urn:schemas-microsoft-com:vml" Requires="v">
                <p:oleObj spid="_x0000_s75167" name="公式" r:id="rId20" imgW="215640" imgH="228600" progId="Equation.3">
                  <p:embed/>
                </p:oleObj>
              </mc:Choice>
              <mc:Fallback>
                <p:oleObj name="公式" r:id="rId20" imgW="215640" imgH="228600" progId="Equation.3">
                  <p:embed/>
                  <p:pic>
                    <p:nvPicPr>
                      <p:cNvPr id="0" name=""/>
                      <p:cNvPicPr>
                        <a:picLocks noChangeAspect="1" noChangeArrowheads="1"/>
                      </p:cNvPicPr>
                      <p:nvPr/>
                    </p:nvPicPr>
                    <p:blipFill>
                      <a:blip r:embed="rId21"/>
                      <a:srcRect/>
                      <a:stretch>
                        <a:fillRect/>
                      </a:stretch>
                    </p:blipFill>
                    <p:spPr bwMode="auto">
                      <a:xfrm>
                        <a:off x="899592" y="2924944"/>
                        <a:ext cx="539750" cy="503237"/>
                      </a:xfrm>
                      <a:prstGeom prst="rect">
                        <a:avLst/>
                      </a:prstGeom>
                      <a:noFill/>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4095242615"/>
              </p:ext>
            </p:extLst>
          </p:nvPr>
        </p:nvGraphicFramePr>
        <p:xfrm>
          <a:off x="827584" y="3356992"/>
          <a:ext cx="1111250" cy="503238"/>
        </p:xfrm>
        <a:graphic>
          <a:graphicData uri="http://schemas.openxmlformats.org/presentationml/2006/ole">
            <mc:AlternateContent xmlns:mc="http://schemas.openxmlformats.org/markup-compatibility/2006">
              <mc:Choice xmlns:v="urn:schemas-microsoft-com:vml" Requires="v">
                <p:oleObj spid="_x0000_s75168" name="公式" r:id="rId22" imgW="444240" imgH="228600" progId="Equation.3">
                  <p:embed/>
                </p:oleObj>
              </mc:Choice>
              <mc:Fallback>
                <p:oleObj name="公式" r:id="rId22" imgW="444240" imgH="228600" progId="Equation.3">
                  <p:embed/>
                  <p:pic>
                    <p:nvPicPr>
                      <p:cNvPr id="0" name=""/>
                      <p:cNvPicPr>
                        <a:picLocks noChangeAspect="1" noChangeArrowheads="1"/>
                      </p:cNvPicPr>
                      <p:nvPr/>
                    </p:nvPicPr>
                    <p:blipFill>
                      <a:blip r:embed="rId23"/>
                      <a:srcRect/>
                      <a:stretch>
                        <a:fillRect/>
                      </a:stretch>
                    </p:blipFill>
                    <p:spPr bwMode="auto">
                      <a:xfrm>
                        <a:off x="827584" y="3356992"/>
                        <a:ext cx="1111250" cy="503238"/>
                      </a:xfrm>
                      <a:prstGeom prst="rect">
                        <a:avLst/>
                      </a:prstGeom>
                      <a:noFill/>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3602892856"/>
              </p:ext>
            </p:extLst>
          </p:nvPr>
        </p:nvGraphicFramePr>
        <p:xfrm>
          <a:off x="1115616" y="3789040"/>
          <a:ext cx="889000" cy="503237"/>
        </p:xfrm>
        <a:graphic>
          <a:graphicData uri="http://schemas.openxmlformats.org/presentationml/2006/ole">
            <mc:AlternateContent xmlns:mc="http://schemas.openxmlformats.org/markup-compatibility/2006">
              <mc:Choice xmlns:v="urn:schemas-microsoft-com:vml" Requires="v">
                <p:oleObj spid="_x0000_s75169" name="公式" r:id="rId24" imgW="355320" imgH="228600" progId="Equation.3">
                  <p:embed/>
                </p:oleObj>
              </mc:Choice>
              <mc:Fallback>
                <p:oleObj name="公式" r:id="rId24" imgW="355320" imgH="228600" progId="Equation.3">
                  <p:embed/>
                  <p:pic>
                    <p:nvPicPr>
                      <p:cNvPr id="0" name=""/>
                      <p:cNvPicPr>
                        <a:picLocks noChangeAspect="1" noChangeArrowheads="1"/>
                      </p:cNvPicPr>
                      <p:nvPr/>
                    </p:nvPicPr>
                    <p:blipFill>
                      <a:blip r:embed="rId25"/>
                      <a:srcRect/>
                      <a:stretch>
                        <a:fillRect/>
                      </a:stretch>
                    </p:blipFill>
                    <p:spPr bwMode="auto">
                      <a:xfrm>
                        <a:off x="1115616" y="3789040"/>
                        <a:ext cx="88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3380664042"/>
              </p:ext>
            </p:extLst>
          </p:nvPr>
        </p:nvGraphicFramePr>
        <p:xfrm>
          <a:off x="3460750" y="3861048"/>
          <a:ext cx="1111250" cy="503238"/>
        </p:xfrm>
        <a:graphic>
          <a:graphicData uri="http://schemas.openxmlformats.org/presentationml/2006/ole">
            <mc:AlternateContent xmlns:mc="http://schemas.openxmlformats.org/markup-compatibility/2006">
              <mc:Choice xmlns:v="urn:schemas-microsoft-com:vml" Requires="v">
                <p:oleObj spid="_x0000_s75170" name="公式" r:id="rId26" imgW="444240" imgH="228600" progId="Equation.3">
                  <p:embed/>
                </p:oleObj>
              </mc:Choice>
              <mc:Fallback>
                <p:oleObj name="公式" r:id="rId26" imgW="444240" imgH="228600" progId="Equation.3">
                  <p:embed/>
                  <p:pic>
                    <p:nvPicPr>
                      <p:cNvPr id="0" name=""/>
                      <p:cNvPicPr>
                        <a:picLocks noChangeAspect="1" noChangeArrowheads="1"/>
                      </p:cNvPicPr>
                      <p:nvPr/>
                    </p:nvPicPr>
                    <p:blipFill>
                      <a:blip r:embed="rId27"/>
                      <a:srcRect/>
                      <a:stretch>
                        <a:fillRect/>
                      </a:stretch>
                    </p:blipFill>
                    <p:spPr bwMode="auto">
                      <a:xfrm>
                        <a:off x="3460750" y="3861048"/>
                        <a:ext cx="1111250" cy="503238"/>
                      </a:xfrm>
                      <a:prstGeom prst="rect">
                        <a:avLst/>
                      </a:prstGeom>
                      <a:noFill/>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2913169474"/>
              </p:ext>
            </p:extLst>
          </p:nvPr>
        </p:nvGraphicFramePr>
        <p:xfrm>
          <a:off x="4684886" y="3861048"/>
          <a:ext cx="1111250" cy="503238"/>
        </p:xfrm>
        <a:graphic>
          <a:graphicData uri="http://schemas.openxmlformats.org/presentationml/2006/ole">
            <mc:AlternateContent xmlns:mc="http://schemas.openxmlformats.org/markup-compatibility/2006">
              <mc:Choice xmlns:v="urn:schemas-microsoft-com:vml" Requires="v">
                <p:oleObj spid="_x0000_s75171" name="公式" r:id="rId28" imgW="444240" imgH="228600" progId="Equation.3">
                  <p:embed/>
                </p:oleObj>
              </mc:Choice>
              <mc:Fallback>
                <p:oleObj name="公式" r:id="rId28" imgW="444240" imgH="228600" progId="Equation.3">
                  <p:embed/>
                  <p:pic>
                    <p:nvPicPr>
                      <p:cNvPr id="0" name=""/>
                      <p:cNvPicPr>
                        <a:picLocks noChangeAspect="1" noChangeArrowheads="1"/>
                      </p:cNvPicPr>
                      <p:nvPr/>
                    </p:nvPicPr>
                    <p:blipFill>
                      <a:blip r:embed="rId27"/>
                      <a:srcRect/>
                      <a:stretch>
                        <a:fillRect/>
                      </a:stretch>
                    </p:blipFill>
                    <p:spPr bwMode="auto">
                      <a:xfrm>
                        <a:off x="4684886" y="3861048"/>
                        <a:ext cx="1111250" cy="503238"/>
                      </a:xfrm>
                      <a:prstGeom prst="rect">
                        <a:avLst/>
                      </a:prstGeom>
                      <a:noFill/>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892892409"/>
              </p:ext>
            </p:extLst>
          </p:nvPr>
        </p:nvGraphicFramePr>
        <p:xfrm>
          <a:off x="1115616" y="4293096"/>
          <a:ext cx="889000" cy="503237"/>
        </p:xfrm>
        <a:graphic>
          <a:graphicData uri="http://schemas.openxmlformats.org/presentationml/2006/ole">
            <mc:AlternateContent xmlns:mc="http://schemas.openxmlformats.org/markup-compatibility/2006">
              <mc:Choice xmlns:v="urn:schemas-microsoft-com:vml" Requires="v">
                <p:oleObj spid="_x0000_s75172" name="公式" r:id="rId29" imgW="355320" imgH="228600" progId="Equation.3">
                  <p:embed/>
                </p:oleObj>
              </mc:Choice>
              <mc:Fallback>
                <p:oleObj name="公式" r:id="rId29" imgW="355320" imgH="228600" progId="Equation.3">
                  <p:embed/>
                  <p:pic>
                    <p:nvPicPr>
                      <p:cNvPr id="0" name=""/>
                      <p:cNvPicPr>
                        <a:picLocks noChangeAspect="1" noChangeArrowheads="1"/>
                      </p:cNvPicPr>
                      <p:nvPr/>
                    </p:nvPicPr>
                    <p:blipFill>
                      <a:blip r:embed="rId30"/>
                      <a:srcRect/>
                      <a:stretch>
                        <a:fillRect/>
                      </a:stretch>
                    </p:blipFill>
                    <p:spPr bwMode="auto">
                      <a:xfrm>
                        <a:off x="1115616" y="4293096"/>
                        <a:ext cx="889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 name="对象 46"/>
          <p:cNvGraphicFramePr>
            <a:graphicFrameLocks noChangeAspect="1"/>
          </p:cNvGraphicFramePr>
          <p:nvPr>
            <p:extLst>
              <p:ext uri="{D42A27DB-BD31-4B8C-83A1-F6EECF244321}">
                <p14:modId xmlns:p14="http://schemas.microsoft.com/office/powerpoint/2010/main" val="3380664042"/>
              </p:ext>
            </p:extLst>
          </p:nvPr>
        </p:nvGraphicFramePr>
        <p:xfrm>
          <a:off x="3460750" y="4293096"/>
          <a:ext cx="1111250" cy="503238"/>
        </p:xfrm>
        <a:graphic>
          <a:graphicData uri="http://schemas.openxmlformats.org/presentationml/2006/ole">
            <mc:AlternateContent xmlns:mc="http://schemas.openxmlformats.org/markup-compatibility/2006">
              <mc:Choice xmlns:v="urn:schemas-microsoft-com:vml" Requires="v">
                <p:oleObj spid="_x0000_s75173" name="公式" r:id="rId31" imgW="444240" imgH="228600" progId="Equation.3">
                  <p:embed/>
                </p:oleObj>
              </mc:Choice>
              <mc:Fallback>
                <p:oleObj name="公式" r:id="rId31" imgW="444240" imgH="228600" progId="Equation.3">
                  <p:embed/>
                  <p:pic>
                    <p:nvPicPr>
                      <p:cNvPr id="0" name=""/>
                      <p:cNvPicPr>
                        <a:picLocks noChangeAspect="1" noChangeArrowheads="1"/>
                      </p:cNvPicPr>
                      <p:nvPr/>
                    </p:nvPicPr>
                    <p:blipFill>
                      <a:blip r:embed="rId27"/>
                      <a:srcRect/>
                      <a:stretch>
                        <a:fillRect/>
                      </a:stretch>
                    </p:blipFill>
                    <p:spPr bwMode="auto">
                      <a:xfrm>
                        <a:off x="3460750" y="4293096"/>
                        <a:ext cx="1111250" cy="503238"/>
                      </a:xfrm>
                      <a:prstGeom prst="rect">
                        <a:avLst/>
                      </a:prstGeom>
                      <a:noFill/>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2913169474"/>
              </p:ext>
            </p:extLst>
          </p:nvPr>
        </p:nvGraphicFramePr>
        <p:xfrm>
          <a:off x="4788024" y="4293096"/>
          <a:ext cx="1111250" cy="503238"/>
        </p:xfrm>
        <a:graphic>
          <a:graphicData uri="http://schemas.openxmlformats.org/presentationml/2006/ole">
            <mc:AlternateContent xmlns:mc="http://schemas.openxmlformats.org/markup-compatibility/2006">
              <mc:Choice xmlns:v="urn:schemas-microsoft-com:vml" Requires="v">
                <p:oleObj spid="_x0000_s75174" name="公式" r:id="rId32" imgW="444240" imgH="228600" progId="Equation.3">
                  <p:embed/>
                </p:oleObj>
              </mc:Choice>
              <mc:Fallback>
                <p:oleObj name="公式" r:id="rId32" imgW="444240" imgH="228600" progId="Equation.3">
                  <p:embed/>
                  <p:pic>
                    <p:nvPicPr>
                      <p:cNvPr id="0" name=""/>
                      <p:cNvPicPr>
                        <a:picLocks noChangeAspect="1" noChangeArrowheads="1"/>
                      </p:cNvPicPr>
                      <p:nvPr/>
                    </p:nvPicPr>
                    <p:blipFill>
                      <a:blip r:embed="rId27"/>
                      <a:srcRect/>
                      <a:stretch>
                        <a:fillRect/>
                      </a:stretch>
                    </p:blipFill>
                    <p:spPr bwMode="auto">
                      <a:xfrm>
                        <a:off x="4788024" y="4293096"/>
                        <a:ext cx="1111250" cy="503238"/>
                      </a:xfrm>
                      <a:prstGeom prst="rect">
                        <a:avLst/>
                      </a:prstGeom>
                      <a:noFill/>
                    </p:spPr>
                  </p:pic>
                </p:oleObj>
              </mc:Fallback>
            </mc:AlternateContent>
          </a:graphicData>
        </a:graphic>
      </p:graphicFrame>
    </p:spTree>
    <p:extLst>
      <p:ext uri="{BB962C8B-B14F-4D97-AF65-F5344CB8AC3E}">
        <p14:creationId xmlns:p14="http://schemas.microsoft.com/office/powerpoint/2010/main" val="257140160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6.3.4  </a:t>
            </a:r>
            <a:r>
              <a:rPr lang="zh-CN" altLang="zh-CN" dirty="0"/>
              <a:t>最小函数依赖集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54</a:t>
            </a:fld>
            <a:endParaRPr lang="zh-CN" altLang="en-US" dirty="0"/>
          </a:p>
        </p:txBody>
      </p:sp>
      <p:sp>
        <p:nvSpPr>
          <p:cNvPr id="7" name="文本占位符 6"/>
          <p:cNvSpPr>
            <a:spLocks noGrp="1"/>
          </p:cNvSpPr>
          <p:nvPr>
            <p:ph type="body" idx="1"/>
          </p:nvPr>
        </p:nvSpPr>
        <p:spPr>
          <a:xfrm>
            <a:off x="107504" y="620688"/>
            <a:ext cx="8856984" cy="6048672"/>
          </a:xfrm>
        </p:spPr>
        <p:txBody>
          <a:bodyPr>
            <a:normAutofit/>
          </a:bodyPr>
          <a:lstStyle/>
          <a:p>
            <a:r>
              <a:rPr lang="zh-CN" altLang="zh-CN" sz="2000" dirty="0" smtClean="0">
                <a:solidFill>
                  <a:srgbClr val="0000FF"/>
                </a:solidFill>
              </a:rPr>
              <a:t>定义</a:t>
            </a:r>
            <a:r>
              <a:rPr lang="en-US" altLang="zh-CN" sz="2000" dirty="0">
                <a:solidFill>
                  <a:srgbClr val="0000FF"/>
                </a:solidFill>
              </a:rPr>
              <a:t>6.16  </a:t>
            </a:r>
            <a:r>
              <a:rPr lang="zh-CN" altLang="zh-CN" sz="2000" dirty="0"/>
              <a:t>对于函数依赖集</a:t>
            </a:r>
            <a:r>
              <a:rPr lang="en-US" altLang="zh-CN" sz="2000" dirty="0"/>
              <a:t>F</a:t>
            </a:r>
            <a:r>
              <a:rPr lang="zh-CN" altLang="zh-CN" sz="2000" dirty="0"/>
              <a:t>和</a:t>
            </a:r>
            <a:r>
              <a:rPr lang="en-US" altLang="zh-CN" sz="2000" dirty="0"/>
              <a:t>G</a:t>
            </a:r>
            <a:r>
              <a:rPr lang="zh-CN" altLang="zh-CN" sz="2000" dirty="0"/>
              <a:t>，如果</a:t>
            </a:r>
            <a:r>
              <a:rPr lang="en-US" altLang="zh-CN" sz="2000" dirty="0"/>
              <a:t> = </a:t>
            </a:r>
            <a:r>
              <a:rPr lang="zh-CN" altLang="zh-CN" sz="2000" dirty="0"/>
              <a:t>，则称</a:t>
            </a:r>
            <a:r>
              <a:rPr lang="en-US" altLang="zh-CN" sz="2000" dirty="0"/>
              <a:t>F</a:t>
            </a:r>
            <a:r>
              <a:rPr lang="zh-CN" altLang="zh-CN" sz="2000" dirty="0"/>
              <a:t>和</a:t>
            </a:r>
            <a:r>
              <a:rPr lang="en-US" altLang="zh-CN" sz="2000" dirty="0"/>
              <a:t>G</a:t>
            </a:r>
            <a:r>
              <a:rPr lang="zh-CN" altLang="zh-CN" sz="2000" dirty="0"/>
              <a:t>互相覆盖（或者</a:t>
            </a:r>
            <a:r>
              <a:rPr lang="en-US" altLang="zh-CN" sz="2000" dirty="0"/>
              <a:t>F</a:t>
            </a:r>
            <a:r>
              <a:rPr lang="zh-CN" altLang="zh-CN" sz="2000" dirty="0"/>
              <a:t>和</a:t>
            </a:r>
            <a:r>
              <a:rPr lang="en-US" altLang="zh-CN" sz="2000" dirty="0"/>
              <a:t>G</a:t>
            </a:r>
            <a:r>
              <a:rPr lang="zh-CN" altLang="zh-CN" sz="2000" dirty="0"/>
              <a:t>等价。记为：</a:t>
            </a:r>
            <a:r>
              <a:rPr lang="en-US" altLang="zh-CN" sz="2000" dirty="0"/>
              <a:t>F</a:t>
            </a:r>
            <a:r>
              <a:rPr lang="zh-CN" altLang="zh-CN" sz="2000" dirty="0"/>
              <a:t>≡</a:t>
            </a:r>
            <a:r>
              <a:rPr lang="en-US" altLang="zh-CN" sz="2000" dirty="0"/>
              <a:t>G</a:t>
            </a:r>
            <a:r>
              <a:rPr lang="zh-CN" altLang="zh-CN" sz="2000" dirty="0"/>
              <a:t>。</a:t>
            </a:r>
          </a:p>
          <a:p>
            <a:r>
              <a:rPr lang="zh-CN" altLang="zh-CN" sz="2000" dirty="0">
                <a:solidFill>
                  <a:srgbClr val="0000FF"/>
                </a:solidFill>
              </a:rPr>
              <a:t>定义</a:t>
            </a:r>
            <a:r>
              <a:rPr lang="en-US" altLang="zh-CN" sz="2000" dirty="0">
                <a:solidFill>
                  <a:srgbClr val="0000FF"/>
                </a:solidFill>
              </a:rPr>
              <a:t>6.17  </a:t>
            </a:r>
            <a:r>
              <a:rPr lang="zh-CN" altLang="zh-CN" sz="2000" dirty="0"/>
              <a:t>函数依赖集</a:t>
            </a:r>
            <a:r>
              <a:rPr lang="en-US" altLang="zh-CN" sz="2000" dirty="0"/>
              <a:t>F</a:t>
            </a:r>
            <a:r>
              <a:rPr lang="zh-CN" altLang="zh-CN" sz="2000" dirty="0"/>
              <a:t>称为</a:t>
            </a:r>
            <a:r>
              <a:rPr lang="zh-CN" altLang="zh-CN" sz="2000" dirty="0">
                <a:solidFill>
                  <a:srgbClr val="0000FF"/>
                </a:solidFill>
              </a:rPr>
              <a:t>最小函数依赖集</a:t>
            </a:r>
            <a:r>
              <a:rPr lang="zh-CN" altLang="zh-CN" sz="2000" dirty="0"/>
              <a:t>（记为：</a:t>
            </a:r>
            <a:r>
              <a:rPr lang="en-US" altLang="zh-CN" sz="2000" dirty="0" err="1">
                <a:solidFill>
                  <a:srgbClr val="0000FF"/>
                </a:solidFill>
              </a:rPr>
              <a:t>F</a:t>
            </a:r>
            <a:r>
              <a:rPr lang="en-US" altLang="zh-CN" sz="2000" baseline="-25000" dirty="0" err="1">
                <a:solidFill>
                  <a:srgbClr val="0000FF"/>
                </a:solidFill>
              </a:rPr>
              <a:t>min</a:t>
            </a:r>
            <a:r>
              <a:rPr lang="zh-CN" altLang="zh-CN" sz="2000" dirty="0"/>
              <a:t>），如果</a:t>
            </a:r>
            <a:r>
              <a:rPr lang="en-US" altLang="zh-CN" sz="2000" dirty="0"/>
              <a:t>F</a:t>
            </a:r>
            <a:r>
              <a:rPr lang="zh-CN" altLang="zh-CN" sz="2000" dirty="0"/>
              <a:t>满足：</a:t>
            </a:r>
          </a:p>
          <a:p>
            <a:pPr marL="0" indent="0">
              <a:buNone/>
            </a:pPr>
            <a:r>
              <a:rPr lang="zh-CN" altLang="zh-CN" sz="2000" dirty="0"/>
              <a:t>（</a:t>
            </a:r>
            <a:r>
              <a:rPr lang="en-US" altLang="zh-CN" sz="2000" dirty="0"/>
              <a:t>1</a:t>
            </a:r>
            <a:r>
              <a:rPr lang="zh-CN" altLang="zh-CN" sz="2000" dirty="0"/>
              <a:t>）函数依赖的右部均为单属性。</a:t>
            </a:r>
          </a:p>
          <a:p>
            <a:pPr marL="0" indent="0">
              <a:buNone/>
            </a:pPr>
            <a:r>
              <a:rPr lang="zh-CN" altLang="zh-CN" sz="2000" dirty="0"/>
              <a:t>（</a:t>
            </a:r>
            <a:r>
              <a:rPr lang="en-US" altLang="zh-CN" sz="2000" dirty="0"/>
              <a:t>2</a:t>
            </a:r>
            <a:r>
              <a:rPr lang="zh-CN" altLang="zh-CN" sz="2000" dirty="0"/>
              <a:t>）不含冗余函数依赖。即：不存在</a:t>
            </a:r>
            <a:r>
              <a:rPr lang="en-US" altLang="zh-CN" sz="2000" dirty="0"/>
              <a:t>X</a:t>
            </a:r>
            <a:r>
              <a:rPr lang="zh-CN" altLang="zh-CN" sz="2000" dirty="0"/>
              <a:t>→</a:t>
            </a:r>
            <a:r>
              <a:rPr lang="en-US" altLang="zh-CN" sz="2000" dirty="0"/>
              <a:t>A</a:t>
            </a:r>
            <a:r>
              <a:rPr lang="zh-CN" altLang="zh-CN" sz="2000" dirty="0"/>
              <a:t>，使得</a:t>
            </a:r>
            <a:r>
              <a:rPr lang="en-US" altLang="zh-CN" sz="2000" dirty="0"/>
              <a:t>F</a:t>
            </a:r>
            <a:r>
              <a:rPr lang="zh-CN" altLang="zh-CN" sz="2000" dirty="0"/>
              <a:t>≡</a:t>
            </a:r>
            <a:r>
              <a:rPr lang="en-US" altLang="zh-CN" sz="2000" dirty="0"/>
              <a:t>F-{X</a:t>
            </a:r>
            <a:r>
              <a:rPr lang="zh-CN" altLang="zh-CN" sz="2000" dirty="0"/>
              <a:t>→</a:t>
            </a:r>
            <a:r>
              <a:rPr lang="en-US" altLang="zh-CN" sz="2000" dirty="0"/>
              <a:t>A}</a:t>
            </a:r>
            <a:r>
              <a:rPr lang="zh-CN" altLang="zh-CN" sz="2000" dirty="0"/>
              <a:t>。</a:t>
            </a:r>
          </a:p>
          <a:p>
            <a:pPr marL="0" indent="0">
              <a:buNone/>
            </a:pPr>
            <a:r>
              <a:rPr lang="zh-CN" altLang="en-US" sz="2000" dirty="0" smtClean="0"/>
              <a:t>（</a:t>
            </a:r>
            <a:r>
              <a:rPr lang="en-US" altLang="zh-CN" sz="2000" dirty="0" smtClean="0"/>
              <a:t>3</a:t>
            </a:r>
            <a:r>
              <a:rPr lang="zh-CN" altLang="en-US" sz="2000" dirty="0" smtClean="0"/>
              <a:t>）</a:t>
            </a:r>
            <a:r>
              <a:rPr lang="zh-CN" altLang="zh-CN" sz="2000" dirty="0" smtClean="0"/>
              <a:t>函数依赖</a:t>
            </a:r>
            <a:r>
              <a:rPr lang="zh-CN" altLang="zh-CN" sz="2000" dirty="0"/>
              <a:t>的左部均无冗余属性。即：不存在</a:t>
            </a:r>
            <a:r>
              <a:rPr lang="en-US" altLang="zh-CN" sz="2000" dirty="0"/>
              <a:t>X</a:t>
            </a:r>
            <a:r>
              <a:rPr lang="zh-CN" altLang="zh-CN" sz="2000" dirty="0"/>
              <a:t>→</a:t>
            </a:r>
            <a:r>
              <a:rPr lang="en-US" altLang="zh-CN" sz="2000" dirty="0"/>
              <a:t>A</a:t>
            </a:r>
            <a:r>
              <a:rPr lang="zh-CN" altLang="zh-CN" sz="2000" dirty="0"/>
              <a:t>，对于</a:t>
            </a:r>
            <a:r>
              <a:rPr lang="en-US" altLang="zh-CN" sz="2000" dirty="0"/>
              <a:t> </a:t>
            </a:r>
            <a:r>
              <a:rPr lang="en-US" altLang="zh-CN" sz="2000" dirty="0" smtClean="0"/>
              <a:t>Z     </a:t>
            </a:r>
            <a:r>
              <a:rPr lang="en-US" altLang="zh-CN" sz="2000" dirty="0"/>
              <a:t>X</a:t>
            </a:r>
            <a:r>
              <a:rPr lang="zh-CN" altLang="zh-CN" sz="2000" dirty="0"/>
              <a:t>，满足：</a:t>
            </a:r>
          </a:p>
          <a:p>
            <a:pPr marL="806450" indent="0">
              <a:buNone/>
            </a:pPr>
            <a:r>
              <a:rPr lang="en-US" altLang="zh-CN" sz="2000" dirty="0"/>
              <a:t>F</a:t>
            </a:r>
            <a:r>
              <a:rPr lang="zh-CN" altLang="zh-CN" sz="2000" dirty="0"/>
              <a:t>≡</a:t>
            </a:r>
            <a:r>
              <a:rPr lang="en-US" altLang="zh-CN" sz="2000" dirty="0"/>
              <a:t>(F-{X</a:t>
            </a:r>
            <a:r>
              <a:rPr lang="zh-CN" altLang="zh-CN" sz="2000" dirty="0"/>
              <a:t>→</a:t>
            </a:r>
            <a:r>
              <a:rPr lang="en-US" altLang="zh-CN" sz="2000" dirty="0"/>
              <a:t>A})</a:t>
            </a:r>
            <a:r>
              <a:rPr lang="zh-CN" altLang="zh-CN" sz="2000" dirty="0"/>
              <a:t>∪</a:t>
            </a:r>
            <a:r>
              <a:rPr lang="en-US" altLang="zh-CN" sz="2000" dirty="0"/>
              <a:t>{Z</a:t>
            </a:r>
            <a:r>
              <a:rPr lang="zh-CN" altLang="zh-CN" sz="2000" dirty="0"/>
              <a:t>→</a:t>
            </a:r>
            <a:r>
              <a:rPr lang="en-US" altLang="zh-CN" sz="2000" dirty="0"/>
              <a:t>A}</a:t>
            </a:r>
            <a:r>
              <a:rPr lang="zh-CN" altLang="zh-CN" sz="2000" dirty="0"/>
              <a:t>。</a:t>
            </a:r>
          </a:p>
          <a:p>
            <a:r>
              <a:rPr lang="zh-CN" altLang="zh-CN" sz="2000" dirty="0">
                <a:solidFill>
                  <a:srgbClr val="0000FF"/>
                </a:solidFill>
              </a:rPr>
              <a:t>例如：</a:t>
            </a:r>
            <a:r>
              <a:rPr lang="zh-CN" altLang="zh-CN" sz="2000" dirty="0"/>
              <a:t>对于</a:t>
            </a:r>
            <a:r>
              <a:rPr lang="en-US" altLang="zh-CN" sz="2000" dirty="0"/>
              <a:t>R(U,F)</a:t>
            </a:r>
            <a:r>
              <a:rPr lang="zh-CN" altLang="zh-CN" sz="2000" dirty="0"/>
              <a:t>，</a:t>
            </a:r>
            <a:r>
              <a:rPr lang="en-US" altLang="zh-CN" sz="2000" dirty="0"/>
              <a:t>U={A,B,C,D}</a:t>
            </a:r>
            <a:r>
              <a:rPr lang="zh-CN" altLang="zh-CN" sz="2000" dirty="0"/>
              <a:t>，</a:t>
            </a:r>
            <a:r>
              <a:rPr lang="en-US" altLang="zh-CN" sz="2000" dirty="0"/>
              <a:t>F={A</a:t>
            </a:r>
            <a:r>
              <a:rPr lang="zh-CN" altLang="zh-CN" sz="2000" dirty="0"/>
              <a:t>→</a:t>
            </a:r>
            <a:r>
              <a:rPr lang="en-US" altLang="zh-CN" sz="2000" dirty="0"/>
              <a:t>B,A</a:t>
            </a:r>
            <a:r>
              <a:rPr lang="zh-CN" altLang="zh-CN" sz="2000" dirty="0"/>
              <a:t>→</a:t>
            </a:r>
            <a:r>
              <a:rPr lang="en-US" altLang="zh-CN" sz="2000" dirty="0"/>
              <a:t>C,B</a:t>
            </a:r>
            <a:r>
              <a:rPr lang="zh-CN" altLang="zh-CN" sz="2000" dirty="0"/>
              <a:t>→</a:t>
            </a:r>
            <a:r>
              <a:rPr lang="en-US" altLang="zh-CN" sz="2000" dirty="0"/>
              <a:t>C,C</a:t>
            </a:r>
            <a:r>
              <a:rPr lang="zh-CN" altLang="zh-CN" sz="2000" dirty="0"/>
              <a:t>→</a:t>
            </a:r>
            <a:r>
              <a:rPr lang="en-US" altLang="zh-CN" sz="2000" dirty="0"/>
              <a:t>D}</a:t>
            </a:r>
            <a:r>
              <a:rPr lang="zh-CN" altLang="zh-CN" sz="2000" dirty="0"/>
              <a:t>，则</a:t>
            </a:r>
            <a:r>
              <a:rPr lang="en-US" altLang="zh-CN" sz="2000" dirty="0"/>
              <a:t>A</a:t>
            </a:r>
            <a:r>
              <a:rPr lang="zh-CN" altLang="zh-CN" sz="2000" dirty="0"/>
              <a:t>→</a:t>
            </a:r>
            <a:r>
              <a:rPr lang="en-US" altLang="zh-CN" sz="2000" dirty="0"/>
              <a:t>C</a:t>
            </a:r>
            <a:r>
              <a:rPr lang="zh-CN" altLang="zh-CN" sz="2000" dirty="0"/>
              <a:t>是冗余函数依赖，所以</a:t>
            </a:r>
            <a:r>
              <a:rPr lang="en-US" altLang="zh-CN" sz="2000" dirty="0" err="1"/>
              <a:t>F</a:t>
            </a:r>
            <a:r>
              <a:rPr lang="en-US" altLang="zh-CN" sz="2000" baseline="-25000" dirty="0" err="1"/>
              <a:t>min</a:t>
            </a:r>
            <a:r>
              <a:rPr lang="en-US" altLang="zh-CN" sz="2000" dirty="0"/>
              <a:t>={A</a:t>
            </a:r>
            <a:r>
              <a:rPr lang="zh-CN" altLang="zh-CN" sz="2000" dirty="0"/>
              <a:t>→</a:t>
            </a:r>
            <a:r>
              <a:rPr lang="en-US" altLang="zh-CN" sz="2000" dirty="0"/>
              <a:t>B,B</a:t>
            </a:r>
            <a:r>
              <a:rPr lang="zh-CN" altLang="zh-CN" sz="2000" dirty="0"/>
              <a:t>→</a:t>
            </a:r>
            <a:r>
              <a:rPr lang="en-US" altLang="zh-CN" sz="2000" dirty="0"/>
              <a:t>C,C</a:t>
            </a:r>
            <a:r>
              <a:rPr lang="zh-CN" altLang="zh-CN" sz="2000" dirty="0"/>
              <a:t>→</a:t>
            </a:r>
            <a:r>
              <a:rPr lang="en-US" altLang="zh-CN" sz="2000" dirty="0"/>
              <a:t>D}</a:t>
            </a:r>
            <a:r>
              <a:rPr lang="zh-CN" altLang="zh-CN" sz="2000" dirty="0"/>
              <a:t>。</a:t>
            </a:r>
          </a:p>
          <a:p>
            <a:r>
              <a:rPr lang="zh-CN" altLang="zh-CN" sz="2000" dirty="0">
                <a:solidFill>
                  <a:srgbClr val="0000FF"/>
                </a:solidFill>
              </a:rPr>
              <a:t>再如：</a:t>
            </a:r>
            <a:r>
              <a:rPr lang="zh-CN" altLang="zh-CN" sz="2000" dirty="0"/>
              <a:t>对于</a:t>
            </a:r>
            <a:r>
              <a:rPr lang="en-US" altLang="zh-CN" sz="2000" dirty="0"/>
              <a:t>R(U,F)</a:t>
            </a:r>
            <a:r>
              <a:rPr lang="zh-CN" altLang="zh-CN" sz="2000" dirty="0"/>
              <a:t>，</a:t>
            </a:r>
            <a:r>
              <a:rPr lang="en-US" altLang="zh-CN" sz="2000" dirty="0"/>
              <a:t>U={A,B,C,D}</a:t>
            </a:r>
            <a:r>
              <a:rPr lang="zh-CN" altLang="zh-CN" sz="2000" dirty="0"/>
              <a:t>，</a:t>
            </a:r>
            <a:r>
              <a:rPr lang="en-US" altLang="zh-CN" sz="2000" dirty="0"/>
              <a:t>F={A</a:t>
            </a:r>
            <a:r>
              <a:rPr lang="zh-CN" altLang="zh-CN" sz="2000" dirty="0"/>
              <a:t>→</a:t>
            </a:r>
            <a:r>
              <a:rPr lang="en-US" altLang="zh-CN" sz="2000" dirty="0"/>
              <a:t>B,BC</a:t>
            </a:r>
            <a:r>
              <a:rPr lang="zh-CN" altLang="zh-CN" sz="2000" dirty="0"/>
              <a:t>→</a:t>
            </a:r>
            <a:r>
              <a:rPr lang="en-US" altLang="zh-CN" sz="2000" dirty="0"/>
              <a:t>D,B</a:t>
            </a:r>
            <a:r>
              <a:rPr lang="zh-CN" altLang="zh-CN" sz="2000" dirty="0"/>
              <a:t>→</a:t>
            </a:r>
            <a:r>
              <a:rPr lang="en-US" altLang="zh-CN" sz="2000" dirty="0"/>
              <a:t>D}</a:t>
            </a:r>
            <a:r>
              <a:rPr lang="zh-CN" altLang="zh-CN" sz="2000" dirty="0"/>
              <a:t>，则</a:t>
            </a:r>
            <a:r>
              <a:rPr lang="en-US" altLang="zh-CN" sz="2000" dirty="0"/>
              <a:t>BC</a:t>
            </a:r>
            <a:r>
              <a:rPr lang="zh-CN" altLang="zh-CN" sz="2000" dirty="0"/>
              <a:t>→</a:t>
            </a:r>
            <a:r>
              <a:rPr lang="en-US" altLang="zh-CN" sz="2000" dirty="0"/>
              <a:t>D</a:t>
            </a:r>
            <a:r>
              <a:rPr lang="zh-CN" altLang="zh-CN" sz="2000" dirty="0"/>
              <a:t>中的属性</a:t>
            </a:r>
            <a:r>
              <a:rPr lang="en-US" altLang="zh-CN" sz="2000" dirty="0"/>
              <a:t>C</a:t>
            </a:r>
            <a:r>
              <a:rPr lang="zh-CN" altLang="zh-CN" sz="2000" dirty="0"/>
              <a:t>是冗余属性，所以</a:t>
            </a:r>
            <a:r>
              <a:rPr lang="en-US" altLang="zh-CN" sz="2000" dirty="0" err="1"/>
              <a:t>F</a:t>
            </a:r>
            <a:r>
              <a:rPr lang="en-US" altLang="zh-CN" sz="2000" baseline="-25000" dirty="0" err="1"/>
              <a:t>min</a:t>
            </a:r>
            <a:r>
              <a:rPr lang="en-US" altLang="zh-CN" sz="2000" dirty="0"/>
              <a:t>={A</a:t>
            </a:r>
            <a:r>
              <a:rPr lang="zh-CN" altLang="zh-CN" sz="2000" dirty="0"/>
              <a:t>→</a:t>
            </a:r>
            <a:r>
              <a:rPr lang="en-US" altLang="zh-CN" sz="2000" dirty="0"/>
              <a:t>B,B</a:t>
            </a:r>
            <a:r>
              <a:rPr lang="zh-CN" altLang="zh-CN" sz="2000" dirty="0"/>
              <a:t>→</a:t>
            </a:r>
            <a:r>
              <a:rPr lang="en-US" altLang="zh-CN" sz="2000" dirty="0"/>
              <a:t>D}</a:t>
            </a:r>
            <a:r>
              <a:rPr lang="zh-CN" altLang="zh-CN" sz="2000" dirty="0"/>
              <a:t>。</a:t>
            </a:r>
          </a:p>
          <a:p>
            <a:r>
              <a:rPr lang="zh-CN" altLang="zh-CN" sz="2000" dirty="0">
                <a:solidFill>
                  <a:srgbClr val="0000FF"/>
                </a:solidFill>
              </a:rPr>
              <a:t>如何判断</a:t>
            </a:r>
            <a:r>
              <a:rPr lang="en-US" altLang="zh-CN" sz="2000" dirty="0">
                <a:solidFill>
                  <a:srgbClr val="0000FF"/>
                </a:solidFill>
              </a:rPr>
              <a:t>F</a:t>
            </a:r>
            <a:r>
              <a:rPr lang="zh-CN" altLang="zh-CN" sz="2000" dirty="0">
                <a:solidFill>
                  <a:srgbClr val="0000FF"/>
                </a:solidFill>
              </a:rPr>
              <a:t>覆盖</a:t>
            </a:r>
            <a:r>
              <a:rPr lang="en-US" altLang="zh-CN" sz="2000" dirty="0">
                <a:solidFill>
                  <a:srgbClr val="0000FF"/>
                </a:solidFill>
              </a:rPr>
              <a:t>G</a:t>
            </a:r>
            <a:r>
              <a:rPr lang="zh-CN" altLang="zh-CN" sz="2000" dirty="0">
                <a:solidFill>
                  <a:srgbClr val="0000FF"/>
                </a:solidFill>
              </a:rPr>
              <a:t>或者</a:t>
            </a:r>
            <a:r>
              <a:rPr lang="en-US" altLang="zh-CN" sz="2000" dirty="0">
                <a:solidFill>
                  <a:srgbClr val="0000FF"/>
                </a:solidFill>
              </a:rPr>
              <a:t>G</a:t>
            </a:r>
            <a:r>
              <a:rPr lang="zh-CN" altLang="zh-CN" sz="2000" dirty="0">
                <a:solidFill>
                  <a:srgbClr val="0000FF"/>
                </a:solidFill>
              </a:rPr>
              <a:t>覆盖</a:t>
            </a:r>
            <a:r>
              <a:rPr lang="en-US" altLang="zh-CN" sz="2000" dirty="0">
                <a:solidFill>
                  <a:srgbClr val="0000FF"/>
                </a:solidFill>
              </a:rPr>
              <a:t>F</a:t>
            </a:r>
            <a:r>
              <a:rPr lang="zh-CN" altLang="zh-CN" sz="2000" dirty="0">
                <a:solidFill>
                  <a:srgbClr val="0000FF"/>
                </a:solidFill>
              </a:rPr>
              <a:t>？</a:t>
            </a:r>
            <a:r>
              <a:rPr lang="zh-CN" altLang="zh-CN" sz="2000" dirty="0"/>
              <a:t>定理</a:t>
            </a:r>
            <a:r>
              <a:rPr lang="en-US" altLang="zh-CN" sz="2000" dirty="0"/>
              <a:t>6.1</a:t>
            </a:r>
            <a:r>
              <a:rPr lang="zh-CN" altLang="zh-CN" sz="2000" dirty="0"/>
              <a:t>帮助解决了这个问题</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963674993"/>
              </p:ext>
            </p:extLst>
          </p:nvPr>
        </p:nvGraphicFramePr>
        <p:xfrm>
          <a:off x="7308850" y="3092450"/>
          <a:ext cx="292100" cy="242888"/>
        </p:xfrm>
        <a:graphic>
          <a:graphicData uri="http://schemas.openxmlformats.org/presentationml/2006/ole">
            <mc:AlternateContent xmlns:mc="http://schemas.openxmlformats.org/markup-compatibility/2006">
              <mc:Choice xmlns:v="urn:schemas-microsoft-com:vml" Requires="v">
                <p:oleObj spid="_x0000_s76814" name="公式" r:id="rId3" imgW="152280" imgH="126720" progId="Equation.3">
                  <p:embed/>
                </p:oleObj>
              </mc:Choice>
              <mc:Fallback>
                <p:oleObj name="公式" r:id="rId3" imgW="152280" imgH="126720" progId="Equation.3">
                  <p:embed/>
                  <p:pic>
                    <p:nvPicPr>
                      <p:cNvPr id="0" name=""/>
                      <p:cNvPicPr/>
                      <p:nvPr/>
                    </p:nvPicPr>
                    <p:blipFill>
                      <a:blip r:embed="rId4"/>
                      <a:stretch>
                        <a:fillRect/>
                      </a:stretch>
                    </p:blipFill>
                    <p:spPr>
                      <a:xfrm>
                        <a:off x="7308850" y="3092450"/>
                        <a:ext cx="292100" cy="242888"/>
                      </a:xfrm>
                      <a:prstGeom prst="rect">
                        <a:avLst/>
                      </a:prstGeom>
                    </p:spPr>
                  </p:pic>
                </p:oleObj>
              </mc:Fallback>
            </mc:AlternateContent>
          </a:graphicData>
        </a:graphic>
      </p:graphicFrame>
    </p:spTree>
    <p:extLst>
      <p:ext uri="{BB962C8B-B14F-4D97-AF65-F5344CB8AC3E}">
        <p14:creationId xmlns:p14="http://schemas.microsoft.com/office/powerpoint/2010/main" val="288234634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19256" cy="418058"/>
          </a:xfrm>
        </p:spPr>
        <p:txBody>
          <a:bodyPr>
            <a:normAutofit fontScale="90000"/>
          </a:bodyPr>
          <a:lstStyle/>
          <a:p>
            <a:r>
              <a:rPr lang="en-US" altLang="zh-CN" dirty="0"/>
              <a:t>6.3.4  </a:t>
            </a:r>
            <a:r>
              <a:rPr lang="zh-CN" altLang="zh-CN" dirty="0"/>
              <a:t>最小函数依赖集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55</a:t>
            </a:fld>
            <a:endParaRPr lang="zh-CN" altLang="en-US" dirty="0"/>
          </a:p>
        </p:txBody>
      </p:sp>
      <p:sp>
        <p:nvSpPr>
          <p:cNvPr id="7" name="文本占位符 6"/>
          <p:cNvSpPr>
            <a:spLocks noGrp="1"/>
          </p:cNvSpPr>
          <p:nvPr>
            <p:ph type="body" idx="1"/>
          </p:nvPr>
        </p:nvSpPr>
        <p:spPr>
          <a:xfrm>
            <a:off x="251520" y="620688"/>
            <a:ext cx="8712968" cy="5760640"/>
          </a:xfrm>
        </p:spPr>
        <p:txBody>
          <a:bodyPr>
            <a:normAutofit fontScale="92500"/>
          </a:bodyPr>
          <a:lstStyle/>
          <a:p>
            <a:r>
              <a:rPr lang="zh-CN" altLang="zh-CN" sz="2000" dirty="0">
                <a:solidFill>
                  <a:srgbClr val="0000FF"/>
                </a:solidFill>
              </a:rPr>
              <a:t>定理</a:t>
            </a:r>
            <a:r>
              <a:rPr lang="en-US" altLang="zh-CN" sz="2000" dirty="0">
                <a:solidFill>
                  <a:srgbClr val="0000FF"/>
                </a:solidFill>
              </a:rPr>
              <a:t>6.1  </a:t>
            </a:r>
            <a:r>
              <a:rPr lang="zh-CN" altLang="zh-CN" sz="2000" dirty="0"/>
              <a:t>对于函数依赖集</a:t>
            </a:r>
            <a:r>
              <a:rPr lang="en-US" altLang="zh-CN" sz="2000" dirty="0"/>
              <a:t>F</a:t>
            </a:r>
            <a:r>
              <a:rPr lang="zh-CN" altLang="zh-CN" sz="2000" dirty="0"/>
              <a:t>和</a:t>
            </a:r>
            <a:r>
              <a:rPr lang="en-US" altLang="zh-CN" sz="2000" dirty="0"/>
              <a:t>G</a:t>
            </a:r>
            <a:r>
              <a:rPr lang="zh-CN" altLang="zh-CN" sz="2000" dirty="0"/>
              <a:t>，则</a:t>
            </a:r>
            <a:r>
              <a:rPr lang="zh-CN" altLang="zh-CN" sz="2000" dirty="0" smtClean="0"/>
              <a:t>：</a:t>
            </a:r>
            <a:r>
              <a:rPr lang="en-US" altLang="zh-CN" sz="2000" dirty="0" smtClean="0"/>
              <a:t>    =      </a:t>
            </a:r>
            <a:r>
              <a:rPr lang="zh-CN" altLang="zh-CN" sz="2000" dirty="0"/>
              <a:t>当且仅当</a:t>
            </a:r>
            <a:r>
              <a:rPr lang="en-US" altLang="zh-CN" sz="2000" dirty="0"/>
              <a:t> </a:t>
            </a:r>
            <a:r>
              <a:rPr lang="en-US" altLang="zh-CN" sz="2000" dirty="0" smtClean="0"/>
              <a:t>             </a:t>
            </a:r>
            <a:r>
              <a:rPr lang="zh-CN" altLang="zh-CN" sz="2000" dirty="0" smtClean="0"/>
              <a:t>∧</a:t>
            </a:r>
            <a:endParaRPr lang="zh-CN" altLang="zh-CN" sz="2000" dirty="0"/>
          </a:p>
          <a:p>
            <a:r>
              <a:rPr lang="zh-CN" altLang="zh-CN" sz="2000" dirty="0">
                <a:solidFill>
                  <a:srgbClr val="0000FF"/>
                </a:solidFill>
              </a:rPr>
              <a:t>证明：</a:t>
            </a:r>
          </a:p>
          <a:p>
            <a:r>
              <a:rPr lang="zh-CN" altLang="zh-CN" sz="2000" dirty="0">
                <a:solidFill>
                  <a:srgbClr val="0000FF"/>
                </a:solidFill>
              </a:rPr>
              <a:t>必要性：</a:t>
            </a:r>
            <a:r>
              <a:rPr lang="zh-CN" altLang="zh-CN" sz="2000" dirty="0"/>
              <a:t>因为</a:t>
            </a:r>
            <a:r>
              <a:rPr lang="en-US" altLang="zh-CN" sz="2000" dirty="0"/>
              <a:t> </a:t>
            </a:r>
            <a:r>
              <a:rPr lang="en-US" altLang="zh-CN" sz="2000" dirty="0" smtClean="0"/>
              <a:t>            </a:t>
            </a:r>
            <a:r>
              <a:rPr lang="zh-CN" altLang="zh-CN" sz="2000" dirty="0" smtClean="0"/>
              <a:t>，</a:t>
            </a:r>
            <a:r>
              <a:rPr lang="zh-CN" altLang="zh-CN" sz="2000" dirty="0"/>
              <a:t>所以</a:t>
            </a:r>
            <a:r>
              <a:rPr lang="en-US" altLang="zh-CN" sz="2000" dirty="0"/>
              <a:t>G </a:t>
            </a:r>
            <a:r>
              <a:rPr lang="en-US" altLang="zh-CN" sz="2000" dirty="0" smtClean="0"/>
              <a:t>              </a:t>
            </a:r>
            <a:r>
              <a:rPr lang="zh-CN" altLang="zh-CN" sz="2000" dirty="0"/>
              <a:t>，且</a:t>
            </a:r>
            <a:r>
              <a:rPr lang="en-US" altLang="zh-CN" sz="2000" dirty="0"/>
              <a:t>F </a:t>
            </a:r>
            <a:endParaRPr lang="zh-CN" altLang="zh-CN" sz="2000" dirty="0"/>
          </a:p>
          <a:p>
            <a:r>
              <a:rPr lang="zh-CN" altLang="zh-CN" sz="2000" dirty="0">
                <a:solidFill>
                  <a:srgbClr val="0000FF"/>
                </a:solidFill>
              </a:rPr>
              <a:t>充分性：</a:t>
            </a:r>
            <a:r>
              <a:rPr lang="zh-CN" altLang="zh-CN" sz="2000" dirty="0" smtClean="0"/>
              <a:t>因为</a:t>
            </a:r>
            <a:r>
              <a:rPr lang="en-US" altLang="zh-CN" sz="2000" dirty="0" smtClean="0"/>
              <a:t>              </a:t>
            </a:r>
            <a:r>
              <a:rPr lang="zh-CN" altLang="zh-CN" sz="2000" dirty="0" smtClean="0"/>
              <a:t>∧</a:t>
            </a:r>
            <a:r>
              <a:rPr lang="en-US" altLang="zh-CN" sz="2000" dirty="0" smtClean="0"/>
              <a:t>            </a:t>
            </a:r>
            <a:r>
              <a:rPr lang="zh-CN" altLang="zh-CN" sz="2000" dirty="0" smtClean="0"/>
              <a:t>，所以</a:t>
            </a:r>
            <a:r>
              <a:rPr lang="en-US" altLang="zh-CN" sz="2000" dirty="0" smtClean="0"/>
              <a:t>            =  </a:t>
            </a:r>
            <a:endParaRPr lang="zh-CN" altLang="zh-CN" sz="2000" dirty="0"/>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a:t>
            </a:r>
            <a:r>
              <a:rPr lang="zh-CN" altLang="zh-CN" sz="2000" dirty="0" smtClean="0"/>
              <a:t>根据</a:t>
            </a:r>
            <a:r>
              <a:rPr lang="en-US" altLang="zh-CN" sz="2000" dirty="0" smtClean="0"/>
              <a:t>             </a:t>
            </a:r>
            <a:r>
              <a:rPr lang="zh-CN" altLang="zh-CN" sz="2000" dirty="0" smtClean="0"/>
              <a:t>，</a:t>
            </a:r>
            <a:r>
              <a:rPr lang="zh-CN" altLang="zh-CN" sz="2000" dirty="0"/>
              <a:t>证明</a:t>
            </a:r>
            <a:r>
              <a:rPr lang="en-US" altLang="zh-CN" sz="2000" dirty="0"/>
              <a:t> </a:t>
            </a:r>
            <a:endParaRPr lang="zh-CN" altLang="zh-CN" sz="2000" dirty="0"/>
          </a:p>
          <a:p>
            <a:pPr marL="625475" indent="0">
              <a:buNone/>
            </a:pPr>
            <a:r>
              <a:rPr lang="zh-CN" altLang="zh-CN" sz="2000" dirty="0"/>
              <a:t>只需</a:t>
            </a:r>
            <a:r>
              <a:rPr lang="zh-CN" altLang="zh-CN" sz="2000" dirty="0" smtClean="0"/>
              <a:t>证明</a:t>
            </a:r>
            <a:r>
              <a:rPr lang="zh-CN" altLang="en-US" sz="2000" dirty="0" smtClean="0"/>
              <a:t>任意</a:t>
            </a:r>
            <a:r>
              <a:rPr lang="en-US" altLang="zh-CN" sz="2000" dirty="0" smtClean="0"/>
              <a:t> </a:t>
            </a:r>
            <a:r>
              <a:rPr lang="en-US" altLang="zh-CN" sz="2000" dirty="0"/>
              <a:t>X</a:t>
            </a:r>
            <a:r>
              <a:rPr lang="zh-CN" altLang="zh-CN" sz="2000" dirty="0"/>
              <a:t>→</a:t>
            </a:r>
            <a:r>
              <a:rPr lang="en-US" altLang="zh-CN" sz="2000" dirty="0" smtClean="0"/>
              <a:t>Y          </a:t>
            </a:r>
            <a:r>
              <a:rPr lang="zh-CN" altLang="zh-CN" sz="2000" dirty="0"/>
              <a:t>，则</a:t>
            </a:r>
            <a:r>
              <a:rPr lang="en-US" altLang="zh-CN" sz="2000" dirty="0"/>
              <a:t>X</a:t>
            </a:r>
            <a:r>
              <a:rPr lang="zh-CN" altLang="zh-CN" sz="2000" dirty="0"/>
              <a:t>→</a:t>
            </a:r>
            <a:r>
              <a:rPr lang="en-US" altLang="zh-CN" sz="2000" dirty="0" smtClean="0"/>
              <a:t>Y</a:t>
            </a:r>
            <a:endParaRPr lang="zh-CN" altLang="zh-CN" sz="2000" dirty="0"/>
          </a:p>
          <a:p>
            <a:pPr marL="625475" indent="0">
              <a:buNone/>
            </a:pPr>
            <a:r>
              <a:rPr lang="zh-CN" altLang="zh-CN" sz="2000" dirty="0" smtClean="0"/>
              <a:t>因为</a:t>
            </a:r>
            <a:r>
              <a:rPr lang="en-US" altLang="zh-CN" sz="2000" dirty="0" smtClean="0"/>
              <a:t>            </a:t>
            </a:r>
            <a:r>
              <a:rPr lang="zh-CN" altLang="zh-CN" sz="2000" dirty="0"/>
              <a:t>，</a:t>
            </a:r>
            <a:r>
              <a:rPr lang="zh-CN" altLang="zh-CN" sz="2000" dirty="0" smtClean="0"/>
              <a:t>所以</a:t>
            </a:r>
            <a:endParaRPr lang="zh-CN" altLang="zh-CN" sz="2000" dirty="0"/>
          </a:p>
          <a:p>
            <a:pPr marL="625475" indent="0">
              <a:buNone/>
            </a:pPr>
            <a:r>
              <a:rPr lang="zh-CN" altLang="zh-CN" sz="2000" dirty="0"/>
              <a:t>又因为</a:t>
            </a:r>
            <a:r>
              <a:rPr lang="en-US" altLang="zh-CN" sz="2000" dirty="0"/>
              <a:t>X</a:t>
            </a:r>
            <a:r>
              <a:rPr lang="zh-CN" altLang="zh-CN" sz="2000" dirty="0"/>
              <a:t>→</a:t>
            </a:r>
            <a:r>
              <a:rPr lang="en-US" altLang="zh-CN" sz="2000" dirty="0"/>
              <a:t>Y </a:t>
            </a:r>
            <a:r>
              <a:rPr lang="en-US" altLang="zh-CN" sz="2000" dirty="0" smtClean="0"/>
              <a:t>       </a:t>
            </a:r>
            <a:r>
              <a:rPr lang="zh-CN" altLang="zh-CN" sz="2000" dirty="0" smtClean="0"/>
              <a:t>，</a:t>
            </a:r>
            <a:r>
              <a:rPr lang="zh-CN" altLang="zh-CN" sz="2000" dirty="0"/>
              <a:t>所以</a:t>
            </a:r>
            <a:r>
              <a:rPr lang="en-US" altLang="zh-CN" sz="2000" dirty="0" smtClean="0"/>
              <a:t>Y</a:t>
            </a:r>
            <a:r>
              <a:rPr lang="en-US" altLang="zh-CN" sz="3600" dirty="0" smtClean="0">
                <a:sym typeface="Symbol"/>
              </a:rPr>
              <a:t></a:t>
            </a:r>
            <a:endParaRPr lang="zh-CN" altLang="zh-CN" sz="3600" dirty="0"/>
          </a:p>
          <a:p>
            <a:pPr marL="625475" indent="0">
              <a:buNone/>
            </a:pPr>
            <a:r>
              <a:rPr lang="zh-CN" altLang="zh-CN" sz="2000" dirty="0"/>
              <a:t>进而</a:t>
            </a:r>
            <a:r>
              <a:rPr lang="en-US" altLang="zh-CN" sz="2000" dirty="0"/>
              <a:t>X</a:t>
            </a:r>
            <a:r>
              <a:rPr lang="zh-CN" altLang="zh-CN" sz="2000" dirty="0"/>
              <a:t>→</a:t>
            </a:r>
            <a:r>
              <a:rPr lang="en-US" altLang="zh-CN" sz="2000" dirty="0"/>
              <a:t>Y </a:t>
            </a:r>
            <a:r>
              <a:rPr lang="en-US" altLang="zh-CN" sz="2000" dirty="0" smtClean="0"/>
              <a:t>                        </a:t>
            </a:r>
            <a:r>
              <a:rPr lang="zh-CN" altLang="zh-CN" sz="2000" dirty="0" smtClean="0"/>
              <a:t>。</a:t>
            </a:r>
            <a:r>
              <a:rPr lang="zh-CN" altLang="zh-CN" sz="2000" dirty="0"/>
              <a:t>即：</a:t>
            </a:r>
            <a:r>
              <a:rPr lang="en-US" altLang="zh-CN" sz="2000" dirty="0"/>
              <a:t> </a:t>
            </a:r>
            <a:endParaRPr lang="zh-CN" altLang="zh-CN" sz="2000" dirty="0"/>
          </a:p>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a:t>
            </a:r>
            <a:r>
              <a:rPr lang="zh-CN" altLang="zh-CN" sz="2000" dirty="0" smtClean="0"/>
              <a:t>根据</a:t>
            </a:r>
            <a:r>
              <a:rPr lang="en-US" altLang="zh-CN" sz="2000" dirty="0" smtClean="0"/>
              <a:t>             </a:t>
            </a:r>
            <a:r>
              <a:rPr lang="zh-CN" altLang="zh-CN" sz="2000" dirty="0" smtClean="0"/>
              <a:t>，证明</a:t>
            </a:r>
            <a:r>
              <a:rPr lang="en-US" altLang="zh-CN" sz="2000" dirty="0" smtClean="0"/>
              <a:t>                </a:t>
            </a:r>
            <a:r>
              <a:rPr lang="zh-CN" altLang="zh-CN" sz="2000" dirty="0"/>
              <a:t>。同理可证。</a:t>
            </a:r>
          </a:p>
          <a:p>
            <a:r>
              <a:rPr lang="zh-CN" altLang="zh-CN" sz="2000" dirty="0" smtClean="0"/>
              <a:t>如果</a:t>
            </a:r>
            <a:r>
              <a:rPr lang="zh-CN" altLang="zh-CN" sz="2000" dirty="0"/>
              <a:t>需要判断</a:t>
            </a:r>
            <a:r>
              <a:rPr lang="en-US" altLang="zh-CN" sz="2000" dirty="0"/>
              <a:t>F</a:t>
            </a:r>
            <a:r>
              <a:rPr lang="zh-CN" altLang="zh-CN" sz="2000" dirty="0"/>
              <a:t>覆盖</a:t>
            </a:r>
            <a:r>
              <a:rPr lang="en-US" altLang="zh-CN" sz="2000" dirty="0"/>
              <a:t>G</a:t>
            </a:r>
            <a:r>
              <a:rPr lang="zh-CN" altLang="zh-CN" sz="2000" dirty="0"/>
              <a:t>（即</a:t>
            </a:r>
            <a:r>
              <a:rPr lang="zh-CN" altLang="zh-CN" sz="2000" dirty="0" smtClean="0"/>
              <a:t>：</a:t>
            </a:r>
            <a:r>
              <a:rPr lang="en-US" altLang="zh-CN" sz="2000" dirty="0" smtClean="0"/>
              <a:t>           </a:t>
            </a:r>
            <a:r>
              <a:rPr lang="zh-CN" altLang="zh-CN" sz="2000" dirty="0" smtClean="0"/>
              <a:t>），</a:t>
            </a:r>
            <a:r>
              <a:rPr lang="zh-CN" altLang="zh-CN" sz="2000" dirty="0"/>
              <a:t>则只须依次判断</a:t>
            </a:r>
            <a:r>
              <a:rPr lang="en-US" altLang="zh-CN" sz="2000" dirty="0"/>
              <a:t>G</a:t>
            </a:r>
            <a:r>
              <a:rPr lang="zh-CN" altLang="zh-CN" sz="2000" dirty="0"/>
              <a:t>的函数依赖</a:t>
            </a:r>
            <a:r>
              <a:rPr lang="en-US" altLang="zh-CN" sz="2000" dirty="0"/>
              <a:t>X</a:t>
            </a:r>
            <a:r>
              <a:rPr lang="zh-CN" altLang="zh-CN" sz="2000" dirty="0"/>
              <a:t>→</a:t>
            </a:r>
            <a:r>
              <a:rPr lang="en-US" altLang="zh-CN" sz="2000" dirty="0"/>
              <a:t>Y</a:t>
            </a:r>
            <a:r>
              <a:rPr lang="zh-CN" altLang="zh-CN" sz="2000" dirty="0"/>
              <a:t>，是否</a:t>
            </a:r>
            <a:r>
              <a:rPr lang="zh-CN" altLang="zh-CN" sz="2000" dirty="0" smtClean="0"/>
              <a:t>成立</a:t>
            </a:r>
            <a:r>
              <a:rPr lang="en-US" altLang="zh-CN" sz="2000" dirty="0" smtClean="0"/>
              <a:t>               </a:t>
            </a:r>
            <a:r>
              <a:rPr lang="zh-CN" altLang="zh-CN" sz="2000" dirty="0" smtClean="0"/>
              <a:t>？给</a:t>
            </a:r>
            <a:r>
              <a:rPr lang="zh-CN" altLang="zh-CN" sz="2000" dirty="0"/>
              <a:t>出了判断两个函数依赖集等价的可行性算法。</a:t>
            </a:r>
          </a:p>
          <a:p>
            <a:endParaRPr lang="zh-CN" altLang="zh-CN" sz="2000" dirty="0"/>
          </a:p>
        </p:txBody>
      </p:sp>
      <p:graphicFrame>
        <p:nvGraphicFramePr>
          <p:cNvPr id="8" name="对象 7"/>
          <p:cNvGraphicFramePr>
            <a:graphicFrameLocks noChangeAspect="1"/>
          </p:cNvGraphicFramePr>
          <p:nvPr>
            <p:extLst>
              <p:ext uri="{D42A27DB-BD31-4B8C-83A1-F6EECF244321}">
                <p14:modId xmlns:p14="http://schemas.microsoft.com/office/powerpoint/2010/main" val="1043978781"/>
              </p:ext>
            </p:extLst>
          </p:nvPr>
        </p:nvGraphicFramePr>
        <p:xfrm>
          <a:off x="4572000" y="620688"/>
          <a:ext cx="433388" cy="417513"/>
        </p:xfrm>
        <a:graphic>
          <a:graphicData uri="http://schemas.openxmlformats.org/presentationml/2006/ole">
            <mc:AlternateContent xmlns:mc="http://schemas.openxmlformats.org/markup-compatibility/2006">
              <mc:Choice xmlns:v="urn:schemas-microsoft-com:vml" Requires="v">
                <p:oleObj spid="_x0000_s72638" name="公式" r:id="rId3" imgW="202936" imgH="177569" progId="Equation.3">
                  <p:embed/>
                </p:oleObj>
              </mc:Choice>
              <mc:Fallback>
                <p:oleObj name="公式" r:id="rId3" imgW="202936" imgH="177569" progId="Equation.3">
                  <p:embed/>
                  <p:pic>
                    <p:nvPicPr>
                      <p:cNvPr id="0" name="对象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620688"/>
                        <a:ext cx="433388"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09211749"/>
              </p:ext>
            </p:extLst>
          </p:nvPr>
        </p:nvGraphicFramePr>
        <p:xfrm>
          <a:off x="5148064" y="620688"/>
          <a:ext cx="444673" cy="460007"/>
        </p:xfrm>
        <a:graphic>
          <a:graphicData uri="http://schemas.openxmlformats.org/presentationml/2006/ole">
            <mc:AlternateContent xmlns:mc="http://schemas.openxmlformats.org/markup-compatibility/2006">
              <mc:Choice xmlns:v="urn:schemas-microsoft-com:vml" Requires="v">
                <p:oleObj spid="_x0000_s72639" name="公式" r:id="rId5" imgW="215640" imgH="203040" progId="Equation.3">
                  <p:embed/>
                </p:oleObj>
              </mc:Choice>
              <mc:Fallback>
                <p:oleObj name="公式" r:id="rId5" imgW="215640" imgH="203040" progId="Equation.3">
                  <p:embed/>
                  <p:pic>
                    <p:nvPicPr>
                      <p:cNvPr id="0" name=""/>
                      <p:cNvPicPr>
                        <a:picLocks noChangeAspect="1" noChangeArrowheads="1"/>
                      </p:cNvPicPr>
                      <p:nvPr/>
                    </p:nvPicPr>
                    <p:blipFill>
                      <a:blip r:embed="rId6"/>
                      <a:srcRect/>
                      <a:stretch>
                        <a:fillRect/>
                      </a:stretch>
                    </p:blipFill>
                    <p:spPr bwMode="auto">
                      <a:xfrm>
                        <a:off x="5148064" y="620688"/>
                        <a:ext cx="444673" cy="460007"/>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149076918"/>
              </p:ext>
            </p:extLst>
          </p:nvPr>
        </p:nvGraphicFramePr>
        <p:xfrm>
          <a:off x="6660232" y="692696"/>
          <a:ext cx="927455" cy="433809"/>
        </p:xfrm>
        <a:graphic>
          <a:graphicData uri="http://schemas.openxmlformats.org/presentationml/2006/ole">
            <mc:AlternateContent xmlns:mc="http://schemas.openxmlformats.org/markup-compatibility/2006">
              <mc:Choice xmlns:v="urn:schemas-microsoft-com:vml" Requires="v">
                <p:oleObj spid="_x0000_s72640" name="公式" r:id="rId7" imgW="507960" imgH="215640" progId="Equation.3">
                  <p:embed/>
                </p:oleObj>
              </mc:Choice>
              <mc:Fallback>
                <p:oleObj name="公式" r:id="rId7" imgW="507960" imgH="215640" progId="Equation.3">
                  <p:embed/>
                  <p:pic>
                    <p:nvPicPr>
                      <p:cNvPr id="0" name=""/>
                      <p:cNvPicPr>
                        <a:picLocks noChangeAspect="1" noChangeArrowheads="1"/>
                      </p:cNvPicPr>
                      <p:nvPr/>
                    </p:nvPicPr>
                    <p:blipFill>
                      <a:blip r:embed="rId8"/>
                      <a:srcRect/>
                      <a:stretch>
                        <a:fillRect/>
                      </a:stretch>
                    </p:blipFill>
                    <p:spPr bwMode="auto">
                      <a:xfrm>
                        <a:off x="6660232" y="692696"/>
                        <a:ext cx="927455" cy="433809"/>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244079324"/>
              </p:ext>
            </p:extLst>
          </p:nvPr>
        </p:nvGraphicFramePr>
        <p:xfrm>
          <a:off x="7956376" y="692696"/>
          <a:ext cx="927455" cy="433809"/>
        </p:xfrm>
        <a:graphic>
          <a:graphicData uri="http://schemas.openxmlformats.org/presentationml/2006/ole">
            <mc:AlternateContent xmlns:mc="http://schemas.openxmlformats.org/markup-compatibility/2006">
              <mc:Choice xmlns:v="urn:schemas-microsoft-com:vml" Requires="v">
                <p:oleObj spid="_x0000_s72641" name="公式" r:id="rId9" imgW="507960" imgH="215640" progId="Equation.3">
                  <p:embed/>
                </p:oleObj>
              </mc:Choice>
              <mc:Fallback>
                <p:oleObj name="公式" r:id="rId9" imgW="507960" imgH="215640" progId="Equation.3">
                  <p:embed/>
                  <p:pic>
                    <p:nvPicPr>
                      <p:cNvPr id="0" name=""/>
                      <p:cNvPicPr>
                        <a:picLocks noChangeAspect="1" noChangeArrowheads="1"/>
                      </p:cNvPicPr>
                      <p:nvPr/>
                    </p:nvPicPr>
                    <p:blipFill>
                      <a:blip r:embed="rId10"/>
                      <a:srcRect/>
                      <a:stretch>
                        <a:fillRect/>
                      </a:stretch>
                    </p:blipFill>
                    <p:spPr bwMode="auto">
                      <a:xfrm>
                        <a:off x="7956376" y="692696"/>
                        <a:ext cx="927455" cy="433809"/>
                      </a:xfrm>
                      <a:prstGeom prst="rect">
                        <a:avLst/>
                      </a:prstGeom>
                      <a:noFill/>
                      <a:ln>
                        <a:noFill/>
                      </a:ln>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556826749"/>
              </p:ext>
            </p:extLst>
          </p:nvPr>
        </p:nvGraphicFramePr>
        <p:xfrm>
          <a:off x="2051720" y="1556792"/>
          <a:ext cx="1080120" cy="434975"/>
        </p:xfrm>
        <a:graphic>
          <a:graphicData uri="http://schemas.openxmlformats.org/presentationml/2006/ole">
            <mc:AlternateContent xmlns:mc="http://schemas.openxmlformats.org/markup-compatibility/2006">
              <mc:Choice xmlns:v="urn:schemas-microsoft-com:vml" Requires="v">
                <p:oleObj spid="_x0000_s72642" name="公式" r:id="rId11" imgW="583920" imgH="215640" progId="Equation.3">
                  <p:embed/>
                </p:oleObj>
              </mc:Choice>
              <mc:Fallback>
                <p:oleObj name="公式" r:id="rId11" imgW="583920" imgH="215640" progId="Equation.3">
                  <p:embed/>
                  <p:pic>
                    <p:nvPicPr>
                      <p:cNvPr id="0" name=""/>
                      <p:cNvPicPr>
                        <a:picLocks noChangeAspect="1" noChangeArrowheads="1"/>
                      </p:cNvPicPr>
                      <p:nvPr/>
                    </p:nvPicPr>
                    <p:blipFill>
                      <a:blip r:embed="rId12"/>
                      <a:srcRect/>
                      <a:stretch>
                        <a:fillRect/>
                      </a:stretch>
                    </p:blipFill>
                    <p:spPr bwMode="auto">
                      <a:xfrm>
                        <a:off x="2051720" y="1556792"/>
                        <a:ext cx="1080120" cy="434975"/>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54677634"/>
              </p:ext>
            </p:extLst>
          </p:nvPr>
        </p:nvGraphicFramePr>
        <p:xfrm>
          <a:off x="4067944" y="1556792"/>
          <a:ext cx="1292225" cy="434975"/>
        </p:xfrm>
        <a:graphic>
          <a:graphicData uri="http://schemas.openxmlformats.org/presentationml/2006/ole">
            <mc:AlternateContent xmlns:mc="http://schemas.openxmlformats.org/markup-compatibility/2006">
              <mc:Choice xmlns:v="urn:schemas-microsoft-com:vml" Requires="v">
                <p:oleObj spid="_x0000_s72643" name="公式" r:id="rId13" imgW="698400" imgH="215640" progId="Equation.3">
                  <p:embed/>
                </p:oleObj>
              </mc:Choice>
              <mc:Fallback>
                <p:oleObj name="公式" r:id="rId13" imgW="698400" imgH="215640" progId="Equation.3">
                  <p:embed/>
                  <p:pic>
                    <p:nvPicPr>
                      <p:cNvPr id="0" name=""/>
                      <p:cNvPicPr>
                        <a:picLocks noChangeAspect="1" noChangeArrowheads="1"/>
                      </p:cNvPicPr>
                      <p:nvPr/>
                    </p:nvPicPr>
                    <p:blipFill>
                      <a:blip r:embed="rId14"/>
                      <a:srcRect/>
                      <a:stretch>
                        <a:fillRect/>
                      </a:stretch>
                    </p:blipFill>
                    <p:spPr bwMode="auto">
                      <a:xfrm>
                        <a:off x="4067944" y="1556792"/>
                        <a:ext cx="1292225" cy="434975"/>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668656118"/>
              </p:ext>
            </p:extLst>
          </p:nvPr>
        </p:nvGraphicFramePr>
        <p:xfrm>
          <a:off x="5868144" y="1556792"/>
          <a:ext cx="1292225" cy="434975"/>
        </p:xfrm>
        <a:graphic>
          <a:graphicData uri="http://schemas.openxmlformats.org/presentationml/2006/ole">
            <mc:AlternateContent xmlns:mc="http://schemas.openxmlformats.org/markup-compatibility/2006">
              <mc:Choice xmlns:v="urn:schemas-microsoft-com:vml" Requires="v">
                <p:oleObj spid="_x0000_s72644" name="公式" r:id="rId15" imgW="698400" imgH="215640" progId="Equation.3">
                  <p:embed/>
                </p:oleObj>
              </mc:Choice>
              <mc:Fallback>
                <p:oleObj name="公式" r:id="rId15" imgW="698400" imgH="215640" progId="Equation.3">
                  <p:embed/>
                  <p:pic>
                    <p:nvPicPr>
                      <p:cNvPr id="0" name=""/>
                      <p:cNvPicPr>
                        <a:picLocks noChangeAspect="1" noChangeArrowheads="1"/>
                      </p:cNvPicPr>
                      <p:nvPr/>
                    </p:nvPicPr>
                    <p:blipFill>
                      <a:blip r:embed="rId16"/>
                      <a:srcRect/>
                      <a:stretch>
                        <a:fillRect/>
                      </a:stretch>
                    </p:blipFill>
                    <p:spPr bwMode="auto">
                      <a:xfrm>
                        <a:off x="5868144" y="1556792"/>
                        <a:ext cx="1292225" cy="434975"/>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990408401"/>
              </p:ext>
            </p:extLst>
          </p:nvPr>
        </p:nvGraphicFramePr>
        <p:xfrm>
          <a:off x="2195736" y="2060848"/>
          <a:ext cx="927455" cy="433809"/>
        </p:xfrm>
        <a:graphic>
          <a:graphicData uri="http://schemas.openxmlformats.org/presentationml/2006/ole">
            <mc:AlternateContent xmlns:mc="http://schemas.openxmlformats.org/markup-compatibility/2006">
              <mc:Choice xmlns:v="urn:schemas-microsoft-com:vml" Requires="v">
                <p:oleObj spid="_x0000_s72645" name="公式" r:id="rId17" imgW="507960" imgH="215640" progId="Equation.3">
                  <p:embed/>
                </p:oleObj>
              </mc:Choice>
              <mc:Fallback>
                <p:oleObj name="公式" r:id="rId17" imgW="507960" imgH="215640" progId="Equation.3">
                  <p:embed/>
                  <p:pic>
                    <p:nvPicPr>
                      <p:cNvPr id="0" name=""/>
                      <p:cNvPicPr>
                        <a:picLocks noChangeAspect="1" noChangeArrowheads="1"/>
                      </p:cNvPicPr>
                      <p:nvPr/>
                    </p:nvPicPr>
                    <p:blipFill>
                      <a:blip r:embed="rId18"/>
                      <a:srcRect/>
                      <a:stretch>
                        <a:fillRect/>
                      </a:stretch>
                    </p:blipFill>
                    <p:spPr bwMode="auto">
                      <a:xfrm>
                        <a:off x="2195736" y="2060848"/>
                        <a:ext cx="927455" cy="433809"/>
                      </a:xfrm>
                      <a:prstGeom prst="rect">
                        <a:avLst/>
                      </a:prstGeom>
                      <a:noFill/>
                      <a:ln>
                        <a:noFill/>
                      </a:ln>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360117915"/>
              </p:ext>
            </p:extLst>
          </p:nvPr>
        </p:nvGraphicFramePr>
        <p:xfrm>
          <a:off x="3347864" y="2060848"/>
          <a:ext cx="927455" cy="433809"/>
        </p:xfrm>
        <a:graphic>
          <a:graphicData uri="http://schemas.openxmlformats.org/presentationml/2006/ole">
            <mc:AlternateContent xmlns:mc="http://schemas.openxmlformats.org/markup-compatibility/2006">
              <mc:Choice xmlns:v="urn:schemas-microsoft-com:vml" Requires="v">
                <p:oleObj spid="_x0000_s72646" name="公式" r:id="rId19" imgW="507960" imgH="215640" progId="Equation.3">
                  <p:embed/>
                </p:oleObj>
              </mc:Choice>
              <mc:Fallback>
                <p:oleObj name="公式" r:id="rId19" imgW="507960" imgH="215640" progId="Equation.3">
                  <p:embed/>
                  <p:pic>
                    <p:nvPicPr>
                      <p:cNvPr id="0" name=""/>
                      <p:cNvPicPr>
                        <a:picLocks noChangeAspect="1" noChangeArrowheads="1"/>
                      </p:cNvPicPr>
                      <p:nvPr/>
                    </p:nvPicPr>
                    <p:blipFill>
                      <a:blip r:embed="rId20"/>
                      <a:srcRect/>
                      <a:stretch>
                        <a:fillRect/>
                      </a:stretch>
                    </p:blipFill>
                    <p:spPr bwMode="auto">
                      <a:xfrm>
                        <a:off x="3347864" y="2060848"/>
                        <a:ext cx="927455" cy="433809"/>
                      </a:xfrm>
                      <a:prstGeom prst="rect">
                        <a:avLst/>
                      </a:prstGeom>
                      <a:noFill/>
                      <a:ln>
                        <a:noFill/>
                      </a:ln>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043978781"/>
              </p:ext>
            </p:extLst>
          </p:nvPr>
        </p:nvGraphicFramePr>
        <p:xfrm>
          <a:off x="5292080" y="2060848"/>
          <a:ext cx="433388" cy="417513"/>
        </p:xfrm>
        <a:graphic>
          <a:graphicData uri="http://schemas.openxmlformats.org/presentationml/2006/ole">
            <mc:AlternateContent xmlns:mc="http://schemas.openxmlformats.org/markup-compatibility/2006">
              <mc:Choice xmlns:v="urn:schemas-microsoft-com:vml" Requires="v">
                <p:oleObj spid="_x0000_s72647" name="公式" r:id="rId21" imgW="202936" imgH="177569" progId="Equation.3">
                  <p:embed/>
                </p:oleObj>
              </mc:Choice>
              <mc:Fallback>
                <p:oleObj name="公式" r:id="rId21" imgW="202936"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2060848"/>
                        <a:ext cx="433388"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917779311"/>
              </p:ext>
            </p:extLst>
          </p:nvPr>
        </p:nvGraphicFramePr>
        <p:xfrm>
          <a:off x="6228184" y="2060848"/>
          <a:ext cx="444673" cy="460007"/>
        </p:xfrm>
        <a:graphic>
          <a:graphicData uri="http://schemas.openxmlformats.org/presentationml/2006/ole">
            <mc:AlternateContent xmlns:mc="http://schemas.openxmlformats.org/markup-compatibility/2006">
              <mc:Choice xmlns:v="urn:schemas-microsoft-com:vml" Requires="v">
                <p:oleObj spid="_x0000_s72648" name="公式" r:id="rId22" imgW="215640" imgH="203040" progId="Equation.3">
                  <p:embed/>
                </p:oleObj>
              </mc:Choice>
              <mc:Fallback>
                <p:oleObj name="公式" r:id="rId22" imgW="215640" imgH="203040" progId="Equation.3">
                  <p:embed/>
                  <p:pic>
                    <p:nvPicPr>
                      <p:cNvPr id="0" name=""/>
                      <p:cNvPicPr>
                        <a:picLocks noChangeAspect="1" noChangeArrowheads="1"/>
                      </p:cNvPicPr>
                      <p:nvPr/>
                    </p:nvPicPr>
                    <p:blipFill>
                      <a:blip r:embed="rId23"/>
                      <a:srcRect/>
                      <a:stretch>
                        <a:fillRect/>
                      </a:stretch>
                    </p:blipFill>
                    <p:spPr bwMode="auto">
                      <a:xfrm>
                        <a:off x="6228184" y="2060848"/>
                        <a:ext cx="444673" cy="460007"/>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297405077"/>
              </p:ext>
            </p:extLst>
          </p:nvPr>
        </p:nvGraphicFramePr>
        <p:xfrm>
          <a:off x="1763688" y="2492896"/>
          <a:ext cx="927455" cy="433809"/>
        </p:xfrm>
        <a:graphic>
          <a:graphicData uri="http://schemas.openxmlformats.org/presentationml/2006/ole">
            <mc:AlternateContent xmlns:mc="http://schemas.openxmlformats.org/markup-compatibility/2006">
              <mc:Choice xmlns:v="urn:schemas-microsoft-com:vml" Requires="v">
                <p:oleObj spid="_x0000_s72649" name="公式" r:id="rId24" imgW="507960" imgH="215640" progId="Equation.3">
                  <p:embed/>
                </p:oleObj>
              </mc:Choice>
              <mc:Fallback>
                <p:oleObj name="公式" r:id="rId24" imgW="507960" imgH="215640" progId="Equation.3">
                  <p:embed/>
                  <p:pic>
                    <p:nvPicPr>
                      <p:cNvPr id="0" name=""/>
                      <p:cNvPicPr>
                        <a:picLocks noChangeAspect="1" noChangeArrowheads="1"/>
                      </p:cNvPicPr>
                      <p:nvPr/>
                    </p:nvPicPr>
                    <p:blipFill>
                      <a:blip r:embed="rId20"/>
                      <a:srcRect/>
                      <a:stretch>
                        <a:fillRect/>
                      </a:stretch>
                    </p:blipFill>
                    <p:spPr bwMode="auto">
                      <a:xfrm>
                        <a:off x="1763688" y="2492896"/>
                        <a:ext cx="927455" cy="433809"/>
                      </a:xfrm>
                      <a:prstGeom prst="rect">
                        <a:avLst/>
                      </a:prstGeom>
                      <a:noFill/>
                      <a:ln>
                        <a:noFill/>
                      </a:ln>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553725051"/>
              </p:ext>
            </p:extLst>
          </p:nvPr>
        </p:nvGraphicFramePr>
        <p:xfrm>
          <a:off x="3575050" y="2492375"/>
          <a:ext cx="1066800" cy="434975"/>
        </p:xfrm>
        <a:graphic>
          <a:graphicData uri="http://schemas.openxmlformats.org/presentationml/2006/ole">
            <mc:AlternateContent xmlns:mc="http://schemas.openxmlformats.org/markup-compatibility/2006">
              <mc:Choice xmlns:v="urn:schemas-microsoft-com:vml" Requires="v">
                <p:oleObj spid="_x0000_s72650" name="公式" r:id="rId25" imgW="583920" imgH="215640" progId="Equation.3">
                  <p:embed/>
                </p:oleObj>
              </mc:Choice>
              <mc:Fallback>
                <p:oleObj name="公式" r:id="rId25" imgW="583920" imgH="215640" progId="Equation.3">
                  <p:embed/>
                  <p:pic>
                    <p:nvPicPr>
                      <p:cNvPr id="0" name=""/>
                      <p:cNvPicPr>
                        <a:picLocks noChangeAspect="1" noChangeArrowheads="1"/>
                      </p:cNvPicPr>
                      <p:nvPr/>
                    </p:nvPicPr>
                    <p:blipFill>
                      <a:blip r:embed="rId26"/>
                      <a:srcRect/>
                      <a:stretch>
                        <a:fillRect/>
                      </a:stretch>
                    </p:blipFill>
                    <p:spPr bwMode="auto">
                      <a:xfrm>
                        <a:off x="3575050" y="2492375"/>
                        <a:ext cx="1066800" cy="434975"/>
                      </a:xfrm>
                      <a:prstGeom prst="rect">
                        <a:avLst/>
                      </a:prstGeom>
                      <a:noFill/>
                      <a:ln>
                        <a:noFill/>
                      </a:ln>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757843123"/>
              </p:ext>
            </p:extLst>
          </p:nvPr>
        </p:nvGraphicFramePr>
        <p:xfrm>
          <a:off x="4716016" y="2996952"/>
          <a:ext cx="776064" cy="409575"/>
        </p:xfrm>
        <a:graphic>
          <a:graphicData uri="http://schemas.openxmlformats.org/presentationml/2006/ole">
            <mc:AlternateContent xmlns:mc="http://schemas.openxmlformats.org/markup-compatibility/2006">
              <mc:Choice xmlns:v="urn:schemas-microsoft-com:vml" Requires="v">
                <p:oleObj spid="_x0000_s72651" name="公式" r:id="rId27" imgW="330120" imgH="203040" progId="Equation.3">
                  <p:embed/>
                </p:oleObj>
              </mc:Choice>
              <mc:Fallback>
                <p:oleObj name="公式" r:id="rId27" imgW="330120" imgH="203040" progId="Equation.3">
                  <p:embed/>
                  <p:pic>
                    <p:nvPicPr>
                      <p:cNvPr id="0" name=""/>
                      <p:cNvPicPr>
                        <a:picLocks noChangeAspect="1" noChangeArrowheads="1"/>
                      </p:cNvPicPr>
                      <p:nvPr/>
                    </p:nvPicPr>
                    <p:blipFill>
                      <a:blip r:embed="rId28"/>
                      <a:srcRect/>
                      <a:stretch>
                        <a:fillRect/>
                      </a:stretch>
                    </p:blipFill>
                    <p:spPr bwMode="auto">
                      <a:xfrm>
                        <a:off x="4716016" y="2996952"/>
                        <a:ext cx="776064" cy="409575"/>
                      </a:xfrm>
                      <a:prstGeom prst="rect">
                        <a:avLst/>
                      </a:prstGeom>
                      <a:noFill/>
                      <a:ln>
                        <a:noFill/>
                      </a:ln>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919921747"/>
              </p:ext>
            </p:extLst>
          </p:nvPr>
        </p:nvGraphicFramePr>
        <p:xfrm>
          <a:off x="2771800" y="2996952"/>
          <a:ext cx="603250" cy="384175"/>
        </p:xfrm>
        <a:graphic>
          <a:graphicData uri="http://schemas.openxmlformats.org/presentationml/2006/ole">
            <mc:AlternateContent xmlns:mc="http://schemas.openxmlformats.org/markup-compatibility/2006">
              <mc:Choice xmlns:v="urn:schemas-microsoft-com:vml" Requires="v">
                <p:oleObj spid="_x0000_s72652" name="公式" r:id="rId29" imgW="330120" imgH="190440" progId="Equation.3">
                  <p:embed/>
                </p:oleObj>
              </mc:Choice>
              <mc:Fallback>
                <p:oleObj name="公式" r:id="rId29" imgW="330120" imgH="190440" progId="Equation.3">
                  <p:embed/>
                  <p:pic>
                    <p:nvPicPr>
                      <p:cNvPr id="0" name=""/>
                      <p:cNvPicPr>
                        <a:picLocks noChangeAspect="1" noChangeArrowheads="1"/>
                      </p:cNvPicPr>
                      <p:nvPr/>
                    </p:nvPicPr>
                    <p:blipFill>
                      <a:blip r:embed="rId30"/>
                      <a:srcRect/>
                      <a:stretch>
                        <a:fillRect/>
                      </a:stretch>
                    </p:blipFill>
                    <p:spPr bwMode="auto">
                      <a:xfrm>
                        <a:off x="2771800" y="2996952"/>
                        <a:ext cx="603250" cy="384175"/>
                      </a:xfrm>
                      <a:prstGeom prst="rect">
                        <a:avLst/>
                      </a:prstGeom>
                      <a:noFill/>
                      <a:ln>
                        <a:noFill/>
                      </a:ln>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337375087"/>
              </p:ext>
            </p:extLst>
          </p:nvPr>
        </p:nvGraphicFramePr>
        <p:xfrm>
          <a:off x="1475656" y="3429000"/>
          <a:ext cx="927455" cy="433809"/>
        </p:xfrm>
        <a:graphic>
          <a:graphicData uri="http://schemas.openxmlformats.org/presentationml/2006/ole">
            <mc:AlternateContent xmlns:mc="http://schemas.openxmlformats.org/markup-compatibility/2006">
              <mc:Choice xmlns:v="urn:schemas-microsoft-com:vml" Requires="v">
                <p:oleObj spid="_x0000_s72653" name="公式" r:id="rId31" imgW="507960" imgH="215640" progId="Equation.3">
                  <p:embed/>
                </p:oleObj>
              </mc:Choice>
              <mc:Fallback>
                <p:oleObj name="公式" r:id="rId31" imgW="507960" imgH="215640" progId="Equation.3">
                  <p:embed/>
                  <p:pic>
                    <p:nvPicPr>
                      <p:cNvPr id="0" name=""/>
                      <p:cNvPicPr>
                        <a:picLocks noChangeAspect="1" noChangeArrowheads="1"/>
                      </p:cNvPicPr>
                      <p:nvPr/>
                    </p:nvPicPr>
                    <p:blipFill>
                      <a:blip r:embed="rId20"/>
                      <a:srcRect/>
                      <a:stretch>
                        <a:fillRect/>
                      </a:stretch>
                    </p:blipFill>
                    <p:spPr bwMode="auto">
                      <a:xfrm>
                        <a:off x="1475656" y="3429000"/>
                        <a:ext cx="927455" cy="433809"/>
                      </a:xfrm>
                      <a:prstGeom prst="rect">
                        <a:avLst/>
                      </a:prstGeom>
                      <a:noFill/>
                      <a:ln>
                        <a:noFill/>
                      </a:ln>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106692302"/>
              </p:ext>
            </p:extLst>
          </p:nvPr>
        </p:nvGraphicFramePr>
        <p:xfrm>
          <a:off x="3059832" y="3429000"/>
          <a:ext cx="1438333" cy="528723"/>
        </p:xfrm>
        <a:graphic>
          <a:graphicData uri="http://schemas.openxmlformats.org/presentationml/2006/ole">
            <mc:AlternateContent xmlns:mc="http://schemas.openxmlformats.org/markup-compatibility/2006">
              <mc:Choice xmlns:v="urn:schemas-microsoft-com:vml" Requires="v">
                <p:oleObj spid="_x0000_s72654" name="公式" r:id="rId32" imgW="672840" imgH="253800" progId="Equation.3">
                  <p:embed/>
                </p:oleObj>
              </mc:Choice>
              <mc:Fallback>
                <p:oleObj name="公式" r:id="rId32" imgW="672840" imgH="253800" progId="Equation.3">
                  <p:embed/>
                  <p:pic>
                    <p:nvPicPr>
                      <p:cNvPr id="0" name="Object 27"/>
                      <p:cNvPicPr>
                        <a:picLocks noChangeAspect="1" noChangeArrowheads="1"/>
                      </p:cNvPicPr>
                      <p:nvPr/>
                    </p:nvPicPr>
                    <p:blipFill>
                      <a:blip r:embed="rId33"/>
                      <a:srcRect/>
                      <a:stretch>
                        <a:fillRect/>
                      </a:stretch>
                    </p:blipFill>
                    <p:spPr bwMode="auto">
                      <a:xfrm>
                        <a:off x="3059832" y="3429000"/>
                        <a:ext cx="1438333" cy="528723"/>
                      </a:xfrm>
                      <a:prstGeom prst="rect">
                        <a:avLst/>
                      </a:prstGeom>
                      <a:noFill/>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2783301266"/>
              </p:ext>
            </p:extLst>
          </p:nvPr>
        </p:nvGraphicFramePr>
        <p:xfrm>
          <a:off x="2339752" y="3861048"/>
          <a:ext cx="603250" cy="384175"/>
        </p:xfrm>
        <a:graphic>
          <a:graphicData uri="http://schemas.openxmlformats.org/presentationml/2006/ole">
            <mc:AlternateContent xmlns:mc="http://schemas.openxmlformats.org/markup-compatibility/2006">
              <mc:Choice xmlns:v="urn:schemas-microsoft-com:vml" Requires="v">
                <p:oleObj spid="_x0000_s72655" name="公式" r:id="rId34" imgW="330120" imgH="190440" progId="Equation.3">
                  <p:embed/>
                </p:oleObj>
              </mc:Choice>
              <mc:Fallback>
                <p:oleObj name="公式" r:id="rId34" imgW="330120" imgH="190440" progId="Equation.3">
                  <p:embed/>
                  <p:pic>
                    <p:nvPicPr>
                      <p:cNvPr id="0" name=""/>
                      <p:cNvPicPr>
                        <a:picLocks noChangeAspect="1" noChangeArrowheads="1"/>
                      </p:cNvPicPr>
                      <p:nvPr/>
                    </p:nvPicPr>
                    <p:blipFill>
                      <a:blip r:embed="rId35"/>
                      <a:srcRect/>
                      <a:stretch>
                        <a:fillRect/>
                      </a:stretch>
                    </p:blipFill>
                    <p:spPr bwMode="auto">
                      <a:xfrm>
                        <a:off x="2339752" y="3861048"/>
                        <a:ext cx="603250" cy="384175"/>
                      </a:xfrm>
                      <a:prstGeom prst="rect">
                        <a:avLst/>
                      </a:prstGeom>
                      <a:noFill/>
                      <a:ln>
                        <a:noFill/>
                      </a:ln>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611304000"/>
              </p:ext>
            </p:extLst>
          </p:nvPr>
        </p:nvGraphicFramePr>
        <p:xfrm>
          <a:off x="4067944" y="3861048"/>
          <a:ext cx="1438333" cy="528723"/>
        </p:xfrm>
        <a:graphic>
          <a:graphicData uri="http://schemas.openxmlformats.org/presentationml/2006/ole">
            <mc:AlternateContent xmlns:mc="http://schemas.openxmlformats.org/markup-compatibility/2006">
              <mc:Choice xmlns:v="urn:schemas-microsoft-com:vml" Requires="v">
                <p:oleObj spid="_x0000_s72656" name="公式" r:id="rId36" imgW="672840" imgH="253800" progId="Equation.3">
                  <p:embed/>
                </p:oleObj>
              </mc:Choice>
              <mc:Fallback>
                <p:oleObj name="公式" r:id="rId36" imgW="672840" imgH="253800" progId="Equation.3">
                  <p:embed/>
                  <p:pic>
                    <p:nvPicPr>
                      <p:cNvPr id="0" name=""/>
                      <p:cNvPicPr>
                        <a:picLocks noChangeAspect="1" noChangeArrowheads="1"/>
                      </p:cNvPicPr>
                      <p:nvPr/>
                    </p:nvPicPr>
                    <p:blipFill>
                      <a:blip r:embed="rId37"/>
                      <a:srcRect/>
                      <a:stretch>
                        <a:fillRect/>
                      </a:stretch>
                    </p:blipFill>
                    <p:spPr bwMode="auto">
                      <a:xfrm>
                        <a:off x="4067944" y="3861048"/>
                        <a:ext cx="1438333" cy="528723"/>
                      </a:xfrm>
                      <a:prstGeom prst="rect">
                        <a:avLst/>
                      </a:prstGeom>
                      <a:noFill/>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2586516241"/>
              </p:ext>
            </p:extLst>
          </p:nvPr>
        </p:nvGraphicFramePr>
        <p:xfrm>
          <a:off x="1979712" y="4293096"/>
          <a:ext cx="1873250" cy="528638"/>
        </p:xfrm>
        <a:graphic>
          <a:graphicData uri="http://schemas.openxmlformats.org/presentationml/2006/ole">
            <mc:AlternateContent xmlns:mc="http://schemas.openxmlformats.org/markup-compatibility/2006">
              <mc:Choice xmlns:v="urn:schemas-microsoft-com:vml" Requires="v">
                <p:oleObj spid="_x0000_s72657" name="公式" r:id="rId38" imgW="876240" imgH="253800" progId="Equation.3">
                  <p:embed/>
                </p:oleObj>
              </mc:Choice>
              <mc:Fallback>
                <p:oleObj name="公式" r:id="rId38" imgW="876240" imgH="253800" progId="Equation.3">
                  <p:embed/>
                  <p:pic>
                    <p:nvPicPr>
                      <p:cNvPr id="0" name=""/>
                      <p:cNvPicPr>
                        <a:picLocks noChangeAspect="1" noChangeArrowheads="1"/>
                      </p:cNvPicPr>
                      <p:nvPr/>
                    </p:nvPicPr>
                    <p:blipFill>
                      <a:blip r:embed="rId39"/>
                      <a:srcRect/>
                      <a:stretch>
                        <a:fillRect/>
                      </a:stretch>
                    </p:blipFill>
                    <p:spPr bwMode="auto">
                      <a:xfrm>
                        <a:off x="1979712" y="4293096"/>
                        <a:ext cx="1873250" cy="528638"/>
                      </a:xfrm>
                      <a:prstGeom prst="rect">
                        <a:avLst/>
                      </a:prstGeom>
                      <a:noFill/>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26267791"/>
              </p:ext>
            </p:extLst>
          </p:nvPr>
        </p:nvGraphicFramePr>
        <p:xfrm>
          <a:off x="4499992" y="4293096"/>
          <a:ext cx="1249362" cy="528638"/>
        </p:xfrm>
        <a:graphic>
          <a:graphicData uri="http://schemas.openxmlformats.org/presentationml/2006/ole">
            <mc:AlternateContent xmlns:mc="http://schemas.openxmlformats.org/markup-compatibility/2006">
              <mc:Choice xmlns:v="urn:schemas-microsoft-com:vml" Requires="v">
                <p:oleObj spid="_x0000_s72658" name="公式" r:id="rId40" imgW="583920" imgH="253800" progId="Equation.3">
                  <p:embed/>
                </p:oleObj>
              </mc:Choice>
              <mc:Fallback>
                <p:oleObj name="公式" r:id="rId40" imgW="583920" imgH="253800" progId="Equation.3">
                  <p:embed/>
                  <p:pic>
                    <p:nvPicPr>
                      <p:cNvPr id="0" name=""/>
                      <p:cNvPicPr>
                        <a:picLocks noChangeAspect="1" noChangeArrowheads="1"/>
                      </p:cNvPicPr>
                      <p:nvPr/>
                    </p:nvPicPr>
                    <p:blipFill>
                      <a:blip r:embed="rId41"/>
                      <a:srcRect/>
                      <a:stretch>
                        <a:fillRect/>
                      </a:stretch>
                    </p:blipFill>
                    <p:spPr bwMode="auto">
                      <a:xfrm>
                        <a:off x="4499992" y="4293096"/>
                        <a:ext cx="1249362" cy="528638"/>
                      </a:xfrm>
                      <a:prstGeom prst="rect">
                        <a:avLst/>
                      </a:prstGeom>
                      <a:noFill/>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2880596721"/>
              </p:ext>
            </p:extLst>
          </p:nvPr>
        </p:nvGraphicFramePr>
        <p:xfrm>
          <a:off x="3203848" y="4797152"/>
          <a:ext cx="1249362" cy="528638"/>
        </p:xfrm>
        <a:graphic>
          <a:graphicData uri="http://schemas.openxmlformats.org/presentationml/2006/ole">
            <mc:AlternateContent xmlns:mc="http://schemas.openxmlformats.org/markup-compatibility/2006">
              <mc:Choice xmlns:v="urn:schemas-microsoft-com:vml" Requires="v">
                <p:oleObj spid="_x0000_s72659" name="公式" r:id="rId42" imgW="583920" imgH="253800" progId="Equation.3">
                  <p:embed/>
                </p:oleObj>
              </mc:Choice>
              <mc:Fallback>
                <p:oleObj name="公式" r:id="rId42" imgW="583920" imgH="253800" progId="Equation.3">
                  <p:embed/>
                  <p:pic>
                    <p:nvPicPr>
                      <p:cNvPr id="0" name=""/>
                      <p:cNvPicPr>
                        <a:picLocks noChangeAspect="1" noChangeArrowheads="1"/>
                      </p:cNvPicPr>
                      <p:nvPr/>
                    </p:nvPicPr>
                    <p:blipFill>
                      <a:blip r:embed="rId43"/>
                      <a:srcRect/>
                      <a:stretch>
                        <a:fillRect/>
                      </a:stretch>
                    </p:blipFill>
                    <p:spPr bwMode="auto">
                      <a:xfrm>
                        <a:off x="3203848" y="4797152"/>
                        <a:ext cx="1249362" cy="528638"/>
                      </a:xfrm>
                      <a:prstGeom prst="rect">
                        <a:avLst/>
                      </a:prstGeom>
                      <a:noFill/>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908609836"/>
              </p:ext>
            </p:extLst>
          </p:nvPr>
        </p:nvGraphicFramePr>
        <p:xfrm>
          <a:off x="1475656" y="4797152"/>
          <a:ext cx="927455" cy="433809"/>
        </p:xfrm>
        <a:graphic>
          <a:graphicData uri="http://schemas.openxmlformats.org/presentationml/2006/ole">
            <mc:AlternateContent xmlns:mc="http://schemas.openxmlformats.org/markup-compatibility/2006">
              <mc:Choice xmlns:v="urn:schemas-microsoft-com:vml" Requires="v">
                <p:oleObj spid="_x0000_s72660" name="公式" r:id="rId44" imgW="507960" imgH="215640" progId="Equation.3">
                  <p:embed/>
                </p:oleObj>
              </mc:Choice>
              <mc:Fallback>
                <p:oleObj name="公式" r:id="rId44" imgW="507960" imgH="215640" progId="Equation.3">
                  <p:embed/>
                  <p:pic>
                    <p:nvPicPr>
                      <p:cNvPr id="0" name=""/>
                      <p:cNvPicPr>
                        <a:picLocks noChangeAspect="1" noChangeArrowheads="1"/>
                      </p:cNvPicPr>
                      <p:nvPr/>
                    </p:nvPicPr>
                    <p:blipFill>
                      <a:blip r:embed="rId18"/>
                      <a:srcRect/>
                      <a:stretch>
                        <a:fillRect/>
                      </a:stretch>
                    </p:blipFill>
                    <p:spPr bwMode="auto">
                      <a:xfrm>
                        <a:off x="1475656" y="4797152"/>
                        <a:ext cx="927455" cy="433809"/>
                      </a:xfrm>
                      <a:prstGeom prst="rect">
                        <a:avLst/>
                      </a:prstGeom>
                      <a:noFill/>
                      <a:ln>
                        <a:noFill/>
                      </a:ln>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2664200192"/>
              </p:ext>
            </p:extLst>
          </p:nvPr>
        </p:nvGraphicFramePr>
        <p:xfrm>
          <a:off x="3644545" y="5229200"/>
          <a:ext cx="927455" cy="433809"/>
        </p:xfrm>
        <a:graphic>
          <a:graphicData uri="http://schemas.openxmlformats.org/presentationml/2006/ole">
            <mc:AlternateContent xmlns:mc="http://schemas.openxmlformats.org/markup-compatibility/2006">
              <mc:Choice xmlns:v="urn:schemas-microsoft-com:vml" Requires="v">
                <p:oleObj spid="_x0000_s72661" name="公式" r:id="rId45" imgW="507960" imgH="215640" progId="Equation.3">
                  <p:embed/>
                </p:oleObj>
              </mc:Choice>
              <mc:Fallback>
                <p:oleObj name="公式" r:id="rId45" imgW="507960" imgH="215640" progId="Equation.3">
                  <p:embed/>
                  <p:pic>
                    <p:nvPicPr>
                      <p:cNvPr id="0" name=""/>
                      <p:cNvPicPr>
                        <a:picLocks noChangeAspect="1" noChangeArrowheads="1"/>
                      </p:cNvPicPr>
                      <p:nvPr/>
                    </p:nvPicPr>
                    <p:blipFill>
                      <a:blip r:embed="rId18"/>
                      <a:srcRect/>
                      <a:stretch>
                        <a:fillRect/>
                      </a:stretch>
                    </p:blipFill>
                    <p:spPr bwMode="auto">
                      <a:xfrm>
                        <a:off x="3644545" y="5229200"/>
                        <a:ext cx="927455" cy="433809"/>
                      </a:xfrm>
                      <a:prstGeom prst="rect">
                        <a:avLst/>
                      </a:prstGeom>
                      <a:noFill/>
                      <a:ln>
                        <a:noFill/>
                      </a:ln>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1237630427"/>
              </p:ext>
            </p:extLst>
          </p:nvPr>
        </p:nvGraphicFramePr>
        <p:xfrm>
          <a:off x="1619672" y="5733256"/>
          <a:ext cx="1139825" cy="528637"/>
        </p:xfrm>
        <a:graphic>
          <a:graphicData uri="http://schemas.openxmlformats.org/presentationml/2006/ole">
            <mc:AlternateContent xmlns:mc="http://schemas.openxmlformats.org/markup-compatibility/2006">
              <mc:Choice xmlns:v="urn:schemas-microsoft-com:vml" Requires="v">
                <p:oleObj spid="_x0000_s72662" name="公式" r:id="rId46" imgW="533160" imgH="253800" progId="Equation.3">
                  <p:embed/>
                </p:oleObj>
              </mc:Choice>
              <mc:Fallback>
                <p:oleObj name="公式" r:id="rId46" imgW="533160" imgH="253800" progId="Equation.3">
                  <p:embed/>
                  <p:pic>
                    <p:nvPicPr>
                      <p:cNvPr id="0" name=""/>
                      <p:cNvPicPr>
                        <a:picLocks noChangeAspect="1" noChangeArrowheads="1"/>
                      </p:cNvPicPr>
                      <p:nvPr/>
                    </p:nvPicPr>
                    <p:blipFill>
                      <a:blip r:embed="rId47"/>
                      <a:srcRect/>
                      <a:stretch>
                        <a:fillRect/>
                      </a:stretch>
                    </p:blipFill>
                    <p:spPr bwMode="auto">
                      <a:xfrm>
                        <a:off x="1619672" y="5733256"/>
                        <a:ext cx="1139825" cy="528637"/>
                      </a:xfrm>
                      <a:prstGeom prst="rect">
                        <a:avLst/>
                      </a:prstGeom>
                      <a:noFill/>
                    </p:spPr>
                  </p:pic>
                </p:oleObj>
              </mc:Fallback>
            </mc:AlternateContent>
          </a:graphicData>
        </a:graphic>
      </p:graphicFrame>
    </p:spTree>
    <p:extLst>
      <p:ext uri="{BB962C8B-B14F-4D97-AF65-F5344CB8AC3E}">
        <p14:creationId xmlns:p14="http://schemas.microsoft.com/office/powerpoint/2010/main" val="18860361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6.3.4  </a:t>
            </a:r>
            <a:r>
              <a:rPr lang="zh-CN" altLang="zh-CN" dirty="0"/>
              <a:t>最小函数依赖集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56</a:t>
            </a:fld>
            <a:endParaRPr lang="zh-CN" altLang="en-US" dirty="0"/>
          </a:p>
        </p:txBody>
      </p:sp>
      <p:sp>
        <p:nvSpPr>
          <p:cNvPr id="7" name="文本占位符 6"/>
          <p:cNvSpPr>
            <a:spLocks noGrp="1"/>
          </p:cNvSpPr>
          <p:nvPr>
            <p:ph type="body" idx="1"/>
          </p:nvPr>
        </p:nvSpPr>
        <p:spPr>
          <a:xfrm>
            <a:off x="107504" y="620688"/>
            <a:ext cx="8856984" cy="6048672"/>
          </a:xfrm>
        </p:spPr>
        <p:txBody>
          <a:bodyPr>
            <a:normAutofit/>
          </a:bodyPr>
          <a:lstStyle/>
          <a:p>
            <a:r>
              <a:rPr lang="zh-CN" altLang="zh-CN" sz="2000" dirty="0">
                <a:solidFill>
                  <a:srgbClr val="0000FF"/>
                </a:solidFill>
              </a:rPr>
              <a:t>算法</a:t>
            </a:r>
            <a:r>
              <a:rPr lang="en-US" altLang="zh-CN" sz="2000" dirty="0">
                <a:solidFill>
                  <a:srgbClr val="0000FF"/>
                </a:solidFill>
              </a:rPr>
              <a:t>6.2  </a:t>
            </a:r>
            <a:r>
              <a:rPr lang="zh-CN" altLang="zh-CN" sz="2000" dirty="0"/>
              <a:t>计算</a:t>
            </a:r>
            <a:r>
              <a:rPr lang="en-US" altLang="zh-CN" sz="2000" dirty="0" err="1"/>
              <a:t>F</a:t>
            </a:r>
            <a:r>
              <a:rPr lang="en-US" altLang="zh-CN" sz="2000" baseline="-25000" dirty="0" err="1"/>
              <a:t>min</a:t>
            </a:r>
            <a:r>
              <a:rPr lang="en-US" altLang="zh-CN" sz="2000" dirty="0"/>
              <a:t>=</a:t>
            </a:r>
            <a:r>
              <a:rPr lang="zh-CN" altLang="zh-CN" sz="2000" dirty="0"/>
              <a:t>？</a:t>
            </a:r>
          </a:p>
          <a:p>
            <a:pPr marL="0" indent="0">
              <a:buNone/>
            </a:pPr>
            <a:r>
              <a:rPr lang="zh-CN" altLang="zh-CN" sz="2000" dirty="0"/>
              <a:t>（</a:t>
            </a:r>
            <a:r>
              <a:rPr lang="en-US" altLang="zh-CN" sz="2000" dirty="0"/>
              <a:t>1</a:t>
            </a:r>
            <a:r>
              <a:rPr lang="zh-CN" altLang="zh-CN" sz="2000" dirty="0"/>
              <a:t>）分解</a:t>
            </a:r>
            <a:r>
              <a:rPr lang="en-US" altLang="zh-CN" sz="2000" dirty="0"/>
              <a:t>X</a:t>
            </a:r>
            <a:r>
              <a:rPr lang="zh-CN" altLang="zh-CN" sz="2000" dirty="0"/>
              <a:t>→</a:t>
            </a:r>
            <a:r>
              <a:rPr lang="en-US" altLang="zh-CN" sz="2000" dirty="0"/>
              <a:t>Y</a:t>
            </a:r>
            <a:r>
              <a:rPr lang="en-US" altLang="zh-CN" sz="2000" baseline="-25000" dirty="0"/>
              <a:t>1</a:t>
            </a:r>
            <a:r>
              <a:rPr lang="en-US" altLang="zh-CN" sz="2000" dirty="0"/>
              <a:t>Y</a:t>
            </a:r>
            <a:r>
              <a:rPr lang="en-US" altLang="zh-CN" sz="2000" baseline="-25000" dirty="0"/>
              <a:t>2</a:t>
            </a:r>
            <a:r>
              <a:rPr lang="en-US" altLang="zh-CN" sz="2000" dirty="0"/>
              <a:t>…</a:t>
            </a:r>
            <a:r>
              <a:rPr lang="en-US" altLang="zh-CN" sz="2000" dirty="0" err="1"/>
              <a:t>Y</a:t>
            </a:r>
            <a:r>
              <a:rPr lang="en-US" altLang="zh-CN" sz="2000" baseline="-25000" dirty="0" err="1"/>
              <a:t>n</a:t>
            </a:r>
            <a:r>
              <a:rPr lang="zh-CN" altLang="zh-CN" sz="2000" dirty="0"/>
              <a:t>的右侧属性为单属性。即：</a:t>
            </a:r>
          </a:p>
          <a:p>
            <a:pPr marL="625475" indent="0">
              <a:buNone/>
            </a:pPr>
            <a:r>
              <a:rPr lang="zh-CN" altLang="zh-CN" sz="2000" dirty="0"/>
              <a:t>对</a:t>
            </a:r>
            <a:r>
              <a:rPr lang="en-US" altLang="zh-CN" sz="2000" dirty="0"/>
              <a:t> X</a:t>
            </a:r>
            <a:r>
              <a:rPr lang="zh-CN" altLang="zh-CN" sz="2000" dirty="0"/>
              <a:t>→</a:t>
            </a:r>
            <a:r>
              <a:rPr lang="en-US" altLang="zh-CN" sz="2000" dirty="0"/>
              <a:t>Y</a:t>
            </a:r>
            <a:r>
              <a:rPr lang="en-US" altLang="zh-CN" sz="2000" baseline="-25000" dirty="0"/>
              <a:t>1</a:t>
            </a:r>
            <a:r>
              <a:rPr lang="en-US" altLang="zh-CN" sz="2000" dirty="0"/>
              <a:t>Y</a:t>
            </a:r>
            <a:r>
              <a:rPr lang="en-US" altLang="zh-CN" sz="2000" baseline="-25000" dirty="0"/>
              <a:t>2</a:t>
            </a:r>
            <a:r>
              <a:rPr lang="en-US" altLang="zh-CN" sz="2000" dirty="0"/>
              <a:t>…</a:t>
            </a:r>
            <a:r>
              <a:rPr lang="en-US" altLang="zh-CN" sz="2000" dirty="0" err="1"/>
              <a:t>Y</a:t>
            </a:r>
            <a:r>
              <a:rPr lang="en-US" altLang="zh-CN" sz="2000" baseline="-25000" dirty="0" err="1"/>
              <a:t>n</a:t>
            </a:r>
            <a:r>
              <a:rPr lang="en-US" altLang="zh-CN" sz="2000" dirty="0"/>
              <a:t> F</a:t>
            </a:r>
            <a:r>
              <a:rPr lang="zh-CN" altLang="zh-CN" sz="2000" dirty="0"/>
              <a:t>，则</a:t>
            </a:r>
            <a:r>
              <a:rPr lang="en-US" altLang="zh-CN" sz="2000" dirty="0"/>
              <a:t>X</a:t>
            </a:r>
            <a:r>
              <a:rPr lang="zh-CN" altLang="zh-CN" sz="2000" dirty="0"/>
              <a:t>→</a:t>
            </a:r>
            <a:r>
              <a:rPr lang="en-US" altLang="zh-CN" sz="2000" dirty="0"/>
              <a:t>Y</a:t>
            </a:r>
            <a:r>
              <a:rPr lang="en-US" altLang="zh-CN" sz="2000" baseline="-25000" dirty="0"/>
              <a:t>1</a:t>
            </a:r>
            <a:r>
              <a:rPr lang="zh-CN" altLang="zh-CN" sz="2000" dirty="0"/>
              <a:t>，</a:t>
            </a:r>
            <a:r>
              <a:rPr lang="en-US" altLang="zh-CN" sz="2000" dirty="0"/>
              <a:t>X</a:t>
            </a:r>
            <a:r>
              <a:rPr lang="zh-CN" altLang="zh-CN" sz="2000" dirty="0"/>
              <a:t>→</a:t>
            </a:r>
            <a:r>
              <a:rPr lang="en-US" altLang="zh-CN" sz="2000" dirty="0"/>
              <a:t>Y</a:t>
            </a:r>
            <a:r>
              <a:rPr lang="en-US" altLang="zh-CN" sz="2000" baseline="-25000" dirty="0"/>
              <a:t>2</a:t>
            </a:r>
            <a:r>
              <a:rPr lang="zh-CN" altLang="zh-CN" sz="2000" dirty="0"/>
              <a:t>，</a:t>
            </a:r>
            <a:r>
              <a:rPr lang="en-US" altLang="zh-CN" sz="2000" dirty="0"/>
              <a:t>…</a:t>
            </a:r>
            <a:r>
              <a:rPr lang="zh-CN" altLang="zh-CN" sz="2000" dirty="0"/>
              <a:t>，</a:t>
            </a:r>
            <a:r>
              <a:rPr lang="en-US" altLang="zh-CN" sz="2000" dirty="0"/>
              <a:t>X</a:t>
            </a:r>
            <a:r>
              <a:rPr lang="zh-CN" altLang="zh-CN" sz="2000" dirty="0"/>
              <a:t>→</a:t>
            </a:r>
            <a:r>
              <a:rPr lang="en-US" altLang="zh-CN" sz="2000" dirty="0" err="1"/>
              <a:t>Y</a:t>
            </a:r>
            <a:r>
              <a:rPr lang="en-US" altLang="zh-CN" sz="2000" baseline="-25000" dirty="0" err="1"/>
              <a:t>n</a:t>
            </a:r>
            <a:r>
              <a:rPr lang="zh-CN" altLang="zh-CN" sz="2000" dirty="0"/>
              <a:t>。</a:t>
            </a:r>
          </a:p>
          <a:p>
            <a:pPr marL="0" indent="0">
              <a:buNone/>
            </a:pPr>
            <a:r>
              <a:rPr lang="zh-CN" altLang="zh-CN" sz="2000" dirty="0"/>
              <a:t>（</a:t>
            </a:r>
            <a:r>
              <a:rPr lang="en-US" altLang="zh-CN" sz="2000" dirty="0"/>
              <a:t>2</a:t>
            </a:r>
            <a:r>
              <a:rPr lang="zh-CN" altLang="zh-CN" sz="2000" dirty="0"/>
              <a:t>）消除冗余函数依赖</a:t>
            </a:r>
            <a:r>
              <a:rPr lang="en-US" altLang="zh-CN" sz="2000" dirty="0"/>
              <a:t>X</a:t>
            </a:r>
            <a:r>
              <a:rPr lang="zh-CN" altLang="zh-CN" sz="2000" dirty="0"/>
              <a:t>→</a:t>
            </a:r>
            <a:r>
              <a:rPr lang="en-US" altLang="zh-CN" sz="2000" dirty="0"/>
              <a:t>Y</a:t>
            </a:r>
            <a:r>
              <a:rPr lang="zh-CN" altLang="zh-CN" sz="2000" dirty="0"/>
              <a:t>。即：</a:t>
            </a:r>
          </a:p>
          <a:p>
            <a:pPr marL="625475" indent="0">
              <a:buNone/>
            </a:pPr>
            <a:r>
              <a:rPr lang="zh-CN" altLang="zh-CN" sz="2000" dirty="0"/>
              <a:t>如果</a:t>
            </a:r>
            <a:r>
              <a:rPr lang="en-US" altLang="zh-CN" sz="2000" dirty="0"/>
              <a:t>Y </a:t>
            </a:r>
            <a:r>
              <a:rPr lang="en-US" altLang="zh-CN" sz="2000" dirty="0" smtClean="0"/>
              <a:t>                    </a:t>
            </a:r>
            <a:r>
              <a:rPr lang="zh-CN" altLang="zh-CN" sz="2000" dirty="0" smtClean="0"/>
              <a:t>，</a:t>
            </a:r>
            <a:r>
              <a:rPr lang="zh-CN" altLang="zh-CN" sz="2000" dirty="0"/>
              <a:t>则消除</a:t>
            </a:r>
            <a:r>
              <a:rPr lang="en-US" altLang="zh-CN" sz="2000" dirty="0"/>
              <a:t>X</a:t>
            </a:r>
            <a:r>
              <a:rPr lang="zh-CN" altLang="zh-CN" sz="2000" dirty="0"/>
              <a:t>→</a:t>
            </a:r>
            <a:r>
              <a:rPr lang="en-US" altLang="zh-CN" sz="2000" dirty="0"/>
              <a:t>Y</a:t>
            </a:r>
            <a:r>
              <a:rPr lang="zh-CN" altLang="zh-CN" sz="2000" dirty="0"/>
              <a:t>。</a:t>
            </a:r>
          </a:p>
          <a:p>
            <a:pPr marL="0" indent="0">
              <a:buNone/>
            </a:pPr>
            <a:r>
              <a:rPr lang="zh-CN" altLang="zh-CN" sz="2000" dirty="0"/>
              <a:t>（</a:t>
            </a:r>
            <a:r>
              <a:rPr lang="en-US" altLang="zh-CN" sz="2000" dirty="0"/>
              <a:t>3</a:t>
            </a:r>
            <a:r>
              <a:rPr lang="zh-CN" altLang="zh-CN" sz="2000" dirty="0"/>
              <a:t>）消除</a:t>
            </a:r>
            <a:r>
              <a:rPr lang="en-US" altLang="zh-CN" sz="2000" dirty="0"/>
              <a:t>X=X</a:t>
            </a:r>
            <a:r>
              <a:rPr lang="en-US" altLang="zh-CN" sz="2000" baseline="-25000" dirty="0"/>
              <a:t>1</a:t>
            </a:r>
            <a:r>
              <a:rPr lang="en-US" altLang="zh-CN" sz="2000" dirty="0"/>
              <a:t>…X</a:t>
            </a:r>
            <a:r>
              <a:rPr lang="en-US" altLang="zh-CN" sz="2000" baseline="-25000" dirty="0"/>
              <a:t>i</a:t>
            </a:r>
            <a:r>
              <a:rPr lang="en-US" altLang="zh-CN" sz="2000" dirty="0"/>
              <a:t>…</a:t>
            </a:r>
            <a:r>
              <a:rPr lang="en-US" altLang="zh-CN" sz="2000" dirty="0" err="1"/>
              <a:t>X</a:t>
            </a:r>
            <a:r>
              <a:rPr lang="en-US" altLang="zh-CN" sz="2000" baseline="-25000" dirty="0" err="1"/>
              <a:t>n</a:t>
            </a:r>
            <a:r>
              <a:rPr lang="zh-CN" altLang="zh-CN" sz="2000" dirty="0"/>
              <a:t>→</a:t>
            </a:r>
            <a:r>
              <a:rPr lang="en-US" altLang="zh-CN" sz="2000" dirty="0"/>
              <a:t>Y</a:t>
            </a:r>
            <a:r>
              <a:rPr lang="zh-CN" altLang="zh-CN" sz="2000" dirty="0"/>
              <a:t>右侧属性的冗余属性</a:t>
            </a:r>
            <a:r>
              <a:rPr lang="en-US" altLang="zh-CN" sz="2000" dirty="0"/>
              <a:t>X</a:t>
            </a:r>
            <a:r>
              <a:rPr lang="en-US" altLang="zh-CN" sz="2000" baseline="-25000" dirty="0"/>
              <a:t>i </a:t>
            </a:r>
            <a:r>
              <a:rPr lang="zh-CN" altLang="zh-CN" sz="2000" dirty="0"/>
              <a:t>。即：</a:t>
            </a:r>
          </a:p>
          <a:p>
            <a:pPr marL="625475" indent="0" defTabSz="625475">
              <a:buNone/>
            </a:pPr>
            <a:r>
              <a:rPr lang="zh-CN" altLang="zh-CN" sz="2000" dirty="0"/>
              <a:t>如果</a:t>
            </a:r>
            <a:r>
              <a:rPr lang="en-US" altLang="zh-CN" sz="2000" dirty="0" smtClean="0"/>
              <a:t>Y                       </a:t>
            </a:r>
            <a:r>
              <a:rPr lang="zh-CN" altLang="zh-CN" sz="2000" dirty="0" smtClean="0"/>
              <a:t>，</a:t>
            </a:r>
            <a:r>
              <a:rPr lang="zh-CN" altLang="zh-CN" sz="2000" dirty="0"/>
              <a:t>则消除属性</a:t>
            </a:r>
            <a:r>
              <a:rPr lang="en-US" altLang="zh-CN" sz="2000" dirty="0"/>
              <a:t>X</a:t>
            </a:r>
            <a:r>
              <a:rPr lang="en-US" altLang="zh-CN" sz="2000" baseline="-25000" dirty="0"/>
              <a:t>i</a:t>
            </a:r>
            <a:r>
              <a:rPr lang="zh-CN" altLang="zh-CN" sz="2000" dirty="0"/>
              <a:t>。</a:t>
            </a:r>
          </a:p>
          <a:p>
            <a:r>
              <a:rPr lang="zh-CN" altLang="zh-CN" sz="2000" dirty="0">
                <a:solidFill>
                  <a:srgbClr val="0000FF"/>
                </a:solidFill>
              </a:rPr>
              <a:t>思考：</a:t>
            </a:r>
            <a:r>
              <a:rPr lang="en-US" altLang="zh-CN" sz="2000" dirty="0" err="1"/>
              <a:t>F</a:t>
            </a:r>
            <a:r>
              <a:rPr lang="en-US" altLang="zh-CN" sz="2000" baseline="-25000" dirty="0" err="1"/>
              <a:t>min</a:t>
            </a:r>
            <a:r>
              <a:rPr lang="zh-CN" altLang="zh-CN" sz="2000" dirty="0"/>
              <a:t>是否唯一？</a:t>
            </a:r>
          </a:p>
          <a:p>
            <a:r>
              <a:rPr lang="zh-CN" altLang="zh-CN" sz="2000" dirty="0">
                <a:solidFill>
                  <a:srgbClr val="0000FF"/>
                </a:solidFill>
              </a:rPr>
              <a:t>不难看出：</a:t>
            </a:r>
            <a:r>
              <a:rPr lang="zh-CN" altLang="zh-CN" sz="2000" dirty="0"/>
              <a:t>如果</a:t>
            </a:r>
            <a:r>
              <a:rPr lang="en-US" altLang="zh-CN" sz="2000" dirty="0"/>
              <a:t>F</a:t>
            </a:r>
            <a:r>
              <a:rPr lang="zh-CN" altLang="zh-CN" sz="2000" dirty="0"/>
              <a:t>≡</a:t>
            </a:r>
            <a:r>
              <a:rPr lang="en-US" altLang="zh-CN" sz="2000" dirty="0"/>
              <a:t>G</a:t>
            </a:r>
            <a:r>
              <a:rPr lang="zh-CN" altLang="zh-CN" sz="2000" dirty="0"/>
              <a:t>，则可以利用</a:t>
            </a:r>
            <a:r>
              <a:rPr lang="en-US" altLang="zh-CN" sz="2000" dirty="0" err="1"/>
              <a:t>F</a:t>
            </a:r>
            <a:r>
              <a:rPr lang="en-US" altLang="zh-CN" sz="2000" baseline="-25000" dirty="0" err="1"/>
              <a:t>min</a:t>
            </a:r>
            <a:r>
              <a:rPr lang="zh-CN" altLang="zh-CN" sz="2000" dirty="0"/>
              <a:t>替代</a:t>
            </a:r>
            <a:r>
              <a:rPr lang="en-US" altLang="zh-CN" sz="2000" dirty="0"/>
              <a:t>G</a:t>
            </a:r>
            <a:r>
              <a:rPr lang="zh-CN" altLang="zh-CN" sz="2000" dirty="0"/>
              <a:t>（或</a:t>
            </a:r>
            <a:r>
              <a:rPr lang="en-US" altLang="zh-CN" sz="2000" dirty="0" err="1"/>
              <a:t>G</a:t>
            </a:r>
            <a:r>
              <a:rPr lang="en-US" altLang="zh-CN" sz="2000" baseline="-25000" dirty="0" err="1"/>
              <a:t>min</a:t>
            </a:r>
            <a:r>
              <a:rPr lang="zh-CN" altLang="zh-CN" sz="2000" dirty="0"/>
              <a:t>替代</a:t>
            </a:r>
            <a:r>
              <a:rPr lang="en-US" altLang="zh-CN" sz="2000" dirty="0"/>
              <a:t>F</a:t>
            </a:r>
            <a:r>
              <a:rPr lang="zh-CN" altLang="zh-CN" sz="2000" dirty="0"/>
              <a:t>）。</a:t>
            </a:r>
          </a:p>
          <a:p>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548378599"/>
              </p:ext>
            </p:extLst>
          </p:nvPr>
        </p:nvGraphicFramePr>
        <p:xfrm>
          <a:off x="1547664" y="2492896"/>
          <a:ext cx="1446213" cy="512763"/>
        </p:xfrm>
        <a:graphic>
          <a:graphicData uri="http://schemas.openxmlformats.org/presentationml/2006/ole">
            <mc:AlternateContent xmlns:mc="http://schemas.openxmlformats.org/markup-compatibility/2006">
              <mc:Choice xmlns:v="urn:schemas-microsoft-com:vml" Requires="v">
                <p:oleObj spid="_x0000_s30077" name="公式" r:id="rId3" imgW="711000" imgH="253800" progId="Equation.3">
                  <p:embed/>
                </p:oleObj>
              </mc:Choice>
              <mc:Fallback>
                <p:oleObj name="公式" r:id="rId3" imgW="711000" imgH="253800" progId="Equation.3">
                  <p:embed/>
                  <p:pic>
                    <p:nvPicPr>
                      <p:cNvPr id="0" name="Object 1"/>
                      <p:cNvPicPr>
                        <a:picLocks noChangeAspect="1" noChangeArrowheads="1"/>
                      </p:cNvPicPr>
                      <p:nvPr/>
                    </p:nvPicPr>
                    <p:blipFill>
                      <a:blip r:embed="rId4"/>
                      <a:srcRect/>
                      <a:stretch>
                        <a:fillRect/>
                      </a:stretch>
                    </p:blipFill>
                    <p:spPr bwMode="auto">
                      <a:xfrm>
                        <a:off x="1547664" y="2492896"/>
                        <a:ext cx="1446213" cy="512763"/>
                      </a:xfrm>
                      <a:prstGeom prst="rect">
                        <a:avLst/>
                      </a:prstGeom>
                      <a:noFill/>
                    </p:spPr>
                  </p:pic>
                </p:oleObj>
              </mc:Fallback>
            </mc:AlternateContent>
          </a:graphicData>
        </a:graphic>
      </p:graphicFrame>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30401165"/>
              </p:ext>
            </p:extLst>
          </p:nvPr>
        </p:nvGraphicFramePr>
        <p:xfrm>
          <a:off x="1475656" y="3356992"/>
          <a:ext cx="1670050" cy="530225"/>
        </p:xfrm>
        <a:graphic>
          <a:graphicData uri="http://schemas.openxmlformats.org/presentationml/2006/ole">
            <mc:AlternateContent xmlns:mc="http://schemas.openxmlformats.org/markup-compatibility/2006">
              <mc:Choice xmlns:v="urn:schemas-microsoft-com:vml" Requires="v">
                <p:oleObj spid="_x0000_s30078" name="公式" r:id="rId5" imgW="774360" imgH="241200" progId="Equation.3">
                  <p:embed/>
                </p:oleObj>
              </mc:Choice>
              <mc:Fallback>
                <p:oleObj name="公式" r:id="rId5" imgW="774360" imgH="241200" progId="Equation.3">
                  <p:embed/>
                  <p:pic>
                    <p:nvPicPr>
                      <p:cNvPr id="0" name="Object 3"/>
                      <p:cNvPicPr>
                        <a:picLocks noChangeAspect="1" noChangeArrowheads="1"/>
                      </p:cNvPicPr>
                      <p:nvPr/>
                    </p:nvPicPr>
                    <p:blipFill>
                      <a:blip r:embed="rId6"/>
                      <a:srcRect/>
                      <a:stretch>
                        <a:fillRect/>
                      </a:stretch>
                    </p:blipFill>
                    <p:spPr bwMode="auto">
                      <a:xfrm>
                        <a:off x="1475656" y="3356992"/>
                        <a:ext cx="1670050" cy="530225"/>
                      </a:xfrm>
                      <a:prstGeom prst="rect">
                        <a:avLst/>
                      </a:prstGeom>
                      <a:noFill/>
                    </p:spPr>
                  </p:pic>
                </p:oleObj>
              </mc:Fallback>
            </mc:AlternateContent>
          </a:graphicData>
        </a:graphic>
      </p:graphicFrame>
    </p:spTree>
    <p:extLst>
      <p:ext uri="{BB962C8B-B14F-4D97-AF65-F5344CB8AC3E}">
        <p14:creationId xmlns:p14="http://schemas.microsoft.com/office/powerpoint/2010/main" val="14460942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6.3.4  </a:t>
            </a:r>
            <a:r>
              <a:rPr lang="zh-CN" altLang="zh-CN" dirty="0"/>
              <a:t>最小函数依赖集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57</a:t>
            </a:fld>
            <a:endParaRPr lang="zh-CN" altLang="en-US" dirty="0"/>
          </a:p>
        </p:txBody>
      </p:sp>
      <p:sp>
        <p:nvSpPr>
          <p:cNvPr id="7" name="文本占位符 6"/>
          <p:cNvSpPr>
            <a:spLocks noGrp="1"/>
          </p:cNvSpPr>
          <p:nvPr>
            <p:ph type="body" idx="1"/>
          </p:nvPr>
        </p:nvSpPr>
        <p:spPr>
          <a:xfrm>
            <a:off x="107504" y="620688"/>
            <a:ext cx="8856984" cy="6048672"/>
          </a:xfrm>
        </p:spPr>
        <p:txBody>
          <a:bodyPr>
            <a:normAutofit/>
          </a:bodyPr>
          <a:lstStyle/>
          <a:p>
            <a:r>
              <a:rPr lang="zh-CN" altLang="zh-CN" sz="2000" dirty="0">
                <a:solidFill>
                  <a:srgbClr val="0000FF"/>
                </a:solidFill>
              </a:rPr>
              <a:t>例</a:t>
            </a:r>
            <a:r>
              <a:rPr lang="en-US" altLang="zh-CN" sz="2000" dirty="0">
                <a:solidFill>
                  <a:srgbClr val="0000FF"/>
                </a:solidFill>
              </a:rPr>
              <a:t>6.17  </a:t>
            </a:r>
            <a:r>
              <a:rPr lang="zh-CN" altLang="zh-CN" sz="2000" dirty="0"/>
              <a:t>对于</a:t>
            </a:r>
            <a:r>
              <a:rPr lang="en-US" altLang="zh-CN" sz="2000" dirty="0"/>
              <a:t>R(U,F)</a:t>
            </a:r>
            <a:r>
              <a:rPr lang="zh-CN" altLang="zh-CN" sz="2000" dirty="0"/>
              <a:t>，</a:t>
            </a:r>
            <a:r>
              <a:rPr lang="en-US" altLang="zh-CN" sz="2000" dirty="0"/>
              <a:t>U={A, B, C, D,E}</a:t>
            </a:r>
            <a:r>
              <a:rPr lang="zh-CN" altLang="zh-CN" sz="2000" dirty="0"/>
              <a:t>，</a:t>
            </a:r>
            <a:r>
              <a:rPr lang="en-US" altLang="zh-CN" sz="2000" dirty="0"/>
              <a:t>F={A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BC</a:t>
            </a:r>
            <a:r>
              <a:rPr lang="zh-CN" altLang="zh-CN" sz="2000" dirty="0"/>
              <a:t>→</a:t>
            </a:r>
            <a:r>
              <a:rPr lang="en-US" altLang="zh-CN" sz="2000" dirty="0"/>
              <a:t>D</a:t>
            </a:r>
            <a:r>
              <a:rPr lang="zh-CN" altLang="zh-CN" sz="2000" dirty="0"/>
              <a:t>，</a:t>
            </a:r>
            <a:r>
              <a:rPr lang="en-US" altLang="zh-CN" sz="2000" dirty="0">
                <a:solidFill>
                  <a:srgbClr val="0000FF"/>
                </a:solidFill>
              </a:rPr>
              <a:t>DC</a:t>
            </a:r>
            <a:r>
              <a:rPr lang="zh-CN" altLang="zh-CN" sz="2000" dirty="0">
                <a:solidFill>
                  <a:srgbClr val="0000FF"/>
                </a:solidFill>
              </a:rPr>
              <a:t>→</a:t>
            </a:r>
            <a:r>
              <a:rPr lang="en-US" altLang="zh-CN" sz="2000" dirty="0">
                <a:solidFill>
                  <a:srgbClr val="0000FF"/>
                </a:solidFill>
              </a:rPr>
              <a:t>A</a:t>
            </a:r>
            <a:r>
              <a:rPr lang="zh-CN" altLang="zh-CN" sz="2000" dirty="0">
                <a:solidFill>
                  <a:srgbClr val="0000FF"/>
                </a:solidFill>
              </a:rPr>
              <a:t>，</a:t>
            </a:r>
            <a:r>
              <a:rPr lang="en-US" altLang="zh-CN" sz="2000" dirty="0">
                <a:solidFill>
                  <a:srgbClr val="0000FF"/>
                </a:solidFill>
              </a:rPr>
              <a:t>B</a:t>
            </a:r>
            <a:r>
              <a:rPr lang="zh-CN" altLang="zh-CN" sz="2000" dirty="0">
                <a:solidFill>
                  <a:srgbClr val="0000FF"/>
                </a:solidFill>
              </a:rPr>
              <a:t>→</a:t>
            </a:r>
            <a:r>
              <a:rPr lang="en-US" altLang="zh-CN" sz="2000" dirty="0">
                <a:solidFill>
                  <a:srgbClr val="0000FF"/>
                </a:solidFill>
              </a:rPr>
              <a:t>AD}</a:t>
            </a:r>
            <a:r>
              <a:rPr lang="zh-CN" altLang="zh-CN" sz="2000" dirty="0">
                <a:solidFill>
                  <a:srgbClr val="0000FF"/>
                </a:solidFill>
              </a:rPr>
              <a:t>，计算</a:t>
            </a:r>
            <a:r>
              <a:rPr lang="en-US" altLang="zh-CN" sz="2000" dirty="0" err="1">
                <a:solidFill>
                  <a:srgbClr val="0000FF"/>
                </a:solidFill>
              </a:rPr>
              <a:t>F</a:t>
            </a:r>
            <a:r>
              <a:rPr lang="en-US" altLang="zh-CN" sz="2000" baseline="-25000" dirty="0" err="1">
                <a:solidFill>
                  <a:srgbClr val="0000FF"/>
                </a:solidFill>
              </a:rPr>
              <a:t>min</a:t>
            </a:r>
            <a:r>
              <a:rPr lang="en-US" altLang="zh-CN" sz="2000" dirty="0">
                <a:solidFill>
                  <a:srgbClr val="0000FF"/>
                </a:solidFill>
              </a:rPr>
              <a:t>=</a:t>
            </a:r>
            <a:r>
              <a:rPr lang="zh-CN" altLang="zh-CN" sz="2000" dirty="0">
                <a:solidFill>
                  <a:srgbClr val="0000FF"/>
                </a:solidFill>
              </a:rPr>
              <a:t>？ </a:t>
            </a:r>
          </a:p>
          <a:p>
            <a:r>
              <a:rPr lang="zh-CN" altLang="zh-CN" sz="2000" dirty="0">
                <a:solidFill>
                  <a:srgbClr val="0000FF"/>
                </a:solidFill>
              </a:rPr>
              <a:t>分析：</a:t>
            </a:r>
          </a:p>
          <a:p>
            <a:pPr marL="0" indent="0">
              <a:buNone/>
            </a:pPr>
            <a:r>
              <a:rPr lang="zh-CN" altLang="zh-CN" sz="2000" dirty="0"/>
              <a:t>（</a:t>
            </a:r>
            <a:r>
              <a:rPr lang="en-US" altLang="zh-CN" sz="2000" dirty="0"/>
              <a:t>1</a:t>
            </a:r>
            <a:r>
              <a:rPr lang="zh-CN" altLang="zh-CN" sz="2000" dirty="0"/>
              <a:t>）依次分解函数依赖的右侧属性为单属性。即：</a:t>
            </a:r>
          </a:p>
          <a:p>
            <a:pPr marL="625475" indent="0">
              <a:buNone/>
            </a:pPr>
            <a:r>
              <a:rPr lang="en-US" altLang="zh-CN" sz="2000" dirty="0"/>
              <a:t>F={A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BC</a:t>
            </a:r>
            <a:r>
              <a:rPr lang="zh-CN" altLang="zh-CN" sz="2000" dirty="0"/>
              <a:t>→</a:t>
            </a:r>
            <a:r>
              <a:rPr lang="en-US" altLang="zh-CN" sz="2000" dirty="0"/>
              <a:t>D</a:t>
            </a:r>
            <a:r>
              <a:rPr lang="zh-CN" altLang="zh-CN" sz="2000" dirty="0"/>
              <a:t>，</a:t>
            </a:r>
            <a:r>
              <a:rPr lang="en-US" altLang="zh-CN" sz="2000" dirty="0"/>
              <a:t>DC</a:t>
            </a:r>
            <a:r>
              <a:rPr lang="zh-CN" altLang="zh-CN" sz="2000" dirty="0"/>
              <a:t>→</a:t>
            </a:r>
            <a:r>
              <a:rPr lang="en-US" altLang="zh-CN" sz="2000" dirty="0"/>
              <a:t>A</a:t>
            </a:r>
            <a:r>
              <a:rPr lang="zh-CN" altLang="zh-CN" sz="2000" dirty="0"/>
              <a:t>，</a:t>
            </a:r>
            <a:r>
              <a:rPr lang="en-US" altLang="zh-CN" sz="2000" dirty="0"/>
              <a:t>B</a:t>
            </a:r>
            <a:r>
              <a:rPr lang="zh-CN" altLang="zh-CN" sz="2000" dirty="0"/>
              <a:t>→</a:t>
            </a:r>
            <a:r>
              <a:rPr lang="en-US" altLang="zh-CN" sz="2000" dirty="0"/>
              <a:t>A</a:t>
            </a:r>
            <a:r>
              <a:rPr lang="zh-CN" altLang="zh-CN" sz="2000" dirty="0"/>
              <a:t>，</a:t>
            </a:r>
            <a:r>
              <a:rPr lang="en-US" altLang="zh-CN" sz="2000" dirty="0"/>
              <a:t>B</a:t>
            </a:r>
            <a:r>
              <a:rPr lang="zh-CN" altLang="zh-CN" sz="2000" dirty="0"/>
              <a:t>→</a:t>
            </a:r>
            <a:r>
              <a:rPr lang="en-US" altLang="zh-CN" sz="2000" dirty="0"/>
              <a:t>D}</a:t>
            </a:r>
            <a:endParaRPr lang="zh-CN" altLang="zh-CN" sz="2000" dirty="0"/>
          </a:p>
          <a:p>
            <a:pPr marL="0" indent="0">
              <a:buNone/>
            </a:pPr>
            <a:r>
              <a:rPr lang="zh-CN" altLang="zh-CN" sz="2000" dirty="0"/>
              <a:t>（</a:t>
            </a:r>
            <a:r>
              <a:rPr lang="en-US" altLang="zh-CN" sz="2000" dirty="0"/>
              <a:t>2</a:t>
            </a:r>
            <a:r>
              <a:rPr lang="zh-CN" altLang="zh-CN" sz="2000" dirty="0"/>
              <a:t>）依次消除冗余函数依赖。即：</a:t>
            </a:r>
            <a:r>
              <a:rPr lang="en-US" altLang="zh-CN" sz="2000" dirty="0"/>
              <a:t>B</a:t>
            </a:r>
            <a:r>
              <a:rPr lang="zh-CN" altLang="zh-CN" sz="2000" dirty="0"/>
              <a:t>→</a:t>
            </a:r>
            <a:r>
              <a:rPr lang="en-US" altLang="zh-CN" sz="2000" dirty="0"/>
              <a:t>D</a:t>
            </a:r>
            <a:r>
              <a:rPr lang="zh-CN" altLang="zh-CN" sz="2000" dirty="0"/>
              <a:t>冗余。</a:t>
            </a:r>
          </a:p>
          <a:p>
            <a:pPr marL="625475" indent="0">
              <a:buNone/>
            </a:pPr>
            <a:r>
              <a:rPr lang="zh-CN" altLang="zh-CN" sz="2000" dirty="0"/>
              <a:t>因为</a:t>
            </a:r>
            <a:r>
              <a:rPr lang="en-US" altLang="zh-CN" sz="2000" dirty="0" smtClean="0"/>
              <a:t>D                  </a:t>
            </a:r>
            <a:r>
              <a:rPr lang="zh-CN" altLang="zh-CN" sz="2000" dirty="0"/>
              <a:t>，所以消除</a:t>
            </a:r>
            <a:r>
              <a:rPr lang="en-US" altLang="zh-CN" sz="2000" dirty="0"/>
              <a:t>B</a:t>
            </a:r>
            <a:r>
              <a:rPr lang="zh-CN" altLang="zh-CN" sz="2000" dirty="0"/>
              <a:t>→</a:t>
            </a:r>
            <a:r>
              <a:rPr lang="en-US" altLang="zh-CN" sz="2000" dirty="0"/>
              <a:t>D</a:t>
            </a:r>
            <a:r>
              <a:rPr lang="zh-CN" altLang="zh-CN" sz="2000" dirty="0"/>
              <a:t>。</a:t>
            </a:r>
          </a:p>
          <a:p>
            <a:pPr marL="625475" indent="0">
              <a:buNone/>
            </a:pPr>
            <a:r>
              <a:rPr lang="zh-CN" altLang="zh-CN" sz="2000" dirty="0"/>
              <a:t>因此</a:t>
            </a:r>
            <a:r>
              <a:rPr lang="en-US" altLang="zh-CN" sz="2000" dirty="0"/>
              <a:t>F={A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BC</a:t>
            </a:r>
            <a:r>
              <a:rPr lang="zh-CN" altLang="zh-CN" sz="2000" dirty="0"/>
              <a:t>→</a:t>
            </a:r>
            <a:r>
              <a:rPr lang="en-US" altLang="zh-CN" sz="2000" dirty="0"/>
              <a:t>D</a:t>
            </a:r>
            <a:r>
              <a:rPr lang="zh-CN" altLang="zh-CN" sz="2000" dirty="0"/>
              <a:t>，</a:t>
            </a:r>
            <a:r>
              <a:rPr lang="en-US" altLang="zh-CN" sz="2000" dirty="0"/>
              <a:t>DC</a:t>
            </a:r>
            <a:r>
              <a:rPr lang="zh-CN" altLang="zh-CN" sz="2000" dirty="0"/>
              <a:t>→</a:t>
            </a:r>
            <a:r>
              <a:rPr lang="en-US" altLang="zh-CN" sz="2000" dirty="0"/>
              <a:t>A</a:t>
            </a:r>
            <a:r>
              <a:rPr lang="zh-CN" altLang="zh-CN" sz="2000" dirty="0"/>
              <a:t>，</a:t>
            </a:r>
            <a:r>
              <a:rPr lang="en-US" altLang="zh-CN" sz="2000" dirty="0"/>
              <a:t>B</a:t>
            </a:r>
            <a:r>
              <a:rPr lang="zh-CN" altLang="zh-CN" sz="2000" dirty="0"/>
              <a:t>→</a:t>
            </a:r>
            <a:r>
              <a:rPr lang="en-US" altLang="zh-CN" sz="2000" dirty="0"/>
              <a:t>A</a:t>
            </a:r>
            <a:r>
              <a:rPr lang="en-US"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035081725"/>
              </p:ext>
            </p:extLst>
          </p:nvPr>
        </p:nvGraphicFramePr>
        <p:xfrm>
          <a:off x="1547664" y="3429000"/>
          <a:ext cx="1446213" cy="512763"/>
        </p:xfrm>
        <a:graphic>
          <a:graphicData uri="http://schemas.openxmlformats.org/presentationml/2006/ole">
            <mc:AlternateContent xmlns:mc="http://schemas.openxmlformats.org/markup-compatibility/2006">
              <mc:Choice xmlns:v="urn:schemas-microsoft-com:vml" Requires="v">
                <p:oleObj spid="_x0000_s31933" name="公式" r:id="rId3" imgW="711000" imgH="253800" progId="Equation.3">
                  <p:embed/>
                </p:oleObj>
              </mc:Choice>
              <mc:Fallback>
                <p:oleObj name="公式" r:id="rId3" imgW="711000" imgH="253800" progId="Equation.3">
                  <p:embed/>
                  <p:pic>
                    <p:nvPicPr>
                      <p:cNvPr id="0" name=""/>
                      <p:cNvPicPr>
                        <a:picLocks noChangeAspect="1" noChangeArrowheads="1"/>
                      </p:cNvPicPr>
                      <p:nvPr/>
                    </p:nvPicPr>
                    <p:blipFill>
                      <a:blip r:embed="rId4"/>
                      <a:srcRect/>
                      <a:stretch>
                        <a:fillRect/>
                      </a:stretch>
                    </p:blipFill>
                    <p:spPr bwMode="auto">
                      <a:xfrm>
                        <a:off x="1547664" y="3429000"/>
                        <a:ext cx="1446213" cy="512763"/>
                      </a:xfrm>
                      <a:prstGeom prst="rect">
                        <a:avLst/>
                      </a:prstGeom>
                      <a:noFill/>
                    </p:spPr>
                  </p:pic>
                </p:oleObj>
              </mc:Fallback>
            </mc:AlternateContent>
          </a:graphicData>
        </a:graphic>
      </p:graphicFrame>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52529751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6.3.4  </a:t>
            </a:r>
            <a:r>
              <a:rPr lang="zh-CN" altLang="zh-CN" dirty="0"/>
              <a:t>最小函数依赖集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58</a:t>
            </a:fld>
            <a:endParaRPr lang="zh-CN" altLang="en-US" dirty="0"/>
          </a:p>
        </p:txBody>
      </p:sp>
      <p:sp>
        <p:nvSpPr>
          <p:cNvPr id="7" name="文本占位符 6"/>
          <p:cNvSpPr>
            <a:spLocks noGrp="1"/>
          </p:cNvSpPr>
          <p:nvPr>
            <p:ph type="body" idx="1"/>
          </p:nvPr>
        </p:nvSpPr>
        <p:spPr>
          <a:xfrm>
            <a:off x="107504" y="620688"/>
            <a:ext cx="8856984" cy="6048672"/>
          </a:xfrm>
        </p:spPr>
        <p:txBody>
          <a:bodyPr>
            <a:normAutofit/>
          </a:bodyPr>
          <a:lstStyle/>
          <a:p>
            <a:pPr marL="0" indent="0">
              <a:buNone/>
            </a:pPr>
            <a:r>
              <a:rPr lang="zh-CN" altLang="zh-CN" sz="2000" dirty="0"/>
              <a:t>（</a:t>
            </a:r>
            <a:r>
              <a:rPr lang="en-US" altLang="zh-CN" sz="2000" dirty="0"/>
              <a:t>3</a:t>
            </a:r>
            <a:r>
              <a:rPr lang="zh-CN" altLang="zh-CN" sz="2000" dirty="0"/>
              <a:t>）依次消除函数依赖右侧属性的冗余属性。即：</a:t>
            </a:r>
          </a:p>
          <a:p>
            <a:r>
              <a:rPr lang="en-US" altLang="zh-CN" sz="2000" dirty="0"/>
              <a:t>1</a:t>
            </a:r>
            <a:r>
              <a:rPr lang="zh-CN" altLang="zh-CN" sz="2000" dirty="0"/>
              <a:t>）</a:t>
            </a:r>
            <a:r>
              <a:rPr lang="en-US" altLang="zh-CN" sz="2000" dirty="0"/>
              <a:t>BC</a:t>
            </a:r>
            <a:r>
              <a:rPr lang="zh-CN" altLang="zh-CN" sz="2000" dirty="0"/>
              <a:t>→</a:t>
            </a:r>
            <a:r>
              <a:rPr lang="en-US" altLang="zh-CN" sz="2000" dirty="0"/>
              <a:t>D</a:t>
            </a:r>
            <a:r>
              <a:rPr lang="zh-CN" altLang="zh-CN" sz="2000" dirty="0"/>
              <a:t>中</a:t>
            </a:r>
            <a:r>
              <a:rPr lang="en-US" altLang="zh-CN" sz="2000" dirty="0"/>
              <a:t>C</a:t>
            </a:r>
            <a:r>
              <a:rPr lang="zh-CN" altLang="zh-CN" sz="2000" dirty="0"/>
              <a:t>冗余。</a:t>
            </a:r>
          </a:p>
          <a:p>
            <a:pPr marL="625475" indent="0">
              <a:buNone/>
            </a:pPr>
            <a:r>
              <a:rPr lang="zh-CN" altLang="zh-CN" sz="2000" dirty="0"/>
              <a:t>因为</a:t>
            </a:r>
            <a:r>
              <a:rPr lang="en-US" altLang="zh-CN" sz="2000" dirty="0"/>
              <a:t>D </a:t>
            </a:r>
            <a:r>
              <a:rPr lang="en-US" altLang="zh-CN" sz="2000" dirty="0" smtClean="0"/>
              <a:t>                        </a:t>
            </a:r>
            <a:r>
              <a:rPr lang="zh-CN" altLang="zh-CN" sz="2000" dirty="0" smtClean="0"/>
              <a:t>，</a:t>
            </a:r>
            <a:r>
              <a:rPr lang="zh-CN" altLang="zh-CN" sz="2000" dirty="0"/>
              <a:t>所以消除</a:t>
            </a:r>
            <a:r>
              <a:rPr lang="en-US" altLang="zh-CN" sz="2000" dirty="0"/>
              <a:t>C</a:t>
            </a:r>
            <a:r>
              <a:rPr lang="zh-CN" altLang="zh-CN" sz="2000" dirty="0"/>
              <a:t>。</a:t>
            </a:r>
          </a:p>
          <a:p>
            <a:pPr marL="625475" indent="0">
              <a:buNone/>
            </a:pPr>
            <a:r>
              <a:rPr lang="zh-CN" altLang="zh-CN" sz="2000" dirty="0"/>
              <a:t>因此</a:t>
            </a:r>
            <a:r>
              <a:rPr lang="en-US" altLang="zh-CN" sz="2000" dirty="0"/>
              <a:t>F={A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D</a:t>
            </a:r>
            <a:r>
              <a:rPr lang="zh-CN" altLang="zh-CN" sz="2000" dirty="0"/>
              <a:t>，</a:t>
            </a:r>
            <a:r>
              <a:rPr lang="en-US" altLang="zh-CN" sz="2000" dirty="0"/>
              <a:t>DC</a:t>
            </a:r>
            <a:r>
              <a:rPr lang="zh-CN" altLang="zh-CN" sz="2000" dirty="0"/>
              <a:t>→</a:t>
            </a:r>
            <a:r>
              <a:rPr lang="en-US" altLang="zh-CN" sz="2000" dirty="0"/>
              <a:t>A</a:t>
            </a:r>
            <a:r>
              <a:rPr lang="zh-CN" altLang="zh-CN" sz="2000" dirty="0"/>
              <a:t>，</a:t>
            </a:r>
            <a:r>
              <a:rPr lang="en-US" altLang="zh-CN" sz="2000" dirty="0"/>
              <a:t>B</a:t>
            </a:r>
            <a:r>
              <a:rPr lang="zh-CN" altLang="zh-CN" sz="2000" dirty="0"/>
              <a:t>→</a:t>
            </a:r>
            <a:r>
              <a:rPr lang="en-US" altLang="zh-CN" sz="2000" dirty="0"/>
              <a:t>A}</a:t>
            </a:r>
            <a:r>
              <a:rPr lang="zh-CN" altLang="zh-CN" sz="2000" dirty="0"/>
              <a:t>。</a:t>
            </a:r>
          </a:p>
          <a:p>
            <a:pPr marL="625475" indent="0">
              <a:buNone/>
            </a:pPr>
            <a:r>
              <a:rPr lang="zh-CN" altLang="zh-CN" sz="2000" dirty="0"/>
              <a:t>根据（</a:t>
            </a:r>
            <a:r>
              <a:rPr lang="en-US" altLang="zh-CN" sz="2000" dirty="0"/>
              <a:t>2</a:t>
            </a:r>
            <a:r>
              <a:rPr lang="zh-CN" altLang="zh-CN" sz="2000" dirty="0"/>
              <a:t>）可知，</a:t>
            </a:r>
            <a:r>
              <a:rPr lang="en-US" altLang="zh-CN" sz="2000" dirty="0"/>
              <a:t>B</a:t>
            </a:r>
            <a:r>
              <a:rPr lang="zh-CN" altLang="zh-CN" sz="2000" dirty="0"/>
              <a:t>→</a:t>
            </a:r>
            <a:r>
              <a:rPr lang="en-US" altLang="zh-CN" sz="2000" dirty="0"/>
              <a:t>D</a:t>
            </a:r>
            <a:r>
              <a:rPr lang="zh-CN" altLang="zh-CN" sz="2000" dirty="0"/>
              <a:t>冗余，则</a:t>
            </a:r>
            <a:r>
              <a:rPr lang="en-US" altLang="zh-CN" sz="1800" dirty="0"/>
              <a:t>F={A</a:t>
            </a:r>
            <a:r>
              <a:rPr lang="zh-CN" altLang="zh-CN" sz="1800" dirty="0"/>
              <a:t>→</a:t>
            </a:r>
            <a:r>
              <a:rPr lang="en-US" altLang="zh-CN" sz="1800" dirty="0"/>
              <a:t>D</a:t>
            </a:r>
            <a:r>
              <a:rPr lang="zh-CN" altLang="zh-CN" sz="1800" dirty="0"/>
              <a:t>，</a:t>
            </a:r>
            <a:r>
              <a:rPr lang="en-US" altLang="zh-CN" sz="1800" dirty="0"/>
              <a:t>E</a:t>
            </a:r>
            <a:r>
              <a:rPr lang="zh-CN" altLang="zh-CN" sz="1800" dirty="0"/>
              <a:t>→</a:t>
            </a:r>
            <a:r>
              <a:rPr lang="en-US" altLang="zh-CN" sz="1800" dirty="0"/>
              <a:t>D</a:t>
            </a:r>
            <a:r>
              <a:rPr lang="zh-CN" altLang="zh-CN" sz="1800" dirty="0"/>
              <a:t>，</a:t>
            </a:r>
            <a:r>
              <a:rPr lang="en-US" altLang="zh-CN" sz="1800" dirty="0"/>
              <a:t>D</a:t>
            </a:r>
            <a:r>
              <a:rPr lang="zh-CN" altLang="zh-CN" sz="1800" dirty="0"/>
              <a:t>→</a:t>
            </a:r>
            <a:r>
              <a:rPr lang="en-US" altLang="zh-CN" sz="1800" dirty="0"/>
              <a:t>B</a:t>
            </a:r>
            <a:r>
              <a:rPr lang="zh-CN" altLang="zh-CN" sz="1800" dirty="0"/>
              <a:t>，</a:t>
            </a:r>
            <a:r>
              <a:rPr lang="en-US" altLang="zh-CN" sz="1800" dirty="0"/>
              <a:t>DC</a:t>
            </a:r>
            <a:r>
              <a:rPr lang="zh-CN" altLang="zh-CN" sz="1800" dirty="0"/>
              <a:t>→</a:t>
            </a:r>
            <a:r>
              <a:rPr lang="en-US" altLang="zh-CN" sz="1800" dirty="0"/>
              <a:t>A</a:t>
            </a:r>
            <a:r>
              <a:rPr lang="zh-CN" altLang="zh-CN" sz="1800" dirty="0"/>
              <a:t>，</a:t>
            </a:r>
            <a:r>
              <a:rPr lang="en-US" altLang="zh-CN" sz="1800" dirty="0"/>
              <a:t>B</a:t>
            </a:r>
            <a:r>
              <a:rPr lang="zh-CN" altLang="zh-CN" sz="1800" dirty="0"/>
              <a:t>→</a:t>
            </a:r>
            <a:r>
              <a:rPr lang="en-US" altLang="zh-CN" sz="1800" dirty="0"/>
              <a:t>A}</a:t>
            </a:r>
            <a:r>
              <a:rPr lang="zh-CN" altLang="zh-CN" sz="1800" dirty="0"/>
              <a:t>。</a:t>
            </a:r>
          </a:p>
          <a:p>
            <a:r>
              <a:rPr lang="en-US" altLang="zh-CN" sz="2000" dirty="0"/>
              <a:t>2</a:t>
            </a:r>
            <a:r>
              <a:rPr lang="zh-CN" altLang="zh-CN" sz="2000" dirty="0"/>
              <a:t>）</a:t>
            </a:r>
            <a:r>
              <a:rPr lang="en-US" altLang="zh-CN" sz="2000" dirty="0"/>
              <a:t>DC</a:t>
            </a:r>
            <a:r>
              <a:rPr lang="zh-CN" altLang="zh-CN" sz="2000" dirty="0"/>
              <a:t>→</a:t>
            </a:r>
            <a:r>
              <a:rPr lang="en-US" altLang="zh-CN" sz="2000" dirty="0"/>
              <a:t>A</a:t>
            </a:r>
            <a:r>
              <a:rPr lang="zh-CN" altLang="zh-CN" sz="2000" dirty="0"/>
              <a:t>中</a:t>
            </a:r>
            <a:r>
              <a:rPr lang="en-US" altLang="zh-CN" sz="2000" dirty="0"/>
              <a:t>C</a:t>
            </a:r>
            <a:r>
              <a:rPr lang="zh-CN" altLang="zh-CN" sz="2000" dirty="0"/>
              <a:t>冗余。</a:t>
            </a:r>
          </a:p>
          <a:p>
            <a:pPr marL="625475" indent="0">
              <a:buNone/>
            </a:pPr>
            <a:r>
              <a:rPr lang="zh-CN" altLang="zh-CN" sz="2000" dirty="0"/>
              <a:t>因为</a:t>
            </a:r>
            <a:r>
              <a:rPr lang="en-US" altLang="zh-CN" sz="2000" dirty="0"/>
              <a:t>A </a:t>
            </a:r>
            <a:r>
              <a:rPr lang="en-US" altLang="zh-CN" sz="2000" dirty="0" smtClean="0"/>
              <a:t>                        </a:t>
            </a:r>
            <a:r>
              <a:rPr lang="zh-CN" altLang="zh-CN" sz="2000" dirty="0" smtClean="0"/>
              <a:t>，</a:t>
            </a:r>
            <a:r>
              <a:rPr lang="zh-CN" altLang="zh-CN" sz="2000" dirty="0"/>
              <a:t>所以消除</a:t>
            </a:r>
            <a:r>
              <a:rPr lang="en-US" altLang="zh-CN" sz="2000" dirty="0"/>
              <a:t>C</a:t>
            </a:r>
            <a:r>
              <a:rPr lang="zh-CN" altLang="zh-CN" sz="2000" dirty="0"/>
              <a:t>。</a:t>
            </a:r>
          </a:p>
          <a:p>
            <a:pPr marL="625475" indent="0">
              <a:buNone/>
            </a:pPr>
            <a:r>
              <a:rPr lang="zh-CN" altLang="zh-CN" sz="2000" dirty="0"/>
              <a:t>因此</a:t>
            </a:r>
            <a:r>
              <a:rPr lang="en-US" altLang="zh-CN" sz="2000" dirty="0"/>
              <a:t>F={A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A</a:t>
            </a:r>
            <a:r>
              <a:rPr lang="zh-CN" altLang="zh-CN" sz="2000" dirty="0"/>
              <a:t>，</a:t>
            </a:r>
            <a:r>
              <a:rPr lang="en-US" altLang="zh-CN" sz="2000" dirty="0"/>
              <a:t>B</a:t>
            </a:r>
            <a:r>
              <a:rPr lang="zh-CN" altLang="zh-CN" sz="2000" dirty="0"/>
              <a:t>→</a:t>
            </a:r>
            <a:r>
              <a:rPr lang="en-US" altLang="zh-CN" sz="2000" dirty="0"/>
              <a:t>A}</a:t>
            </a:r>
            <a:r>
              <a:rPr lang="zh-CN" altLang="zh-CN" sz="2000" dirty="0"/>
              <a:t>。</a:t>
            </a:r>
          </a:p>
          <a:p>
            <a:pPr marL="625475" indent="0">
              <a:buNone/>
            </a:pPr>
            <a:r>
              <a:rPr lang="zh-CN" altLang="zh-CN" sz="2000" dirty="0"/>
              <a:t>根据（</a:t>
            </a:r>
            <a:r>
              <a:rPr lang="en-US" altLang="zh-CN" sz="2000" dirty="0"/>
              <a:t>2</a:t>
            </a:r>
            <a:r>
              <a:rPr lang="zh-CN" altLang="zh-CN" sz="2000" dirty="0"/>
              <a:t>）可知，</a:t>
            </a:r>
            <a:r>
              <a:rPr lang="en-US" altLang="zh-CN" sz="2000" dirty="0"/>
              <a:t>D</a:t>
            </a:r>
            <a:r>
              <a:rPr lang="zh-CN" altLang="zh-CN" sz="2000" dirty="0"/>
              <a:t>→</a:t>
            </a:r>
            <a:r>
              <a:rPr lang="en-US" altLang="zh-CN" sz="2000" dirty="0"/>
              <a:t>A</a:t>
            </a:r>
            <a:r>
              <a:rPr lang="zh-CN" altLang="zh-CN" sz="2000" dirty="0"/>
              <a:t>冗余，则</a:t>
            </a:r>
            <a:r>
              <a:rPr lang="en-US" altLang="zh-CN" sz="2000" dirty="0"/>
              <a:t>F={A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A}</a:t>
            </a:r>
            <a:r>
              <a:rPr lang="zh-CN" altLang="zh-CN" sz="2000" dirty="0"/>
              <a:t>。</a:t>
            </a:r>
          </a:p>
          <a:p>
            <a:pPr marL="625475" indent="0">
              <a:buNone/>
            </a:pPr>
            <a:r>
              <a:rPr lang="zh-CN" altLang="zh-CN" sz="2000" dirty="0"/>
              <a:t>所以</a:t>
            </a:r>
            <a:r>
              <a:rPr lang="en-US" altLang="zh-CN" sz="2000" dirty="0" err="1"/>
              <a:t>F</a:t>
            </a:r>
            <a:r>
              <a:rPr lang="en-US" altLang="zh-CN" sz="2000" baseline="-25000" dirty="0" err="1"/>
              <a:t>min</a:t>
            </a:r>
            <a:r>
              <a:rPr lang="en-US" altLang="zh-CN" sz="2000" dirty="0"/>
              <a:t>={A</a:t>
            </a:r>
            <a:r>
              <a:rPr lang="zh-CN" altLang="zh-CN" sz="2000" dirty="0"/>
              <a:t>→</a:t>
            </a:r>
            <a:r>
              <a:rPr lang="en-US" altLang="zh-CN" sz="2000" dirty="0"/>
              <a:t>D</a:t>
            </a:r>
            <a:r>
              <a:rPr lang="zh-CN" altLang="zh-CN" sz="2000" dirty="0"/>
              <a:t>，</a:t>
            </a:r>
            <a:r>
              <a:rPr lang="en-US" altLang="zh-CN" sz="2000" dirty="0"/>
              <a:t>E</a:t>
            </a:r>
            <a:r>
              <a:rPr lang="zh-CN" altLang="zh-CN" sz="2000" dirty="0"/>
              <a:t>→</a:t>
            </a:r>
            <a:r>
              <a:rPr lang="en-US" altLang="zh-CN" sz="2000" dirty="0"/>
              <a:t>D</a:t>
            </a:r>
            <a:r>
              <a:rPr lang="zh-CN" altLang="zh-CN" sz="2000" dirty="0"/>
              <a:t>，</a:t>
            </a:r>
            <a:r>
              <a:rPr lang="en-US" altLang="zh-CN" sz="2000" dirty="0"/>
              <a:t>D</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A}</a:t>
            </a:r>
            <a:endParaRPr lang="zh-CN" altLang="zh-CN" sz="2000" dirty="0"/>
          </a:p>
          <a:p>
            <a:r>
              <a:rPr lang="zh-CN" altLang="zh-CN" sz="2000" dirty="0">
                <a:solidFill>
                  <a:srgbClr val="0000FF"/>
                </a:solidFill>
              </a:rPr>
              <a:t>思考：</a:t>
            </a:r>
            <a:r>
              <a:rPr lang="zh-CN" altLang="zh-CN" sz="2000" dirty="0"/>
              <a:t>在例</a:t>
            </a:r>
            <a:r>
              <a:rPr lang="en-US" altLang="zh-CN" sz="2000" dirty="0"/>
              <a:t>6.17</a:t>
            </a:r>
            <a:r>
              <a:rPr lang="zh-CN" altLang="zh-CN" sz="2000" dirty="0"/>
              <a:t>中，是否存在等价的</a:t>
            </a:r>
            <a:r>
              <a:rPr lang="en-US" altLang="zh-CN" sz="2000" dirty="0" err="1"/>
              <a:t>F</a:t>
            </a:r>
            <a:r>
              <a:rPr lang="en-US" altLang="zh-CN" sz="2000" baseline="-25000" dirty="0" err="1"/>
              <a:t>min</a:t>
            </a:r>
            <a:r>
              <a:rPr lang="zh-CN" altLang="zh-CN" sz="2000" dirty="0"/>
              <a:t>。</a:t>
            </a:r>
          </a:p>
          <a:p>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53639035"/>
              </p:ext>
            </p:extLst>
          </p:nvPr>
        </p:nvGraphicFramePr>
        <p:xfrm>
          <a:off x="1619672" y="1556792"/>
          <a:ext cx="1695450" cy="501650"/>
        </p:xfrm>
        <a:graphic>
          <a:graphicData uri="http://schemas.openxmlformats.org/presentationml/2006/ole">
            <mc:AlternateContent xmlns:mc="http://schemas.openxmlformats.org/markup-compatibility/2006">
              <mc:Choice xmlns:v="urn:schemas-microsoft-com:vml" Requires="v">
                <p:oleObj spid="_x0000_s33145" name="公式" r:id="rId3" imgW="787320" imgH="228600" progId="Equation.3">
                  <p:embed/>
                </p:oleObj>
              </mc:Choice>
              <mc:Fallback>
                <p:oleObj name="公式" r:id="rId3" imgW="787320" imgH="228600" progId="Equation.3">
                  <p:embed/>
                  <p:pic>
                    <p:nvPicPr>
                      <p:cNvPr id="0" name=""/>
                      <p:cNvPicPr>
                        <a:picLocks noChangeAspect="1" noChangeArrowheads="1"/>
                      </p:cNvPicPr>
                      <p:nvPr/>
                    </p:nvPicPr>
                    <p:blipFill>
                      <a:blip r:embed="rId4"/>
                      <a:srcRect/>
                      <a:stretch>
                        <a:fillRect/>
                      </a:stretch>
                    </p:blipFill>
                    <p:spPr bwMode="auto">
                      <a:xfrm>
                        <a:off x="1619672" y="1556792"/>
                        <a:ext cx="1695450" cy="501650"/>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572623083"/>
              </p:ext>
            </p:extLst>
          </p:nvPr>
        </p:nvGraphicFramePr>
        <p:xfrm>
          <a:off x="1619672" y="3356992"/>
          <a:ext cx="1724025" cy="501650"/>
        </p:xfrm>
        <a:graphic>
          <a:graphicData uri="http://schemas.openxmlformats.org/presentationml/2006/ole">
            <mc:AlternateContent xmlns:mc="http://schemas.openxmlformats.org/markup-compatibility/2006">
              <mc:Choice xmlns:v="urn:schemas-microsoft-com:vml" Requires="v">
                <p:oleObj spid="_x0000_s33146" name="公式" r:id="rId5" imgW="799920" imgH="228600" progId="Equation.3">
                  <p:embed/>
                </p:oleObj>
              </mc:Choice>
              <mc:Fallback>
                <p:oleObj name="公式" r:id="rId5" imgW="799920" imgH="228600" progId="Equation.3">
                  <p:embed/>
                  <p:pic>
                    <p:nvPicPr>
                      <p:cNvPr id="0" name=""/>
                      <p:cNvPicPr>
                        <a:picLocks noChangeAspect="1" noChangeArrowheads="1"/>
                      </p:cNvPicPr>
                      <p:nvPr/>
                    </p:nvPicPr>
                    <p:blipFill>
                      <a:blip r:embed="rId6"/>
                      <a:srcRect/>
                      <a:stretch>
                        <a:fillRect/>
                      </a:stretch>
                    </p:blipFill>
                    <p:spPr bwMode="auto">
                      <a:xfrm>
                        <a:off x="1619672" y="3356992"/>
                        <a:ext cx="1724025" cy="501650"/>
                      </a:xfrm>
                      <a:prstGeom prst="rect">
                        <a:avLst/>
                      </a:prstGeom>
                      <a:noFill/>
                    </p:spPr>
                  </p:pic>
                </p:oleObj>
              </mc:Fallback>
            </mc:AlternateContent>
          </a:graphicData>
        </a:graphic>
      </p:graphicFrame>
    </p:spTree>
    <p:extLst>
      <p:ext uri="{BB962C8B-B14F-4D97-AF65-F5344CB8AC3E}">
        <p14:creationId xmlns:p14="http://schemas.microsoft.com/office/powerpoint/2010/main" val="82164165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59</a:t>
            </a:fld>
            <a:endParaRPr lang="zh-CN" altLang="en-US" dirty="0"/>
          </a:p>
        </p:txBody>
      </p:sp>
      <p:sp>
        <p:nvSpPr>
          <p:cNvPr id="7" name="文本占位符 6"/>
          <p:cNvSpPr>
            <a:spLocks noGrp="1"/>
          </p:cNvSpPr>
          <p:nvPr>
            <p:ph type="body" idx="1"/>
          </p:nvPr>
        </p:nvSpPr>
        <p:spPr>
          <a:xfrm>
            <a:off x="143508" y="548680"/>
            <a:ext cx="8856984" cy="6048672"/>
          </a:xfrm>
        </p:spPr>
        <p:txBody>
          <a:bodyPr>
            <a:normAutofit/>
          </a:bodyPr>
          <a:lstStyle/>
          <a:p>
            <a:r>
              <a:rPr lang="zh-CN" altLang="zh-CN" sz="2000" dirty="0" smtClean="0">
                <a:solidFill>
                  <a:srgbClr val="0000FF"/>
                </a:solidFill>
              </a:rPr>
              <a:t>等价</a:t>
            </a:r>
            <a:r>
              <a:rPr lang="zh-CN" altLang="zh-CN" sz="2000" dirty="0">
                <a:solidFill>
                  <a:srgbClr val="0000FF"/>
                </a:solidFill>
              </a:rPr>
              <a:t>分解：</a:t>
            </a:r>
            <a:r>
              <a:rPr lang="zh-CN" altLang="zh-CN" sz="2000" dirty="0"/>
              <a:t>分解后的关系模式，既要保持信息不能丢失，又要保持函数依赖不能改变。</a:t>
            </a:r>
          </a:p>
          <a:p>
            <a:r>
              <a:rPr lang="zh-CN" altLang="zh-CN" sz="2000" dirty="0">
                <a:solidFill>
                  <a:srgbClr val="0000FF"/>
                </a:solidFill>
              </a:rPr>
              <a:t>保连接分解：</a:t>
            </a:r>
            <a:r>
              <a:rPr lang="zh-CN" altLang="zh-CN" sz="2000" dirty="0"/>
              <a:t>如果分解后的关系模式，通过连接所生成的新关系模式，与原始关系模式等价。这种连接称为“无损连接”。</a:t>
            </a:r>
          </a:p>
          <a:p>
            <a:r>
              <a:rPr lang="zh-CN" altLang="zh-CN" sz="2000" dirty="0">
                <a:solidFill>
                  <a:srgbClr val="0000FF"/>
                </a:solidFill>
              </a:rPr>
              <a:t>保依赖分解：</a:t>
            </a:r>
            <a:r>
              <a:rPr lang="zh-CN" altLang="zh-CN" sz="2000" dirty="0"/>
              <a:t>如果分解后的关系模式</a:t>
            </a:r>
            <a:r>
              <a:rPr lang="zh-CN" altLang="zh-CN" sz="2000" dirty="0" smtClean="0"/>
              <a:t>，函数依赖</a:t>
            </a:r>
            <a:r>
              <a:rPr lang="zh-CN" altLang="zh-CN" sz="2000" dirty="0"/>
              <a:t>集的闭包，与原始关系模式的闭包</a:t>
            </a:r>
            <a:r>
              <a:rPr lang="zh-CN" altLang="zh-CN" sz="2000" dirty="0" smtClean="0"/>
              <a:t>等价</a:t>
            </a:r>
            <a:endParaRPr lang="zh-CN" altLang="zh-CN" sz="2000" dirty="0"/>
          </a:p>
          <a:p>
            <a:pPr>
              <a:lnSpc>
                <a:spcPts val="3300"/>
              </a:lnSpc>
            </a:pPr>
            <a:r>
              <a:rPr lang="zh-CN" altLang="zh-CN" sz="2000" dirty="0"/>
              <a:t>不难看出：保连接分解可以保持关系模式分解后不丢失数据信息；保依赖分解可以保持关系模式分解后不破坏数据完整性。即：保连接保信息；保依赖保完整。</a:t>
            </a:r>
          </a:p>
          <a:p>
            <a:pPr>
              <a:lnSpc>
                <a:spcPts val="3300"/>
              </a:lnSpc>
            </a:pPr>
            <a:r>
              <a:rPr lang="zh-CN" altLang="zh-CN" sz="2000" dirty="0"/>
              <a:t>关系模式的常用分解：</a:t>
            </a:r>
          </a:p>
          <a:p>
            <a:pPr>
              <a:lnSpc>
                <a:spcPts val="3300"/>
              </a:lnSpc>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）关系模式的保连接分解。</a:t>
            </a:r>
          </a:p>
          <a:p>
            <a:pPr>
              <a:lnSpc>
                <a:spcPts val="3300"/>
              </a:lnSpc>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）关系模式的保依赖分解。</a:t>
            </a:r>
          </a:p>
          <a:p>
            <a:pPr>
              <a:lnSpc>
                <a:spcPts val="3300"/>
              </a:lnSpc>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）关系模式的既保连接，又保依赖分解。关系模式的理想分解。</a:t>
            </a:r>
          </a:p>
          <a:p>
            <a:endParaRPr lang="zh-CN" altLang="zh-CN" sz="2000" dirty="0">
              <a:solidFill>
                <a:srgbClr val="0000FF"/>
              </a:solidFill>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0834326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60</a:t>
            </a:fld>
            <a:endParaRPr lang="zh-CN" altLang="en-US" dirty="0"/>
          </a:p>
        </p:txBody>
      </p:sp>
      <p:sp>
        <p:nvSpPr>
          <p:cNvPr id="7" name="文本占位符 6"/>
          <p:cNvSpPr>
            <a:spLocks noGrp="1"/>
          </p:cNvSpPr>
          <p:nvPr>
            <p:ph type="body" idx="1"/>
          </p:nvPr>
        </p:nvSpPr>
        <p:spPr>
          <a:xfrm>
            <a:off x="323528" y="548680"/>
            <a:ext cx="8568952" cy="6048672"/>
          </a:xfrm>
        </p:spPr>
        <p:txBody>
          <a:bodyPr>
            <a:normAutofit/>
          </a:bodyPr>
          <a:lstStyle/>
          <a:p>
            <a:r>
              <a:rPr lang="zh-CN" altLang="zh-CN" sz="2000" dirty="0">
                <a:solidFill>
                  <a:srgbClr val="0000FF"/>
                </a:solidFill>
              </a:rPr>
              <a:t>定义</a:t>
            </a:r>
            <a:r>
              <a:rPr lang="en-US" altLang="zh-CN" sz="2000" dirty="0">
                <a:solidFill>
                  <a:srgbClr val="0000FF"/>
                </a:solidFill>
              </a:rPr>
              <a:t>6.18  </a:t>
            </a:r>
            <a:r>
              <a:rPr lang="zh-CN" altLang="zh-CN" sz="2000" dirty="0"/>
              <a:t>对于</a:t>
            </a:r>
            <a:r>
              <a:rPr lang="en-US" altLang="zh-CN" sz="2000" dirty="0"/>
              <a:t>R(U,F)</a:t>
            </a:r>
            <a:r>
              <a:rPr lang="zh-CN" altLang="zh-CN" sz="2000" dirty="0"/>
              <a:t>，</a:t>
            </a:r>
            <a:r>
              <a:rPr lang="en-US" altLang="zh-CN" sz="2000" dirty="0" smtClean="0"/>
              <a:t>V</a:t>
            </a:r>
            <a:r>
              <a:rPr lang="en-US" altLang="zh-CN" sz="2000" dirty="0" smtClean="0">
                <a:sym typeface="Symbol"/>
              </a:rPr>
              <a:t></a:t>
            </a:r>
            <a:r>
              <a:rPr lang="en-US" altLang="zh-CN" sz="2000" dirty="0" smtClean="0"/>
              <a:t>U</a:t>
            </a:r>
            <a:r>
              <a:rPr lang="zh-CN" altLang="zh-CN" sz="2000" dirty="0"/>
              <a:t>，则</a:t>
            </a:r>
            <a:r>
              <a:rPr lang="en-US" altLang="zh-CN" sz="2000" dirty="0"/>
              <a:t>{X</a:t>
            </a:r>
            <a:r>
              <a:rPr lang="zh-CN" altLang="zh-CN" sz="2000" dirty="0"/>
              <a:t>→</a:t>
            </a:r>
            <a:r>
              <a:rPr lang="en-US" altLang="zh-CN" sz="2000" dirty="0"/>
              <a:t>Y | X</a:t>
            </a:r>
            <a:r>
              <a:rPr lang="zh-CN" altLang="zh-CN" sz="2000" dirty="0"/>
              <a:t>→</a:t>
            </a:r>
            <a:r>
              <a:rPr lang="en-US" altLang="zh-CN" sz="2000" dirty="0"/>
              <a:t>Y </a:t>
            </a:r>
            <a:r>
              <a:rPr lang="en-US" altLang="zh-CN" sz="2000" dirty="0" smtClean="0"/>
              <a:t>       </a:t>
            </a:r>
            <a:r>
              <a:rPr lang="zh-CN" altLang="zh-CN" sz="2000" dirty="0" smtClean="0"/>
              <a:t>∧ </a:t>
            </a:r>
            <a:r>
              <a:rPr lang="en-US" altLang="zh-CN" sz="2000" dirty="0" smtClean="0"/>
              <a:t>XY</a:t>
            </a:r>
            <a:r>
              <a:rPr lang="en-US" altLang="zh-CN" sz="2000" dirty="0" smtClean="0">
                <a:sym typeface="Symbol"/>
              </a:rPr>
              <a:t></a:t>
            </a:r>
            <a:r>
              <a:rPr lang="en-US" altLang="zh-CN" sz="2000" dirty="0" smtClean="0"/>
              <a:t>V</a:t>
            </a:r>
            <a:r>
              <a:rPr lang="en-US" altLang="zh-CN" sz="2000" dirty="0"/>
              <a:t>} </a:t>
            </a:r>
            <a:r>
              <a:rPr lang="zh-CN" altLang="zh-CN" sz="2000" dirty="0"/>
              <a:t>的一个覆盖</a:t>
            </a:r>
            <a:r>
              <a:rPr lang="en-US" altLang="zh-CN" sz="2000" dirty="0"/>
              <a:t>G</a:t>
            </a:r>
            <a:r>
              <a:rPr lang="zh-CN" altLang="zh-CN" sz="2000" dirty="0"/>
              <a:t>称为</a:t>
            </a:r>
            <a:r>
              <a:rPr lang="en-US" altLang="zh-CN" sz="2000" dirty="0"/>
              <a:t>F</a:t>
            </a:r>
            <a:r>
              <a:rPr lang="zh-CN" altLang="zh-CN" sz="2000" dirty="0"/>
              <a:t>在</a:t>
            </a:r>
            <a:r>
              <a:rPr lang="en-US" altLang="zh-CN" sz="2000" dirty="0"/>
              <a:t>V</a:t>
            </a:r>
            <a:r>
              <a:rPr lang="zh-CN" altLang="zh-CN" sz="2000" dirty="0"/>
              <a:t>上的投影。</a:t>
            </a:r>
          </a:p>
          <a:p>
            <a:r>
              <a:rPr lang="zh-CN" altLang="zh-CN" sz="2000" dirty="0">
                <a:solidFill>
                  <a:srgbClr val="0000FF"/>
                </a:solidFill>
              </a:rPr>
              <a:t>例</a:t>
            </a:r>
            <a:r>
              <a:rPr lang="en-US" altLang="zh-CN" sz="2000" dirty="0">
                <a:solidFill>
                  <a:srgbClr val="0000FF"/>
                </a:solidFill>
              </a:rPr>
              <a:t>6.18  </a:t>
            </a:r>
            <a:r>
              <a:rPr lang="zh-CN" altLang="zh-CN" sz="2000" dirty="0"/>
              <a:t>对于</a:t>
            </a:r>
            <a:r>
              <a:rPr lang="en-US" altLang="zh-CN" sz="2000" dirty="0"/>
              <a:t>R(U,F)</a:t>
            </a:r>
            <a:r>
              <a:rPr lang="zh-CN" altLang="zh-CN" sz="2000" dirty="0"/>
              <a:t>，</a:t>
            </a:r>
            <a:r>
              <a:rPr lang="en-US" altLang="zh-CN" sz="2000" dirty="0"/>
              <a:t>U={A, B, C, D}</a:t>
            </a:r>
            <a:r>
              <a:rPr lang="zh-CN" altLang="zh-CN" sz="2000" dirty="0"/>
              <a:t>，</a:t>
            </a:r>
            <a:r>
              <a:rPr lang="en-US" altLang="zh-CN" sz="2000" dirty="0"/>
              <a:t>F={A</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C</a:t>
            </a:r>
            <a:r>
              <a:rPr lang="zh-CN" altLang="zh-CN" sz="2000" dirty="0"/>
              <a:t>→</a:t>
            </a:r>
            <a:r>
              <a:rPr lang="en-US" altLang="zh-CN" sz="2000" dirty="0"/>
              <a:t>D},V={A, B, C}</a:t>
            </a:r>
            <a:r>
              <a:rPr lang="zh-CN" altLang="zh-CN" sz="2000" dirty="0"/>
              <a:t>，则</a:t>
            </a:r>
            <a:r>
              <a:rPr lang="en-US" altLang="zh-CN" sz="2000" dirty="0" smtClean="0"/>
              <a:t>AB</a:t>
            </a:r>
            <a:r>
              <a:rPr lang="en-US" altLang="zh-CN" sz="2000" dirty="0" smtClean="0">
                <a:sym typeface="Symbol"/>
              </a:rPr>
              <a:t></a:t>
            </a:r>
            <a:r>
              <a:rPr lang="en-US" altLang="zh-CN" sz="2000" dirty="0" smtClean="0"/>
              <a:t>V</a:t>
            </a:r>
            <a:r>
              <a:rPr lang="zh-CN" altLang="zh-CN" sz="2000" dirty="0"/>
              <a:t>，</a:t>
            </a:r>
            <a:r>
              <a:rPr lang="en-US" altLang="zh-CN" sz="2000" dirty="0"/>
              <a:t>A</a:t>
            </a:r>
            <a:r>
              <a:rPr lang="zh-CN" altLang="zh-CN" sz="2000" dirty="0"/>
              <a:t>→</a:t>
            </a:r>
            <a:r>
              <a:rPr lang="en-US" altLang="zh-CN" sz="2000" dirty="0"/>
              <a:t>B </a:t>
            </a:r>
            <a:r>
              <a:rPr lang="en-US" altLang="zh-CN" sz="2000" dirty="0" smtClean="0"/>
              <a:t>       </a:t>
            </a:r>
            <a:r>
              <a:rPr lang="zh-CN" altLang="zh-CN" sz="2000" dirty="0" smtClean="0"/>
              <a:t>；</a:t>
            </a:r>
            <a:r>
              <a:rPr lang="en-US" altLang="zh-CN" sz="2000" dirty="0" smtClean="0"/>
              <a:t>BC</a:t>
            </a:r>
            <a:r>
              <a:rPr lang="en-US" altLang="zh-CN" sz="2000" dirty="0" smtClean="0">
                <a:sym typeface="Symbol"/>
              </a:rPr>
              <a:t></a:t>
            </a:r>
            <a:r>
              <a:rPr lang="en-US" altLang="zh-CN" sz="2000" dirty="0" smtClean="0"/>
              <a:t>V</a:t>
            </a:r>
            <a:r>
              <a:rPr lang="zh-CN" altLang="zh-CN" sz="2000" dirty="0"/>
              <a:t>，</a:t>
            </a:r>
            <a:r>
              <a:rPr lang="en-US" altLang="zh-CN" sz="2000" dirty="0"/>
              <a:t>B</a:t>
            </a:r>
            <a:r>
              <a:rPr lang="zh-CN" altLang="zh-CN" sz="2000" dirty="0"/>
              <a:t>→</a:t>
            </a:r>
            <a:r>
              <a:rPr lang="en-US" altLang="zh-CN" sz="2000" dirty="0" smtClean="0"/>
              <a:t>C         </a:t>
            </a:r>
            <a:r>
              <a:rPr lang="zh-CN" altLang="zh-CN" sz="2000" dirty="0"/>
              <a:t>。</a:t>
            </a:r>
          </a:p>
          <a:p>
            <a:r>
              <a:rPr lang="en-US" altLang="zh-CN" sz="2000" dirty="0" smtClean="0">
                <a:solidFill>
                  <a:srgbClr val="0000FF"/>
                </a:solidFill>
              </a:rPr>
              <a:t>F</a:t>
            </a:r>
            <a:r>
              <a:rPr lang="zh-CN" altLang="zh-CN" sz="2000" dirty="0">
                <a:solidFill>
                  <a:srgbClr val="0000FF"/>
                </a:solidFill>
              </a:rPr>
              <a:t>在</a:t>
            </a:r>
            <a:r>
              <a:rPr lang="en-US" altLang="zh-CN" sz="2000" dirty="0">
                <a:solidFill>
                  <a:srgbClr val="0000FF"/>
                </a:solidFill>
              </a:rPr>
              <a:t>V</a:t>
            </a:r>
            <a:r>
              <a:rPr lang="zh-CN" altLang="zh-CN" sz="2000" dirty="0">
                <a:solidFill>
                  <a:srgbClr val="0000FF"/>
                </a:solidFill>
              </a:rPr>
              <a:t>上的投影：</a:t>
            </a:r>
            <a:r>
              <a:rPr lang="en-US" altLang="zh-CN" sz="2000" dirty="0"/>
              <a:t>G={A</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C}</a:t>
            </a:r>
            <a:r>
              <a:rPr lang="zh-CN" altLang="zh-CN" sz="2000" dirty="0"/>
              <a:t>。</a:t>
            </a:r>
          </a:p>
          <a:p>
            <a:r>
              <a:rPr lang="en-US" altLang="zh-CN" sz="2000" dirty="0"/>
              <a:t> </a:t>
            </a:r>
            <a:r>
              <a:rPr lang="zh-CN" altLang="zh-CN" sz="2000" dirty="0" smtClean="0">
                <a:solidFill>
                  <a:srgbClr val="0000FF"/>
                </a:solidFill>
              </a:rPr>
              <a:t>定义</a:t>
            </a:r>
            <a:r>
              <a:rPr lang="en-US" altLang="zh-CN" sz="2000" dirty="0">
                <a:solidFill>
                  <a:srgbClr val="0000FF"/>
                </a:solidFill>
              </a:rPr>
              <a:t>6.19  </a:t>
            </a:r>
            <a:r>
              <a:rPr lang="zh-CN" altLang="zh-CN" sz="2000" dirty="0"/>
              <a:t>对于</a:t>
            </a:r>
            <a:r>
              <a:rPr lang="en-US" altLang="zh-CN" sz="2000" dirty="0"/>
              <a:t>R(U,F)</a:t>
            </a:r>
            <a:r>
              <a:rPr lang="zh-CN" altLang="zh-CN" sz="2000" dirty="0"/>
              <a:t>，</a:t>
            </a:r>
            <a:r>
              <a:rPr lang="en-US" altLang="zh-CN" sz="2000" dirty="0"/>
              <a:t>U=U</a:t>
            </a:r>
            <a:r>
              <a:rPr lang="en-US" altLang="zh-CN" sz="2000" baseline="-25000" dirty="0"/>
              <a:t>1</a:t>
            </a:r>
            <a:r>
              <a:rPr lang="zh-CN" altLang="zh-CN" sz="2000" dirty="0"/>
              <a:t>∪</a:t>
            </a:r>
            <a:r>
              <a:rPr lang="en-US" altLang="zh-CN" sz="2000" dirty="0"/>
              <a:t>U</a:t>
            </a:r>
            <a:r>
              <a:rPr lang="en-US" altLang="zh-CN" sz="2000" baseline="-25000" dirty="0"/>
              <a:t>2</a:t>
            </a:r>
            <a:r>
              <a:rPr lang="zh-CN" altLang="zh-CN" sz="2000" dirty="0"/>
              <a:t>∪</a:t>
            </a:r>
            <a:r>
              <a:rPr lang="en-US" altLang="zh-CN" sz="2000" dirty="0"/>
              <a:t>…</a:t>
            </a:r>
            <a:r>
              <a:rPr lang="zh-CN" altLang="zh-CN" sz="2000" dirty="0"/>
              <a:t>∪</a:t>
            </a:r>
            <a:r>
              <a:rPr lang="en-US" altLang="zh-CN" sz="2000" dirty="0"/>
              <a:t>U</a:t>
            </a:r>
            <a:r>
              <a:rPr lang="en-US" altLang="zh-CN" sz="2000" baseline="-25000" dirty="0"/>
              <a:t>n</a:t>
            </a:r>
            <a:r>
              <a:rPr lang="zh-CN" altLang="zh-CN" sz="2000" dirty="0"/>
              <a:t>，且任意不同的</a:t>
            </a:r>
            <a:r>
              <a:rPr lang="en-US" altLang="zh-CN" sz="2000" dirty="0" err="1"/>
              <a:t>U</a:t>
            </a:r>
            <a:r>
              <a:rPr lang="en-US" altLang="zh-CN" sz="2000" baseline="-25000" dirty="0" err="1"/>
              <a:t>i</a:t>
            </a:r>
            <a:r>
              <a:rPr lang="zh-CN" altLang="zh-CN" sz="2000" dirty="0"/>
              <a:t>和</a:t>
            </a:r>
            <a:r>
              <a:rPr lang="en-US" altLang="zh-CN" sz="2000" dirty="0" err="1"/>
              <a:t>U</a:t>
            </a:r>
            <a:r>
              <a:rPr lang="en-US" altLang="zh-CN" sz="2000" baseline="-25000" dirty="0" err="1"/>
              <a:t>j</a:t>
            </a:r>
            <a:r>
              <a:rPr lang="zh-CN" altLang="zh-CN" sz="2000" dirty="0"/>
              <a:t>均不相互包含，则</a:t>
            </a:r>
            <a:r>
              <a:rPr lang="en-US" altLang="zh-CN" sz="2000" dirty="0">
                <a:latin typeface="Kunstler Script" pitchFamily="66" charset="0"/>
              </a:rPr>
              <a:t>R</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smtClean="0"/>
              <a:t>，</a:t>
            </a:r>
            <a:r>
              <a:rPr lang="en-US" altLang="zh-CN" sz="2000" dirty="0" smtClean="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r>
              <a:rPr lang="zh-CN" altLang="zh-CN" sz="2000" dirty="0"/>
              <a:t>称为</a:t>
            </a:r>
            <a:r>
              <a:rPr lang="en-US" altLang="zh-CN" sz="2000" dirty="0"/>
              <a:t>R(U,F)</a:t>
            </a:r>
            <a:r>
              <a:rPr lang="zh-CN" altLang="zh-CN" sz="2000" dirty="0"/>
              <a:t>的一个分解。</a:t>
            </a:r>
          </a:p>
          <a:p>
            <a:r>
              <a:rPr lang="zh-CN" altLang="zh-CN" sz="2000" dirty="0"/>
              <a:t>其中：</a:t>
            </a:r>
            <a:r>
              <a:rPr lang="en-US" altLang="zh-CN" sz="2000" dirty="0"/>
              <a:t>F</a:t>
            </a:r>
            <a:r>
              <a:rPr lang="en-US" altLang="zh-CN" sz="2000" baseline="-25000" dirty="0"/>
              <a:t>i</a:t>
            </a:r>
            <a:r>
              <a:rPr lang="zh-CN" altLang="zh-CN" sz="2000" dirty="0"/>
              <a:t>为</a:t>
            </a:r>
            <a:r>
              <a:rPr lang="en-US" altLang="zh-CN" sz="2000" dirty="0"/>
              <a:t>F</a:t>
            </a:r>
            <a:r>
              <a:rPr lang="zh-CN" altLang="zh-CN" sz="2000" dirty="0"/>
              <a:t>在</a:t>
            </a:r>
            <a:r>
              <a:rPr lang="en-US" altLang="zh-CN" sz="2000" dirty="0" err="1"/>
              <a:t>U</a:t>
            </a:r>
            <a:r>
              <a:rPr lang="en-US" altLang="zh-CN" sz="2000" baseline="-25000" dirty="0" err="1"/>
              <a:t>i</a:t>
            </a:r>
            <a:r>
              <a:rPr lang="zh-CN" altLang="zh-CN" sz="2000" dirty="0"/>
              <a:t>上的投影（</a:t>
            </a:r>
            <a:r>
              <a:rPr lang="en-US" altLang="zh-CN" sz="2000" dirty="0"/>
              <a:t>i=1</a:t>
            </a:r>
            <a:r>
              <a:rPr lang="zh-CN" altLang="zh-CN" sz="2000" dirty="0"/>
              <a:t>，</a:t>
            </a:r>
            <a:r>
              <a:rPr lang="en-US" altLang="zh-CN" sz="2000" dirty="0"/>
              <a:t>2</a:t>
            </a:r>
            <a:r>
              <a:rPr lang="zh-CN" altLang="zh-CN" sz="2000" dirty="0"/>
              <a:t>，</a:t>
            </a:r>
            <a:r>
              <a:rPr lang="en-US" altLang="zh-CN" sz="2000" dirty="0"/>
              <a:t>…</a:t>
            </a:r>
            <a:r>
              <a:rPr lang="zh-CN" altLang="zh-CN" sz="2000" dirty="0"/>
              <a:t>，</a:t>
            </a:r>
            <a:r>
              <a:rPr lang="en-US" altLang="zh-CN" sz="2000" dirty="0"/>
              <a:t>n</a:t>
            </a:r>
            <a:r>
              <a:rPr lang="zh-CN" altLang="zh-CN" sz="2000" dirty="0"/>
              <a:t>）。</a:t>
            </a:r>
          </a:p>
          <a:p>
            <a:r>
              <a:rPr lang="en-US" altLang="zh-CN" sz="2000" dirty="0"/>
              <a:t> </a:t>
            </a:r>
            <a:r>
              <a:rPr lang="zh-CN" altLang="zh-CN" sz="2000" dirty="0" smtClean="0">
                <a:solidFill>
                  <a:srgbClr val="0000FF"/>
                </a:solidFill>
              </a:rPr>
              <a:t>例</a:t>
            </a:r>
            <a:r>
              <a:rPr lang="en-US" altLang="zh-CN" sz="2000" dirty="0">
                <a:solidFill>
                  <a:srgbClr val="0000FF"/>
                </a:solidFill>
              </a:rPr>
              <a:t>6.19  </a:t>
            </a:r>
            <a:r>
              <a:rPr lang="zh-CN" altLang="zh-CN" sz="2000" dirty="0"/>
              <a:t>对于</a:t>
            </a:r>
            <a:r>
              <a:rPr lang="en-US" altLang="zh-CN" sz="2000" dirty="0"/>
              <a:t>R(U,F)</a:t>
            </a:r>
            <a:r>
              <a:rPr lang="zh-CN" altLang="zh-CN" sz="2000" dirty="0"/>
              <a:t>，</a:t>
            </a:r>
            <a:r>
              <a:rPr lang="en-US" altLang="zh-CN" sz="2000" dirty="0"/>
              <a:t>U={A, B, C, D}</a:t>
            </a:r>
            <a:r>
              <a:rPr lang="zh-CN" altLang="zh-CN" sz="2000" dirty="0"/>
              <a:t>，</a:t>
            </a:r>
            <a:r>
              <a:rPr lang="en-US" altLang="zh-CN" sz="2000" dirty="0"/>
              <a:t>F={A</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C</a:t>
            </a:r>
            <a:r>
              <a:rPr lang="zh-CN" altLang="zh-CN" sz="2000" dirty="0"/>
              <a:t>→</a:t>
            </a:r>
            <a:r>
              <a:rPr lang="en-US" altLang="zh-CN" sz="2000" dirty="0"/>
              <a:t>D},</a:t>
            </a:r>
            <a:r>
              <a:rPr lang="zh-CN" altLang="zh-CN" sz="2000" dirty="0"/>
              <a:t>则</a:t>
            </a:r>
            <a:r>
              <a:rPr lang="en-US" altLang="zh-CN" sz="2000" dirty="0">
                <a:latin typeface="Kunstler Script" pitchFamily="66" charset="0"/>
              </a:rPr>
              <a:t>R</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为</a:t>
            </a:r>
            <a:r>
              <a:rPr lang="en-US" altLang="zh-CN" sz="2000" dirty="0"/>
              <a:t>R(U,F)</a:t>
            </a:r>
            <a:r>
              <a:rPr lang="zh-CN" altLang="zh-CN" sz="2000" dirty="0"/>
              <a:t>的一个分解。其中：</a:t>
            </a:r>
          </a:p>
          <a:p>
            <a:pPr marL="444500" indent="0">
              <a:buNone/>
            </a:pPr>
            <a:r>
              <a:rPr lang="en-US" altLang="zh-CN" sz="2000" dirty="0"/>
              <a:t>U</a:t>
            </a:r>
            <a:r>
              <a:rPr lang="en-US" altLang="zh-CN" sz="2000" baseline="-25000" dirty="0"/>
              <a:t>1</a:t>
            </a:r>
            <a:r>
              <a:rPr lang="en-US" altLang="zh-CN" sz="2000" dirty="0"/>
              <a:t>={A,B,C}</a:t>
            </a:r>
            <a:r>
              <a:rPr lang="zh-CN" altLang="zh-CN" sz="2000" dirty="0"/>
              <a:t>，</a:t>
            </a:r>
            <a:r>
              <a:rPr lang="en-US" altLang="zh-CN" sz="2000" dirty="0"/>
              <a:t>F</a:t>
            </a:r>
            <a:r>
              <a:rPr lang="en-US" altLang="zh-CN" sz="2000" baseline="-25000" dirty="0"/>
              <a:t>1</a:t>
            </a:r>
            <a:r>
              <a:rPr lang="en-US" altLang="zh-CN" sz="2000" dirty="0"/>
              <a:t>={A</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C}</a:t>
            </a:r>
            <a:r>
              <a:rPr lang="zh-CN" altLang="zh-CN" sz="2000" dirty="0" smtClean="0"/>
              <a:t>。</a:t>
            </a:r>
            <a:endParaRPr lang="en-US" altLang="zh-CN" sz="2000" dirty="0" smtClean="0"/>
          </a:p>
          <a:p>
            <a:pPr marL="444500" indent="0">
              <a:buNone/>
            </a:pPr>
            <a:r>
              <a:rPr lang="en-US" altLang="zh-CN" sz="2000" dirty="0" smtClean="0"/>
              <a:t>U</a:t>
            </a:r>
            <a:r>
              <a:rPr lang="en-US" altLang="zh-CN" sz="2000" baseline="-25000" dirty="0" smtClean="0"/>
              <a:t>2</a:t>
            </a:r>
            <a:r>
              <a:rPr lang="en-US" altLang="zh-CN" sz="2000" dirty="0" smtClean="0"/>
              <a:t>={</a:t>
            </a:r>
            <a:r>
              <a:rPr lang="en-US" altLang="zh-CN" sz="2000" dirty="0"/>
              <a:t>A,B,D}</a:t>
            </a:r>
            <a:r>
              <a:rPr lang="zh-CN" altLang="zh-CN" sz="2000" dirty="0"/>
              <a:t>，</a:t>
            </a:r>
            <a:r>
              <a:rPr lang="en-US" altLang="zh-CN" sz="2000" dirty="0"/>
              <a:t>F</a:t>
            </a:r>
            <a:r>
              <a:rPr lang="en-US" altLang="zh-CN" sz="2000" baseline="-25000" dirty="0"/>
              <a:t>2</a:t>
            </a:r>
            <a:r>
              <a:rPr lang="en-US" altLang="zh-CN" sz="2000" dirty="0"/>
              <a:t>={A</a:t>
            </a:r>
            <a:r>
              <a:rPr lang="zh-CN" altLang="zh-CN" sz="2000" dirty="0"/>
              <a:t>→</a:t>
            </a:r>
            <a:r>
              <a:rPr lang="en-US" altLang="zh-CN" sz="2000" dirty="0"/>
              <a:t>B</a:t>
            </a:r>
            <a:r>
              <a:rPr lang="zh-CN" altLang="zh-CN" sz="2000" dirty="0"/>
              <a:t>，</a:t>
            </a:r>
            <a:r>
              <a:rPr lang="en-US" altLang="zh-CN" sz="2000" dirty="0"/>
              <a:t>B</a:t>
            </a:r>
            <a:r>
              <a:rPr lang="zh-CN" altLang="zh-CN" sz="2000" dirty="0"/>
              <a:t>→</a:t>
            </a:r>
            <a:r>
              <a:rPr lang="en-US" altLang="zh-CN" sz="2000" dirty="0"/>
              <a:t>D}</a:t>
            </a:r>
            <a:r>
              <a:rPr lang="zh-CN" altLang="zh-CN" sz="2000" dirty="0"/>
              <a:t>。</a:t>
            </a:r>
          </a:p>
        </p:txBody>
      </p:sp>
      <p:graphicFrame>
        <p:nvGraphicFramePr>
          <p:cNvPr id="9" name="对象 8"/>
          <p:cNvGraphicFramePr>
            <a:graphicFrameLocks noChangeAspect="1"/>
          </p:cNvGraphicFramePr>
          <p:nvPr>
            <p:extLst>
              <p:ext uri="{D42A27DB-BD31-4B8C-83A1-F6EECF244321}">
                <p14:modId xmlns:p14="http://schemas.microsoft.com/office/powerpoint/2010/main" val="1798846274"/>
              </p:ext>
            </p:extLst>
          </p:nvPr>
        </p:nvGraphicFramePr>
        <p:xfrm>
          <a:off x="5940152" y="620688"/>
          <a:ext cx="576064" cy="451336"/>
        </p:xfrm>
        <a:graphic>
          <a:graphicData uri="http://schemas.openxmlformats.org/presentationml/2006/ole">
            <mc:AlternateContent xmlns:mc="http://schemas.openxmlformats.org/markup-compatibility/2006">
              <mc:Choice xmlns:v="urn:schemas-microsoft-com:vml" Requires="v">
                <p:oleObj spid="_x0000_s35364" name="公式" r:id="rId3" imgW="330120" imgH="253800" progId="Equation.3">
                  <p:embed/>
                </p:oleObj>
              </mc:Choice>
              <mc:Fallback>
                <p:oleObj name="公式" r:id="rId3" imgW="330120" imgH="253800" progId="Equation.3">
                  <p:embed/>
                  <p:pic>
                    <p:nvPicPr>
                      <p:cNvPr id="0" name="对象 11"/>
                      <p:cNvPicPr>
                        <a:picLocks noChangeAspect="1" noChangeArrowheads="1"/>
                      </p:cNvPicPr>
                      <p:nvPr/>
                    </p:nvPicPr>
                    <p:blipFill>
                      <a:blip r:embed="rId4"/>
                      <a:srcRect/>
                      <a:stretch>
                        <a:fillRect/>
                      </a:stretch>
                    </p:blipFill>
                    <p:spPr bwMode="auto">
                      <a:xfrm>
                        <a:off x="5940152" y="620688"/>
                        <a:ext cx="576064" cy="451336"/>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112538736"/>
              </p:ext>
            </p:extLst>
          </p:nvPr>
        </p:nvGraphicFramePr>
        <p:xfrm>
          <a:off x="3347864" y="1988840"/>
          <a:ext cx="576064" cy="451336"/>
        </p:xfrm>
        <a:graphic>
          <a:graphicData uri="http://schemas.openxmlformats.org/presentationml/2006/ole">
            <mc:AlternateContent xmlns:mc="http://schemas.openxmlformats.org/markup-compatibility/2006">
              <mc:Choice xmlns:v="urn:schemas-microsoft-com:vml" Requires="v">
                <p:oleObj spid="_x0000_s35365" name="公式" r:id="rId5" imgW="330120" imgH="253800" progId="Equation.3">
                  <p:embed/>
                </p:oleObj>
              </mc:Choice>
              <mc:Fallback>
                <p:oleObj name="公式" r:id="rId5" imgW="330120" imgH="253800" progId="Equation.3">
                  <p:embed/>
                  <p:pic>
                    <p:nvPicPr>
                      <p:cNvPr id="0" name=""/>
                      <p:cNvPicPr>
                        <a:picLocks noChangeAspect="1" noChangeArrowheads="1"/>
                      </p:cNvPicPr>
                      <p:nvPr/>
                    </p:nvPicPr>
                    <p:blipFill>
                      <a:blip r:embed="rId6"/>
                      <a:srcRect/>
                      <a:stretch>
                        <a:fillRect/>
                      </a:stretch>
                    </p:blipFill>
                    <p:spPr bwMode="auto">
                      <a:xfrm>
                        <a:off x="3347864" y="1988840"/>
                        <a:ext cx="576064" cy="451336"/>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663691036"/>
              </p:ext>
            </p:extLst>
          </p:nvPr>
        </p:nvGraphicFramePr>
        <p:xfrm>
          <a:off x="5724128" y="1988840"/>
          <a:ext cx="576064" cy="451336"/>
        </p:xfrm>
        <a:graphic>
          <a:graphicData uri="http://schemas.openxmlformats.org/presentationml/2006/ole">
            <mc:AlternateContent xmlns:mc="http://schemas.openxmlformats.org/markup-compatibility/2006">
              <mc:Choice xmlns:v="urn:schemas-microsoft-com:vml" Requires="v">
                <p:oleObj spid="_x0000_s35366" name="公式" r:id="rId7" imgW="330120" imgH="253800" progId="Equation.3">
                  <p:embed/>
                </p:oleObj>
              </mc:Choice>
              <mc:Fallback>
                <p:oleObj name="公式" r:id="rId7" imgW="330120" imgH="253800" progId="Equation.3">
                  <p:embed/>
                  <p:pic>
                    <p:nvPicPr>
                      <p:cNvPr id="0" name=""/>
                      <p:cNvPicPr>
                        <a:picLocks noChangeAspect="1" noChangeArrowheads="1"/>
                      </p:cNvPicPr>
                      <p:nvPr/>
                    </p:nvPicPr>
                    <p:blipFill>
                      <a:blip r:embed="rId6"/>
                      <a:srcRect/>
                      <a:stretch>
                        <a:fillRect/>
                      </a:stretch>
                    </p:blipFill>
                    <p:spPr bwMode="auto">
                      <a:xfrm>
                        <a:off x="5724128" y="1988840"/>
                        <a:ext cx="576064" cy="45133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7214209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61</a:t>
            </a:fld>
            <a:endParaRPr lang="zh-CN" altLang="en-US" dirty="0"/>
          </a:p>
        </p:txBody>
      </p:sp>
      <p:sp>
        <p:nvSpPr>
          <p:cNvPr id="7" name="文本占位符 6"/>
          <p:cNvSpPr>
            <a:spLocks noGrp="1"/>
          </p:cNvSpPr>
          <p:nvPr>
            <p:ph type="body" idx="1"/>
          </p:nvPr>
        </p:nvSpPr>
        <p:spPr>
          <a:xfrm>
            <a:off x="143508" y="548680"/>
            <a:ext cx="8856984" cy="6048672"/>
          </a:xfrm>
        </p:spPr>
        <p:txBody>
          <a:bodyPr>
            <a:normAutofit/>
          </a:bodyPr>
          <a:lstStyle/>
          <a:p>
            <a:r>
              <a:rPr lang="zh-CN" altLang="zh-CN" sz="2000" dirty="0">
                <a:solidFill>
                  <a:srgbClr val="0000FF"/>
                </a:solidFill>
              </a:rPr>
              <a:t>定义</a:t>
            </a:r>
            <a:r>
              <a:rPr lang="en-US" altLang="zh-CN" sz="2000" dirty="0">
                <a:solidFill>
                  <a:srgbClr val="0000FF"/>
                </a:solidFill>
              </a:rPr>
              <a:t>6.20  </a:t>
            </a:r>
            <a:r>
              <a:rPr lang="zh-CN" altLang="zh-CN" sz="2000" dirty="0"/>
              <a:t>假设</a:t>
            </a:r>
            <a:r>
              <a:rPr lang="en-US" altLang="zh-CN" sz="2000" dirty="0">
                <a:latin typeface="Kunstler Script" pitchFamily="66" charset="0"/>
              </a:rPr>
              <a:t>R</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r>
              <a:rPr lang="zh-CN" altLang="zh-CN" sz="2000" dirty="0"/>
              <a:t>是</a:t>
            </a:r>
            <a:r>
              <a:rPr lang="en-US" altLang="zh-CN" sz="2000" dirty="0"/>
              <a:t>R(U,F)</a:t>
            </a:r>
            <a:r>
              <a:rPr lang="zh-CN" altLang="zh-CN" sz="2000" dirty="0"/>
              <a:t>的一个分解，如果</a:t>
            </a: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r>
              <a:rPr lang="zh-CN" altLang="zh-CN" sz="2000" dirty="0"/>
              <a:t>的连接与</a:t>
            </a:r>
            <a:r>
              <a:rPr lang="en-US" altLang="zh-CN" sz="2000" dirty="0"/>
              <a:t>R(U,F)</a:t>
            </a:r>
            <a:r>
              <a:rPr lang="zh-CN" altLang="zh-CN" sz="2000" dirty="0"/>
              <a:t>等价，即：</a:t>
            </a:r>
          </a:p>
          <a:p>
            <a:endParaRPr lang="en-US" altLang="zh-CN" sz="2000" dirty="0" smtClean="0"/>
          </a:p>
          <a:p>
            <a:endParaRPr lang="en-US" altLang="zh-CN" sz="2000" dirty="0"/>
          </a:p>
          <a:p>
            <a:endParaRPr lang="en-US" altLang="zh-CN" sz="2000" dirty="0" smtClean="0"/>
          </a:p>
          <a:p>
            <a:r>
              <a:rPr lang="zh-CN" altLang="zh-CN" sz="2000" dirty="0" smtClean="0"/>
              <a:t>则</a:t>
            </a:r>
            <a:r>
              <a:rPr lang="en-US" altLang="zh-CN" sz="2000" dirty="0" smtClean="0"/>
              <a:t> </a:t>
            </a:r>
            <a:r>
              <a:rPr lang="en-US" altLang="zh-CN" sz="2000" dirty="0" smtClean="0">
                <a:latin typeface="Kunstler Script" pitchFamily="66" charset="0"/>
              </a:rPr>
              <a:t>R   </a:t>
            </a:r>
            <a:r>
              <a:rPr lang="zh-CN" altLang="zh-CN" sz="2000" dirty="0" smtClean="0"/>
              <a:t>称为</a:t>
            </a:r>
            <a:r>
              <a:rPr lang="en-US" altLang="zh-CN" sz="2000" dirty="0"/>
              <a:t>R</a:t>
            </a:r>
            <a:r>
              <a:rPr lang="zh-CN" altLang="zh-CN" sz="2000" dirty="0"/>
              <a:t>的</a:t>
            </a:r>
            <a:r>
              <a:rPr lang="zh-CN" altLang="zh-CN" sz="2000" dirty="0">
                <a:solidFill>
                  <a:srgbClr val="0000FF"/>
                </a:solidFill>
              </a:rPr>
              <a:t>保连接分解</a:t>
            </a:r>
            <a:r>
              <a:rPr lang="zh-CN" altLang="zh-CN" sz="2000" dirty="0" smtClean="0"/>
              <a:t>。</a:t>
            </a:r>
            <a:r>
              <a:rPr lang="en-US" altLang="zh-CN" sz="2000" dirty="0"/>
              <a:t> </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3457934822"/>
              </p:ext>
            </p:extLst>
          </p:nvPr>
        </p:nvGraphicFramePr>
        <p:xfrm>
          <a:off x="2129458" y="1723668"/>
          <a:ext cx="3877354" cy="1080120"/>
        </p:xfrm>
        <a:graphic>
          <a:graphicData uri="http://schemas.openxmlformats.org/presentationml/2006/ole">
            <mc:AlternateContent xmlns:mc="http://schemas.openxmlformats.org/markup-compatibility/2006">
              <mc:Choice xmlns:v="urn:schemas-microsoft-com:vml" Requires="v">
                <p:oleObj spid="_x0000_s36022" name="公式" r:id="rId3" imgW="1333500" imgH="368300" progId="Equation.3">
                  <p:embed/>
                </p:oleObj>
              </mc:Choice>
              <mc:Fallback>
                <p:oleObj name="公式" r:id="rId3" imgW="1333500" imgH="3683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9458" y="1723668"/>
                        <a:ext cx="3877354" cy="1080120"/>
                      </a:xfrm>
                      <a:prstGeom prst="rect">
                        <a:avLst/>
                      </a:prstGeom>
                      <a:noFill/>
                    </p:spPr>
                  </p:pic>
                </p:oleObj>
              </mc:Fallback>
            </mc:AlternateContent>
          </a:graphicData>
        </a:graphic>
      </p:graphicFrame>
      <p:sp>
        <p:nvSpPr>
          <p:cNvPr id="16" name="流程图: 对照 15"/>
          <p:cNvSpPr>
            <a:spLocks noChangeArrowheads="1"/>
          </p:cNvSpPr>
          <p:nvPr/>
        </p:nvSpPr>
        <p:spPr bwMode="auto">
          <a:xfrm rot="5400000">
            <a:off x="4025161" y="2025241"/>
            <a:ext cx="261744" cy="432430"/>
          </a:xfrm>
          <a:prstGeom prst="flowChartCollat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Tree>
    <p:extLst>
      <p:ext uri="{BB962C8B-B14F-4D97-AF65-F5344CB8AC3E}">
        <p14:creationId xmlns:p14="http://schemas.microsoft.com/office/powerpoint/2010/main" val="163739528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62</a:t>
            </a:fld>
            <a:endParaRPr lang="zh-CN" altLang="en-US" dirty="0"/>
          </a:p>
        </p:txBody>
      </p:sp>
      <p:sp>
        <p:nvSpPr>
          <p:cNvPr id="7" name="文本占位符 6"/>
          <p:cNvSpPr>
            <a:spLocks noGrp="1"/>
          </p:cNvSpPr>
          <p:nvPr>
            <p:ph type="body" idx="1"/>
          </p:nvPr>
        </p:nvSpPr>
        <p:spPr>
          <a:xfrm>
            <a:off x="143508" y="548680"/>
            <a:ext cx="8856984" cy="6048672"/>
          </a:xfrm>
        </p:spPr>
        <p:txBody>
          <a:bodyPr>
            <a:normAutofit/>
          </a:bodyPr>
          <a:lstStyle/>
          <a:p>
            <a:r>
              <a:rPr lang="zh-CN" altLang="zh-CN" sz="2000" dirty="0">
                <a:solidFill>
                  <a:srgbClr val="0000FF"/>
                </a:solidFill>
              </a:rPr>
              <a:t>例</a:t>
            </a:r>
            <a:r>
              <a:rPr lang="en-US" altLang="zh-CN" sz="2000" dirty="0">
                <a:solidFill>
                  <a:srgbClr val="0000FF"/>
                </a:solidFill>
              </a:rPr>
              <a:t>6.20  </a:t>
            </a:r>
            <a:r>
              <a:rPr lang="zh-CN" altLang="zh-CN" sz="2000" dirty="0"/>
              <a:t>对于</a:t>
            </a:r>
            <a:r>
              <a:rPr lang="en-US" altLang="zh-CN" sz="2000" dirty="0" err="1"/>
              <a:t>PBook</a:t>
            </a:r>
            <a:r>
              <a:rPr lang="en-US" altLang="zh-CN" sz="2000" dirty="0"/>
              <a:t>(U,F)</a:t>
            </a:r>
            <a:r>
              <a:rPr lang="zh-CN" altLang="zh-CN" sz="2000" dirty="0"/>
              <a:t>，</a:t>
            </a:r>
            <a:r>
              <a:rPr lang="en-US" altLang="zh-CN" sz="2000" dirty="0"/>
              <a:t>U={</a:t>
            </a:r>
            <a:r>
              <a:rPr lang="en-US" altLang="zh-CN" sz="2000" dirty="0" err="1"/>
              <a:t>BNo,PNo,PBoss</a:t>
            </a:r>
            <a:r>
              <a:rPr lang="en-US" altLang="zh-CN" sz="2000" dirty="0"/>
              <a:t>}</a:t>
            </a:r>
            <a:r>
              <a:rPr lang="zh-CN" altLang="zh-CN" sz="2000" dirty="0"/>
              <a:t>，</a:t>
            </a:r>
            <a:r>
              <a:rPr lang="en-US" altLang="zh-CN" sz="2000" dirty="0"/>
              <a:t>F={ </a:t>
            </a:r>
            <a:r>
              <a:rPr lang="en-US" altLang="zh-CN" sz="2000" dirty="0" err="1"/>
              <a:t>BNo</a:t>
            </a:r>
            <a:r>
              <a:rPr lang="zh-CN" altLang="zh-CN" sz="2000" dirty="0"/>
              <a:t>→</a:t>
            </a:r>
            <a:r>
              <a:rPr lang="en-US" altLang="zh-CN" sz="2000" dirty="0" err="1"/>
              <a:t>PNo</a:t>
            </a:r>
            <a:r>
              <a:rPr lang="zh-CN" altLang="zh-CN" sz="2000" dirty="0"/>
              <a:t>，</a:t>
            </a:r>
            <a:r>
              <a:rPr lang="en-US" altLang="zh-CN" sz="2000" dirty="0" err="1"/>
              <a:t>PNo</a:t>
            </a:r>
            <a:r>
              <a:rPr lang="zh-CN" altLang="zh-CN" sz="2000" dirty="0"/>
              <a:t>→</a:t>
            </a:r>
            <a:r>
              <a:rPr lang="en-US" altLang="zh-CN" sz="2000" dirty="0" err="1"/>
              <a:t>PBoss</a:t>
            </a:r>
            <a:r>
              <a:rPr lang="en-US" altLang="zh-CN" sz="2000" dirty="0"/>
              <a:t> }</a:t>
            </a:r>
            <a:r>
              <a:rPr lang="zh-CN" altLang="zh-CN" sz="2000" dirty="0"/>
              <a:t>，</a:t>
            </a:r>
            <a:r>
              <a:rPr lang="en-US" altLang="zh-CN" sz="2000" dirty="0" err="1"/>
              <a:t>PBook</a:t>
            </a:r>
            <a:r>
              <a:rPr lang="zh-CN" altLang="zh-CN" sz="2000" dirty="0"/>
              <a:t>对应的关系如表</a:t>
            </a:r>
            <a:r>
              <a:rPr lang="en-US" altLang="zh-CN" sz="2000" dirty="0"/>
              <a:t>6.2</a:t>
            </a:r>
            <a:r>
              <a:rPr lang="zh-CN" altLang="zh-CN" sz="2000" dirty="0"/>
              <a:t>所示，则如下分解保连接吗？</a:t>
            </a:r>
          </a:p>
          <a:p>
            <a:pPr marL="0" indent="0">
              <a:buNone/>
            </a:pPr>
            <a:r>
              <a:rPr lang="zh-CN" altLang="zh-CN" sz="2000" dirty="0"/>
              <a:t>（</a:t>
            </a:r>
            <a:r>
              <a:rPr lang="en-US" altLang="zh-CN" sz="2000" dirty="0"/>
              <a:t>1</a:t>
            </a:r>
            <a:r>
              <a:rPr lang="zh-CN" altLang="zh-CN" sz="2000" dirty="0"/>
              <a:t>）</a:t>
            </a:r>
            <a:r>
              <a:rPr lang="en-US" altLang="zh-CN" sz="2000" dirty="0">
                <a:latin typeface="Kunstler Script" pitchFamily="66" charset="0"/>
              </a:rPr>
              <a:t>R</a:t>
            </a:r>
            <a:r>
              <a:rPr lang="en-US" altLang="zh-CN" sz="2000" dirty="0"/>
              <a:t> </a:t>
            </a:r>
            <a:r>
              <a:rPr lang="en-US" altLang="zh-CN" sz="2000" baseline="-25000" dirty="0"/>
              <a:t>1</a:t>
            </a:r>
            <a:r>
              <a:rPr lang="en-US" altLang="zh-CN" sz="2000" dirty="0"/>
              <a:t>={B</a:t>
            </a:r>
            <a:r>
              <a:rPr lang="en-US" altLang="zh-CN" sz="2000" baseline="-25000" dirty="0"/>
              <a:t>1</a:t>
            </a:r>
            <a:r>
              <a:rPr lang="en-US" altLang="zh-CN" sz="2000" dirty="0"/>
              <a:t>({</a:t>
            </a:r>
            <a:r>
              <a:rPr lang="en-US" altLang="zh-CN" sz="2000" dirty="0" err="1"/>
              <a:t>BNo</a:t>
            </a:r>
            <a:r>
              <a:rPr lang="en-US" altLang="zh-CN" sz="2000" dirty="0"/>
              <a:t>},</a:t>
            </a:r>
            <a:r>
              <a:rPr lang="en-US" altLang="zh-CN" sz="2000" dirty="0">
                <a:sym typeface="Symbol"/>
              </a:rPr>
              <a:t></a:t>
            </a:r>
            <a:r>
              <a:rPr lang="en-US" altLang="zh-CN" sz="2000" dirty="0"/>
              <a:t>)</a:t>
            </a:r>
            <a:r>
              <a:rPr lang="zh-CN" altLang="zh-CN" sz="2000" dirty="0"/>
              <a:t>，</a:t>
            </a:r>
            <a:r>
              <a:rPr lang="en-US" altLang="zh-CN" sz="2000" dirty="0"/>
              <a:t>P</a:t>
            </a:r>
            <a:r>
              <a:rPr lang="en-US" altLang="zh-CN" sz="2000" baseline="-25000" dirty="0"/>
              <a:t>1</a:t>
            </a:r>
            <a:r>
              <a:rPr lang="en-US" altLang="zh-CN" sz="2000" dirty="0"/>
              <a:t>({</a:t>
            </a:r>
            <a:r>
              <a:rPr lang="en-US" altLang="zh-CN" sz="2000" dirty="0" err="1"/>
              <a:t>PNo</a:t>
            </a:r>
            <a:r>
              <a:rPr lang="en-US" altLang="zh-CN" sz="2000" dirty="0"/>
              <a:t>},</a:t>
            </a:r>
            <a:r>
              <a:rPr lang="en-US" altLang="zh-CN" sz="2000" dirty="0">
                <a:sym typeface="Symbol"/>
              </a:rPr>
              <a:t></a:t>
            </a:r>
            <a:r>
              <a:rPr lang="en-US" altLang="zh-CN" sz="2000" dirty="0"/>
              <a:t>)</a:t>
            </a:r>
            <a:r>
              <a:rPr lang="zh-CN" altLang="zh-CN" sz="2000" dirty="0"/>
              <a:t>，</a:t>
            </a:r>
            <a:r>
              <a:rPr lang="en-US" altLang="zh-CN" sz="2000" dirty="0"/>
              <a:t>S</a:t>
            </a:r>
            <a:r>
              <a:rPr lang="en-US" altLang="zh-CN" sz="2000" baseline="-25000" dirty="0"/>
              <a:t>1</a:t>
            </a:r>
            <a:r>
              <a:rPr lang="en-US" altLang="zh-CN" sz="2000" dirty="0"/>
              <a:t>(</a:t>
            </a:r>
            <a:r>
              <a:rPr lang="en-US" altLang="zh-CN" sz="2000" dirty="0" err="1"/>
              <a:t>PBoss</a:t>
            </a:r>
            <a:r>
              <a:rPr lang="en-US" altLang="zh-CN" sz="2000" dirty="0"/>
              <a:t>,</a:t>
            </a:r>
            <a:r>
              <a:rPr lang="en-US" altLang="zh-CN" sz="2000" dirty="0">
                <a:sym typeface="Symbol"/>
              </a:rPr>
              <a:t></a:t>
            </a:r>
            <a:r>
              <a:rPr lang="en-US" altLang="zh-CN" sz="2000" dirty="0"/>
              <a:t>)} </a:t>
            </a:r>
            <a:endParaRPr lang="zh-CN" altLang="zh-CN" sz="2000" dirty="0"/>
          </a:p>
          <a:p>
            <a:pPr marL="0" indent="0">
              <a:buNone/>
            </a:pPr>
            <a:r>
              <a:rPr lang="zh-CN" altLang="zh-CN" sz="2000" dirty="0"/>
              <a:t>（</a:t>
            </a:r>
            <a:r>
              <a:rPr lang="en-US" altLang="zh-CN" sz="2000" dirty="0"/>
              <a:t>2</a:t>
            </a:r>
            <a:r>
              <a:rPr lang="zh-CN" altLang="zh-CN" sz="2000" dirty="0"/>
              <a:t>）</a:t>
            </a:r>
            <a:r>
              <a:rPr lang="en-US" altLang="zh-CN" sz="2000" dirty="0">
                <a:latin typeface="Kunstler Script" pitchFamily="66" charset="0"/>
              </a:rPr>
              <a:t>R </a:t>
            </a:r>
            <a:r>
              <a:rPr lang="en-US" altLang="zh-CN" sz="2000" baseline="-25000" dirty="0"/>
              <a:t>2</a:t>
            </a:r>
            <a:r>
              <a:rPr lang="en-US" altLang="zh-CN" sz="2000" dirty="0"/>
              <a:t>={B</a:t>
            </a:r>
            <a:r>
              <a:rPr lang="en-US" altLang="zh-CN" sz="2000" baseline="-25000" dirty="0"/>
              <a:t>2</a:t>
            </a:r>
            <a:r>
              <a:rPr lang="en-US" altLang="zh-CN" sz="2000" dirty="0"/>
              <a:t>({</a:t>
            </a:r>
            <a:r>
              <a:rPr lang="en-US" altLang="zh-CN" sz="2000" dirty="0" err="1"/>
              <a:t>BNo,PNo</a:t>
            </a:r>
            <a:r>
              <a:rPr lang="en-US" altLang="zh-CN" sz="2000" dirty="0"/>
              <a:t>},{</a:t>
            </a:r>
            <a:r>
              <a:rPr lang="en-US" altLang="zh-CN" sz="2000" dirty="0" err="1"/>
              <a:t>BNo</a:t>
            </a:r>
            <a:r>
              <a:rPr lang="zh-CN" altLang="zh-CN" sz="2000" dirty="0"/>
              <a:t>→</a:t>
            </a:r>
            <a:r>
              <a:rPr lang="en-US" altLang="zh-CN" sz="2000" dirty="0" err="1"/>
              <a:t>PNo</a:t>
            </a:r>
            <a:r>
              <a:rPr lang="en-US" altLang="zh-CN" sz="2000" dirty="0"/>
              <a:t>})</a:t>
            </a:r>
            <a:r>
              <a:rPr lang="zh-CN" altLang="zh-CN" sz="2000" dirty="0"/>
              <a:t>，</a:t>
            </a:r>
            <a:r>
              <a:rPr lang="en-US" altLang="zh-CN" sz="2000" dirty="0"/>
              <a:t>P</a:t>
            </a:r>
            <a:r>
              <a:rPr lang="en-US" altLang="zh-CN" sz="2000" baseline="-25000" dirty="0"/>
              <a:t>2</a:t>
            </a:r>
            <a:r>
              <a:rPr lang="en-US" altLang="zh-CN" sz="2000" dirty="0"/>
              <a:t>({</a:t>
            </a:r>
            <a:r>
              <a:rPr lang="en-US" altLang="zh-CN" sz="2000" dirty="0" err="1"/>
              <a:t>PNo,PBoss</a:t>
            </a:r>
            <a:r>
              <a:rPr lang="en-US" altLang="zh-CN" sz="2000" dirty="0"/>
              <a:t>},{</a:t>
            </a:r>
            <a:r>
              <a:rPr lang="en-US" altLang="zh-CN" sz="2000" dirty="0" err="1"/>
              <a:t>PNo</a:t>
            </a:r>
            <a:r>
              <a:rPr lang="zh-CN" altLang="zh-CN" sz="2000" dirty="0"/>
              <a:t>→</a:t>
            </a:r>
            <a:r>
              <a:rPr lang="en-US" altLang="zh-CN" sz="2000" dirty="0" err="1"/>
              <a:t>PBoss</a:t>
            </a:r>
            <a:r>
              <a:rPr lang="en-US" altLang="zh-CN" sz="2000" dirty="0"/>
              <a:t>})}</a:t>
            </a:r>
            <a:endParaRPr lang="zh-CN" altLang="zh-CN" sz="2000" dirty="0"/>
          </a:p>
          <a:p>
            <a:pPr marL="0" indent="0">
              <a:buNone/>
            </a:pPr>
            <a:r>
              <a:rPr lang="zh-CN" altLang="zh-CN" sz="2000" dirty="0"/>
              <a:t>（</a:t>
            </a:r>
            <a:r>
              <a:rPr lang="en-US" altLang="zh-CN" sz="2000" dirty="0"/>
              <a:t>3</a:t>
            </a:r>
            <a:r>
              <a:rPr lang="zh-CN" altLang="zh-CN" sz="2000" dirty="0"/>
              <a:t>）</a:t>
            </a:r>
            <a:r>
              <a:rPr lang="en-US" altLang="zh-CN" sz="2000" dirty="0">
                <a:latin typeface="Kunstler Script" pitchFamily="66" charset="0"/>
              </a:rPr>
              <a:t>R</a:t>
            </a:r>
            <a:r>
              <a:rPr lang="en-US" altLang="zh-CN" sz="2000" dirty="0"/>
              <a:t> </a:t>
            </a:r>
            <a:r>
              <a:rPr lang="en-US" altLang="zh-CN" sz="2000" baseline="-25000" dirty="0"/>
              <a:t>3</a:t>
            </a:r>
            <a:r>
              <a:rPr lang="en-US" altLang="zh-CN" sz="2000" dirty="0"/>
              <a:t>={B</a:t>
            </a:r>
            <a:r>
              <a:rPr lang="en-US" altLang="zh-CN" sz="2000" baseline="-25000" dirty="0"/>
              <a:t>3</a:t>
            </a:r>
            <a:r>
              <a:rPr lang="en-US" altLang="zh-CN" sz="2000" dirty="0"/>
              <a:t>({</a:t>
            </a:r>
            <a:r>
              <a:rPr lang="en-US" altLang="zh-CN" sz="2000" dirty="0" err="1"/>
              <a:t>BNo,PNo</a:t>
            </a:r>
            <a:r>
              <a:rPr lang="en-US" altLang="zh-CN" sz="2000" dirty="0"/>
              <a:t>},{</a:t>
            </a:r>
            <a:r>
              <a:rPr lang="en-US" altLang="zh-CN" sz="2000" dirty="0" err="1"/>
              <a:t>BNo</a:t>
            </a:r>
            <a:r>
              <a:rPr lang="zh-CN" altLang="zh-CN" sz="2000" dirty="0"/>
              <a:t>→</a:t>
            </a:r>
            <a:r>
              <a:rPr lang="en-US" altLang="zh-CN" sz="2000" dirty="0" err="1"/>
              <a:t>PNo</a:t>
            </a:r>
            <a:r>
              <a:rPr lang="en-US" altLang="zh-CN" sz="2000" dirty="0"/>
              <a:t>})</a:t>
            </a:r>
            <a:r>
              <a:rPr lang="zh-CN" altLang="zh-CN" sz="2000" dirty="0"/>
              <a:t>，</a:t>
            </a:r>
            <a:r>
              <a:rPr lang="en-US" altLang="zh-CN" sz="2000" dirty="0"/>
              <a:t>P</a:t>
            </a:r>
            <a:r>
              <a:rPr lang="en-US" altLang="zh-CN" sz="2000" baseline="-25000" dirty="0"/>
              <a:t>3</a:t>
            </a:r>
            <a:r>
              <a:rPr lang="en-US" altLang="zh-CN" sz="2000" dirty="0"/>
              <a:t>({</a:t>
            </a:r>
            <a:r>
              <a:rPr lang="en-US" altLang="zh-CN" sz="2000" dirty="0" err="1"/>
              <a:t>BNo,PBoss</a:t>
            </a:r>
            <a:r>
              <a:rPr lang="en-US" altLang="zh-CN" sz="2000" dirty="0"/>
              <a:t>},{</a:t>
            </a:r>
            <a:r>
              <a:rPr lang="en-US" altLang="zh-CN" sz="2000" dirty="0" err="1"/>
              <a:t>BNo</a:t>
            </a:r>
            <a:r>
              <a:rPr lang="zh-CN" altLang="zh-CN" sz="2000" dirty="0"/>
              <a:t>→</a:t>
            </a:r>
            <a:r>
              <a:rPr lang="en-US" altLang="zh-CN" sz="2000" dirty="0" err="1"/>
              <a:t>PBoss</a:t>
            </a:r>
            <a:r>
              <a:rPr lang="en-US" altLang="zh-CN" sz="2000" dirty="0"/>
              <a:t>})}</a:t>
            </a:r>
            <a:endParaRPr lang="zh-CN" altLang="zh-CN" sz="2000" dirty="0"/>
          </a:p>
          <a:p>
            <a:pPr marL="1347788" indent="-1347788">
              <a:buNone/>
            </a:pPr>
            <a:r>
              <a:rPr lang="zh-CN" altLang="zh-CN" sz="2000" dirty="0"/>
              <a:t>（</a:t>
            </a:r>
            <a:r>
              <a:rPr lang="en-US" altLang="zh-CN" sz="2000" dirty="0"/>
              <a:t>4</a:t>
            </a:r>
            <a:r>
              <a:rPr lang="zh-CN" altLang="zh-CN" sz="2000" dirty="0"/>
              <a:t>）</a:t>
            </a:r>
            <a:r>
              <a:rPr lang="en-US" altLang="zh-CN" sz="2000" dirty="0">
                <a:latin typeface="Kunstler Script" pitchFamily="66" charset="0"/>
              </a:rPr>
              <a:t>R</a:t>
            </a:r>
            <a:r>
              <a:rPr lang="en-US" altLang="zh-CN" sz="2000" dirty="0"/>
              <a:t> </a:t>
            </a:r>
            <a:r>
              <a:rPr lang="en-US" altLang="zh-CN" sz="2000" baseline="-25000" dirty="0"/>
              <a:t>4</a:t>
            </a:r>
            <a:r>
              <a:rPr lang="en-US" altLang="zh-CN" sz="2000" dirty="0"/>
              <a:t>={B</a:t>
            </a:r>
            <a:r>
              <a:rPr lang="en-US" altLang="zh-CN" sz="2000" baseline="-25000" dirty="0"/>
              <a:t>4</a:t>
            </a:r>
            <a:r>
              <a:rPr lang="en-US" altLang="zh-CN" sz="2000" dirty="0"/>
              <a:t>({</a:t>
            </a:r>
            <a:r>
              <a:rPr lang="en-US" altLang="zh-CN" sz="2000" dirty="0" err="1"/>
              <a:t>BNo,PBoss</a:t>
            </a:r>
            <a:r>
              <a:rPr lang="en-US" altLang="zh-CN" sz="2000" dirty="0"/>
              <a:t>},{</a:t>
            </a:r>
            <a:r>
              <a:rPr lang="en-US" altLang="zh-CN" sz="2000" dirty="0" err="1"/>
              <a:t>BNo</a:t>
            </a:r>
            <a:r>
              <a:rPr lang="zh-CN" altLang="zh-CN" sz="2000" dirty="0"/>
              <a:t>→</a:t>
            </a:r>
            <a:r>
              <a:rPr lang="en-US" altLang="zh-CN" sz="2000" dirty="0" err="1"/>
              <a:t>PBoss</a:t>
            </a:r>
            <a:r>
              <a:rPr lang="en-US" altLang="zh-CN" sz="2000" dirty="0"/>
              <a:t>})</a:t>
            </a:r>
            <a:r>
              <a:rPr lang="zh-CN" altLang="zh-CN" sz="2000" dirty="0"/>
              <a:t>，</a:t>
            </a:r>
            <a:r>
              <a:rPr lang="en-US" altLang="zh-CN" sz="2000" dirty="0"/>
              <a:t>P</a:t>
            </a:r>
            <a:r>
              <a:rPr lang="en-US" altLang="zh-CN" sz="2000" baseline="-25000" dirty="0"/>
              <a:t>4</a:t>
            </a:r>
            <a:r>
              <a:rPr lang="en-US" altLang="zh-CN" sz="2000" dirty="0"/>
              <a:t>({</a:t>
            </a:r>
            <a:r>
              <a:rPr lang="en-US" altLang="zh-CN" sz="2000" dirty="0" err="1"/>
              <a:t>PNo,PBoss</a:t>
            </a:r>
            <a:r>
              <a:rPr lang="en-US" altLang="zh-CN" sz="2000" dirty="0"/>
              <a:t>},{ </a:t>
            </a:r>
            <a:r>
              <a:rPr lang="en-US" altLang="zh-CN" sz="2000" dirty="0" err="1"/>
              <a:t>PNo</a:t>
            </a:r>
            <a:r>
              <a:rPr lang="zh-CN" altLang="zh-CN" sz="2000" dirty="0"/>
              <a:t>→</a:t>
            </a:r>
            <a:r>
              <a:rPr lang="en-US" altLang="zh-CN" sz="2000" dirty="0" err="1"/>
              <a:t>PBoss</a:t>
            </a:r>
            <a:r>
              <a:rPr lang="en-US" altLang="zh-CN" sz="2000" dirty="0"/>
              <a:t> </a:t>
            </a:r>
            <a:r>
              <a:rPr lang="en-US" altLang="zh-CN" sz="2000" dirty="0" smtClean="0"/>
              <a:t>})}</a:t>
            </a:r>
            <a:r>
              <a:rPr lang="en-US" altLang="zh-CN" sz="2000" dirty="0"/>
              <a:t> </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6035379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63</a:t>
            </a:fld>
            <a:endParaRPr lang="zh-CN" altLang="en-US" dirty="0"/>
          </a:p>
        </p:txBody>
      </p:sp>
      <p:sp>
        <p:nvSpPr>
          <p:cNvPr id="7" name="文本占位符 6"/>
          <p:cNvSpPr>
            <a:spLocks noGrp="1"/>
          </p:cNvSpPr>
          <p:nvPr>
            <p:ph type="body" idx="1"/>
          </p:nvPr>
        </p:nvSpPr>
        <p:spPr>
          <a:xfrm>
            <a:off x="143508" y="764704"/>
            <a:ext cx="8856984" cy="576064"/>
          </a:xfrm>
        </p:spPr>
        <p:txBody>
          <a:bodyPr>
            <a:normAutofit/>
          </a:bodyPr>
          <a:lstStyle/>
          <a:p>
            <a:r>
              <a:rPr lang="zh-CN" altLang="zh-CN" sz="2000" dirty="0"/>
              <a:t>表</a:t>
            </a:r>
            <a:r>
              <a:rPr lang="en-US" altLang="zh-CN" sz="2000" dirty="0"/>
              <a:t>6.2  </a:t>
            </a:r>
            <a:r>
              <a:rPr lang="en-US" altLang="zh-CN" sz="2000" dirty="0" err="1"/>
              <a:t>PBook</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4169608423"/>
              </p:ext>
            </p:extLst>
          </p:nvPr>
        </p:nvGraphicFramePr>
        <p:xfrm>
          <a:off x="179512" y="1484784"/>
          <a:ext cx="8712968" cy="4104457"/>
        </p:xfrm>
        <a:graphic>
          <a:graphicData uri="http://schemas.openxmlformats.org/drawingml/2006/table">
            <a:tbl>
              <a:tblPr firstRow="1" firstCol="1" bandRow="1" bandCol="1">
                <a:tableStyleId>{5C22544A-7EE6-4342-B048-85BDC9FD1C3A}</a:tableStyleId>
              </a:tblPr>
              <a:tblGrid>
                <a:gridCol w="3456384"/>
                <a:gridCol w="2448272"/>
                <a:gridCol w="2808312"/>
              </a:tblGrid>
              <a:tr h="586351">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书号BNo</a:t>
                      </a: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社号PNo</a:t>
                      </a: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社长Pboss（可以重名）</a:t>
                      </a:r>
                    </a:p>
                  </a:txBody>
                  <a:tcPr marL="17780" marR="17780" marT="0" marB="0" anchor="ctr"/>
                </a:tc>
              </a:tr>
              <a:tr h="58635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ISBN978-7-04-040664-1</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ISBN978-7-04</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刘军</a:t>
                      </a:r>
                    </a:p>
                  </a:txBody>
                  <a:tcPr marL="17780" marR="17780" marT="0" marB="0" anchor="ctr"/>
                </a:tc>
              </a:tr>
              <a:tr h="58635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ISBN978-7-302-33894-9</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ISBN978-7-302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刘军</a:t>
                      </a:r>
                    </a:p>
                  </a:txBody>
                  <a:tcPr marL="17780" marR="17780" marT="0" marB="0" anchor="ctr"/>
                </a:tc>
              </a:tr>
              <a:tr h="58635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ISBN978-7-5612-2591-2</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吴广</a:t>
                      </a:r>
                    </a:p>
                  </a:txBody>
                  <a:tcPr marL="17780" marR="17780" marT="0" marB="0" anchor="ctr"/>
                </a:tc>
              </a:tr>
              <a:tr h="58635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ISBN978-7-5612-2123-1</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吴广</a:t>
                      </a:r>
                    </a:p>
                  </a:txBody>
                  <a:tcPr marL="17780" marR="17780" marT="0" marB="0" anchor="ctr"/>
                </a:tc>
              </a:tr>
              <a:tr h="58635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ISBN978-7-5178-0167-2</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白亮</a:t>
                      </a:r>
                    </a:p>
                  </a:txBody>
                  <a:tcPr marL="17780" marR="17780" marT="0" marB="0" anchor="ctr"/>
                </a:tc>
              </a:tr>
              <a:tr h="58635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ISBN978-7-81140-582-8</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白亮</a:t>
                      </a:r>
                    </a:p>
                  </a:txBody>
                  <a:tcPr marL="17780" marR="17780" marT="0" marB="0" anchor="ctr"/>
                </a:tc>
              </a:tr>
            </a:tbl>
          </a:graphicData>
        </a:graphic>
      </p:graphicFrame>
    </p:spTree>
    <p:extLst>
      <p:ext uri="{BB962C8B-B14F-4D97-AF65-F5344CB8AC3E}">
        <p14:creationId xmlns:p14="http://schemas.microsoft.com/office/powerpoint/2010/main" val="203986464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64</a:t>
            </a:fld>
            <a:endParaRPr lang="zh-CN" altLang="en-US" dirty="0"/>
          </a:p>
        </p:txBody>
      </p:sp>
      <p:sp>
        <p:nvSpPr>
          <p:cNvPr id="7" name="文本占位符 6"/>
          <p:cNvSpPr>
            <a:spLocks noGrp="1"/>
          </p:cNvSpPr>
          <p:nvPr>
            <p:ph type="body" idx="1"/>
          </p:nvPr>
        </p:nvSpPr>
        <p:spPr>
          <a:xfrm>
            <a:off x="143508" y="692696"/>
            <a:ext cx="8856984" cy="5904656"/>
          </a:xfrm>
        </p:spPr>
        <p:txBody>
          <a:bodyPr>
            <a:normAutofit/>
          </a:bodyPr>
          <a:lstStyle/>
          <a:p>
            <a:r>
              <a:rPr lang="zh-CN" altLang="zh-CN" sz="2000" dirty="0"/>
              <a:t>根据</a:t>
            </a:r>
            <a:r>
              <a:rPr lang="en-US" altLang="zh-CN" sz="2000" dirty="0"/>
              <a:t>F</a:t>
            </a:r>
            <a:r>
              <a:rPr lang="zh-CN" altLang="zh-CN" sz="2000" dirty="0"/>
              <a:t>可知，</a:t>
            </a:r>
            <a:r>
              <a:rPr lang="en-US" altLang="zh-CN" sz="2000" dirty="0" err="1"/>
              <a:t>PBook</a:t>
            </a:r>
            <a:r>
              <a:rPr lang="en-US" altLang="zh-CN" sz="2000" dirty="0"/>
              <a:t> (U,F) 2NF</a:t>
            </a:r>
            <a:r>
              <a:rPr lang="zh-CN" altLang="zh-CN" sz="2000" dirty="0"/>
              <a:t>。</a:t>
            </a:r>
          </a:p>
          <a:p>
            <a:pPr marL="0" indent="0">
              <a:buNone/>
            </a:pPr>
            <a:r>
              <a:rPr lang="zh-CN" altLang="zh-CN" sz="2000" dirty="0"/>
              <a:t>（</a:t>
            </a:r>
            <a:r>
              <a:rPr lang="en-US" altLang="zh-CN" sz="2000" dirty="0"/>
              <a:t>1</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1</a:t>
            </a:r>
            <a:r>
              <a:rPr lang="en-US" altLang="zh-CN" sz="2000" dirty="0">
                <a:solidFill>
                  <a:srgbClr val="0000FF"/>
                </a:solidFill>
              </a:rPr>
              <a:t> ={B</a:t>
            </a:r>
            <a:r>
              <a:rPr lang="en-US" altLang="zh-CN" sz="2000" baseline="-25000" dirty="0">
                <a:solidFill>
                  <a:srgbClr val="0000FF"/>
                </a:solidFill>
              </a:rPr>
              <a:t>1</a:t>
            </a:r>
            <a:r>
              <a:rPr lang="en-US" altLang="zh-CN" sz="2000" dirty="0">
                <a:solidFill>
                  <a:srgbClr val="0000FF"/>
                </a:solidFill>
              </a:rPr>
              <a:t>,P</a:t>
            </a:r>
            <a:r>
              <a:rPr lang="en-US" altLang="zh-CN" sz="2000" baseline="-25000" dirty="0">
                <a:solidFill>
                  <a:srgbClr val="0000FF"/>
                </a:solidFill>
              </a:rPr>
              <a:t>1</a:t>
            </a:r>
            <a:r>
              <a:rPr lang="en-US" altLang="zh-CN" sz="2000" dirty="0">
                <a:solidFill>
                  <a:srgbClr val="0000FF"/>
                </a:solidFill>
              </a:rPr>
              <a:t>,S</a:t>
            </a:r>
            <a:r>
              <a:rPr lang="en-US" altLang="zh-CN" sz="2000" baseline="-25000" dirty="0">
                <a:solidFill>
                  <a:srgbClr val="0000FF"/>
                </a:solidFill>
              </a:rPr>
              <a:t>1</a:t>
            </a:r>
            <a:r>
              <a:rPr lang="en-US" altLang="zh-CN" sz="2000" dirty="0">
                <a:solidFill>
                  <a:srgbClr val="0000FF"/>
                </a:solidFill>
              </a:rPr>
              <a:t>}</a:t>
            </a:r>
            <a:r>
              <a:rPr lang="zh-CN" altLang="zh-CN" sz="2000" dirty="0">
                <a:solidFill>
                  <a:srgbClr val="0000FF"/>
                </a:solidFill>
              </a:rPr>
              <a:t>不保连接</a:t>
            </a:r>
            <a:r>
              <a:rPr lang="zh-CN" altLang="zh-CN" sz="2000" dirty="0"/>
              <a:t>。</a:t>
            </a:r>
          </a:p>
          <a:p>
            <a:pPr marL="625475" indent="0">
              <a:buNone/>
            </a:pPr>
            <a:r>
              <a:rPr lang="zh-CN" altLang="zh-CN" sz="2000" dirty="0"/>
              <a:t>因为：</a:t>
            </a:r>
            <a:r>
              <a:rPr lang="en-US" altLang="zh-CN" sz="2000" dirty="0"/>
              <a:t>B</a:t>
            </a:r>
            <a:r>
              <a:rPr lang="en-US" altLang="zh-CN" sz="2000" baseline="-25000" dirty="0"/>
              <a:t>1</a:t>
            </a:r>
            <a:r>
              <a:rPr lang="en-US" altLang="zh-CN" sz="2000" dirty="0"/>
              <a:t>,P</a:t>
            </a:r>
            <a:r>
              <a:rPr lang="en-US" altLang="zh-CN" sz="2000" baseline="-25000" dirty="0"/>
              <a:t>1</a:t>
            </a:r>
            <a:r>
              <a:rPr lang="en-US" altLang="zh-CN" sz="2000" dirty="0"/>
              <a:t>,S</a:t>
            </a:r>
            <a:r>
              <a:rPr lang="en-US" altLang="zh-CN" sz="2000" baseline="-25000" dirty="0"/>
              <a:t>1</a:t>
            </a:r>
            <a:r>
              <a:rPr lang="zh-CN" altLang="zh-CN" sz="2000" dirty="0"/>
              <a:t>仅包含书号、社号和社长自身的基本信息，已经丢失了所有的函数依赖关系，所以</a:t>
            </a:r>
            <a:r>
              <a:rPr lang="en-US" altLang="zh-CN" sz="2000" dirty="0" err="1"/>
              <a:t>PBook</a:t>
            </a:r>
            <a:r>
              <a:rPr lang="zh-CN" altLang="zh-CN" sz="2000" dirty="0"/>
              <a:t>已经无法通过</a:t>
            </a:r>
            <a:r>
              <a:rPr lang="en-US" altLang="zh-CN" sz="2000" dirty="0"/>
              <a:t>B</a:t>
            </a:r>
            <a:r>
              <a:rPr lang="en-US" altLang="zh-CN" sz="2000" baseline="-25000" dirty="0"/>
              <a:t>1</a:t>
            </a:r>
            <a:r>
              <a:rPr lang="en-US" altLang="zh-CN" sz="2000" dirty="0"/>
              <a:t>,P</a:t>
            </a:r>
            <a:r>
              <a:rPr lang="en-US" altLang="zh-CN" sz="2000" baseline="-25000" dirty="0"/>
              <a:t>1</a:t>
            </a:r>
            <a:r>
              <a:rPr lang="en-US" altLang="zh-CN" sz="2000" dirty="0"/>
              <a:t>,S</a:t>
            </a:r>
            <a:r>
              <a:rPr lang="en-US" altLang="zh-CN" sz="2000" baseline="-25000" dirty="0"/>
              <a:t>1</a:t>
            </a:r>
            <a:r>
              <a:rPr lang="zh-CN" altLang="zh-CN" sz="2000" dirty="0"/>
              <a:t>的连接进行恢复。</a:t>
            </a:r>
          </a:p>
          <a:p>
            <a:pPr marL="625475" indent="0">
              <a:buNone/>
            </a:pPr>
            <a:r>
              <a:rPr lang="zh-CN" altLang="zh-CN" sz="2000" dirty="0"/>
              <a:t>如果使用笛卡儿积，则生成</a:t>
            </a:r>
            <a:r>
              <a:rPr lang="en-US" altLang="zh-CN" sz="2000" dirty="0"/>
              <a:t> 6*4*3=72</a:t>
            </a:r>
            <a:r>
              <a:rPr lang="zh-CN" altLang="zh-CN" sz="2000" dirty="0"/>
              <a:t>个元组的新关系，与</a:t>
            </a:r>
            <a:r>
              <a:rPr lang="en-US" altLang="zh-CN" sz="2000" dirty="0" err="1"/>
              <a:t>PBook</a:t>
            </a:r>
            <a:r>
              <a:rPr lang="zh-CN" altLang="zh-CN" sz="2000" dirty="0"/>
              <a:t>不符。</a:t>
            </a:r>
          </a:p>
          <a:p>
            <a:pPr marL="0" indent="0">
              <a:buNone/>
            </a:pPr>
            <a:r>
              <a:rPr lang="zh-CN" altLang="zh-CN" sz="2000" dirty="0"/>
              <a:t>（</a:t>
            </a:r>
            <a:r>
              <a:rPr lang="en-US" altLang="zh-CN" sz="2000" dirty="0"/>
              <a:t>2</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2</a:t>
            </a:r>
            <a:r>
              <a:rPr lang="en-US" altLang="zh-CN" sz="2000" dirty="0">
                <a:solidFill>
                  <a:srgbClr val="0000FF"/>
                </a:solidFill>
              </a:rPr>
              <a:t> ={B</a:t>
            </a:r>
            <a:r>
              <a:rPr lang="en-US" altLang="zh-CN" sz="2000" baseline="-25000" dirty="0">
                <a:solidFill>
                  <a:srgbClr val="0000FF"/>
                </a:solidFill>
              </a:rPr>
              <a:t>2</a:t>
            </a:r>
            <a:r>
              <a:rPr lang="en-US" altLang="zh-CN" sz="2000" dirty="0">
                <a:solidFill>
                  <a:srgbClr val="0000FF"/>
                </a:solidFill>
              </a:rPr>
              <a:t>,P</a:t>
            </a:r>
            <a:r>
              <a:rPr lang="en-US" altLang="zh-CN" sz="2000" baseline="-25000" dirty="0">
                <a:solidFill>
                  <a:srgbClr val="0000FF"/>
                </a:solidFill>
              </a:rPr>
              <a:t>2</a:t>
            </a:r>
            <a:r>
              <a:rPr lang="en-US" altLang="zh-CN" sz="2000" dirty="0">
                <a:solidFill>
                  <a:srgbClr val="0000FF"/>
                </a:solidFill>
              </a:rPr>
              <a:t>}</a:t>
            </a:r>
            <a:r>
              <a:rPr lang="zh-CN" altLang="zh-CN" sz="2000" dirty="0">
                <a:solidFill>
                  <a:srgbClr val="0000FF"/>
                </a:solidFill>
              </a:rPr>
              <a:t>保连接</a:t>
            </a:r>
            <a:r>
              <a:rPr lang="zh-CN" altLang="zh-CN" sz="2000" dirty="0"/>
              <a:t>。</a:t>
            </a:r>
          </a:p>
          <a:p>
            <a:pPr marL="625475" indent="0">
              <a:buNone/>
            </a:pPr>
            <a:r>
              <a:rPr lang="zh-CN" altLang="zh-CN" sz="2000" dirty="0"/>
              <a:t>因为：</a:t>
            </a:r>
            <a:r>
              <a:rPr lang="en-US" altLang="zh-CN" sz="2000" dirty="0"/>
              <a:t>B</a:t>
            </a:r>
            <a:r>
              <a:rPr lang="en-US" altLang="zh-CN" sz="2000" baseline="-25000" dirty="0"/>
              <a:t>2</a:t>
            </a:r>
            <a:r>
              <a:rPr lang="en-US" altLang="zh-CN" sz="2000" dirty="0"/>
              <a:t>,P</a:t>
            </a:r>
            <a:r>
              <a:rPr lang="en-US" altLang="zh-CN" sz="2000" baseline="-25000" dirty="0"/>
              <a:t>2</a:t>
            </a:r>
            <a:r>
              <a:rPr lang="zh-CN" altLang="zh-CN" sz="2000" dirty="0"/>
              <a:t>对应的关系</a:t>
            </a:r>
            <a:r>
              <a:rPr lang="zh-CN" altLang="zh-CN" sz="2000" dirty="0" smtClean="0"/>
              <a:t>如</a:t>
            </a:r>
            <a:r>
              <a:rPr lang="zh-CN" altLang="en-US" sz="2000" dirty="0"/>
              <a:t>表</a:t>
            </a:r>
            <a:r>
              <a:rPr lang="en-US" altLang="zh-CN" sz="2000" dirty="0" smtClean="0"/>
              <a:t>6.3</a:t>
            </a:r>
            <a:r>
              <a:rPr lang="zh-CN" altLang="zh-CN" sz="2000" dirty="0"/>
              <a:t>和表</a:t>
            </a:r>
            <a:r>
              <a:rPr lang="en-US" altLang="zh-CN" sz="2000" dirty="0"/>
              <a:t>6.4</a:t>
            </a:r>
            <a:r>
              <a:rPr lang="zh-CN" altLang="zh-CN" sz="2000" dirty="0"/>
              <a:t>所示。显然</a:t>
            </a:r>
            <a:r>
              <a:rPr lang="en-US" altLang="zh-CN" sz="2000" dirty="0" err="1"/>
              <a:t>PBook</a:t>
            </a:r>
            <a:r>
              <a:rPr lang="en-US" altLang="zh-CN" sz="2000" dirty="0"/>
              <a:t> = B</a:t>
            </a:r>
            <a:r>
              <a:rPr lang="en-US" altLang="zh-CN" sz="2000" baseline="-25000" dirty="0"/>
              <a:t>2</a:t>
            </a:r>
            <a:r>
              <a:rPr lang="en-US" altLang="zh-CN" sz="2000" dirty="0"/>
              <a:t>  </a:t>
            </a:r>
            <a:r>
              <a:rPr lang="en-US" altLang="zh-CN" sz="2000" dirty="0" smtClean="0"/>
              <a:t>      </a:t>
            </a:r>
            <a:r>
              <a:rPr lang="en-US" altLang="zh-CN" sz="2000" dirty="0"/>
              <a:t>P</a:t>
            </a:r>
            <a:r>
              <a:rPr lang="en-US" altLang="zh-CN" sz="2000" baseline="-25000" dirty="0"/>
              <a:t>2 </a:t>
            </a:r>
            <a:r>
              <a:rPr lang="zh-CN" altLang="zh-CN" sz="2000" dirty="0"/>
              <a: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流程图: 对照 11"/>
          <p:cNvSpPr>
            <a:spLocks noChangeArrowheads="1"/>
          </p:cNvSpPr>
          <p:nvPr/>
        </p:nvSpPr>
        <p:spPr bwMode="auto">
          <a:xfrm rot="5400000">
            <a:off x="8041719" y="3539342"/>
            <a:ext cx="261744" cy="432430"/>
          </a:xfrm>
          <a:prstGeom prst="flowChartCollat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Tree>
    <p:extLst>
      <p:ext uri="{BB962C8B-B14F-4D97-AF65-F5344CB8AC3E}">
        <p14:creationId xmlns:p14="http://schemas.microsoft.com/office/powerpoint/2010/main" val="134012359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65</a:t>
            </a:fld>
            <a:endParaRPr lang="zh-CN" altLang="en-US" dirty="0"/>
          </a:p>
        </p:txBody>
      </p:sp>
      <p:sp>
        <p:nvSpPr>
          <p:cNvPr id="7" name="文本占位符 6"/>
          <p:cNvSpPr>
            <a:spLocks noGrp="1"/>
          </p:cNvSpPr>
          <p:nvPr>
            <p:ph type="body" idx="1"/>
          </p:nvPr>
        </p:nvSpPr>
        <p:spPr>
          <a:xfrm>
            <a:off x="143508" y="548680"/>
            <a:ext cx="1692188" cy="576064"/>
          </a:xfrm>
        </p:spPr>
        <p:txBody>
          <a:bodyPr>
            <a:normAutofit/>
          </a:bodyPr>
          <a:lstStyle/>
          <a:p>
            <a:r>
              <a:rPr lang="zh-CN" altLang="zh-CN" sz="2000" dirty="0" smtClean="0"/>
              <a:t>表</a:t>
            </a:r>
            <a:r>
              <a:rPr lang="en-US" altLang="zh-CN" sz="2000" dirty="0" smtClean="0"/>
              <a:t>6.3  B2 </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表格 11"/>
          <p:cNvGraphicFramePr>
            <a:graphicFrameLocks noGrp="1"/>
          </p:cNvGraphicFramePr>
          <p:nvPr>
            <p:extLst>
              <p:ext uri="{D42A27DB-BD31-4B8C-83A1-F6EECF244321}">
                <p14:modId xmlns:p14="http://schemas.microsoft.com/office/powerpoint/2010/main" val="3915278346"/>
              </p:ext>
            </p:extLst>
          </p:nvPr>
        </p:nvGraphicFramePr>
        <p:xfrm>
          <a:off x="1403648" y="1124744"/>
          <a:ext cx="6912768" cy="2880320"/>
        </p:xfrm>
        <a:graphic>
          <a:graphicData uri="http://schemas.openxmlformats.org/drawingml/2006/table">
            <a:tbl>
              <a:tblPr firstRow="1" firstCol="1" bandRow="1" bandCol="1">
                <a:tableStyleId>{5C22544A-7EE6-4342-B048-85BDC9FD1C3A}</a:tableStyleId>
              </a:tblPr>
              <a:tblGrid>
                <a:gridCol w="3909496"/>
                <a:gridCol w="3003272"/>
              </a:tblGrid>
              <a:tr h="379994">
                <a:tc>
                  <a:txBody>
                    <a:bodyPr/>
                    <a:lstStyle/>
                    <a:p>
                      <a:pPr indent="127000" algn="ctr">
                        <a:lnSpc>
                          <a:spcPts val="1200"/>
                        </a:lnSpc>
                        <a:spcAft>
                          <a:spcPts val="0"/>
                        </a:spcAft>
                      </a:pPr>
                      <a:r>
                        <a:rPr lang="en-US" sz="2000" kern="100" dirty="0" err="1">
                          <a:effectLst/>
                          <a:latin typeface="微软雅黑" pitchFamily="34" charset="-122"/>
                          <a:ea typeface="微软雅黑" pitchFamily="34" charset="-122"/>
                        </a:rPr>
                        <a:t>BNo</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a:effectLst/>
                          <a:latin typeface="微软雅黑" pitchFamily="34" charset="-122"/>
                          <a:ea typeface="微软雅黑" pitchFamily="34" charset="-122"/>
                        </a:rPr>
                        <a:t>PNo</a:t>
                      </a:r>
                      <a:endParaRPr lang="zh-CN" sz="2000" kern="10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ISBN978-7-04-040664-1</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ISBN978-7-04</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ISBN978-7-302-33894-9</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ISBN978-7-302</a:t>
                      </a:r>
                      <a:endParaRPr lang="zh-CN" sz="2000" kern="10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ISBN978-7-5612-2591-2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a:t>
                      </a:r>
                      <a:endParaRPr lang="zh-CN" sz="2000" kern="10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ISBN978-7-5612-2123-1</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a:t>
                      </a:r>
                      <a:endParaRPr lang="zh-CN" sz="2000" kern="10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ISBN978-7-5178-0167-2</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ISBN978-7-81140-582-8</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2085591268"/>
              </p:ext>
            </p:extLst>
          </p:nvPr>
        </p:nvGraphicFramePr>
        <p:xfrm>
          <a:off x="1907704" y="4215099"/>
          <a:ext cx="6048672" cy="2047545"/>
        </p:xfrm>
        <a:graphic>
          <a:graphicData uri="http://schemas.openxmlformats.org/drawingml/2006/table">
            <a:tbl>
              <a:tblPr firstRow="1" firstCol="1" bandRow="1" bandCol="1">
                <a:tableStyleId>{5C22544A-7EE6-4342-B048-85BDC9FD1C3A}</a:tableStyleId>
              </a:tblPr>
              <a:tblGrid>
                <a:gridCol w="3492822"/>
                <a:gridCol w="2555850"/>
              </a:tblGrid>
              <a:tr h="409509">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PNo</a:t>
                      </a: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PBoss</a:t>
                      </a:r>
                    </a:p>
                  </a:txBody>
                  <a:tcPr marL="17780" marR="17780" marT="0" marB="0" anchor="ctr"/>
                </a:tc>
              </a:tr>
              <a:tr h="409509">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ISBN978-7-04</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刘军</a:t>
                      </a:r>
                    </a:p>
                  </a:txBody>
                  <a:tcPr marL="17780" marR="17780" marT="0" marB="0" anchor="ctr"/>
                </a:tc>
              </a:tr>
              <a:tr h="409509">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ISBN978-7-302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刘军</a:t>
                      </a:r>
                    </a:p>
                  </a:txBody>
                  <a:tcPr marL="17780" marR="17780" marT="0" marB="0" anchor="ctr"/>
                </a:tc>
              </a:tr>
              <a:tr h="409509">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吴广</a:t>
                      </a:r>
                    </a:p>
                  </a:txBody>
                  <a:tcPr marL="17780" marR="17780" marT="0" marB="0" anchor="ctr"/>
                </a:tc>
              </a:tr>
              <a:tr h="409509">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ISBN978-7-81140</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白亮</a:t>
                      </a:r>
                    </a:p>
                  </a:txBody>
                  <a:tcPr marL="17780" marR="17780" marT="0" marB="0" anchor="ctr"/>
                </a:tc>
              </a:tr>
            </a:tbl>
          </a:graphicData>
        </a:graphic>
      </p:graphicFrame>
      <p:sp>
        <p:nvSpPr>
          <p:cNvPr id="15" name="文本占位符 6"/>
          <p:cNvSpPr txBox="1">
            <a:spLocks/>
          </p:cNvSpPr>
          <p:nvPr/>
        </p:nvSpPr>
        <p:spPr>
          <a:xfrm>
            <a:off x="251520" y="4207060"/>
            <a:ext cx="1872208" cy="576064"/>
          </a:xfrm>
          <a:prstGeom prst="rect">
            <a:avLst/>
          </a:prstGeom>
        </p:spPr>
        <p:txBody>
          <a:bodyPr vert="horz" lIns="91440" tIns="45720" rIns="91440" bIns="45720" rtlCol="0">
            <a:norm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smtClean="0"/>
              <a:t>表</a:t>
            </a:r>
            <a:r>
              <a:rPr lang="en-US" altLang="zh-CN" sz="2000" dirty="0" smtClean="0"/>
              <a:t>6.4  P2</a:t>
            </a:r>
            <a:endParaRPr lang="zh-CN" altLang="zh-CN" sz="2000" dirty="0"/>
          </a:p>
        </p:txBody>
      </p:sp>
    </p:spTree>
    <p:extLst>
      <p:ext uri="{BB962C8B-B14F-4D97-AF65-F5344CB8AC3E}">
        <p14:creationId xmlns:p14="http://schemas.microsoft.com/office/powerpoint/2010/main" val="133749201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66</a:t>
            </a:fld>
            <a:endParaRPr lang="zh-CN" altLang="en-US" dirty="0"/>
          </a:p>
        </p:txBody>
      </p:sp>
      <p:sp>
        <p:nvSpPr>
          <p:cNvPr id="7" name="文本占位符 6"/>
          <p:cNvSpPr>
            <a:spLocks noGrp="1"/>
          </p:cNvSpPr>
          <p:nvPr>
            <p:ph type="body" idx="1"/>
          </p:nvPr>
        </p:nvSpPr>
        <p:spPr>
          <a:xfrm>
            <a:off x="143508" y="980728"/>
            <a:ext cx="8856984" cy="5616624"/>
          </a:xfrm>
        </p:spPr>
        <p:txBody>
          <a:bodyPr>
            <a:normAutofit/>
          </a:bodyPr>
          <a:lstStyle/>
          <a:p>
            <a:pPr marL="0" indent="0">
              <a:buNone/>
            </a:pPr>
            <a:r>
              <a:rPr lang="zh-CN" altLang="zh-CN" sz="2000" dirty="0"/>
              <a:t>（</a:t>
            </a:r>
            <a:r>
              <a:rPr lang="en-US" altLang="zh-CN" sz="2000" dirty="0"/>
              <a:t>3</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3</a:t>
            </a:r>
            <a:r>
              <a:rPr lang="en-US" altLang="zh-CN" sz="2000" dirty="0">
                <a:solidFill>
                  <a:srgbClr val="0000FF"/>
                </a:solidFill>
              </a:rPr>
              <a:t> ={B</a:t>
            </a:r>
            <a:r>
              <a:rPr lang="en-US" altLang="zh-CN" sz="2000" baseline="-25000" dirty="0">
                <a:solidFill>
                  <a:srgbClr val="0000FF"/>
                </a:solidFill>
              </a:rPr>
              <a:t>3</a:t>
            </a:r>
            <a:r>
              <a:rPr lang="en-US" altLang="zh-CN" sz="2000" dirty="0">
                <a:solidFill>
                  <a:srgbClr val="0000FF"/>
                </a:solidFill>
              </a:rPr>
              <a:t>,P</a:t>
            </a:r>
            <a:r>
              <a:rPr lang="en-US" altLang="zh-CN" sz="2000" baseline="-25000" dirty="0">
                <a:solidFill>
                  <a:srgbClr val="0000FF"/>
                </a:solidFill>
              </a:rPr>
              <a:t>3</a:t>
            </a:r>
            <a:r>
              <a:rPr lang="en-US" altLang="zh-CN" sz="2000" dirty="0">
                <a:solidFill>
                  <a:srgbClr val="0000FF"/>
                </a:solidFill>
              </a:rPr>
              <a:t>}</a:t>
            </a:r>
            <a:r>
              <a:rPr lang="zh-CN" altLang="zh-CN" sz="2000" dirty="0">
                <a:solidFill>
                  <a:srgbClr val="0000FF"/>
                </a:solidFill>
              </a:rPr>
              <a:t>保连接</a:t>
            </a:r>
            <a:r>
              <a:rPr lang="zh-CN" altLang="zh-CN" sz="2000" dirty="0"/>
              <a:t>。</a:t>
            </a:r>
          </a:p>
          <a:p>
            <a:pPr marL="625475" indent="0">
              <a:buNone/>
            </a:pPr>
            <a:r>
              <a:rPr lang="zh-CN" altLang="zh-CN" sz="2000" dirty="0"/>
              <a:t>因为：</a:t>
            </a:r>
            <a:r>
              <a:rPr lang="en-US" altLang="zh-CN" sz="2000" dirty="0"/>
              <a:t>B</a:t>
            </a:r>
            <a:r>
              <a:rPr lang="en-US" altLang="zh-CN" sz="2000" baseline="-25000" dirty="0"/>
              <a:t>3</a:t>
            </a:r>
            <a:r>
              <a:rPr lang="zh-CN" altLang="zh-CN" sz="2000" dirty="0"/>
              <a:t>和</a:t>
            </a:r>
            <a:r>
              <a:rPr lang="en-US" altLang="zh-CN" sz="2000" dirty="0"/>
              <a:t>P</a:t>
            </a:r>
            <a:r>
              <a:rPr lang="en-US" altLang="zh-CN" sz="2000" baseline="-25000" dirty="0"/>
              <a:t>3</a:t>
            </a:r>
            <a:r>
              <a:rPr lang="zh-CN" altLang="zh-CN" sz="2000" dirty="0"/>
              <a:t>对应的关系如</a:t>
            </a:r>
            <a:r>
              <a:rPr lang="en-US" altLang="zh-CN" sz="2000" dirty="0"/>
              <a:t>6.3</a:t>
            </a:r>
            <a:r>
              <a:rPr lang="zh-CN" altLang="zh-CN" sz="2000" dirty="0"/>
              <a:t>和表</a:t>
            </a:r>
            <a:r>
              <a:rPr lang="en-US" altLang="zh-CN" sz="2000" dirty="0"/>
              <a:t>6.5</a:t>
            </a:r>
            <a:r>
              <a:rPr lang="zh-CN" altLang="zh-CN" sz="2000" dirty="0"/>
              <a:t>所示。显然</a:t>
            </a:r>
            <a:r>
              <a:rPr lang="en-US" altLang="zh-CN" sz="2000" dirty="0" err="1"/>
              <a:t>PBook</a:t>
            </a:r>
            <a:r>
              <a:rPr lang="en-US" altLang="zh-CN" sz="2000" dirty="0"/>
              <a:t> = B</a:t>
            </a:r>
            <a:r>
              <a:rPr lang="en-US" altLang="zh-CN" sz="2000" baseline="-25000" dirty="0"/>
              <a:t>3</a:t>
            </a:r>
            <a:r>
              <a:rPr lang="en-US" altLang="zh-CN" sz="2000" dirty="0"/>
              <a:t> </a:t>
            </a:r>
            <a:r>
              <a:rPr lang="en-US" altLang="zh-CN" sz="2000" dirty="0" smtClean="0"/>
              <a:t>        </a:t>
            </a:r>
            <a:r>
              <a:rPr lang="en-US" altLang="zh-CN" sz="2000" dirty="0"/>
              <a:t>P</a:t>
            </a:r>
            <a:r>
              <a:rPr lang="en-US" altLang="zh-CN" sz="2000" baseline="-25000" dirty="0"/>
              <a:t>3</a:t>
            </a:r>
            <a:r>
              <a:rPr lang="en-US" altLang="zh-CN" sz="2000" dirty="0"/>
              <a:t> </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流程图: 对照 11"/>
          <p:cNvSpPr>
            <a:spLocks noChangeArrowheads="1"/>
          </p:cNvSpPr>
          <p:nvPr/>
        </p:nvSpPr>
        <p:spPr bwMode="auto">
          <a:xfrm rot="5400000">
            <a:off x="8041719" y="1543457"/>
            <a:ext cx="261744" cy="432430"/>
          </a:xfrm>
          <a:prstGeom prst="flowChartCollat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Tree>
    <p:extLst>
      <p:ext uri="{BB962C8B-B14F-4D97-AF65-F5344CB8AC3E}">
        <p14:creationId xmlns:p14="http://schemas.microsoft.com/office/powerpoint/2010/main" val="100394025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67</a:t>
            </a:fld>
            <a:endParaRPr lang="zh-CN" altLang="en-US" dirty="0"/>
          </a:p>
        </p:txBody>
      </p:sp>
      <p:sp>
        <p:nvSpPr>
          <p:cNvPr id="7" name="文本占位符 6"/>
          <p:cNvSpPr>
            <a:spLocks noGrp="1"/>
          </p:cNvSpPr>
          <p:nvPr>
            <p:ph type="body" idx="1"/>
          </p:nvPr>
        </p:nvSpPr>
        <p:spPr>
          <a:xfrm>
            <a:off x="143508" y="548680"/>
            <a:ext cx="1692188" cy="576064"/>
          </a:xfrm>
        </p:spPr>
        <p:txBody>
          <a:bodyPr>
            <a:normAutofit/>
          </a:bodyPr>
          <a:lstStyle/>
          <a:p>
            <a:r>
              <a:rPr lang="zh-CN" altLang="zh-CN" sz="2000" dirty="0" smtClean="0"/>
              <a:t>表</a:t>
            </a:r>
            <a:r>
              <a:rPr lang="en-US" altLang="zh-CN" sz="2000" dirty="0" smtClean="0"/>
              <a:t>6.3  B3 </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表格 11"/>
          <p:cNvGraphicFramePr>
            <a:graphicFrameLocks noGrp="1"/>
          </p:cNvGraphicFramePr>
          <p:nvPr>
            <p:extLst>
              <p:ext uri="{D42A27DB-BD31-4B8C-83A1-F6EECF244321}">
                <p14:modId xmlns:p14="http://schemas.microsoft.com/office/powerpoint/2010/main" val="1296348025"/>
              </p:ext>
            </p:extLst>
          </p:nvPr>
        </p:nvGraphicFramePr>
        <p:xfrm>
          <a:off x="1763688" y="692696"/>
          <a:ext cx="6912768" cy="2880320"/>
        </p:xfrm>
        <a:graphic>
          <a:graphicData uri="http://schemas.openxmlformats.org/drawingml/2006/table">
            <a:tbl>
              <a:tblPr firstRow="1" firstCol="1" bandRow="1" bandCol="1">
                <a:tableStyleId>{5C22544A-7EE6-4342-B048-85BDC9FD1C3A}</a:tableStyleId>
              </a:tblPr>
              <a:tblGrid>
                <a:gridCol w="3909496"/>
                <a:gridCol w="3003272"/>
              </a:tblGrid>
              <a:tr h="379994">
                <a:tc>
                  <a:txBody>
                    <a:bodyPr/>
                    <a:lstStyle/>
                    <a:p>
                      <a:pPr indent="127000" algn="ctr">
                        <a:lnSpc>
                          <a:spcPts val="1200"/>
                        </a:lnSpc>
                        <a:spcAft>
                          <a:spcPts val="0"/>
                        </a:spcAft>
                      </a:pPr>
                      <a:r>
                        <a:rPr lang="en-US" sz="2000" kern="100" dirty="0" err="1">
                          <a:effectLst/>
                          <a:latin typeface="微软雅黑" pitchFamily="34" charset="-122"/>
                          <a:ea typeface="微软雅黑" pitchFamily="34" charset="-122"/>
                        </a:rPr>
                        <a:t>BNo</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a:effectLst/>
                          <a:latin typeface="微软雅黑" pitchFamily="34" charset="-122"/>
                          <a:ea typeface="微软雅黑" pitchFamily="34" charset="-122"/>
                        </a:rPr>
                        <a:t>PNo</a:t>
                      </a:r>
                      <a:endParaRPr lang="zh-CN" sz="2000" kern="10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ISBN978-7-04-040664-1</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ISBN978-7-04</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ISBN978-7-302-33894-9</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ISBN978-7-302</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ISBN978-7-5612-2591-2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ISBN978-7-5612-2123-1</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a:effectLst/>
                          <a:latin typeface="微软雅黑" pitchFamily="34" charset="-122"/>
                          <a:ea typeface="微软雅黑" pitchFamily="34" charset="-122"/>
                        </a:rPr>
                        <a:t>ISBN978-7-5178-0167-2</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r>
              <a:tr h="416721">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ISBN978-7-81140-582-8</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r>
            </a:tbl>
          </a:graphicData>
        </a:graphic>
      </p:graphicFrame>
      <p:sp>
        <p:nvSpPr>
          <p:cNvPr id="15" name="文本占位符 6"/>
          <p:cNvSpPr txBox="1">
            <a:spLocks/>
          </p:cNvSpPr>
          <p:nvPr/>
        </p:nvSpPr>
        <p:spPr>
          <a:xfrm>
            <a:off x="107504" y="3501008"/>
            <a:ext cx="1728192" cy="576064"/>
          </a:xfrm>
          <a:prstGeom prst="rect">
            <a:avLst/>
          </a:prstGeom>
        </p:spPr>
        <p:txBody>
          <a:bodyPr vert="horz" lIns="91440" tIns="45720" rIns="91440" bIns="45720" rtlCol="0">
            <a:norm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smtClean="0"/>
              <a:t>表</a:t>
            </a:r>
            <a:r>
              <a:rPr lang="en-US" altLang="zh-CN" sz="2000" dirty="0" smtClean="0"/>
              <a:t>6.5  P3</a:t>
            </a:r>
            <a:endParaRPr lang="zh-CN" altLang="zh-CN" sz="2000" dirty="0"/>
          </a:p>
        </p:txBody>
      </p:sp>
      <p:graphicFrame>
        <p:nvGraphicFramePr>
          <p:cNvPr id="9" name="表格 8"/>
          <p:cNvGraphicFramePr>
            <a:graphicFrameLocks noGrp="1"/>
          </p:cNvGraphicFramePr>
          <p:nvPr>
            <p:extLst>
              <p:ext uri="{D42A27DB-BD31-4B8C-83A1-F6EECF244321}">
                <p14:modId xmlns:p14="http://schemas.microsoft.com/office/powerpoint/2010/main" val="2639847779"/>
              </p:ext>
            </p:extLst>
          </p:nvPr>
        </p:nvGraphicFramePr>
        <p:xfrm>
          <a:off x="1835696" y="3789040"/>
          <a:ext cx="6768752" cy="2591561"/>
        </p:xfrm>
        <a:graphic>
          <a:graphicData uri="http://schemas.openxmlformats.org/drawingml/2006/table">
            <a:tbl>
              <a:tblPr firstRow="1" firstCol="1" bandRow="1" bandCol="1">
                <a:tableStyleId>{5C22544A-7EE6-4342-B048-85BDC9FD1C3A}</a:tableStyleId>
              </a:tblPr>
              <a:tblGrid>
                <a:gridCol w="4075322"/>
                <a:gridCol w="2693430"/>
              </a:tblGrid>
              <a:tr h="370223">
                <a:tc>
                  <a:txBody>
                    <a:bodyPr/>
                    <a:lstStyle/>
                    <a:p>
                      <a:pPr indent="127000" algn="ctr">
                        <a:lnSpc>
                          <a:spcPts val="1200"/>
                        </a:lnSpc>
                        <a:spcAft>
                          <a:spcPts val="0"/>
                        </a:spcAft>
                      </a:pPr>
                      <a:r>
                        <a:rPr lang="en-US" sz="1800" kern="100" dirty="0" err="1">
                          <a:effectLst/>
                          <a:latin typeface="微软雅黑" pitchFamily="34" charset="-122"/>
                          <a:ea typeface="微软雅黑" pitchFamily="34" charset="-122"/>
                        </a:rPr>
                        <a:t>BNo</a:t>
                      </a:r>
                      <a:endParaRPr lang="zh-CN" sz="18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1800" kern="100" dirty="0" err="1" smtClean="0">
                          <a:effectLst/>
                          <a:latin typeface="微软雅黑" pitchFamily="34" charset="-122"/>
                          <a:ea typeface="微软雅黑" pitchFamily="34" charset="-122"/>
                        </a:rPr>
                        <a:t>PBo</a:t>
                      </a:r>
                      <a:r>
                        <a:rPr lang="en-US" altLang="zh-CN" sz="1800" kern="100" dirty="0" err="1" smtClean="0">
                          <a:effectLst/>
                          <a:latin typeface="微软雅黑" pitchFamily="34" charset="-122"/>
                          <a:ea typeface="微软雅黑" pitchFamily="34" charset="-122"/>
                        </a:rPr>
                        <a:t>s</a:t>
                      </a:r>
                      <a:r>
                        <a:rPr lang="en-US" sz="1800" kern="100" dirty="0" err="1" smtClean="0">
                          <a:effectLst/>
                          <a:latin typeface="微软雅黑" pitchFamily="34" charset="-122"/>
                          <a:ea typeface="微软雅黑" pitchFamily="34" charset="-122"/>
                        </a:rPr>
                        <a:t>s</a:t>
                      </a:r>
                      <a:endParaRPr lang="zh-CN" sz="1800" kern="100" dirty="0">
                        <a:effectLst/>
                        <a:latin typeface="微软雅黑" pitchFamily="34" charset="-122"/>
                        <a:ea typeface="微软雅黑" pitchFamily="34" charset="-122"/>
                      </a:endParaRPr>
                    </a:p>
                  </a:txBody>
                  <a:tcPr marL="17780" marR="17780" marT="0" marB="0" anchor="ctr"/>
                </a:tc>
              </a:tr>
              <a:tr h="370223">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ISBN978-7-04-040664-1</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刘军</a:t>
                      </a:r>
                    </a:p>
                  </a:txBody>
                  <a:tcPr marL="17780" marR="17780" marT="0" marB="0" anchor="ctr"/>
                </a:tc>
              </a:tr>
              <a:tr h="370223">
                <a:tc>
                  <a:txBody>
                    <a:bodyPr/>
                    <a:lstStyle/>
                    <a:p>
                      <a:pPr indent="127000" algn="ctr">
                        <a:lnSpc>
                          <a:spcPts val="1200"/>
                        </a:lnSpc>
                        <a:spcAft>
                          <a:spcPts val="0"/>
                        </a:spcAft>
                      </a:pPr>
                      <a:r>
                        <a:rPr lang="en-US" sz="1800" kern="100" dirty="0">
                          <a:effectLst/>
                          <a:latin typeface="微软雅黑" pitchFamily="34" charset="-122"/>
                          <a:ea typeface="微软雅黑" pitchFamily="34" charset="-122"/>
                        </a:rPr>
                        <a:t>ISBN978-7-302-33894-9</a:t>
                      </a:r>
                      <a:endParaRPr lang="zh-CN" sz="18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刘军</a:t>
                      </a:r>
                    </a:p>
                  </a:txBody>
                  <a:tcPr marL="17780" marR="17780" marT="0" marB="0" anchor="ctr"/>
                </a:tc>
              </a:tr>
              <a:tr h="370223">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ISBN978-7-5612-2591-2</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吴广</a:t>
                      </a:r>
                    </a:p>
                  </a:txBody>
                  <a:tcPr marL="17780" marR="17780" marT="0" marB="0" anchor="ctr"/>
                </a:tc>
              </a:tr>
              <a:tr h="370223">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ISBN978-7-5612-2123-1</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吴广</a:t>
                      </a:r>
                    </a:p>
                  </a:txBody>
                  <a:tcPr marL="17780" marR="17780" marT="0" marB="0" anchor="ctr"/>
                </a:tc>
              </a:tr>
              <a:tr h="370223">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ISBN978-7-5178-0167-2</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白亮</a:t>
                      </a:r>
                    </a:p>
                  </a:txBody>
                  <a:tcPr marL="17780" marR="17780" marT="0" marB="0" anchor="ctr"/>
                </a:tc>
              </a:tr>
              <a:tr h="370223">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ISBN978-7-81140-582-8</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dirty="0">
                          <a:effectLst/>
                          <a:latin typeface="微软雅黑" pitchFamily="34" charset="-122"/>
                          <a:ea typeface="微软雅黑" pitchFamily="34" charset="-122"/>
                        </a:rPr>
                        <a:t>白亮</a:t>
                      </a:r>
                    </a:p>
                  </a:txBody>
                  <a:tcPr marL="17780" marR="17780" marT="0" marB="0" anchor="ctr"/>
                </a:tc>
              </a:tr>
            </a:tbl>
          </a:graphicData>
        </a:graphic>
      </p:graphicFrame>
    </p:spTree>
    <p:extLst>
      <p:ext uri="{BB962C8B-B14F-4D97-AF65-F5344CB8AC3E}">
        <p14:creationId xmlns:p14="http://schemas.microsoft.com/office/powerpoint/2010/main" val="411125621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2019年9月8日星期日9时4分48秒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68</a:t>
            </a:fld>
            <a:endParaRPr lang="zh-CN" altLang="en-US" dirty="0"/>
          </a:p>
        </p:txBody>
      </p:sp>
      <p:sp>
        <p:nvSpPr>
          <p:cNvPr id="7" name="文本占位符 6"/>
          <p:cNvSpPr>
            <a:spLocks noGrp="1"/>
          </p:cNvSpPr>
          <p:nvPr>
            <p:ph type="body" idx="1"/>
          </p:nvPr>
        </p:nvSpPr>
        <p:spPr>
          <a:xfrm>
            <a:off x="143508" y="764704"/>
            <a:ext cx="8856984" cy="5832648"/>
          </a:xfrm>
        </p:spPr>
        <p:txBody>
          <a:bodyPr>
            <a:normAutofit/>
          </a:bodyPr>
          <a:lstStyle/>
          <a:p>
            <a:pPr marL="0" indent="0">
              <a:buNone/>
            </a:pPr>
            <a:r>
              <a:rPr lang="zh-CN" altLang="zh-CN" sz="2000" dirty="0"/>
              <a:t>（</a:t>
            </a:r>
            <a:r>
              <a:rPr lang="en-US" altLang="zh-CN" sz="2000" dirty="0"/>
              <a:t>4</a:t>
            </a:r>
            <a:r>
              <a:rPr lang="zh-CN" altLang="zh-CN" sz="2000" dirty="0"/>
              <a:t>）</a:t>
            </a:r>
            <a:r>
              <a:rPr lang="en-US" altLang="zh-CN" sz="2000" dirty="0">
                <a:solidFill>
                  <a:srgbClr val="0000FF"/>
                </a:solidFill>
              </a:rPr>
              <a:t>R </a:t>
            </a:r>
            <a:r>
              <a:rPr lang="en-US" altLang="zh-CN" sz="2000" baseline="-25000" dirty="0">
                <a:solidFill>
                  <a:srgbClr val="0000FF"/>
                </a:solidFill>
              </a:rPr>
              <a:t>4 </a:t>
            </a:r>
            <a:r>
              <a:rPr lang="en-US" altLang="zh-CN" sz="2000" dirty="0">
                <a:solidFill>
                  <a:srgbClr val="0000FF"/>
                </a:solidFill>
              </a:rPr>
              <a:t>={B</a:t>
            </a:r>
            <a:r>
              <a:rPr lang="en-US" altLang="zh-CN" sz="2000" baseline="-25000" dirty="0">
                <a:solidFill>
                  <a:srgbClr val="0000FF"/>
                </a:solidFill>
              </a:rPr>
              <a:t>4</a:t>
            </a:r>
            <a:r>
              <a:rPr lang="en-US" altLang="zh-CN" sz="2000" dirty="0">
                <a:solidFill>
                  <a:srgbClr val="0000FF"/>
                </a:solidFill>
              </a:rPr>
              <a:t>,P</a:t>
            </a:r>
            <a:r>
              <a:rPr lang="en-US" altLang="zh-CN" sz="2000" baseline="-25000" dirty="0">
                <a:solidFill>
                  <a:srgbClr val="0000FF"/>
                </a:solidFill>
              </a:rPr>
              <a:t>4</a:t>
            </a:r>
            <a:r>
              <a:rPr lang="en-US" altLang="zh-CN" sz="2000" dirty="0">
                <a:solidFill>
                  <a:srgbClr val="0000FF"/>
                </a:solidFill>
              </a:rPr>
              <a:t>}</a:t>
            </a:r>
            <a:r>
              <a:rPr lang="zh-CN" altLang="zh-CN" sz="2000" dirty="0">
                <a:solidFill>
                  <a:srgbClr val="0000FF"/>
                </a:solidFill>
              </a:rPr>
              <a:t>不保连接</a:t>
            </a:r>
            <a:r>
              <a:rPr lang="zh-CN" altLang="zh-CN" sz="2000" dirty="0"/>
              <a:t>。</a:t>
            </a:r>
          </a:p>
          <a:p>
            <a:pPr marL="625475" indent="0">
              <a:buNone/>
            </a:pPr>
            <a:r>
              <a:rPr lang="zh-CN" altLang="zh-CN" sz="2000" dirty="0"/>
              <a:t>因为：</a:t>
            </a:r>
            <a:r>
              <a:rPr lang="en-US" altLang="zh-CN" sz="2000" dirty="0"/>
              <a:t>B</a:t>
            </a:r>
            <a:r>
              <a:rPr lang="en-US" altLang="zh-CN" sz="2000" baseline="-25000" dirty="0"/>
              <a:t>4</a:t>
            </a:r>
            <a:r>
              <a:rPr lang="en-US" altLang="zh-CN" sz="2000" dirty="0"/>
              <a:t>,P</a:t>
            </a:r>
            <a:r>
              <a:rPr lang="en-US" altLang="zh-CN" sz="2000" baseline="-25000" dirty="0"/>
              <a:t>4</a:t>
            </a:r>
            <a:r>
              <a:rPr lang="en-US" altLang="zh-CN" sz="2000" dirty="0"/>
              <a:t>,</a:t>
            </a:r>
            <a:r>
              <a:rPr lang="zh-CN" altLang="zh-CN" sz="2000" dirty="0"/>
              <a:t>对应的关系如</a:t>
            </a:r>
            <a:r>
              <a:rPr lang="en-US" altLang="zh-CN" sz="2000" dirty="0"/>
              <a:t>6.6</a:t>
            </a:r>
            <a:r>
              <a:rPr lang="zh-CN" altLang="zh-CN" sz="2000" dirty="0"/>
              <a:t>和表</a:t>
            </a:r>
            <a:r>
              <a:rPr lang="en-US" altLang="zh-CN" sz="2000" dirty="0"/>
              <a:t>6.4</a:t>
            </a:r>
            <a:r>
              <a:rPr lang="zh-CN" altLang="zh-CN" sz="2000" dirty="0"/>
              <a:t>所示。</a:t>
            </a:r>
          </a:p>
          <a:p>
            <a:pPr marL="625475" indent="0">
              <a:buNone/>
            </a:pPr>
            <a:r>
              <a:rPr lang="zh-CN" altLang="zh-CN" sz="2000" dirty="0"/>
              <a:t>所以：</a:t>
            </a:r>
            <a:r>
              <a:rPr lang="en-US" altLang="zh-CN" sz="2000" dirty="0"/>
              <a:t>B</a:t>
            </a:r>
            <a:r>
              <a:rPr lang="en-US" altLang="zh-CN" sz="2000" baseline="-25000" dirty="0"/>
              <a:t>4</a:t>
            </a:r>
            <a:r>
              <a:rPr lang="en-US" altLang="zh-CN" sz="2000" dirty="0"/>
              <a:t> </a:t>
            </a:r>
            <a:r>
              <a:rPr lang="en-US" altLang="zh-CN" sz="2000" dirty="0" smtClean="0"/>
              <a:t>        </a:t>
            </a:r>
            <a:r>
              <a:rPr lang="en-US" altLang="zh-CN" sz="2000" dirty="0"/>
              <a:t>P</a:t>
            </a:r>
            <a:r>
              <a:rPr lang="en-US" altLang="zh-CN" sz="2000" baseline="-25000" dirty="0"/>
              <a:t>4</a:t>
            </a:r>
            <a:r>
              <a:rPr lang="zh-CN" altLang="zh-CN" sz="2000" dirty="0"/>
              <a:t>的对应的关系如</a:t>
            </a:r>
            <a:r>
              <a:rPr lang="en-US" altLang="zh-CN" sz="2000" dirty="0"/>
              <a:t>6.7</a:t>
            </a:r>
            <a:r>
              <a:rPr lang="zh-CN" altLang="zh-CN" sz="2000" dirty="0"/>
              <a:t>所示。</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流程图: 对照 11"/>
          <p:cNvSpPr>
            <a:spLocks noChangeArrowheads="1"/>
          </p:cNvSpPr>
          <p:nvPr/>
        </p:nvSpPr>
        <p:spPr bwMode="auto">
          <a:xfrm rot="5400000">
            <a:off x="2095479" y="1725517"/>
            <a:ext cx="261744" cy="432430"/>
          </a:xfrm>
          <a:prstGeom prst="flowChartCollat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Tree>
    <p:extLst>
      <p:ext uri="{BB962C8B-B14F-4D97-AF65-F5344CB8AC3E}">
        <p14:creationId xmlns:p14="http://schemas.microsoft.com/office/powerpoint/2010/main" val="31514482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69</a:t>
            </a:fld>
            <a:endParaRPr lang="zh-CN" altLang="en-US" dirty="0"/>
          </a:p>
        </p:txBody>
      </p:sp>
      <p:sp>
        <p:nvSpPr>
          <p:cNvPr id="7" name="文本占位符 6"/>
          <p:cNvSpPr>
            <a:spLocks noGrp="1"/>
          </p:cNvSpPr>
          <p:nvPr>
            <p:ph type="body" idx="1"/>
          </p:nvPr>
        </p:nvSpPr>
        <p:spPr>
          <a:xfrm>
            <a:off x="143508" y="548680"/>
            <a:ext cx="1692188" cy="576064"/>
          </a:xfrm>
        </p:spPr>
        <p:txBody>
          <a:bodyPr>
            <a:normAutofit/>
          </a:bodyPr>
          <a:lstStyle/>
          <a:p>
            <a:r>
              <a:rPr lang="zh-CN" altLang="zh-CN" sz="2000" dirty="0" smtClean="0"/>
              <a:t>表</a:t>
            </a:r>
            <a:r>
              <a:rPr lang="en-US" altLang="zh-CN" sz="2000" dirty="0" smtClean="0"/>
              <a:t>6.6  B4 </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文本占位符 6"/>
          <p:cNvSpPr txBox="1">
            <a:spLocks/>
          </p:cNvSpPr>
          <p:nvPr/>
        </p:nvSpPr>
        <p:spPr>
          <a:xfrm>
            <a:off x="103094" y="3573016"/>
            <a:ext cx="1728192" cy="576064"/>
          </a:xfrm>
          <a:prstGeom prst="rect">
            <a:avLst/>
          </a:prstGeom>
        </p:spPr>
        <p:txBody>
          <a:bodyPr vert="horz" lIns="91440" tIns="45720" rIns="91440" bIns="45720" rtlCol="0">
            <a:normAutofit/>
          </a:bodyPr>
          <a:lst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zh-CN" sz="2000" dirty="0" smtClean="0"/>
              <a:t>表</a:t>
            </a:r>
            <a:r>
              <a:rPr lang="en-US" altLang="zh-CN" sz="2000" dirty="0" smtClean="0"/>
              <a:t>6.4  P4</a:t>
            </a:r>
            <a:endParaRPr lang="zh-CN" altLang="zh-CN" sz="2000" dirty="0"/>
          </a:p>
        </p:txBody>
      </p:sp>
      <p:graphicFrame>
        <p:nvGraphicFramePr>
          <p:cNvPr id="13" name="表格 12"/>
          <p:cNvGraphicFramePr>
            <a:graphicFrameLocks noGrp="1"/>
          </p:cNvGraphicFramePr>
          <p:nvPr>
            <p:extLst>
              <p:ext uri="{D42A27DB-BD31-4B8C-83A1-F6EECF244321}">
                <p14:modId xmlns:p14="http://schemas.microsoft.com/office/powerpoint/2010/main" val="495971069"/>
              </p:ext>
            </p:extLst>
          </p:nvPr>
        </p:nvGraphicFramePr>
        <p:xfrm>
          <a:off x="1835696" y="692696"/>
          <a:ext cx="6768752" cy="2304253"/>
        </p:xfrm>
        <a:graphic>
          <a:graphicData uri="http://schemas.openxmlformats.org/drawingml/2006/table">
            <a:tbl>
              <a:tblPr firstRow="1" firstCol="1" bandRow="1" bandCol="1">
                <a:tableStyleId>{5C22544A-7EE6-4342-B048-85BDC9FD1C3A}</a:tableStyleId>
              </a:tblPr>
              <a:tblGrid>
                <a:gridCol w="3384376"/>
                <a:gridCol w="3384376"/>
              </a:tblGrid>
              <a:tr h="329179">
                <a:tc>
                  <a:txBody>
                    <a:bodyPr/>
                    <a:lstStyle/>
                    <a:p>
                      <a:pPr indent="127000" algn="ctr">
                        <a:lnSpc>
                          <a:spcPts val="1200"/>
                        </a:lnSpc>
                        <a:spcAft>
                          <a:spcPts val="0"/>
                        </a:spcAft>
                      </a:pPr>
                      <a:r>
                        <a:rPr lang="en-US" sz="1800" kern="100" dirty="0" err="1">
                          <a:effectLst/>
                          <a:latin typeface="微软雅黑" pitchFamily="34" charset="-122"/>
                          <a:ea typeface="微软雅黑" pitchFamily="34" charset="-122"/>
                        </a:rPr>
                        <a:t>BNo</a:t>
                      </a:r>
                      <a:endParaRPr lang="zh-CN" sz="18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1800" kern="100">
                          <a:effectLst/>
                          <a:latin typeface="微软雅黑" pitchFamily="34" charset="-122"/>
                          <a:ea typeface="微软雅黑" pitchFamily="34" charset="-122"/>
                        </a:rPr>
                        <a:t>PBoos</a:t>
                      </a:r>
                      <a:endParaRPr lang="zh-CN" sz="1800" kern="100">
                        <a:effectLst/>
                        <a:latin typeface="微软雅黑" pitchFamily="34" charset="-122"/>
                        <a:ea typeface="微软雅黑" pitchFamily="34" charset="-122"/>
                      </a:endParaRPr>
                    </a:p>
                  </a:txBody>
                  <a:tcPr marL="17780" marR="17780" marT="0" marB="0" anchor="ctr"/>
                </a:tc>
              </a:tr>
              <a:tr h="329179">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ISBN978-7-04-040664-1</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刘军</a:t>
                      </a:r>
                    </a:p>
                  </a:txBody>
                  <a:tcPr marL="17780" marR="17780" marT="0" marB="0" anchor="ctr"/>
                </a:tc>
              </a:tr>
              <a:tr h="329179">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ISBN978-7-302-33894-9</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刘军</a:t>
                      </a:r>
                    </a:p>
                  </a:txBody>
                  <a:tcPr marL="17780" marR="17780" marT="0" marB="0" anchor="ctr"/>
                </a:tc>
              </a:tr>
              <a:tr h="329179">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ISBN978-7-5612-2591-2</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吴广</a:t>
                      </a:r>
                    </a:p>
                  </a:txBody>
                  <a:tcPr marL="17780" marR="17780" marT="0" marB="0" anchor="ctr"/>
                </a:tc>
              </a:tr>
              <a:tr h="329179">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ISBN978-7-5612-2123-1</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吴广</a:t>
                      </a:r>
                    </a:p>
                  </a:txBody>
                  <a:tcPr marL="17780" marR="17780" marT="0" marB="0" anchor="ctr"/>
                </a:tc>
              </a:tr>
              <a:tr h="329179">
                <a:tc>
                  <a:txBody>
                    <a:bodyPr/>
                    <a:lstStyle/>
                    <a:p>
                      <a:pPr indent="127000" algn="ctr">
                        <a:lnSpc>
                          <a:spcPts val="1200"/>
                        </a:lnSpc>
                        <a:spcAft>
                          <a:spcPts val="0"/>
                        </a:spcAft>
                      </a:pPr>
                      <a:r>
                        <a:rPr lang="en-US" sz="1800" kern="100" dirty="0">
                          <a:effectLst/>
                          <a:latin typeface="微软雅黑" pitchFamily="34" charset="-122"/>
                          <a:ea typeface="微软雅黑" pitchFamily="34" charset="-122"/>
                        </a:rPr>
                        <a:t>ISBN978-7-5178-0167-2</a:t>
                      </a:r>
                      <a:endParaRPr lang="zh-CN" sz="18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白亮</a:t>
                      </a:r>
                    </a:p>
                  </a:txBody>
                  <a:tcPr marL="17780" marR="17780" marT="0" marB="0" anchor="ctr"/>
                </a:tc>
              </a:tr>
              <a:tr h="329179">
                <a:tc>
                  <a:txBody>
                    <a:bodyPr/>
                    <a:lstStyle/>
                    <a:p>
                      <a:pPr indent="127000" algn="ctr">
                        <a:lnSpc>
                          <a:spcPts val="1200"/>
                        </a:lnSpc>
                        <a:spcAft>
                          <a:spcPts val="0"/>
                        </a:spcAft>
                      </a:pPr>
                      <a:r>
                        <a:rPr lang="en-US" sz="1800" kern="100">
                          <a:effectLst/>
                          <a:latin typeface="微软雅黑" pitchFamily="34" charset="-122"/>
                          <a:ea typeface="微软雅黑" pitchFamily="34" charset="-122"/>
                        </a:rPr>
                        <a:t>ISBN978-7-81140-582-8</a:t>
                      </a:r>
                      <a:endParaRPr lang="zh-CN" sz="18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dirty="0">
                          <a:effectLst/>
                          <a:latin typeface="微软雅黑" pitchFamily="34" charset="-122"/>
                          <a:ea typeface="微软雅黑" pitchFamily="34" charset="-122"/>
                        </a:rPr>
                        <a:t>白亮</a:t>
                      </a:r>
                    </a:p>
                  </a:txBody>
                  <a:tcPr marL="17780" marR="17780" marT="0" marB="0" anchor="ctr"/>
                </a:tc>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728753776"/>
              </p:ext>
            </p:extLst>
          </p:nvPr>
        </p:nvGraphicFramePr>
        <p:xfrm>
          <a:off x="1831286" y="3573016"/>
          <a:ext cx="6768752" cy="2591561"/>
        </p:xfrm>
        <a:graphic>
          <a:graphicData uri="http://schemas.openxmlformats.org/drawingml/2006/table">
            <a:tbl>
              <a:tblPr firstRow="1" firstCol="1" bandRow="1" bandCol="1">
                <a:tableStyleId>{5C22544A-7EE6-4342-B048-85BDC9FD1C3A}</a:tableStyleId>
              </a:tblPr>
              <a:tblGrid>
                <a:gridCol w="4075322"/>
                <a:gridCol w="2693430"/>
              </a:tblGrid>
              <a:tr h="370223">
                <a:tc>
                  <a:txBody>
                    <a:bodyPr/>
                    <a:lstStyle/>
                    <a:p>
                      <a:pPr indent="127000" algn="ctr">
                        <a:lnSpc>
                          <a:spcPts val="1200"/>
                        </a:lnSpc>
                        <a:spcAft>
                          <a:spcPts val="0"/>
                        </a:spcAft>
                      </a:pPr>
                      <a:r>
                        <a:rPr lang="en-US" sz="1800" kern="100" dirty="0" err="1" smtClean="0">
                          <a:effectLst/>
                          <a:latin typeface="微软雅黑" pitchFamily="34" charset="-122"/>
                          <a:ea typeface="微软雅黑" pitchFamily="34" charset="-122"/>
                        </a:rPr>
                        <a:t>PNo</a:t>
                      </a:r>
                      <a:endParaRPr lang="zh-CN" sz="18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pPr>
                      <a:r>
                        <a:rPr lang="en-US" sz="1800" kern="100">
                          <a:effectLst/>
                          <a:latin typeface="微软雅黑" pitchFamily="34" charset="-122"/>
                          <a:ea typeface="微软雅黑" pitchFamily="34" charset="-122"/>
                        </a:rPr>
                        <a:t>PBoos</a:t>
                      </a:r>
                      <a:endParaRPr lang="zh-CN" sz="1800" kern="100">
                        <a:effectLst/>
                        <a:latin typeface="微软雅黑" pitchFamily="34" charset="-122"/>
                        <a:ea typeface="微软雅黑" pitchFamily="34" charset="-122"/>
                      </a:endParaRPr>
                    </a:p>
                  </a:txBody>
                  <a:tcPr marL="17780" marR="17780" marT="0" marB="0" anchor="ctr"/>
                </a:tc>
              </a:tr>
              <a:tr h="370223">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ISBN978-7-04</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刘军</a:t>
                      </a:r>
                    </a:p>
                  </a:txBody>
                  <a:tcPr marL="17780" marR="17780" marT="0" marB="0" anchor="ctr"/>
                </a:tc>
              </a:tr>
              <a:tr h="370223">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ISBN978-7-302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刘军</a:t>
                      </a:r>
                    </a:p>
                  </a:txBody>
                  <a:tcPr marL="17780" marR="17780" marT="0" marB="0" anchor="ctr"/>
                </a:tc>
              </a:tr>
              <a:tr h="370223">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吴广</a:t>
                      </a:r>
                    </a:p>
                  </a:txBody>
                  <a:tcPr marL="17780" marR="17780" marT="0" marB="0" anchor="ctr"/>
                </a:tc>
              </a:tr>
              <a:tr h="370223">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吴广</a:t>
                      </a:r>
                    </a:p>
                  </a:txBody>
                  <a:tcPr marL="17780" marR="17780" marT="0" marB="0" anchor="ctr"/>
                </a:tc>
              </a:tr>
              <a:tr h="370223">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a:effectLst/>
                          <a:latin typeface="微软雅黑" pitchFamily="34" charset="-122"/>
                          <a:ea typeface="微软雅黑" pitchFamily="34" charset="-122"/>
                        </a:rPr>
                        <a:t>白亮</a:t>
                      </a:r>
                    </a:p>
                  </a:txBody>
                  <a:tcPr marL="17780" marR="17780" marT="0" marB="0" anchor="ctr"/>
                </a:tc>
              </a:tr>
              <a:tr h="370223">
                <a:tc>
                  <a:txBody>
                    <a:bodyPr/>
                    <a:lstStyle/>
                    <a:p>
                      <a:pPr indent="127000" algn="ctr">
                        <a:lnSpc>
                          <a:spcPts val="1200"/>
                        </a:lnSpc>
                        <a:spcAft>
                          <a:spcPts val="0"/>
                        </a:spcAft>
                      </a:pPr>
                      <a:r>
                        <a:rPr lang="en-US" sz="2000" kern="100" dirty="0">
                          <a:effectLst/>
                          <a:latin typeface="微软雅黑" pitchFamily="34" charset="-122"/>
                          <a:ea typeface="微软雅黑" pitchFamily="34" charset="-122"/>
                        </a:rPr>
                        <a:t>ISBN978-7-81140</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1800" kern="100" dirty="0">
                          <a:effectLst/>
                          <a:latin typeface="微软雅黑" pitchFamily="34" charset="-122"/>
                          <a:ea typeface="微软雅黑" pitchFamily="34" charset="-122"/>
                        </a:rPr>
                        <a:t>白亮</a:t>
                      </a:r>
                    </a:p>
                  </a:txBody>
                  <a:tcPr marL="17780" marR="17780" marT="0" marB="0" anchor="ctr"/>
                </a:tc>
              </a:tr>
            </a:tbl>
          </a:graphicData>
        </a:graphic>
      </p:graphicFrame>
    </p:spTree>
    <p:extLst>
      <p:ext uri="{BB962C8B-B14F-4D97-AF65-F5344CB8AC3E}">
        <p14:creationId xmlns:p14="http://schemas.microsoft.com/office/powerpoint/2010/main" val="157079369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70</a:t>
            </a:fld>
            <a:endParaRPr lang="zh-CN" altLang="en-US" dirty="0"/>
          </a:p>
        </p:txBody>
      </p:sp>
      <p:sp>
        <p:nvSpPr>
          <p:cNvPr id="7" name="文本占位符 6"/>
          <p:cNvSpPr>
            <a:spLocks noGrp="1"/>
          </p:cNvSpPr>
          <p:nvPr>
            <p:ph type="body" idx="1"/>
          </p:nvPr>
        </p:nvSpPr>
        <p:spPr>
          <a:xfrm>
            <a:off x="179512" y="620688"/>
            <a:ext cx="4140460" cy="576064"/>
          </a:xfrm>
        </p:spPr>
        <p:txBody>
          <a:bodyPr>
            <a:normAutofit/>
          </a:bodyPr>
          <a:lstStyle/>
          <a:p>
            <a:r>
              <a:rPr lang="zh-CN" altLang="zh-CN" sz="2000" dirty="0"/>
              <a:t>表</a:t>
            </a:r>
            <a:r>
              <a:rPr lang="en-US" altLang="zh-CN" sz="2000" dirty="0"/>
              <a:t>6.7  B</a:t>
            </a:r>
            <a:r>
              <a:rPr lang="en-US" altLang="zh-CN" sz="2000" baseline="-25000" dirty="0"/>
              <a:t>4</a:t>
            </a:r>
            <a:r>
              <a:rPr lang="zh-CN" altLang="zh-CN" sz="2000" dirty="0"/>
              <a:t>与</a:t>
            </a:r>
            <a:r>
              <a:rPr lang="en-US" altLang="zh-CN" sz="2000" dirty="0"/>
              <a:t>P</a:t>
            </a:r>
            <a:r>
              <a:rPr lang="en-US" altLang="zh-CN" sz="2000" baseline="-25000" dirty="0"/>
              <a:t>4</a:t>
            </a:r>
            <a:r>
              <a:rPr lang="zh-CN" altLang="zh-CN" sz="2000" dirty="0"/>
              <a:t>的自然连接</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表格 12"/>
          <p:cNvGraphicFramePr>
            <a:graphicFrameLocks noGrp="1"/>
          </p:cNvGraphicFramePr>
          <p:nvPr>
            <p:extLst>
              <p:ext uri="{D42A27DB-BD31-4B8C-83A1-F6EECF244321}">
                <p14:modId xmlns:p14="http://schemas.microsoft.com/office/powerpoint/2010/main" val="469104793"/>
              </p:ext>
            </p:extLst>
          </p:nvPr>
        </p:nvGraphicFramePr>
        <p:xfrm>
          <a:off x="323528" y="1268760"/>
          <a:ext cx="8208912" cy="4608513"/>
        </p:xfrm>
        <a:graphic>
          <a:graphicData uri="http://schemas.openxmlformats.org/drawingml/2006/table">
            <a:tbl>
              <a:tblPr firstRow="1" firstCol="1" bandRow="1" bandCol="1">
                <a:tableStyleId>{5C22544A-7EE6-4342-B048-85BDC9FD1C3A}</a:tableStyleId>
              </a:tblPr>
              <a:tblGrid>
                <a:gridCol w="3816424"/>
                <a:gridCol w="2880320"/>
                <a:gridCol w="1512168"/>
              </a:tblGrid>
              <a:tr h="512057">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Bno</a:t>
                      </a: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PNo</a:t>
                      </a: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PBoss</a:t>
                      </a:r>
                    </a:p>
                  </a:txBody>
                  <a:tcPr marL="17780" marR="17780" marT="0" marB="0" anchor="ctr"/>
                </a:tc>
              </a:tr>
              <a:tr h="512057">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ISBN978-7-04-040664-1</a:t>
                      </a:r>
                    </a:p>
                  </a:txBody>
                  <a:tcPr marL="17780" marR="17780" marT="0" marB="0" anchor="ctr"/>
                </a:tc>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ISBN978-7-04</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刘军</a:t>
                      </a:r>
                    </a:p>
                  </a:txBody>
                  <a:tcPr marL="17780" marR="17780" marT="0" marB="0" anchor="ctr"/>
                </a:tc>
              </a:tr>
              <a:tr h="512057">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ISBN978-7-04-040664-1</a:t>
                      </a:r>
                    </a:p>
                  </a:txBody>
                  <a:tcPr marL="17780" marR="17780" marT="0" marB="0" anchor="ctr"/>
                </a:tc>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ISBN978-7-302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刘军</a:t>
                      </a:r>
                    </a:p>
                  </a:txBody>
                  <a:tcPr marL="17780" marR="17780" marT="0" marB="0" anchor="ctr"/>
                </a:tc>
              </a:tr>
              <a:tr h="512057">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ISBN978-7-302-33894-9</a:t>
                      </a: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ISBN978-7-04</a:t>
                      </a: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刘军</a:t>
                      </a:r>
                    </a:p>
                  </a:txBody>
                  <a:tcPr marL="17780" marR="17780" marT="0" marB="0" anchor="ctr"/>
                </a:tc>
              </a:tr>
              <a:tr h="512057">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ISBN978-7-302-33894-9</a:t>
                      </a: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ISBN978-7-302</a:t>
                      </a:r>
                    </a:p>
                  </a:txBody>
                  <a:tcPr marL="17780" marR="17780" marT="0" marB="0" anchor="ctr"/>
                </a:tc>
                <a:tc>
                  <a:txBody>
                    <a:bodyPr/>
                    <a:lstStyle/>
                    <a:p>
                      <a:pPr indent="127000" algn="ctr">
                        <a:lnSpc>
                          <a:spcPts val="1200"/>
                        </a:lnSpc>
                        <a:spcAft>
                          <a:spcPts val="0"/>
                        </a:spcAft>
                        <a:tabLst>
                          <a:tab pos="5257800" algn="l"/>
                        </a:tabLst>
                      </a:pPr>
                      <a:r>
                        <a:rPr lang="zh-CN" sz="2000" kern="100">
                          <a:effectLst/>
                          <a:latin typeface="微软雅黑" pitchFamily="34" charset="-122"/>
                          <a:ea typeface="微软雅黑" pitchFamily="34" charset="-122"/>
                        </a:rPr>
                        <a:t>刘军</a:t>
                      </a:r>
                    </a:p>
                  </a:txBody>
                  <a:tcPr marL="17780" marR="17780" marT="0" marB="0" anchor="ctr"/>
                </a:tc>
              </a:tr>
              <a:tr h="512057">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ISBN978-7-5612-2591-2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ISBN978-7-5612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吴广</a:t>
                      </a:r>
                    </a:p>
                  </a:txBody>
                  <a:tcPr marL="17780" marR="17780" marT="0" marB="0" anchor="ctr"/>
                </a:tc>
              </a:tr>
              <a:tr h="512057">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ISBN978-7-5612-2123-1</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en-US" sz="2000" kern="100">
                          <a:effectLst/>
                          <a:latin typeface="微软雅黑" pitchFamily="34" charset="-122"/>
                          <a:ea typeface="微软雅黑" pitchFamily="34" charset="-122"/>
                        </a:rPr>
                        <a:t>ISBN978-7-5612</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吴广</a:t>
                      </a:r>
                    </a:p>
                  </a:txBody>
                  <a:tcPr marL="17780" marR="17780" marT="0" marB="0" anchor="ctr"/>
                </a:tc>
              </a:tr>
              <a:tr h="512057">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ISBN978-7-5178-0167-2</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en-US" sz="2000" kern="100">
                          <a:effectLst/>
                          <a:latin typeface="微软雅黑" pitchFamily="34" charset="-122"/>
                          <a:ea typeface="微软雅黑" pitchFamily="34" charset="-122"/>
                        </a:rPr>
                        <a:t>ISBN978-7-81140</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白亮</a:t>
                      </a:r>
                    </a:p>
                  </a:txBody>
                  <a:tcPr marL="17780" marR="17780" marT="0" marB="0" anchor="ctr"/>
                </a:tc>
              </a:tr>
              <a:tr h="512057">
                <a:tc>
                  <a:txBody>
                    <a:bodyPr/>
                    <a:lstStyle/>
                    <a:p>
                      <a:pPr indent="127000" algn="ctr">
                        <a:lnSpc>
                          <a:spcPts val="1200"/>
                        </a:lnSpc>
                        <a:spcAft>
                          <a:spcPts val="0"/>
                        </a:spcAft>
                        <a:tabLst>
                          <a:tab pos="5257800" algn="l"/>
                        </a:tabLst>
                      </a:pPr>
                      <a:r>
                        <a:rPr lang="en-US" sz="2000" kern="100" dirty="0">
                          <a:effectLst/>
                          <a:latin typeface="微软雅黑" pitchFamily="34" charset="-122"/>
                          <a:ea typeface="微软雅黑" pitchFamily="34" charset="-122"/>
                        </a:rPr>
                        <a:t>ISBN978-7-81140-582-8</a:t>
                      </a:r>
                      <a:endParaRPr lang="zh-CN" sz="2000" kern="100" dirty="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en-US" sz="2000" kern="100">
                          <a:effectLst/>
                          <a:latin typeface="微软雅黑" pitchFamily="34" charset="-122"/>
                          <a:ea typeface="微软雅黑" pitchFamily="34" charset="-122"/>
                        </a:rPr>
                        <a:t>ISBN978-7-81140</a:t>
                      </a:r>
                      <a:endParaRPr lang="zh-CN" sz="2000" kern="100">
                        <a:effectLst/>
                        <a:latin typeface="微软雅黑" pitchFamily="34" charset="-122"/>
                        <a:ea typeface="微软雅黑" pitchFamily="34" charset="-122"/>
                      </a:endParaRPr>
                    </a:p>
                  </a:txBody>
                  <a:tcPr marL="17780" marR="17780" marT="0" marB="0" anchor="ctr"/>
                </a:tc>
                <a:tc>
                  <a:txBody>
                    <a:bodyPr/>
                    <a:lstStyle/>
                    <a:p>
                      <a:pPr indent="127000" algn="ctr">
                        <a:lnSpc>
                          <a:spcPts val="1200"/>
                        </a:lnSpc>
                        <a:spcAft>
                          <a:spcPts val="0"/>
                        </a:spcAft>
                        <a:tabLst>
                          <a:tab pos="5257800" algn="l"/>
                        </a:tabLst>
                      </a:pPr>
                      <a:r>
                        <a:rPr lang="zh-CN" sz="2000" kern="100" dirty="0">
                          <a:effectLst/>
                          <a:latin typeface="微软雅黑" pitchFamily="34" charset="-122"/>
                          <a:ea typeface="微软雅黑" pitchFamily="34" charset="-122"/>
                        </a:rPr>
                        <a:t>白亮</a:t>
                      </a:r>
                    </a:p>
                  </a:txBody>
                  <a:tcPr marL="17780" marR="17780" marT="0" marB="0" anchor="ctr"/>
                </a:tc>
              </a:tr>
            </a:tbl>
          </a:graphicData>
        </a:graphic>
      </p:graphicFrame>
    </p:spTree>
    <p:extLst>
      <p:ext uri="{BB962C8B-B14F-4D97-AF65-F5344CB8AC3E}">
        <p14:creationId xmlns:p14="http://schemas.microsoft.com/office/powerpoint/2010/main" val="410484852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71</a:t>
            </a:fld>
            <a:endParaRPr lang="zh-CN" altLang="en-US" dirty="0"/>
          </a:p>
        </p:txBody>
      </p:sp>
      <p:sp>
        <p:nvSpPr>
          <p:cNvPr id="7" name="文本占位符 6"/>
          <p:cNvSpPr>
            <a:spLocks noGrp="1"/>
          </p:cNvSpPr>
          <p:nvPr>
            <p:ph type="body" idx="1"/>
          </p:nvPr>
        </p:nvSpPr>
        <p:spPr>
          <a:xfrm>
            <a:off x="143508" y="908720"/>
            <a:ext cx="8856984" cy="5688632"/>
          </a:xfrm>
        </p:spPr>
        <p:txBody>
          <a:bodyPr>
            <a:normAutofit/>
          </a:bodyPr>
          <a:lstStyle/>
          <a:p>
            <a:r>
              <a:rPr lang="zh-CN" altLang="zh-CN" sz="2000" dirty="0">
                <a:solidFill>
                  <a:srgbClr val="0000FF"/>
                </a:solidFill>
              </a:rPr>
              <a:t>综上所述：</a:t>
            </a:r>
            <a:r>
              <a:rPr lang="zh-CN" altLang="zh-CN" sz="2000" dirty="0"/>
              <a:t>在使用分解后的关系模式再现原始关系模式时，使用笛卡儿积会增加很多没有意义的元组（一般不用）；使用条件连接对于特殊应用比较有效（不建议经常使用）；使用自然连接是最有效的方法（建议经常使用）。</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28491928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72</a:t>
            </a:fld>
            <a:endParaRPr lang="zh-CN" altLang="en-US" dirty="0"/>
          </a:p>
        </p:txBody>
      </p:sp>
      <p:sp>
        <p:nvSpPr>
          <p:cNvPr id="7" name="文本占位符 6"/>
          <p:cNvSpPr>
            <a:spLocks noGrp="1"/>
          </p:cNvSpPr>
          <p:nvPr>
            <p:ph type="body" idx="1"/>
          </p:nvPr>
        </p:nvSpPr>
        <p:spPr>
          <a:xfrm>
            <a:off x="143508" y="548680"/>
            <a:ext cx="8856984" cy="6048672"/>
          </a:xfrm>
        </p:spPr>
        <p:txBody>
          <a:bodyPr>
            <a:normAutofit/>
          </a:bodyPr>
          <a:lstStyle/>
          <a:p>
            <a:r>
              <a:rPr lang="zh-CN" altLang="zh-CN" sz="2000" dirty="0">
                <a:solidFill>
                  <a:srgbClr val="0000FF"/>
                </a:solidFill>
              </a:rPr>
              <a:t>定义</a:t>
            </a:r>
            <a:r>
              <a:rPr lang="en-US" altLang="zh-CN" sz="2000" dirty="0">
                <a:solidFill>
                  <a:srgbClr val="0000FF"/>
                </a:solidFill>
              </a:rPr>
              <a:t>6.21  </a:t>
            </a:r>
            <a:r>
              <a:rPr lang="en-US" altLang="zh-CN" sz="2000" dirty="0">
                <a:latin typeface="Kunstler Script" pitchFamily="66" charset="0"/>
              </a:rPr>
              <a:t>R </a:t>
            </a: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r>
              <a:rPr lang="zh-CN" altLang="zh-CN" sz="2000" dirty="0"/>
              <a:t>是</a:t>
            </a:r>
            <a:r>
              <a:rPr lang="en-US" altLang="zh-CN" sz="2000" dirty="0"/>
              <a:t>R(U,F)</a:t>
            </a:r>
            <a:r>
              <a:rPr lang="zh-CN" altLang="zh-CN" sz="2000" dirty="0"/>
              <a:t>的一个分解，如果</a:t>
            </a:r>
            <a:r>
              <a:rPr lang="en-US" altLang="zh-CN" sz="2000" dirty="0"/>
              <a:t>(F</a:t>
            </a:r>
            <a:r>
              <a:rPr lang="en-US" altLang="zh-CN" sz="2000" baseline="-25000" dirty="0"/>
              <a:t>1</a:t>
            </a:r>
            <a:r>
              <a:rPr lang="zh-CN" altLang="zh-CN" sz="2000" dirty="0"/>
              <a:t>∪</a:t>
            </a:r>
            <a:r>
              <a:rPr lang="en-US" altLang="zh-CN" sz="2000" dirty="0"/>
              <a:t>F</a:t>
            </a:r>
            <a:r>
              <a:rPr lang="en-US" altLang="zh-CN" sz="2000" baseline="-25000" dirty="0"/>
              <a:t>2</a:t>
            </a:r>
            <a:r>
              <a:rPr lang="zh-CN" altLang="zh-CN" sz="2000" dirty="0"/>
              <a:t>∪</a:t>
            </a:r>
            <a:r>
              <a:rPr lang="en-US" altLang="zh-CN" sz="2000" dirty="0"/>
              <a:t>…</a:t>
            </a:r>
            <a:r>
              <a:rPr lang="zh-CN" altLang="zh-CN" sz="2000" dirty="0"/>
              <a:t>∪</a:t>
            </a:r>
            <a:r>
              <a:rPr lang="en-US" altLang="zh-CN" sz="2000" dirty="0" err="1"/>
              <a:t>F</a:t>
            </a:r>
            <a:r>
              <a:rPr lang="en-US" altLang="zh-CN" sz="2000" baseline="-25000" dirty="0" err="1"/>
              <a:t>n</a:t>
            </a:r>
            <a:r>
              <a:rPr lang="en-US" altLang="zh-CN" sz="2000" dirty="0"/>
              <a:t>)</a:t>
            </a:r>
            <a:r>
              <a:rPr lang="zh-CN" altLang="zh-CN" sz="2000" dirty="0"/>
              <a:t>≡</a:t>
            </a:r>
            <a:r>
              <a:rPr lang="en-US" altLang="zh-CN" sz="2000" dirty="0"/>
              <a:t>F</a:t>
            </a:r>
            <a:r>
              <a:rPr lang="zh-CN" altLang="zh-CN" sz="2000" dirty="0"/>
              <a:t>，即：</a:t>
            </a:r>
          </a:p>
          <a:p>
            <a:endParaRPr lang="en-US" altLang="zh-CN" sz="2000" dirty="0" smtClean="0"/>
          </a:p>
          <a:p>
            <a:endParaRPr lang="en-US" altLang="zh-CN" sz="2000" dirty="0"/>
          </a:p>
          <a:p>
            <a:endParaRPr lang="en-US" altLang="zh-CN" sz="2000" dirty="0" smtClean="0"/>
          </a:p>
          <a:p>
            <a:endParaRPr lang="en-US" altLang="zh-CN" sz="2000" dirty="0"/>
          </a:p>
          <a:p>
            <a:r>
              <a:rPr lang="zh-CN" altLang="zh-CN" sz="2000" dirty="0" smtClean="0"/>
              <a:t>则</a:t>
            </a:r>
            <a:r>
              <a:rPr lang="en-US" altLang="zh-CN" sz="2000" dirty="0">
                <a:latin typeface="Kunstler Script" pitchFamily="66" charset="0"/>
              </a:rPr>
              <a:t>R</a:t>
            </a:r>
            <a:r>
              <a:rPr lang="en-US" altLang="zh-CN" sz="2000" dirty="0"/>
              <a:t> </a:t>
            </a:r>
            <a:r>
              <a:rPr lang="zh-CN" altLang="zh-CN" sz="2000" dirty="0"/>
              <a:t>称为</a:t>
            </a:r>
            <a:r>
              <a:rPr lang="en-US" altLang="zh-CN" sz="2000" dirty="0"/>
              <a:t>R</a:t>
            </a:r>
            <a:r>
              <a:rPr lang="zh-CN" altLang="zh-CN" sz="2000" dirty="0"/>
              <a:t>的</a:t>
            </a:r>
            <a:r>
              <a:rPr lang="zh-CN" altLang="zh-CN" sz="2000" dirty="0">
                <a:solidFill>
                  <a:srgbClr val="0000FF"/>
                </a:solidFill>
              </a:rPr>
              <a:t>保依赖分解</a:t>
            </a:r>
            <a:r>
              <a:rPr lang="zh-CN" altLang="zh-CN" sz="2000" dirty="0"/>
              <a: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553015733"/>
              </p:ext>
            </p:extLst>
          </p:nvPr>
        </p:nvGraphicFramePr>
        <p:xfrm>
          <a:off x="3023828" y="1484784"/>
          <a:ext cx="3096344" cy="1720191"/>
        </p:xfrm>
        <a:graphic>
          <a:graphicData uri="http://schemas.openxmlformats.org/presentationml/2006/ole">
            <mc:AlternateContent xmlns:mc="http://schemas.openxmlformats.org/markup-compatibility/2006">
              <mc:Choice xmlns:v="urn:schemas-microsoft-com:vml" Requires="v">
                <p:oleObj spid="_x0000_s46248" name="公式" r:id="rId3" imgW="774364" imgH="431613" progId="Equation.3">
                  <p:embed/>
                </p:oleObj>
              </mc:Choice>
              <mc:Fallback>
                <p:oleObj name="公式" r:id="rId3" imgW="774364" imgH="431613"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3828" y="1484784"/>
                        <a:ext cx="3096344" cy="1720191"/>
                      </a:xfrm>
                      <a:prstGeom prst="rect">
                        <a:avLst/>
                      </a:prstGeom>
                      <a:noFill/>
                    </p:spPr>
                  </p:pic>
                </p:oleObj>
              </mc:Fallback>
            </mc:AlternateContent>
          </a:graphicData>
        </a:graphic>
      </p:graphicFrame>
    </p:spTree>
    <p:extLst>
      <p:ext uri="{BB962C8B-B14F-4D97-AF65-F5344CB8AC3E}">
        <p14:creationId xmlns:p14="http://schemas.microsoft.com/office/powerpoint/2010/main" val="146072509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73</a:t>
            </a:fld>
            <a:endParaRPr lang="zh-CN" altLang="en-US" dirty="0"/>
          </a:p>
        </p:txBody>
      </p:sp>
      <p:sp>
        <p:nvSpPr>
          <p:cNvPr id="7" name="文本占位符 6"/>
          <p:cNvSpPr>
            <a:spLocks noGrp="1"/>
          </p:cNvSpPr>
          <p:nvPr>
            <p:ph type="body" idx="1"/>
          </p:nvPr>
        </p:nvSpPr>
        <p:spPr>
          <a:xfrm>
            <a:off x="251520" y="548680"/>
            <a:ext cx="8424936" cy="6048672"/>
          </a:xfrm>
        </p:spPr>
        <p:txBody>
          <a:bodyPr>
            <a:normAutofit/>
          </a:bodyPr>
          <a:lstStyle/>
          <a:p>
            <a:r>
              <a:rPr lang="zh-CN" altLang="zh-CN" sz="2000" dirty="0">
                <a:solidFill>
                  <a:srgbClr val="0000FF"/>
                </a:solidFill>
              </a:rPr>
              <a:t>例</a:t>
            </a:r>
            <a:r>
              <a:rPr lang="en-US" altLang="zh-CN" sz="2000" dirty="0">
                <a:solidFill>
                  <a:srgbClr val="0000FF"/>
                </a:solidFill>
              </a:rPr>
              <a:t>6.21  </a:t>
            </a:r>
            <a:r>
              <a:rPr lang="zh-CN" altLang="zh-CN" sz="2000" dirty="0"/>
              <a:t>对于例</a:t>
            </a:r>
            <a:r>
              <a:rPr lang="en-US" altLang="zh-CN" sz="2000" dirty="0"/>
              <a:t>6.20</a:t>
            </a:r>
            <a:r>
              <a:rPr lang="zh-CN" altLang="zh-CN" sz="2000" dirty="0"/>
              <a:t>中的分解，判断其保依赖性。</a:t>
            </a:r>
          </a:p>
          <a:p>
            <a:pPr marL="0" indent="0">
              <a:buNone/>
            </a:pPr>
            <a:r>
              <a:rPr lang="zh-CN" altLang="zh-CN" sz="2000" dirty="0"/>
              <a:t>（</a:t>
            </a:r>
            <a:r>
              <a:rPr lang="en-US" altLang="zh-CN" sz="2000" dirty="0"/>
              <a:t>1</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1</a:t>
            </a:r>
            <a:r>
              <a:rPr lang="en-US" altLang="zh-CN" sz="2000" dirty="0">
                <a:solidFill>
                  <a:srgbClr val="0000FF"/>
                </a:solidFill>
              </a:rPr>
              <a:t> ={B</a:t>
            </a:r>
            <a:r>
              <a:rPr lang="en-US" altLang="zh-CN" sz="2000" baseline="-25000" dirty="0">
                <a:solidFill>
                  <a:srgbClr val="0000FF"/>
                </a:solidFill>
              </a:rPr>
              <a:t>1</a:t>
            </a:r>
            <a:r>
              <a:rPr lang="en-US" altLang="zh-CN" sz="2000" dirty="0">
                <a:solidFill>
                  <a:srgbClr val="0000FF"/>
                </a:solidFill>
              </a:rPr>
              <a:t>,P</a:t>
            </a:r>
            <a:r>
              <a:rPr lang="en-US" altLang="zh-CN" sz="2000" baseline="-25000" dirty="0">
                <a:solidFill>
                  <a:srgbClr val="0000FF"/>
                </a:solidFill>
              </a:rPr>
              <a:t>1</a:t>
            </a:r>
            <a:r>
              <a:rPr lang="en-US" altLang="zh-CN" sz="2000" dirty="0">
                <a:solidFill>
                  <a:srgbClr val="0000FF"/>
                </a:solidFill>
              </a:rPr>
              <a:t>,S</a:t>
            </a:r>
            <a:r>
              <a:rPr lang="en-US" altLang="zh-CN" sz="2000" baseline="-25000" dirty="0">
                <a:solidFill>
                  <a:srgbClr val="0000FF"/>
                </a:solidFill>
              </a:rPr>
              <a:t>1</a:t>
            </a:r>
            <a:r>
              <a:rPr lang="en-US" altLang="zh-CN" sz="2000" dirty="0">
                <a:solidFill>
                  <a:srgbClr val="0000FF"/>
                </a:solidFill>
              </a:rPr>
              <a:t>}</a:t>
            </a:r>
            <a:r>
              <a:rPr lang="zh-CN" altLang="zh-CN" sz="2000" dirty="0">
                <a:solidFill>
                  <a:srgbClr val="0000FF"/>
                </a:solidFill>
              </a:rPr>
              <a:t>不保连接，不保依赖</a:t>
            </a:r>
            <a:r>
              <a:rPr lang="zh-CN" altLang="zh-CN" sz="2000" dirty="0"/>
              <a:t>。</a:t>
            </a:r>
          </a:p>
          <a:p>
            <a:pPr marL="625475" indent="0">
              <a:buNone/>
            </a:pPr>
            <a:r>
              <a:rPr lang="zh-CN" altLang="zh-CN" sz="2000" dirty="0"/>
              <a:t>因为在</a:t>
            </a:r>
            <a:r>
              <a:rPr lang="en-US" altLang="zh-CN" sz="2000" dirty="0"/>
              <a:t>B</a:t>
            </a:r>
            <a:r>
              <a:rPr lang="en-US" altLang="zh-CN" sz="2000" baseline="-25000" dirty="0"/>
              <a:t>1</a:t>
            </a:r>
            <a:r>
              <a:rPr lang="en-US" altLang="zh-CN" sz="2000" dirty="0"/>
              <a:t>({</a:t>
            </a:r>
            <a:r>
              <a:rPr lang="en-US" altLang="zh-CN" sz="2000" dirty="0" err="1"/>
              <a:t>BNo</a:t>
            </a:r>
            <a:r>
              <a:rPr lang="en-US" altLang="zh-CN" sz="2000" dirty="0"/>
              <a:t>},</a:t>
            </a:r>
            <a:r>
              <a:rPr lang="en-US" altLang="zh-CN" sz="2000" dirty="0">
                <a:sym typeface="Symbol"/>
              </a:rPr>
              <a:t></a:t>
            </a:r>
            <a:r>
              <a:rPr lang="en-US" altLang="zh-CN" sz="2000" dirty="0"/>
              <a:t>)</a:t>
            </a:r>
            <a:r>
              <a:rPr lang="zh-CN" altLang="zh-CN" sz="2000" dirty="0"/>
              <a:t>，</a:t>
            </a:r>
            <a:r>
              <a:rPr lang="en-US" altLang="zh-CN" sz="2000" dirty="0"/>
              <a:t>P</a:t>
            </a:r>
            <a:r>
              <a:rPr lang="en-US" altLang="zh-CN" sz="2000" baseline="-25000" dirty="0"/>
              <a:t>1</a:t>
            </a:r>
            <a:r>
              <a:rPr lang="en-US" altLang="zh-CN" sz="2000" dirty="0"/>
              <a:t>({</a:t>
            </a:r>
            <a:r>
              <a:rPr lang="en-US" altLang="zh-CN" sz="2000" dirty="0" err="1"/>
              <a:t>PNo</a:t>
            </a:r>
            <a:r>
              <a:rPr lang="en-US" altLang="zh-CN" sz="2000" dirty="0"/>
              <a:t>},</a:t>
            </a:r>
            <a:r>
              <a:rPr lang="en-US" altLang="zh-CN" sz="2000" dirty="0">
                <a:sym typeface="Symbol"/>
              </a:rPr>
              <a:t></a:t>
            </a:r>
            <a:r>
              <a:rPr lang="en-US" altLang="zh-CN" sz="2000" dirty="0"/>
              <a:t>)</a:t>
            </a:r>
            <a:r>
              <a:rPr lang="zh-CN" altLang="zh-CN" sz="2000" dirty="0"/>
              <a:t>，</a:t>
            </a:r>
            <a:r>
              <a:rPr lang="en-US" altLang="zh-CN" sz="2000" dirty="0"/>
              <a:t>S</a:t>
            </a:r>
            <a:r>
              <a:rPr lang="en-US" altLang="zh-CN" sz="2000" baseline="-25000" dirty="0"/>
              <a:t>1</a:t>
            </a:r>
            <a:r>
              <a:rPr lang="en-US" altLang="zh-CN" sz="2000" dirty="0"/>
              <a:t>(</a:t>
            </a:r>
            <a:r>
              <a:rPr lang="en-US" altLang="zh-CN" sz="2000" dirty="0" err="1"/>
              <a:t>PBoss</a:t>
            </a:r>
            <a:r>
              <a:rPr lang="en-US" altLang="zh-CN" sz="2000" dirty="0"/>
              <a:t>,</a:t>
            </a:r>
            <a:r>
              <a:rPr lang="en-US" altLang="zh-CN" sz="2000" dirty="0">
                <a:sym typeface="Symbol"/>
              </a:rPr>
              <a:t></a:t>
            </a:r>
            <a:r>
              <a:rPr lang="en-US" altLang="zh-CN" sz="2000" dirty="0"/>
              <a:t>)</a:t>
            </a:r>
            <a:r>
              <a:rPr lang="zh-CN" altLang="zh-CN" sz="2000" dirty="0"/>
              <a:t>中</a:t>
            </a:r>
            <a:r>
              <a:rPr lang="en-US" altLang="zh-CN" sz="2000" dirty="0"/>
              <a:t>,F</a:t>
            </a:r>
            <a:r>
              <a:rPr lang="en-US" altLang="zh-CN" sz="2000" baseline="-25000" dirty="0"/>
              <a:t>B1</a:t>
            </a:r>
            <a:r>
              <a:rPr lang="zh-CN" altLang="zh-CN" sz="2000" dirty="0"/>
              <a:t>∪</a:t>
            </a:r>
            <a:r>
              <a:rPr lang="en-US" altLang="zh-CN" sz="2000" dirty="0"/>
              <a:t>F</a:t>
            </a:r>
            <a:r>
              <a:rPr lang="en-US" altLang="zh-CN" sz="2000" baseline="-25000" dirty="0"/>
              <a:t>P1</a:t>
            </a:r>
            <a:r>
              <a:rPr lang="zh-CN" altLang="zh-CN" sz="2000" dirty="0"/>
              <a:t>∪</a:t>
            </a:r>
            <a:r>
              <a:rPr lang="en-US" altLang="zh-CN" sz="2000" dirty="0"/>
              <a:t>F</a:t>
            </a:r>
            <a:r>
              <a:rPr lang="en-US" altLang="zh-CN" sz="2000" baseline="-25000" dirty="0"/>
              <a:t>S1</a:t>
            </a:r>
            <a:r>
              <a:rPr lang="en-US" altLang="zh-CN" sz="2000" dirty="0"/>
              <a:t>=</a:t>
            </a:r>
            <a:r>
              <a:rPr lang="en-US" altLang="zh-CN" sz="2000" dirty="0">
                <a:sym typeface="Symbol"/>
              </a:rPr>
              <a:t></a:t>
            </a:r>
            <a:r>
              <a:rPr lang="zh-CN" altLang="zh-CN" sz="2000" dirty="0"/>
              <a:t>。</a:t>
            </a:r>
          </a:p>
          <a:p>
            <a:pPr marL="625475" indent="0">
              <a:buNone/>
            </a:pPr>
            <a:r>
              <a:rPr lang="zh-CN" altLang="zh-CN" sz="2000" dirty="0"/>
              <a:t>所以</a:t>
            </a:r>
            <a:r>
              <a:rPr lang="en-US" altLang="zh-CN" sz="2000" dirty="0"/>
              <a:t> </a:t>
            </a:r>
            <a:r>
              <a:rPr lang="en-US" altLang="zh-CN" sz="2000" dirty="0" smtClean="0"/>
              <a:t>        </a:t>
            </a:r>
            <a:r>
              <a:rPr lang="zh-CN" altLang="zh-CN" sz="2000" dirty="0" smtClean="0"/>
              <a:t>≠</a:t>
            </a:r>
            <a:r>
              <a:rPr lang="en-US" altLang="zh-CN" sz="2000" dirty="0"/>
              <a:t>(F</a:t>
            </a:r>
            <a:r>
              <a:rPr lang="en-US" altLang="zh-CN" sz="2000" baseline="-25000" dirty="0"/>
              <a:t>B1</a:t>
            </a:r>
            <a:r>
              <a:rPr lang="zh-CN" altLang="zh-CN" sz="2000" dirty="0"/>
              <a:t>∪</a:t>
            </a:r>
            <a:r>
              <a:rPr lang="en-US" altLang="zh-CN" sz="2000" dirty="0"/>
              <a:t>F</a:t>
            </a:r>
            <a:r>
              <a:rPr lang="en-US" altLang="zh-CN" sz="2000" baseline="-25000" dirty="0"/>
              <a:t>P1</a:t>
            </a:r>
            <a:r>
              <a:rPr lang="zh-CN" altLang="zh-CN" sz="2000" dirty="0"/>
              <a:t>∪</a:t>
            </a:r>
            <a:r>
              <a:rPr lang="en-US" altLang="zh-CN" sz="2000" dirty="0"/>
              <a:t>F</a:t>
            </a:r>
            <a:r>
              <a:rPr lang="en-US" altLang="zh-CN" sz="2000" baseline="-25000" dirty="0"/>
              <a:t>S1</a:t>
            </a:r>
            <a:r>
              <a:rPr lang="en-US" altLang="zh-CN" sz="2000" dirty="0"/>
              <a:t>) </a:t>
            </a:r>
            <a:r>
              <a:rPr lang="en-US" altLang="zh-CN" sz="2000" dirty="0" smtClean="0"/>
              <a:t>   </a:t>
            </a:r>
            <a:r>
              <a:rPr lang="zh-CN" altLang="zh-CN" sz="2000" dirty="0" smtClean="0"/>
              <a:t>。</a:t>
            </a:r>
            <a:endParaRPr lang="zh-CN" altLang="zh-CN" sz="2000" dirty="0"/>
          </a:p>
          <a:p>
            <a:pPr marL="0" indent="0">
              <a:buNone/>
            </a:pPr>
            <a:r>
              <a:rPr lang="zh-CN" altLang="zh-CN" sz="2000" dirty="0"/>
              <a:t>（</a:t>
            </a:r>
            <a:r>
              <a:rPr lang="en-US" altLang="zh-CN" sz="2000" dirty="0"/>
              <a:t>2</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2</a:t>
            </a:r>
            <a:r>
              <a:rPr lang="en-US" altLang="zh-CN" sz="2000" dirty="0">
                <a:solidFill>
                  <a:srgbClr val="0000FF"/>
                </a:solidFill>
              </a:rPr>
              <a:t> ={B</a:t>
            </a:r>
            <a:r>
              <a:rPr lang="en-US" altLang="zh-CN" sz="2000" baseline="-25000" dirty="0">
                <a:solidFill>
                  <a:srgbClr val="0000FF"/>
                </a:solidFill>
              </a:rPr>
              <a:t>2</a:t>
            </a:r>
            <a:r>
              <a:rPr lang="en-US" altLang="zh-CN" sz="2000" dirty="0">
                <a:solidFill>
                  <a:srgbClr val="0000FF"/>
                </a:solidFill>
              </a:rPr>
              <a:t>,P</a:t>
            </a:r>
            <a:r>
              <a:rPr lang="en-US" altLang="zh-CN" sz="2000" baseline="-25000" dirty="0">
                <a:solidFill>
                  <a:srgbClr val="0000FF"/>
                </a:solidFill>
              </a:rPr>
              <a:t>2</a:t>
            </a:r>
            <a:r>
              <a:rPr lang="en-US" altLang="zh-CN" sz="2000" dirty="0">
                <a:solidFill>
                  <a:srgbClr val="0000FF"/>
                </a:solidFill>
              </a:rPr>
              <a:t>}</a:t>
            </a:r>
            <a:r>
              <a:rPr lang="zh-CN" altLang="zh-CN" sz="2000" dirty="0">
                <a:solidFill>
                  <a:srgbClr val="0000FF"/>
                </a:solidFill>
              </a:rPr>
              <a:t>保连接，保依赖</a:t>
            </a:r>
            <a:r>
              <a:rPr lang="zh-CN" altLang="zh-CN" sz="2000" dirty="0"/>
              <a:t>。理想的分解。</a:t>
            </a:r>
          </a:p>
          <a:p>
            <a:pPr marL="625475" indent="0">
              <a:buNone/>
            </a:pPr>
            <a:r>
              <a:rPr lang="zh-CN" altLang="zh-CN" sz="2000" dirty="0"/>
              <a:t>因为在</a:t>
            </a:r>
            <a:r>
              <a:rPr lang="en-US" altLang="zh-CN" sz="2000" dirty="0"/>
              <a:t>B</a:t>
            </a:r>
            <a:r>
              <a:rPr lang="en-US" altLang="zh-CN" sz="2000" baseline="-25000" dirty="0"/>
              <a:t>2</a:t>
            </a:r>
            <a:r>
              <a:rPr lang="en-US" altLang="zh-CN" sz="2000" dirty="0"/>
              <a:t>({</a:t>
            </a:r>
            <a:r>
              <a:rPr lang="en-US" altLang="zh-CN" sz="2000" dirty="0" err="1"/>
              <a:t>BNo,PNo</a:t>
            </a:r>
            <a:r>
              <a:rPr lang="en-US" altLang="zh-CN" sz="2000" dirty="0"/>
              <a:t>},{</a:t>
            </a:r>
            <a:r>
              <a:rPr lang="en-US" altLang="zh-CN" sz="2000" dirty="0" err="1"/>
              <a:t>BNo</a:t>
            </a:r>
            <a:r>
              <a:rPr lang="zh-CN" altLang="zh-CN" sz="2000" dirty="0"/>
              <a:t>→</a:t>
            </a:r>
            <a:r>
              <a:rPr lang="en-US" altLang="zh-CN" sz="2000" dirty="0" err="1"/>
              <a:t>PNo</a:t>
            </a:r>
            <a:r>
              <a:rPr lang="en-US" altLang="zh-CN" sz="2000" dirty="0"/>
              <a:t>})</a:t>
            </a:r>
            <a:r>
              <a:rPr lang="zh-CN" altLang="zh-CN" sz="2000" dirty="0"/>
              <a:t>，</a:t>
            </a:r>
            <a:r>
              <a:rPr lang="en-US" altLang="zh-CN" sz="2000" dirty="0"/>
              <a:t>P</a:t>
            </a:r>
            <a:r>
              <a:rPr lang="en-US" altLang="zh-CN" sz="2000" baseline="-25000" dirty="0"/>
              <a:t>2</a:t>
            </a:r>
            <a:r>
              <a:rPr lang="en-US" altLang="zh-CN" sz="2000" dirty="0"/>
              <a:t>({</a:t>
            </a:r>
            <a:r>
              <a:rPr lang="en-US" altLang="zh-CN" sz="2000" dirty="0" err="1"/>
              <a:t>PNo,PBoss</a:t>
            </a:r>
            <a:r>
              <a:rPr lang="en-US" altLang="zh-CN" sz="2000" dirty="0"/>
              <a:t>},{</a:t>
            </a:r>
            <a:r>
              <a:rPr lang="en-US" altLang="zh-CN" sz="2000" dirty="0" err="1"/>
              <a:t>PNo</a:t>
            </a:r>
            <a:r>
              <a:rPr lang="zh-CN" altLang="zh-CN" sz="2000" dirty="0"/>
              <a:t>→</a:t>
            </a:r>
            <a:r>
              <a:rPr lang="en-US" altLang="zh-CN" sz="2000" dirty="0" err="1"/>
              <a:t>PBoss</a:t>
            </a:r>
            <a:r>
              <a:rPr lang="en-US" altLang="zh-CN" sz="2000" dirty="0"/>
              <a:t>})</a:t>
            </a:r>
            <a:r>
              <a:rPr lang="zh-CN" altLang="zh-CN" sz="2000" dirty="0"/>
              <a:t>中，</a:t>
            </a:r>
          </a:p>
          <a:p>
            <a:pPr marL="625475" indent="0">
              <a:buNone/>
            </a:pPr>
            <a:r>
              <a:rPr lang="en-US" altLang="zh-CN" sz="2000" dirty="0"/>
              <a:t>F</a:t>
            </a:r>
            <a:r>
              <a:rPr lang="en-US" altLang="zh-CN" sz="2000" baseline="-25000" dirty="0"/>
              <a:t>B2</a:t>
            </a:r>
            <a:r>
              <a:rPr lang="zh-CN" altLang="zh-CN" sz="2000" dirty="0"/>
              <a:t>∪</a:t>
            </a:r>
            <a:r>
              <a:rPr lang="en-US" altLang="zh-CN" sz="2000" dirty="0" smtClean="0"/>
              <a:t>F</a:t>
            </a:r>
            <a:r>
              <a:rPr lang="en-US" altLang="zh-CN" sz="2000" baseline="-25000" dirty="0" smtClean="0"/>
              <a:t>P2</a:t>
            </a:r>
            <a:r>
              <a:rPr lang="en-US" altLang="zh-CN" sz="2000" dirty="0" smtClean="0"/>
              <a:t>={</a:t>
            </a:r>
            <a:r>
              <a:rPr lang="en-US" altLang="zh-CN" sz="2000" dirty="0" err="1" smtClean="0"/>
              <a:t>BNo</a:t>
            </a:r>
            <a:r>
              <a:rPr lang="zh-CN" altLang="zh-CN" sz="2000" dirty="0" smtClean="0"/>
              <a:t>→</a:t>
            </a:r>
            <a:r>
              <a:rPr lang="en-US" altLang="zh-CN" sz="2000" dirty="0" err="1" smtClean="0"/>
              <a:t>PNo,PNo</a:t>
            </a:r>
            <a:r>
              <a:rPr lang="zh-CN" altLang="zh-CN" sz="2000" dirty="0" smtClean="0"/>
              <a:t>→</a:t>
            </a:r>
            <a:r>
              <a:rPr lang="en-US" altLang="zh-CN" sz="2000" dirty="0" err="1" smtClean="0"/>
              <a:t>PBoss</a:t>
            </a:r>
            <a:r>
              <a:rPr lang="en-US" altLang="zh-CN" sz="2000" dirty="0" smtClean="0"/>
              <a:t>}</a:t>
            </a:r>
            <a:r>
              <a:rPr lang="zh-CN" altLang="zh-CN" sz="2000" dirty="0" smtClean="0"/>
              <a:t>。</a:t>
            </a:r>
            <a:endParaRPr lang="en-US" altLang="zh-CN" sz="2000" dirty="0" smtClean="0"/>
          </a:p>
          <a:p>
            <a:pPr marL="625475" indent="0">
              <a:buNone/>
            </a:pPr>
            <a:r>
              <a:rPr lang="zh-CN" altLang="zh-CN" sz="2000" dirty="0" smtClean="0"/>
              <a:t>所以</a:t>
            </a:r>
            <a:r>
              <a:rPr lang="en-US" altLang="zh-CN" sz="2000" dirty="0" smtClean="0"/>
              <a:t>         </a:t>
            </a:r>
            <a:r>
              <a:rPr lang="en-US" altLang="zh-CN" sz="2000" dirty="0"/>
              <a:t>=(F</a:t>
            </a:r>
            <a:r>
              <a:rPr lang="en-US" altLang="zh-CN" sz="2000" baseline="-25000" dirty="0"/>
              <a:t>B2</a:t>
            </a:r>
            <a:r>
              <a:rPr lang="zh-CN" altLang="zh-CN" sz="2000" dirty="0"/>
              <a:t>∪</a:t>
            </a:r>
            <a:r>
              <a:rPr lang="en-US" altLang="zh-CN" sz="2000" dirty="0"/>
              <a:t>F</a:t>
            </a:r>
            <a:r>
              <a:rPr lang="en-US" altLang="zh-CN" sz="2000" baseline="-25000" dirty="0"/>
              <a:t>P2</a:t>
            </a:r>
            <a:r>
              <a:rPr lang="en-US" altLang="zh-CN" sz="2000" dirty="0"/>
              <a:t>) </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110670233"/>
              </p:ext>
            </p:extLst>
          </p:nvPr>
        </p:nvGraphicFramePr>
        <p:xfrm>
          <a:off x="1619672" y="2420888"/>
          <a:ext cx="376237" cy="450850"/>
        </p:xfrm>
        <a:graphic>
          <a:graphicData uri="http://schemas.openxmlformats.org/presentationml/2006/ole">
            <mc:AlternateContent xmlns:mc="http://schemas.openxmlformats.org/markup-compatibility/2006">
              <mc:Choice xmlns:v="urn:schemas-microsoft-com:vml" Requires="v">
                <p:oleObj spid="_x0000_s48794" name="公式" r:id="rId3" imgW="215640" imgH="253800" progId="Equation.3">
                  <p:embed/>
                </p:oleObj>
              </mc:Choice>
              <mc:Fallback>
                <p:oleObj name="公式" r:id="rId3" imgW="215640" imgH="253800" progId="Equation.3">
                  <p:embed/>
                  <p:pic>
                    <p:nvPicPr>
                      <p:cNvPr id="0" name="对象 8"/>
                      <p:cNvPicPr>
                        <a:picLocks noChangeAspect="1" noChangeArrowheads="1"/>
                      </p:cNvPicPr>
                      <p:nvPr/>
                    </p:nvPicPr>
                    <p:blipFill>
                      <a:blip r:embed="rId4"/>
                      <a:srcRect/>
                      <a:stretch>
                        <a:fillRect/>
                      </a:stretch>
                    </p:blipFill>
                    <p:spPr bwMode="auto">
                      <a:xfrm>
                        <a:off x="1619672" y="2420888"/>
                        <a:ext cx="376237"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360289407"/>
              </p:ext>
            </p:extLst>
          </p:nvPr>
        </p:nvGraphicFramePr>
        <p:xfrm>
          <a:off x="1619672" y="4725144"/>
          <a:ext cx="376237" cy="450850"/>
        </p:xfrm>
        <a:graphic>
          <a:graphicData uri="http://schemas.openxmlformats.org/presentationml/2006/ole">
            <mc:AlternateContent xmlns:mc="http://schemas.openxmlformats.org/markup-compatibility/2006">
              <mc:Choice xmlns:v="urn:schemas-microsoft-com:vml" Requires="v">
                <p:oleObj spid="_x0000_s48795" name="公式" r:id="rId5" imgW="215640" imgH="253800" progId="Equation.3">
                  <p:embed/>
                </p:oleObj>
              </mc:Choice>
              <mc:Fallback>
                <p:oleObj name="公式" r:id="rId5" imgW="215640" imgH="253800" progId="Equation.3">
                  <p:embed/>
                  <p:pic>
                    <p:nvPicPr>
                      <p:cNvPr id="0" name=""/>
                      <p:cNvPicPr>
                        <a:picLocks noChangeAspect="1" noChangeArrowheads="1"/>
                      </p:cNvPicPr>
                      <p:nvPr/>
                    </p:nvPicPr>
                    <p:blipFill>
                      <a:blip r:embed="rId4"/>
                      <a:srcRect/>
                      <a:stretch>
                        <a:fillRect/>
                      </a:stretch>
                    </p:blipFill>
                    <p:spPr bwMode="auto">
                      <a:xfrm>
                        <a:off x="1619672" y="4725144"/>
                        <a:ext cx="376237"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4212109867"/>
              </p:ext>
            </p:extLst>
          </p:nvPr>
        </p:nvGraphicFramePr>
        <p:xfrm>
          <a:off x="3995936" y="2348880"/>
          <a:ext cx="360040" cy="432048"/>
        </p:xfrm>
        <a:graphic>
          <a:graphicData uri="http://schemas.openxmlformats.org/presentationml/2006/ole">
            <mc:AlternateContent xmlns:mc="http://schemas.openxmlformats.org/markup-compatibility/2006">
              <mc:Choice xmlns:v="urn:schemas-microsoft-com:vml" Requires="v">
                <p:oleObj spid="_x0000_s48796" name="公式" r:id="rId6" imgW="101468" imgH="177569" progId="Equation.3">
                  <p:embed/>
                </p:oleObj>
              </mc:Choice>
              <mc:Fallback>
                <p:oleObj name="公式" r:id="rId6" imgW="101468" imgH="17756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5936" y="2348880"/>
                        <a:ext cx="360040" cy="432048"/>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782203754"/>
              </p:ext>
            </p:extLst>
          </p:nvPr>
        </p:nvGraphicFramePr>
        <p:xfrm>
          <a:off x="3347864" y="4653136"/>
          <a:ext cx="360040" cy="432048"/>
        </p:xfrm>
        <a:graphic>
          <a:graphicData uri="http://schemas.openxmlformats.org/presentationml/2006/ole">
            <mc:AlternateContent xmlns:mc="http://schemas.openxmlformats.org/markup-compatibility/2006">
              <mc:Choice xmlns:v="urn:schemas-microsoft-com:vml" Requires="v">
                <p:oleObj spid="_x0000_s48797" name="公式" r:id="rId8" imgW="101468" imgH="177569" progId="Equation.3">
                  <p:embed/>
                </p:oleObj>
              </mc:Choice>
              <mc:Fallback>
                <p:oleObj name="公式" r:id="rId8" imgW="101468" imgH="17756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7864" y="4653136"/>
                        <a:ext cx="360040" cy="432048"/>
                      </a:xfrm>
                      <a:prstGeom prst="rect">
                        <a:avLst/>
                      </a:prstGeom>
                      <a:noFill/>
                    </p:spPr>
                  </p:pic>
                </p:oleObj>
              </mc:Fallback>
            </mc:AlternateContent>
          </a:graphicData>
        </a:graphic>
      </p:graphicFrame>
    </p:spTree>
    <p:extLst>
      <p:ext uri="{BB962C8B-B14F-4D97-AF65-F5344CB8AC3E}">
        <p14:creationId xmlns:p14="http://schemas.microsoft.com/office/powerpoint/2010/main" val="62113424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6.3.5  </a:t>
            </a:r>
            <a:r>
              <a:rPr lang="zh-CN" altLang="zh-CN" dirty="0"/>
              <a:t>关系模式分解</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74</a:t>
            </a:fld>
            <a:endParaRPr lang="zh-CN" altLang="en-US" dirty="0"/>
          </a:p>
        </p:txBody>
      </p:sp>
      <p:sp>
        <p:nvSpPr>
          <p:cNvPr id="7" name="文本占位符 6"/>
          <p:cNvSpPr>
            <a:spLocks noGrp="1"/>
          </p:cNvSpPr>
          <p:nvPr>
            <p:ph type="body" idx="1"/>
          </p:nvPr>
        </p:nvSpPr>
        <p:spPr>
          <a:xfrm>
            <a:off x="323528" y="548680"/>
            <a:ext cx="8352928" cy="6048672"/>
          </a:xfrm>
        </p:spPr>
        <p:txBody>
          <a:bodyPr>
            <a:normAutofit/>
          </a:bodyPr>
          <a:lstStyle/>
          <a:p>
            <a:r>
              <a:rPr lang="zh-CN" altLang="zh-CN" sz="2000" dirty="0">
                <a:solidFill>
                  <a:srgbClr val="0000FF"/>
                </a:solidFill>
              </a:rPr>
              <a:t>例</a:t>
            </a:r>
            <a:r>
              <a:rPr lang="en-US" altLang="zh-CN" sz="2000" dirty="0">
                <a:solidFill>
                  <a:srgbClr val="0000FF"/>
                </a:solidFill>
              </a:rPr>
              <a:t>6.21  </a:t>
            </a:r>
            <a:r>
              <a:rPr lang="zh-CN" altLang="zh-CN" sz="2000" dirty="0"/>
              <a:t>对于例</a:t>
            </a:r>
            <a:r>
              <a:rPr lang="en-US" altLang="zh-CN" sz="2000" dirty="0"/>
              <a:t>6.20</a:t>
            </a:r>
            <a:r>
              <a:rPr lang="zh-CN" altLang="zh-CN" sz="2000" dirty="0"/>
              <a:t>中的分解，判断其保依赖性。</a:t>
            </a:r>
          </a:p>
          <a:p>
            <a:pPr marL="0" indent="0">
              <a:buNone/>
            </a:pPr>
            <a:r>
              <a:rPr lang="zh-CN" altLang="zh-CN" sz="2000" dirty="0"/>
              <a:t>（</a:t>
            </a:r>
            <a:r>
              <a:rPr lang="en-US" altLang="zh-CN" sz="2000" dirty="0"/>
              <a:t>3</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3</a:t>
            </a:r>
            <a:r>
              <a:rPr lang="en-US" altLang="zh-CN" sz="2000" dirty="0">
                <a:solidFill>
                  <a:srgbClr val="0000FF"/>
                </a:solidFill>
              </a:rPr>
              <a:t> ={B</a:t>
            </a:r>
            <a:r>
              <a:rPr lang="en-US" altLang="zh-CN" sz="2000" baseline="-25000" dirty="0">
                <a:solidFill>
                  <a:srgbClr val="0000FF"/>
                </a:solidFill>
              </a:rPr>
              <a:t>3</a:t>
            </a:r>
            <a:r>
              <a:rPr lang="en-US" altLang="zh-CN" sz="2000" dirty="0">
                <a:solidFill>
                  <a:srgbClr val="0000FF"/>
                </a:solidFill>
              </a:rPr>
              <a:t>,P</a:t>
            </a:r>
            <a:r>
              <a:rPr lang="en-US" altLang="zh-CN" sz="2000" baseline="-25000" dirty="0">
                <a:solidFill>
                  <a:srgbClr val="0000FF"/>
                </a:solidFill>
              </a:rPr>
              <a:t>3</a:t>
            </a:r>
            <a:r>
              <a:rPr lang="en-US" altLang="zh-CN" sz="2000" dirty="0">
                <a:solidFill>
                  <a:srgbClr val="0000FF"/>
                </a:solidFill>
              </a:rPr>
              <a:t>}</a:t>
            </a:r>
            <a:r>
              <a:rPr lang="zh-CN" altLang="zh-CN" sz="2000" dirty="0">
                <a:solidFill>
                  <a:srgbClr val="0000FF"/>
                </a:solidFill>
              </a:rPr>
              <a:t>保连接，不保依赖</a:t>
            </a:r>
            <a:r>
              <a:rPr lang="zh-CN" altLang="zh-CN" sz="2000" dirty="0"/>
              <a:t>。</a:t>
            </a:r>
          </a:p>
          <a:p>
            <a:pPr marL="625475" indent="0">
              <a:buNone/>
            </a:pPr>
            <a:r>
              <a:rPr lang="zh-CN" altLang="zh-CN" sz="2000" dirty="0"/>
              <a:t>因为在</a:t>
            </a:r>
            <a:r>
              <a:rPr lang="en-US" altLang="zh-CN" sz="2000" dirty="0"/>
              <a:t>B</a:t>
            </a:r>
            <a:r>
              <a:rPr lang="en-US" altLang="zh-CN" sz="2000" baseline="-25000" dirty="0"/>
              <a:t>3</a:t>
            </a:r>
            <a:r>
              <a:rPr lang="en-US" altLang="zh-CN" sz="2000" dirty="0"/>
              <a:t>({</a:t>
            </a:r>
            <a:r>
              <a:rPr lang="en-US" altLang="zh-CN" sz="2000" dirty="0" err="1"/>
              <a:t>BNo,PNo</a:t>
            </a:r>
            <a:r>
              <a:rPr lang="en-US" altLang="zh-CN" sz="2000" dirty="0"/>
              <a:t>},{</a:t>
            </a:r>
            <a:r>
              <a:rPr lang="en-US" altLang="zh-CN" sz="2000" dirty="0" err="1"/>
              <a:t>BNo</a:t>
            </a:r>
            <a:r>
              <a:rPr lang="zh-CN" altLang="zh-CN" sz="2000" dirty="0"/>
              <a:t>→</a:t>
            </a:r>
            <a:r>
              <a:rPr lang="en-US" altLang="zh-CN" sz="2000" dirty="0" err="1"/>
              <a:t>PNo</a:t>
            </a:r>
            <a:r>
              <a:rPr lang="en-US" altLang="zh-CN" sz="2000" dirty="0"/>
              <a:t>})</a:t>
            </a:r>
            <a:r>
              <a:rPr lang="zh-CN" altLang="zh-CN" sz="2000" dirty="0"/>
              <a:t>，</a:t>
            </a:r>
            <a:r>
              <a:rPr lang="en-US" altLang="zh-CN" sz="2000" dirty="0"/>
              <a:t>P</a:t>
            </a:r>
            <a:r>
              <a:rPr lang="en-US" altLang="zh-CN" sz="2000" baseline="-25000" dirty="0"/>
              <a:t>3</a:t>
            </a:r>
            <a:r>
              <a:rPr lang="en-US" altLang="zh-CN" sz="2000" dirty="0"/>
              <a:t>({</a:t>
            </a:r>
            <a:r>
              <a:rPr lang="en-US" altLang="zh-CN" sz="2000" dirty="0" err="1"/>
              <a:t>BNo,PBoss</a:t>
            </a:r>
            <a:r>
              <a:rPr lang="en-US" altLang="zh-CN" sz="2000" dirty="0"/>
              <a:t>}</a:t>
            </a:r>
            <a:r>
              <a:rPr lang="zh-CN" altLang="zh-CN" sz="2000" dirty="0"/>
              <a:t>，</a:t>
            </a:r>
            <a:r>
              <a:rPr lang="en-US" altLang="zh-CN" sz="2000" dirty="0"/>
              <a:t>{</a:t>
            </a:r>
            <a:r>
              <a:rPr lang="en-US" altLang="zh-CN" sz="2000" dirty="0" err="1"/>
              <a:t>BNo</a:t>
            </a:r>
            <a:r>
              <a:rPr lang="zh-CN" altLang="zh-CN" sz="2000" dirty="0"/>
              <a:t>→</a:t>
            </a:r>
            <a:r>
              <a:rPr lang="en-US" altLang="zh-CN" sz="2000" dirty="0" err="1"/>
              <a:t>PBoss</a:t>
            </a:r>
            <a:r>
              <a:rPr lang="en-US" altLang="zh-CN" sz="2000" dirty="0"/>
              <a:t>})</a:t>
            </a:r>
            <a:r>
              <a:rPr lang="zh-CN" altLang="zh-CN" sz="2000" dirty="0"/>
              <a:t>中，</a:t>
            </a:r>
          </a:p>
          <a:p>
            <a:pPr marL="625475" indent="0">
              <a:buNone/>
            </a:pPr>
            <a:r>
              <a:rPr lang="en-US" altLang="zh-CN" sz="2000" dirty="0"/>
              <a:t>F</a:t>
            </a:r>
            <a:r>
              <a:rPr lang="en-US" altLang="zh-CN" sz="2000" baseline="-25000" dirty="0"/>
              <a:t>B3</a:t>
            </a:r>
            <a:r>
              <a:rPr lang="zh-CN" altLang="zh-CN" sz="2000" dirty="0"/>
              <a:t>∪</a:t>
            </a:r>
            <a:r>
              <a:rPr lang="en-US" altLang="zh-CN" sz="2000" dirty="0"/>
              <a:t>F</a:t>
            </a:r>
            <a:r>
              <a:rPr lang="en-US" altLang="zh-CN" sz="2000" baseline="-25000" dirty="0"/>
              <a:t>P3</a:t>
            </a:r>
            <a:r>
              <a:rPr lang="en-US" altLang="zh-CN" sz="2000" dirty="0"/>
              <a:t>={</a:t>
            </a:r>
            <a:r>
              <a:rPr lang="en-US" altLang="zh-CN" sz="2000" dirty="0" err="1"/>
              <a:t>BNo</a:t>
            </a:r>
            <a:r>
              <a:rPr lang="zh-CN" altLang="zh-CN" sz="2000" dirty="0"/>
              <a:t>→</a:t>
            </a:r>
            <a:r>
              <a:rPr lang="en-US" altLang="zh-CN" sz="2000" dirty="0" err="1"/>
              <a:t>PNo,BNo</a:t>
            </a:r>
            <a:r>
              <a:rPr lang="zh-CN" altLang="zh-CN" sz="2000" dirty="0"/>
              <a:t>→</a:t>
            </a:r>
            <a:r>
              <a:rPr lang="en-US" altLang="zh-CN" sz="2000" dirty="0" err="1"/>
              <a:t>PBoss</a:t>
            </a:r>
            <a:r>
              <a:rPr lang="en-US" altLang="zh-CN" sz="2000" dirty="0"/>
              <a:t>}</a:t>
            </a:r>
            <a:r>
              <a:rPr lang="zh-CN" altLang="zh-CN" sz="2000" dirty="0"/>
              <a:t>。</a:t>
            </a:r>
          </a:p>
          <a:p>
            <a:pPr marL="625475" indent="0">
              <a:buNone/>
            </a:pPr>
            <a:r>
              <a:rPr lang="zh-CN" altLang="zh-CN" sz="2000" dirty="0"/>
              <a:t>所以</a:t>
            </a:r>
            <a:r>
              <a:rPr lang="en-US" altLang="zh-CN" sz="2000" dirty="0"/>
              <a:t> </a:t>
            </a:r>
            <a:r>
              <a:rPr lang="en-US" altLang="zh-CN" sz="2000" dirty="0" smtClean="0"/>
              <a:t>        </a:t>
            </a:r>
            <a:r>
              <a:rPr lang="zh-CN" altLang="zh-CN" sz="2000" dirty="0" smtClean="0"/>
              <a:t>≠</a:t>
            </a:r>
            <a:r>
              <a:rPr lang="en-US" altLang="zh-CN" sz="2000" dirty="0"/>
              <a:t>(F</a:t>
            </a:r>
            <a:r>
              <a:rPr lang="en-US" altLang="zh-CN" sz="2000" baseline="-25000" dirty="0"/>
              <a:t>B3</a:t>
            </a:r>
            <a:r>
              <a:rPr lang="zh-CN" altLang="zh-CN" sz="2000" dirty="0"/>
              <a:t>∪</a:t>
            </a:r>
            <a:r>
              <a:rPr lang="en-US" altLang="zh-CN" sz="2000" dirty="0"/>
              <a:t>F</a:t>
            </a:r>
            <a:r>
              <a:rPr lang="en-US" altLang="zh-CN" sz="2000" baseline="-25000" dirty="0"/>
              <a:t>P3</a:t>
            </a:r>
            <a:r>
              <a:rPr lang="en-US" altLang="zh-CN" sz="2000" dirty="0"/>
              <a:t>) </a:t>
            </a:r>
            <a:r>
              <a:rPr lang="zh-CN" altLang="zh-CN" sz="2000" dirty="0"/>
              <a:t>，显然丢失</a:t>
            </a:r>
            <a:r>
              <a:rPr lang="en-US" altLang="zh-CN" sz="2000" dirty="0" err="1"/>
              <a:t>PNo</a:t>
            </a:r>
            <a:r>
              <a:rPr lang="zh-CN" altLang="zh-CN" sz="2000" dirty="0"/>
              <a:t>→</a:t>
            </a:r>
            <a:r>
              <a:rPr lang="en-US" altLang="zh-CN" sz="2000" dirty="0" err="1"/>
              <a:t>PBoss</a:t>
            </a:r>
            <a:r>
              <a:rPr lang="zh-CN" altLang="zh-CN" sz="2000" dirty="0"/>
              <a:t>。</a:t>
            </a:r>
          </a:p>
          <a:p>
            <a:pPr marL="0" indent="0">
              <a:buNone/>
            </a:pPr>
            <a:r>
              <a:rPr lang="zh-CN" altLang="zh-CN" sz="2000" dirty="0"/>
              <a:t>（</a:t>
            </a:r>
            <a:r>
              <a:rPr lang="en-US" altLang="zh-CN" sz="2000" dirty="0"/>
              <a:t>4</a:t>
            </a:r>
            <a:r>
              <a:rPr lang="zh-CN" altLang="zh-CN" sz="2000" dirty="0"/>
              <a:t>）</a:t>
            </a:r>
            <a:r>
              <a:rPr lang="en-US" altLang="zh-CN" sz="2000" dirty="0">
                <a:solidFill>
                  <a:srgbClr val="0000FF"/>
                </a:solidFill>
                <a:latin typeface="Kunstler Script" pitchFamily="66" charset="0"/>
              </a:rPr>
              <a:t>R</a:t>
            </a:r>
            <a:r>
              <a:rPr lang="en-US" altLang="zh-CN" sz="2000" dirty="0">
                <a:solidFill>
                  <a:srgbClr val="0000FF"/>
                </a:solidFill>
              </a:rPr>
              <a:t> </a:t>
            </a:r>
            <a:r>
              <a:rPr lang="en-US" altLang="zh-CN" sz="2000" baseline="-25000" dirty="0">
                <a:solidFill>
                  <a:srgbClr val="0000FF"/>
                </a:solidFill>
              </a:rPr>
              <a:t>4 </a:t>
            </a:r>
            <a:r>
              <a:rPr lang="en-US" altLang="zh-CN" sz="2000" dirty="0">
                <a:solidFill>
                  <a:srgbClr val="0000FF"/>
                </a:solidFill>
              </a:rPr>
              <a:t>={B</a:t>
            </a:r>
            <a:r>
              <a:rPr lang="en-US" altLang="zh-CN" sz="2000" baseline="-25000" dirty="0">
                <a:solidFill>
                  <a:srgbClr val="0000FF"/>
                </a:solidFill>
              </a:rPr>
              <a:t>4</a:t>
            </a:r>
            <a:r>
              <a:rPr lang="en-US" altLang="zh-CN" sz="2000" dirty="0">
                <a:solidFill>
                  <a:srgbClr val="0000FF"/>
                </a:solidFill>
              </a:rPr>
              <a:t>,P</a:t>
            </a:r>
            <a:r>
              <a:rPr lang="en-US" altLang="zh-CN" sz="2000" baseline="-25000" dirty="0">
                <a:solidFill>
                  <a:srgbClr val="0000FF"/>
                </a:solidFill>
              </a:rPr>
              <a:t>4</a:t>
            </a:r>
            <a:r>
              <a:rPr lang="en-US" altLang="zh-CN" sz="2000" dirty="0">
                <a:solidFill>
                  <a:srgbClr val="0000FF"/>
                </a:solidFill>
              </a:rPr>
              <a:t>}</a:t>
            </a:r>
            <a:r>
              <a:rPr lang="zh-CN" altLang="zh-CN" sz="2000" dirty="0">
                <a:solidFill>
                  <a:srgbClr val="0000FF"/>
                </a:solidFill>
              </a:rPr>
              <a:t>不保连接，不保依赖</a:t>
            </a:r>
            <a:r>
              <a:rPr lang="zh-CN" altLang="zh-CN" sz="2000" dirty="0"/>
              <a:t>。</a:t>
            </a:r>
          </a:p>
          <a:p>
            <a:pPr marL="625475" indent="0">
              <a:buNone/>
            </a:pPr>
            <a:r>
              <a:rPr lang="zh-CN" altLang="zh-CN" sz="2000" dirty="0" smtClean="0"/>
              <a:t>因在</a:t>
            </a:r>
            <a:r>
              <a:rPr lang="en-US" altLang="zh-CN" sz="2000" dirty="0"/>
              <a:t>B</a:t>
            </a:r>
            <a:r>
              <a:rPr lang="en-US" altLang="zh-CN" sz="2000" baseline="-25000" dirty="0"/>
              <a:t>4</a:t>
            </a:r>
            <a:r>
              <a:rPr lang="en-US" altLang="zh-CN" sz="2000" dirty="0"/>
              <a:t>({</a:t>
            </a:r>
            <a:r>
              <a:rPr lang="en-US" altLang="zh-CN" sz="2000" dirty="0" err="1"/>
              <a:t>BNo,PBoss</a:t>
            </a:r>
            <a:r>
              <a:rPr lang="en-US" altLang="zh-CN" sz="2000" dirty="0"/>
              <a:t>},{</a:t>
            </a:r>
            <a:r>
              <a:rPr lang="en-US" altLang="zh-CN" sz="2000" dirty="0" err="1"/>
              <a:t>BNo</a:t>
            </a:r>
            <a:r>
              <a:rPr lang="zh-CN" altLang="zh-CN" sz="2000" dirty="0"/>
              <a:t>→</a:t>
            </a:r>
            <a:r>
              <a:rPr lang="en-US" altLang="zh-CN" sz="2000" dirty="0" err="1"/>
              <a:t>PBoss</a:t>
            </a:r>
            <a:r>
              <a:rPr lang="en-US" altLang="zh-CN" sz="2000" dirty="0"/>
              <a:t>})</a:t>
            </a:r>
            <a:r>
              <a:rPr lang="zh-CN" altLang="zh-CN" sz="2000" dirty="0"/>
              <a:t>，</a:t>
            </a:r>
            <a:r>
              <a:rPr lang="en-US" altLang="zh-CN" sz="2000" dirty="0"/>
              <a:t>P</a:t>
            </a:r>
            <a:r>
              <a:rPr lang="en-US" altLang="zh-CN" sz="2000" baseline="-25000" dirty="0"/>
              <a:t>4</a:t>
            </a:r>
            <a:r>
              <a:rPr lang="en-US" altLang="zh-CN" sz="2000" dirty="0"/>
              <a:t>({</a:t>
            </a:r>
            <a:r>
              <a:rPr lang="en-US" altLang="zh-CN" sz="2000" dirty="0" err="1"/>
              <a:t>PNo,PBoss</a:t>
            </a:r>
            <a:r>
              <a:rPr lang="en-US" altLang="zh-CN" sz="2000" dirty="0"/>
              <a:t>},{</a:t>
            </a:r>
            <a:r>
              <a:rPr lang="en-US" altLang="zh-CN" sz="2000" dirty="0" err="1"/>
              <a:t>PNo</a:t>
            </a:r>
            <a:r>
              <a:rPr lang="zh-CN" altLang="zh-CN" sz="2000" dirty="0"/>
              <a:t>→</a:t>
            </a:r>
            <a:r>
              <a:rPr lang="en-US" altLang="zh-CN" sz="2000" dirty="0" err="1"/>
              <a:t>PBoss</a:t>
            </a:r>
            <a:r>
              <a:rPr lang="en-US" altLang="zh-CN" sz="2000" dirty="0"/>
              <a:t>})</a:t>
            </a:r>
            <a:r>
              <a:rPr lang="zh-CN" altLang="zh-CN" sz="2000" dirty="0"/>
              <a:t>中，</a:t>
            </a:r>
          </a:p>
          <a:p>
            <a:pPr marL="625475" indent="0">
              <a:buNone/>
            </a:pPr>
            <a:r>
              <a:rPr lang="en-US" altLang="zh-CN" sz="2000" dirty="0"/>
              <a:t>F</a:t>
            </a:r>
            <a:r>
              <a:rPr lang="en-US" altLang="zh-CN" sz="2000" baseline="-25000" dirty="0"/>
              <a:t>B4</a:t>
            </a:r>
            <a:r>
              <a:rPr lang="zh-CN" altLang="zh-CN" sz="2000" dirty="0"/>
              <a:t>∪</a:t>
            </a:r>
            <a:r>
              <a:rPr lang="en-US" altLang="zh-CN" sz="2000" dirty="0"/>
              <a:t>F</a:t>
            </a:r>
            <a:r>
              <a:rPr lang="en-US" altLang="zh-CN" sz="2000" baseline="-25000" dirty="0"/>
              <a:t>P4</a:t>
            </a:r>
            <a:r>
              <a:rPr lang="en-US" altLang="zh-CN" sz="2000" dirty="0"/>
              <a:t>={</a:t>
            </a:r>
            <a:r>
              <a:rPr lang="en-US" altLang="zh-CN" sz="2000" dirty="0" err="1"/>
              <a:t>BNo</a:t>
            </a:r>
            <a:r>
              <a:rPr lang="zh-CN" altLang="zh-CN" sz="2000" dirty="0"/>
              <a:t>→</a:t>
            </a:r>
            <a:r>
              <a:rPr lang="en-US" altLang="zh-CN" sz="2000" dirty="0" err="1"/>
              <a:t>PBoss,PNo</a:t>
            </a:r>
            <a:r>
              <a:rPr lang="zh-CN" altLang="zh-CN" sz="2000" dirty="0"/>
              <a:t>→</a:t>
            </a:r>
            <a:r>
              <a:rPr lang="en-US" altLang="zh-CN" sz="2000" dirty="0" err="1"/>
              <a:t>PBoss</a:t>
            </a:r>
            <a:r>
              <a:rPr lang="en-US" altLang="zh-CN" sz="2000" dirty="0"/>
              <a:t>}</a:t>
            </a:r>
            <a:r>
              <a:rPr lang="zh-CN" altLang="zh-CN" sz="2000" dirty="0"/>
              <a:t>。</a:t>
            </a:r>
          </a:p>
          <a:p>
            <a:pPr marL="625475" indent="0">
              <a:buNone/>
            </a:pPr>
            <a:r>
              <a:rPr lang="zh-CN" altLang="zh-CN" sz="2000" dirty="0" smtClean="0"/>
              <a:t>所以</a:t>
            </a:r>
            <a:r>
              <a:rPr lang="en-US" altLang="zh-CN" sz="2000" dirty="0" smtClean="0"/>
              <a:t>        </a:t>
            </a:r>
            <a:r>
              <a:rPr lang="zh-CN" altLang="zh-CN" sz="2000" dirty="0"/>
              <a:t>≠</a:t>
            </a:r>
            <a:r>
              <a:rPr lang="en-US" altLang="zh-CN" sz="2000" dirty="0"/>
              <a:t>(F</a:t>
            </a:r>
            <a:r>
              <a:rPr lang="en-US" altLang="zh-CN" sz="2000" baseline="-25000" dirty="0"/>
              <a:t>B4</a:t>
            </a:r>
            <a:r>
              <a:rPr lang="zh-CN" altLang="zh-CN" sz="2000" dirty="0"/>
              <a:t>∪</a:t>
            </a:r>
            <a:r>
              <a:rPr lang="en-US" altLang="zh-CN" sz="2000" dirty="0"/>
              <a:t>F</a:t>
            </a:r>
            <a:r>
              <a:rPr lang="en-US" altLang="zh-CN" sz="2000" baseline="-25000" dirty="0"/>
              <a:t>P4</a:t>
            </a:r>
            <a:r>
              <a:rPr lang="en-US" altLang="zh-CN" sz="2000" dirty="0"/>
              <a:t>) </a:t>
            </a:r>
            <a:r>
              <a:rPr lang="zh-CN" altLang="zh-CN" sz="2000" dirty="0"/>
              <a:t>，显然丢失</a:t>
            </a:r>
            <a:r>
              <a:rPr lang="en-US" altLang="zh-CN" sz="2000" dirty="0" err="1"/>
              <a:t>BNo</a:t>
            </a:r>
            <a:r>
              <a:rPr lang="zh-CN" altLang="zh-CN" sz="2000" dirty="0"/>
              <a:t>→</a:t>
            </a:r>
            <a:r>
              <a:rPr lang="en-US" altLang="zh-CN" sz="2000" dirty="0" err="1"/>
              <a:t>PNo</a:t>
            </a:r>
            <a:r>
              <a:rPr lang="zh-CN" altLang="zh-CN" sz="2000" dirty="0"/>
              <a:t>。</a:t>
            </a:r>
          </a:p>
          <a:p>
            <a:r>
              <a:rPr lang="zh-CN" altLang="zh-CN" sz="2000" dirty="0">
                <a:solidFill>
                  <a:srgbClr val="0000FF"/>
                </a:solidFill>
              </a:rPr>
              <a:t>思考</a:t>
            </a:r>
            <a:r>
              <a:rPr lang="en-US" altLang="zh-CN" sz="2000" dirty="0">
                <a:solidFill>
                  <a:srgbClr val="0000FF"/>
                </a:solidFill>
              </a:rPr>
              <a:t>1</a:t>
            </a:r>
            <a:r>
              <a:rPr lang="zh-CN" altLang="zh-CN" sz="2000" dirty="0">
                <a:solidFill>
                  <a:srgbClr val="0000FF"/>
                </a:solidFill>
              </a:rPr>
              <a:t>：</a:t>
            </a:r>
            <a:r>
              <a:rPr lang="zh-CN" altLang="zh-CN" sz="2000" dirty="0"/>
              <a:t>举例说明不保连接保依赖分解。</a:t>
            </a:r>
          </a:p>
          <a:p>
            <a:r>
              <a:rPr lang="zh-CN" altLang="zh-CN" sz="2000" dirty="0">
                <a:solidFill>
                  <a:srgbClr val="0000FF"/>
                </a:solidFill>
              </a:rPr>
              <a:t>思考</a:t>
            </a:r>
            <a:r>
              <a:rPr lang="en-US" altLang="zh-CN" sz="2000" dirty="0">
                <a:solidFill>
                  <a:srgbClr val="0000FF"/>
                </a:solidFill>
              </a:rPr>
              <a:t>2</a:t>
            </a:r>
            <a:r>
              <a:rPr lang="zh-CN" altLang="zh-CN" sz="2000" dirty="0">
                <a:solidFill>
                  <a:srgbClr val="0000FF"/>
                </a:solidFill>
              </a:rPr>
              <a:t>：</a:t>
            </a:r>
            <a:r>
              <a:rPr lang="zh-CN" altLang="zh-CN" sz="2000" dirty="0"/>
              <a:t>分析保连接和保依赖的关系？</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3724431059"/>
              </p:ext>
            </p:extLst>
          </p:nvPr>
        </p:nvGraphicFramePr>
        <p:xfrm>
          <a:off x="1691680" y="2924944"/>
          <a:ext cx="376237" cy="450850"/>
        </p:xfrm>
        <a:graphic>
          <a:graphicData uri="http://schemas.openxmlformats.org/presentationml/2006/ole">
            <mc:AlternateContent xmlns:mc="http://schemas.openxmlformats.org/markup-compatibility/2006">
              <mc:Choice xmlns:v="urn:schemas-microsoft-com:vml" Requires="v">
                <p:oleObj spid="_x0000_s49815" name="公式" r:id="rId3" imgW="215640" imgH="253800" progId="Equation.3">
                  <p:embed/>
                </p:oleObj>
              </mc:Choice>
              <mc:Fallback>
                <p:oleObj name="公式" r:id="rId3" imgW="215640" imgH="253800" progId="Equation.3">
                  <p:embed/>
                  <p:pic>
                    <p:nvPicPr>
                      <p:cNvPr id="0" name=""/>
                      <p:cNvPicPr>
                        <a:picLocks noChangeAspect="1" noChangeArrowheads="1"/>
                      </p:cNvPicPr>
                      <p:nvPr/>
                    </p:nvPicPr>
                    <p:blipFill>
                      <a:blip r:embed="rId4"/>
                      <a:srcRect/>
                      <a:stretch>
                        <a:fillRect/>
                      </a:stretch>
                    </p:blipFill>
                    <p:spPr bwMode="auto">
                      <a:xfrm>
                        <a:off x="1691680" y="2924944"/>
                        <a:ext cx="376237" cy="450850"/>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795855448"/>
              </p:ext>
            </p:extLst>
          </p:nvPr>
        </p:nvGraphicFramePr>
        <p:xfrm>
          <a:off x="1691680" y="5229200"/>
          <a:ext cx="376237" cy="450850"/>
        </p:xfrm>
        <a:graphic>
          <a:graphicData uri="http://schemas.openxmlformats.org/presentationml/2006/ole">
            <mc:AlternateContent xmlns:mc="http://schemas.openxmlformats.org/markup-compatibility/2006">
              <mc:Choice xmlns:v="urn:schemas-microsoft-com:vml" Requires="v">
                <p:oleObj spid="_x0000_s49816" name="公式" r:id="rId5" imgW="215640" imgH="253800" progId="Equation.3">
                  <p:embed/>
                </p:oleObj>
              </mc:Choice>
              <mc:Fallback>
                <p:oleObj name="公式" r:id="rId5" imgW="215640" imgH="253800" progId="Equation.3">
                  <p:embed/>
                  <p:pic>
                    <p:nvPicPr>
                      <p:cNvPr id="0" name=""/>
                      <p:cNvPicPr>
                        <a:picLocks noChangeAspect="1" noChangeArrowheads="1"/>
                      </p:cNvPicPr>
                      <p:nvPr/>
                    </p:nvPicPr>
                    <p:blipFill>
                      <a:blip r:embed="rId4"/>
                      <a:srcRect/>
                      <a:stretch>
                        <a:fillRect/>
                      </a:stretch>
                    </p:blipFill>
                    <p:spPr bwMode="auto">
                      <a:xfrm>
                        <a:off x="1691680" y="5229200"/>
                        <a:ext cx="376237"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452402778"/>
              </p:ext>
            </p:extLst>
          </p:nvPr>
        </p:nvGraphicFramePr>
        <p:xfrm>
          <a:off x="3491880" y="2780928"/>
          <a:ext cx="360362" cy="431800"/>
        </p:xfrm>
        <a:graphic>
          <a:graphicData uri="http://schemas.openxmlformats.org/presentationml/2006/ole">
            <mc:AlternateContent xmlns:mc="http://schemas.openxmlformats.org/markup-compatibility/2006">
              <mc:Choice xmlns:v="urn:schemas-microsoft-com:vml" Requires="v">
                <p:oleObj spid="_x0000_s49817" name="公式" r:id="rId6" imgW="101468" imgH="177569" progId="Equation.3">
                  <p:embed/>
                </p:oleObj>
              </mc:Choice>
              <mc:Fallback>
                <p:oleObj name="公式" r:id="rId6" imgW="101468" imgH="177569" progId="Equation.3">
                  <p:embed/>
                  <p:pic>
                    <p:nvPicPr>
                      <p:cNvPr id="0" name="对象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1880" y="2780928"/>
                        <a:ext cx="3603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472546700"/>
              </p:ext>
            </p:extLst>
          </p:nvPr>
        </p:nvGraphicFramePr>
        <p:xfrm>
          <a:off x="3347864" y="5085184"/>
          <a:ext cx="360362" cy="431800"/>
        </p:xfrm>
        <a:graphic>
          <a:graphicData uri="http://schemas.openxmlformats.org/presentationml/2006/ole">
            <mc:AlternateContent xmlns:mc="http://schemas.openxmlformats.org/markup-compatibility/2006">
              <mc:Choice xmlns:v="urn:schemas-microsoft-com:vml" Requires="v">
                <p:oleObj spid="_x0000_s49818" name="公式" r:id="rId8" imgW="101468" imgH="177569" progId="Equation.3">
                  <p:embed/>
                </p:oleObj>
              </mc:Choice>
              <mc:Fallback>
                <p:oleObj name="公式" r:id="rId8" imgW="101468" imgH="177569" progId="Equation.3">
                  <p:embed/>
                  <p:pic>
                    <p:nvPicPr>
                      <p:cNvPr id="0" name="对象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7864" y="5085184"/>
                        <a:ext cx="3603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5547560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75</a:t>
            </a:fld>
            <a:endParaRPr lang="zh-CN" altLang="en-US" dirty="0"/>
          </a:p>
        </p:txBody>
      </p:sp>
      <p:sp>
        <p:nvSpPr>
          <p:cNvPr id="7" name="文本占位符 6"/>
          <p:cNvSpPr>
            <a:spLocks noGrp="1"/>
          </p:cNvSpPr>
          <p:nvPr>
            <p:ph type="body" idx="1"/>
          </p:nvPr>
        </p:nvSpPr>
        <p:spPr>
          <a:xfrm>
            <a:off x="143508" y="548680"/>
            <a:ext cx="8856984" cy="6048672"/>
          </a:xfrm>
        </p:spPr>
        <p:txBody>
          <a:bodyPr>
            <a:normAutofit/>
          </a:bodyPr>
          <a:lstStyle/>
          <a:p>
            <a:pPr marL="0" indent="0">
              <a:buNone/>
            </a:pPr>
            <a:r>
              <a:rPr lang="zh-CN" altLang="zh-CN" sz="2000" dirty="0"/>
              <a:t>根据关系模式分解的基本理论，常用的分解算法如下：</a:t>
            </a:r>
          </a:p>
          <a:p>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）模式分解的保连接算法。</a:t>
            </a:r>
          </a:p>
          <a:p>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）模式分解的保依赖算法。</a:t>
            </a:r>
          </a:p>
          <a:p>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a:t>
            </a:r>
            <a:r>
              <a:rPr lang="en-US" altLang="zh-CN" sz="2000" dirty="0">
                <a:solidFill>
                  <a:srgbClr val="0000FF"/>
                </a:solidFill>
              </a:rPr>
              <a:t>3NF</a:t>
            </a:r>
            <a:r>
              <a:rPr lang="zh-CN" altLang="zh-CN" sz="2000" dirty="0">
                <a:solidFill>
                  <a:srgbClr val="0000FF"/>
                </a:solidFill>
              </a:rPr>
              <a:t>分解的保依赖算法。</a:t>
            </a:r>
          </a:p>
          <a:p>
            <a:r>
              <a:rPr lang="zh-CN" altLang="zh-CN" sz="2000" dirty="0">
                <a:solidFill>
                  <a:srgbClr val="0000FF"/>
                </a:solidFill>
              </a:rPr>
              <a:t>（</a:t>
            </a:r>
            <a:r>
              <a:rPr lang="en-US" altLang="zh-CN" sz="2000" dirty="0">
                <a:solidFill>
                  <a:srgbClr val="0000FF"/>
                </a:solidFill>
              </a:rPr>
              <a:t>4</a:t>
            </a:r>
            <a:r>
              <a:rPr lang="zh-CN" altLang="zh-CN" sz="2000" dirty="0">
                <a:solidFill>
                  <a:srgbClr val="0000FF"/>
                </a:solidFill>
              </a:rPr>
              <a:t>）</a:t>
            </a:r>
            <a:r>
              <a:rPr lang="en-US" altLang="zh-CN" sz="2000" dirty="0">
                <a:solidFill>
                  <a:srgbClr val="0000FF"/>
                </a:solidFill>
              </a:rPr>
              <a:t>3NF</a:t>
            </a:r>
            <a:r>
              <a:rPr lang="zh-CN" altLang="zh-CN" sz="2000" dirty="0">
                <a:solidFill>
                  <a:srgbClr val="0000FF"/>
                </a:solidFill>
              </a:rPr>
              <a:t>分解的既保连接性又保依赖算法。</a:t>
            </a:r>
          </a:p>
          <a:p>
            <a:r>
              <a:rPr lang="zh-CN" altLang="zh-CN" sz="2000" dirty="0">
                <a:solidFill>
                  <a:srgbClr val="FF00FF"/>
                </a:solidFill>
              </a:rPr>
              <a:t>（</a:t>
            </a:r>
            <a:r>
              <a:rPr lang="en-US" altLang="zh-CN" sz="2000" dirty="0">
                <a:solidFill>
                  <a:srgbClr val="FF00FF"/>
                </a:solidFill>
              </a:rPr>
              <a:t>5</a:t>
            </a:r>
            <a:r>
              <a:rPr lang="zh-CN" altLang="zh-CN" sz="2000" dirty="0">
                <a:solidFill>
                  <a:srgbClr val="FF00FF"/>
                </a:solidFill>
              </a:rPr>
              <a:t>）</a:t>
            </a:r>
            <a:r>
              <a:rPr lang="en-US" altLang="zh-CN" sz="2000" dirty="0">
                <a:solidFill>
                  <a:srgbClr val="FF00FF"/>
                </a:solidFill>
              </a:rPr>
              <a:t>BCNF</a:t>
            </a:r>
            <a:r>
              <a:rPr lang="zh-CN" altLang="zh-CN" sz="2000" dirty="0">
                <a:solidFill>
                  <a:srgbClr val="FF00FF"/>
                </a:solidFill>
              </a:rPr>
              <a:t>分解的保连接算法。</a:t>
            </a:r>
          </a:p>
          <a:p>
            <a:r>
              <a:rPr lang="zh-CN" altLang="zh-CN" sz="2000" dirty="0"/>
              <a:t>（</a:t>
            </a:r>
            <a:r>
              <a:rPr lang="en-US" altLang="zh-CN" sz="2000" dirty="0"/>
              <a:t>6</a:t>
            </a:r>
            <a:r>
              <a:rPr lang="zh-CN" altLang="zh-CN" sz="2000" dirty="0"/>
              <a:t>）</a:t>
            </a:r>
            <a:r>
              <a:rPr lang="en-US" altLang="zh-CN" sz="2000" dirty="0"/>
              <a:t>4NF</a:t>
            </a:r>
            <a:r>
              <a:rPr lang="zh-CN" altLang="zh-CN" sz="2000" dirty="0"/>
              <a:t>分解的保连接算法。</a:t>
            </a:r>
          </a:p>
          <a:p>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52426894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76</a:t>
            </a:fld>
            <a:endParaRPr lang="zh-CN" altLang="en-US" dirty="0"/>
          </a:p>
        </p:txBody>
      </p:sp>
      <p:sp>
        <p:nvSpPr>
          <p:cNvPr id="7" name="文本占位符 6"/>
          <p:cNvSpPr>
            <a:spLocks noGrp="1"/>
          </p:cNvSpPr>
          <p:nvPr>
            <p:ph type="body" idx="1"/>
          </p:nvPr>
        </p:nvSpPr>
        <p:spPr>
          <a:xfrm>
            <a:off x="143508" y="476672"/>
            <a:ext cx="8856984" cy="6048672"/>
          </a:xfrm>
        </p:spPr>
        <p:txBody>
          <a:bodyPr>
            <a:normAutofit fontScale="92500"/>
          </a:bodyPr>
          <a:lstStyle/>
          <a:p>
            <a:pPr marL="0" indent="0">
              <a:buNone/>
            </a:pPr>
            <a:r>
              <a:rPr lang="zh-CN" altLang="zh-CN" sz="2000" dirty="0">
                <a:solidFill>
                  <a:srgbClr val="0000FF"/>
                </a:solidFill>
              </a:rPr>
              <a:t>算法</a:t>
            </a:r>
            <a:r>
              <a:rPr lang="en-US" altLang="zh-CN" sz="2000" dirty="0">
                <a:solidFill>
                  <a:srgbClr val="0000FF"/>
                </a:solidFill>
              </a:rPr>
              <a:t>6.3  </a:t>
            </a:r>
            <a:r>
              <a:rPr lang="zh-CN" altLang="zh-CN" sz="2000" dirty="0">
                <a:solidFill>
                  <a:srgbClr val="0000FF"/>
                </a:solidFill>
              </a:rPr>
              <a:t>模式分解的保连接算法。</a:t>
            </a:r>
          </a:p>
          <a:p>
            <a:r>
              <a:rPr lang="zh-CN" altLang="zh-CN" sz="2000" dirty="0"/>
              <a:t>如果</a:t>
            </a:r>
            <a:r>
              <a:rPr lang="en-US" altLang="zh-CN" sz="2000" dirty="0">
                <a:latin typeface="Kunstler Script" pitchFamily="66" charset="0"/>
              </a:rPr>
              <a:t>R</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r>
              <a:rPr lang="zh-CN" altLang="zh-CN" sz="2000" dirty="0"/>
              <a:t>是</a:t>
            </a:r>
            <a:r>
              <a:rPr lang="en-US" altLang="zh-CN" sz="2000" dirty="0"/>
              <a:t>R(U,F)</a:t>
            </a:r>
            <a:r>
              <a:rPr lang="zh-CN" altLang="zh-CN" sz="2000" dirty="0"/>
              <a:t>的一个分解，</a:t>
            </a:r>
            <a:r>
              <a:rPr lang="en-US" altLang="zh-CN" sz="2000" dirty="0"/>
              <a:t>U={A</a:t>
            </a:r>
            <a:r>
              <a:rPr lang="en-US" altLang="zh-CN" sz="2000" baseline="-25000" dirty="0"/>
              <a:t>1</a:t>
            </a:r>
            <a:r>
              <a:rPr lang="en-US" altLang="zh-CN" sz="2000" dirty="0"/>
              <a:t>,A</a:t>
            </a:r>
            <a:r>
              <a:rPr lang="en-US" altLang="zh-CN" sz="2000" baseline="-25000" dirty="0"/>
              <a:t>2</a:t>
            </a:r>
            <a:r>
              <a:rPr lang="en-US" altLang="zh-CN" sz="2000" dirty="0"/>
              <a:t>,…,A</a:t>
            </a:r>
            <a:r>
              <a:rPr lang="en-US" altLang="zh-CN" sz="2000" baseline="-25000" dirty="0"/>
              <a:t>m</a:t>
            </a:r>
            <a:r>
              <a:rPr lang="en-US" altLang="zh-CN" sz="2000" dirty="0"/>
              <a:t>}</a:t>
            </a:r>
            <a:r>
              <a:rPr lang="zh-CN" altLang="zh-CN" sz="2000" dirty="0"/>
              <a:t>，</a:t>
            </a:r>
            <a:r>
              <a:rPr lang="en-US" altLang="zh-CN" sz="2000" dirty="0" err="1"/>
              <a:t>F</a:t>
            </a:r>
            <a:r>
              <a:rPr lang="en-US" altLang="zh-CN" sz="2000" baseline="-25000" dirty="0" err="1"/>
              <a:t>min</a:t>
            </a:r>
            <a:r>
              <a:rPr lang="en-US" altLang="zh-CN" sz="2000" dirty="0"/>
              <a:t>={FD</a:t>
            </a:r>
            <a:r>
              <a:rPr lang="en-US" altLang="zh-CN" sz="2000" baseline="-25000" dirty="0"/>
              <a:t>1</a:t>
            </a:r>
            <a:r>
              <a:rPr lang="en-US" altLang="zh-CN" sz="2000" dirty="0"/>
              <a:t>,FD</a:t>
            </a:r>
            <a:r>
              <a:rPr lang="en-US" altLang="zh-CN" sz="2000" baseline="-25000" dirty="0"/>
              <a:t>2</a:t>
            </a:r>
            <a:r>
              <a:rPr lang="en-US" altLang="zh-CN" sz="2000" dirty="0"/>
              <a:t>,…, </a:t>
            </a:r>
            <a:r>
              <a:rPr lang="en-US" altLang="zh-CN" sz="2000" dirty="0" err="1"/>
              <a:t>FD</a:t>
            </a:r>
            <a:r>
              <a:rPr lang="en-US" altLang="zh-CN" sz="2000" baseline="-25000" dirty="0" err="1"/>
              <a:t>t</a:t>
            </a:r>
            <a:r>
              <a:rPr lang="en-US" altLang="zh-CN" sz="2000" dirty="0"/>
              <a:t>}</a:t>
            </a:r>
            <a:r>
              <a:rPr lang="zh-CN" altLang="zh-CN" sz="2000" dirty="0"/>
              <a:t>，则</a:t>
            </a:r>
            <a:r>
              <a:rPr lang="en-US" altLang="zh-CN" sz="2000" dirty="0"/>
              <a:t>R</a:t>
            </a:r>
            <a:r>
              <a:rPr lang="zh-CN" altLang="zh-CN" sz="2000" dirty="0"/>
              <a:t>的保连接分解如下：</a:t>
            </a:r>
          </a:p>
          <a:p>
            <a:pPr marL="625475" indent="-625475">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）构造状态表</a:t>
            </a:r>
            <a:r>
              <a:rPr lang="en-US" altLang="zh-CN" sz="2000" dirty="0">
                <a:solidFill>
                  <a:srgbClr val="0000FF"/>
                </a:solidFill>
              </a:rPr>
              <a:t>T(</a:t>
            </a:r>
            <a:r>
              <a:rPr lang="en-US" altLang="zh-CN" sz="2000" dirty="0" err="1">
                <a:solidFill>
                  <a:srgbClr val="0000FF"/>
                </a:solidFill>
              </a:rPr>
              <a:t>n,m</a:t>
            </a:r>
            <a:r>
              <a:rPr lang="en-US" altLang="zh-CN" sz="2000" dirty="0">
                <a:solidFill>
                  <a:srgbClr val="0000FF"/>
                </a:solidFill>
              </a:rPr>
              <a:t>)</a:t>
            </a:r>
            <a:r>
              <a:rPr lang="zh-CN" altLang="zh-CN" sz="2000" dirty="0">
                <a:solidFill>
                  <a:srgbClr val="0000FF"/>
                </a:solidFill>
              </a:rPr>
              <a:t>。</a:t>
            </a:r>
            <a:r>
              <a:rPr lang="zh-CN" altLang="zh-CN" sz="2000" dirty="0"/>
              <a:t>建立一张</a:t>
            </a:r>
            <a:r>
              <a:rPr lang="en-US" altLang="zh-CN" sz="2000" dirty="0"/>
              <a:t>n</a:t>
            </a:r>
            <a:r>
              <a:rPr lang="zh-CN" altLang="zh-CN" sz="2000" dirty="0"/>
              <a:t>行</a:t>
            </a:r>
            <a:r>
              <a:rPr lang="en-US" altLang="zh-CN" sz="2000" dirty="0"/>
              <a:t>m</a:t>
            </a:r>
            <a:r>
              <a:rPr lang="zh-CN" altLang="zh-CN" sz="2000" dirty="0"/>
              <a:t>列的状态表</a:t>
            </a:r>
            <a:r>
              <a:rPr lang="en-US" altLang="zh-CN" sz="2000" dirty="0"/>
              <a:t>T(</a:t>
            </a:r>
            <a:r>
              <a:rPr lang="en-US" altLang="zh-CN" sz="2000" dirty="0" err="1"/>
              <a:t>n,m</a:t>
            </a:r>
            <a:r>
              <a:rPr lang="en-US" altLang="zh-CN" sz="2000" dirty="0"/>
              <a:t>)</a:t>
            </a:r>
            <a:r>
              <a:rPr lang="zh-CN" altLang="zh-CN" sz="2000" dirty="0"/>
              <a:t>，</a:t>
            </a:r>
            <a:r>
              <a:rPr lang="zh-CN" altLang="zh-CN" sz="2000" dirty="0" smtClean="0"/>
              <a:t>每行</a:t>
            </a:r>
            <a:r>
              <a:rPr lang="zh-CN" altLang="zh-CN" sz="2000" dirty="0"/>
              <a:t>对应分解后的一个</a:t>
            </a:r>
            <a:r>
              <a:rPr lang="en-US" altLang="zh-CN" sz="2000" dirty="0" err="1"/>
              <a:t>R</a:t>
            </a:r>
            <a:r>
              <a:rPr lang="en-US" altLang="zh-CN" sz="2000" baseline="-25000" dirty="0" err="1"/>
              <a:t>i</a:t>
            </a:r>
            <a:r>
              <a:rPr lang="en-US" altLang="zh-CN" sz="2000" dirty="0"/>
              <a:t>(</a:t>
            </a:r>
            <a:r>
              <a:rPr lang="en-US" altLang="zh-CN" sz="2000" dirty="0" err="1"/>
              <a:t>U</a:t>
            </a:r>
            <a:r>
              <a:rPr lang="en-US" altLang="zh-CN" sz="2000" baseline="-25000" dirty="0" err="1"/>
              <a:t>i</a:t>
            </a:r>
            <a:r>
              <a:rPr lang="en-US" altLang="zh-CN" sz="2000" dirty="0" err="1"/>
              <a:t>,F</a:t>
            </a:r>
            <a:r>
              <a:rPr lang="en-US" altLang="zh-CN" sz="2000" baseline="-25000" dirty="0" err="1"/>
              <a:t>i</a:t>
            </a:r>
            <a:r>
              <a:rPr lang="en-US" altLang="zh-CN" sz="2000" dirty="0"/>
              <a:t>)</a:t>
            </a:r>
            <a:r>
              <a:rPr lang="zh-CN" altLang="zh-CN" sz="2000" dirty="0"/>
              <a:t>，</a:t>
            </a:r>
            <a:r>
              <a:rPr lang="zh-CN" altLang="zh-CN" sz="2000" dirty="0" smtClean="0"/>
              <a:t>每列</a:t>
            </a:r>
            <a:r>
              <a:rPr lang="zh-CN" altLang="zh-CN" sz="2000" dirty="0"/>
              <a:t>对应</a:t>
            </a:r>
            <a:r>
              <a:rPr lang="en-US" altLang="zh-CN" sz="2000" dirty="0"/>
              <a:t>R(U,F)</a:t>
            </a:r>
            <a:r>
              <a:rPr lang="zh-CN" altLang="zh-CN" sz="2000" dirty="0"/>
              <a:t>的一个属性，则</a:t>
            </a:r>
            <a:r>
              <a:rPr lang="en-US" altLang="zh-CN" sz="2000" dirty="0"/>
              <a:t>T</a:t>
            </a:r>
            <a:r>
              <a:rPr lang="zh-CN" altLang="zh-CN" sz="2000" dirty="0"/>
              <a:t>的第</a:t>
            </a:r>
            <a:r>
              <a:rPr lang="en-US" altLang="zh-CN" sz="2000" dirty="0"/>
              <a:t>i</a:t>
            </a:r>
            <a:r>
              <a:rPr lang="zh-CN" altLang="zh-CN" sz="2000" dirty="0"/>
              <a:t>行第</a:t>
            </a:r>
            <a:r>
              <a:rPr lang="en-US" altLang="zh-CN" sz="2000" dirty="0"/>
              <a:t>j</a:t>
            </a:r>
            <a:r>
              <a:rPr lang="zh-CN" altLang="zh-CN" sz="2000" dirty="0"/>
              <a:t>列</a:t>
            </a:r>
            <a:r>
              <a:rPr lang="en-US" altLang="zh-CN" sz="2000" dirty="0"/>
              <a:t>T(</a:t>
            </a:r>
            <a:r>
              <a:rPr lang="en-US" altLang="zh-CN" sz="2000" dirty="0" err="1"/>
              <a:t>i,j</a:t>
            </a:r>
            <a:r>
              <a:rPr lang="en-US" altLang="zh-CN" sz="2000" dirty="0"/>
              <a:t>)</a:t>
            </a:r>
            <a:r>
              <a:rPr lang="zh-CN" altLang="zh-CN" sz="2000" dirty="0"/>
              <a:t>的填写方法：</a:t>
            </a:r>
          </a:p>
          <a:p>
            <a:pPr marL="625475" indent="0">
              <a:buNone/>
            </a:pPr>
            <a:r>
              <a:rPr lang="zh-CN" altLang="zh-CN" sz="2000" dirty="0"/>
              <a:t>如果第</a:t>
            </a:r>
            <a:r>
              <a:rPr lang="en-US" altLang="zh-CN" sz="2000" dirty="0"/>
              <a:t>i</a:t>
            </a:r>
            <a:r>
              <a:rPr lang="zh-CN" altLang="zh-CN" sz="2000" dirty="0"/>
              <a:t>个</a:t>
            </a:r>
            <a:r>
              <a:rPr lang="en-US" altLang="zh-CN" sz="2000" dirty="0" err="1"/>
              <a:t>R</a:t>
            </a:r>
            <a:r>
              <a:rPr lang="en-US" altLang="zh-CN" sz="2000" baseline="-25000" dirty="0" err="1"/>
              <a:t>i</a:t>
            </a:r>
            <a:r>
              <a:rPr lang="en-US" altLang="zh-CN" sz="2000" dirty="0"/>
              <a:t>(</a:t>
            </a:r>
            <a:r>
              <a:rPr lang="en-US" altLang="zh-CN" sz="2000" dirty="0" err="1"/>
              <a:t>U</a:t>
            </a:r>
            <a:r>
              <a:rPr lang="en-US" altLang="zh-CN" sz="2000" baseline="-25000" dirty="0" err="1"/>
              <a:t>i</a:t>
            </a:r>
            <a:r>
              <a:rPr lang="en-US" altLang="zh-CN" sz="2000" dirty="0" err="1"/>
              <a:t>,F</a:t>
            </a:r>
            <a:r>
              <a:rPr lang="en-US" altLang="zh-CN" sz="2000" baseline="-25000" dirty="0" err="1"/>
              <a:t>i</a:t>
            </a:r>
            <a:r>
              <a:rPr lang="en-US" altLang="zh-CN" sz="2000" dirty="0"/>
              <a:t>)</a:t>
            </a:r>
            <a:r>
              <a:rPr lang="zh-CN" altLang="zh-CN" sz="2000" dirty="0"/>
              <a:t>的</a:t>
            </a:r>
            <a:r>
              <a:rPr lang="en-US" altLang="zh-CN" sz="2000" dirty="0" err="1"/>
              <a:t>U</a:t>
            </a:r>
            <a:r>
              <a:rPr lang="en-US" altLang="zh-CN" sz="2000" baseline="-25000" dirty="0" err="1"/>
              <a:t>i</a:t>
            </a:r>
            <a:r>
              <a:rPr lang="zh-CN" altLang="zh-CN" sz="2000" dirty="0"/>
              <a:t>包含</a:t>
            </a:r>
            <a:r>
              <a:rPr lang="en-US" altLang="zh-CN" sz="2000" dirty="0"/>
              <a:t>R(U,F)</a:t>
            </a:r>
            <a:r>
              <a:rPr lang="zh-CN" altLang="zh-CN" sz="2000" dirty="0"/>
              <a:t>的第</a:t>
            </a:r>
            <a:r>
              <a:rPr lang="en-US" altLang="zh-CN" sz="2000" dirty="0"/>
              <a:t>j</a:t>
            </a:r>
            <a:r>
              <a:rPr lang="zh-CN" altLang="zh-CN" sz="2000" dirty="0"/>
              <a:t>个</a:t>
            </a:r>
            <a:r>
              <a:rPr lang="en-US" altLang="zh-CN" sz="2000" dirty="0" err="1"/>
              <a:t>A</a:t>
            </a:r>
            <a:r>
              <a:rPr lang="en-US" altLang="zh-CN" sz="2000" baseline="-25000" dirty="0" err="1"/>
              <a:t>j</a:t>
            </a:r>
            <a:r>
              <a:rPr lang="zh-CN" altLang="zh-CN" sz="2000" dirty="0"/>
              <a:t>，则</a:t>
            </a:r>
            <a:r>
              <a:rPr lang="en-US" altLang="zh-CN" sz="2000" dirty="0"/>
              <a:t>T(</a:t>
            </a:r>
            <a:r>
              <a:rPr lang="en-US" altLang="zh-CN" sz="2000" dirty="0" err="1"/>
              <a:t>i,j</a:t>
            </a:r>
            <a:r>
              <a:rPr lang="en-US" altLang="zh-CN" sz="2000" dirty="0"/>
              <a:t>)=</a:t>
            </a:r>
            <a:r>
              <a:rPr lang="en-US" altLang="zh-CN" sz="2000" dirty="0" err="1"/>
              <a:t>a</a:t>
            </a:r>
            <a:r>
              <a:rPr lang="en-US" altLang="zh-CN" sz="2000" baseline="-25000" dirty="0" err="1"/>
              <a:t>j</a:t>
            </a:r>
            <a:r>
              <a:rPr lang="zh-CN" altLang="zh-CN" sz="2000" dirty="0"/>
              <a:t>；否则</a:t>
            </a:r>
            <a:r>
              <a:rPr lang="en-US" altLang="zh-CN" sz="2000" dirty="0"/>
              <a:t>T(</a:t>
            </a:r>
            <a:r>
              <a:rPr lang="en-US" altLang="zh-CN" sz="2000" dirty="0" err="1"/>
              <a:t>i,j</a:t>
            </a:r>
            <a:r>
              <a:rPr lang="en-US" altLang="zh-CN" sz="2000" dirty="0"/>
              <a:t>)= </a:t>
            </a:r>
            <a:r>
              <a:rPr lang="en-US" altLang="zh-CN" sz="2000" dirty="0" err="1"/>
              <a:t>b</a:t>
            </a:r>
            <a:r>
              <a:rPr lang="en-US" altLang="zh-CN" sz="2000" baseline="-25000" dirty="0" err="1"/>
              <a:t>ij</a:t>
            </a:r>
            <a:r>
              <a:rPr lang="en-US" altLang="zh-CN" sz="2000" baseline="-25000" dirty="0"/>
              <a:t> </a:t>
            </a:r>
            <a:r>
              <a:rPr lang="zh-CN" altLang="zh-CN" sz="2000" dirty="0"/>
              <a:t>。</a:t>
            </a:r>
          </a:p>
          <a:p>
            <a:pPr marL="625475" indent="-625475">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）利用</a:t>
            </a:r>
            <a:r>
              <a:rPr lang="en-US" altLang="zh-CN" sz="2000" dirty="0">
                <a:solidFill>
                  <a:srgbClr val="0000FF"/>
                </a:solidFill>
              </a:rPr>
              <a:t>R(</a:t>
            </a:r>
            <a:r>
              <a:rPr lang="en-US" altLang="zh-CN" sz="2000" dirty="0" err="1">
                <a:solidFill>
                  <a:srgbClr val="0000FF"/>
                </a:solidFill>
              </a:rPr>
              <a:t>U,F</a:t>
            </a:r>
            <a:r>
              <a:rPr lang="en-US" altLang="zh-CN" sz="2000" baseline="-25000" dirty="0" err="1">
                <a:solidFill>
                  <a:srgbClr val="0000FF"/>
                </a:solidFill>
              </a:rPr>
              <a:t>min</a:t>
            </a:r>
            <a:r>
              <a:rPr lang="en-US" altLang="zh-CN" sz="2000" dirty="0">
                <a:solidFill>
                  <a:srgbClr val="0000FF"/>
                </a:solidFill>
              </a:rPr>
              <a:t>)</a:t>
            </a:r>
            <a:r>
              <a:rPr lang="zh-CN" altLang="zh-CN" sz="2000" dirty="0">
                <a:solidFill>
                  <a:srgbClr val="0000FF"/>
                </a:solidFill>
              </a:rPr>
              <a:t>的</a:t>
            </a:r>
            <a:r>
              <a:rPr lang="en-US" altLang="zh-CN" sz="2000" dirty="0" err="1">
                <a:solidFill>
                  <a:srgbClr val="0000FF"/>
                </a:solidFill>
              </a:rPr>
              <a:t>FD</a:t>
            </a:r>
            <a:r>
              <a:rPr lang="en-US" altLang="zh-CN" sz="2000" baseline="-25000" dirty="0" err="1">
                <a:solidFill>
                  <a:srgbClr val="0000FF"/>
                </a:solidFill>
              </a:rPr>
              <a:t>i</a:t>
            </a:r>
            <a:r>
              <a:rPr lang="zh-CN" altLang="zh-CN" sz="2000" dirty="0">
                <a:solidFill>
                  <a:srgbClr val="0000FF"/>
                </a:solidFill>
              </a:rPr>
              <a:t>修正</a:t>
            </a:r>
            <a:r>
              <a:rPr lang="en-US" altLang="zh-CN" sz="2000" dirty="0">
                <a:solidFill>
                  <a:srgbClr val="0000FF"/>
                </a:solidFill>
              </a:rPr>
              <a:t>T</a:t>
            </a:r>
            <a:r>
              <a:rPr lang="zh-CN" altLang="zh-CN" sz="2000" dirty="0">
                <a:solidFill>
                  <a:srgbClr val="0000FF"/>
                </a:solidFill>
              </a:rPr>
              <a:t>。</a:t>
            </a:r>
            <a:r>
              <a:rPr lang="zh-CN" altLang="zh-CN" sz="2000" dirty="0"/>
              <a:t>依次使用</a:t>
            </a:r>
            <a:r>
              <a:rPr lang="en-US" altLang="zh-CN" sz="2000" dirty="0"/>
              <a:t>R(</a:t>
            </a:r>
            <a:r>
              <a:rPr lang="en-US" altLang="zh-CN" sz="2000" dirty="0" err="1"/>
              <a:t>U,F</a:t>
            </a:r>
            <a:r>
              <a:rPr lang="en-US" altLang="zh-CN" sz="2000" baseline="-25000" dirty="0" err="1"/>
              <a:t>min</a:t>
            </a:r>
            <a:r>
              <a:rPr lang="en-US" altLang="zh-CN" sz="2000" dirty="0"/>
              <a:t>)</a:t>
            </a:r>
            <a:r>
              <a:rPr lang="zh-CN" altLang="zh-CN" sz="2000" dirty="0"/>
              <a:t>的函数依赖</a:t>
            </a:r>
            <a:r>
              <a:rPr lang="en-US" altLang="zh-CN" sz="2000" dirty="0" err="1"/>
              <a:t>FD</a:t>
            </a:r>
            <a:r>
              <a:rPr lang="en-US" altLang="zh-CN" sz="2000" baseline="-25000" dirty="0" err="1"/>
              <a:t>i</a:t>
            </a:r>
            <a:r>
              <a:rPr lang="zh-CN" altLang="zh-CN" sz="2000" dirty="0"/>
              <a:t>（不妨设为：</a:t>
            </a:r>
            <a:r>
              <a:rPr lang="en-US" altLang="zh-CN" sz="2000" dirty="0"/>
              <a:t>X→Y</a:t>
            </a:r>
            <a:r>
              <a:rPr lang="zh-CN" altLang="zh-CN" sz="2000" dirty="0"/>
              <a:t>）修正</a:t>
            </a:r>
            <a:r>
              <a:rPr lang="en-US" altLang="zh-CN" sz="2000" dirty="0"/>
              <a:t>T</a:t>
            </a:r>
            <a:r>
              <a:rPr lang="zh-CN" altLang="zh-CN" sz="2000" dirty="0"/>
              <a:t>，如果</a:t>
            </a:r>
            <a:r>
              <a:rPr lang="en-US" altLang="zh-CN" sz="2000" dirty="0"/>
              <a:t>T</a:t>
            </a:r>
            <a:r>
              <a:rPr lang="zh-CN" altLang="zh-CN" sz="2000" dirty="0"/>
              <a:t>在</a:t>
            </a:r>
            <a:r>
              <a:rPr lang="en-US" altLang="zh-CN" sz="2000" dirty="0"/>
              <a:t>X</a:t>
            </a:r>
            <a:r>
              <a:rPr lang="zh-CN" altLang="zh-CN" sz="2000" dirty="0"/>
              <a:t>分量上的值不等，则不需要修正，转向下一个</a:t>
            </a:r>
            <a:r>
              <a:rPr lang="en-US" altLang="zh-CN" sz="2000" dirty="0"/>
              <a:t>FD</a:t>
            </a:r>
            <a:r>
              <a:rPr lang="en-US" altLang="zh-CN" sz="2000" baseline="-25000" dirty="0"/>
              <a:t>i+1</a:t>
            </a:r>
            <a:r>
              <a:rPr lang="zh-CN" altLang="zh-CN" sz="2000" dirty="0"/>
              <a:t>；如果</a:t>
            </a:r>
            <a:r>
              <a:rPr lang="en-US" altLang="zh-CN" sz="2000" dirty="0"/>
              <a:t>T</a:t>
            </a:r>
            <a:r>
              <a:rPr lang="zh-CN" altLang="zh-CN" sz="2000" dirty="0"/>
              <a:t>有多行在</a:t>
            </a:r>
            <a:r>
              <a:rPr lang="en-US" altLang="zh-CN" sz="2000" dirty="0"/>
              <a:t>X</a:t>
            </a:r>
            <a:r>
              <a:rPr lang="zh-CN" altLang="zh-CN" sz="2000" dirty="0"/>
              <a:t>分量上相等，而在</a:t>
            </a:r>
            <a:r>
              <a:rPr lang="en-US" altLang="zh-CN" sz="2000" dirty="0"/>
              <a:t>Y</a:t>
            </a:r>
            <a:r>
              <a:rPr lang="zh-CN" altLang="zh-CN" sz="2000" dirty="0"/>
              <a:t>上不等，则修改</a:t>
            </a:r>
            <a:r>
              <a:rPr lang="en-US" altLang="zh-CN" sz="2000" dirty="0"/>
              <a:t>Y</a:t>
            </a:r>
            <a:r>
              <a:rPr lang="zh-CN" altLang="zh-CN" sz="2000" dirty="0"/>
              <a:t>（即：如果</a:t>
            </a:r>
            <a:r>
              <a:rPr lang="en-US" altLang="zh-CN" sz="2000" dirty="0"/>
              <a:t>Y</a:t>
            </a:r>
            <a:r>
              <a:rPr lang="zh-CN" altLang="zh-CN" sz="2000" dirty="0"/>
              <a:t>有</a:t>
            </a:r>
            <a:r>
              <a:rPr lang="en-US" altLang="zh-CN" sz="2000" dirty="0" err="1"/>
              <a:t>a</a:t>
            </a:r>
            <a:r>
              <a:rPr lang="en-US" altLang="zh-CN" sz="2000" baseline="-25000" dirty="0" err="1"/>
              <a:t>j</a:t>
            </a:r>
            <a:r>
              <a:rPr lang="en-US" altLang="zh-CN" sz="2000" dirty="0"/>
              <a:t>, </a:t>
            </a:r>
            <a:r>
              <a:rPr lang="zh-CN" altLang="zh-CN" sz="2000" dirty="0"/>
              <a:t>则均改为</a:t>
            </a:r>
            <a:r>
              <a:rPr lang="en-US" altLang="zh-CN" sz="2000" dirty="0" err="1"/>
              <a:t>a</a:t>
            </a:r>
            <a:r>
              <a:rPr lang="en-US" altLang="zh-CN" sz="2000" baseline="-25000" dirty="0" err="1"/>
              <a:t>j</a:t>
            </a:r>
            <a:r>
              <a:rPr lang="zh-CN" altLang="zh-CN" sz="2000" dirty="0"/>
              <a:t>，否则，全改为下标</a:t>
            </a:r>
            <a:r>
              <a:rPr lang="en-US" altLang="zh-CN" sz="2000" dirty="0"/>
              <a:t>i</a:t>
            </a:r>
            <a:r>
              <a:rPr lang="zh-CN" altLang="zh-CN" sz="2000" dirty="0"/>
              <a:t>最小的</a:t>
            </a:r>
            <a:r>
              <a:rPr lang="en-US" altLang="zh-CN" sz="2000" dirty="0" err="1"/>
              <a:t>b</a:t>
            </a:r>
            <a:r>
              <a:rPr lang="en-US" altLang="zh-CN" sz="2000" baseline="-25000" dirty="0" err="1"/>
              <a:t>ij</a:t>
            </a:r>
            <a:r>
              <a:rPr lang="en-US" altLang="zh-CN" sz="2000" dirty="0"/>
              <a:t>)</a:t>
            </a:r>
            <a:r>
              <a:rPr lang="zh-CN" altLang="zh-CN" sz="2000" dirty="0"/>
              <a:t>；直到</a:t>
            </a:r>
            <a:r>
              <a:rPr lang="en-US" altLang="zh-CN" sz="2000" dirty="0"/>
              <a:t>T</a:t>
            </a:r>
            <a:r>
              <a:rPr lang="zh-CN" altLang="zh-CN" sz="2000" dirty="0"/>
              <a:t>不能再修正为止。</a:t>
            </a:r>
          </a:p>
          <a:p>
            <a:pPr marL="541338" indent="-541338">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）保连接判断。</a:t>
            </a:r>
            <a:r>
              <a:rPr lang="zh-CN" altLang="zh-CN" sz="2000" dirty="0"/>
              <a:t>检查最终</a:t>
            </a:r>
            <a:r>
              <a:rPr lang="en-US" altLang="zh-CN" sz="2000" dirty="0"/>
              <a:t>T</a:t>
            </a:r>
            <a:r>
              <a:rPr lang="zh-CN" altLang="zh-CN" sz="2000" dirty="0"/>
              <a:t>中是否存在全</a:t>
            </a:r>
            <a:r>
              <a:rPr lang="en-US" altLang="zh-CN" sz="2000" dirty="0"/>
              <a:t>a</a:t>
            </a:r>
            <a:r>
              <a:rPr lang="zh-CN" altLang="zh-CN" sz="2000" dirty="0"/>
              <a:t>的行（即：</a:t>
            </a:r>
            <a:r>
              <a:rPr lang="en-US" altLang="zh-CN" sz="2000" dirty="0"/>
              <a:t>a</a:t>
            </a:r>
            <a:r>
              <a:rPr lang="en-US" altLang="zh-CN" sz="2000" baseline="-25000" dirty="0"/>
              <a:t>1</a:t>
            </a:r>
            <a:r>
              <a:rPr lang="en-US" altLang="zh-CN" sz="2000" dirty="0"/>
              <a:t>,…,a</a:t>
            </a:r>
            <a:r>
              <a:rPr lang="en-US" altLang="zh-CN" sz="2000" baseline="-25000" dirty="0"/>
              <a:t>m</a:t>
            </a:r>
            <a:r>
              <a:rPr lang="zh-CN" altLang="zh-CN" sz="2000" dirty="0"/>
              <a:t>）</a:t>
            </a:r>
            <a:r>
              <a:rPr lang="en-US" altLang="zh-CN" sz="2000" dirty="0"/>
              <a:t>,</a:t>
            </a:r>
            <a:r>
              <a:rPr lang="zh-CN" altLang="zh-CN" sz="2000" dirty="0"/>
              <a:t>如果存在，则保连接；否则不保连接</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3792518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77</a:t>
            </a:fld>
            <a:endParaRPr lang="zh-CN" altLang="en-US" dirty="0"/>
          </a:p>
        </p:txBody>
      </p:sp>
      <p:sp>
        <p:nvSpPr>
          <p:cNvPr id="7" name="文本占位符 6"/>
          <p:cNvSpPr>
            <a:spLocks noGrp="1"/>
          </p:cNvSpPr>
          <p:nvPr>
            <p:ph type="body" idx="1"/>
          </p:nvPr>
        </p:nvSpPr>
        <p:spPr>
          <a:xfrm>
            <a:off x="143508" y="476672"/>
            <a:ext cx="8856984" cy="6048672"/>
          </a:xfrm>
        </p:spPr>
        <p:txBody>
          <a:bodyPr>
            <a:normAutofit/>
          </a:bodyPr>
          <a:lstStyle/>
          <a:p>
            <a:pPr marL="0" indent="0">
              <a:buNone/>
            </a:pPr>
            <a:r>
              <a:rPr lang="zh-CN" altLang="zh-CN" sz="2000" dirty="0">
                <a:solidFill>
                  <a:srgbClr val="0000FF"/>
                </a:solidFill>
              </a:rPr>
              <a:t>例</a:t>
            </a:r>
            <a:r>
              <a:rPr lang="en-US" altLang="zh-CN" sz="2000" dirty="0">
                <a:solidFill>
                  <a:srgbClr val="0000FF"/>
                </a:solidFill>
              </a:rPr>
              <a:t>6.22  </a:t>
            </a:r>
            <a:r>
              <a:rPr lang="zh-CN" altLang="zh-CN" sz="2000" dirty="0"/>
              <a:t>对于</a:t>
            </a:r>
            <a:r>
              <a:rPr lang="en-US" altLang="zh-CN" sz="2000" dirty="0"/>
              <a:t>R(U,F)</a:t>
            </a:r>
            <a:r>
              <a:rPr lang="zh-CN" altLang="zh-CN" sz="2000" dirty="0"/>
              <a:t>，</a:t>
            </a:r>
            <a:r>
              <a:rPr lang="en-US" altLang="zh-CN" sz="2000" dirty="0"/>
              <a:t>U={A,B,C,D,E,H}</a:t>
            </a:r>
            <a:r>
              <a:rPr lang="zh-CN" altLang="zh-CN" sz="2000" dirty="0"/>
              <a:t>，</a:t>
            </a:r>
            <a:r>
              <a:rPr lang="en-US" altLang="zh-CN" sz="2000" dirty="0"/>
              <a:t>F={ABC</a:t>
            </a:r>
            <a:r>
              <a:rPr lang="zh-CN" altLang="zh-CN" sz="2000" dirty="0"/>
              <a:t>→</a:t>
            </a:r>
            <a:r>
              <a:rPr lang="en-US" altLang="zh-CN" sz="2000" dirty="0"/>
              <a:t>D,D</a:t>
            </a:r>
            <a:r>
              <a:rPr lang="zh-CN" altLang="zh-CN" sz="2000" dirty="0"/>
              <a:t>→</a:t>
            </a:r>
            <a:r>
              <a:rPr lang="en-US" altLang="zh-CN" sz="2000" dirty="0"/>
              <a:t>E,E</a:t>
            </a:r>
            <a:r>
              <a:rPr lang="zh-CN" altLang="zh-CN" sz="2000" dirty="0"/>
              <a:t>→</a:t>
            </a:r>
            <a:r>
              <a:rPr lang="en-US" altLang="zh-CN" sz="2000" dirty="0"/>
              <a:t>H}</a:t>
            </a:r>
            <a:r>
              <a:rPr lang="zh-CN" altLang="zh-CN" sz="2000" dirty="0" smtClean="0"/>
              <a:t>，</a:t>
            </a:r>
            <a:endParaRPr lang="en-US" altLang="zh-CN" sz="2000" dirty="0" smtClean="0"/>
          </a:p>
          <a:p>
            <a:pPr marL="0" indent="0">
              <a:buNone/>
            </a:pPr>
            <a:r>
              <a:rPr lang="en-US" altLang="zh-CN" sz="2000" dirty="0" smtClean="0">
                <a:latin typeface="Kunstler Script" pitchFamily="66" charset="0"/>
              </a:rPr>
              <a:t>R </a:t>
            </a:r>
            <a:r>
              <a:rPr lang="en-US" altLang="zh-CN" sz="2000" dirty="0"/>
              <a:t>{R</a:t>
            </a:r>
            <a:r>
              <a:rPr lang="en-US" altLang="zh-CN" sz="2000" baseline="-25000" dirty="0"/>
              <a:t>1</a:t>
            </a:r>
            <a:r>
              <a:rPr lang="en-US" altLang="zh-CN" sz="2000" dirty="0"/>
              <a:t>(A,B,C,D)</a:t>
            </a:r>
            <a:r>
              <a:rPr lang="zh-CN" altLang="zh-CN" sz="2000" dirty="0"/>
              <a:t>，</a:t>
            </a:r>
            <a:r>
              <a:rPr lang="en-US" altLang="zh-CN" sz="2000" dirty="0"/>
              <a:t>R</a:t>
            </a:r>
            <a:r>
              <a:rPr lang="en-US" altLang="zh-CN" sz="2000" baseline="-25000" dirty="0"/>
              <a:t>2</a:t>
            </a:r>
            <a:r>
              <a:rPr lang="en-US" altLang="zh-CN" sz="2000" dirty="0"/>
              <a:t>(D,E)</a:t>
            </a:r>
            <a:r>
              <a:rPr lang="zh-CN" altLang="zh-CN" sz="2000" dirty="0"/>
              <a:t>，</a:t>
            </a:r>
            <a:r>
              <a:rPr lang="en-US" altLang="zh-CN" sz="2000" dirty="0"/>
              <a:t>R</a:t>
            </a:r>
            <a:r>
              <a:rPr lang="en-US" altLang="zh-CN" sz="2000" baseline="-25000" dirty="0"/>
              <a:t>3</a:t>
            </a:r>
            <a:r>
              <a:rPr lang="en-US" altLang="zh-CN" sz="2000" dirty="0"/>
              <a:t>(E,H)}</a:t>
            </a:r>
            <a:r>
              <a:rPr lang="zh-CN" altLang="zh-CN" sz="2000" dirty="0"/>
              <a:t>是</a:t>
            </a:r>
            <a:r>
              <a:rPr lang="en-US" altLang="zh-CN" sz="2000" dirty="0"/>
              <a:t>R(U,F)</a:t>
            </a:r>
            <a:r>
              <a:rPr lang="zh-CN" altLang="zh-CN" sz="2000" dirty="0"/>
              <a:t>的一个分解</a:t>
            </a:r>
            <a:r>
              <a:rPr lang="zh-CN" altLang="zh-CN" sz="2000" dirty="0" smtClean="0"/>
              <a:t>，</a:t>
            </a:r>
            <a:endParaRPr lang="en-US" altLang="zh-CN" sz="2000" dirty="0" smtClean="0"/>
          </a:p>
          <a:p>
            <a:pPr marL="0" indent="0">
              <a:buNone/>
            </a:pPr>
            <a:r>
              <a:rPr lang="zh-CN" altLang="zh-CN" sz="2000" dirty="0" smtClean="0"/>
              <a:t>则</a:t>
            </a:r>
            <a:r>
              <a:rPr lang="en-US" altLang="zh-CN" sz="2000" dirty="0">
                <a:latin typeface="Kunstler Script" pitchFamily="66" charset="0"/>
              </a:rPr>
              <a:t>R </a:t>
            </a:r>
            <a:r>
              <a:rPr lang="zh-CN" altLang="zh-CN" sz="2000" dirty="0"/>
              <a:t>是</a:t>
            </a:r>
            <a:r>
              <a:rPr lang="en-US" altLang="zh-CN" sz="2000" dirty="0" smtClean="0"/>
              <a:t>R</a:t>
            </a:r>
            <a:r>
              <a:rPr lang="en-US" altLang="zh-CN" sz="2000" dirty="0"/>
              <a:t>(U,F)</a:t>
            </a:r>
            <a:r>
              <a:rPr lang="zh-CN" altLang="zh-CN" sz="2000" dirty="0" smtClean="0"/>
              <a:t>的</a:t>
            </a:r>
            <a:r>
              <a:rPr lang="zh-CN" altLang="zh-CN" sz="2000" dirty="0"/>
              <a:t>保连接分解。</a:t>
            </a:r>
          </a:p>
          <a:p>
            <a:pPr marL="0" indent="0">
              <a:buNone/>
            </a:pPr>
            <a:r>
              <a:rPr lang="zh-CN" altLang="zh-CN" sz="2000" dirty="0">
                <a:solidFill>
                  <a:srgbClr val="0000FF"/>
                </a:solidFill>
              </a:rPr>
              <a:t>分析：</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）构造状态表</a:t>
            </a:r>
            <a:r>
              <a:rPr lang="en-US" altLang="zh-CN" sz="2000" dirty="0">
                <a:solidFill>
                  <a:srgbClr val="0000FF"/>
                </a:solidFill>
              </a:rPr>
              <a:t>T</a:t>
            </a:r>
            <a:r>
              <a:rPr lang="zh-CN" altLang="zh-CN" sz="2000" dirty="0">
                <a:solidFill>
                  <a:srgbClr val="0000FF"/>
                </a:solidFill>
              </a:rPr>
              <a:t>。</a:t>
            </a:r>
            <a:r>
              <a:rPr lang="zh-CN" altLang="zh-CN" sz="2000" dirty="0"/>
              <a:t>首先计算</a:t>
            </a:r>
            <a:r>
              <a:rPr lang="en-US" altLang="zh-CN" sz="2000" dirty="0" err="1"/>
              <a:t>F</a:t>
            </a:r>
            <a:r>
              <a:rPr lang="en-US" altLang="zh-CN" sz="2000" baseline="-25000" dirty="0" err="1"/>
              <a:t>min</a:t>
            </a:r>
            <a:r>
              <a:rPr lang="zh-CN" altLang="zh-CN" sz="2000" dirty="0"/>
              <a:t>，然后创建</a:t>
            </a:r>
            <a:r>
              <a:rPr lang="en-US" altLang="zh-CN" sz="2000" dirty="0"/>
              <a:t>T</a:t>
            </a:r>
            <a:r>
              <a:rPr lang="zh-CN" altLang="zh-CN" sz="2000" dirty="0"/>
              <a:t>如表</a:t>
            </a:r>
            <a:r>
              <a:rPr lang="en-US" altLang="zh-CN" sz="2000" dirty="0"/>
              <a:t>6.8</a:t>
            </a:r>
            <a:r>
              <a:rPr lang="zh-CN" altLang="zh-CN" sz="2000" dirty="0"/>
              <a:t>所示。</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表格 11"/>
          <p:cNvGraphicFramePr>
            <a:graphicFrameLocks noGrp="1"/>
          </p:cNvGraphicFramePr>
          <p:nvPr>
            <p:extLst>
              <p:ext uri="{D42A27DB-BD31-4B8C-83A1-F6EECF244321}">
                <p14:modId xmlns:p14="http://schemas.microsoft.com/office/powerpoint/2010/main" val="3440334829"/>
              </p:ext>
            </p:extLst>
          </p:nvPr>
        </p:nvGraphicFramePr>
        <p:xfrm>
          <a:off x="143508" y="3212976"/>
          <a:ext cx="8856984" cy="1962218"/>
        </p:xfrm>
        <a:graphic>
          <a:graphicData uri="http://schemas.openxmlformats.org/drawingml/2006/table">
            <a:tbl>
              <a:tblPr firstRow="1" firstCol="1" bandRow="1" bandCol="1">
                <a:tableStyleId>{5C22544A-7EE6-4342-B048-85BDC9FD1C3A}</a:tableStyleId>
              </a:tblPr>
              <a:tblGrid>
                <a:gridCol w="1476164"/>
                <a:gridCol w="1476164"/>
                <a:gridCol w="1476164"/>
                <a:gridCol w="1476164"/>
                <a:gridCol w="1476164"/>
                <a:gridCol w="1476164"/>
              </a:tblGrid>
              <a:tr h="504056">
                <a:tc>
                  <a:txBody>
                    <a:bodyPr/>
                    <a:lstStyle/>
                    <a:p>
                      <a:pPr indent="190500" algn="ctr">
                        <a:lnSpc>
                          <a:spcPts val="1200"/>
                        </a:lnSpc>
                        <a:spcAft>
                          <a:spcPts val="0"/>
                        </a:spcAft>
                        <a:tabLst>
                          <a:tab pos="5257800" algn="l"/>
                        </a:tabLst>
                      </a:pPr>
                      <a:r>
                        <a:rPr lang="zh-CN" sz="2000" kern="100" dirty="0">
                          <a:effectLst/>
                          <a:latin typeface="微软雅黑" pitchFamily="34" charset="-122"/>
                          <a:ea typeface="微软雅黑" pitchFamily="34" charset="-122"/>
                        </a:rPr>
                        <a:t>A</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C</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D</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E</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H</a:t>
                      </a:r>
                    </a:p>
                  </a:txBody>
                  <a:tcPr marL="17780" marR="17780" marT="0" marB="0" anchor="ctr"/>
                </a:tc>
              </a:tr>
              <a:tr h="486054">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a1</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a2</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a3</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a4</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b15</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b16</a:t>
                      </a:r>
                    </a:p>
                  </a:txBody>
                  <a:tcPr marL="17780" marR="17780" marT="0" marB="0" anchor="ctr"/>
                </a:tc>
              </a:tr>
              <a:tr h="486054">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b21</a:t>
                      </a:r>
                    </a:p>
                  </a:txBody>
                  <a:tcPr marL="17780" marR="17780" marT="0" marB="0" anchor="ctr"/>
                </a:tc>
                <a:tc>
                  <a:txBody>
                    <a:bodyPr/>
                    <a:lstStyle/>
                    <a:p>
                      <a:pPr indent="190500" algn="ctr">
                        <a:lnSpc>
                          <a:spcPts val="1200"/>
                        </a:lnSpc>
                        <a:spcAft>
                          <a:spcPts val="0"/>
                        </a:spcAft>
                        <a:tabLst>
                          <a:tab pos="5257800" algn="l"/>
                        </a:tabLst>
                      </a:pPr>
                      <a:r>
                        <a:rPr lang="zh-CN" sz="2000" kern="100" dirty="0">
                          <a:effectLst/>
                          <a:latin typeface="微软雅黑" pitchFamily="34" charset="-122"/>
                          <a:ea typeface="微软雅黑" pitchFamily="34" charset="-122"/>
                        </a:rPr>
                        <a:t>b22</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b23</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a4</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a5</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b26</a:t>
                      </a:r>
                    </a:p>
                  </a:txBody>
                  <a:tcPr marL="17780" marR="17780" marT="0" marB="0" anchor="ctr"/>
                </a:tc>
              </a:tr>
              <a:tr h="486054">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b31</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b32</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b33</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b34</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a5</a:t>
                      </a:r>
                    </a:p>
                  </a:txBody>
                  <a:tcPr marL="17780" marR="17780" marT="0" marB="0" anchor="ctr"/>
                </a:tc>
                <a:tc>
                  <a:txBody>
                    <a:bodyPr/>
                    <a:lstStyle/>
                    <a:p>
                      <a:pPr indent="190500" algn="ctr">
                        <a:lnSpc>
                          <a:spcPts val="1200"/>
                        </a:lnSpc>
                        <a:spcAft>
                          <a:spcPts val="0"/>
                        </a:spcAft>
                        <a:tabLst>
                          <a:tab pos="5257800" algn="l"/>
                        </a:tabLst>
                      </a:pPr>
                      <a:r>
                        <a:rPr lang="zh-CN" sz="2000" kern="100" dirty="0">
                          <a:effectLst/>
                          <a:latin typeface="微软雅黑" pitchFamily="34" charset="-122"/>
                          <a:ea typeface="微软雅黑" pitchFamily="34" charset="-122"/>
                        </a:rPr>
                        <a:t>a6</a:t>
                      </a:r>
                    </a:p>
                  </a:txBody>
                  <a:tcPr marL="17780" marR="17780" marT="0" marB="0" anchor="ctr"/>
                </a:tc>
              </a:tr>
            </a:tbl>
          </a:graphicData>
        </a:graphic>
      </p:graphicFrame>
    </p:spTree>
    <p:extLst>
      <p:ext uri="{BB962C8B-B14F-4D97-AF65-F5344CB8AC3E}">
        <p14:creationId xmlns:p14="http://schemas.microsoft.com/office/powerpoint/2010/main" val="34914341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78</a:t>
            </a:fld>
            <a:endParaRPr lang="zh-CN" altLang="en-US" dirty="0"/>
          </a:p>
        </p:txBody>
      </p:sp>
      <p:sp>
        <p:nvSpPr>
          <p:cNvPr id="7" name="文本占位符 6"/>
          <p:cNvSpPr>
            <a:spLocks noGrp="1"/>
          </p:cNvSpPr>
          <p:nvPr>
            <p:ph type="body" idx="1"/>
          </p:nvPr>
        </p:nvSpPr>
        <p:spPr>
          <a:xfrm>
            <a:off x="143508" y="620688"/>
            <a:ext cx="8856984" cy="4608512"/>
          </a:xfrm>
        </p:spPr>
        <p:txBody>
          <a:bodyPr>
            <a:normAutofit/>
          </a:bodyPr>
          <a:lstStyle/>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）利用</a:t>
            </a:r>
            <a:r>
              <a:rPr lang="en-US" altLang="zh-CN" sz="2000" dirty="0">
                <a:solidFill>
                  <a:srgbClr val="0000FF"/>
                </a:solidFill>
              </a:rPr>
              <a:t>R</a:t>
            </a:r>
            <a:r>
              <a:rPr lang="zh-CN" altLang="zh-CN" sz="2000" dirty="0">
                <a:solidFill>
                  <a:srgbClr val="0000FF"/>
                </a:solidFill>
              </a:rPr>
              <a:t>的</a:t>
            </a:r>
            <a:r>
              <a:rPr lang="en-US" altLang="zh-CN" sz="2000" dirty="0" err="1">
                <a:solidFill>
                  <a:srgbClr val="0000FF"/>
                </a:solidFill>
              </a:rPr>
              <a:t>FD</a:t>
            </a:r>
            <a:r>
              <a:rPr lang="en-US" altLang="zh-CN" sz="2000" baseline="-25000" dirty="0" err="1">
                <a:solidFill>
                  <a:srgbClr val="0000FF"/>
                </a:solidFill>
              </a:rPr>
              <a:t>i</a:t>
            </a:r>
            <a:r>
              <a:rPr lang="zh-CN" altLang="zh-CN" sz="2000" dirty="0">
                <a:solidFill>
                  <a:srgbClr val="0000FF"/>
                </a:solidFill>
              </a:rPr>
              <a:t>修正</a:t>
            </a:r>
            <a:r>
              <a:rPr lang="en-US" altLang="zh-CN" sz="2000" dirty="0">
                <a:solidFill>
                  <a:srgbClr val="0000FF"/>
                </a:solidFill>
              </a:rPr>
              <a:t>T</a:t>
            </a:r>
            <a:r>
              <a:rPr lang="zh-CN" altLang="zh-CN" sz="2000" dirty="0">
                <a:solidFill>
                  <a:srgbClr val="0000FF"/>
                </a:solidFill>
              </a:rPr>
              <a:t>。</a:t>
            </a:r>
          </a:p>
          <a:p>
            <a:r>
              <a:rPr lang="en-US" altLang="zh-CN" sz="2000" dirty="0"/>
              <a:t>1</a:t>
            </a:r>
            <a:r>
              <a:rPr lang="zh-CN" altLang="zh-CN" sz="2000" dirty="0"/>
              <a:t>）</a:t>
            </a:r>
            <a:r>
              <a:rPr lang="en-US" altLang="zh-CN" sz="2000" dirty="0"/>
              <a:t>ABC</a:t>
            </a:r>
            <a:r>
              <a:rPr lang="zh-CN" altLang="zh-CN" sz="2000" dirty="0"/>
              <a:t>→</a:t>
            </a:r>
            <a:r>
              <a:rPr lang="en-US" altLang="zh-CN" sz="2000" dirty="0"/>
              <a:t>D</a:t>
            </a:r>
            <a:r>
              <a:rPr lang="zh-CN" altLang="zh-CN" sz="2000" dirty="0"/>
              <a:t>修正：因为</a:t>
            </a:r>
            <a:r>
              <a:rPr lang="en-US" altLang="zh-CN" sz="2000" dirty="0"/>
              <a:t>ABC</a:t>
            </a:r>
            <a:r>
              <a:rPr lang="zh-CN" altLang="zh-CN" sz="2000" dirty="0"/>
              <a:t>的分量值均不等，所以免修。</a:t>
            </a:r>
          </a:p>
          <a:p>
            <a:r>
              <a:rPr lang="en-US" altLang="zh-CN" sz="2000" dirty="0"/>
              <a:t>2</a:t>
            </a:r>
            <a:r>
              <a:rPr lang="zh-CN" altLang="zh-CN" sz="2000" dirty="0"/>
              <a:t>）</a:t>
            </a:r>
            <a:r>
              <a:rPr lang="en-US" altLang="zh-CN" sz="2000" dirty="0"/>
              <a:t>D</a:t>
            </a:r>
            <a:r>
              <a:rPr lang="zh-CN" altLang="zh-CN" sz="2000" dirty="0"/>
              <a:t>→</a:t>
            </a:r>
            <a:r>
              <a:rPr lang="en-US" altLang="zh-CN" sz="2000" dirty="0"/>
              <a:t>E</a:t>
            </a:r>
            <a:r>
              <a:rPr lang="zh-CN" altLang="zh-CN" sz="2000" dirty="0"/>
              <a:t>修正：因为</a:t>
            </a:r>
            <a:r>
              <a:rPr lang="en-US" altLang="zh-CN" sz="2000" dirty="0"/>
              <a:t>D</a:t>
            </a:r>
            <a:r>
              <a:rPr lang="zh-CN" altLang="zh-CN" sz="2000" dirty="0"/>
              <a:t>列第</a:t>
            </a:r>
            <a:r>
              <a:rPr lang="en-US" altLang="zh-CN" sz="2000" dirty="0"/>
              <a:t>1,2</a:t>
            </a:r>
            <a:r>
              <a:rPr lang="zh-CN" altLang="zh-CN" sz="2000" dirty="0"/>
              <a:t>行的分量值相同，所以修正</a:t>
            </a:r>
            <a:r>
              <a:rPr lang="en-US" altLang="zh-CN" sz="2000" dirty="0"/>
              <a:t>E</a:t>
            </a:r>
            <a:r>
              <a:rPr lang="zh-CN" altLang="zh-CN" sz="2000" dirty="0"/>
              <a:t>的分量值，由于</a:t>
            </a:r>
            <a:r>
              <a:rPr lang="en-US" altLang="zh-CN" sz="2000" dirty="0"/>
              <a:t>E</a:t>
            </a:r>
            <a:r>
              <a:rPr lang="zh-CN" altLang="zh-CN" sz="2000" dirty="0"/>
              <a:t>的分量值中包含</a:t>
            </a:r>
            <a:r>
              <a:rPr lang="en-US" altLang="zh-CN" sz="2000" dirty="0"/>
              <a:t>a5</a:t>
            </a:r>
            <a:r>
              <a:rPr lang="zh-CN" altLang="zh-CN" sz="2000" dirty="0"/>
              <a:t>，所以使用</a:t>
            </a:r>
            <a:r>
              <a:rPr lang="en-US" altLang="zh-CN" sz="2000" dirty="0"/>
              <a:t>a5</a:t>
            </a:r>
            <a:r>
              <a:rPr lang="zh-CN" altLang="zh-CN" sz="2000" dirty="0"/>
              <a:t>修正</a:t>
            </a:r>
            <a:r>
              <a:rPr lang="en-US" altLang="zh-CN" sz="2000" dirty="0"/>
              <a:t>E</a:t>
            </a:r>
            <a:r>
              <a:rPr lang="zh-CN" altLang="zh-CN" sz="2000" dirty="0"/>
              <a:t>的</a:t>
            </a:r>
            <a:r>
              <a:rPr lang="en-US" altLang="zh-CN" sz="2000" dirty="0"/>
              <a:t>b15</a:t>
            </a:r>
            <a:r>
              <a:rPr lang="zh-CN" altLang="zh-CN" sz="2000" dirty="0"/>
              <a:t>的分量值。</a:t>
            </a:r>
          </a:p>
          <a:p>
            <a:r>
              <a:rPr lang="en-US" altLang="zh-CN" sz="2000" dirty="0"/>
              <a:t>3</a:t>
            </a:r>
            <a:r>
              <a:rPr lang="zh-CN" altLang="zh-CN" sz="2000" dirty="0"/>
              <a:t>）</a:t>
            </a:r>
            <a:r>
              <a:rPr lang="en-US" altLang="zh-CN" sz="2000" dirty="0"/>
              <a:t>E</a:t>
            </a:r>
            <a:r>
              <a:rPr lang="zh-CN" altLang="zh-CN" sz="2000" dirty="0"/>
              <a:t>→</a:t>
            </a:r>
            <a:r>
              <a:rPr lang="en-US" altLang="zh-CN" sz="2000" dirty="0"/>
              <a:t>H</a:t>
            </a:r>
            <a:r>
              <a:rPr lang="zh-CN" altLang="zh-CN" sz="2000" dirty="0"/>
              <a:t>修正：因为</a:t>
            </a:r>
            <a:r>
              <a:rPr lang="en-US" altLang="zh-CN" sz="2000" dirty="0"/>
              <a:t>E</a:t>
            </a:r>
            <a:r>
              <a:rPr lang="zh-CN" altLang="zh-CN" sz="2000" dirty="0"/>
              <a:t>列第</a:t>
            </a:r>
            <a:r>
              <a:rPr lang="en-US" altLang="zh-CN" sz="2000" dirty="0"/>
              <a:t>1,2,3</a:t>
            </a:r>
            <a:r>
              <a:rPr lang="zh-CN" altLang="zh-CN" sz="2000" dirty="0"/>
              <a:t>行的分量值相同，所以修正</a:t>
            </a:r>
            <a:r>
              <a:rPr lang="en-US" altLang="zh-CN" sz="2000" dirty="0"/>
              <a:t>H</a:t>
            </a:r>
            <a:r>
              <a:rPr lang="zh-CN" altLang="zh-CN" sz="2000" dirty="0"/>
              <a:t>的分量值，由于</a:t>
            </a:r>
            <a:r>
              <a:rPr lang="en-US" altLang="zh-CN" sz="2000" dirty="0"/>
              <a:t>H</a:t>
            </a:r>
            <a:r>
              <a:rPr lang="zh-CN" altLang="zh-CN" sz="2000" dirty="0"/>
              <a:t>的分量值中包含</a:t>
            </a:r>
            <a:r>
              <a:rPr lang="en-US" altLang="zh-CN" sz="2000" dirty="0"/>
              <a:t>a6</a:t>
            </a:r>
            <a:r>
              <a:rPr lang="zh-CN" altLang="zh-CN" sz="2000" dirty="0"/>
              <a:t>，所以使用</a:t>
            </a:r>
            <a:r>
              <a:rPr lang="en-US" altLang="zh-CN" sz="2000" dirty="0"/>
              <a:t>a6</a:t>
            </a:r>
            <a:r>
              <a:rPr lang="zh-CN" altLang="zh-CN" sz="2000" dirty="0"/>
              <a:t>修正</a:t>
            </a:r>
            <a:r>
              <a:rPr lang="en-US" altLang="zh-CN" sz="2000" dirty="0"/>
              <a:t>Hb16,b26</a:t>
            </a:r>
            <a:r>
              <a:rPr lang="zh-CN" altLang="zh-CN" sz="2000" dirty="0"/>
              <a:t>的分量值。</a:t>
            </a:r>
          </a:p>
          <a:p>
            <a:r>
              <a:rPr lang="zh-CN" altLang="zh-CN" sz="2000" dirty="0"/>
              <a:t>修正</a:t>
            </a:r>
            <a:r>
              <a:rPr lang="en-US" altLang="zh-CN" sz="2000" dirty="0"/>
              <a:t>T</a:t>
            </a:r>
            <a:r>
              <a:rPr lang="zh-CN" altLang="zh-CN" sz="2000" dirty="0"/>
              <a:t>如表</a:t>
            </a:r>
            <a:r>
              <a:rPr lang="en-US" altLang="zh-CN" sz="2000" dirty="0"/>
              <a:t>6.9</a:t>
            </a:r>
            <a:r>
              <a:rPr lang="zh-CN" altLang="zh-CN" sz="2000" dirty="0"/>
              <a:t>所示</a:t>
            </a:r>
            <a:r>
              <a:rPr lang="zh-CN" altLang="zh-CN" sz="2000" dirty="0" smtClean="0"/>
              <a:t>。</a:t>
            </a:r>
            <a:endParaRPr lang="en-US" altLang="zh-CN" sz="2000" dirty="0" smtClean="0"/>
          </a:p>
          <a:p>
            <a:pPr marL="0" indent="0">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）保连接判断。</a:t>
            </a:r>
            <a:r>
              <a:rPr lang="zh-CN" altLang="zh-CN" sz="2000" dirty="0"/>
              <a:t>检查最终</a:t>
            </a:r>
            <a:r>
              <a:rPr lang="en-US" altLang="zh-CN" sz="2000" dirty="0"/>
              <a:t>T</a:t>
            </a:r>
            <a:r>
              <a:rPr lang="zh-CN" altLang="zh-CN" sz="2000" dirty="0"/>
              <a:t>可知，第</a:t>
            </a:r>
            <a:r>
              <a:rPr lang="en-US" altLang="zh-CN" sz="2000" dirty="0"/>
              <a:t>1</a:t>
            </a:r>
            <a:r>
              <a:rPr lang="zh-CN" altLang="zh-CN" sz="2000" dirty="0"/>
              <a:t>行是全</a:t>
            </a:r>
            <a:r>
              <a:rPr lang="en-US" altLang="zh-CN" sz="2000" dirty="0"/>
              <a:t>a</a:t>
            </a:r>
            <a:r>
              <a:rPr lang="zh-CN" altLang="zh-CN" sz="2000" dirty="0"/>
              <a:t>的行（即：</a:t>
            </a:r>
            <a:r>
              <a:rPr lang="en-US" altLang="zh-CN" sz="2000" dirty="0"/>
              <a:t>a</a:t>
            </a:r>
            <a:r>
              <a:rPr lang="en-US" altLang="zh-CN" sz="2000" baseline="-25000" dirty="0"/>
              <a:t>1</a:t>
            </a:r>
            <a:r>
              <a:rPr lang="en-US" altLang="zh-CN" sz="2000" dirty="0"/>
              <a:t>,…,a</a:t>
            </a:r>
            <a:r>
              <a:rPr lang="en-US" altLang="zh-CN" sz="2000" baseline="-25000" dirty="0"/>
              <a:t>m</a:t>
            </a:r>
            <a:r>
              <a:rPr lang="zh-CN" altLang="zh-CN" sz="2000" dirty="0"/>
              <a:t>）</a:t>
            </a:r>
            <a:r>
              <a:rPr lang="en-US" altLang="zh-CN" sz="2000" dirty="0"/>
              <a:t>,</a:t>
            </a:r>
            <a:r>
              <a:rPr lang="zh-CN" altLang="zh-CN" sz="2000" dirty="0"/>
              <a:t>所以保连接。</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1972016506"/>
              </p:ext>
            </p:extLst>
          </p:nvPr>
        </p:nvGraphicFramePr>
        <p:xfrm>
          <a:off x="107505" y="4797152"/>
          <a:ext cx="8928990" cy="1584176"/>
        </p:xfrm>
        <a:graphic>
          <a:graphicData uri="http://schemas.openxmlformats.org/drawingml/2006/table">
            <a:tbl>
              <a:tblPr firstRow="1" firstCol="1" bandRow="1" bandCol="1">
                <a:tableStyleId>{5C22544A-7EE6-4342-B048-85BDC9FD1C3A}</a:tableStyleId>
              </a:tblPr>
              <a:tblGrid>
                <a:gridCol w="1488165"/>
                <a:gridCol w="1488165"/>
                <a:gridCol w="1488165"/>
                <a:gridCol w="1488165"/>
                <a:gridCol w="1488165"/>
                <a:gridCol w="1488165"/>
              </a:tblGrid>
              <a:tr h="396044">
                <a:tc>
                  <a:txBody>
                    <a:bodyPr/>
                    <a:lstStyle/>
                    <a:p>
                      <a:pPr indent="190500" algn="ctr">
                        <a:lnSpc>
                          <a:spcPts val="1200"/>
                        </a:lnSpc>
                        <a:spcAft>
                          <a:spcPts val="0"/>
                        </a:spcAft>
                        <a:tabLst>
                          <a:tab pos="5257800" algn="l"/>
                        </a:tabLst>
                      </a:pPr>
                      <a:r>
                        <a:rPr lang="zh-CN" sz="2000" kern="100" dirty="0">
                          <a:effectLst/>
                          <a:latin typeface="微软雅黑" pitchFamily="34" charset="-122"/>
                          <a:ea typeface="微软雅黑" pitchFamily="34" charset="-122"/>
                        </a:rPr>
                        <a:t>A</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a:t>
                      </a:r>
                    </a:p>
                  </a:txBody>
                  <a:tcPr marL="17780" marR="17780" marT="0" marB="0" anchor="ctr"/>
                </a:tc>
                <a:tc>
                  <a:txBody>
                    <a:bodyPr/>
                    <a:lstStyle/>
                    <a:p>
                      <a:pPr indent="190500" algn="ctr">
                        <a:lnSpc>
                          <a:spcPts val="1200"/>
                        </a:lnSpc>
                        <a:spcAft>
                          <a:spcPts val="0"/>
                        </a:spcAft>
                        <a:tabLst>
                          <a:tab pos="5257800" algn="l"/>
                        </a:tabLst>
                      </a:pPr>
                      <a:r>
                        <a:rPr lang="zh-CN" sz="2000" kern="100" dirty="0">
                          <a:effectLst/>
                          <a:latin typeface="微软雅黑" pitchFamily="34" charset="-122"/>
                          <a:ea typeface="微软雅黑" pitchFamily="34" charset="-122"/>
                        </a:rPr>
                        <a:t>C</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D</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E</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H</a:t>
                      </a:r>
                    </a:p>
                  </a:txBody>
                  <a:tcPr marL="17780" marR="17780" marT="0" marB="0" anchor="ctr"/>
                </a:tc>
              </a:tr>
              <a:tr h="396044">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a1</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a2</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a3</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a4</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a5</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a6</a:t>
                      </a:r>
                    </a:p>
                  </a:txBody>
                  <a:tcPr marL="17780" marR="17780" marT="0" marB="0" anchor="ctr"/>
                </a:tc>
              </a:tr>
              <a:tr h="396044">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b21</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b22</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b23</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a4</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a5</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a6</a:t>
                      </a:r>
                    </a:p>
                  </a:txBody>
                  <a:tcPr marL="17780" marR="17780" marT="0" marB="0" anchor="ctr"/>
                </a:tc>
              </a:tr>
              <a:tr h="396044">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b31</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b32</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b33</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b34</a:t>
                      </a:r>
                    </a:p>
                  </a:txBody>
                  <a:tcPr marL="17780" marR="17780" marT="0" marB="0" anchor="ctr"/>
                </a:tc>
                <a:tc>
                  <a:txBody>
                    <a:bodyPr/>
                    <a:lstStyle/>
                    <a:p>
                      <a:pPr indent="190500" algn="ctr">
                        <a:lnSpc>
                          <a:spcPts val="1200"/>
                        </a:lnSpc>
                        <a:spcAft>
                          <a:spcPts val="0"/>
                        </a:spcAft>
                        <a:tabLst>
                          <a:tab pos="5257800" algn="l"/>
                        </a:tabLst>
                      </a:pPr>
                      <a:r>
                        <a:rPr lang="zh-CN" sz="2000" kern="100">
                          <a:effectLst/>
                          <a:latin typeface="微软雅黑" pitchFamily="34" charset="-122"/>
                          <a:ea typeface="微软雅黑" pitchFamily="34" charset="-122"/>
                        </a:rPr>
                        <a:t>a5</a:t>
                      </a:r>
                    </a:p>
                  </a:txBody>
                  <a:tcPr marL="17780" marR="17780" marT="0" marB="0" anchor="ctr"/>
                </a:tc>
                <a:tc>
                  <a:txBody>
                    <a:bodyPr/>
                    <a:lstStyle/>
                    <a:p>
                      <a:pPr indent="190500" algn="ctr">
                        <a:lnSpc>
                          <a:spcPts val="1200"/>
                        </a:lnSpc>
                        <a:spcAft>
                          <a:spcPts val="0"/>
                        </a:spcAft>
                        <a:tabLst>
                          <a:tab pos="5257800" algn="l"/>
                        </a:tabLst>
                      </a:pPr>
                      <a:r>
                        <a:rPr lang="zh-CN" sz="2000" kern="100" dirty="0">
                          <a:effectLst/>
                          <a:latin typeface="微软雅黑" pitchFamily="34" charset="-122"/>
                          <a:ea typeface="微软雅黑" pitchFamily="34" charset="-122"/>
                        </a:rPr>
                        <a:t>a6</a:t>
                      </a:r>
                    </a:p>
                  </a:txBody>
                  <a:tcPr marL="17780" marR="17780" marT="0" marB="0" anchor="ctr"/>
                </a:tc>
              </a:tr>
            </a:tbl>
          </a:graphicData>
        </a:graphic>
      </p:graphicFrame>
    </p:spTree>
    <p:extLst>
      <p:ext uri="{BB962C8B-B14F-4D97-AF65-F5344CB8AC3E}">
        <p14:creationId xmlns:p14="http://schemas.microsoft.com/office/powerpoint/2010/main" val="80938052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79</a:t>
            </a:fld>
            <a:endParaRPr lang="zh-CN" altLang="en-US" dirty="0"/>
          </a:p>
        </p:txBody>
      </p:sp>
      <p:sp>
        <p:nvSpPr>
          <p:cNvPr id="7" name="文本占位符 6"/>
          <p:cNvSpPr>
            <a:spLocks noGrp="1"/>
          </p:cNvSpPr>
          <p:nvPr>
            <p:ph type="body" idx="1"/>
          </p:nvPr>
        </p:nvSpPr>
        <p:spPr>
          <a:xfrm>
            <a:off x="143508" y="620688"/>
            <a:ext cx="8856984" cy="5688632"/>
          </a:xfrm>
        </p:spPr>
        <p:txBody>
          <a:bodyPr>
            <a:normAutofit/>
          </a:bodyPr>
          <a:lstStyle/>
          <a:p>
            <a:r>
              <a:rPr lang="zh-CN" altLang="zh-CN" sz="2000" dirty="0">
                <a:solidFill>
                  <a:srgbClr val="0000FF"/>
                </a:solidFill>
              </a:rPr>
              <a:t>推论</a:t>
            </a:r>
            <a:r>
              <a:rPr lang="en-US" altLang="zh-CN" sz="2000" dirty="0">
                <a:solidFill>
                  <a:srgbClr val="0000FF"/>
                </a:solidFill>
              </a:rPr>
              <a:t>6.4  </a:t>
            </a:r>
            <a:r>
              <a:rPr lang="zh-CN" altLang="zh-CN" sz="2000" dirty="0"/>
              <a:t>如果</a:t>
            </a:r>
            <a:r>
              <a:rPr lang="en-US" altLang="zh-CN" sz="2000" dirty="0"/>
              <a:t>R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是</a:t>
            </a:r>
            <a:r>
              <a:rPr lang="en-US" altLang="zh-CN" sz="2000" dirty="0"/>
              <a:t>R(U,F)</a:t>
            </a:r>
            <a:r>
              <a:rPr lang="zh-CN" altLang="zh-CN" sz="2000" dirty="0"/>
              <a:t>的分解，则：</a:t>
            </a:r>
          </a:p>
          <a:p>
            <a:r>
              <a:rPr lang="en-US" altLang="zh-CN" sz="2000" dirty="0">
                <a:solidFill>
                  <a:srgbClr val="0000FF"/>
                </a:solidFill>
              </a:rPr>
              <a:t>R </a:t>
            </a:r>
            <a:r>
              <a:rPr lang="zh-CN" altLang="zh-CN" sz="2000" dirty="0">
                <a:solidFill>
                  <a:srgbClr val="0000FF"/>
                </a:solidFill>
              </a:rPr>
              <a:t>保连接 当且仅当</a:t>
            </a:r>
            <a:r>
              <a:rPr lang="en-US" altLang="zh-CN" sz="2000" dirty="0">
                <a:solidFill>
                  <a:srgbClr val="0000FF"/>
                </a:solidFill>
              </a:rPr>
              <a:t> U</a:t>
            </a:r>
            <a:r>
              <a:rPr lang="en-US" altLang="zh-CN" sz="2000" baseline="-25000" dirty="0">
                <a:solidFill>
                  <a:srgbClr val="0000FF"/>
                </a:solidFill>
              </a:rPr>
              <a:t>1</a:t>
            </a:r>
            <a:r>
              <a:rPr lang="zh-CN" altLang="zh-CN" sz="2000" dirty="0">
                <a:solidFill>
                  <a:srgbClr val="0000FF"/>
                </a:solidFill>
              </a:rPr>
              <a:t>∩</a:t>
            </a:r>
            <a:r>
              <a:rPr lang="en-US" altLang="zh-CN" sz="2000" dirty="0">
                <a:solidFill>
                  <a:srgbClr val="0000FF"/>
                </a:solidFill>
              </a:rPr>
              <a:t>U</a:t>
            </a:r>
            <a:r>
              <a:rPr lang="en-US" altLang="zh-CN" sz="2000" baseline="-25000" dirty="0">
                <a:solidFill>
                  <a:srgbClr val="0000FF"/>
                </a:solidFill>
              </a:rPr>
              <a:t>2</a:t>
            </a:r>
            <a:r>
              <a:rPr lang="zh-CN" altLang="zh-CN" sz="2000" dirty="0">
                <a:solidFill>
                  <a:srgbClr val="0000FF"/>
                </a:solidFill>
              </a:rPr>
              <a:t>→</a:t>
            </a:r>
            <a:r>
              <a:rPr lang="en-US" altLang="zh-CN" sz="2000" dirty="0">
                <a:solidFill>
                  <a:srgbClr val="0000FF"/>
                </a:solidFill>
              </a:rPr>
              <a:t>U</a:t>
            </a:r>
            <a:r>
              <a:rPr lang="en-US" altLang="zh-CN" sz="2000" baseline="-25000" dirty="0">
                <a:solidFill>
                  <a:srgbClr val="0000FF"/>
                </a:solidFill>
              </a:rPr>
              <a:t>1</a:t>
            </a:r>
            <a:r>
              <a:rPr lang="en-US" altLang="zh-CN" sz="2000" dirty="0">
                <a:solidFill>
                  <a:srgbClr val="0000FF"/>
                </a:solidFill>
              </a:rPr>
              <a:t>-U</a:t>
            </a:r>
            <a:r>
              <a:rPr lang="en-US" altLang="zh-CN" sz="2000" baseline="-25000" dirty="0">
                <a:solidFill>
                  <a:srgbClr val="0000FF"/>
                </a:solidFill>
              </a:rPr>
              <a:t>2  </a:t>
            </a:r>
            <a:r>
              <a:rPr lang="zh-CN" altLang="zh-CN" sz="2000" dirty="0">
                <a:solidFill>
                  <a:srgbClr val="0000FF"/>
                </a:solidFill>
              </a:rPr>
              <a:t>或者 </a:t>
            </a:r>
            <a:r>
              <a:rPr lang="en-US" altLang="zh-CN" sz="2000" dirty="0">
                <a:solidFill>
                  <a:srgbClr val="0000FF"/>
                </a:solidFill>
              </a:rPr>
              <a:t>U</a:t>
            </a:r>
            <a:r>
              <a:rPr lang="en-US" altLang="zh-CN" sz="2000" baseline="-25000" dirty="0">
                <a:solidFill>
                  <a:srgbClr val="0000FF"/>
                </a:solidFill>
              </a:rPr>
              <a:t>1</a:t>
            </a:r>
            <a:r>
              <a:rPr lang="zh-CN" altLang="zh-CN" sz="2000" dirty="0">
                <a:solidFill>
                  <a:srgbClr val="0000FF"/>
                </a:solidFill>
              </a:rPr>
              <a:t>∩</a:t>
            </a:r>
            <a:r>
              <a:rPr lang="en-US" altLang="zh-CN" sz="2000" dirty="0">
                <a:solidFill>
                  <a:srgbClr val="0000FF"/>
                </a:solidFill>
              </a:rPr>
              <a:t>U</a:t>
            </a:r>
            <a:r>
              <a:rPr lang="en-US" altLang="zh-CN" sz="2000" baseline="-25000" dirty="0">
                <a:solidFill>
                  <a:srgbClr val="0000FF"/>
                </a:solidFill>
              </a:rPr>
              <a:t>2</a:t>
            </a:r>
            <a:r>
              <a:rPr lang="zh-CN" altLang="zh-CN" sz="2000" dirty="0">
                <a:solidFill>
                  <a:srgbClr val="0000FF"/>
                </a:solidFill>
              </a:rPr>
              <a:t>→</a:t>
            </a:r>
            <a:r>
              <a:rPr lang="en-US" altLang="zh-CN" sz="2000" dirty="0">
                <a:solidFill>
                  <a:srgbClr val="0000FF"/>
                </a:solidFill>
              </a:rPr>
              <a:t>U</a:t>
            </a:r>
            <a:r>
              <a:rPr lang="en-US" altLang="zh-CN" sz="2000" baseline="-25000" dirty="0">
                <a:solidFill>
                  <a:srgbClr val="0000FF"/>
                </a:solidFill>
              </a:rPr>
              <a:t>2</a:t>
            </a:r>
            <a:r>
              <a:rPr lang="en-US" altLang="zh-CN" sz="2000" dirty="0">
                <a:solidFill>
                  <a:srgbClr val="0000FF"/>
                </a:solidFill>
              </a:rPr>
              <a:t>-U</a:t>
            </a:r>
            <a:r>
              <a:rPr lang="en-US" altLang="zh-CN" sz="2000" baseline="-25000" dirty="0">
                <a:solidFill>
                  <a:srgbClr val="0000FF"/>
                </a:solidFill>
              </a:rPr>
              <a:t>1</a:t>
            </a:r>
            <a:endParaRPr lang="zh-CN" altLang="zh-CN" sz="2000" dirty="0">
              <a:solidFill>
                <a:srgbClr val="0000FF"/>
              </a:solidFill>
            </a:endParaRPr>
          </a:p>
          <a:p>
            <a:r>
              <a:rPr lang="zh-CN" altLang="zh-CN" sz="2000" dirty="0"/>
              <a:t>其中：</a:t>
            </a:r>
            <a:r>
              <a:rPr lang="en-US" altLang="zh-CN" sz="2000" dirty="0"/>
              <a:t>U</a:t>
            </a:r>
            <a:r>
              <a:rPr lang="en-US" altLang="zh-CN" sz="2000" baseline="-25000" dirty="0"/>
              <a:t>1</a:t>
            </a:r>
            <a:r>
              <a:rPr lang="zh-CN" altLang="zh-CN" sz="2000" dirty="0"/>
              <a:t>∩</a:t>
            </a:r>
            <a:r>
              <a:rPr lang="en-US" altLang="zh-CN" sz="2000" dirty="0"/>
              <a:t>U</a:t>
            </a:r>
            <a:r>
              <a:rPr lang="en-US" altLang="zh-CN" sz="2000" baseline="-25000" dirty="0"/>
              <a:t>2</a:t>
            </a:r>
            <a:r>
              <a:rPr lang="zh-CN" altLang="zh-CN" sz="2000" dirty="0"/>
              <a:t>→</a:t>
            </a:r>
            <a:r>
              <a:rPr lang="en-US" altLang="zh-CN" sz="2000" dirty="0"/>
              <a:t>U</a:t>
            </a:r>
            <a:r>
              <a:rPr lang="en-US" altLang="zh-CN" sz="2000" baseline="-25000" dirty="0"/>
              <a:t>1</a:t>
            </a:r>
            <a:r>
              <a:rPr lang="en-US" altLang="zh-CN" sz="2000" dirty="0"/>
              <a:t>-U</a:t>
            </a:r>
            <a:r>
              <a:rPr lang="en-US" altLang="zh-CN" sz="2000" baseline="-25000" dirty="0"/>
              <a:t>2</a:t>
            </a:r>
            <a:r>
              <a:rPr lang="zh-CN" altLang="zh-CN" sz="2000" dirty="0"/>
              <a:t>的含义是</a:t>
            </a:r>
            <a:r>
              <a:rPr lang="en-US" altLang="zh-CN" sz="2000" dirty="0"/>
              <a:t>U</a:t>
            </a:r>
            <a:r>
              <a:rPr lang="en-US" altLang="zh-CN" sz="2000" baseline="-25000" dirty="0"/>
              <a:t>1</a:t>
            </a:r>
            <a:r>
              <a:rPr lang="zh-CN" altLang="zh-CN" sz="2000" dirty="0"/>
              <a:t>和</a:t>
            </a:r>
            <a:r>
              <a:rPr lang="en-US" altLang="zh-CN" sz="2000" dirty="0"/>
              <a:t>U</a:t>
            </a:r>
            <a:r>
              <a:rPr lang="en-US" altLang="zh-CN" sz="2000" baseline="-25000" dirty="0"/>
              <a:t>2</a:t>
            </a:r>
            <a:r>
              <a:rPr lang="zh-CN" altLang="zh-CN" sz="2000" dirty="0"/>
              <a:t>的公共属性能确定</a:t>
            </a:r>
            <a:r>
              <a:rPr lang="en-US" altLang="zh-CN" sz="2000" dirty="0"/>
              <a:t>U</a:t>
            </a:r>
            <a:r>
              <a:rPr lang="en-US" altLang="zh-CN" sz="2000" baseline="-25000" dirty="0"/>
              <a:t>1</a:t>
            </a:r>
            <a:r>
              <a:rPr lang="zh-CN" altLang="zh-CN" sz="2000" dirty="0"/>
              <a:t>和</a:t>
            </a:r>
            <a:r>
              <a:rPr lang="en-US" altLang="zh-CN" sz="2000" dirty="0"/>
              <a:t>U</a:t>
            </a:r>
            <a:r>
              <a:rPr lang="en-US" altLang="zh-CN" sz="2000" baseline="-25000" dirty="0"/>
              <a:t>2</a:t>
            </a:r>
            <a:r>
              <a:rPr lang="zh-CN" altLang="zh-CN" sz="2000" dirty="0"/>
              <a:t>的其他属性。</a:t>
            </a:r>
          </a:p>
          <a:p>
            <a:r>
              <a:rPr lang="zh-CN" altLang="zh-CN" sz="2000" dirty="0">
                <a:solidFill>
                  <a:srgbClr val="0000FF"/>
                </a:solidFill>
              </a:rPr>
              <a:t>思考：</a:t>
            </a:r>
            <a:r>
              <a:rPr lang="zh-CN" altLang="zh-CN" sz="2000" dirty="0"/>
              <a:t>判断如下分解的保连接性和保依赖性。</a:t>
            </a:r>
          </a:p>
          <a:p>
            <a:pPr marL="0" indent="0">
              <a:buNone/>
            </a:pPr>
            <a:r>
              <a:rPr lang="zh-CN" altLang="zh-CN" sz="2000" dirty="0"/>
              <a:t>（</a:t>
            </a:r>
            <a:r>
              <a:rPr lang="en-US" altLang="zh-CN" sz="2000" dirty="0"/>
              <a:t>1</a:t>
            </a:r>
            <a:r>
              <a:rPr lang="zh-CN" altLang="zh-CN" sz="2000" dirty="0"/>
              <a:t>）</a:t>
            </a:r>
            <a:r>
              <a:rPr lang="en-US" altLang="zh-CN" sz="2000" dirty="0"/>
              <a:t>R(U,F),U={A,B,C},F={A</a:t>
            </a:r>
            <a:r>
              <a:rPr lang="zh-CN" altLang="zh-CN" sz="2000" dirty="0"/>
              <a:t>→</a:t>
            </a:r>
            <a:r>
              <a:rPr lang="en-US" altLang="zh-CN" sz="2000" dirty="0"/>
              <a:t>B,B</a:t>
            </a:r>
            <a:r>
              <a:rPr lang="zh-CN" altLang="zh-CN" sz="2000" dirty="0"/>
              <a:t>→</a:t>
            </a:r>
            <a:r>
              <a:rPr lang="en-US" altLang="zh-CN" sz="2000" dirty="0"/>
              <a:t>C}, R {R</a:t>
            </a:r>
            <a:r>
              <a:rPr lang="en-US" altLang="zh-CN" sz="2000" baseline="-25000" dirty="0"/>
              <a:t>1</a:t>
            </a:r>
            <a:r>
              <a:rPr lang="en-US" altLang="zh-CN" sz="2000" dirty="0"/>
              <a:t>(A,C),R</a:t>
            </a:r>
            <a:r>
              <a:rPr lang="en-US" altLang="zh-CN" sz="2000" baseline="-25000" dirty="0"/>
              <a:t>2</a:t>
            </a:r>
            <a:r>
              <a:rPr lang="en-US" altLang="zh-CN" sz="2000" dirty="0"/>
              <a:t>(B,C)}</a:t>
            </a:r>
            <a:r>
              <a:rPr lang="zh-CN" altLang="zh-CN" sz="2000" dirty="0"/>
              <a:t>。</a:t>
            </a:r>
          </a:p>
          <a:p>
            <a:pPr marL="0" indent="0">
              <a:buNone/>
            </a:pPr>
            <a:r>
              <a:rPr lang="zh-CN" altLang="zh-CN" sz="2000" dirty="0"/>
              <a:t>（</a:t>
            </a:r>
            <a:r>
              <a:rPr lang="en-US" altLang="zh-CN" sz="2000" dirty="0"/>
              <a:t>2</a:t>
            </a:r>
            <a:r>
              <a:rPr lang="zh-CN" altLang="zh-CN" sz="2000" dirty="0"/>
              <a:t>）</a:t>
            </a:r>
            <a:r>
              <a:rPr lang="en-US" altLang="zh-CN" sz="2000" dirty="0"/>
              <a:t>R(U,F),U={A,B,C},F={A</a:t>
            </a:r>
            <a:r>
              <a:rPr lang="zh-CN" altLang="zh-CN" sz="2000" dirty="0"/>
              <a:t>→</a:t>
            </a:r>
            <a:r>
              <a:rPr lang="en-US" altLang="zh-CN" sz="2000" dirty="0"/>
              <a:t>C,B</a:t>
            </a:r>
            <a:r>
              <a:rPr lang="zh-CN" altLang="zh-CN" sz="2000" dirty="0"/>
              <a:t>→</a:t>
            </a:r>
            <a:r>
              <a:rPr lang="en-US" altLang="zh-CN" sz="2000" dirty="0"/>
              <a:t>C}, R {R</a:t>
            </a:r>
            <a:r>
              <a:rPr lang="en-US" altLang="zh-CN" sz="2000" baseline="-25000" dirty="0"/>
              <a:t>1</a:t>
            </a:r>
            <a:r>
              <a:rPr lang="en-US" altLang="zh-CN" sz="2000" dirty="0"/>
              <a:t>(A,B),R</a:t>
            </a:r>
            <a:r>
              <a:rPr lang="en-US" altLang="zh-CN" sz="2000" baseline="-25000" dirty="0"/>
              <a:t>2</a:t>
            </a:r>
            <a:r>
              <a:rPr lang="en-US" altLang="zh-CN" sz="2000" dirty="0"/>
              <a:t>(A,C)}</a:t>
            </a:r>
            <a:r>
              <a:rPr lang="zh-CN" altLang="zh-CN" sz="2000" dirty="0"/>
              <a:t>。</a:t>
            </a:r>
          </a:p>
          <a:p>
            <a:pPr marL="0" indent="0">
              <a:buNone/>
            </a:pPr>
            <a:r>
              <a:rPr lang="zh-CN" altLang="zh-CN" sz="2000" dirty="0"/>
              <a:t>（</a:t>
            </a:r>
            <a:r>
              <a:rPr lang="en-US" altLang="zh-CN" sz="2000" dirty="0"/>
              <a:t>3</a:t>
            </a:r>
            <a:r>
              <a:rPr lang="zh-CN" altLang="zh-CN" sz="2000" dirty="0"/>
              <a:t>）</a:t>
            </a:r>
            <a:r>
              <a:rPr lang="en-US" altLang="zh-CN" sz="2000" dirty="0"/>
              <a:t>R(U,F),U={A,B,C},F={A</a:t>
            </a:r>
            <a:r>
              <a:rPr lang="zh-CN" altLang="zh-CN" sz="2000" dirty="0"/>
              <a:t>→</a:t>
            </a:r>
            <a:r>
              <a:rPr lang="en-US" altLang="zh-CN" sz="2000" dirty="0"/>
              <a:t>B}, R {R</a:t>
            </a:r>
            <a:r>
              <a:rPr lang="en-US" altLang="zh-CN" sz="2000" baseline="-25000" dirty="0"/>
              <a:t>1</a:t>
            </a:r>
            <a:r>
              <a:rPr lang="en-US" altLang="zh-CN" sz="2000" dirty="0"/>
              <a:t>(A,B),R</a:t>
            </a:r>
            <a:r>
              <a:rPr lang="en-US" altLang="zh-CN" sz="2000" baseline="-25000" dirty="0"/>
              <a:t>2</a:t>
            </a:r>
            <a:r>
              <a:rPr lang="en-US" altLang="zh-CN" sz="2000" dirty="0"/>
              <a:t>(B,C)}</a:t>
            </a:r>
            <a:r>
              <a:rPr lang="zh-CN" altLang="zh-CN" sz="2000" dirty="0"/>
              <a:t>。</a:t>
            </a:r>
          </a:p>
          <a:p>
            <a:pPr marL="0" indent="0">
              <a:buNone/>
            </a:pPr>
            <a:r>
              <a:rPr lang="zh-CN" altLang="zh-CN" sz="2000" dirty="0"/>
              <a:t>（</a:t>
            </a:r>
            <a:r>
              <a:rPr lang="en-US" altLang="zh-CN" sz="2000" dirty="0"/>
              <a:t>4</a:t>
            </a:r>
            <a:r>
              <a:rPr lang="zh-CN" altLang="zh-CN" sz="2000" dirty="0"/>
              <a:t>）</a:t>
            </a:r>
            <a:r>
              <a:rPr lang="en-US" altLang="zh-CN" sz="2000" dirty="0"/>
              <a:t>R(U,F),U={A,B,C},F={A</a:t>
            </a:r>
            <a:r>
              <a:rPr lang="zh-CN" altLang="zh-CN" sz="2000" dirty="0"/>
              <a:t>→</a:t>
            </a:r>
            <a:r>
              <a:rPr lang="en-US" altLang="zh-CN" sz="2000" dirty="0"/>
              <a:t>B}, R {R</a:t>
            </a:r>
            <a:r>
              <a:rPr lang="en-US" altLang="zh-CN" sz="2000" baseline="-25000" dirty="0"/>
              <a:t>1</a:t>
            </a:r>
            <a:r>
              <a:rPr lang="en-US" altLang="zh-CN" sz="2000" dirty="0"/>
              <a:t>(A,B),R</a:t>
            </a:r>
            <a:r>
              <a:rPr lang="en-US" altLang="zh-CN" sz="2000" baseline="-25000" dirty="0"/>
              <a:t>2</a:t>
            </a:r>
            <a:r>
              <a:rPr lang="en-US" altLang="zh-CN" sz="2000" dirty="0"/>
              <a:t>(A,C)}</a:t>
            </a:r>
            <a:r>
              <a:rPr lang="zh-CN" altLang="zh-CN" sz="2000" dirty="0"/>
              <a:t>。</a:t>
            </a:r>
          </a:p>
          <a:p>
            <a:r>
              <a:rPr lang="zh-CN" altLang="zh-CN" sz="2000" dirty="0">
                <a:solidFill>
                  <a:srgbClr val="0000FF"/>
                </a:solidFill>
              </a:rPr>
              <a:t>提示：</a:t>
            </a:r>
            <a:r>
              <a:rPr lang="zh-CN" altLang="zh-CN" sz="2000" dirty="0"/>
              <a:t>不保连接不保依赖；保连接不保依赖；不保连接保依赖；保连接保依赖。</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804541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80</a:t>
            </a:fld>
            <a:endParaRPr lang="zh-CN" altLang="en-US" dirty="0"/>
          </a:p>
        </p:txBody>
      </p:sp>
      <p:sp>
        <p:nvSpPr>
          <p:cNvPr id="7" name="文本占位符 6"/>
          <p:cNvSpPr>
            <a:spLocks noGrp="1"/>
          </p:cNvSpPr>
          <p:nvPr>
            <p:ph type="body" idx="1"/>
          </p:nvPr>
        </p:nvSpPr>
        <p:spPr>
          <a:xfrm>
            <a:off x="143508" y="620688"/>
            <a:ext cx="8856984" cy="5688632"/>
          </a:xfrm>
        </p:spPr>
        <p:txBody>
          <a:bodyPr>
            <a:normAutofit/>
          </a:bodyPr>
          <a:lstStyle/>
          <a:p>
            <a:r>
              <a:rPr lang="zh-CN" altLang="zh-CN" sz="2000" dirty="0">
                <a:solidFill>
                  <a:srgbClr val="0000FF"/>
                </a:solidFill>
              </a:rPr>
              <a:t>算法</a:t>
            </a:r>
            <a:r>
              <a:rPr lang="en-US" altLang="zh-CN" sz="2000" dirty="0">
                <a:solidFill>
                  <a:srgbClr val="0000FF"/>
                </a:solidFill>
              </a:rPr>
              <a:t>6.4  </a:t>
            </a:r>
            <a:r>
              <a:rPr lang="zh-CN" altLang="zh-CN" sz="2000" dirty="0"/>
              <a:t>模式分解的保依赖算法。</a:t>
            </a:r>
          </a:p>
          <a:p>
            <a:r>
              <a:rPr lang="en-US" altLang="zh-CN" sz="2000" dirty="0">
                <a:latin typeface="Kunstler Script" pitchFamily="66" charset="0"/>
              </a:rPr>
              <a:t>R</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r>
              <a:rPr lang="zh-CN" altLang="zh-CN" sz="2000" dirty="0"/>
              <a:t>是</a:t>
            </a:r>
            <a:r>
              <a:rPr lang="en-US" altLang="zh-CN" sz="2000" dirty="0"/>
              <a:t>R(U,F)</a:t>
            </a:r>
            <a:r>
              <a:rPr lang="zh-CN" altLang="zh-CN" sz="2000" dirty="0"/>
              <a:t>的分解，则</a:t>
            </a:r>
            <a:r>
              <a:rPr lang="en-US" altLang="zh-CN" sz="2000" dirty="0"/>
              <a:t>R</a:t>
            </a:r>
            <a:r>
              <a:rPr lang="zh-CN" altLang="zh-CN" sz="2000" dirty="0"/>
              <a:t>的</a:t>
            </a:r>
            <a:r>
              <a:rPr lang="zh-CN" altLang="zh-CN" sz="2000" dirty="0">
                <a:solidFill>
                  <a:srgbClr val="0000FF"/>
                </a:solidFill>
              </a:rPr>
              <a:t>保依赖分解</a:t>
            </a:r>
            <a:r>
              <a:rPr lang="zh-CN" altLang="zh-CN" sz="2000" dirty="0"/>
              <a:t>如下：</a:t>
            </a:r>
          </a:p>
          <a:p>
            <a:pPr marL="0" indent="0">
              <a:buNone/>
            </a:pPr>
            <a:r>
              <a:rPr lang="zh-CN" altLang="zh-CN" sz="2000" dirty="0"/>
              <a:t>（</a:t>
            </a:r>
            <a:r>
              <a:rPr lang="en-US" altLang="zh-CN" sz="2000" dirty="0"/>
              <a:t>1</a:t>
            </a:r>
            <a:r>
              <a:rPr lang="zh-CN" altLang="zh-CN" sz="2000" dirty="0"/>
              <a:t>）计算模式分解后的函数依赖集：</a:t>
            </a:r>
            <a:r>
              <a:rPr lang="en-US" altLang="zh-CN" sz="2000" dirty="0"/>
              <a:t>G</a:t>
            </a:r>
            <a:r>
              <a:rPr lang="en-US" altLang="zh-CN" sz="2000" dirty="0" smtClean="0"/>
              <a:t>=</a:t>
            </a:r>
            <a:endParaRPr lang="zh-CN" altLang="zh-CN" sz="2000" dirty="0"/>
          </a:p>
          <a:p>
            <a:pPr marL="0" indent="0">
              <a:buNone/>
            </a:pPr>
            <a:r>
              <a:rPr lang="zh-CN" altLang="zh-CN" sz="2000" dirty="0"/>
              <a:t>（</a:t>
            </a:r>
            <a:r>
              <a:rPr lang="en-US" altLang="zh-CN" sz="2000" dirty="0"/>
              <a:t>2</a:t>
            </a:r>
            <a:r>
              <a:rPr lang="zh-CN" altLang="zh-CN" sz="2000" dirty="0" smtClean="0"/>
              <a:t>）模式</a:t>
            </a:r>
            <a:r>
              <a:rPr lang="zh-CN" altLang="zh-CN" sz="2000" dirty="0"/>
              <a:t>分解前后的函数依赖的差集：</a:t>
            </a:r>
            <a:r>
              <a:rPr lang="en-US" altLang="zh-CN" sz="2000" dirty="0"/>
              <a:t> </a:t>
            </a:r>
            <a:r>
              <a:rPr lang="en-US" altLang="zh-CN" sz="2000" dirty="0" smtClean="0"/>
              <a:t>                  ={</a:t>
            </a:r>
            <a:r>
              <a:rPr lang="en-US" altLang="zh-CN" sz="2000" dirty="0"/>
              <a:t>X</a:t>
            </a:r>
            <a:r>
              <a:rPr lang="en-US" altLang="zh-CN" sz="2000" baseline="-25000" dirty="0"/>
              <a:t>1</a:t>
            </a:r>
            <a:r>
              <a:rPr lang="zh-CN" altLang="zh-CN" sz="2000" dirty="0"/>
              <a:t>→</a:t>
            </a:r>
            <a:r>
              <a:rPr lang="en-US" altLang="zh-CN" sz="2000" dirty="0"/>
              <a:t>Y</a:t>
            </a:r>
            <a:r>
              <a:rPr lang="en-US" altLang="zh-CN" sz="2000" baseline="-25000" dirty="0"/>
              <a:t>1</a:t>
            </a:r>
            <a:r>
              <a:rPr lang="en-US" altLang="zh-CN" sz="2000" dirty="0"/>
              <a:t>,…,</a:t>
            </a:r>
            <a:r>
              <a:rPr lang="en-US" altLang="zh-CN" sz="2000" dirty="0" err="1"/>
              <a:t>X</a:t>
            </a:r>
            <a:r>
              <a:rPr lang="en-US" altLang="zh-CN" sz="2000" baseline="-25000" dirty="0" err="1"/>
              <a:t>n</a:t>
            </a:r>
            <a:r>
              <a:rPr lang="zh-CN" altLang="zh-CN" sz="2000" dirty="0"/>
              <a:t>→</a:t>
            </a:r>
            <a:r>
              <a:rPr lang="en-US" altLang="zh-CN" sz="2000" dirty="0" err="1"/>
              <a:t>Y</a:t>
            </a:r>
            <a:r>
              <a:rPr lang="en-US" altLang="zh-CN" sz="2000" baseline="-25000" dirty="0" err="1"/>
              <a:t>n</a:t>
            </a:r>
            <a:r>
              <a:rPr lang="en-US" altLang="zh-CN" sz="2000" dirty="0"/>
              <a:t>}</a:t>
            </a:r>
            <a:r>
              <a:rPr lang="zh-CN" altLang="zh-CN" sz="2000" dirty="0"/>
              <a:t>。</a:t>
            </a:r>
          </a:p>
          <a:p>
            <a:pPr marL="0" indent="0">
              <a:buNone/>
            </a:pPr>
            <a:r>
              <a:rPr lang="zh-CN" altLang="zh-CN" sz="2000" dirty="0"/>
              <a:t>（</a:t>
            </a:r>
            <a:r>
              <a:rPr lang="en-US" altLang="zh-CN" sz="2000" dirty="0"/>
              <a:t>3</a:t>
            </a:r>
            <a:r>
              <a:rPr lang="zh-CN" altLang="zh-CN" sz="2000" dirty="0"/>
              <a:t>）如果</a:t>
            </a:r>
            <a:r>
              <a:rPr lang="en-US" altLang="zh-CN" sz="2000" dirty="0"/>
              <a:t>H=</a:t>
            </a:r>
            <a:r>
              <a:rPr lang="en-US" altLang="zh-CN" sz="2000" dirty="0">
                <a:sym typeface="Symbol"/>
              </a:rPr>
              <a:t></a:t>
            </a:r>
            <a:r>
              <a:rPr lang="zh-CN" altLang="zh-CN" sz="2000" dirty="0"/>
              <a:t>，则输出保依赖，结束。</a:t>
            </a:r>
          </a:p>
          <a:p>
            <a:pPr marL="0" indent="0">
              <a:buNone/>
            </a:pPr>
            <a:r>
              <a:rPr lang="zh-CN" altLang="zh-CN" sz="2000" dirty="0"/>
              <a:t>（</a:t>
            </a:r>
            <a:r>
              <a:rPr lang="en-US" altLang="zh-CN" sz="2000" dirty="0"/>
              <a:t>4</a:t>
            </a:r>
            <a:r>
              <a:rPr lang="zh-CN" altLang="zh-CN" sz="2000" dirty="0"/>
              <a:t>）</a:t>
            </a:r>
            <a:r>
              <a:rPr lang="en-US" altLang="zh-CN" sz="2000" dirty="0"/>
              <a:t>i=1</a:t>
            </a:r>
            <a:r>
              <a:rPr lang="zh-CN" altLang="zh-CN" sz="2000" dirty="0"/>
              <a:t>，判断</a:t>
            </a:r>
            <a:r>
              <a:rPr lang="en-US" altLang="zh-CN" sz="2000" dirty="0"/>
              <a:t>Y</a:t>
            </a:r>
            <a:r>
              <a:rPr lang="en-US" altLang="zh-CN" sz="2000" baseline="-25000" dirty="0"/>
              <a:t>i</a:t>
            </a:r>
            <a:r>
              <a:rPr lang="en-US" altLang="zh-CN" sz="2000" dirty="0"/>
              <a:t> </a:t>
            </a:r>
            <a:r>
              <a:rPr lang="en-US" altLang="zh-CN" sz="2000" dirty="0" smtClean="0"/>
              <a:t>            </a:t>
            </a:r>
            <a:r>
              <a:rPr lang="zh-CN" altLang="zh-CN" sz="2000" dirty="0" smtClean="0"/>
              <a:t>？ </a:t>
            </a:r>
            <a:r>
              <a:rPr lang="zh-CN" altLang="zh-CN" sz="2000" dirty="0"/>
              <a:t>如果不成立，则输出不保依赖，结束。</a:t>
            </a:r>
          </a:p>
          <a:p>
            <a:pPr marL="0" indent="0">
              <a:buNone/>
            </a:pPr>
            <a:r>
              <a:rPr lang="zh-CN" altLang="zh-CN" sz="2000" dirty="0"/>
              <a:t>（</a:t>
            </a:r>
            <a:r>
              <a:rPr lang="en-US" altLang="zh-CN" sz="2000" dirty="0"/>
              <a:t>5</a:t>
            </a:r>
            <a:r>
              <a:rPr lang="zh-CN" altLang="zh-CN" sz="2000" dirty="0"/>
              <a:t>）判断</a:t>
            </a:r>
            <a:r>
              <a:rPr lang="en-US" altLang="zh-CN" sz="2000" dirty="0"/>
              <a:t>i&lt;n</a:t>
            </a:r>
            <a:r>
              <a:rPr lang="zh-CN" altLang="zh-CN" sz="2000" dirty="0"/>
              <a:t>？ 如果成立，</a:t>
            </a:r>
            <a:r>
              <a:rPr lang="en-US" altLang="zh-CN" sz="2000" dirty="0"/>
              <a:t>i</a:t>
            </a:r>
            <a:r>
              <a:rPr lang="zh-CN" altLang="zh-CN" sz="2000" dirty="0"/>
              <a:t>←</a:t>
            </a:r>
            <a:r>
              <a:rPr lang="en-US" altLang="zh-CN" sz="2000" dirty="0"/>
              <a:t>i+1</a:t>
            </a:r>
            <a:r>
              <a:rPr lang="zh-CN" altLang="zh-CN" sz="2000" dirty="0"/>
              <a:t>，转向（</a:t>
            </a:r>
            <a:r>
              <a:rPr lang="en-US" altLang="zh-CN" sz="2000" dirty="0"/>
              <a:t>4</a:t>
            </a:r>
            <a:r>
              <a:rPr lang="zh-CN" altLang="zh-CN" sz="2000" dirty="0"/>
              <a:t>）；否则输出保依赖，结束</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2791839929"/>
              </p:ext>
            </p:extLst>
          </p:nvPr>
        </p:nvGraphicFramePr>
        <p:xfrm>
          <a:off x="4932040" y="1916832"/>
          <a:ext cx="563563" cy="690563"/>
        </p:xfrm>
        <a:graphic>
          <a:graphicData uri="http://schemas.openxmlformats.org/presentationml/2006/ole">
            <mc:AlternateContent xmlns:mc="http://schemas.openxmlformats.org/markup-compatibility/2006">
              <mc:Choice xmlns:v="urn:schemas-microsoft-com:vml" Requires="v">
                <p:oleObj spid="_x0000_s56801" name="公式" r:id="rId3" imgW="304560" imgH="380880" progId="Equation.3">
                  <p:embed/>
                </p:oleObj>
              </mc:Choice>
              <mc:Fallback>
                <p:oleObj name="公式" r:id="rId3" imgW="304560" imgH="380880" progId="Equation.3">
                  <p:embed/>
                  <p:pic>
                    <p:nvPicPr>
                      <p:cNvPr id="0" name="Object 1"/>
                      <p:cNvPicPr>
                        <a:picLocks noChangeAspect="1" noChangeArrowheads="1"/>
                      </p:cNvPicPr>
                      <p:nvPr/>
                    </p:nvPicPr>
                    <p:blipFill>
                      <a:blip r:embed="rId4"/>
                      <a:srcRect/>
                      <a:stretch>
                        <a:fillRect/>
                      </a:stretch>
                    </p:blipFill>
                    <p:spPr bwMode="auto">
                      <a:xfrm>
                        <a:off x="4932040" y="1916832"/>
                        <a:ext cx="563563" cy="690563"/>
                      </a:xfrm>
                      <a:prstGeom prst="rect">
                        <a:avLst/>
                      </a:prstGeom>
                      <a:noFill/>
                    </p:spPr>
                  </p:pic>
                </p:oleObj>
              </mc:Fallback>
            </mc:AlternateContent>
          </a:graphicData>
        </a:graphic>
      </p:graphicFrame>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750181108"/>
              </p:ext>
            </p:extLst>
          </p:nvPr>
        </p:nvGraphicFramePr>
        <p:xfrm>
          <a:off x="4716016" y="2564904"/>
          <a:ext cx="1309833" cy="332656"/>
        </p:xfrm>
        <a:graphic>
          <a:graphicData uri="http://schemas.openxmlformats.org/presentationml/2006/ole">
            <mc:AlternateContent xmlns:mc="http://schemas.openxmlformats.org/markup-compatibility/2006">
              <mc:Choice xmlns:v="urn:schemas-microsoft-com:vml" Requires="v">
                <p:oleObj spid="_x0000_s56802" name="公式" r:id="rId5" imgW="596900" imgH="152400" progId="Equation.3">
                  <p:embed/>
                </p:oleObj>
              </mc:Choice>
              <mc:Fallback>
                <p:oleObj name="公式" r:id="rId5" imgW="596900" imgH="152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016" y="2564904"/>
                        <a:ext cx="1309833" cy="332656"/>
                      </a:xfrm>
                      <a:prstGeom prst="rect">
                        <a:avLst/>
                      </a:prstGeom>
                      <a:noFill/>
                    </p:spPr>
                  </p:pic>
                </p:oleObj>
              </mc:Fallback>
            </mc:AlternateContent>
          </a:graphicData>
        </a:graphic>
      </p:graphicFrame>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1960903702"/>
              </p:ext>
            </p:extLst>
          </p:nvPr>
        </p:nvGraphicFramePr>
        <p:xfrm>
          <a:off x="2339752" y="3429000"/>
          <a:ext cx="947664" cy="437886"/>
        </p:xfrm>
        <a:graphic>
          <a:graphicData uri="http://schemas.openxmlformats.org/presentationml/2006/ole">
            <mc:AlternateContent xmlns:mc="http://schemas.openxmlformats.org/markup-compatibility/2006">
              <mc:Choice xmlns:v="urn:schemas-microsoft-com:vml" Requires="v">
                <p:oleObj spid="_x0000_s56803" name="公式" r:id="rId7" imgW="533160" imgH="241200" progId="Equation.3">
                  <p:embed/>
                </p:oleObj>
              </mc:Choice>
              <mc:Fallback>
                <p:oleObj name="公式" r:id="rId7" imgW="533160" imgH="241200" progId="Equation.3">
                  <p:embed/>
                  <p:pic>
                    <p:nvPicPr>
                      <p:cNvPr id="0" name="Object 5"/>
                      <p:cNvPicPr>
                        <a:picLocks noChangeAspect="1" noChangeArrowheads="1"/>
                      </p:cNvPicPr>
                      <p:nvPr/>
                    </p:nvPicPr>
                    <p:blipFill>
                      <a:blip r:embed="rId8"/>
                      <a:srcRect/>
                      <a:stretch>
                        <a:fillRect/>
                      </a:stretch>
                    </p:blipFill>
                    <p:spPr bwMode="auto">
                      <a:xfrm>
                        <a:off x="2339752" y="3429000"/>
                        <a:ext cx="947664" cy="437886"/>
                      </a:xfrm>
                      <a:prstGeom prst="rect">
                        <a:avLst/>
                      </a:prstGeom>
                      <a:noFill/>
                    </p:spPr>
                  </p:pic>
                </p:oleObj>
              </mc:Fallback>
            </mc:AlternateContent>
          </a:graphicData>
        </a:graphic>
      </p:graphicFrame>
    </p:spTree>
    <p:extLst>
      <p:ext uri="{BB962C8B-B14F-4D97-AF65-F5344CB8AC3E}">
        <p14:creationId xmlns:p14="http://schemas.microsoft.com/office/powerpoint/2010/main" val="321310650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81</a:t>
            </a:fld>
            <a:endParaRPr lang="zh-CN" altLang="en-US" dirty="0"/>
          </a:p>
        </p:txBody>
      </p:sp>
      <p:sp>
        <p:nvSpPr>
          <p:cNvPr id="7" name="文本占位符 6"/>
          <p:cNvSpPr>
            <a:spLocks noGrp="1"/>
          </p:cNvSpPr>
          <p:nvPr>
            <p:ph type="body" idx="1"/>
          </p:nvPr>
        </p:nvSpPr>
        <p:spPr>
          <a:xfrm>
            <a:off x="143508" y="764704"/>
            <a:ext cx="8856984" cy="5544616"/>
          </a:xfrm>
        </p:spPr>
        <p:txBody>
          <a:bodyPr>
            <a:normAutofit/>
          </a:bodyPr>
          <a:lstStyle/>
          <a:p>
            <a:r>
              <a:rPr lang="zh-CN" altLang="zh-CN" sz="2000" dirty="0">
                <a:solidFill>
                  <a:srgbClr val="0000FF"/>
                </a:solidFill>
              </a:rPr>
              <a:t>例</a:t>
            </a:r>
            <a:r>
              <a:rPr lang="en-US" altLang="zh-CN" sz="2000" dirty="0">
                <a:solidFill>
                  <a:srgbClr val="0000FF"/>
                </a:solidFill>
              </a:rPr>
              <a:t>6.23  </a:t>
            </a:r>
            <a:r>
              <a:rPr lang="zh-CN" altLang="zh-CN" sz="2000" dirty="0"/>
              <a:t>对于</a:t>
            </a:r>
            <a:r>
              <a:rPr lang="en-US" altLang="zh-CN" sz="2000" dirty="0"/>
              <a:t>R(U,F)</a:t>
            </a:r>
            <a:r>
              <a:rPr lang="zh-CN" altLang="zh-CN" sz="2000" dirty="0"/>
              <a:t>，</a:t>
            </a:r>
            <a:r>
              <a:rPr lang="en-US" altLang="zh-CN" sz="2000" dirty="0"/>
              <a:t>U={A,B,C,D}</a:t>
            </a:r>
            <a:r>
              <a:rPr lang="zh-CN" altLang="zh-CN" sz="2000" dirty="0"/>
              <a:t>，</a:t>
            </a:r>
            <a:r>
              <a:rPr lang="en-US" altLang="zh-CN" sz="2000" dirty="0"/>
              <a:t>F={A</a:t>
            </a:r>
            <a:r>
              <a:rPr lang="zh-CN" altLang="zh-CN" sz="2000" dirty="0"/>
              <a:t>→</a:t>
            </a:r>
            <a:r>
              <a:rPr lang="en-US" altLang="zh-CN" sz="2000" dirty="0"/>
              <a:t>B,B</a:t>
            </a:r>
            <a:r>
              <a:rPr lang="zh-CN" altLang="zh-CN" sz="2000" dirty="0"/>
              <a:t>→</a:t>
            </a:r>
            <a:r>
              <a:rPr lang="en-US" altLang="zh-CN" sz="2000" dirty="0"/>
              <a:t>C,C</a:t>
            </a:r>
            <a:r>
              <a:rPr lang="zh-CN" altLang="zh-CN" sz="2000" dirty="0"/>
              <a:t>→</a:t>
            </a:r>
            <a:r>
              <a:rPr lang="en-US" altLang="zh-CN" sz="2000" dirty="0"/>
              <a:t>D,D</a:t>
            </a:r>
            <a:r>
              <a:rPr lang="zh-CN" altLang="zh-CN" sz="2000" dirty="0"/>
              <a:t>→</a:t>
            </a:r>
            <a:r>
              <a:rPr lang="en-US" altLang="zh-CN" sz="2000" dirty="0"/>
              <a:t>A}</a:t>
            </a:r>
            <a:r>
              <a:rPr lang="zh-CN" altLang="zh-CN" sz="2000" dirty="0"/>
              <a:t>，则：</a:t>
            </a:r>
          </a:p>
          <a:p>
            <a:r>
              <a:rPr lang="en-US" altLang="zh-CN" sz="2000" dirty="0">
                <a:latin typeface="Kunstler Script" pitchFamily="66" charset="0"/>
              </a:rPr>
              <a:t>R</a:t>
            </a:r>
            <a:r>
              <a:rPr lang="en-US" altLang="zh-CN" sz="2000" dirty="0"/>
              <a:t> {R</a:t>
            </a:r>
            <a:r>
              <a:rPr lang="en-US" altLang="zh-CN" sz="2000" baseline="-25000" dirty="0"/>
              <a:t>1</a:t>
            </a:r>
            <a:r>
              <a:rPr lang="en-US" altLang="zh-CN" sz="2000" dirty="0"/>
              <a:t>(A,B),R</a:t>
            </a:r>
            <a:r>
              <a:rPr lang="en-US" altLang="zh-CN" sz="2000" baseline="-25000" dirty="0"/>
              <a:t>2</a:t>
            </a:r>
            <a:r>
              <a:rPr lang="en-US" altLang="zh-CN" sz="2000" dirty="0"/>
              <a:t>(B,C,D)}</a:t>
            </a:r>
            <a:r>
              <a:rPr lang="zh-CN" altLang="zh-CN" sz="2000" dirty="0"/>
              <a:t>是</a:t>
            </a:r>
            <a:r>
              <a:rPr lang="zh-CN" altLang="zh-CN" sz="2000" dirty="0">
                <a:solidFill>
                  <a:srgbClr val="0000FF"/>
                </a:solidFill>
              </a:rPr>
              <a:t>保依赖分解</a:t>
            </a:r>
            <a:r>
              <a:rPr lang="zh-CN" altLang="zh-CN" sz="2000" dirty="0"/>
              <a:t>。</a:t>
            </a:r>
          </a:p>
          <a:p>
            <a:pPr marL="0" indent="0">
              <a:buNone/>
            </a:pPr>
            <a:r>
              <a:rPr lang="zh-CN" altLang="zh-CN" sz="2000" dirty="0" smtClean="0"/>
              <a:t>（</a:t>
            </a:r>
            <a:r>
              <a:rPr lang="en-US" altLang="zh-CN" sz="2000" dirty="0"/>
              <a:t>1</a:t>
            </a:r>
            <a:r>
              <a:rPr lang="zh-CN" altLang="zh-CN" sz="2000" dirty="0"/>
              <a:t>）计算模式分解后的函数依赖集</a:t>
            </a:r>
            <a:r>
              <a:rPr lang="en-US" altLang="zh-CN" sz="2000" dirty="0"/>
              <a:t>G</a:t>
            </a:r>
            <a:r>
              <a:rPr lang="zh-CN" altLang="zh-CN" sz="2000" dirty="0"/>
              <a:t>：</a:t>
            </a:r>
          </a:p>
          <a:p>
            <a:pPr marL="625475" indent="0">
              <a:buNone/>
            </a:pPr>
            <a:r>
              <a:rPr lang="zh-CN" altLang="zh-CN" sz="2000" dirty="0"/>
              <a:t>因为</a:t>
            </a:r>
            <a:r>
              <a:rPr lang="en-US" altLang="zh-CN" sz="2000" dirty="0"/>
              <a:t>R</a:t>
            </a:r>
            <a:r>
              <a:rPr lang="en-US" altLang="zh-CN" sz="2000" baseline="-25000" dirty="0"/>
              <a:t>1</a:t>
            </a:r>
            <a:r>
              <a:rPr lang="en-US" altLang="zh-CN" sz="2000" dirty="0"/>
              <a:t>(A,B)</a:t>
            </a:r>
            <a:r>
              <a:rPr lang="zh-CN" altLang="zh-CN" sz="2000" dirty="0"/>
              <a:t>的函数依赖集为：</a:t>
            </a:r>
            <a:r>
              <a:rPr lang="en-US" altLang="zh-CN" sz="2000" dirty="0"/>
              <a:t>F</a:t>
            </a:r>
            <a:r>
              <a:rPr lang="en-US" altLang="zh-CN" sz="2000" baseline="-25000" dirty="0"/>
              <a:t>1</a:t>
            </a:r>
            <a:r>
              <a:rPr lang="en-US" altLang="zh-CN" sz="2000" dirty="0"/>
              <a:t>={A</a:t>
            </a:r>
            <a:r>
              <a:rPr lang="zh-CN" altLang="zh-CN" sz="2000" dirty="0"/>
              <a:t>→</a:t>
            </a:r>
            <a:r>
              <a:rPr lang="en-US" altLang="zh-CN" sz="2000" dirty="0"/>
              <a:t>B,B</a:t>
            </a:r>
            <a:r>
              <a:rPr lang="zh-CN" altLang="zh-CN" sz="2000" dirty="0"/>
              <a:t>→</a:t>
            </a:r>
            <a:r>
              <a:rPr lang="en-US" altLang="zh-CN" sz="2000" dirty="0"/>
              <a:t>A}</a:t>
            </a:r>
            <a:r>
              <a:rPr lang="zh-CN" altLang="zh-CN" sz="2000" dirty="0"/>
              <a:t>。</a:t>
            </a:r>
          </a:p>
          <a:p>
            <a:pPr marL="625475" indent="0">
              <a:buNone/>
            </a:pPr>
            <a:r>
              <a:rPr lang="en-US" altLang="zh-CN" sz="2000" dirty="0"/>
              <a:t>R</a:t>
            </a:r>
            <a:r>
              <a:rPr lang="en-US" altLang="zh-CN" sz="2000" baseline="-25000" dirty="0"/>
              <a:t>2</a:t>
            </a:r>
            <a:r>
              <a:rPr lang="en-US" altLang="zh-CN" sz="2000" dirty="0"/>
              <a:t>(B,C,D)</a:t>
            </a:r>
            <a:r>
              <a:rPr lang="zh-CN" altLang="zh-CN" sz="2000" dirty="0"/>
              <a:t>的函数依赖集为：</a:t>
            </a:r>
            <a:r>
              <a:rPr lang="en-US" altLang="zh-CN" sz="2000" dirty="0"/>
              <a:t>F</a:t>
            </a:r>
            <a:r>
              <a:rPr lang="en-US" altLang="zh-CN" sz="2000" baseline="-25000" dirty="0"/>
              <a:t>2</a:t>
            </a:r>
            <a:r>
              <a:rPr lang="en-US" altLang="zh-CN" sz="2000" dirty="0"/>
              <a:t>={B</a:t>
            </a:r>
            <a:r>
              <a:rPr lang="zh-CN" altLang="zh-CN" sz="2000" dirty="0"/>
              <a:t>→</a:t>
            </a:r>
            <a:r>
              <a:rPr lang="en-US" altLang="zh-CN" sz="2000" dirty="0"/>
              <a:t>C,C</a:t>
            </a:r>
            <a:r>
              <a:rPr lang="zh-CN" altLang="zh-CN" sz="2000" dirty="0"/>
              <a:t>→</a:t>
            </a:r>
            <a:r>
              <a:rPr lang="en-US" altLang="zh-CN" sz="2000" dirty="0"/>
              <a:t>D,B</a:t>
            </a:r>
            <a:r>
              <a:rPr lang="zh-CN" altLang="zh-CN" sz="2000" dirty="0"/>
              <a:t>→</a:t>
            </a:r>
            <a:r>
              <a:rPr lang="en-US" altLang="zh-CN" sz="2000" dirty="0"/>
              <a:t>D,C</a:t>
            </a:r>
            <a:r>
              <a:rPr lang="zh-CN" altLang="zh-CN" sz="2000" dirty="0"/>
              <a:t>→</a:t>
            </a:r>
            <a:r>
              <a:rPr lang="en-US" altLang="zh-CN" sz="2000" dirty="0"/>
              <a:t>B,D</a:t>
            </a:r>
            <a:r>
              <a:rPr lang="zh-CN" altLang="zh-CN" sz="2000" dirty="0"/>
              <a:t>→</a:t>
            </a:r>
            <a:r>
              <a:rPr lang="en-US" altLang="zh-CN" sz="2000" dirty="0"/>
              <a:t>C,D</a:t>
            </a:r>
            <a:r>
              <a:rPr lang="zh-CN" altLang="zh-CN" sz="2000" dirty="0"/>
              <a:t>→</a:t>
            </a:r>
            <a:r>
              <a:rPr lang="en-US" altLang="zh-CN" sz="2000" dirty="0"/>
              <a:t>B}</a:t>
            </a:r>
            <a:r>
              <a:rPr lang="zh-CN" altLang="zh-CN" sz="2000" dirty="0"/>
              <a:t>。</a:t>
            </a:r>
          </a:p>
          <a:p>
            <a:pPr marL="625475" indent="0">
              <a:buNone/>
            </a:pPr>
            <a:r>
              <a:rPr lang="zh-CN" altLang="zh-CN" sz="2000" dirty="0"/>
              <a:t>所以</a:t>
            </a:r>
            <a:r>
              <a:rPr lang="en-US" altLang="zh-CN" sz="2000" dirty="0"/>
              <a:t>G={A</a:t>
            </a:r>
            <a:r>
              <a:rPr lang="zh-CN" altLang="zh-CN" sz="2000" dirty="0"/>
              <a:t>→</a:t>
            </a:r>
            <a:r>
              <a:rPr lang="en-US" altLang="zh-CN" sz="2000" dirty="0"/>
              <a:t>B,B</a:t>
            </a:r>
            <a:r>
              <a:rPr lang="zh-CN" altLang="zh-CN" sz="2000" dirty="0"/>
              <a:t>→</a:t>
            </a:r>
            <a:r>
              <a:rPr lang="en-US" altLang="zh-CN" sz="2000" dirty="0"/>
              <a:t>A,B</a:t>
            </a:r>
            <a:r>
              <a:rPr lang="zh-CN" altLang="zh-CN" sz="2000" dirty="0"/>
              <a:t>→</a:t>
            </a:r>
            <a:r>
              <a:rPr lang="en-US" altLang="zh-CN" sz="2000" dirty="0"/>
              <a:t>C,C</a:t>
            </a:r>
            <a:r>
              <a:rPr lang="zh-CN" altLang="zh-CN" sz="2000" dirty="0"/>
              <a:t>→</a:t>
            </a:r>
            <a:r>
              <a:rPr lang="en-US" altLang="zh-CN" sz="2000" dirty="0"/>
              <a:t>D,B</a:t>
            </a:r>
            <a:r>
              <a:rPr lang="zh-CN" altLang="zh-CN" sz="2000" dirty="0"/>
              <a:t>→</a:t>
            </a:r>
            <a:r>
              <a:rPr lang="en-US" altLang="zh-CN" sz="2000" dirty="0"/>
              <a:t>D,C</a:t>
            </a:r>
            <a:r>
              <a:rPr lang="zh-CN" altLang="zh-CN" sz="2000" dirty="0"/>
              <a:t>→</a:t>
            </a:r>
            <a:r>
              <a:rPr lang="en-US" altLang="zh-CN" sz="2000" dirty="0"/>
              <a:t>B,D</a:t>
            </a:r>
            <a:r>
              <a:rPr lang="zh-CN" altLang="zh-CN" sz="2000" dirty="0"/>
              <a:t>→</a:t>
            </a:r>
            <a:r>
              <a:rPr lang="en-US" altLang="zh-CN" sz="2000" dirty="0"/>
              <a:t>C,D</a:t>
            </a:r>
            <a:r>
              <a:rPr lang="zh-CN" altLang="zh-CN" sz="2000" dirty="0"/>
              <a:t>→</a:t>
            </a:r>
            <a:r>
              <a:rPr lang="en-US" altLang="zh-CN" sz="2000" dirty="0"/>
              <a:t>B}</a:t>
            </a:r>
            <a:r>
              <a:rPr lang="zh-CN" altLang="zh-CN" sz="2000" dirty="0"/>
              <a:t>。</a:t>
            </a:r>
          </a:p>
          <a:p>
            <a:pPr marL="0" indent="0">
              <a:buNone/>
            </a:pPr>
            <a:r>
              <a:rPr lang="zh-CN" altLang="zh-CN" sz="2000" dirty="0"/>
              <a:t>（</a:t>
            </a:r>
            <a:r>
              <a:rPr lang="en-US" altLang="zh-CN" sz="2000" dirty="0"/>
              <a:t>2</a:t>
            </a:r>
            <a:r>
              <a:rPr lang="zh-CN" altLang="zh-CN" sz="2000" dirty="0"/>
              <a:t>）计算</a:t>
            </a:r>
            <a:r>
              <a:rPr lang="en-US" altLang="zh-CN" sz="2000" dirty="0"/>
              <a:t>H=F-G=F-(F</a:t>
            </a:r>
            <a:r>
              <a:rPr lang="en-US" altLang="zh-CN" sz="2000" baseline="-25000" dirty="0"/>
              <a:t>1</a:t>
            </a:r>
            <a:r>
              <a:rPr lang="zh-CN" altLang="zh-CN" sz="2000" dirty="0"/>
              <a:t>∪</a:t>
            </a:r>
            <a:r>
              <a:rPr lang="en-US" altLang="zh-CN" sz="2000" dirty="0"/>
              <a:t>F</a:t>
            </a:r>
            <a:r>
              <a:rPr lang="en-US" altLang="zh-CN" sz="2000" baseline="-25000" dirty="0"/>
              <a:t>2</a:t>
            </a:r>
            <a:r>
              <a:rPr lang="en-US" altLang="zh-CN" sz="2000" dirty="0"/>
              <a:t>)={D</a:t>
            </a:r>
            <a:r>
              <a:rPr lang="zh-CN" altLang="zh-CN" sz="2000" dirty="0"/>
              <a:t>→</a:t>
            </a:r>
            <a:r>
              <a:rPr lang="en-US" altLang="zh-CN" sz="2000" dirty="0"/>
              <a:t>A}</a:t>
            </a:r>
            <a:r>
              <a:rPr lang="zh-CN" altLang="zh-CN" sz="2000" dirty="0"/>
              <a:t>。</a:t>
            </a:r>
          </a:p>
          <a:p>
            <a:pPr marL="625475" indent="-625475">
              <a:buNone/>
            </a:pPr>
            <a:r>
              <a:rPr lang="zh-CN" altLang="zh-CN" sz="2000" dirty="0"/>
              <a:t>（</a:t>
            </a:r>
            <a:r>
              <a:rPr lang="en-US" altLang="zh-CN" sz="2000" dirty="0"/>
              <a:t>3</a:t>
            </a:r>
            <a:r>
              <a:rPr lang="zh-CN" altLang="zh-CN" sz="2000" dirty="0"/>
              <a:t>）因为：</a:t>
            </a:r>
            <a:r>
              <a:rPr lang="en-US" altLang="zh-CN" sz="2000" dirty="0"/>
              <a:t>i=1</a:t>
            </a:r>
            <a:r>
              <a:rPr lang="zh-CN" altLang="zh-CN" sz="2000" dirty="0"/>
              <a:t>，</a:t>
            </a:r>
            <a:r>
              <a:rPr lang="en-US" altLang="zh-CN" sz="2000" dirty="0" smtClean="0"/>
              <a:t>A          </a:t>
            </a:r>
            <a:r>
              <a:rPr lang="zh-CN" altLang="zh-CN" sz="2000" dirty="0"/>
              <a:t>。所以：</a:t>
            </a:r>
            <a:r>
              <a:rPr lang="en-US" altLang="zh-CN" sz="2000" dirty="0"/>
              <a:t>i&lt;n</a:t>
            </a:r>
            <a:r>
              <a:rPr lang="zh-CN" altLang="zh-CN" sz="2000" dirty="0"/>
              <a:t>不成立（因为</a:t>
            </a:r>
            <a:r>
              <a:rPr lang="en-US" altLang="zh-CN" sz="2000" dirty="0"/>
              <a:t>n=1</a:t>
            </a:r>
            <a:r>
              <a:rPr lang="zh-CN" altLang="zh-CN" sz="2000" dirty="0"/>
              <a:t>），输出保依赖分解，结束。</a:t>
            </a:r>
          </a:p>
          <a:p>
            <a:r>
              <a:rPr lang="zh-CN" altLang="zh-CN" sz="2000" dirty="0">
                <a:solidFill>
                  <a:srgbClr val="0000FF"/>
                </a:solidFill>
              </a:rPr>
              <a:t>思考：</a:t>
            </a:r>
            <a:r>
              <a:rPr lang="zh-CN" altLang="zh-CN" sz="2000" dirty="0"/>
              <a:t>在例</a:t>
            </a:r>
            <a:r>
              <a:rPr lang="en-US" altLang="zh-CN" sz="2000" dirty="0"/>
              <a:t>6.23</a:t>
            </a:r>
            <a:r>
              <a:rPr lang="zh-CN" altLang="zh-CN" sz="2000" dirty="0"/>
              <a:t>中，判断</a:t>
            </a:r>
            <a:r>
              <a:rPr lang="en-US" altLang="zh-CN" sz="2000" dirty="0">
                <a:latin typeface="Kunstler Script" pitchFamily="66" charset="0"/>
              </a:rPr>
              <a:t>R</a:t>
            </a:r>
            <a:r>
              <a:rPr lang="en-US" altLang="zh-CN" sz="2000" dirty="0"/>
              <a:t> {R</a:t>
            </a:r>
            <a:r>
              <a:rPr lang="en-US" altLang="zh-CN" sz="2000" baseline="-25000" dirty="0"/>
              <a:t>1</a:t>
            </a:r>
            <a:r>
              <a:rPr lang="en-US" altLang="zh-CN" sz="2000" dirty="0"/>
              <a:t>(A,B,C),R</a:t>
            </a:r>
            <a:r>
              <a:rPr lang="en-US" altLang="zh-CN" sz="2000" baseline="-25000" dirty="0"/>
              <a:t>2</a:t>
            </a:r>
            <a:r>
              <a:rPr lang="en-US" altLang="zh-CN" sz="2000" dirty="0"/>
              <a:t>(C,D)}</a:t>
            </a:r>
            <a:r>
              <a:rPr lang="zh-CN" altLang="zh-CN" sz="2000" dirty="0"/>
              <a:t>的保连接性和保依赖性。</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1980698245"/>
              </p:ext>
            </p:extLst>
          </p:nvPr>
        </p:nvGraphicFramePr>
        <p:xfrm>
          <a:off x="2627784" y="4005064"/>
          <a:ext cx="687760" cy="450702"/>
        </p:xfrm>
        <a:graphic>
          <a:graphicData uri="http://schemas.openxmlformats.org/presentationml/2006/ole">
            <mc:AlternateContent xmlns:mc="http://schemas.openxmlformats.org/markup-compatibility/2006">
              <mc:Choice xmlns:v="urn:schemas-microsoft-com:vml" Requires="v">
                <p:oleObj spid="_x0000_s57515" name="公式" r:id="rId3" imgW="368280" imgH="241200" progId="Equation.3">
                  <p:embed/>
                </p:oleObj>
              </mc:Choice>
              <mc:Fallback>
                <p:oleObj name="公式" r:id="rId3" imgW="368280" imgH="241200" progId="Equation.3">
                  <p:embed/>
                  <p:pic>
                    <p:nvPicPr>
                      <p:cNvPr id="0" name="Object 8"/>
                      <p:cNvPicPr>
                        <a:picLocks noChangeAspect="1" noChangeArrowheads="1"/>
                      </p:cNvPicPr>
                      <p:nvPr/>
                    </p:nvPicPr>
                    <p:blipFill>
                      <a:blip r:embed="rId4"/>
                      <a:srcRect/>
                      <a:stretch>
                        <a:fillRect/>
                      </a:stretch>
                    </p:blipFill>
                    <p:spPr bwMode="auto">
                      <a:xfrm>
                        <a:off x="2627784" y="4005064"/>
                        <a:ext cx="687760" cy="450702"/>
                      </a:xfrm>
                      <a:prstGeom prst="rect">
                        <a:avLst/>
                      </a:prstGeom>
                      <a:noFill/>
                    </p:spPr>
                  </p:pic>
                </p:oleObj>
              </mc:Fallback>
            </mc:AlternateContent>
          </a:graphicData>
        </a:graphic>
      </p:graphicFrame>
    </p:spTree>
    <p:extLst>
      <p:ext uri="{BB962C8B-B14F-4D97-AF65-F5344CB8AC3E}">
        <p14:creationId xmlns:p14="http://schemas.microsoft.com/office/powerpoint/2010/main" val="155717873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82</a:t>
            </a:fld>
            <a:endParaRPr lang="zh-CN" altLang="en-US" dirty="0"/>
          </a:p>
        </p:txBody>
      </p:sp>
      <p:sp>
        <p:nvSpPr>
          <p:cNvPr id="7" name="文本占位符 6"/>
          <p:cNvSpPr>
            <a:spLocks noGrp="1"/>
          </p:cNvSpPr>
          <p:nvPr>
            <p:ph type="body" idx="1"/>
          </p:nvPr>
        </p:nvSpPr>
        <p:spPr>
          <a:xfrm>
            <a:off x="143508" y="620687"/>
            <a:ext cx="8856984" cy="5688633"/>
          </a:xfrm>
        </p:spPr>
        <p:txBody>
          <a:bodyPr>
            <a:normAutofit/>
          </a:bodyPr>
          <a:lstStyle/>
          <a:p>
            <a:r>
              <a:rPr lang="zh-CN" altLang="zh-CN" sz="2000" dirty="0">
                <a:solidFill>
                  <a:srgbClr val="0000FF"/>
                </a:solidFill>
              </a:rPr>
              <a:t>算法</a:t>
            </a:r>
            <a:r>
              <a:rPr lang="en-US" altLang="zh-CN" sz="2000" dirty="0">
                <a:solidFill>
                  <a:srgbClr val="0000FF"/>
                </a:solidFill>
              </a:rPr>
              <a:t>6.5  </a:t>
            </a:r>
            <a:r>
              <a:rPr lang="en-US" altLang="zh-CN" sz="2000" dirty="0"/>
              <a:t>3NF</a:t>
            </a:r>
            <a:r>
              <a:rPr lang="zh-CN" altLang="zh-CN" sz="2000" dirty="0"/>
              <a:t>分解的保依赖算法</a:t>
            </a:r>
            <a:r>
              <a:rPr lang="zh-CN" altLang="zh-CN" sz="2000" dirty="0" smtClean="0"/>
              <a:t>。</a:t>
            </a:r>
            <a:r>
              <a:rPr lang="en-US" altLang="zh-CN" sz="2000" dirty="0" smtClean="0"/>
              <a:t>R(U,F</a:t>
            </a:r>
            <a:r>
              <a:rPr lang="en-US" altLang="zh-CN" sz="2000" dirty="0"/>
              <a:t>)</a:t>
            </a:r>
            <a:r>
              <a:rPr lang="zh-CN" altLang="zh-CN" sz="2000" dirty="0"/>
              <a:t>的</a:t>
            </a:r>
            <a:r>
              <a:rPr lang="en-US" altLang="zh-CN" sz="2000" dirty="0">
                <a:solidFill>
                  <a:srgbClr val="0000FF"/>
                </a:solidFill>
              </a:rPr>
              <a:t>3NF</a:t>
            </a:r>
            <a:r>
              <a:rPr lang="zh-CN" altLang="zh-CN" sz="2000" dirty="0">
                <a:solidFill>
                  <a:srgbClr val="0000FF"/>
                </a:solidFill>
              </a:rPr>
              <a:t>保依赖分解</a:t>
            </a:r>
            <a:r>
              <a:rPr lang="zh-CN" altLang="zh-CN" sz="2000" dirty="0"/>
              <a:t>如下：</a:t>
            </a:r>
          </a:p>
          <a:p>
            <a:pPr marL="0" indent="0">
              <a:buNone/>
            </a:pPr>
            <a:r>
              <a:rPr lang="zh-CN" altLang="zh-CN" sz="2000" dirty="0"/>
              <a:t>（</a:t>
            </a:r>
            <a:r>
              <a:rPr lang="en-US" altLang="zh-CN" sz="2000" dirty="0"/>
              <a:t>1</a:t>
            </a:r>
            <a:r>
              <a:rPr lang="zh-CN" altLang="zh-CN" sz="2000" dirty="0"/>
              <a:t>）</a:t>
            </a:r>
            <a:r>
              <a:rPr lang="en-US" altLang="zh-CN" sz="2000" dirty="0"/>
              <a:t>R  =</a:t>
            </a:r>
            <a:r>
              <a:rPr lang="en-US" altLang="zh-CN" sz="2000" dirty="0">
                <a:sym typeface="Symbol"/>
              </a:rPr>
              <a:t></a:t>
            </a:r>
            <a:r>
              <a:rPr lang="zh-CN" altLang="zh-CN" sz="2000" dirty="0"/>
              <a:t>。</a:t>
            </a:r>
          </a:p>
          <a:p>
            <a:pPr marL="0" indent="0">
              <a:buNone/>
            </a:pPr>
            <a:r>
              <a:rPr lang="zh-CN" altLang="zh-CN" sz="2000" dirty="0"/>
              <a:t>（</a:t>
            </a:r>
            <a:r>
              <a:rPr lang="en-US" altLang="zh-CN" sz="2000" dirty="0"/>
              <a:t>2</a:t>
            </a:r>
            <a:r>
              <a:rPr lang="zh-CN" altLang="zh-CN" sz="2000" dirty="0"/>
              <a:t>）计算</a:t>
            </a:r>
            <a:r>
              <a:rPr lang="en-US" altLang="zh-CN" sz="2000" dirty="0" err="1"/>
              <a:t>F</a:t>
            </a:r>
            <a:r>
              <a:rPr lang="en-US" altLang="zh-CN" sz="2000" baseline="-25000" dirty="0" err="1"/>
              <a:t>min</a:t>
            </a:r>
            <a:r>
              <a:rPr lang="zh-CN" altLang="zh-CN" sz="2000" dirty="0"/>
              <a:t>，</a:t>
            </a:r>
            <a:r>
              <a:rPr lang="en-US" altLang="zh-CN" sz="2000" dirty="0"/>
              <a:t>F</a:t>
            </a:r>
            <a:r>
              <a:rPr lang="zh-CN" altLang="zh-CN" sz="2000" dirty="0"/>
              <a:t>←</a:t>
            </a:r>
            <a:r>
              <a:rPr lang="en-US" altLang="zh-CN" sz="2000" dirty="0" err="1"/>
              <a:t>F</a:t>
            </a:r>
            <a:r>
              <a:rPr lang="en-US" altLang="zh-CN" sz="2000" baseline="-25000" dirty="0" err="1"/>
              <a:t>min</a:t>
            </a:r>
            <a:r>
              <a:rPr lang="en-US" altLang="zh-CN" sz="2000" dirty="0"/>
              <a:t> </a:t>
            </a:r>
            <a:r>
              <a:rPr lang="zh-CN" altLang="zh-CN" sz="2000" dirty="0"/>
              <a:t>。</a:t>
            </a:r>
          </a:p>
          <a:p>
            <a:pPr marL="722313" indent="-722313">
              <a:buNone/>
            </a:pPr>
            <a:r>
              <a:rPr lang="zh-CN" altLang="zh-CN" sz="2000" dirty="0"/>
              <a:t>（</a:t>
            </a:r>
            <a:r>
              <a:rPr lang="en-US" altLang="zh-CN" sz="2000" dirty="0"/>
              <a:t>3</a:t>
            </a:r>
            <a:r>
              <a:rPr lang="zh-CN" altLang="zh-CN" sz="2000" dirty="0"/>
              <a:t>）构造无依赖关系模式。如果</a:t>
            </a:r>
            <a:r>
              <a:rPr lang="en-US" altLang="zh-CN" sz="2000" dirty="0"/>
              <a:t> </a:t>
            </a:r>
            <a:r>
              <a:rPr lang="en-US" altLang="zh-CN" sz="2000" dirty="0" smtClean="0"/>
              <a:t>V</a:t>
            </a:r>
            <a:r>
              <a:rPr lang="en-US" altLang="zh-CN" sz="2000" dirty="0" smtClean="0">
                <a:sym typeface="Symbol"/>
              </a:rPr>
              <a:t></a:t>
            </a:r>
            <a:r>
              <a:rPr lang="en-US" altLang="zh-CN" sz="2000" dirty="0" smtClean="0"/>
              <a:t>U</a:t>
            </a:r>
            <a:r>
              <a:rPr lang="zh-CN" altLang="zh-CN" sz="2000" dirty="0"/>
              <a:t>，并且</a:t>
            </a:r>
            <a:r>
              <a:rPr lang="en-US" altLang="zh-CN" sz="2000" dirty="0"/>
              <a:t>V</a:t>
            </a:r>
            <a:r>
              <a:rPr lang="zh-CN" altLang="zh-CN" sz="2000" dirty="0"/>
              <a:t>在</a:t>
            </a:r>
            <a:r>
              <a:rPr lang="en-US" altLang="zh-CN" sz="2000" dirty="0"/>
              <a:t>F</a:t>
            </a:r>
            <a:r>
              <a:rPr lang="zh-CN" altLang="zh-CN" sz="2000" dirty="0"/>
              <a:t>的所有函数依赖的左部和右部均未出现，则构造</a:t>
            </a:r>
            <a:r>
              <a:rPr lang="en-US" altLang="zh-CN" sz="2000" dirty="0"/>
              <a:t>R(V,</a:t>
            </a:r>
            <a:r>
              <a:rPr lang="en-US" altLang="zh-CN" sz="2000" dirty="0">
                <a:sym typeface="Symbol"/>
              </a:rPr>
              <a:t></a:t>
            </a:r>
            <a:r>
              <a:rPr lang="en-US" altLang="zh-CN" sz="2000" dirty="0"/>
              <a:t>)</a:t>
            </a:r>
            <a:r>
              <a:rPr lang="zh-CN" altLang="zh-CN" sz="2000" dirty="0"/>
              <a:t>，且：</a:t>
            </a:r>
          </a:p>
          <a:p>
            <a:pPr marL="985838" indent="0">
              <a:buNone/>
            </a:pPr>
            <a:r>
              <a:rPr lang="en-US" altLang="zh-CN" sz="2000" dirty="0">
                <a:latin typeface="Kunstler Script" pitchFamily="66" charset="0"/>
              </a:rPr>
              <a:t>R</a:t>
            </a:r>
            <a:r>
              <a:rPr lang="en-US" altLang="zh-CN" sz="2000" dirty="0"/>
              <a:t>  = </a:t>
            </a:r>
            <a:r>
              <a:rPr lang="en-US" altLang="zh-CN" sz="2000" dirty="0">
                <a:latin typeface="Kunstler Script" pitchFamily="66" charset="0"/>
              </a:rPr>
              <a:t>R </a:t>
            </a:r>
            <a:r>
              <a:rPr lang="en-US" altLang="zh-CN" sz="2000" dirty="0"/>
              <a:t> </a:t>
            </a:r>
            <a:r>
              <a:rPr lang="zh-CN" altLang="zh-CN" sz="2000" dirty="0"/>
              <a:t>∪</a:t>
            </a:r>
            <a:r>
              <a:rPr lang="en-US" altLang="zh-CN" sz="2000" dirty="0"/>
              <a:t>R(V,</a:t>
            </a:r>
            <a:r>
              <a:rPr lang="en-US" altLang="zh-CN" sz="2000" dirty="0">
                <a:sym typeface="Symbol"/>
              </a:rPr>
              <a:t></a:t>
            </a:r>
            <a:r>
              <a:rPr lang="en-US" altLang="zh-CN" sz="2000" dirty="0"/>
              <a:t>)</a:t>
            </a:r>
            <a:r>
              <a:rPr lang="zh-CN" altLang="zh-CN" sz="2000" dirty="0"/>
              <a:t>，</a:t>
            </a:r>
            <a:r>
              <a:rPr lang="en-US" altLang="zh-CN" sz="2000" dirty="0"/>
              <a:t>U</a:t>
            </a:r>
            <a:r>
              <a:rPr lang="zh-CN" altLang="zh-CN" sz="2000" dirty="0"/>
              <a:t>←</a:t>
            </a:r>
            <a:r>
              <a:rPr lang="en-US" altLang="zh-CN" sz="2000" dirty="0"/>
              <a:t>U-V</a:t>
            </a:r>
            <a:r>
              <a:rPr lang="zh-CN" altLang="zh-CN" sz="2000" dirty="0"/>
              <a:t>。</a:t>
            </a:r>
          </a:p>
          <a:p>
            <a:pPr marL="0" indent="0">
              <a:buNone/>
            </a:pPr>
            <a:r>
              <a:rPr lang="zh-CN" altLang="zh-CN" sz="2000" dirty="0"/>
              <a:t>（</a:t>
            </a:r>
            <a:r>
              <a:rPr lang="en-US" altLang="zh-CN" sz="2000" dirty="0"/>
              <a:t>4</a:t>
            </a:r>
            <a:r>
              <a:rPr lang="zh-CN" altLang="zh-CN" sz="2000" dirty="0"/>
              <a:t>）如果</a:t>
            </a:r>
            <a:r>
              <a:rPr lang="en-US" altLang="zh-CN" sz="2000" dirty="0"/>
              <a:t>X</a:t>
            </a:r>
            <a:r>
              <a:rPr lang="zh-CN" altLang="zh-CN" sz="2000" dirty="0"/>
              <a:t>→</a:t>
            </a:r>
            <a:r>
              <a:rPr lang="en-US" altLang="zh-CN" sz="2000" dirty="0"/>
              <a:t>Y </a:t>
            </a:r>
            <a:r>
              <a:rPr lang="en-US" altLang="zh-CN" sz="2000" dirty="0" smtClean="0"/>
              <a:t>∈ F</a:t>
            </a:r>
            <a:r>
              <a:rPr lang="zh-CN" altLang="zh-CN" sz="2000" dirty="0"/>
              <a:t>，满足</a:t>
            </a:r>
            <a:r>
              <a:rPr lang="en-US" altLang="zh-CN" sz="2000" dirty="0"/>
              <a:t>XY=U</a:t>
            </a:r>
            <a:r>
              <a:rPr lang="zh-CN" altLang="zh-CN" sz="2000" dirty="0"/>
              <a:t>，则输出</a:t>
            </a:r>
            <a:r>
              <a:rPr lang="en-US" altLang="zh-CN" sz="2000" dirty="0">
                <a:latin typeface="Kunstler Script" pitchFamily="66" charset="0"/>
              </a:rPr>
              <a:t>R</a:t>
            </a:r>
            <a:r>
              <a:rPr lang="en-US" altLang="zh-CN" sz="2000" dirty="0"/>
              <a:t> </a:t>
            </a:r>
            <a:r>
              <a:rPr lang="zh-CN" altLang="zh-CN" sz="2000" dirty="0"/>
              <a:t>，结束。</a:t>
            </a:r>
          </a:p>
          <a:p>
            <a:pPr marL="625475" indent="-625475">
              <a:buNone/>
            </a:pPr>
            <a:r>
              <a:rPr lang="zh-CN" altLang="zh-CN" sz="2000" dirty="0"/>
              <a:t>（</a:t>
            </a:r>
            <a:r>
              <a:rPr lang="en-US" altLang="zh-CN" sz="2000" dirty="0"/>
              <a:t>5</a:t>
            </a:r>
            <a:r>
              <a:rPr lang="zh-CN" altLang="zh-CN" sz="2000" dirty="0"/>
              <a:t>）如果</a:t>
            </a:r>
            <a:r>
              <a:rPr lang="en-US" altLang="zh-CN" sz="2000" dirty="0"/>
              <a:t>F</a:t>
            </a:r>
            <a:r>
              <a:rPr lang="zh-CN" altLang="zh-CN" sz="2000" dirty="0"/>
              <a:t>存在确定集为</a:t>
            </a:r>
            <a:r>
              <a:rPr lang="en-US" altLang="zh-CN" sz="2000" dirty="0"/>
              <a:t>X</a:t>
            </a:r>
            <a:r>
              <a:rPr lang="zh-CN" altLang="zh-CN" sz="2000" dirty="0"/>
              <a:t>的函数依赖集</a:t>
            </a:r>
            <a:r>
              <a:rPr lang="en-US" altLang="zh-CN" sz="2000" dirty="0"/>
              <a:t>H={X</a:t>
            </a:r>
            <a:r>
              <a:rPr lang="zh-CN" altLang="zh-CN" sz="2000" dirty="0"/>
              <a:t>→</a:t>
            </a:r>
            <a:r>
              <a:rPr lang="en-US" altLang="zh-CN" sz="2000" dirty="0"/>
              <a:t>Y</a:t>
            </a:r>
            <a:r>
              <a:rPr lang="en-US" altLang="zh-CN" sz="2000" baseline="-25000" dirty="0"/>
              <a:t>1</a:t>
            </a:r>
            <a:r>
              <a:rPr lang="en-US" altLang="zh-CN" sz="2000" dirty="0"/>
              <a:t>, X</a:t>
            </a:r>
            <a:r>
              <a:rPr lang="zh-CN" altLang="zh-CN" sz="2000" dirty="0"/>
              <a:t>→</a:t>
            </a:r>
            <a:r>
              <a:rPr lang="en-US" altLang="zh-CN" sz="2000" dirty="0"/>
              <a:t>Y</a:t>
            </a:r>
            <a:r>
              <a:rPr lang="en-US" altLang="zh-CN" sz="2000" baseline="-25000" dirty="0"/>
              <a:t>2</a:t>
            </a:r>
            <a:r>
              <a:rPr lang="en-US" altLang="zh-CN" sz="2000" dirty="0"/>
              <a:t>,…,X</a:t>
            </a:r>
            <a:r>
              <a:rPr lang="zh-CN" altLang="zh-CN" sz="2000" dirty="0"/>
              <a:t>→</a:t>
            </a:r>
            <a:r>
              <a:rPr lang="en-US" altLang="zh-CN" sz="2000" dirty="0" err="1"/>
              <a:t>Y</a:t>
            </a:r>
            <a:r>
              <a:rPr lang="en-US" altLang="zh-CN" sz="2000" baseline="-25000" dirty="0" err="1"/>
              <a:t>k</a:t>
            </a:r>
            <a:r>
              <a:rPr lang="en-US" altLang="zh-CN" sz="2000" dirty="0"/>
              <a:t>}</a:t>
            </a:r>
            <a:r>
              <a:rPr lang="zh-CN" altLang="zh-CN" sz="2000" dirty="0"/>
              <a:t>，则构造</a:t>
            </a:r>
            <a:r>
              <a:rPr lang="en-US" altLang="zh-CN" sz="2000" dirty="0"/>
              <a:t>H</a:t>
            </a:r>
            <a:r>
              <a:rPr lang="zh-CN" altLang="zh-CN" sz="2000" dirty="0"/>
              <a:t>的关系模式</a:t>
            </a:r>
            <a:r>
              <a:rPr lang="en-US" altLang="zh-CN" sz="2000" dirty="0"/>
              <a:t>R(X,Y</a:t>
            </a:r>
            <a:r>
              <a:rPr lang="en-US" altLang="zh-CN" sz="2000" baseline="-25000" dirty="0"/>
              <a:t>1</a:t>
            </a:r>
            <a:r>
              <a:rPr lang="en-US" altLang="zh-CN" sz="2000" dirty="0"/>
              <a:t>,Y</a:t>
            </a:r>
            <a:r>
              <a:rPr lang="en-US" altLang="zh-CN" sz="2000" baseline="-25000" dirty="0"/>
              <a:t>2</a:t>
            </a:r>
            <a:r>
              <a:rPr lang="en-US" altLang="zh-CN" sz="2000" dirty="0"/>
              <a:t>,…,</a:t>
            </a:r>
            <a:r>
              <a:rPr lang="en-US" altLang="zh-CN" sz="2000" dirty="0" err="1"/>
              <a:t>Y</a:t>
            </a:r>
            <a:r>
              <a:rPr lang="en-US" altLang="zh-CN" sz="2000" baseline="-25000" dirty="0" err="1"/>
              <a:t>k</a:t>
            </a:r>
            <a:r>
              <a:rPr lang="en-US" altLang="zh-CN" sz="2000" dirty="0"/>
              <a:t>)</a:t>
            </a:r>
            <a:r>
              <a:rPr lang="zh-CN" altLang="zh-CN" sz="2000" dirty="0"/>
              <a:t>，且：</a:t>
            </a:r>
          </a:p>
          <a:p>
            <a:pPr marL="625475" indent="0">
              <a:buNone/>
            </a:pPr>
            <a:r>
              <a:rPr lang="en-US" altLang="zh-CN" sz="2000" dirty="0"/>
              <a:t>   </a:t>
            </a:r>
            <a:r>
              <a:rPr lang="en-US" altLang="zh-CN" sz="2000" dirty="0">
                <a:latin typeface="Kunstler Script" pitchFamily="66" charset="0"/>
              </a:rPr>
              <a:t>R</a:t>
            </a:r>
            <a:r>
              <a:rPr lang="en-US" altLang="zh-CN" sz="2000" dirty="0"/>
              <a:t>  = </a:t>
            </a:r>
            <a:r>
              <a:rPr lang="en-US" altLang="zh-CN" sz="2000" dirty="0">
                <a:latin typeface="Kunstler Script" pitchFamily="66" charset="0"/>
              </a:rPr>
              <a:t>R</a:t>
            </a:r>
            <a:r>
              <a:rPr lang="en-US" altLang="zh-CN" sz="2000" dirty="0"/>
              <a:t>  </a:t>
            </a:r>
            <a:r>
              <a:rPr lang="zh-CN" altLang="zh-CN" sz="2000" dirty="0"/>
              <a:t>∪</a:t>
            </a:r>
            <a:r>
              <a:rPr lang="en-US" altLang="zh-CN" sz="2000" dirty="0"/>
              <a:t>{ R(X,Y</a:t>
            </a:r>
            <a:r>
              <a:rPr lang="en-US" altLang="zh-CN" sz="2000" baseline="-25000" dirty="0"/>
              <a:t>1</a:t>
            </a:r>
            <a:r>
              <a:rPr lang="en-US" altLang="zh-CN" sz="2000" dirty="0"/>
              <a:t>,Y</a:t>
            </a:r>
            <a:r>
              <a:rPr lang="en-US" altLang="zh-CN" sz="2000" baseline="-25000" dirty="0"/>
              <a:t>2</a:t>
            </a:r>
            <a:r>
              <a:rPr lang="en-US" altLang="zh-CN" sz="2000" dirty="0"/>
              <a:t>,…,</a:t>
            </a:r>
            <a:r>
              <a:rPr lang="en-US" altLang="zh-CN" sz="2000" dirty="0" err="1"/>
              <a:t>Y</a:t>
            </a:r>
            <a:r>
              <a:rPr lang="en-US" altLang="zh-CN" sz="2000" baseline="-25000" dirty="0" err="1"/>
              <a:t>k</a:t>
            </a:r>
            <a:r>
              <a:rPr lang="en-US" altLang="zh-CN" sz="2000" dirty="0"/>
              <a:t>)} </a:t>
            </a:r>
            <a:r>
              <a:rPr lang="zh-CN" altLang="zh-CN" sz="2000" dirty="0"/>
              <a:t>，</a:t>
            </a:r>
            <a:r>
              <a:rPr lang="en-US" altLang="zh-CN" sz="2000" dirty="0"/>
              <a:t>F</a:t>
            </a:r>
            <a:r>
              <a:rPr lang="zh-CN" altLang="zh-CN" sz="2000" dirty="0"/>
              <a:t>←</a:t>
            </a:r>
            <a:r>
              <a:rPr lang="en-US" altLang="zh-CN" sz="2000" dirty="0"/>
              <a:t>F-{X</a:t>
            </a:r>
            <a:r>
              <a:rPr lang="en-US" altLang="zh-CN" sz="2000" dirty="0">
                <a:sym typeface="Symbol"/>
              </a:rPr>
              <a:t></a:t>
            </a:r>
            <a:r>
              <a:rPr lang="en-US" altLang="zh-CN" sz="2000" dirty="0"/>
              <a:t>Y</a:t>
            </a:r>
            <a:r>
              <a:rPr lang="en-US" altLang="zh-CN" sz="2000" baseline="-25000" dirty="0"/>
              <a:t>1</a:t>
            </a:r>
            <a:r>
              <a:rPr lang="en-US" altLang="zh-CN" sz="2000" dirty="0"/>
              <a:t>,X</a:t>
            </a:r>
            <a:r>
              <a:rPr lang="en-US" altLang="zh-CN" sz="2000" dirty="0">
                <a:sym typeface="Symbol"/>
              </a:rPr>
              <a:t></a:t>
            </a:r>
            <a:r>
              <a:rPr lang="en-US" altLang="zh-CN" sz="2000" dirty="0"/>
              <a:t>Y</a:t>
            </a:r>
            <a:r>
              <a:rPr lang="en-US" altLang="zh-CN" sz="2000" baseline="-25000" dirty="0"/>
              <a:t>2</a:t>
            </a:r>
            <a:r>
              <a:rPr lang="en-US" altLang="zh-CN" sz="2000" dirty="0"/>
              <a:t>,…,</a:t>
            </a:r>
            <a:r>
              <a:rPr lang="en-US" altLang="zh-CN" sz="2000" dirty="0" err="1"/>
              <a:t>X</a:t>
            </a:r>
            <a:r>
              <a:rPr lang="en-US" altLang="zh-CN" sz="2000" dirty="0" err="1">
                <a:sym typeface="Symbol"/>
              </a:rPr>
              <a:t></a:t>
            </a:r>
            <a:r>
              <a:rPr lang="en-US" altLang="zh-CN" sz="2000" dirty="0" err="1"/>
              <a:t>Y</a:t>
            </a:r>
            <a:r>
              <a:rPr lang="en-US" altLang="zh-CN" sz="2000" baseline="-25000" dirty="0" err="1"/>
              <a:t>k</a:t>
            </a:r>
            <a:r>
              <a:rPr lang="en-US" altLang="zh-CN" sz="2000" dirty="0"/>
              <a:t>}</a:t>
            </a:r>
            <a:r>
              <a:rPr lang="zh-CN" altLang="zh-CN" sz="2000" dirty="0"/>
              <a:t>。</a:t>
            </a:r>
          </a:p>
          <a:p>
            <a:pPr marL="0" indent="0">
              <a:buNone/>
            </a:pPr>
            <a:r>
              <a:rPr lang="zh-CN" altLang="zh-CN" sz="2000" dirty="0"/>
              <a:t>（</a:t>
            </a:r>
            <a:r>
              <a:rPr lang="en-US" altLang="zh-CN" sz="2000" dirty="0"/>
              <a:t>6</a:t>
            </a:r>
            <a:r>
              <a:rPr lang="zh-CN" altLang="zh-CN" sz="2000" dirty="0"/>
              <a:t>）</a:t>
            </a:r>
            <a:r>
              <a:rPr lang="zh-CN" altLang="zh-CN" sz="2000" dirty="0" smtClean="0"/>
              <a:t>如果</a:t>
            </a:r>
            <a:r>
              <a:rPr lang="en-US" altLang="zh-CN" sz="2000" dirty="0" smtClean="0"/>
              <a:t>F</a:t>
            </a:r>
            <a:r>
              <a:rPr lang="en-US" altLang="zh-CN" sz="2000" dirty="0"/>
              <a:t>=</a:t>
            </a:r>
            <a:r>
              <a:rPr lang="en-US" altLang="zh-CN" sz="2000" dirty="0" smtClean="0">
                <a:sym typeface="Symbol"/>
              </a:rPr>
              <a:t></a:t>
            </a:r>
            <a:r>
              <a:rPr lang="zh-CN" altLang="zh-CN" sz="2000" dirty="0" smtClean="0"/>
              <a:t>，</a:t>
            </a:r>
            <a:r>
              <a:rPr lang="zh-CN" altLang="zh-CN" sz="2000" dirty="0"/>
              <a:t>则输出</a:t>
            </a:r>
            <a:r>
              <a:rPr lang="en-US" altLang="zh-CN" sz="2000" dirty="0">
                <a:latin typeface="Kunstler Script" pitchFamily="66" charset="0"/>
              </a:rPr>
              <a:t>R</a:t>
            </a:r>
            <a:r>
              <a:rPr lang="en-US" altLang="zh-CN" sz="2000" dirty="0"/>
              <a:t>  </a:t>
            </a:r>
            <a:r>
              <a:rPr lang="zh-CN" altLang="zh-CN" sz="2000" dirty="0"/>
              <a:t>，结束；否则转向</a:t>
            </a:r>
            <a:r>
              <a:rPr lang="en-US" altLang="zh-CN" sz="2000" dirty="0"/>
              <a:t>(5)</a:t>
            </a:r>
            <a:r>
              <a:rPr lang="zh-CN" altLang="zh-CN" sz="2000" dirty="0" smtClean="0"/>
              <a:t>。</a:t>
            </a:r>
            <a:endParaRPr lang="en-US" altLang="zh-CN" sz="2000" dirty="0" smtClean="0"/>
          </a:p>
          <a:p>
            <a:r>
              <a:rPr lang="zh-CN" altLang="zh-CN" sz="2000" dirty="0">
                <a:solidFill>
                  <a:srgbClr val="0000FF"/>
                </a:solidFill>
              </a:rPr>
              <a:t>定理</a:t>
            </a:r>
            <a:r>
              <a:rPr lang="en-US" altLang="zh-CN" sz="2000" dirty="0">
                <a:solidFill>
                  <a:srgbClr val="0000FF"/>
                </a:solidFill>
              </a:rPr>
              <a:t>6.2  </a:t>
            </a:r>
            <a:r>
              <a:rPr lang="zh-CN" altLang="zh-CN" sz="2000" dirty="0"/>
              <a:t>算法</a:t>
            </a:r>
            <a:r>
              <a:rPr lang="en-US" altLang="zh-CN" sz="2000" dirty="0"/>
              <a:t>6.5</a:t>
            </a:r>
            <a:r>
              <a:rPr lang="zh-CN" altLang="zh-CN" sz="2000" dirty="0"/>
              <a:t>可以进行</a:t>
            </a:r>
            <a:r>
              <a:rPr lang="en-US" altLang="zh-CN" sz="2000" dirty="0"/>
              <a:t>3NF</a:t>
            </a:r>
            <a:r>
              <a:rPr lang="zh-CN" altLang="zh-CN" sz="2000" dirty="0"/>
              <a:t>保依赖分解</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96256516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83</a:t>
            </a:fld>
            <a:endParaRPr lang="zh-CN" altLang="en-US" dirty="0"/>
          </a:p>
        </p:txBody>
      </p:sp>
      <p:sp>
        <p:nvSpPr>
          <p:cNvPr id="7" name="文本占位符 6"/>
          <p:cNvSpPr>
            <a:spLocks noGrp="1"/>
          </p:cNvSpPr>
          <p:nvPr>
            <p:ph type="body" idx="1"/>
          </p:nvPr>
        </p:nvSpPr>
        <p:spPr>
          <a:xfrm>
            <a:off x="143508" y="620688"/>
            <a:ext cx="8856984" cy="5832649"/>
          </a:xfrm>
        </p:spPr>
        <p:txBody>
          <a:bodyPr>
            <a:noAutofit/>
          </a:bodyPr>
          <a:lstStyle/>
          <a:p>
            <a:r>
              <a:rPr lang="zh-CN" altLang="zh-CN" sz="2000" dirty="0">
                <a:solidFill>
                  <a:srgbClr val="0000FF"/>
                </a:solidFill>
              </a:rPr>
              <a:t>例</a:t>
            </a:r>
            <a:r>
              <a:rPr lang="en-US" altLang="zh-CN" sz="2000" dirty="0">
                <a:solidFill>
                  <a:srgbClr val="0000FF"/>
                </a:solidFill>
              </a:rPr>
              <a:t>6.24  </a:t>
            </a:r>
            <a:r>
              <a:rPr lang="zh-CN" altLang="zh-CN" sz="2000" dirty="0" smtClean="0"/>
              <a:t>对</a:t>
            </a:r>
            <a:r>
              <a:rPr lang="en-US" altLang="zh-CN" sz="2000" dirty="0" smtClean="0"/>
              <a:t>R(U,F</a:t>
            </a:r>
            <a:r>
              <a:rPr lang="en-US" altLang="zh-CN" sz="2000" dirty="0"/>
              <a:t>)</a:t>
            </a:r>
            <a:r>
              <a:rPr lang="zh-CN" altLang="zh-CN" sz="2000" dirty="0"/>
              <a:t>，</a:t>
            </a:r>
            <a:r>
              <a:rPr lang="en-US" altLang="zh-CN" sz="2000" dirty="0"/>
              <a:t>U={A,B,C,D,E}</a:t>
            </a:r>
            <a:r>
              <a:rPr lang="zh-CN" altLang="zh-CN" sz="2000" dirty="0"/>
              <a:t>，</a:t>
            </a:r>
            <a:r>
              <a:rPr lang="en-US" altLang="zh-CN" sz="2000" dirty="0"/>
              <a:t>F={A</a:t>
            </a:r>
            <a:r>
              <a:rPr lang="zh-CN" altLang="zh-CN" sz="2000" dirty="0"/>
              <a:t>→</a:t>
            </a:r>
            <a:r>
              <a:rPr lang="en-US" altLang="zh-CN" sz="2000" dirty="0"/>
              <a:t>B,A</a:t>
            </a:r>
            <a:r>
              <a:rPr lang="zh-CN" altLang="zh-CN" sz="2000" dirty="0"/>
              <a:t>→</a:t>
            </a:r>
            <a:r>
              <a:rPr lang="en-US" altLang="zh-CN" sz="2000" dirty="0"/>
              <a:t>C,C</a:t>
            </a:r>
            <a:r>
              <a:rPr lang="zh-CN" altLang="zh-CN" sz="2000" dirty="0"/>
              <a:t>→</a:t>
            </a:r>
            <a:r>
              <a:rPr lang="en-US" altLang="zh-CN" sz="2000" dirty="0"/>
              <a:t>D}</a:t>
            </a:r>
            <a:r>
              <a:rPr lang="zh-CN" altLang="zh-CN" sz="2000" dirty="0"/>
              <a:t>，则</a:t>
            </a:r>
            <a:r>
              <a:rPr lang="en-US" altLang="zh-CN" sz="2000" dirty="0"/>
              <a:t>R</a:t>
            </a:r>
            <a:r>
              <a:rPr lang="zh-CN" altLang="zh-CN" sz="2000" dirty="0" smtClean="0"/>
              <a:t>可进行</a:t>
            </a:r>
            <a:r>
              <a:rPr lang="en-US" altLang="zh-CN" sz="2000" dirty="0">
                <a:solidFill>
                  <a:srgbClr val="0000FF"/>
                </a:solidFill>
              </a:rPr>
              <a:t>3NF</a:t>
            </a:r>
            <a:r>
              <a:rPr lang="zh-CN" altLang="zh-CN" sz="2000" dirty="0">
                <a:solidFill>
                  <a:srgbClr val="0000FF"/>
                </a:solidFill>
              </a:rPr>
              <a:t>保依赖</a:t>
            </a:r>
            <a:r>
              <a:rPr lang="zh-CN" altLang="zh-CN" sz="2000" dirty="0" smtClean="0">
                <a:solidFill>
                  <a:srgbClr val="0000FF"/>
                </a:solidFill>
              </a:rPr>
              <a:t>分解</a:t>
            </a:r>
            <a:endParaRPr lang="zh-CN" altLang="zh-CN" sz="2000" dirty="0">
              <a:solidFill>
                <a:srgbClr val="0000FF"/>
              </a:solidFill>
            </a:endParaRPr>
          </a:p>
          <a:p>
            <a:pPr marL="0" indent="0">
              <a:buNone/>
            </a:pPr>
            <a:r>
              <a:rPr lang="zh-CN" altLang="zh-CN" sz="2000" dirty="0" smtClean="0"/>
              <a:t>（</a:t>
            </a:r>
            <a:r>
              <a:rPr lang="en-US" altLang="zh-CN" sz="2000" dirty="0"/>
              <a:t>1</a:t>
            </a:r>
            <a:r>
              <a:rPr lang="zh-CN" altLang="zh-CN" sz="2000" dirty="0"/>
              <a:t>）</a:t>
            </a:r>
            <a:r>
              <a:rPr lang="en-US" altLang="zh-CN" sz="2000" dirty="0">
                <a:latin typeface="Kunstler Script" pitchFamily="66" charset="0"/>
              </a:rPr>
              <a:t>R </a:t>
            </a:r>
            <a:r>
              <a:rPr lang="en-US" altLang="zh-CN" sz="2000" dirty="0"/>
              <a:t> =</a:t>
            </a:r>
            <a:r>
              <a:rPr lang="en-US" altLang="zh-CN" sz="2000" dirty="0">
                <a:sym typeface="Symbol"/>
              </a:rPr>
              <a:t></a:t>
            </a:r>
            <a:r>
              <a:rPr lang="zh-CN" altLang="zh-CN" sz="2000" dirty="0"/>
              <a:t>。</a:t>
            </a:r>
          </a:p>
          <a:p>
            <a:pPr marL="0" indent="0">
              <a:buNone/>
            </a:pPr>
            <a:r>
              <a:rPr lang="zh-CN" altLang="zh-CN" sz="2000" dirty="0"/>
              <a:t>（</a:t>
            </a:r>
            <a:r>
              <a:rPr lang="en-US" altLang="zh-CN" sz="2000" dirty="0"/>
              <a:t>2</a:t>
            </a:r>
            <a:r>
              <a:rPr lang="zh-CN" altLang="zh-CN" sz="2000" dirty="0"/>
              <a:t>）计算</a:t>
            </a:r>
            <a:r>
              <a:rPr lang="en-US" altLang="zh-CN" sz="2000" dirty="0" err="1"/>
              <a:t>F</a:t>
            </a:r>
            <a:r>
              <a:rPr lang="en-US" altLang="zh-CN" sz="2000" baseline="-25000" dirty="0" err="1"/>
              <a:t>min</a:t>
            </a:r>
            <a:r>
              <a:rPr lang="zh-CN" altLang="zh-CN" sz="2000" dirty="0"/>
              <a:t>。</a:t>
            </a:r>
            <a:r>
              <a:rPr lang="en-US" altLang="zh-CN" sz="2000" dirty="0"/>
              <a:t>F</a:t>
            </a:r>
            <a:r>
              <a:rPr lang="zh-CN" altLang="zh-CN" sz="2000" dirty="0"/>
              <a:t>已经是最小依赖集。</a:t>
            </a:r>
          </a:p>
          <a:p>
            <a:pPr marL="625475" indent="-625475">
              <a:buNone/>
            </a:pPr>
            <a:r>
              <a:rPr lang="zh-CN" altLang="zh-CN" sz="2000" dirty="0"/>
              <a:t>（</a:t>
            </a:r>
            <a:r>
              <a:rPr lang="en-US" altLang="zh-CN" sz="2000" dirty="0"/>
              <a:t>3</a:t>
            </a:r>
            <a:r>
              <a:rPr lang="zh-CN" altLang="zh-CN" sz="2000" dirty="0"/>
              <a:t>）因为</a:t>
            </a:r>
            <a:r>
              <a:rPr lang="en-US" altLang="zh-CN" sz="2000" dirty="0"/>
              <a:t> V=E</a:t>
            </a:r>
            <a:r>
              <a:rPr lang="zh-CN" altLang="zh-CN" sz="2000" dirty="0"/>
              <a:t>，</a:t>
            </a:r>
            <a:r>
              <a:rPr lang="en-US" altLang="zh-CN" sz="2000" dirty="0"/>
              <a:t>V</a:t>
            </a:r>
            <a:r>
              <a:rPr lang="zh-CN" altLang="zh-CN" sz="2000" dirty="0"/>
              <a:t>在</a:t>
            </a:r>
            <a:r>
              <a:rPr lang="en-US" altLang="zh-CN" sz="2000" dirty="0"/>
              <a:t>F</a:t>
            </a:r>
            <a:r>
              <a:rPr lang="zh-CN" altLang="zh-CN" sz="2000" dirty="0"/>
              <a:t>的所有函数依赖的左部和右部均未出现，则构造</a:t>
            </a:r>
            <a:r>
              <a:rPr lang="en-US" altLang="zh-CN" sz="2000" dirty="0"/>
              <a:t>R(V,</a:t>
            </a:r>
            <a:r>
              <a:rPr lang="en-US" altLang="zh-CN" sz="2000" dirty="0">
                <a:sym typeface="Symbol"/>
              </a:rPr>
              <a:t></a:t>
            </a:r>
            <a:r>
              <a:rPr lang="en-US" altLang="zh-CN" sz="2000" dirty="0"/>
              <a:t>)</a:t>
            </a:r>
            <a:r>
              <a:rPr lang="zh-CN" altLang="zh-CN" sz="2000" dirty="0"/>
              <a:t>，且</a:t>
            </a:r>
            <a:r>
              <a:rPr lang="zh-CN" altLang="zh-CN" sz="2000" dirty="0" smtClean="0"/>
              <a:t>：</a:t>
            </a:r>
            <a:r>
              <a:rPr lang="en-US" altLang="zh-CN" sz="2000" dirty="0">
                <a:latin typeface="Kunstler Script" pitchFamily="66" charset="0"/>
              </a:rPr>
              <a:t>R</a:t>
            </a:r>
            <a:r>
              <a:rPr lang="en-US" altLang="zh-CN" sz="2000" dirty="0" smtClean="0"/>
              <a:t>  </a:t>
            </a:r>
            <a:r>
              <a:rPr lang="en-US" altLang="zh-CN" sz="2000" dirty="0"/>
              <a:t>= </a:t>
            </a:r>
            <a:r>
              <a:rPr lang="en-US" altLang="zh-CN" sz="2000" dirty="0">
                <a:latin typeface="Kunstler Script" pitchFamily="66" charset="0"/>
              </a:rPr>
              <a:t>R</a:t>
            </a:r>
            <a:r>
              <a:rPr lang="en-US" altLang="zh-CN" sz="2000" dirty="0"/>
              <a:t>  </a:t>
            </a:r>
            <a:r>
              <a:rPr lang="zh-CN" altLang="zh-CN" sz="2000" dirty="0"/>
              <a:t>∪</a:t>
            </a:r>
            <a:r>
              <a:rPr lang="en-US" altLang="zh-CN" sz="2000" dirty="0"/>
              <a:t>{R</a:t>
            </a:r>
            <a:r>
              <a:rPr lang="en-US" altLang="zh-CN" sz="2000" baseline="-25000" dirty="0"/>
              <a:t>1</a:t>
            </a:r>
            <a:r>
              <a:rPr lang="en-US" altLang="zh-CN" sz="2000" dirty="0"/>
              <a:t>({E},</a:t>
            </a:r>
            <a:r>
              <a:rPr lang="en-US" altLang="zh-CN" sz="2000" dirty="0">
                <a:sym typeface="Symbol"/>
              </a:rPr>
              <a:t></a:t>
            </a:r>
            <a:r>
              <a:rPr lang="en-US" altLang="zh-CN" sz="2000" dirty="0"/>
              <a:t>)}</a:t>
            </a:r>
            <a:r>
              <a:rPr lang="zh-CN" altLang="zh-CN" sz="2000" dirty="0"/>
              <a:t>。</a:t>
            </a:r>
          </a:p>
          <a:p>
            <a:pPr marL="0" indent="0">
              <a:buNone/>
            </a:pPr>
            <a:r>
              <a:rPr lang="zh-CN" altLang="zh-CN" sz="2000" dirty="0"/>
              <a:t>（</a:t>
            </a:r>
            <a:r>
              <a:rPr lang="en-US" altLang="zh-CN" sz="2000" dirty="0"/>
              <a:t>4</a:t>
            </a:r>
            <a:r>
              <a:rPr lang="zh-CN" altLang="zh-CN" sz="2000" dirty="0"/>
              <a:t>）确定集为</a:t>
            </a:r>
            <a:r>
              <a:rPr lang="en-US" altLang="zh-CN" sz="2000" dirty="0"/>
              <a:t>A</a:t>
            </a:r>
            <a:r>
              <a:rPr lang="zh-CN" altLang="zh-CN" sz="2000" dirty="0"/>
              <a:t>的函数依赖集</a:t>
            </a:r>
            <a:r>
              <a:rPr lang="en-US" altLang="zh-CN" sz="2000" dirty="0"/>
              <a:t>H={A</a:t>
            </a:r>
            <a:r>
              <a:rPr lang="zh-CN" altLang="zh-CN" sz="2000" dirty="0"/>
              <a:t>→</a:t>
            </a:r>
            <a:r>
              <a:rPr lang="en-US" altLang="zh-CN" sz="2000" dirty="0"/>
              <a:t>B,A</a:t>
            </a:r>
            <a:r>
              <a:rPr lang="zh-CN" altLang="zh-CN" sz="2000" dirty="0"/>
              <a:t>→</a:t>
            </a:r>
            <a:r>
              <a:rPr lang="en-US" altLang="zh-CN" sz="2000" dirty="0"/>
              <a:t>C}</a:t>
            </a:r>
            <a:r>
              <a:rPr lang="zh-CN" altLang="zh-CN" sz="2000" dirty="0"/>
              <a:t>，则构成</a:t>
            </a:r>
            <a:r>
              <a:rPr lang="en-US" altLang="zh-CN" sz="2000" dirty="0"/>
              <a:t>R</a:t>
            </a:r>
            <a:r>
              <a:rPr lang="en-US" altLang="zh-CN" sz="2000" baseline="-25000" dirty="0"/>
              <a:t>2</a:t>
            </a:r>
            <a:r>
              <a:rPr lang="en-US" altLang="zh-CN" sz="2000" dirty="0"/>
              <a:t>(A,B,C)</a:t>
            </a:r>
            <a:r>
              <a:rPr lang="zh-CN" altLang="zh-CN" sz="2000" dirty="0"/>
              <a:t>，且：</a:t>
            </a:r>
          </a:p>
          <a:p>
            <a:pPr marL="625475" indent="0">
              <a:buNone/>
            </a:pPr>
            <a:r>
              <a:rPr lang="en-US" altLang="zh-CN" sz="2000" dirty="0">
                <a:latin typeface="Kunstler Script" pitchFamily="66" charset="0"/>
              </a:rPr>
              <a:t>R</a:t>
            </a:r>
            <a:r>
              <a:rPr lang="en-US" altLang="zh-CN" sz="2000" dirty="0"/>
              <a:t>  = </a:t>
            </a:r>
            <a:r>
              <a:rPr lang="en-US" altLang="zh-CN" sz="2000" dirty="0">
                <a:latin typeface="Kunstler Script" pitchFamily="66" charset="0"/>
              </a:rPr>
              <a:t>R</a:t>
            </a:r>
            <a:r>
              <a:rPr lang="en-US" altLang="zh-CN" sz="2000" dirty="0"/>
              <a:t>  </a:t>
            </a:r>
            <a:r>
              <a:rPr lang="zh-CN" altLang="zh-CN" sz="2000" dirty="0"/>
              <a:t>∪</a:t>
            </a:r>
            <a:r>
              <a:rPr lang="en-US" altLang="zh-CN" sz="2000" dirty="0"/>
              <a:t>{R</a:t>
            </a:r>
            <a:r>
              <a:rPr lang="en-US" altLang="zh-CN" sz="2000" baseline="-25000" dirty="0"/>
              <a:t>1</a:t>
            </a:r>
            <a:r>
              <a:rPr lang="en-US" altLang="zh-CN" sz="2000" dirty="0"/>
              <a:t>({E},</a:t>
            </a:r>
            <a:r>
              <a:rPr lang="en-US" altLang="zh-CN" sz="2000" dirty="0">
                <a:sym typeface="Symbol"/>
              </a:rPr>
              <a:t></a:t>
            </a:r>
            <a:r>
              <a:rPr lang="en-US" altLang="zh-CN" sz="2000" dirty="0"/>
              <a:t>)}</a:t>
            </a:r>
            <a:r>
              <a:rPr lang="zh-CN" altLang="zh-CN" sz="2000" dirty="0"/>
              <a:t>∪</a:t>
            </a:r>
            <a:r>
              <a:rPr lang="en-US" altLang="zh-CN" sz="2000" dirty="0"/>
              <a:t>{R</a:t>
            </a:r>
            <a:r>
              <a:rPr lang="en-US" altLang="zh-CN" sz="2000" baseline="-25000" dirty="0"/>
              <a:t>2</a:t>
            </a:r>
            <a:r>
              <a:rPr lang="en-US" altLang="zh-CN" sz="2000" dirty="0"/>
              <a:t>({A,B,C},{A</a:t>
            </a:r>
            <a:r>
              <a:rPr lang="zh-CN" altLang="zh-CN" sz="2000" dirty="0"/>
              <a:t>→</a:t>
            </a:r>
            <a:r>
              <a:rPr lang="en-US" altLang="zh-CN" sz="2000" dirty="0"/>
              <a:t>B,A</a:t>
            </a:r>
            <a:r>
              <a:rPr lang="zh-CN" altLang="zh-CN" sz="2000" dirty="0"/>
              <a:t>→</a:t>
            </a:r>
            <a:r>
              <a:rPr lang="en-US" altLang="zh-CN" sz="2000" dirty="0"/>
              <a:t>C})}</a:t>
            </a:r>
            <a:r>
              <a:rPr lang="zh-CN" altLang="zh-CN" sz="2000" dirty="0" smtClean="0"/>
              <a:t>，</a:t>
            </a:r>
            <a:endParaRPr lang="en-US" altLang="zh-CN" sz="2000" dirty="0">
              <a:latin typeface="Kunstler Script" pitchFamily="66" charset="0"/>
            </a:endParaRPr>
          </a:p>
          <a:p>
            <a:pPr marL="1347788" indent="0">
              <a:buNone/>
            </a:pPr>
            <a:r>
              <a:rPr lang="en-US" altLang="zh-CN" sz="2000" dirty="0" smtClean="0"/>
              <a:t>F</a:t>
            </a:r>
            <a:r>
              <a:rPr lang="zh-CN" altLang="zh-CN" sz="2000" dirty="0"/>
              <a:t>←</a:t>
            </a:r>
            <a:r>
              <a:rPr lang="en-US" altLang="zh-CN" sz="2000" dirty="0"/>
              <a:t>F-{A</a:t>
            </a:r>
            <a:r>
              <a:rPr lang="zh-CN" altLang="zh-CN" sz="2000" dirty="0"/>
              <a:t>→</a:t>
            </a:r>
            <a:r>
              <a:rPr lang="en-US" altLang="zh-CN" sz="2000" dirty="0"/>
              <a:t>B,A</a:t>
            </a:r>
            <a:r>
              <a:rPr lang="zh-CN" altLang="zh-CN" sz="2000" dirty="0"/>
              <a:t>→</a:t>
            </a:r>
            <a:r>
              <a:rPr lang="en-US" altLang="zh-CN" sz="2000" dirty="0"/>
              <a:t>C}={C</a:t>
            </a:r>
            <a:r>
              <a:rPr lang="zh-CN" altLang="zh-CN" sz="2000" dirty="0"/>
              <a:t>→</a:t>
            </a:r>
            <a:r>
              <a:rPr lang="en-US" altLang="zh-CN" sz="2000" dirty="0"/>
              <a:t>D}</a:t>
            </a:r>
            <a:r>
              <a:rPr lang="zh-CN" altLang="zh-CN" sz="2000" dirty="0"/>
              <a:t>。</a:t>
            </a:r>
          </a:p>
          <a:p>
            <a:pPr marL="0" indent="0">
              <a:buNone/>
            </a:pPr>
            <a:r>
              <a:rPr lang="zh-CN" altLang="zh-CN" sz="2000" dirty="0"/>
              <a:t>（</a:t>
            </a:r>
            <a:r>
              <a:rPr lang="en-US" altLang="zh-CN" sz="2000" dirty="0"/>
              <a:t>6</a:t>
            </a:r>
            <a:r>
              <a:rPr lang="zh-CN" altLang="zh-CN" sz="2000" dirty="0"/>
              <a:t>）因为</a:t>
            </a:r>
            <a:r>
              <a:rPr lang="en-US" altLang="zh-CN" sz="2000" dirty="0"/>
              <a:t>F</a:t>
            </a:r>
            <a:r>
              <a:rPr lang="zh-CN" altLang="zh-CN" sz="2000" dirty="0"/>
              <a:t>≠</a:t>
            </a:r>
            <a:r>
              <a:rPr lang="en-US" altLang="zh-CN" sz="2000" dirty="0">
                <a:sym typeface="Symbol"/>
              </a:rPr>
              <a:t></a:t>
            </a:r>
            <a:r>
              <a:rPr lang="zh-CN" altLang="zh-CN" sz="2000" dirty="0"/>
              <a:t>，同理构造：</a:t>
            </a:r>
            <a:r>
              <a:rPr lang="en-US" altLang="zh-CN" sz="2000" dirty="0"/>
              <a:t>R</a:t>
            </a:r>
            <a:r>
              <a:rPr lang="en-US" altLang="zh-CN" sz="2000" baseline="-25000" dirty="0"/>
              <a:t>3</a:t>
            </a:r>
            <a:r>
              <a:rPr lang="en-US" altLang="zh-CN" sz="2000" dirty="0"/>
              <a:t>(C,D)</a:t>
            </a:r>
            <a:r>
              <a:rPr lang="zh-CN" altLang="zh-CN" sz="2000" dirty="0"/>
              <a:t>，且：</a:t>
            </a:r>
          </a:p>
          <a:p>
            <a:pPr marL="625475" indent="0">
              <a:buNone/>
            </a:pPr>
            <a:r>
              <a:rPr lang="en-US" altLang="zh-CN" sz="2000" dirty="0">
                <a:latin typeface="Kunstler Script" pitchFamily="66" charset="0"/>
              </a:rPr>
              <a:t>R </a:t>
            </a:r>
            <a:r>
              <a:rPr lang="en-US" altLang="zh-CN" sz="2000" dirty="0"/>
              <a:t> = </a:t>
            </a:r>
            <a:r>
              <a:rPr lang="en-US" altLang="zh-CN" sz="2000" dirty="0">
                <a:latin typeface="Kunstler Script" pitchFamily="66" charset="0"/>
              </a:rPr>
              <a:t>R</a:t>
            </a:r>
            <a:r>
              <a:rPr lang="en-US" altLang="zh-CN" sz="2000" dirty="0"/>
              <a:t>  </a:t>
            </a:r>
            <a:r>
              <a:rPr lang="zh-CN" altLang="zh-CN" sz="2000" dirty="0"/>
              <a:t>∪</a:t>
            </a:r>
            <a:r>
              <a:rPr lang="en-US" altLang="zh-CN" sz="2000" dirty="0"/>
              <a:t>{R</a:t>
            </a:r>
            <a:r>
              <a:rPr lang="en-US" altLang="zh-CN" sz="2000" baseline="-25000" dirty="0"/>
              <a:t>1</a:t>
            </a:r>
            <a:r>
              <a:rPr lang="en-US" altLang="zh-CN" sz="2000" dirty="0"/>
              <a:t>({E},</a:t>
            </a:r>
            <a:r>
              <a:rPr lang="en-US" altLang="zh-CN" sz="2000" dirty="0">
                <a:sym typeface="Symbol"/>
              </a:rPr>
              <a:t></a:t>
            </a:r>
            <a:r>
              <a:rPr lang="en-US" altLang="zh-CN" sz="2000" dirty="0"/>
              <a:t>)}</a:t>
            </a:r>
            <a:r>
              <a:rPr lang="zh-CN" altLang="zh-CN" sz="2000" dirty="0"/>
              <a:t>∪</a:t>
            </a:r>
            <a:r>
              <a:rPr lang="en-US" altLang="zh-CN" sz="2000" dirty="0"/>
              <a:t>{R</a:t>
            </a:r>
            <a:r>
              <a:rPr lang="en-US" altLang="zh-CN" sz="2000" baseline="-25000" dirty="0"/>
              <a:t>2</a:t>
            </a:r>
            <a:r>
              <a:rPr lang="en-US" altLang="zh-CN" sz="2000" dirty="0"/>
              <a:t>({A,B,C},{A</a:t>
            </a:r>
            <a:r>
              <a:rPr lang="zh-CN" altLang="zh-CN" sz="2000" dirty="0"/>
              <a:t>→</a:t>
            </a:r>
            <a:r>
              <a:rPr lang="en-US" altLang="zh-CN" sz="2000" dirty="0"/>
              <a:t>B,A</a:t>
            </a:r>
            <a:r>
              <a:rPr lang="zh-CN" altLang="zh-CN" sz="2000" dirty="0"/>
              <a:t>→</a:t>
            </a:r>
            <a:r>
              <a:rPr lang="en-US" altLang="zh-CN" sz="2000" dirty="0"/>
              <a:t>C})}</a:t>
            </a:r>
            <a:r>
              <a:rPr lang="zh-CN" altLang="zh-CN" sz="2000" dirty="0"/>
              <a:t>∪</a:t>
            </a:r>
            <a:r>
              <a:rPr lang="en-US" altLang="zh-CN" sz="2000" dirty="0"/>
              <a:t>{R</a:t>
            </a:r>
            <a:r>
              <a:rPr lang="en-US" altLang="zh-CN" sz="2000" baseline="-25000" dirty="0"/>
              <a:t>3</a:t>
            </a:r>
            <a:r>
              <a:rPr lang="en-US" altLang="zh-CN" sz="2000" dirty="0"/>
              <a:t>({C,D},{C</a:t>
            </a:r>
            <a:r>
              <a:rPr lang="zh-CN" altLang="zh-CN" sz="2000" dirty="0"/>
              <a:t>→</a:t>
            </a:r>
            <a:r>
              <a:rPr lang="en-US" altLang="zh-CN" sz="2000" dirty="0"/>
              <a:t>D})}</a:t>
            </a:r>
            <a:endParaRPr lang="zh-CN" altLang="zh-CN" sz="2000" dirty="0"/>
          </a:p>
          <a:p>
            <a:r>
              <a:rPr lang="zh-CN" altLang="zh-CN" sz="2000" dirty="0"/>
              <a:t>显然，</a:t>
            </a:r>
            <a:r>
              <a:rPr lang="en-US" altLang="zh-CN" sz="2000" dirty="0">
                <a:solidFill>
                  <a:srgbClr val="0000FF"/>
                </a:solidFill>
                <a:latin typeface="Kunstler Script" pitchFamily="66" charset="0"/>
              </a:rPr>
              <a:t>R </a:t>
            </a:r>
            <a:r>
              <a:rPr lang="zh-CN" altLang="zh-CN" sz="2000" dirty="0">
                <a:solidFill>
                  <a:srgbClr val="0000FF"/>
                </a:solidFill>
              </a:rPr>
              <a:t>是</a:t>
            </a:r>
            <a:r>
              <a:rPr lang="en-US" altLang="zh-CN" sz="2000" dirty="0">
                <a:solidFill>
                  <a:srgbClr val="0000FF"/>
                </a:solidFill>
              </a:rPr>
              <a:t>R(U,F)</a:t>
            </a:r>
            <a:r>
              <a:rPr lang="zh-CN" altLang="zh-CN" sz="2000" dirty="0">
                <a:solidFill>
                  <a:srgbClr val="0000FF"/>
                </a:solidFill>
              </a:rPr>
              <a:t>的</a:t>
            </a:r>
            <a:r>
              <a:rPr lang="en-US" altLang="zh-CN" sz="2000" dirty="0">
                <a:solidFill>
                  <a:srgbClr val="0000FF"/>
                </a:solidFill>
              </a:rPr>
              <a:t>3NF</a:t>
            </a:r>
            <a:r>
              <a:rPr lang="zh-CN" altLang="zh-CN" sz="2000" dirty="0">
                <a:solidFill>
                  <a:srgbClr val="0000FF"/>
                </a:solidFill>
              </a:rPr>
              <a:t>保依赖分解</a:t>
            </a:r>
            <a:r>
              <a:rPr lang="zh-CN" altLang="zh-CN" sz="2000" dirty="0"/>
              <a:t>。</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85234614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84</a:t>
            </a:fld>
            <a:endParaRPr lang="zh-CN" altLang="en-US" dirty="0"/>
          </a:p>
        </p:txBody>
      </p:sp>
      <p:sp>
        <p:nvSpPr>
          <p:cNvPr id="7" name="文本占位符 6"/>
          <p:cNvSpPr>
            <a:spLocks noGrp="1"/>
          </p:cNvSpPr>
          <p:nvPr>
            <p:ph type="body" idx="1"/>
          </p:nvPr>
        </p:nvSpPr>
        <p:spPr>
          <a:xfrm>
            <a:off x="539552" y="836713"/>
            <a:ext cx="7920880" cy="5112568"/>
          </a:xfrm>
        </p:spPr>
        <p:txBody>
          <a:bodyPr>
            <a:noAutofit/>
          </a:bodyPr>
          <a:lstStyle/>
          <a:p>
            <a:r>
              <a:rPr lang="zh-CN" altLang="zh-CN" sz="2000" dirty="0">
                <a:solidFill>
                  <a:srgbClr val="0000FF"/>
                </a:solidFill>
              </a:rPr>
              <a:t>算法</a:t>
            </a:r>
            <a:r>
              <a:rPr lang="en-US" altLang="zh-CN" sz="2000" dirty="0">
                <a:solidFill>
                  <a:srgbClr val="0000FF"/>
                </a:solidFill>
              </a:rPr>
              <a:t>6.6  </a:t>
            </a:r>
            <a:r>
              <a:rPr lang="en-US" altLang="zh-CN" sz="2000" dirty="0"/>
              <a:t>3NF</a:t>
            </a:r>
            <a:r>
              <a:rPr lang="zh-CN" altLang="zh-CN" sz="2000" dirty="0"/>
              <a:t>分解的</a:t>
            </a:r>
            <a:r>
              <a:rPr lang="zh-CN" altLang="zh-CN" sz="2000" dirty="0">
                <a:solidFill>
                  <a:srgbClr val="0000FF"/>
                </a:solidFill>
              </a:rPr>
              <a:t>既保连接又保依赖算法</a:t>
            </a:r>
            <a:r>
              <a:rPr lang="zh-CN" altLang="zh-CN" sz="2000" dirty="0"/>
              <a:t>。</a:t>
            </a:r>
          </a:p>
          <a:p>
            <a:r>
              <a:rPr lang="en-US" altLang="zh-CN" sz="2000" dirty="0"/>
              <a:t>R(U,F)</a:t>
            </a:r>
            <a:r>
              <a:rPr lang="zh-CN" altLang="zh-CN" sz="2000" dirty="0"/>
              <a:t>的</a:t>
            </a:r>
            <a:r>
              <a:rPr lang="en-US" altLang="zh-CN" sz="2000" dirty="0">
                <a:solidFill>
                  <a:srgbClr val="0000FF"/>
                </a:solidFill>
              </a:rPr>
              <a:t>3NF</a:t>
            </a:r>
            <a:r>
              <a:rPr lang="zh-CN" altLang="zh-CN" sz="2000" dirty="0">
                <a:solidFill>
                  <a:srgbClr val="0000FF"/>
                </a:solidFill>
              </a:rPr>
              <a:t>保连接保依赖分解</a:t>
            </a:r>
            <a:r>
              <a:rPr lang="zh-CN" altLang="zh-CN" sz="2000" dirty="0"/>
              <a:t>如下：</a:t>
            </a:r>
          </a:p>
          <a:p>
            <a:pPr marL="0" indent="0">
              <a:buNone/>
            </a:pPr>
            <a:r>
              <a:rPr lang="zh-CN" altLang="zh-CN" sz="2000" dirty="0"/>
              <a:t>（</a:t>
            </a:r>
            <a:r>
              <a:rPr lang="en-US" altLang="zh-CN" sz="2000" dirty="0"/>
              <a:t>1</a:t>
            </a:r>
            <a:r>
              <a:rPr lang="zh-CN" altLang="zh-CN" sz="2000" dirty="0"/>
              <a:t>）根据算法</a:t>
            </a:r>
            <a:r>
              <a:rPr lang="en-US" altLang="zh-CN" sz="2000" dirty="0"/>
              <a:t>6.5</a:t>
            </a:r>
            <a:r>
              <a:rPr lang="zh-CN" altLang="zh-CN" sz="2000" dirty="0"/>
              <a:t>计算</a:t>
            </a:r>
            <a:r>
              <a:rPr lang="en-US" altLang="zh-CN" sz="2000" dirty="0"/>
              <a:t>R(U,F)</a:t>
            </a:r>
            <a:r>
              <a:rPr lang="zh-CN" altLang="zh-CN" sz="2000" dirty="0"/>
              <a:t>的</a:t>
            </a:r>
            <a:r>
              <a:rPr lang="en-US" altLang="zh-CN" sz="2000" dirty="0"/>
              <a:t>3NF</a:t>
            </a:r>
            <a:r>
              <a:rPr lang="zh-CN" altLang="zh-CN" sz="2000" dirty="0"/>
              <a:t>保依赖分解：</a:t>
            </a:r>
          </a:p>
          <a:p>
            <a:pPr marL="985838" indent="0">
              <a:buNone/>
            </a:pPr>
            <a:r>
              <a:rPr lang="en-US" altLang="zh-CN" sz="2000" dirty="0">
                <a:latin typeface="Kunstler Script" pitchFamily="66" charset="0"/>
              </a:rPr>
              <a:t>R </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endParaRPr lang="zh-CN" altLang="zh-CN" sz="2000" dirty="0"/>
          </a:p>
          <a:p>
            <a:pPr marL="0" indent="0">
              <a:buNone/>
            </a:pPr>
            <a:r>
              <a:rPr lang="zh-CN" altLang="zh-CN" sz="2000" dirty="0"/>
              <a:t>（</a:t>
            </a:r>
            <a:r>
              <a:rPr lang="en-US" altLang="zh-CN" sz="2000" dirty="0"/>
              <a:t>2</a:t>
            </a:r>
            <a:r>
              <a:rPr lang="zh-CN" altLang="zh-CN" sz="2000" dirty="0"/>
              <a:t>）选择</a:t>
            </a:r>
            <a:r>
              <a:rPr lang="en-US" altLang="zh-CN" sz="2000" dirty="0"/>
              <a:t>R(U,F)</a:t>
            </a:r>
            <a:r>
              <a:rPr lang="zh-CN" altLang="zh-CN" sz="2000" dirty="0"/>
              <a:t>的候选键</a:t>
            </a:r>
            <a:r>
              <a:rPr lang="en-US" altLang="zh-CN" sz="2000" dirty="0"/>
              <a:t>X</a:t>
            </a:r>
            <a:r>
              <a:rPr lang="zh-CN" altLang="zh-CN" sz="2000" dirty="0"/>
              <a:t>。</a:t>
            </a:r>
          </a:p>
          <a:p>
            <a:pPr marL="0" indent="0">
              <a:buNone/>
            </a:pPr>
            <a:r>
              <a:rPr lang="zh-CN" altLang="zh-CN" sz="2000" dirty="0"/>
              <a:t>（</a:t>
            </a:r>
            <a:r>
              <a:rPr lang="en-US" altLang="zh-CN" sz="2000" dirty="0"/>
              <a:t>3</a:t>
            </a:r>
            <a:r>
              <a:rPr lang="zh-CN" altLang="zh-CN" sz="2000" dirty="0"/>
              <a:t>）如果</a:t>
            </a:r>
            <a:r>
              <a:rPr lang="en-US" altLang="zh-CN" sz="2000" dirty="0"/>
              <a:t> </a:t>
            </a:r>
            <a:r>
              <a:rPr lang="en-US" altLang="zh-CN" sz="2000" dirty="0" err="1"/>
              <a:t>U</a:t>
            </a:r>
            <a:r>
              <a:rPr lang="en-US" altLang="zh-CN" sz="2000" baseline="-25000" dirty="0" err="1"/>
              <a:t>i</a:t>
            </a:r>
            <a:r>
              <a:rPr lang="zh-CN" altLang="zh-CN" sz="2000" dirty="0"/>
              <a:t>，使得</a:t>
            </a:r>
            <a:r>
              <a:rPr lang="en-US" altLang="zh-CN" sz="2000" dirty="0" err="1"/>
              <a:t>X</a:t>
            </a:r>
            <a:r>
              <a:rPr lang="en-US" altLang="zh-CN" sz="2000" dirty="0" err="1">
                <a:sym typeface="Symbol"/>
              </a:rPr>
              <a:t></a:t>
            </a:r>
            <a:r>
              <a:rPr lang="en-US" altLang="zh-CN" sz="2000" dirty="0" err="1"/>
              <a:t>U</a:t>
            </a:r>
            <a:r>
              <a:rPr lang="en-US" altLang="zh-CN" sz="2000" baseline="-25000" dirty="0" err="1"/>
              <a:t>i</a:t>
            </a:r>
            <a:r>
              <a:rPr lang="zh-CN" altLang="zh-CN" sz="2000" dirty="0"/>
              <a:t>，则输出</a:t>
            </a:r>
            <a:r>
              <a:rPr lang="en-US" altLang="zh-CN" sz="2000" dirty="0">
                <a:latin typeface="Kunstler Script" pitchFamily="66" charset="0"/>
              </a:rPr>
              <a:t>R </a:t>
            </a:r>
            <a:r>
              <a:rPr lang="en-US" altLang="zh-CN" sz="2000" dirty="0"/>
              <a:t> </a:t>
            </a:r>
            <a:r>
              <a:rPr lang="zh-CN" altLang="zh-CN" sz="2000" dirty="0"/>
              <a:t>，结束。</a:t>
            </a:r>
          </a:p>
          <a:p>
            <a:pPr marL="0" indent="0">
              <a:buNone/>
            </a:pPr>
            <a:r>
              <a:rPr lang="zh-CN" altLang="zh-CN" sz="2000" dirty="0"/>
              <a:t>（</a:t>
            </a:r>
            <a:r>
              <a:rPr lang="en-US" altLang="zh-CN" sz="2000" dirty="0"/>
              <a:t>4</a:t>
            </a:r>
            <a:r>
              <a:rPr lang="zh-CN" altLang="zh-CN" sz="2000" dirty="0"/>
              <a:t>）</a:t>
            </a:r>
            <a:r>
              <a:rPr lang="en-US" altLang="zh-CN" sz="2000" dirty="0">
                <a:latin typeface="Kunstler Script" pitchFamily="66" charset="0"/>
              </a:rPr>
              <a:t>R</a:t>
            </a:r>
            <a:r>
              <a:rPr lang="en-US" altLang="zh-CN" sz="2000" dirty="0"/>
              <a:t>  = </a:t>
            </a:r>
            <a:r>
              <a:rPr lang="en-US" altLang="zh-CN" sz="2000" dirty="0">
                <a:latin typeface="Kunstler Script" pitchFamily="66" charset="0"/>
              </a:rPr>
              <a:t>R</a:t>
            </a:r>
            <a:r>
              <a:rPr lang="en-US" altLang="zh-CN" sz="2000" dirty="0"/>
              <a:t>  </a:t>
            </a:r>
            <a:r>
              <a:rPr lang="zh-CN" altLang="zh-CN" sz="2000" dirty="0"/>
              <a:t>∪</a:t>
            </a:r>
            <a:r>
              <a:rPr lang="en-US" altLang="zh-CN" sz="2000" dirty="0"/>
              <a:t>{R</a:t>
            </a:r>
            <a:r>
              <a:rPr lang="en-US" altLang="zh-CN" sz="2000" baseline="-25000" dirty="0"/>
              <a:t>x</a:t>
            </a:r>
            <a:r>
              <a:rPr lang="en-US" altLang="zh-CN" sz="2000" dirty="0"/>
              <a:t>(X, </a:t>
            </a:r>
            <a:r>
              <a:rPr lang="en-US" altLang="zh-CN" sz="2000" dirty="0" err="1"/>
              <a:t>F</a:t>
            </a:r>
            <a:r>
              <a:rPr lang="en-US" altLang="zh-CN" sz="2000" baseline="-25000" dirty="0" err="1"/>
              <a:t>x</a:t>
            </a:r>
            <a:r>
              <a:rPr lang="en-US" altLang="zh-CN" sz="2000" dirty="0"/>
              <a:t>)}</a:t>
            </a:r>
            <a:r>
              <a:rPr lang="zh-CN" altLang="zh-CN" sz="2000" dirty="0"/>
              <a:t>，输出</a:t>
            </a:r>
            <a:r>
              <a:rPr lang="en-US" altLang="zh-CN" sz="2000" dirty="0">
                <a:latin typeface="Kunstler Script" pitchFamily="66" charset="0"/>
              </a:rPr>
              <a:t>R</a:t>
            </a:r>
            <a:r>
              <a:rPr lang="en-US" altLang="zh-CN" sz="2000" dirty="0"/>
              <a:t>  </a:t>
            </a:r>
            <a:r>
              <a:rPr lang="zh-CN" altLang="zh-CN" sz="2000" dirty="0"/>
              <a:t>，结束</a:t>
            </a:r>
            <a:r>
              <a:rPr lang="zh-CN" altLang="zh-CN" sz="2000" dirty="0" smtClean="0"/>
              <a:t>。</a:t>
            </a:r>
            <a:endParaRPr lang="en-US" altLang="zh-CN" sz="2000" dirty="0">
              <a:latin typeface="Kunstler Script" pitchFamily="66" charset="0"/>
            </a:endParaRPr>
          </a:p>
          <a:p>
            <a:r>
              <a:rPr lang="zh-CN" altLang="zh-CN" sz="2000" dirty="0">
                <a:solidFill>
                  <a:srgbClr val="0000FF"/>
                </a:solidFill>
              </a:rPr>
              <a:t>定理</a:t>
            </a:r>
            <a:r>
              <a:rPr lang="en-US" altLang="zh-CN" sz="2000" dirty="0">
                <a:solidFill>
                  <a:srgbClr val="0000FF"/>
                </a:solidFill>
              </a:rPr>
              <a:t>6.3  </a:t>
            </a:r>
            <a:r>
              <a:rPr lang="zh-CN" altLang="zh-CN" sz="2000" dirty="0"/>
              <a:t>算法</a:t>
            </a:r>
            <a:r>
              <a:rPr lang="en-US" altLang="zh-CN" sz="2000" dirty="0"/>
              <a:t>6.6</a:t>
            </a:r>
            <a:r>
              <a:rPr lang="zh-CN" altLang="zh-CN" sz="2000" dirty="0"/>
              <a:t>可以进行</a:t>
            </a:r>
            <a:r>
              <a:rPr lang="en-US" altLang="zh-CN" sz="2000" dirty="0"/>
              <a:t>3NF</a:t>
            </a:r>
            <a:r>
              <a:rPr lang="zh-CN" altLang="zh-CN" sz="2000" dirty="0"/>
              <a:t>保连接保依赖分解</a:t>
            </a:r>
            <a:r>
              <a:rPr lang="zh-CN" altLang="zh-CN" sz="2000" dirty="0" smtClean="0"/>
              <a:t>。</a:t>
            </a:r>
            <a:endParaRPr lang="zh-CN" altLang="zh-CN" sz="20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4093524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85</a:t>
            </a:fld>
            <a:endParaRPr lang="zh-CN" altLang="en-US" dirty="0"/>
          </a:p>
        </p:txBody>
      </p:sp>
      <p:sp>
        <p:nvSpPr>
          <p:cNvPr id="7" name="文本占位符 6"/>
          <p:cNvSpPr>
            <a:spLocks noGrp="1"/>
          </p:cNvSpPr>
          <p:nvPr>
            <p:ph type="body" idx="1"/>
          </p:nvPr>
        </p:nvSpPr>
        <p:spPr>
          <a:xfrm>
            <a:off x="467544" y="764705"/>
            <a:ext cx="8136904" cy="5400600"/>
          </a:xfrm>
        </p:spPr>
        <p:txBody>
          <a:bodyPr>
            <a:noAutofit/>
          </a:bodyPr>
          <a:lstStyle/>
          <a:p>
            <a:r>
              <a:rPr lang="zh-CN" altLang="zh-CN" sz="2000" dirty="0">
                <a:solidFill>
                  <a:srgbClr val="0000FF"/>
                </a:solidFill>
              </a:rPr>
              <a:t>例</a:t>
            </a:r>
            <a:r>
              <a:rPr lang="en-US" altLang="zh-CN" sz="2000" dirty="0">
                <a:solidFill>
                  <a:srgbClr val="0000FF"/>
                </a:solidFill>
              </a:rPr>
              <a:t>6.25  </a:t>
            </a:r>
            <a:r>
              <a:rPr lang="zh-CN" altLang="zh-CN" sz="2000" dirty="0"/>
              <a:t>对于</a:t>
            </a:r>
            <a:r>
              <a:rPr lang="en-US" altLang="zh-CN" sz="2000" dirty="0"/>
              <a:t>R(U,F)</a:t>
            </a:r>
            <a:r>
              <a:rPr lang="zh-CN" altLang="zh-CN" sz="2000" dirty="0"/>
              <a:t>，</a:t>
            </a:r>
            <a:r>
              <a:rPr lang="en-US" altLang="zh-CN" sz="2000" dirty="0"/>
              <a:t>U={A,B,C,D,E,G,H}</a:t>
            </a:r>
            <a:r>
              <a:rPr lang="zh-CN" altLang="zh-CN" sz="2000" dirty="0"/>
              <a:t>，</a:t>
            </a:r>
            <a:r>
              <a:rPr lang="en-US" altLang="zh-CN" sz="2000" dirty="0"/>
              <a:t>F={A</a:t>
            </a:r>
            <a:r>
              <a:rPr lang="zh-CN" altLang="zh-CN" sz="2000" dirty="0"/>
              <a:t>→</a:t>
            </a:r>
            <a:r>
              <a:rPr lang="en-US" altLang="zh-CN" sz="2000" dirty="0"/>
              <a:t>B,C</a:t>
            </a:r>
            <a:r>
              <a:rPr lang="zh-CN" altLang="zh-CN" sz="2000" dirty="0"/>
              <a:t>→</a:t>
            </a:r>
            <a:r>
              <a:rPr lang="en-US" altLang="zh-CN" sz="2000" dirty="0"/>
              <a:t>D,G</a:t>
            </a:r>
            <a:r>
              <a:rPr lang="zh-CN" altLang="zh-CN" sz="2000" dirty="0"/>
              <a:t>→</a:t>
            </a:r>
            <a:r>
              <a:rPr lang="en-US" altLang="zh-CN" sz="2000" dirty="0"/>
              <a:t>H}</a:t>
            </a:r>
            <a:r>
              <a:rPr lang="zh-CN" altLang="zh-CN" sz="2000" dirty="0"/>
              <a:t>，则</a:t>
            </a:r>
            <a:r>
              <a:rPr lang="en-US" altLang="zh-CN" sz="2000" dirty="0"/>
              <a:t>R</a:t>
            </a:r>
            <a:r>
              <a:rPr lang="zh-CN" altLang="zh-CN" sz="2000" dirty="0"/>
              <a:t>可以进行</a:t>
            </a:r>
            <a:r>
              <a:rPr lang="en-US" altLang="zh-CN" sz="2000" dirty="0"/>
              <a:t>3NF</a:t>
            </a:r>
            <a:r>
              <a:rPr lang="zh-CN" altLang="zh-CN" sz="2000" dirty="0"/>
              <a:t>保连接保依赖分解。</a:t>
            </a:r>
          </a:p>
          <a:p>
            <a:r>
              <a:rPr lang="zh-CN" altLang="zh-CN" sz="2000" dirty="0">
                <a:solidFill>
                  <a:srgbClr val="0000FF"/>
                </a:solidFill>
              </a:rPr>
              <a:t>分析：</a:t>
            </a:r>
          </a:p>
          <a:p>
            <a:pPr marL="0" indent="0">
              <a:buNone/>
            </a:pPr>
            <a:r>
              <a:rPr lang="zh-CN" altLang="zh-CN" sz="2000" dirty="0"/>
              <a:t>（</a:t>
            </a:r>
            <a:r>
              <a:rPr lang="en-US" altLang="zh-CN" sz="2000" dirty="0"/>
              <a:t>1</a:t>
            </a:r>
            <a:r>
              <a:rPr lang="zh-CN" altLang="zh-CN" sz="2000" dirty="0"/>
              <a:t>）根据算法</a:t>
            </a:r>
            <a:r>
              <a:rPr lang="en-US" altLang="zh-CN" sz="2000" dirty="0"/>
              <a:t>6.5</a:t>
            </a:r>
            <a:r>
              <a:rPr lang="zh-CN" altLang="zh-CN" sz="2000" dirty="0"/>
              <a:t>，计算</a:t>
            </a:r>
            <a:r>
              <a:rPr lang="en-US" altLang="zh-CN" sz="2000" dirty="0"/>
              <a:t>R(U,F)</a:t>
            </a:r>
            <a:r>
              <a:rPr lang="zh-CN" altLang="zh-CN" sz="2000" dirty="0"/>
              <a:t>的</a:t>
            </a:r>
            <a:r>
              <a:rPr lang="en-US" altLang="zh-CN" sz="2000" dirty="0"/>
              <a:t>3NF</a:t>
            </a:r>
            <a:r>
              <a:rPr lang="zh-CN" altLang="zh-CN" sz="2000" dirty="0"/>
              <a:t>保依赖分解：</a:t>
            </a:r>
          </a:p>
          <a:p>
            <a:pPr marL="985838" indent="0">
              <a:buNone/>
            </a:pPr>
            <a:r>
              <a:rPr lang="en-US" altLang="zh-CN" sz="2000" dirty="0">
                <a:latin typeface="Kunstler Script" pitchFamily="66" charset="0"/>
              </a:rPr>
              <a:t>R </a:t>
            </a:r>
            <a:r>
              <a:rPr lang="en-US" altLang="zh-CN" sz="2000" dirty="0"/>
              <a:t> {R</a:t>
            </a:r>
            <a:r>
              <a:rPr lang="en-US" altLang="zh-CN" sz="2000" baseline="-25000" dirty="0"/>
              <a:t>1</a:t>
            </a:r>
            <a:r>
              <a:rPr lang="en-US" altLang="zh-CN" sz="2000" dirty="0"/>
              <a:t>({A,B},{A</a:t>
            </a:r>
            <a:r>
              <a:rPr lang="zh-CN" altLang="zh-CN" sz="2000" dirty="0"/>
              <a:t>→</a:t>
            </a:r>
            <a:r>
              <a:rPr lang="en-US" altLang="zh-CN" sz="2000" dirty="0"/>
              <a:t>B})</a:t>
            </a:r>
            <a:r>
              <a:rPr lang="zh-CN" altLang="zh-CN" sz="2000" dirty="0"/>
              <a:t>，</a:t>
            </a:r>
            <a:r>
              <a:rPr lang="en-US" altLang="zh-CN" sz="2000" dirty="0"/>
              <a:t>R</a:t>
            </a:r>
            <a:r>
              <a:rPr lang="en-US" altLang="zh-CN" sz="2000" baseline="-25000" dirty="0"/>
              <a:t>2</a:t>
            </a:r>
            <a:r>
              <a:rPr lang="en-US" altLang="zh-CN" sz="2000" dirty="0"/>
              <a:t>({C,D},{C</a:t>
            </a:r>
            <a:r>
              <a:rPr lang="zh-CN" altLang="zh-CN" sz="2000" dirty="0"/>
              <a:t>→</a:t>
            </a:r>
            <a:r>
              <a:rPr lang="en-US" altLang="zh-CN" sz="2000" dirty="0"/>
              <a:t>D}),R</a:t>
            </a:r>
            <a:r>
              <a:rPr lang="en-US" altLang="zh-CN" sz="2000" baseline="-25000" dirty="0"/>
              <a:t>3</a:t>
            </a:r>
            <a:r>
              <a:rPr lang="en-US" altLang="zh-CN" sz="2000" dirty="0"/>
              <a:t>({G,H},{G</a:t>
            </a:r>
            <a:r>
              <a:rPr lang="zh-CN" altLang="zh-CN" sz="2000" dirty="0"/>
              <a:t>→</a:t>
            </a:r>
            <a:r>
              <a:rPr lang="en-US" altLang="zh-CN" sz="2000" dirty="0"/>
              <a:t>H}}</a:t>
            </a:r>
            <a:r>
              <a:rPr lang="zh-CN" altLang="zh-CN" sz="2000" dirty="0"/>
              <a:t>。</a:t>
            </a:r>
          </a:p>
          <a:p>
            <a:pPr marL="0" indent="0">
              <a:buNone/>
            </a:pPr>
            <a:r>
              <a:rPr lang="zh-CN" altLang="zh-CN" sz="2000" dirty="0"/>
              <a:t>（</a:t>
            </a:r>
            <a:r>
              <a:rPr lang="en-US" altLang="zh-CN" sz="2000" dirty="0"/>
              <a:t>2</a:t>
            </a:r>
            <a:r>
              <a:rPr lang="zh-CN" altLang="zh-CN" sz="2000" dirty="0"/>
              <a:t>）选择</a:t>
            </a:r>
            <a:r>
              <a:rPr lang="en-US" altLang="zh-CN" sz="2000" dirty="0"/>
              <a:t>R(U,F)</a:t>
            </a:r>
            <a:r>
              <a:rPr lang="zh-CN" altLang="zh-CN" sz="2000" dirty="0"/>
              <a:t>的候选键</a:t>
            </a:r>
            <a:r>
              <a:rPr lang="en-US" altLang="zh-CN" sz="2000" dirty="0"/>
              <a:t>X=</a:t>
            </a:r>
            <a:r>
              <a:rPr lang="zh-CN" altLang="zh-CN" sz="2000" dirty="0"/>
              <a:t>（</a:t>
            </a:r>
            <a:r>
              <a:rPr lang="en-US" altLang="zh-CN" sz="2000" dirty="0"/>
              <a:t>A,C,E,G</a:t>
            </a:r>
            <a:r>
              <a:rPr lang="zh-CN" altLang="zh-CN" sz="2000" dirty="0"/>
              <a:t>）。</a:t>
            </a:r>
          </a:p>
          <a:p>
            <a:pPr marL="0" indent="0">
              <a:buNone/>
            </a:pPr>
            <a:r>
              <a:rPr lang="zh-CN" altLang="zh-CN" sz="2000" dirty="0"/>
              <a:t>（</a:t>
            </a:r>
            <a:r>
              <a:rPr lang="en-US" altLang="zh-CN" sz="2000" dirty="0"/>
              <a:t>3</a:t>
            </a:r>
            <a:r>
              <a:rPr lang="zh-CN" altLang="zh-CN" sz="2000" dirty="0"/>
              <a:t>）</a:t>
            </a:r>
            <a:r>
              <a:rPr lang="en-US" altLang="zh-CN" sz="2000" dirty="0">
                <a:latin typeface="Kunstler Script" pitchFamily="66" charset="0"/>
              </a:rPr>
              <a:t>R  </a:t>
            </a:r>
            <a:r>
              <a:rPr lang="en-US" altLang="zh-CN" sz="2000" dirty="0"/>
              <a:t>= </a:t>
            </a:r>
            <a:r>
              <a:rPr lang="en-US" altLang="zh-CN" sz="2000" dirty="0">
                <a:latin typeface="Kunstler Script" pitchFamily="66" charset="0"/>
              </a:rPr>
              <a:t>R</a:t>
            </a:r>
            <a:r>
              <a:rPr lang="en-US" altLang="zh-CN" sz="2000" dirty="0"/>
              <a:t>  </a:t>
            </a:r>
            <a:r>
              <a:rPr lang="zh-CN" altLang="zh-CN" sz="2000" dirty="0"/>
              <a:t>∪</a:t>
            </a:r>
            <a:r>
              <a:rPr lang="en-US" altLang="zh-CN" sz="2000" dirty="0"/>
              <a:t>{R</a:t>
            </a:r>
            <a:r>
              <a:rPr lang="en-US" altLang="zh-CN" sz="2000" baseline="-25000" dirty="0"/>
              <a:t>x</a:t>
            </a:r>
            <a:r>
              <a:rPr lang="en-US" altLang="zh-CN" sz="2000" dirty="0"/>
              <a:t>({A,C,E,G},</a:t>
            </a:r>
            <a:r>
              <a:rPr lang="en-US" altLang="zh-CN" sz="2000" dirty="0">
                <a:sym typeface="Symbol"/>
              </a:rPr>
              <a:t></a:t>
            </a:r>
            <a:r>
              <a:rPr lang="en-US" altLang="zh-CN" sz="2000" dirty="0"/>
              <a:t>)}</a:t>
            </a:r>
            <a:r>
              <a:rPr lang="zh-CN" altLang="zh-CN" sz="2000" dirty="0"/>
              <a:t>，输出</a:t>
            </a:r>
            <a:r>
              <a:rPr lang="en-US" altLang="zh-CN" sz="2000" dirty="0">
                <a:latin typeface="Kunstler Script" pitchFamily="66" charset="0"/>
              </a:rPr>
              <a:t>R</a:t>
            </a:r>
            <a:r>
              <a:rPr lang="en-US" altLang="zh-CN" sz="2000" dirty="0"/>
              <a:t>  </a:t>
            </a:r>
            <a:r>
              <a:rPr lang="zh-CN" altLang="zh-CN" sz="2000" dirty="0"/>
              <a:t>，结束。</a:t>
            </a:r>
          </a:p>
          <a:p>
            <a:endParaRPr lang="zh-CN" altLang="zh-CN" sz="2000" dirty="0">
              <a:latin typeface="Kunstler Script" pitchFamily="66" charset="0"/>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45435154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86</a:t>
            </a:fld>
            <a:endParaRPr lang="zh-CN" altLang="en-US" dirty="0"/>
          </a:p>
        </p:txBody>
      </p:sp>
      <p:sp>
        <p:nvSpPr>
          <p:cNvPr id="7" name="文本占位符 6"/>
          <p:cNvSpPr>
            <a:spLocks noGrp="1"/>
          </p:cNvSpPr>
          <p:nvPr>
            <p:ph type="body" idx="1"/>
          </p:nvPr>
        </p:nvSpPr>
        <p:spPr>
          <a:xfrm>
            <a:off x="395536" y="908720"/>
            <a:ext cx="8208912" cy="5040560"/>
          </a:xfrm>
        </p:spPr>
        <p:txBody>
          <a:bodyPr>
            <a:noAutofit/>
          </a:bodyPr>
          <a:lstStyle/>
          <a:p>
            <a:r>
              <a:rPr lang="zh-CN" altLang="zh-CN" sz="2000" dirty="0">
                <a:solidFill>
                  <a:srgbClr val="0000FF"/>
                </a:solidFill>
              </a:rPr>
              <a:t>算法</a:t>
            </a:r>
            <a:r>
              <a:rPr lang="en-US" altLang="zh-CN" sz="2000" dirty="0">
                <a:solidFill>
                  <a:srgbClr val="0000FF"/>
                </a:solidFill>
              </a:rPr>
              <a:t>6.7  </a:t>
            </a:r>
            <a:r>
              <a:rPr lang="en-US" altLang="zh-CN" sz="2000" dirty="0"/>
              <a:t>BCNF</a:t>
            </a:r>
            <a:r>
              <a:rPr lang="zh-CN" altLang="zh-CN" sz="2000" dirty="0"/>
              <a:t>分解的保连接算法。</a:t>
            </a:r>
          </a:p>
          <a:p>
            <a:r>
              <a:rPr lang="en-US" altLang="zh-CN" sz="2000" dirty="0"/>
              <a:t>R(U,F)</a:t>
            </a:r>
            <a:r>
              <a:rPr lang="zh-CN" altLang="zh-CN" sz="2000" dirty="0"/>
              <a:t>的</a:t>
            </a:r>
            <a:r>
              <a:rPr lang="en-US" altLang="zh-CN" sz="2000" dirty="0">
                <a:solidFill>
                  <a:srgbClr val="0000FF"/>
                </a:solidFill>
              </a:rPr>
              <a:t>BCNF</a:t>
            </a:r>
            <a:r>
              <a:rPr lang="zh-CN" altLang="zh-CN" sz="2000" dirty="0">
                <a:solidFill>
                  <a:srgbClr val="0000FF"/>
                </a:solidFill>
              </a:rPr>
              <a:t>保连接分解</a:t>
            </a:r>
            <a:r>
              <a:rPr lang="zh-CN" altLang="zh-CN" sz="2000" dirty="0"/>
              <a:t>如下：</a:t>
            </a:r>
          </a:p>
          <a:p>
            <a:pPr marL="0" indent="0">
              <a:buNone/>
            </a:pPr>
            <a:r>
              <a:rPr lang="zh-CN" altLang="zh-CN" sz="2000" dirty="0"/>
              <a:t>（</a:t>
            </a:r>
            <a:r>
              <a:rPr lang="en-US" altLang="zh-CN" sz="2000" dirty="0"/>
              <a:t>1</a:t>
            </a:r>
            <a:r>
              <a:rPr lang="zh-CN" altLang="zh-CN" sz="2000" dirty="0"/>
              <a:t>）计算</a:t>
            </a:r>
            <a:r>
              <a:rPr lang="en-US" altLang="zh-CN" sz="2000" dirty="0"/>
              <a:t>R(U,F)</a:t>
            </a:r>
            <a:r>
              <a:rPr lang="zh-CN" altLang="zh-CN" sz="2000" dirty="0"/>
              <a:t>的</a:t>
            </a:r>
            <a:r>
              <a:rPr lang="en-US" altLang="zh-CN" sz="2000" dirty="0"/>
              <a:t>3NF</a:t>
            </a:r>
            <a:r>
              <a:rPr lang="zh-CN" altLang="zh-CN" sz="2000" dirty="0"/>
              <a:t>保连接分解：</a:t>
            </a:r>
          </a:p>
          <a:p>
            <a:pPr marL="625475" indent="0">
              <a:buNone/>
            </a:pPr>
            <a:r>
              <a:rPr lang="en-US" altLang="zh-CN" sz="2000" dirty="0">
                <a:latin typeface="Kunstler Script" pitchFamily="66" charset="0"/>
              </a:rPr>
              <a:t>R </a:t>
            </a:r>
            <a:r>
              <a:rPr lang="en-US" altLang="zh-CN" sz="2000" dirty="0"/>
              <a:t> {R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endParaRPr lang="zh-CN" altLang="zh-CN" sz="2000" dirty="0"/>
          </a:p>
          <a:p>
            <a:pPr marL="0" indent="0">
              <a:buNone/>
            </a:pPr>
            <a:r>
              <a:rPr lang="zh-CN" altLang="zh-CN" sz="2000" dirty="0"/>
              <a:t>（</a:t>
            </a:r>
            <a:r>
              <a:rPr lang="en-US" altLang="zh-CN" sz="2000" dirty="0"/>
              <a:t>2</a:t>
            </a:r>
            <a:r>
              <a:rPr lang="zh-CN" altLang="zh-CN" sz="2000" dirty="0"/>
              <a:t>）依次检查</a:t>
            </a:r>
            <a:r>
              <a:rPr lang="en-US" altLang="zh-CN" sz="2000" dirty="0"/>
              <a:t>R  </a:t>
            </a:r>
            <a:r>
              <a:rPr lang="zh-CN" altLang="zh-CN" sz="2000" dirty="0"/>
              <a:t>的</a:t>
            </a:r>
            <a:r>
              <a:rPr lang="en-US" altLang="zh-CN" sz="2000" dirty="0" err="1"/>
              <a:t>R</a:t>
            </a:r>
            <a:r>
              <a:rPr lang="en-US" altLang="zh-CN" sz="2000" baseline="-25000" dirty="0" err="1"/>
              <a:t>i</a:t>
            </a:r>
            <a:r>
              <a:rPr lang="en-US" altLang="zh-CN" sz="2000" dirty="0"/>
              <a:t>(</a:t>
            </a:r>
            <a:r>
              <a:rPr lang="en-US" altLang="zh-CN" sz="2000" dirty="0" err="1"/>
              <a:t>U</a:t>
            </a:r>
            <a:r>
              <a:rPr lang="en-US" altLang="zh-CN" sz="2000" baseline="-25000" dirty="0" err="1"/>
              <a:t>i</a:t>
            </a:r>
            <a:r>
              <a:rPr lang="en-US" altLang="zh-CN" sz="2000" dirty="0" err="1"/>
              <a:t>,F</a:t>
            </a:r>
            <a:r>
              <a:rPr lang="en-US" altLang="zh-CN" sz="2000" baseline="-25000" dirty="0" err="1"/>
              <a:t>i</a:t>
            </a:r>
            <a:r>
              <a:rPr lang="en-US" altLang="zh-CN" sz="2000" dirty="0"/>
              <a:t>)</a:t>
            </a:r>
            <a:r>
              <a:rPr lang="zh-CN" altLang="zh-CN" sz="2000" dirty="0"/>
              <a:t>是否均属于</a:t>
            </a:r>
            <a:r>
              <a:rPr lang="en-US" altLang="zh-CN" sz="2000" dirty="0"/>
              <a:t>BCNF</a:t>
            </a:r>
            <a:r>
              <a:rPr lang="zh-CN" altLang="zh-CN" sz="2000" dirty="0"/>
              <a:t>，如果是，则结束。</a:t>
            </a:r>
          </a:p>
          <a:p>
            <a:pPr marL="625475" indent="-625475">
              <a:buNone/>
            </a:pPr>
            <a:r>
              <a:rPr lang="zh-CN" altLang="zh-CN" sz="2000" dirty="0"/>
              <a:t>（</a:t>
            </a:r>
            <a:r>
              <a:rPr lang="en-US" altLang="zh-CN" sz="2000" dirty="0"/>
              <a:t>3</a:t>
            </a:r>
            <a:r>
              <a:rPr lang="zh-CN" altLang="zh-CN" sz="2000" dirty="0"/>
              <a:t>）</a:t>
            </a:r>
            <a:r>
              <a:rPr lang="en-US" altLang="zh-CN" sz="2000" dirty="0"/>
              <a:t> </a:t>
            </a:r>
            <a:r>
              <a:rPr lang="en-US" altLang="zh-CN" sz="2000" dirty="0" err="1"/>
              <a:t>R</a:t>
            </a:r>
            <a:r>
              <a:rPr lang="en-US" altLang="zh-CN" sz="2000" baseline="-25000" dirty="0" err="1"/>
              <a:t>i</a:t>
            </a:r>
            <a:r>
              <a:rPr lang="en-US" altLang="zh-CN" sz="2000" dirty="0"/>
              <a:t>(</a:t>
            </a:r>
            <a:r>
              <a:rPr lang="en-US" altLang="zh-CN" sz="2000" dirty="0" err="1"/>
              <a:t>U</a:t>
            </a:r>
            <a:r>
              <a:rPr lang="en-US" altLang="zh-CN" sz="2000" baseline="-25000" dirty="0" err="1"/>
              <a:t>i</a:t>
            </a:r>
            <a:r>
              <a:rPr lang="en-US" altLang="zh-CN" sz="2000" dirty="0"/>
              <a:t>, F</a:t>
            </a:r>
            <a:r>
              <a:rPr lang="en-US" altLang="zh-CN" sz="2000" baseline="-25000" dirty="0"/>
              <a:t>i</a:t>
            </a:r>
            <a:r>
              <a:rPr lang="en-US" altLang="zh-CN" sz="2000" dirty="0"/>
              <a:t>)</a:t>
            </a:r>
            <a:r>
              <a:rPr lang="zh-CN" altLang="zh-CN" sz="2000" dirty="0"/>
              <a:t>不属于</a:t>
            </a:r>
            <a:r>
              <a:rPr lang="en-US" altLang="zh-CN" sz="2000" dirty="0"/>
              <a:t>BCNF</a:t>
            </a:r>
            <a:r>
              <a:rPr lang="zh-CN" altLang="zh-CN" sz="2000" dirty="0"/>
              <a:t>，</a:t>
            </a:r>
            <a:r>
              <a:rPr lang="zh-CN" altLang="zh-CN" sz="2000" dirty="0" smtClean="0"/>
              <a:t>则</a:t>
            </a:r>
            <a:r>
              <a:rPr lang="zh-CN" altLang="en-US" sz="2000" dirty="0" smtClean="0"/>
              <a:t>存在</a:t>
            </a:r>
            <a:r>
              <a:rPr lang="en-US" altLang="zh-CN" sz="2000" dirty="0" smtClean="0"/>
              <a:t>X</a:t>
            </a:r>
            <a:r>
              <a:rPr lang="zh-CN" altLang="zh-CN" sz="2000" dirty="0"/>
              <a:t>→</a:t>
            </a:r>
            <a:r>
              <a:rPr lang="en-US" altLang="zh-CN" sz="2000" dirty="0"/>
              <a:t>A  </a:t>
            </a:r>
            <a:r>
              <a:rPr lang="en-US" altLang="zh-CN" sz="2000" dirty="0" smtClean="0"/>
              <a:t>       (</a:t>
            </a:r>
            <a:r>
              <a:rPr lang="en-US" altLang="zh-CN" sz="2000" dirty="0"/>
              <a:t>A </a:t>
            </a:r>
            <a:r>
              <a:rPr lang="en-US" altLang="zh-CN" sz="2000" dirty="0">
                <a:sym typeface="Symbol"/>
              </a:rPr>
              <a:t></a:t>
            </a:r>
            <a:r>
              <a:rPr lang="en-US" altLang="zh-CN" sz="2000" dirty="0"/>
              <a:t> X)</a:t>
            </a:r>
            <a:r>
              <a:rPr lang="zh-CN" altLang="zh-CN" sz="2000" dirty="0"/>
              <a:t>，且</a:t>
            </a:r>
            <a:r>
              <a:rPr lang="en-US" altLang="zh-CN" sz="2000" dirty="0"/>
              <a:t>X</a:t>
            </a:r>
            <a:r>
              <a:rPr lang="zh-CN" altLang="zh-CN" sz="2000" dirty="0"/>
              <a:t>非</a:t>
            </a:r>
            <a:r>
              <a:rPr lang="en-US" altLang="zh-CN" sz="2000" dirty="0" err="1"/>
              <a:t>R</a:t>
            </a:r>
            <a:r>
              <a:rPr lang="en-US" altLang="zh-CN" sz="2000" baseline="-25000" dirty="0" err="1"/>
              <a:t>i</a:t>
            </a:r>
            <a:r>
              <a:rPr lang="zh-CN" altLang="zh-CN" sz="2000" dirty="0"/>
              <a:t>的候选键，因此</a:t>
            </a:r>
            <a:r>
              <a:rPr lang="en-US" altLang="zh-CN" sz="2000" dirty="0"/>
              <a:t>XA </a:t>
            </a:r>
            <a:r>
              <a:rPr lang="en-US" altLang="zh-CN" sz="2000" dirty="0" smtClean="0">
                <a:sym typeface="Symbol"/>
              </a:rPr>
              <a:t></a:t>
            </a:r>
            <a:r>
              <a:rPr lang="en-US" altLang="zh-CN" sz="2000" dirty="0" err="1" smtClean="0"/>
              <a:t>U</a:t>
            </a:r>
            <a:r>
              <a:rPr lang="en-US" altLang="zh-CN" sz="2000" baseline="-25000" dirty="0" err="1" smtClean="0"/>
              <a:t>i</a:t>
            </a:r>
            <a:r>
              <a:rPr lang="zh-CN" altLang="zh-CN" sz="2000" dirty="0"/>
              <a:t>，所以分解</a:t>
            </a:r>
            <a:r>
              <a:rPr lang="en-US" altLang="zh-CN" sz="2000" dirty="0" err="1"/>
              <a:t>R</a:t>
            </a:r>
            <a:r>
              <a:rPr lang="en-US" altLang="zh-CN" sz="2000" baseline="-25000" dirty="0" err="1"/>
              <a:t>i</a:t>
            </a:r>
            <a:r>
              <a:rPr lang="zh-CN" altLang="zh-CN" sz="2000" dirty="0"/>
              <a:t>：</a:t>
            </a:r>
            <a:r>
              <a:rPr lang="en-US" altLang="zh-CN" sz="2000" dirty="0" err="1"/>
              <a:t>R</a:t>
            </a:r>
            <a:r>
              <a:rPr lang="en-US" altLang="zh-CN" sz="2000" baseline="-25000" dirty="0" err="1"/>
              <a:t>i</a:t>
            </a:r>
            <a:r>
              <a:rPr lang="en-US" altLang="zh-CN" sz="2000" dirty="0"/>
              <a:t>={S</a:t>
            </a:r>
            <a:r>
              <a:rPr lang="en-US" altLang="zh-CN" sz="2000" baseline="-25000" dirty="0"/>
              <a:t>1</a:t>
            </a:r>
            <a:r>
              <a:rPr lang="en-US" altLang="zh-CN" sz="2000" dirty="0"/>
              <a:t>,S</a:t>
            </a:r>
            <a:r>
              <a:rPr lang="en-US" altLang="zh-CN" sz="2000" baseline="-25000" dirty="0"/>
              <a:t>2</a:t>
            </a:r>
            <a:r>
              <a:rPr lang="en-US" altLang="zh-CN" sz="2000" dirty="0"/>
              <a:t>},U</a:t>
            </a:r>
            <a:r>
              <a:rPr lang="en-US" altLang="zh-CN" sz="2000" baseline="-25000" dirty="0"/>
              <a:t>S1</a:t>
            </a:r>
            <a:r>
              <a:rPr lang="en-US" altLang="zh-CN" sz="2000" dirty="0"/>
              <a:t>=XA,U</a:t>
            </a:r>
            <a:r>
              <a:rPr lang="en-US" altLang="zh-CN" sz="2000" baseline="-25000" dirty="0"/>
              <a:t>S2</a:t>
            </a:r>
            <a:r>
              <a:rPr lang="en-US" altLang="zh-CN" sz="2000" dirty="0"/>
              <a:t>=</a:t>
            </a:r>
            <a:r>
              <a:rPr lang="en-US" altLang="zh-CN" sz="2000" dirty="0" err="1"/>
              <a:t>U</a:t>
            </a:r>
            <a:r>
              <a:rPr lang="en-US" altLang="zh-CN" sz="2000" baseline="-25000" dirty="0" err="1"/>
              <a:t>i</a:t>
            </a:r>
            <a:r>
              <a:rPr lang="en-US" altLang="zh-CN" sz="2000" dirty="0"/>
              <a:t>-{A}</a:t>
            </a:r>
            <a:r>
              <a:rPr lang="zh-CN" altLang="zh-CN" sz="2000" dirty="0"/>
              <a:t>。</a:t>
            </a:r>
          </a:p>
          <a:p>
            <a:pPr marL="0" indent="0">
              <a:buNone/>
            </a:pPr>
            <a:r>
              <a:rPr lang="zh-CN" altLang="zh-CN" sz="2000" dirty="0"/>
              <a:t>（</a:t>
            </a:r>
            <a:r>
              <a:rPr lang="en-US" altLang="zh-CN" sz="2000" dirty="0"/>
              <a:t>4</a:t>
            </a:r>
            <a:r>
              <a:rPr lang="zh-CN" altLang="zh-CN" sz="2000" dirty="0"/>
              <a:t>）</a:t>
            </a:r>
            <a:r>
              <a:rPr lang="en-US" altLang="zh-CN" sz="2000" dirty="0" err="1"/>
              <a:t>R</a:t>
            </a:r>
            <a:r>
              <a:rPr lang="en-US" altLang="zh-CN" sz="2000" baseline="-25000" dirty="0" err="1"/>
              <a:t>i</a:t>
            </a:r>
            <a:r>
              <a:rPr lang="zh-CN" altLang="zh-CN" sz="2000" dirty="0"/>
              <a:t>←</a:t>
            </a:r>
            <a:r>
              <a:rPr lang="en-US" altLang="zh-CN" sz="2000" dirty="0"/>
              <a:t>{S</a:t>
            </a:r>
            <a:r>
              <a:rPr lang="en-US" altLang="zh-CN" sz="2000" baseline="-25000" dirty="0"/>
              <a:t>1</a:t>
            </a:r>
            <a:r>
              <a:rPr lang="en-US" altLang="zh-CN" sz="2000" dirty="0"/>
              <a:t>,S</a:t>
            </a:r>
            <a:r>
              <a:rPr lang="en-US" altLang="zh-CN" sz="2000" baseline="-25000" dirty="0"/>
              <a:t>2</a:t>
            </a:r>
            <a:r>
              <a:rPr lang="en-US" altLang="zh-CN" sz="2000" dirty="0"/>
              <a:t>}</a:t>
            </a:r>
            <a:r>
              <a:rPr lang="zh-CN" altLang="zh-CN" sz="2000" dirty="0"/>
              <a:t>，转向（</a:t>
            </a:r>
            <a:r>
              <a:rPr lang="en-US" altLang="zh-CN" sz="2000" dirty="0"/>
              <a:t>2</a:t>
            </a:r>
            <a:r>
              <a:rPr lang="zh-CN" altLang="zh-CN" sz="2000" dirty="0"/>
              <a:t>）。</a:t>
            </a:r>
          </a:p>
          <a:p>
            <a:r>
              <a:rPr lang="zh-CN" altLang="zh-CN" sz="2000" dirty="0">
                <a:solidFill>
                  <a:srgbClr val="0000FF"/>
                </a:solidFill>
              </a:rPr>
              <a:t>定理</a:t>
            </a:r>
            <a:r>
              <a:rPr lang="en-US" altLang="zh-CN" sz="2000" dirty="0">
                <a:solidFill>
                  <a:srgbClr val="0000FF"/>
                </a:solidFill>
              </a:rPr>
              <a:t>6.4  </a:t>
            </a:r>
            <a:r>
              <a:rPr lang="zh-CN" altLang="zh-CN" sz="2000" dirty="0"/>
              <a:t>算法</a:t>
            </a:r>
            <a:r>
              <a:rPr lang="en-US" altLang="zh-CN" sz="2000" dirty="0"/>
              <a:t>6.7</a:t>
            </a:r>
            <a:r>
              <a:rPr lang="zh-CN" altLang="zh-CN" sz="2000" dirty="0"/>
              <a:t>可以进行</a:t>
            </a:r>
            <a:r>
              <a:rPr lang="en-US" altLang="zh-CN" sz="2000" dirty="0"/>
              <a:t>BCNF</a:t>
            </a:r>
            <a:r>
              <a:rPr lang="zh-CN" altLang="zh-CN" sz="2000" dirty="0"/>
              <a:t>保连接分解。</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3441781293"/>
              </p:ext>
            </p:extLst>
          </p:nvPr>
        </p:nvGraphicFramePr>
        <p:xfrm>
          <a:off x="5220072" y="3264438"/>
          <a:ext cx="717551" cy="484188"/>
        </p:xfrm>
        <a:graphic>
          <a:graphicData uri="http://schemas.openxmlformats.org/presentationml/2006/ole">
            <mc:AlternateContent xmlns:mc="http://schemas.openxmlformats.org/markup-compatibility/2006">
              <mc:Choice xmlns:v="urn:schemas-microsoft-com:vml" Requires="v">
                <p:oleObj spid="_x0000_s60561" name="公式" r:id="rId3" imgW="368280" imgH="241200" progId="Equation.3">
                  <p:embed/>
                </p:oleObj>
              </mc:Choice>
              <mc:Fallback>
                <p:oleObj name="公式" r:id="rId3" imgW="368280" imgH="241200" progId="Equation.3">
                  <p:embed/>
                  <p:pic>
                    <p:nvPicPr>
                      <p:cNvPr id="0" name="Object 1"/>
                      <p:cNvPicPr>
                        <a:picLocks noChangeAspect="1" noChangeArrowheads="1"/>
                      </p:cNvPicPr>
                      <p:nvPr/>
                    </p:nvPicPr>
                    <p:blipFill>
                      <a:blip r:embed="rId4"/>
                      <a:srcRect/>
                      <a:stretch>
                        <a:fillRect/>
                      </a:stretch>
                    </p:blipFill>
                    <p:spPr bwMode="auto">
                      <a:xfrm>
                        <a:off x="5220072" y="3264438"/>
                        <a:ext cx="717551" cy="484188"/>
                      </a:xfrm>
                      <a:prstGeom prst="rect">
                        <a:avLst/>
                      </a:prstGeom>
                      <a:noFill/>
                    </p:spPr>
                  </p:pic>
                </p:oleObj>
              </mc:Fallback>
            </mc:AlternateContent>
          </a:graphicData>
        </a:graphic>
      </p:graphicFrame>
      <p:cxnSp>
        <p:nvCxnSpPr>
          <p:cNvPr id="19" name="直接连接符 18"/>
          <p:cNvCxnSpPr>
            <a:cxnSpLocks noChangeShapeType="1"/>
          </p:cNvCxnSpPr>
          <p:nvPr/>
        </p:nvCxnSpPr>
        <p:spPr bwMode="auto">
          <a:xfrm>
            <a:off x="6156176" y="3368040"/>
            <a:ext cx="174496" cy="2769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23636149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418058"/>
          </a:xfrm>
        </p:spPr>
        <p:txBody>
          <a:bodyPr>
            <a:normAutofit fontScale="90000"/>
          </a:bodyPr>
          <a:lstStyle/>
          <a:p>
            <a:r>
              <a:rPr lang="en-US" altLang="zh-CN" dirty="0"/>
              <a:t>6.3.6  </a:t>
            </a:r>
            <a:r>
              <a:rPr lang="zh-CN" altLang="zh-CN" dirty="0"/>
              <a:t>关系模式的分解算法</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87</a:t>
            </a:fld>
            <a:endParaRPr lang="zh-CN" altLang="en-US" dirty="0"/>
          </a:p>
        </p:txBody>
      </p:sp>
      <p:sp>
        <p:nvSpPr>
          <p:cNvPr id="7" name="文本占位符 6"/>
          <p:cNvSpPr>
            <a:spLocks noGrp="1"/>
          </p:cNvSpPr>
          <p:nvPr>
            <p:ph type="body" idx="1"/>
          </p:nvPr>
        </p:nvSpPr>
        <p:spPr>
          <a:xfrm>
            <a:off x="143508" y="620688"/>
            <a:ext cx="8856984" cy="5832649"/>
          </a:xfrm>
        </p:spPr>
        <p:txBody>
          <a:bodyPr>
            <a:noAutofit/>
          </a:bodyPr>
          <a:lstStyle/>
          <a:p>
            <a:r>
              <a:rPr lang="zh-CN" altLang="zh-CN" sz="2000" dirty="0"/>
              <a:t>定理</a:t>
            </a:r>
            <a:r>
              <a:rPr lang="en-US" altLang="zh-CN" sz="2000" dirty="0"/>
              <a:t>6.5 </a:t>
            </a:r>
            <a:r>
              <a:rPr lang="zh-CN" altLang="zh-CN" sz="2000" dirty="0"/>
              <a:t>对于</a:t>
            </a:r>
            <a:r>
              <a:rPr lang="en-US" altLang="zh-CN" sz="2000" dirty="0"/>
              <a:t>R(U,F)</a:t>
            </a:r>
            <a:r>
              <a:rPr lang="zh-CN" altLang="zh-CN" sz="2000" dirty="0"/>
              <a:t>，</a:t>
            </a:r>
            <a:r>
              <a:rPr lang="en-US" altLang="zh-CN" sz="2000" dirty="0"/>
              <a:t>X,Y </a:t>
            </a:r>
            <a:r>
              <a:rPr lang="en-US" altLang="zh-CN" sz="2000" dirty="0" smtClean="0">
                <a:sym typeface="Symbol"/>
              </a:rPr>
              <a:t></a:t>
            </a:r>
            <a:r>
              <a:rPr lang="en-US" altLang="zh-CN" sz="2000" dirty="0" smtClean="0"/>
              <a:t>U,Z=U-X-Y</a:t>
            </a:r>
            <a:r>
              <a:rPr lang="zh-CN" altLang="zh-CN" sz="2000" dirty="0"/>
              <a:t>，则</a:t>
            </a:r>
          </a:p>
          <a:p>
            <a:r>
              <a:rPr lang="en-US" altLang="zh-CN" sz="2000" dirty="0"/>
              <a:t>X</a:t>
            </a:r>
            <a:r>
              <a:rPr lang="zh-CN" altLang="zh-CN" sz="2000" dirty="0"/>
              <a:t>→→</a:t>
            </a:r>
            <a:r>
              <a:rPr lang="en-US" altLang="zh-CN" sz="2000" dirty="0"/>
              <a:t>Y</a:t>
            </a:r>
            <a:r>
              <a:rPr lang="zh-CN" altLang="zh-CN" sz="2000" dirty="0"/>
              <a:t>当且仅当</a:t>
            </a:r>
            <a:r>
              <a:rPr lang="en-US" altLang="zh-CN" sz="2000" dirty="0"/>
              <a:t>R(U,F)</a:t>
            </a:r>
            <a:r>
              <a:rPr lang="zh-CN" altLang="zh-CN" sz="2000" dirty="0"/>
              <a:t>的分解</a:t>
            </a:r>
            <a:r>
              <a:rPr lang="en-US" altLang="zh-CN" sz="2000" dirty="0">
                <a:latin typeface="Kunstler Script" pitchFamily="66" charset="0"/>
              </a:rPr>
              <a:t>R</a:t>
            </a:r>
            <a:r>
              <a:rPr lang="en-US" altLang="zh-CN" sz="2000" dirty="0"/>
              <a:t>  {R</a:t>
            </a:r>
            <a:r>
              <a:rPr lang="en-US" altLang="zh-CN" sz="2000" baseline="-25000" dirty="0"/>
              <a:t>1</a:t>
            </a:r>
            <a:r>
              <a:rPr lang="en-US" altLang="zh-CN" sz="2000" dirty="0"/>
              <a:t>(X,Y)</a:t>
            </a:r>
            <a:r>
              <a:rPr lang="zh-CN" altLang="zh-CN" sz="2000" dirty="0"/>
              <a:t>，</a:t>
            </a:r>
            <a:r>
              <a:rPr lang="en-US" altLang="zh-CN" sz="2000" dirty="0"/>
              <a:t>R</a:t>
            </a:r>
            <a:r>
              <a:rPr lang="en-US" altLang="zh-CN" sz="2000" baseline="-25000" dirty="0"/>
              <a:t>2</a:t>
            </a:r>
            <a:r>
              <a:rPr lang="en-US" altLang="zh-CN" sz="2000" dirty="0"/>
              <a:t>(X,Z)}</a:t>
            </a:r>
            <a:r>
              <a:rPr lang="zh-CN" altLang="zh-CN" sz="2000" dirty="0"/>
              <a:t>保连接。</a:t>
            </a:r>
          </a:p>
          <a:p>
            <a:r>
              <a:rPr lang="zh-CN" altLang="zh-CN" sz="2000" dirty="0"/>
              <a:t>算法</a:t>
            </a:r>
            <a:r>
              <a:rPr lang="en-US" altLang="zh-CN" sz="2000" dirty="0"/>
              <a:t>6.8  </a:t>
            </a:r>
            <a:r>
              <a:rPr lang="zh-CN" altLang="zh-CN" sz="2000" dirty="0"/>
              <a:t>模式</a:t>
            </a:r>
            <a:r>
              <a:rPr lang="en-US" altLang="zh-CN" sz="2000" dirty="0"/>
              <a:t>4NF</a:t>
            </a:r>
            <a:r>
              <a:rPr lang="zh-CN" altLang="zh-CN" sz="2000" dirty="0"/>
              <a:t>分解的保连接算法。</a:t>
            </a:r>
          </a:p>
          <a:p>
            <a:r>
              <a:rPr lang="en-US" altLang="zh-CN" sz="2000" dirty="0"/>
              <a:t>R(U,F)</a:t>
            </a:r>
            <a:r>
              <a:rPr lang="zh-CN" altLang="zh-CN" sz="2000" dirty="0"/>
              <a:t>的</a:t>
            </a:r>
            <a:r>
              <a:rPr lang="en-US" altLang="zh-CN" sz="2000" dirty="0"/>
              <a:t>4NF</a:t>
            </a:r>
            <a:r>
              <a:rPr lang="zh-CN" altLang="zh-CN" sz="2000" dirty="0"/>
              <a:t>保连接分解如下：</a:t>
            </a:r>
          </a:p>
          <a:p>
            <a:r>
              <a:rPr lang="zh-CN" altLang="zh-CN" sz="2000" dirty="0"/>
              <a:t>（</a:t>
            </a:r>
            <a:r>
              <a:rPr lang="en-US" altLang="zh-CN" sz="2000" dirty="0"/>
              <a:t>1</a:t>
            </a:r>
            <a:r>
              <a:rPr lang="zh-CN" altLang="zh-CN" sz="2000" dirty="0"/>
              <a:t>）计算</a:t>
            </a:r>
            <a:r>
              <a:rPr lang="en-US" altLang="zh-CN" sz="2000" dirty="0"/>
              <a:t>R(U,F)</a:t>
            </a:r>
            <a:r>
              <a:rPr lang="zh-CN" altLang="zh-CN" sz="2000" dirty="0"/>
              <a:t>的</a:t>
            </a:r>
            <a:r>
              <a:rPr lang="en-US" altLang="zh-CN" sz="2000" dirty="0"/>
              <a:t>BCNF</a:t>
            </a:r>
            <a:r>
              <a:rPr lang="zh-CN" altLang="zh-CN" sz="2000" dirty="0"/>
              <a:t>保连接分解：</a:t>
            </a:r>
          </a:p>
          <a:p>
            <a:r>
              <a:rPr lang="en-US" altLang="zh-CN" sz="2000" dirty="0">
                <a:latin typeface="Kunstler Script" pitchFamily="66" charset="0"/>
              </a:rPr>
              <a:t>R  </a:t>
            </a:r>
            <a:r>
              <a:rPr lang="en-US" altLang="zh-CN" sz="2000" dirty="0"/>
              <a:t>{R</a:t>
            </a:r>
            <a:r>
              <a:rPr lang="en-US" altLang="zh-CN" sz="2000" baseline="-25000" dirty="0"/>
              <a:t>1</a:t>
            </a:r>
            <a:r>
              <a:rPr lang="en-US" altLang="zh-CN" sz="2000" dirty="0"/>
              <a:t>(U</a:t>
            </a:r>
            <a:r>
              <a:rPr lang="en-US" altLang="zh-CN" sz="2000" baseline="-25000" dirty="0"/>
              <a:t>1</a:t>
            </a:r>
            <a:r>
              <a:rPr lang="en-US" altLang="zh-CN" sz="2000" dirty="0"/>
              <a:t>,F</a:t>
            </a:r>
            <a:r>
              <a:rPr lang="en-US" altLang="zh-CN" sz="2000" baseline="-25000" dirty="0"/>
              <a:t>1</a:t>
            </a:r>
            <a:r>
              <a:rPr lang="en-US" altLang="zh-CN" sz="2000" dirty="0"/>
              <a:t>)</a:t>
            </a:r>
            <a:r>
              <a:rPr lang="zh-CN" altLang="zh-CN" sz="2000" dirty="0"/>
              <a:t>，</a:t>
            </a:r>
            <a:r>
              <a:rPr lang="en-US" altLang="zh-CN" sz="2000" dirty="0"/>
              <a:t>R</a:t>
            </a:r>
            <a:r>
              <a:rPr lang="en-US" altLang="zh-CN" sz="2000" baseline="-25000" dirty="0"/>
              <a:t>2</a:t>
            </a:r>
            <a:r>
              <a:rPr lang="en-US" altLang="zh-CN" sz="2000" dirty="0"/>
              <a:t>(U</a:t>
            </a:r>
            <a:r>
              <a:rPr lang="en-US" altLang="zh-CN" sz="2000" baseline="-25000" dirty="0"/>
              <a:t>2</a:t>
            </a:r>
            <a:r>
              <a:rPr lang="en-US" altLang="zh-CN" sz="2000" dirty="0"/>
              <a:t>,F</a:t>
            </a:r>
            <a:r>
              <a:rPr lang="en-US" altLang="zh-CN" sz="2000" baseline="-25000" dirty="0"/>
              <a:t>2</a:t>
            </a:r>
            <a:r>
              <a:rPr lang="en-US" altLang="zh-CN" sz="2000" dirty="0"/>
              <a:t>)</a:t>
            </a:r>
            <a:r>
              <a:rPr lang="zh-CN" altLang="zh-CN" sz="2000" dirty="0"/>
              <a:t>，</a:t>
            </a:r>
            <a:r>
              <a:rPr lang="en-US" altLang="zh-CN" sz="2000" dirty="0"/>
              <a:t>…</a:t>
            </a:r>
            <a:r>
              <a:rPr lang="zh-CN" altLang="zh-CN" sz="2000" dirty="0"/>
              <a:t>，</a:t>
            </a:r>
            <a:r>
              <a:rPr lang="en-US" altLang="zh-CN" sz="2000" dirty="0" err="1"/>
              <a:t>R</a:t>
            </a:r>
            <a:r>
              <a:rPr lang="en-US" altLang="zh-CN" sz="2000" baseline="-25000" dirty="0" err="1"/>
              <a:t>n</a:t>
            </a:r>
            <a:r>
              <a:rPr lang="en-US" altLang="zh-CN" sz="2000" dirty="0"/>
              <a:t>(</a:t>
            </a:r>
            <a:r>
              <a:rPr lang="en-US" altLang="zh-CN" sz="2000" dirty="0" err="1"/>
              <a:t>U</a:t>
            </a:r>
            <a:r>
              <a:rPr lang="en-US" altLang="zh-CN" sz="2000" baseline="-25000" dirty="0" err="1"/>
              <a:t>n</a:t>
            </a:r>
            <a:r>
              <a:rPr lang="en-US" altLang="zh-CN" sz="2000" dirty="0" err="1"/>
              <a:t>,F</a:t>
            </a:r>
            <a:r>
              <a:rPr lang="en-US" altLang="zh-CN" sz="2000" baseline="-25000" dirty="0" err="1"/>
              <a:t>n</a:t>
            </a:r>
            <a:r>
              <a:rPr lang="en-US" altLang="zh-CN" sz="2000" dirty="0"/>
              <a:t>)}</a:t>
            </a:r>
            <a:endParaRPr lang="zh-CN" altLang="zh-CN" sz="2000" dirty="0"/>
          </a:p>
          <a:p>
            <a:r>
              <a:rPr lang="zh-CN" altLang="zh-CN" sz="2000" dirty="0"/>
              <a:t>（</a:t>
            </a:r>
            <a:r>
              <a:rPr lang="en-US" altLang="zh-CN" sz="2000" dirty="0"/>
              <a:t>2</a:t>
            </a:r>
            <a:r>
              <a:rPr lang="zh-CN" altLang="zh-CN" sz="2000" dirty="0"/>
              <a:t>）依次检查</a:t>
            </a:r>
            <a:r>
              <a:rPr lang="en-US" altLang="zh-CN" sz="2000" dirty="0"/>
              <a:t>R  </a:t>
            </a:r>
            <a:r>
              <a:rPr lang="zh-CN" altLang="zh-CN" sz="2000" dirty="0"/>
              <a:t>中的</a:t>
            </a:r>
            <a:r>
              <a:rPr lang="en-US" altLang="zh-CN" sz="2000" dirty="0" err="1"/>
              <a:t>R</a:t>
            </a:r>
            <a:r>
              <a:rPr lang="en-US" altLang="zh-CN" sz="2000" baseline="-25000" dirty="0" err="1"/>
              <a:t>i</a:t>
            </a:r>
            <a:r>
              <a:rPr lang="en-US" altLang="zh-CN" sz="2000" dirty="0"/>
              <a:t>(</a:t>
            </a:r>
            <a:r>
              <a:rPr lang="en-US" altLang="zh-CN" sz="2000" dirty="0" err="1"/>
              <a:t>U</a:t>
            </a:r>
            <a:r>
              <a:rPr lang="en-US" altLang="zh-CN" sz="2000" baseline="-25000" dirty="0" err="1"/>
              <a:t>i</a:t>
            </a:r>
            <a:r>
              <a:rPr lang="en-US" altLang="zh-CN" sz="2000" dirty="0" err="1"/>
              <a:t>,F</a:t>
            </a:r>
            <a:r>
              <a:rPr lang="en-US" altLang="zh-CN" sz="2000" baseline="-25000" dirty="0" err="1"/>
              <a:t>i</a:t>
            </a:r>
            <a:r>
              <a:rPr lang="en-US" altLang="zh-CN" sz="2000" dirty="0"/>
              <a:t>)</a:t>
            </a:r>
            <a:r>
              <a:rPr lang="zh-CN" altLang="zh-CN" sz="2000" dirty="0"/>
              <a:t>是否均属于</a:t>
            </a:r>
            <a:r>
              <a:rPr lang="en-US" altLang="zh-CN" sz="2000" dirty="0"/>
              <a:t>4NF</a:t>
            </a:r>
            <a:r>
              <a:rPr lang="zh-CN" altLang="zh-CN" sz="2000" dirty="0"/>
              <a:t>，如果是，则结束。</a:t>
            </a:r>
          </a:p>
          <a:p>
            <a:r>
              <a:rPr lang="zh-CN" altLang="zh-CN" sz="2000" dirty="0"/>
              <a:t>（</a:t>
            </a:r>
            <a:r>
              <a:rPr lang="en-US" altLang="zh-CN" sz="2000" dirty="0"/>
              <a:t>3</a:t>
            </a:r>
            <a:r>
              <a:rPr lang="zh-CN" altLang="zh-CN" sz="2000" dirty="0"/>
              <a:t>）</a:t>
            </a:r>
            <a:r>
              <a:rPr lang="en-US" altLang="zh-CN" sz="2000" dirty="0"/>
              <a:t> </a:t>
            </a:r>
            <a:r>
              <a:rPr lang="en-US" altLang="zh-CN" sz="2000" dirty="0" err="1"/>
              <a:t>R</a:t>
            </a:r>
            <a:r>
              <a:rPr lang="en-US" altLang="zh-CN" sz="2000" baseline="-25000" dirty="0" err="1"/>
              <a:t>i</a:t>
            </a:r>
            <a:r>
              <a:rPr lang="en-US" altLang="zh-CN" sz="2000" dirty="0"/>
              <a:t>(</a:t>
            </a:r>
            <a:r>
              <a:rPr lang="en-US" altLang="zh-CN" sz="2000" dirty="0" err="1"/>
              <a:t>U</a:t>
            </a:r>
            <a:r>
              <a:rPr lang="en-US" altLang="zh-CN" sz="2000" baseline="-25000" dirty="0" err="1"/>
              <a:t>i</a:t>
            </a:r>
            <a:r>
              <a:rPr lang="en-US" altLang="zh-CN" sz="2000" dirty="0"/>
              <a:t>, F</a:t>
            </a:r>
            <a:r>
              <a:rPr lang="en-US" altLang="zh-CN" sz="2000" baseline="-25000" dirty="0"/>
              <a:t>i</a:t>
            </a:r>
            <a:r>
              <a:rPr lang="en-US" altLang="zh-CN" sz="2000" dirty="0"/>
              <a:t>)</a:t>
            </a:r>
            <a:r>
              <a:rPr lang="zh-CN" altLang="zh-CN" sz="2000" dirty="0"/>
              <a:t>不属于</a:t>
            </a:r>
            <a:r>
              <a:rPr lang="en-US" altLang="zh-CN" sz="2000" dirty="0"/>
              <a:t>4NF</a:t>
            </a:r>
            <a:r>
              <a:rPr lang="zh-CN" altLang="zh-CN" sz="2000" dirty="0"/>
              <a:t>，则根据定理</a:t>
            </a:r>
            <a:r>
              <a:rPr lang="en-US" altLang="zh-CN" sz="2000" dirty="0"/>
              <a:t>6.5</a:t>
            </a:r>
            <a:r>
              <a:rPr lang="zh-CN" altLang="zh-CN" sz="2000" dirty="0"/>
              <a:t>对其分解</a:t>
            </a:r>
            <a:r>
              <a:rPr lang="en-US" altLang="zh-CN" sz="2000" dirty="0" err="1"/>
              <a:t>R</a:t>
            </a:r>
            <a:r>
              <a:rPr lang="en-US" altLang="zh-CN" sz="2000" baseline="-25000" dirty="0" err="1"/>
              <a:t>i</a:t>
            </a:r>
            <a:r>
              <a:rPr lang="en-US" altLang="zh-CN" sz="2000" dirty="0"/>
              <a:t>={S</a:t>
            </a:r>
            <a:r>
              <a:rPr lang="en-US" altLang="zh-CN" sz="2000" baseline="-25000" dirty="0"/>
              <a:t>1</a:t>
            </a:r>
            <a:r>
              <a:rPr lang="en-US" altLang="zh-CN" sz="2000" dirty="0"/>
              <a:t>,S</a:t>
            </a:r>
            <a:r>
              <a:rPr lang="en-US" altLang="zh-CN" sz="2000" baseline="-25000" dirty="0"/>
              <a:t>2</a:t>
            </a:r>
            <a:r>
              <a:rPr lang="en-US" altLang="zh-CN" sz="2000" dirty="0"/>
              <a:t>}</a:t>
            </a:r>
            <a:r>
              <a:rPr lang="zh-CN" altLang="zh-CN" sz="2000" dirty="0"/>
              <a:t>。</a:t>
            </a:r>
          </a:p>
          <a:p>
            <a:r>
              <a:rPr lang="zh-CN" altLang="zh-CN" sz="2000" dirty="0"/>
              <a:t>（</a:t>
            </a:r>
            <a:r>
              <a:rPr lang="en-US" altLang="zh-CN" sz="2000" dirty="0"/>
              <a:t>4</a:t>
            </a:r>
            <a:r>
              <a:rPr lang="zh-CN" altLang="zh-CN" sz="2000" dirty="0"/>
              <a:t>）</a:t>
            </a:r>
            <a:r>
              <a:rPr lang="en-US" altLang="zh-CN" sz="2000" dirty="0" err="1"/>
              <a:t>R</a:t>
            </a:r>
            <a:r>
              <a:rPr lang="en-US" altLang="zh-CN" sz="2000" baseline="-25000" dirty="0" err="1"/>
              <a:t>i</a:t>
            </a:r>
            <a:r>
              <a:rPr lang="zh-CN" altLang="zh-CN" sz="2000" dirty="0"/>
              <a:t>←</a:t>
            </a:r>
            <a:r>
              <a:rPr lang="en-US" altLang="zh-CN" sz="2000" dirty="0"/>
              <a:t>{S</a:t>
            </a:r>
            <a:r>
              <a:rPr lang="en-US" altLang="zh-CN" sz="2000" baseline="-25000" dirty="0"/>
              <a:t>1</a:t>
            </a:r>
            <a:r>
              <a:rPr lang="en-US" altLang="zh-CN" sz="2000" dirty="0"/>
              <a:t>,S</a:t>
            </a:r>
            <a:r>
              <a:rPr lang="en-US" altLang="zh-CN" sz="2000" baseline="-25000" dirty="0"/>
              <a:t>2</a:t>
            </a:r>
            <a:r>
              <a:rPr lang="en-US" altLang="zh-CN" sz="2000" dirty="0"/>
              <a:t>}</a:t>
            </a:r>
            <a:r>
              <a:rPr lang="zh-CN" altLang="zh-CN" sz="2000" dirty="0"/>
              <a:t>，转向（</a:t>
            </a:r>
            <a:r>
              <a:rPr lang="en-US" altLang="zh-CN" sz="2000" dirty="0"/>
              <a:t>2</a:t>
            </a:r>
            <a:r>
              <a:rPr lang="zh-CN" altLang="zh-CN" sz="2000" dirty="0"/>
              <a:t>）。</a:t>
            </a:r>
          </a:p>
          <a:p>
            <a:r>
              <a:rPr lang="zh-CN" altLang="zh-CN" sz="2000" dirty="0"/>
              <a:t>定理</a:t>
            </a:r>
            <a:r>
              <a:rPr lang="en-US" altLang="zh-CN" sz="2000" dirty="0"/>
              <a:t>6.6  </a:t>
            </a:r>
            <a:r>
              <a:rPr lang="zh-CN" altLang="zh-CN" sz="2000" dirty="0"/>
              <a:t>算法</a:t>
            </a:r>
            <a:r>
              <a:rPr lang="en-US" altLang="zh-CN" sz="2000" dirty="0"/>
              <a:t>6.8</a:t>
            </a:r>
            <a:r>
              <a:rPr lang="zh-CN" altLang="zh-CN" sz="2000" dirty="0"/>
              <a:t>可以进行</a:t>
            </a:r>
            <a:r>
              <a:rPr lang="en-US" altLang="zh-CN" sz="2000" dirty="0"/>
              <a:t>4NF</a:t>
            </a:r>
            <a:r>
              <a:rPr lang="zh-CN" altLang="zh-CN" sz="2000" dirty="0"/>
              <a:t>保连接分解。</a:t>
            </a:r>
          </a:p>
          <a:p>
            <a:endParaRPr lang="zh-CN" altLang="zh-CN" sz="2000" dirty="0">
              <a:latin typeface="Kunstler Script" pitchFamily="66" charset="0"/>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72082049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i="0" u="none" strike="noStrike" kern="2200" baseline="0" dirty="0" smtClean="0"/>
              <a:t>3.6</a:t>
            </a:r>
            <a:r>
              <a:rPr lang="zh-CN" altLang="en-US" i="0" u="none" strike="noStrike" kern="2200" baseline="0" dirty="0" smtClean="0"/>
              <a:t> 小 结</a:t>
            </a:r>
          </a:p>
        </p:txBody>
      </p:sp>
      <p:sp>
        <p:nvSpPr>
          <p:cNvPr id="3" name="文本占位符 2"/>
          <p:cNvSpPr>
            <a:spLocks noGrp="1"/>
          </p:cNvSpPr>
          <p:nvPr>
            <p:ph type="body" idx="1"/>
          </p:nvPr>
        </p:nvSpPr>
        <p:spPr>
          <a:xfrm>
            <a:off x="395536" y="980728"/>
            <a:ext cx="8291264" cy="5256584"/>
          </a:xfrm>
        </p:spPr>
        <p:txBody>
          <a:bodyPr>
            <a:noAutofit/>
          </a:bodyPr>
          <a:lstStyle/>
          <a:p>
            <a:r>
              <a:rPr lang="zh-CN" altLang="zh-CN" sz="2000" dirty="0"/>
              <a:t>深入理解和熟练掌握</a:t>
            </a:r>
            <a:r>
              <a:rPr lang="zh-CN" altLang="zh-CN" sz="2000" dirty="0">
                <a:solidFill>
                  <a:srgbClr val="0000FF"/>
                </a:solidFill>
              </a:rPr>
              <a:t>函数依赖、完全函数依赖、部分函数依赖、传递函数依赖、属性集闭包、函数依赖集闭包、范式、保依赖、保连接和关系模式分解等基本概念。</a:t>
            </a:r>
          </a:p>
          <a:p>
            <a:r>
              <a:rPr lang="zh-CN" altLang="zh-CN" sz="2000" dirty="0"/>
              <a:t>深入理解和熟练掌握</a:t>
            </a:r>
            <a:r>
              <a:rPr lang="en-US" altLang="zh-CN" sz="2000" dirty="0">
                <a:solidFill>
                  <a:srgbClr val="0000FF"/>
                </a:solidFill>
              </a:rPr>
              <a:t>1NF</a:t>
            </a:r>
            <a:r>
              <a:rPr lang="zh-CN" altLang="zh-CN" sz="2000" dirty="0">
                <a:solidFill>
                  <a:srgbClr val="0000FF"/>
                </a:solidFill>
              </a:rPr>
              <a:t>、</a:t>
            </a:r>
            <a:r>
              <a:rPr lang="en-US" altLang="zh-CN" sz="2000" dirty="0">
                <a:solidFill>
                  <a:srgbClr val="0000FF"/>
                </a:solidFill>
              </a:rPr>
              <a:t>2NF</a:t>
            </a:r>
            <a:r>
              <a:rPr lang="zh-CN" altLang="zh-CN" sz="2000" dirty="0">
                <a:solidFill>
                  <a:srgbClr val="0000FF"/>
                </a:solidFill>
              </a:rPr>
              <a:t>、</a:t>
            </a:r>
            <a:r>
              <a:rPr lang="en-US" altLang="zh-CN" sz="2000" dirty="0">
                <a:solidFill>
                  <a:srgbClr val="0000FF"/>
                </a:solidFill>
              </a:rPr>
              <a:t>3NF</a:t>
            </a:r>
            <a:r>
              <a:rPr lang="zh-CN" altLang="zh-CN" sz="2000" dirty="0">
                <a:solidFill>
                  <a:srgbClr val="0000FF"/>
                </a:solidFill>
              </a:rPr>
              <a:t>、</a:t>
            </a:r>
            <a:r>
              <a:rPr lang="en-US" altLang="zh-CN" sz="2000" dirty="0">
                <a:solidFill>
                  <a:srgbClr val="0000FF"/>
                </a:solidFill>
              </a:rPr>
              <a:t>BCNF</a:t>
            </a:r>
            <a:r>
              <a:rPr lang="zh-CN" altLang="zh-CN" sz="2000" dirty="0">
                <a:solidFill>
                  <a:srgbClr val="0000FF"/>
                </a:solidFill>
              </a:rPr>
              <a:t>、关系模式规范化；计算函数依赖集的闭包；确定关系模式的候选键；计算属性集的闭包；计算最小函数依赖集；关系模式的保连接分解、保依赖分解和既保连接又保依赖分解、关系模式分解算法等。</a:t>
            </a:r>
          </a:p>
          <a:p>
            <a:r>
              <a:rPr lang="zh-CN" altLang="zh-CN" sz="2000" dirty="0"/>
              <a:t>对于实际应用，希望</a:t>
            </a:r>
            <a:r>
              <a:rPr lang="zh-CN" altLang="zh-CN" sz="2000" dirty="0">
                <a:solidFill>
                  <a:srgbClr val="0000FF"/>
                </a:solidFill>
              </a:rPr>
              <a:t>逻辑模型的规范化级别尽量高</a:t>
            </a:r>
            <a:r>
              <a:rPr lang="zh-CN" altLang="zh-CN" sz="2000" dirty="0"/>
              <a:t>，但是</a:t>
            </a:r>
            <a:r>
              <a:rPr lang="zh-CN" altLang="zh-CN" sz="2000" dirty="0">
                <a:solidFill>
                  <a:srgbClr val="0000FF"/>
                </a:solidFill>
              </a:rPr>
              <a:t>规范化级别越高，实现的费用也会很高</a:t>
            </a:r>
            <a:r>
              <a:rPr lang="zh-CN" altLang="zh-CN" sz="2000" dirty="0"/>
              <a:t>；因此要以实际需求为准则，综合考虑系统的整体费用，设计并达到</a:t>
            </a:r>
            <a:r>
              <a:rPr lang="zh-CN" altLang="zh-CN" sz="2000" dirty="0">
                <a:solidFill>
                  <a:srgbClr val="0000FF"/>
                </a:solidFill>
              </a:rPr>
              <a:t>满足实际需要的范式等级，并非越高越好</a:t>
            </a:r>
            <a:r>
              <a:rPr lang="zh-CN" altLang="zh-CN" sz="2000" dirty="0"/>
              <a:t>。</a:t>
            </a:r>
          </a:p>
        </p:txBody>
      </p:sp>
      <p:sp>
        <p:nvSpPr>
          <p:cNvPr id="4" name="日期占位符 3"/>
          <p:cNvSpPr>
            <a:spLocks noGrp="1"/>
          </p:cNvSpPr>
          <p:nvPr>
            <p:ph type="dt" sz="half" idx="10"/>
          </p:nvPr>
        </p:nvSpPr>
        <p:spPr/>
        <p:txBody>
          <a:bodyPr/>
          <a:lstStyle/>
          <a:p>
            <a:fld id="{7A7615D6-5F9E-4F89-A7D5-B8EAABA5E3FA}"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88</a:t>
            </a:fld>
            <a:endParaRPr lang="zh-CN" altLang="en-US" dirty="0"/>
          </a:p>
        </p:txBody>
      </p:sp>
    </p:spTree>
    <p:extLst>
      <p:ext uri="{BB962C8B-B14F-4D97-AF65-F5344CB8AC3E}">
        <p14:creationId xmlns:p14="http://schemas.microsoft.com/office/powerpoint/2010/main" val="83878925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76672"/>
            <a:ext cx="8219256" cy="1152128"/>
          </a:xfrm>
        </p:spPr>
        <p:txBody>
          <a:bodyPr>
            <a:normAutofit/>
          </a:bodyPr>
          <a:lstStyle/>
          <a:p>
            <a:pPr marR="0" rtl="0"/>
            <a:r>
              <a:rPr lang="zh-CN" altLang="en-US" sz="6600" i="0" u="none" strike="noStrike" kern="2200" baseline="0" dirty="0" smtClean="0"/>
              <a:t>习　题</a:t>
            </a:r>
          </a:p>
        </p:txBody>
      </p:sp>
      <p:sp>
        <p:nvSpPr>
          <p:cNvPr id="3" name="文本占位符 2"/>
          <p:cNvSpPr>
            <a:spLocks noGrp="1"/>
          </p:cNvSpPr>
          <p:nvPr>
            <p:ph type="body" idx="1"/>
          </p:nvPr>
        </p:nvSpPr>
        <p:spPr>
          <a:xfrm>
            <a:off x="395536" y="1700808"/>
            <a:ext cx="8496944" cy="4320480"/>
          </a:xfrm>
        </p:spPr>
        <p:txBody>
          <a:bodyPr>
            <a:noAutofit/>
          </a:bodyPr>
          <a:lstStyle/>
          <a:p>
            <a:pPr marL="446088" indent="-446088">
              <a:lnSpc>
                <a:spcPct val="100000"/>
              </a:lnSpc>
              <a:buNone/>
            </a:pPr>
            <a:r>
              <a:rPr lang="en-US" altLang="zh-CN" sz="6600" kern="100" dirty="0" smtClean="0">
                <a:solidFill>
                  <a:srgbClr val="0000FF"/>
                </a:solidFill>
              </a:rPr>
              <a:t>6.1</a:t>
            </a:r>
            <a:r>
              <a:rPr lang="zh-CN" altLang="en-US" sz="6600" kern="100" dirty="0" smtClean="0">
                <a:solidFill>
                  <a:srgbClr val="0000FF"/>
                </a:solidFill>
              </a:rPr>
              <a:t>～</a:t>
            </a:r>
            <a:r>
              <a:rPr lang="en-US" altLang="zh-CN" sz="6600" kern="100" dirty="0" smtClean="0">
                <a:solidFill>
                  <a:srgbClr val="0000FF"/>
                </a:solidFill>
              </a:rPr>
              <a:t>6.5</a:t>
            </a:r>
            <a:r>
              <a:rPr lang="zh-CN" altLang="en-US" sz="6600" kern="100" dirty="0" smtClean="0">
                <a:solidFill>
                  <a:srgbClr val="0000FF"/>
                </a:solidFill>
              </a:rPr>
              <a:t>；</a:t>
            </a:r>
            <a:endParaRPr lang="en-US" altLang="zh-CN" sz="6600" kern="100" dirty="0" smtClean="0">
              <a:solidFill>
                <a:srgbClr val="0000FF"/>
              </a:solidFill>
            </a:endParaRPr>
          </a:p>
          <a:p>
            <a:pPr marL="446088" indent="-446088">
              <a:lnSpc>
                <a:spcPct val="100000"/>
              </a:lnSpc>
              <a:buNone/>
            </a:pPr>
            <a:r>
              <a:rPr lang="en-US" altLang="zh-CN" sz="6600" kern="100" dirty="0" smtClean="0">
                <a:solidFill>
                  <a:srgbClr val="0000FF"/>
                </a:solidFill>
              </a:rPr>
              <a:t>6.9</a:t>
            </a:r>
            <a:r>
              <a:rPr lang="zh-CN" altLang="en-US" sz="6600" kern="100" dirty="0" smtClean="0">
                <a:solidFill>
                  <a:srgbClr val="0000FF"/>
                </a:solidFill>
              </a:rPr>
              <a:t>～</a:t>
            </a:r>
            <a:r>
              <a:rPr lang="en-US" altLang="zh-CN" sz="6600" kern="100" dirty="0" smtClean="0">
                <a:solidFill>
                  <a:srgbClr val="0000FF"/>
                </a:solidFill>
              </a:rPr>
              <a:t>6.10</a:t>
            </a:r>
          </a:p>
          <a:p>
            <a:pPr marL="446088" indent="-446088">
              <a:lnSpc>
                <a:spcPct val="100000"/>
              </a:lnSpc>
              <a:buNone/>
            </a:pPr>
            <a:r>
              <a:rPr lang="en-US" altLang="zh-CN" sz="6600" kern="100" dirty="0" smtClean="0">
                <a:solidFill>
                  <a:srgbClr val="0000FF"/>
                </a:solidFill>
              </a:rPr>
              <a:t>6.12</a:t>
            </a:r>
            <a:r>
              <a:rPr lang="zh-CN" altLang="en-US" sz="6600" kern="100" dirty="0" smtClean="0">
                <a:solidFill>
                  <a:srgbClr val="0000FF"/>
                </a:solidFill>
              </a:rPr>
              <a:t>～</a:t>
            </a:r>
            <a:r>
              <a:rPr lang="en-US" altLang="zh-CN" sz="6600" kern="100" dirty="0" smtClean="0">
                <a:solidFill>
                  <a:srgbClr val="0000FF"/>
                </a:solidFill>
              </a:rPr>
              <a:t>6.13</a:t>
            </a:r>
            <a:r>
              <a:rPr lang="zh-CN" altLang="en-US" sz="6600" kern="100" dirty="0" smtClean="0">
                <a:solidFill>
                  <a:srgbClr val="0000FF"/>
                </a:solidFill>
              </a:rPr>
              <a:t>；</a:t>
            </a:r>
            <a:r>
              <a:rPr lang="en-US" altLang="zh-CN" sz="6600" kern="100" dirty="0" smtClean="0">
                <a:solidFill>
                  <a:srgbClr val="0000FF"/>
                </a:solidFill>
              </a:rPr>
              <a:t>6.16</a:t>
            </a:r>
            <a:r>
              <a:rPr lang="zh-CN" altLang="en-US" sz="6600" kern="100" dirty="0" smtClean="0">
                <a:solidFill>
                  <a:srgbClr val="0000FF"/>
                </a:solidFill>
              </a:rPr>
              <a:t>；</a:t>
            </a:r>
            <a:endParaRPr lang="en-US" altLang="zh-CN" sz="6600" kern="100" dirty="0" smtClean="0">
              <a:solidFill>
                <a:srgbClr val="0000FF"/>
              </a:solidFill>
            </a:endParaRPr>
          </a:p>
          <a:p>
            <a:pPr marL="446088" indent="-446088">
              <a:lnSpc>
                <a:spcPct val="100000"/>
              </a:lnSpc>
              <a:buNone/>
            </a:pPr>
            <a:r>
              <a:rPr lang="en-US" altLang="zh-CN" sz="6600" kern="100" dirty="0" smtClean="0">
                <a:solidFill>
                  <a:srgbClr val="0000FF"/>
                </a:solidFill>
              </a:rPr>
              <a:t>6.17</a:t>
            </a:r>
            <a:r>
              <a:rPr lang="zh-CN" altLang="en-US" sz="6600" kern="100" dirty="0" smtClean="0">
                <a:solidFill>
                  <a:srgbClr val="0000FF"/>
                </a:solidFill>
              </a:rPr>
              <a:t>～</a:t>
            </a:r>
            <a:r>
              <a:rPr lang="en-US" altLang="zh-CN" sz="6600" kern="100" dirty="0" smtClean="0">
                <a:solidFill>
                  <a:srgbClr val="0000FF"/>
                </a:solidFill>
              </a:rPr>
              <a:t>6.18</a:t>
            </a:r>
          </a:p>
        </p:txBody>
      </p:sp>
      <p:sp>
        <p:nvSpPr>
          <p:cNvPr id="4" name="日期占位符 3"/>
          <p:cNvSpPr>
            <a:spLocks noGrp="1"/>
          </p:cNvSpPr>
          <p:nvPr>
            <p:ph type="dt" sz="half" idx="10"/>
          </p:nvPr>
        </p:nvSpPr>
        <p:spPr/>
        <p:txBody>
          <a:bodyPr/>
          <a:lstStyle/>
          <a:p>
            <a:fld id="{4AEBE516-0A93-488F-BD22-763C9B3ABF0F}" type="datetime9">
              <a:rPr lang="zh-CN" altLang="en-US" smtClean="0"/>
              <a:t>2019年9月8日星期日9时4分49秒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89</a:t>
            </a:fld>
            <a:endParaRPr lang="zh-CN" altLang="en-US" dirty="0"/>
          </a:p>
        </p:txBody>
      </p:sp>
    </p:spTree>
    <p:extLst>
      <p:ext uri="{BB962C8B-B14F-4D97-AF65-F5344CB8AC3E}">
        <p14:creationId xmlns:p14="http://schemas.microsoft.com/office/powerpoint/2010/main" val="23165761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4805</TotalTime>
  <Words>11665</Words>
  <Application>Microsoft Office PowerPoint</Application>
  <PresentationFormat>全屏显示(4:3)</PresentationFormat>
  <Paragraphs>1330</Paragraphs>
  <Slides>89</Slides>
  <Notes>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89</vt:i4>
      </vt:variant>
    </vt:vector>
  </HeadingPairs>
  <TitlesOfParts>
    <vt:vector size="91" baseType="lpstr">
      <vt:lpstr>Office 主题​​</vt:lpstr>
      <vt:lpstr>公式</vt:lpstr>
      <vt:lpstr>浙江工商大学计算机与信息工程学院</vt:lpstr>
      <vt:lpstr>第 6 章  关系规范化</vt:lpstr>
      <vt:lpstr>第 6 章  关系规范化</vt:lpstr>
      <vt:lpstr>6.1  函数依赖</vt:lpstr>
      <vt:lpstr>6.1.1 函数依赖</vt:lpstr>
      <vt:lpstr>6.1.1 函数依赖</vt:lpstr>
      <vt:lpstr>6.1.1 函数依赖</vt:lpstr>
      <vt:lpstr>6.1.1 函数依赖</vt:lpstr>
      <vt:lpstr>6.1.2 完全依赖和部分依赖</vt:lpstr>
      <vt:lpstr>6.1.3 传递依赖</vt:lpstr>
      <vt:lpstr>6.2 范式</vt:lpstr>
      <vt:lpstr>6.2.1 范式</vt:lpstr>
      <vt:lpstr>6.2.1 范式</vt:lpstr>
      <vt:lpstr>6.2.2  第一范式</vt:lpstr>
      <vt:lpstr>6.2.3 第二范式</vt:lpstr>
      <vt:lpstr>6.2.3 第二范式</vt:lpstr>
      <vt:lpstr>6.2.3 第二范式</vt:lpstr>
      <vt:lpstr>6.2.3 第二范式</vt:lpstr>
      <vt:lpstr>6.2.3 第二范式</vt:lpstr>
      <vt:lpstr>6.2.3 第二范式</vt:lpstr>
      <vt:lpstr>6.2.3 第二范式</vt:lpstr>
      <vt:lpstr>6.2.4 第三范式</vt:lpstr>
      <vt:lpstr>6.2.4 第三范式</vt:lpstr>
      <vt:lpstr>6.2.4 第三范式</vt:lpstr>
      <vt:lpstr>6.2.4 第三范式</vt:lpstr>
      <vt:lpstr>BInfo的最终3NF分解结果</vt:lpstr>
      <vt:lpstr>6.2.4 第三范式</vt:lpstr>
      <vt:lpstr>6.2.4 第三范式</vt:lpstr>
      <vt:lpstr>6.2.4 第三范式</vt:lpstr>
      <vt:lpstr>6.2.4 第三范式</vt:lpstr>
      <vt:lpstr>6.2.5   BC范式</vt:lpstr>
      <vt:lpstr>6.2.5   BC范式</vt:lpstr>
      <vt:lpstr>6.2.5   BC范式</vt:lpstr>
      <vt:lpstr>6.2.5   BC范式</vt:lpstr>
      <vt:lpstr>6.2.6   第四范式</vt:lpstr>
      <vt:lpstr>6.2.6   第四范式</vt:lpstr>
      <vt:lpstr>6.2.6   第四范式</vt:lpstr>
      <vt:lpstr>6.2.6   第四范式</vt:lpstr>
      <vt:lpstr>6.2.6   第四范式</vt:lpstr>
      <vt:lpstr>6.2.6   第四范式</vt:lpstr>
      <vt:lpstr>6.2.6   第四范式</vt:lpstr>
      <vt:lpstr>关系模式的规范化过程</vt:lpstr>
      <vt:lpstr>6.3 关系模式规范化</vt:lpstr>
      <vt:lpstr>6.3.1  Armstrong公理</vt:lpstr>
      <vt:lpstr>6.3.1  Armstrong公理</vt:lpstr>
      <vt:lpstr>6.3.2  函数依赖集闭包</vt:lpstr>
      <vt:lpstr>6.3.2  函数依赖集闭包</vt:lpstr>
      <vt:lpstr>6.3.3  属性集闭包</vt:lpstr>
      <vt:lpstr>6.3.3  属性集闭包</vt:lpstr>
      <vt:lpstr>6.3.3  属性集闭包</vt:lpstr>
      <vt:lpstr>6.3.3  属性集闭包</vt:lpstr>
      <vt:lpstr>6.3.3  属性集闭包</vt:lpstr>
      <vt:lpstr>6.3.3  属性集闭包</vt:lpstr>
      <vt:lpstr>6.3.4  最小函数依赖集</vt:lpstr>
      <vt:lpstr>6.3.4  最小函数依赖集</vt:lpstr>
      <vt:lpstr>6.3.4  最小函数依赖集</vt:lpstr>
      <vt:lpstr>6.3.4  最小函数依赖集</vt:lpstr>
      <vt:lpstr>6.3.4  最小函数依赖集</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6.3.5  关系模式分解</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6.3.6  关系模式的分解算法</vt:lpstr>
      <vt:lpstr>3.6 小 结</vt:lpstr>
      <vt:lpstr>习　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概述</dc:title>
  <dc:creator>Happyu</dc:creator>
  <cp:lastModifiedBy>Hasee</cp:lastModifiedBy>
  <cp:revision>570</cp:revision>
  <dcterms:created xsi:type="dcterms:W3CDTF">2017-06-19T02:48:13Z</dcterms:created>
  <dcterms:modified xsi:type="dcterms:W3CDTF">2019-09-08T01:04:50Z</dcterms:modified>
</cp:coreProperties>
</file>