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0"/>
  </p:notesMasterIdLst>
  <p:sldIdLst>
    <p:sldId id="381" r:id="rId2"/>
    <p:sldId id="256" r:id="rId3"/>
    <p:sldId id="379" r:id="rId4"/>
    <p:sldId id="469" r:id="rId5"/>
    <p:sldId id="470" r:id="rId6"/>
    <p:sldId id="578" r:id="rId7"/>
    <p:sldId id="580" r:id="rId8"/>
    <p:sldId id="581" r:id="rId9"/>
    <p:sldId id="582" r:id="rId10"/>
    <p:sldId id="512" r:id="rId11"/>
    <p:sldId id="583" r:id="rId12"/>
    <p:sldId id="584" r:id="rId13"/>
    <p:sldId id="585" r:id="rId14"/>
    <p:sldId id="586" r:id="rId15"/>
    <p:sldId id="589" r:id="rId16"/>
    <p:sldId id="588" r:id="rId17"/>
    <p:sldId id="590" r:id="rId18"/>
    <p:sldId id="591" r:id="rId19"/>
    <p:sldId id="592" r:id="rId20"/>
    <p:sldId id="579" r:id="rId21"/>
    <p:sldId id="593" r:id="rId22"/>
    <p:sldId id="594" r:id="rId23"/>
    <p:sldId id="595" r:id="rId24"/>
    <p:sldId id="596" r:id="rId25"/>
    <p:sldId id="597" r:id="rId26"/>
    <p:sldId id="598" r:id="rId27"/>
    <p:sldId id="599" r:id="rId28"/>
    <p:sldId id="600" r:id="rId29"/>
    <p:sldId id="587" r:id="rId30"/>
    <p:sldId id="514" r:id="rId31"/>
    <p:sldId id="601" r:id="rId32"/>
    <p:sldId id="603" r:id="rId33"/>
    <p:sldId id="604" r:id="rId34"/>
    <p:sldId id="605" r:id="rId35"/>
    <p:sldId id="606" r:id="rId36"/>
    <p:sldId id="607" r:id="rId37"/>
    <p:sldId id="608" r:id="rId38"/>
    <p:sldId id="609" r:id="rId39"/>
    <p:sldId id="610" r:id="rId40"/>
    <p:sldId id="612" r:id="rId41"/>
    <p:sldId id="614" r:id="rId42"/>
    <p:sldId id="615" r:id="rId43"/>
    <p:sldId id="616" r:id="rId44"/>
    <p:sldId id="613" r:id="rId45"/>
    <p:sldId id="617" r:id="rId46"/>
    <p:sldId id="618" r:id="rId47"/>
    <p:sldId id="619" r:id="rId48"/>
    <p:sldId id="620" r:id="rId49"/>
    <p:sldId id="621" r:id="rId50"/>
    <p:sldId id="622" r:id="rId51"/>
    <p:sldId id="623" r:id="rId52"/>
    <p:sldId id="624" r:id="rId53"/>
    <p:sldId id="611" r:id="rId54"/>
    <p:sldId id="625" r:id="rId55"/>
    <p:sldId id="626" r:id="rId56"/>
    <p:sldId id="627" r:id="rId57"/>
    <p:sldId id="628" r:id="rId58"/>
    <p:sldId id="629" r:id="rId59"/>
    <p:sldId id="630" r:id="rId60"/>
    <p:sldId id="631" r:id="rId61"/>
    <p:sldId id="632" r:id="rId62"/>
    <p:sldId id="633" r:id="rId63"/>
    <p:sldId id="634" r:id="rId64"/>
    <p:sldId id="635" r:id="rId65"/>
    <p:sldId id="636" r:id="rId66"/>
    <p:sldId id="637" r:id="rId67"/>
    <p:sldId id="453" r:id="rId68"/>
    <p:sldId id="377" r:id="rId6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0000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44" autoAdjust="0"/>
    <p:restoredTop sz="94591" autoAdjust="0"/>
  </p:normalViewPr>
  <p:slideViewPr>
    <p:cSldViewPr>
      <p:cViewPr varScale="1">
        <p:scale>
          <a:sx n="114" d="100"/>
          <a:sy n="114" d="100"/>
        </p:scale>
        <p:origin x="-1698" y="-108"/>
      </p:cViewPr>
      <p:guideLst>
        <p:guide orient="horz" pos="2160"/>
        <p:guide pos="2880"/>
      </p:guideLst>
    </p:cSldViewPr>
  </p:slideViewPr>
  <p:outlineViewPr>
    <p:cViewPr>
      <p:scale>
        <a:sx n="33" d="100"/>
        <a:sy n="33" d="100"/>
      </p:scale>
      <p:origin x="0" y="153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D2C98B-BCE1-473E-B4E9-1F6B27B354D6}" type="datetimeFigureOut">
              <a:rPr lang="zh-CN" altLang="en-US" smtClean="0"/>
              <a:t>2019/9/8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B2A1C5-F448-453F-AD22-060754181DD0}" type="slidenum">
              <a:rPr lang="zh-CN" altLang="en-US" smtClean="0"/>
              <a:t>‹#›</a:t>
            </a:fld>
            <a:endParaRPr lang="zh-CN" altLang="en-US"/>
          </a:p>
        </p:txBody>
      </p:sp>
    </p:spTree>
    <p:extLst>
      <p:ext uri="{BB962C8B-B14F-4D97-AF65-F5344CB8AC3E}">
        <p14:creationId xmlns:p14="http://schemas.microsoft.com/office/powerpoint/2010/main" val="2580868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F0FEC2D-1921-4D49-9601-5EBBBFCF4A9B}" type="slidenum">
              <a:rPr lang="en-US" altLang="zh-CN" smtClean="0"/>
              <a:pPr eaLnBrk="1" hangingPunct="1"/>
              <a:t>1</a:t>
            </a:fld>
            <a:endParaRPr lang="en-US" altLang="zh-CN"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914400" y="4343400"/>
            <a:ext cx="5029200" cy="4114800"/>
          </a:xfrm>
          <a:noFill/>
        </p:spPr>
        <p:txBody>
          <a:bodyPr/>
          <a:lstStyle/>
          <a:p>
            <a:pPr eaLnBrk="1" hangingPunct="1"/>
            <a:endParaRPr lang="zh-CN" altLang="zh-CN" smtClean="0">
              <a:latin typeface="Arial"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CAEDA46-2BB5-4EC8-9012-BC759C720106}" type="datetime9">
              <a:rPr lang="zh-CN" altLang="en-US" smtClean="0"/>
              <a:t>2019年9月8日星期日9时4分53秒</a:t>
            </a:fld>
            <a:endParaRPr lang="zh-CN" altLang="en-US"/>
          </a:p>
        </p:txBody>
      </p:sp>
      <p:sp>
        <p:nvSpPr>
          <p:cNvPr id="5" name="页脚占位符 4"/>
          <p:cNvSpPr>
            <a:spLocks noGrp="1"/>
          </p:cNvSpPr>
          <p:nvPr>
            <p:ph type="ftr" sz="quarter" idx="11"/>
          </p:nvPr>
        </p:nvSpPr>
        <p:spPr/>
        <p:txBody>
          <a:bodyPr/>
          <a:lstStyle/>
          <a:p>
            <a:r>
              <a:rPr lang="en-US" altLang="zh-CN" smtClean="0"/>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715591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4368191-3319-47FD-BF5E-6A7BE11783AA}" type="datetime9">
              <a:rPr lang="zh-CN" altLang="en-US" smtClean="0"/>
              <a:t>2019年9月8日星期日9时4分53秒</a:t>
            </a:fld>
            <a:endParaRPr lang="zh-CN" altLang="en-US"/>
          </a:p>
        </p:txBody>
      </p:sp>
      <p:sp>
        <p:nvSpPr>
          <p:cNvPr id="5" name="页脚占位符 4"/>
          <p:cNvSpPr>
            <a:spLocks noGrp="1"/>
          </p:cNvSpPr>
          <p:nvPr>
            <p:ph type="ftr" sz="quarter" idx="11"/>
          </p:nvPr>
        </p:nvSpPr>
        <p:spPr/>
        <p:txBody>
          <a:bodyPr/>
          <a:lstStyle/>
          <a:p>
            <a:r>
              <a:rPr lang="en-US" altLang="zh-CN" smtClean="0"/>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081743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54D7C3C-16ED-42E7-AC86-4030E515D9C4}" type="datetime9">
              <a:rPr lang="zh-CN" altLang="en-US" smtClean="0"/>
              <a:t>2019年9月8日星期日9时4分53秒</a:t>
            </a:fld>
            <a:endParaRPr lang="zh-CN" altLang="en-US"/>
          </a:p>
        </p:txBody>
      </p:sp>
      <p:sp>
        <p:nvSpPr>
          <p:cNvPr id="5" name="页脚占位符 4"/>
          <p:cNvSpPr>
            <a:spLocks noGrp="1"/>
          </p:cNvSpPr>
          <p:nvPr>
            <p:ph type="ftr" sz="quarter" idx="11"/>
          </p:nvPr>
        </p:nvSpPr>
        <p:spPr/>
        <p:txBody>
          <a:bodyPr/>
          <a:lstStyle/>
          <a:p>
            <a:r>
              <a:rPr lang="en-US" altLang="zh-CN" smtClean="0"/>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11223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BD9CE73-BD6D-4437-9C0D-2203170990E8}" type="datetime9">
              <a:rPr lang="zh-CN" altLang="en-US" smtClean="0"/>
              <a:t>2019年9月8日星期日9时4分53秒</a:t>
            </a:fld>
            <a:endParaRPr lang="zh-CN" altLang="en-US"/>
          </a:p>
        </p:txBody>
      </p:sp>
      <p:sp>
        <p:nvSpPr>
          <p:cNvPr id="6" name="页脚占位符 5"/>
          <p:cNvSpPr>
            <a:spLocks noGrp="1"/>
          </p:cNvSpPr>
          <p:nvPr>
            <p:ph type="ftr" sz="quarter" idx="11"/>
          </p:nvPr>
        </p:nvSpPr>
        <p:spPr/>
        <p:txBody>
          <a:bodyPr/>
          <a:lstStyle/>
          <a:p>
            <a:r>
              <a:rPr lang="en-US" altLang="zh-CN" smtClean="0"/>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440800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A189301-F635-41B6-BB32-56910E770664}" type="datetime9">
              <a:rPr lang="zh-CN" altLang="en-US" smtClean="0"/>
              <a:t>2019年9月8日星期日9时4分53秒</a:t>
            </a:fld>
            <a:endParaRPr lang="zh-CN" altLang="en-US"/>
          </a:p>
        </p:txBody>
      </p:sp>
      <p:sp>
        <p:nvSpPr>
          <p:cNvPr id="8" name="页脚占位符 7"/>
          <p:cNvSpPr>
            <a:spLocks noGrp="1"/>
          </p:cNvSpPr>
          <p:nvPr>
            <p:ph type="ftr" sz="quarter" idx="11"/>
          </p:nvPr>
        </p:nvSpPr>
        <p:spPr/>
        <p:txBody>
          <a:bodyPr/>
          <a:lstStyle/>
          <a:p>
            <a:r>
              <a:rPr lang="en-US" altLang="zh-CN" smtClean="0"/>
              <a:t>HappyYou</a:t>
            </a:r>
            <a:endParaRPr lang="zh-CN" altLang="en-US"/>
          </a:p>
        </p:txBody>
      </p:sp>
      <p:sp>
        <p:nvSpPr>
          <p:cNvPr id="9" name="灯片编号占位符 8"/>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24134366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F36D5A8-E476-431C-9077-B753C1808D4D}" type="datetime9">
              <a:rPr lang="zh-CN" altLang="en-US" smtClean="0"/>
              <a:t>2019年9月8日星期日9时4分53秒</a:t>
            </a:fld>
            <a:endParaRPr lang="zh-CN" altLang="en-US"/>
          </a:p>
        </p:txBody>
      </p:sp>
      <p:sp>
        <p:nvSpPr>
          <p:cNvPr id="4" name="页脚占位符 3"/>
          <p:cNvSpPr>
            <a:spLocks noGrp="1"/>
          </p:cNvSpPr>
          <p:nvPr>
            <p:ph type="ftr" sz="quarter" idx="11"/>
          </p:nvPr>
        </p:nvSpPr>
        <p:spPr/>
        <p:txBody>
          <a:bodyPr/>
          <a:lstStyle/>
          <a:p>
            <a:r>
              <a:rPr lang="en-US" altLang="zh-CN" smtClean="0"/>
              <a:t>HappyYou</a:t>
            </a:r>
            <a:endParaRPr lang="zh-CN" altLang="en-US"/>
          </a:p>
        </p:txBody>
      </p:sp>
      <p:sp>
        <p:nvSpPr>
          <p:cNvPr id="5" name="灯片编号占位符 4"/>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756621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FEF98C7-F27E-4A74-B5A7-A36C4A68ADCF}" type="datetime9">
              <a:rPr lang="zh-CN" altLang="en-US" smtClean="0"/>
              <a:t>2019年9月8日星期日9时4分53秒</a:t>
            </a:fld>
            <a:endParaRPr lang="zh-CN" altLang="en-US"/>
          </a:p>
        </p:txBody>
      </p:sp>
      <p:sp>
        <p:nvSpPr>
          <p:cNvPr id="3" name="页脚占位符 2"/>
          <p:cNvSpPr>
            <a:spLocks noGrp="1"/>
          </p:cNvSpPr>
          <p:nvPr>
            <p:ph type="ftr" sz="quarter" idx="11"/>
          </p:nvPr>
        </p:nvSpPr>
        <p:spPr/>
        <p:txBody>
          <a:bodyPr/>
          <a:lstStyle/>
          <a:p>
            <a:r>
              <a:rPr lang="en-US" altLang="zh-CN" smtClean="0"/>
              <a:t>HappyYou</a:t>
            </a:r>
            <a:endParaRPr lang="zh-CN" altLang="en-US"/>
          </a:p>
        </p:txBody>
      </p:sp>
      <p:sp>
        <p:nvSpPr>
          <p:cNvPr id="4" name="灯片编号占位符 3"/>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3984508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CA1B540-AA0A-447C-BB96-BDDE3D2BED05}" type="datetime9">
              <a:rPr lang="zh-CN" altLang="en-US" smtClean="0"/>
              <a:t>2019年9月8日星期日9时4分53秒</a:t>
            </a:fld>
            <a:endParaRPr lang="zh-CN" altLang="en-US"/>
          </a:p>
        </p:txBody>
      </p:sp>
      <p:sp>
        <p:nvSpPr>
          <p:cNvPr id="6" name="页脚占位符 5"/>
          <p:cNvSpPr>
            <a:spLocks noGrp="1"/>
          </p:cNvSpPr>
          <p:nvPr>
            <p:ph type="ftr" sz="quarter" idx="11"/>
          </p:nvPr>
        </p:nvSpPr>
        <p:spPr/>
        <p:txBody>
          <a:bodyPr/>
          <a:lstStyle/>
          <a:p>
            <a:r>
              <a:rPr lang="en-US" altLang="zh-CN" smtClean="0"/>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411593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0770D13-407D-4205-B354-963C93A20415}" type="datetime9">
              <a:rPr lang="zh-CN" altLang="en-US" smtClean="0"/>
              <a:t>2019年9月8日星期日9时4分53秒</a:t>
            </a:fld>
            <a:endParaRPr lang="zh-CN" altLang="en-US"/>
          </a:p>
        </p:txBody>
      </p:sp>
      <p:sp>
        <p:nvSpPr>
          <p:cNvPr id="6" name="页脚占位符 5"/>
          <p:cNvSpPr>
            <a:spLocks noGrp="1"/>
          </p:cNvSpPr>
          <p:nvPr>
            <p:ph type="ftr" sz="quarter" idx="11"/>
          </p:nvPr>
        </p:nvSpPr>
        <p:spPr/>
        <p:txBody>
          <a:bodyPr/>
          <a:lstStyle/>
          <a:p>
            <a:r>
              <a:rPr lang="en-US" altLang="zh-CN" smtClean="0"/>
              <a:t>HappyYou</a:t>
            </a:r>
            <a:endParaRPr lang="zh-CN" altLang="en-US"/>
          </a:p>
        </p:txBody>
      </p:sp>
      <p:sp>
        <p:nvSpPr>
          <p:cNvPr id="7" name="灯片编号占位符 6"/>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1262739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E6DFC46-6E58-4061-98CE-5A65E96B970E}" type="datetime9">
              <a:rPr lang="zh-CN" altLang="en-US" smtClean="0"/>
              <a:t>2019年9月8日星期日9时4分53秒</a:t>
            </a:fld>
            <a:endParaRPr lang="zh-CN" altLang="en-US"/>
          </a:p>
        </p:txBody>
      </p:sp>
      <p:sp>
        <p:nvSpPr>
          <p:cNvPr id="5" name="页脚占位符 4"/>
          <p:cNvSpPr>
            <a:spLocks noGrp="1"/>
          </p:cNvSpPr>
          <p:nvPr>
            <p:ph type="ftr" sz="quarter" idx="11"/>
          </p:nvPr>
        </p:nvSpPr>
        <p:spPr/>
        <p:txBody>
          <a:bodyPr/>
          <a:lstStyle/>
          <a:p>
            <a:r>
              <a:rPr lang="en-US" altLang="zh-CN" smtClean="0"/>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2396941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CA0A9D5-11A9-4D6C-A196-5D024DE08886}" type="datetime9">
              <a:rPr lang="zh-CN" altLang="en-US" smtClean="0"/>
              <a:t>2019年9月8日星期日9时4分53秒</a:t>
            </a:fld>
            <a:endParaRPr lang="zh-CN" altLang="en-US"/>
          </a:p>
        </p:txBody>
      </p:sp>
      <p:sp>
        <p:nvSpPr>
          <p:cNvPr id="5" name="页脚占位符 4"/>
          <p:cNvSpPr>
            <a:spLocks noGrp="1"/>
          </p:cNvSpPr>
          <p:nvPr>
            <p:ph type="ftr" sz="quarter" idx="11"/>
          </p:nvPr>
        </p:nvSpPr>
        <p:spPr/>
        <p:txBody>
          <a:bodyPr/>
          <a:lstStyle/>
          <a:p>
            <a:r>
              <a:rPr lang="en-US" altLang="zh-CN" smtClean="0"/>
              <a:t>HappyYou</a:t>
            </a:r>
            <a:endParaRPr lang="zh-CN" altLang="en-US"/>
          </a:p>
        </p:txBody>
      </p:sp>
      <p:sp>
        <p:nvSpPr>
          <p:cNvPr id="6" name="灯片编号占位符 5"/>
          <p:cNvSpPr>
            <a:spLocks noGrp="1"/>
          </p:cNvSpPr>
          <p:nvPr>
            <p:ph type="sldNum" sz="quarter" idx="12"/>
          </p:nvPr>
        </p:nvSpPr>
        <p:spPr/>
        <p:txBody>
          <a:bodyPr/>
          <a:lstStyle/>
          <a:p>
            <a:fld id="{FCE4605D-91F4-41FC-B3D3-9CE68C2C45F2}" type="slidenum">
              <a:rPr lang="zh-CN" altLang="en-US" smtClean="0"/>
              <a:t>‹#›</a:t>
            </a:fld>
            <a:endParaRPr lang="zh-CN" altLang="en-US"/>
          </a:p>
        </p:txBody>
      </p:sp>
    </p:spTree>
    <p:extLst>
      <p:ext uri="{BB962C8B-B14F-4D97-AF65-F5344CB8AC3E}">
        <p14:creationId xmlns:p14="http://schemas.microsoft.com/office/powerpoint/2010/main" val="4000446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706090"/>
          </a:xfrm>
        </p:spPr>
        <p:txBody>
          <a:bodyPr>
            <a:normAutofit/>
          </a:bodyPr>
          <a:lstStyle>
            <a:lvl1pPr>
              <a:defRPr sz="3600" b="0">
                <a:latin typeface="微软雅黑" pitchFamily="34" charset="-122"/>
                <a:ea typeface="微软雅黑" pitchFamily="34" charset="-122"/>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124744"/>
            <a:ext cx="8229600" cy="5112568"/>
          </a:xfrm>
        </p:spPr>
        <p:txBody>
          <a:bodyPr/>
          <a:lstStyle>
            <a:lvl1pPr marL="342900" indent="-342900">
              <a:lnSpc>
                <a:spcPts val="3600"/>
              </a:lnSpc>
              <a:spcBef>
                <a:spcPts val="0"/>
              </a:spcBef>
              <a:buFont typeface="Wingdings" pitchFamily="2" charset="2"/>
              <a:buChar char="n"/>
              <a:defRPr sz="2400">
                <a:latin typeface="微软雅黑" pitchFamily="34" charset="-122"/>
                <a:ea typeface="微软雅黑" pitchFamily="34" charset="-122"/>
              </a:defRPr>
            </a:lvl1pPr>
            <a:lvl2pPr marL="742950" indent="-285750">
              <a:lnSpc>
                <a:spcPts val="3600"/>
              </a:lnSpc>
              <a:spcBef>
                <a:spcPts val="0"/>
              </a:spcBef>
              <a:buFont typeface="Wingdings" pitchFamily="2" charset="2"/>
              <a:buChar char="p"/>
              <a:defRPr sz="2200">
                <a:latin typeface="微软雅黑" pitchFamily="34" charset="-122"/>
                <a:ea typeface="微软雅黑" pitchFamily="34" charset="-122"/>
              </a:defRPr>
            </a:lvl2pPr>
            <a:lvl3pPr marL="1143000" indent="-228600">
              <a:lnSpc>
                <a:spcPts val="3600"/>
              </a:lnSpc>
              <a:spcBef>
                <a:spcPts val="0"/>
              </a:spcBef>
              <a:buFont typeface="Wingdings" pitchFamily="2" charset="2"/>
              <a:buChar char="l"/>
              <a:defRPr sz="2000">
                <a:latin typeface="微软雅黑" pitchFamily="34" charset="-122"/>
                <a:ea typeface="微软雅黑" pitchFamily="34" charset="-122"/>
              </a:defRPr>
            </a:lvl3pPr>
            <a:lvl4pPr marL="1600200" indent="-228600">
              <a:lnSpc>
                <a:spcPts val="3600"/>
              </a:lnSpc>
              <a:spcBef>
                <a:spcPts val="0"/>
              </a:spcBef>
              <a:buFont typeface="Wingdings" pitchFamily="2" charset="2"/>
              <a:buChar char="u"/>
              <a:defRPr sz="1800">
                <a:latin typeface="微软雅黑" pitchFamily="34" charset="-122"/>
                <a:ea typeface="微软雅黑" pitchFamily="34" charset="-122"/>
              </a:defRPr>
            </a:lvl4pPr>
            <a:lvl5pPr marL="2057400" indent="-228600">
              <a:lnSpc>
                <a:spcPts val="3600"/>
              </a:lnSpc>
              <a:spcBef>
                <a:spcPts val="0"/>
              </a:spcBef>
              <a:buFont typeface="Wingdings" pitchFamily="2" charset="2"/>
              <a:buChar char="Ø"/>
              <a:defRPr sz="1600">
                <a:latin typeface="微软雅黑" pitchFamily="34" charset="-122"/>
                <a:ea typeface="微软雅黑"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457200" y="6356350"/>
            <a:ext cx="2746648" cy="365125"/>
          </a:xfrm>
        </p:spPr>
        <p:txBody>
          <a:bodyPr/>
          <a:lstStyle>
            <a:lvl1pPr>
              <a:defRPr>
                <a:latin typeface="微软雅黑" pitchFamily="34" charset="-122"/>
                <a:ea typeface="微软雅黑" pitchFamily="34" charset="-122"/>
              </a:defRPr>
            </a:lvl1pPr>
          </a:lstStyle>
          <a:p>
            <a:fld id="{75431D66-8930-4DED-9A80-B7A017F716B4}" type="datetime9">
              <a:rPr lang="zh-CN" altLang="en-US" smtClean="0"/>
              <a:t>2019年9月8日星期日9时4分53秒</a:t>
            </a:fld>
            <a:endParaRPr lang="zh-CN" altLang="en-US" dirty="0"/>
          </a:p>
        </p:txBody>
      </p:sp>
      <p:sp>
        <p:nvSpPr>
          <p:cNvPr id="5" name="页脚占位符 4"/>
          <p:cNvSpPr>
            <a:spLocks noGrp="1"/>
          </p:cNvSpPr>
          <p:nvPr>
            <p:ph type="ftr" sz="quarter" idx="11"/>
          </p:nvPr>
        </p:nvSpPr>
        <p:spPr>
          <a:xfrm>
            <a:off x="3923928" y="6381328"/>
            <a:ext cx="2239888" cy="365125"/>
          </a:xfrm>
        </p:spPr>
        <p:txBody>
          <a:bodyPr/>
          <a:lstStyle>
            <a:lvl1pPr>
              <a:defRPr>
                <a:latin typeface="微软雅黑" pitchFamily="34" charset="-122"/>
                <a:ea typeface="微软雅黑" pitchFamily="34" charset="-122"/>
              </a:defRPr>
            </a:lvl1p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a:xfrm>
            <a:off x="6553200" y="6356350"/>
            <a:ext cx="2051248" cy="365125"/>
          </a:xfrm>
        </p:spPr>
        <p:txBody>
          <a:bodyPr/>
          <a:lstStyle>
            <a:lvl1pPr algn="r">
              <a:defRPr>
                <a:latin typeface="微软雅黑" pitchFamily="34" charset="-122"/>
                <a:ea typeface="微软雅黑" pitchFamily="34" charset="-122"/>
              </a:defRPr>
            </a:lvl1pPr>
          </a:lstStyle>
          <a:p>
            <a:fld id="{C46E5E69-9A6D-4AF8-BC2D-C556A9893D8F}" type="slidenum">
              <a:rPr lang="zh-CN" altLang="en-US" smtClean="0"/>
              <a:pPr/>
              <a:t>‹#›</a:t>
            </a:fld>
            <a:endParaRPr lang="zh-CN" altLang="en-US" dirty="0"/>
          </a:p>
        </p:txBody>
      </p:sp>
    </p:spTree>
    <p:extLst>
      <p:ext uri="{BB962C8B-B14F-4D97-AF65-F5344CB8AC3E}">
        <p14:creationId xmlns:p14="http://schemas.microsoft.com/office/powerpoint/2010/main" val="63234650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457200" y="6356350"/>
            <a:ext cx="2818656" cy="365125"/>
          </a:xfrm>
          <a:prstGeom prst="rect">
            <a:avLst/>
          </a:prstGeom>
        </p:spPr>
        <p:txBody>
          <a:bodyPr vert="horz" lIns="91440" tIns="45720" rIns="91440" bIns="45720" rtlCol="0" anchor="ctr"/>
          <a:lstStyle>
            <a:lvl1pPr algn="l">
              <a:defRPr sz="1200">
                <a:solidFill>
                  <a:schemeClr val="tx1">
                    <a:tint val="75000"/>
                  </a:schemeClr>
                </a:solidFill>
                <a:latin typeface="微软雅黑" pitchFamily="34" charset="-122"/>
                <a:ea typeface="微软雅黑" pitchFamily="34" charset="-122"/>
              </a:defRPr>
            </a:lvl1pPr>
          </a:lstStyle>
          <a:p>
            <a:fld id="{F24D6A16-980D-4A5B-9893-3EB1E3732A36}" type="datetime9">
              <a:rPr lang="zh-CN" altLang="en-US" smtClean="0"/>
              <a:t>2019年9月8日星期日9时4分53秒</a:t>
            </a:fld>
            <a:endParaRPr lang="zh-CN" altLang="en-US" dirty="0"/>
          </a:p>
        </p:txBody>
      </p:sp>
      <p:sp>
        <p:nvSpPr>
          <p:cNvPr id="5" name="页脚占位符 4"/>
          <p:cNvSpPr>
            <a:spLocks noGrp="1"/>
          </p:cNvSpPr>
          <p:nvPr>
            <p:ph type="ftr" sz="quarter" idx="3"/>
          </p:nvPr>
        </p:nvSpPr>
        <p:spPr>
          <a:xfrm>
            <a:off x="3635896" y="6356350"/>
            <a:ext cx="2383904" cy="365125"/>
          </a:xfrm>
          <a:prstGeom prst="rect">
            <a:avLst/>
          </a:prstGeom>
        </p:spPr>
        <p:txBody>
          <a:bodyPr vert="horz" lIns="91440" tIns="45720" rIns="91440" bIns="45720" rtlCol="0" anchor="ctr"/>
          <a:lstStyle>
            <a:lvl1pPr algn="ctr">
              <a:defRPr sz="1200">
                <a:solidFill>
                  <a:schemeClr val="tx1">
                    <a:tint val="75000"/>
                  </a:schemeClr>
                </a:solidFill>
                <a:latin typeface="微软雅黑" pitchFamily="34" charset="-122"/>
                <a:ea typeface="微软雅黑" pitchFamily="34" charset="-122"/>
              </a:defRPr>
            </a:lvl1pPr>
          </a:lstStyle>
          <a:p>
            <a:r>
              <a:rPr lang="en-US" altLang="zh-CN" smtClean="0"/>
              <a:t>HappyYou</a:t>
            </a:r>
            <a:endParaRPr lang="zh-CN" altLang="en-US" dirty="0"/>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微软雅黑" pitchFamily="34" charset="-122"/>
                <a:ea typeface="微软雅黑" pitchFamily="34" charset="-122"/>
              </a:defRPr>
            </a:lvl1pPr>
          </a:lstStyle>
          <a:p>
            <a:fld id="{87607A0D-40CE-4FFA-B03A-EB935FC429F2}" type="slidenum">
              <a:rPr lang="zh-CN" altLang="en-US" smtClean="0"/>
              <a:t>‹#›</a:t>
            </a:fld>
            <a:endParaRPr lang="zh-CN" altLang="en-US" dirty="0"/>
          </a:p>
        </p:txBody>
      </p:sp>
    </p:spTree>
    <p:extLst>
      <p:ext uri="{BB962C8B-B14F-4D97-AF65-F5344CB8AC3E}">
        <p14:creationId xmlns:p14="http://schemas.microsoft.com/office/powerpoint/2010/main" val="1764261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p:txStyles>
    <p:titleStyle>
      <a:lvl1pPr algn="ctr" defTabSz="914400" rtl="0" eaLnBrk="1" latinLnBrk="0" hangingPunct="1">
        <a:spcBef>
          <a:spcPct val="0"/>
        </a:spcBef>
        <a:buNone/>
        <a:defRPr sz="3600" kern="1200">
          <a:solidFill>
            <a:schemeClr val="tx1"/>
          </a:solidFill>
          <a:latin typeface="微软雅黑" pitchFamily="34" charset="-122"/>
          <a:ea typeface="微软雅黑" pitchFamily="34" charset="-122"/>
          <a:cs typeface="+mj-cs"/>
        </a:defRPr>
      </a:lvl1pPr>
    </p:titleStyle>
    <p:bodyStyle>
      <a:lvl1pPr marL="342900" indent="-342900" algn="l" defTabSz="914400" rtl="0" eaLnBrk="1" latinLnBrk="0" hangingPunct="1">
        <a:lnSpc>
          <a:spcPts val="3600"/>
        </a:lnSpc>
        <a:spcBef>
          <a:spcPts val="0"/>
        </a:spcBef>
        <a:buFont typeface="Wingdings" pitchFamily="2" charset="2"/>
        <a:buChar char="n"/>
        <a:defRPr sz="24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lnSpc>
          <a:spcPts val="3600"/>
        </a:lnSpc>
        <a:spcBef>
          <a:spcPts val="0"/>
        </a:spcBef>
        <a:buFont typeface="Wingdings" pitchFamily="2" charset="2"/>
        <a:buChar char="p"/>
        <a:defRPr sz="22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ts val="3600"/>
        </a:lnSpc>
        <a:spcBef>
          <a:spcPts val="0"/>
        </a:spcBef>
        <a:buFont typeface="Wingdings" pitchFamily="2" charset="2"/>
        <a:buChar char="l"/>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ts val="3600"/>
        </a:lnSpc>
        <a:spcBef>
          <a:spcPts val="0"/>
        </a:spcBef>
        <a:buFont typeface="Wingdings" pitchFamily="2" charset="2"/>
        <a:buChar char="u"/>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ts val="3600"/>
        </a:lnSpc>
        <a:spcBef>
          <a:spcPts val="0"/>
        </a:spcBef>
        <a:buFont typeface="Wingdings" pitchFamily="2" charset="2"/>
        <a:buChar char="Ø"/>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unteam.com.cn/putong/yingxiao.ht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79388" y="4869160"/>
            <a:ext cx="7345362" cy="574378"/>
          </a:xfrm>
          <a:noFill/>
        </p:spPr>
        <p:txBody>
          <a:bodyPr/>
          <a:lstStyle/>
          <a:p>
            <a:pPr eaLnBrk="1" hangingPunct="1"/>
            <a:r>
              <a:rPr lang="zh-CN" altLang="en-US" sz="2400" dirty="0" smtClean="0">
                <a:solidFill>
                  <a:srgbClr val="0000FF"/>
                </a:solidFill>
              </a:rPr>
              <a:t>浙江工商大学计算机与信息工程学院</a:t>
            </a:r>
            <a:endParaRPr lang="zh-CN" altLang="en-US" sz="1800" dirty="0" smtClean="0">
              <a:solidFill>
                <a:srgbClr val="0000FF"/>
              </a:solidFill>
            </a:endParaRPr>
          </a:p>
        </p:txBody>
      </p:sp>
      <p:sp>
        <p:nvSpPr>
          <p:cNvPr id="2051" name="Rectangle 3"/>
          <p:cNvSpPr>
            <a:spLocks noChangeArrowheads="1"/>
          </p:cNvSpPr>
          <p:nvPr/>
        </p:nvSpPr>
        <p:spPr bwMode="auto">
          <a:xfrm>
            <a:off x="320635" y="692696"/>
            <a:ext cx="8280400" cy="197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pPr>
            <a:r>
              <a:rPr kumimoji="1" lang="zh-CN" altLang="en-US" sz="6600" dirty="0">
                <a:solidFill>
                  <a:srgbClr val="0000FF"/>
                </a:solidFill>
                <a:latin typeface="微软雅黑" pitchFamily="34" charset="-122"/>
                <a:ea typeface="微软雅黑" pitchFamily="34" charset="-122"/>
              </a:rPr>
              <a:t>数据库原理</a:t>
            </a:r>
          </a:p>
          <a:p>
            <a:pPr algn="ctr">
              <a:spcBef>
                <a:spcPct val="20000"/>
              </a:spcBef>
            </a:pPr>
            <a:r>
              <a:rPr kumimoji="1" lang="en-US" altLang="zh-CN" sz="4800" b="1" dirty="0">
                <a:solidFill>
                  <a:srgbClr val="0000FF"/>
                </a:solidFill>
                <a:latin typeface="Times New Roman" pitchFamily="18" charset="0"/>
              </a:rPr>
              <a:t>Database Principles</a:t>
            </a:r>
          </a:p>
        </p:txBody>
      </p:sp>
      <p:pic>
        <p:nvPicPr>
          <p:cNvPr id="2052" name="Picture 4" descr="tuli">
            <a:hlinkClick r:id="rId3"/>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7306530" y="4365104"/>
            <a:ext cx="1427163" cy="15017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3" name="Line 5"/>
          <p:cNvSpPr>
            <a:spLocks noChangeShapeType="1"/>
          </p:cNvSpPr>
          <p:nvPr/>
        </p:nvSpPr>
        <p:spPr bwMode="auto">
          <a:xfrm>
            <a:off x="-5417" y="2700715"/>
            <a:ext cx="8135938"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4" name="Line 6"/>
          <p:cNvSpPr>
            <a:spLocks noChangeShapeType="1"/>
          </p:cNvSpPr>
          <p:nvPr/>
        </p:nvSpPr>
        <p:spPr bwMode="auto">
          <a:xfrm>
            <a:off x="0" y="4797425"/>
            <a:ext cx="7451725"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5" name="Line 7"/>
          <p:cNvSpPr>
            <a:spLocks noChangeShapeType="1"/>
          </p:cNvSpPr>
          <p:nvPr/>
        </p:nvSpPr>
        <p:spPr bwMode="auto">
          <a:xfrm flipV="1">
            <a:off x="0" y="5445125"/>
            <a:ext cx="7451725" cy="23813"/>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6" name="Line 8"/>
          <p:cNvSpPr>
            <a:spLocks noChangeShapeType="1"/>
          </p:cNvSpPr>
          <p:nvPr/>
        </p:nvSpPr>
        <p:spPr bwMode="auto">
          <a:xfrm>
            <a:off x="3311525" y="3824288"/>
            <a:ext cx="5832475" cy="1587"/>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7" name="Line 9"/>
          <p:cNvSpPr>
            <a:spLocks noChangeShapeType="1"/>
          </p:cNvSpPr>
          <p:nvPr/>
        </p:nvSpPr>
        <p:spPr bwMode="auto">
          <a:xfrm flipV="1">
            <a:off x="1663970" y="1916832"/>
            <a:ext cx="5329237" cy="0"/>
          </a:xfrm>
          <a:prstGeom prst="line">
            <a:avLst/>
          </a:prstGeom>
          <a:noFill/>
          <a:ln w="762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8" name="Rectangle 10"/>
          <p:cNvSpPr>
            <a:spLocks noChangeArrowheads="1"/>
          </p:cNvSpPr>
          <p:nvPr/>
        </p:nvSpPr>
        <p:spPr bwMode="auto">
          <a:xfrm>
            <a:off x="896938" y="5805487"/>
            <a:ext cx="7239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kumimoji="1" lang="en-US" altLang="zh-CN" sz="2000" b="1" dirty="0">
                <a:solidFill>
                  <a:srgbClr val="0000FF"/>
                </a:solidFill>
                <a:latin typeface="Times New Roman" pitchFamily="18" charset="0"/>
              </a:rPr>
              <a:t>College of Computer Science and Information Engineering</a:t>
            </a:r>
          </a:p>
          <a:p>
            <a:pPr algn="r"/>
            <a:r>
              <a:rPr kumimoji="1" lang="en-US" altLang="zh-CN" sz="2000" b="1" dirty="0">
                <a:solidFill>
                  <a:srgbClr val="0000FF"/>
                </a:solidFill>
                <a:latin typeface="Times New Roman" pitchFamily="18" charset="0"/>
              </a:rPr>
              <a:t>Zhejiang </a:t>
            </a:r>
            <a:r>
              <a:rPr kumimoji="1" lang="en-US" altLang="zh-CN" sz="2000" b="1" dirty="0" err="1">
                <a:solidFill>
                  <a:srgbClr val="0000FF"/>
                </a:solidFill>
                <a:latin typeface="Times New Roman" pitchFamily="18" charset="0"/>
              </a:rPr>
              <a:t>Gongshang</a:t>
            </a:r>
            <a:r>
              <a:rPr kumimoji="1" lang="en-US" altLang="zh-CN" sz="2000" b="1" dirty="0">
                <a:solidFill>
                  <a:srgbClr val="0000FF"/>
                </a:solidFill>
                <a:latin typeface="Times New Roman" pitchFamily="18" charset="0"/>
              </a:rPr>
              <a:t> University</a:t>
            </a:r>
          </a:p>
        </p:txBody>
      </p:sp>
      <p:sp>
        <p:nvSpPr>
          <p:cNvPr id="2059" name="Rectangle 11"/>
          <p:cNvSpPr>
            <a:spLocks noChangeArrowheads="1"/>
          </p:cNvSpPr>
          <p:nvPr/>
        </p:nvSpPr>
        <p:spPr bwMode="auto">
          <a:xfrm>
            <a:off x="2320131" y="3103845"/>
            <a:ext cx="43926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3600" b="1" dirty="0">
                <a:solidFill>
                  <a:srgbClr val="3333FF"/>
                </a:solidFill>
                <a:latin typeface="Arial Black" pitchFamily="34" charset="0"/>
                <a:ea typeface="华文新魏" pitchFamily="2" charset="-122"/>
              </a:rPr>
              <a:t>韩</a:t>
            </a:r>
            <a:r>
              <a:rPr kumimoji="1" lang="zh-CN" altLang="en-US" sz="3600" b="1">
                <a:solidFill>
                  <a:srgbClr val="3333FF"/>
                </a:solidFill>
                <a:latin typeface="Arial Black" pitchFamily="34" charset="0"/>
                <a:ea typeface="华文新魏" pitchFamily="2" charset="-122"/>
              </a:rPr>
              <a:t>培</a:t>
            </a:r>
            <a:r>
              <a:rPr kumimoji="1" lang="zh-CN" altLang="en-US" sz="3600" b="1" smtClean="0">
                <a:solidFill>
                  <a:srgbClr val="3333FF"/>
                </a:solidFill>
                <a:latin typeface="Arial Black" pitchFamily="34" charset="0"/>
                <a:ea typeface="华文新魏" pitchFamily="2" charset="-122"/>
              </a:rPr>
              <a:t>友</a:t>
            </a:r>
            <a:endParaRPr kumimoji="1" lang="zh-CN" altLang="en-US" sz="3600" b="1" dirty="0">
              <a:solidFill>
                <a:srgbClr val="3333FF"/>
              </a:solidFill>
              <a:latin typeface="Arial Black" pitchFamily="34" charset="0"/>
              <a:ea typeface="华文新魏" pitchFamily="2" charset="-122"/>
            </a:endParaRPr>
          </a:p>
        </p:txBody>
      </p:sp>
      <p:sp>
        <p:nvSpPr>
          <p:cNvPr id="2060" name="Rectangle 12"/>
          <p:cNvSpPr>
            <a:spLocks noChangeArrowheads="1"/>
          </p:cNvSpPr>
          <p:nvPr/>
        </p:nvSpPr>
        <p:spPr bwMode="auto">
          <a:xfrm>
            <a:off x="2231902" y="3933056"/>
            <a:ext cx="50403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3600" b="1" dirty="0">
                <a:solidFill>
                  <a:srgbClr val="3333FF"/>
                </a:solidFill>
                <a:latin typeface="Arial Black" pitchFamily="34" charset="0"/>
                <a:ea typeface="华文新魏" pitchFamily="2" charset="-122"/>
              </a:rPr>
              <a:t>Happy You</a:t>
            </a:r>
          </a:p>
        </p:txBody>
      </p:sp>
    </p:spTree>
    <p:extLst>
      <p:ext uri="{BB962C8B-B14F-4D97-AF65-F5344CB8AC3E}">
        <p14:creationId xmlns:p14="http://schemas.microsoft.com/office/powerpoint/2010/main" val="580514564"/>
      </p:ext>
    </p:extLst>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19256" cy="792088"/>
          </a:xfrm>
        </p:spPr>
        <p:txBody>
          <a:bodyPr>
            <a:normAutofit/>
          </a:bodyPr>
          <a:lstStyle/>
          <a:p>
            <a:r>
              <a:rPr lang="zh-CN" altLang="en-US" sz="3600" i="0" u="none" strike="noStrike" kern="2200" baseline="0" dirty="0" smtClean="0">
                <a:latin typeface="微软雅黑" pitchFamily="34" charset="-122"/>
                <a:ea typeface="微软雅黑" pitchFamily="34" charset="-122"/>
              </a:rPr>
              <a:t>第 </a:t>
            </a:r>
            <a:r>
              <a:rPr lang="en-US" altLang="zh-CN" sz="3600" i="0" u="none" strike="noStrike" kern="2200" baseline="0" dirty="0" smtClean="0">
                <a:latin typeface="微软雅黑" pitchFamily="34" charset="-122"/>
                <a:ea typeface="微软雅黑" pitchFamily="34" charset="-122"/>
              </a:rPr>
              <a:t>7 </a:t>
            </a:r>
            <a:r>
              <a:rPr lang="zh-CN" altLang="en-US" kern="2200" dirty="0" smtClean="0"/>
              <a:t>章  数据安全</a:t>
            </a:r>
            <a:endParaRPr lang="zh-CN" altLang="en-US" sz="3600" i="0" u="none" strike="noStrike" kern="2200" baseline="0" dirty="0" smtClean="0">
              <a:latin typeface="微软雅黑" pitchFamily="34" charset="-122"/>
              <a:ea typeface="微软雅黑" pitchFamily="34" charset="-122"/>
            </a:endParaRPr>
          </a:p>
        </p:txBody>
      </p:sp>
      <p:sp>
        <p:nvSpPr>
          <p:cNvPr id="3" name="文本占位符 2"/>
          <p:cNvSpPr>
            <a:spLocks noGrp="1"/>
          </p:cNvSpPr>
          <p:nvPr>
            <p:ph type="body" idx="1"/>
          </p:nvPr>
        </p:nvSpPr>
        <p:spPr>
          <a:xfrm>
            <a:off x="1043608" y="908720"/>
            <a:ext cx="7481886" cy="5400600"/>
          </a:xfrm>
        </p:spPr>
        <p:txBody>
          <a:bodyPr>
            <a:normAutofit/>
          </a:bodyPr>
          <a:lstStyle/>
          <a:p>
            <a:pPr>
              <a:lnSpc>
                <a:spcPts val="4600"/>
              </a:lnSpc>
            </a:pPr>
            <a:r>
              <a:rPr lang="en-US" altLang="zh-CN" sz="2800" dirty="0" smtClean="0">
                <a:solidFill>
                  <a:srgbClr val="0000FF"/>
                </a:solidFill>
              </a:rPr>
              <a:t> </a:t>
            </a:r>
            <a:r>
              <a:rPr lang="zh-CN" altLang="zh-CN" sz="2800" dirty="0" smtClean="0">
                <a:solidFill>
                  <a:srgbClr val="0000FF"/>
                </a:solidFill>
              </a:rPr>
              <a:t>数据安全</a:t>
            </a:r>
            <a:r>
              <a:rPr lang="zh-CN" altLang="zh-CN" sz="2800" dirty="0">
                <a:solidFill>
                  <a:srgbClr val="0000FF"/>
                </a:solidFill>
              </a:rPr>
              <a:t>模型</a:t>
            </a:r>
          </a:p>
          <a:p>
            <a:pPr marL="901700" lvl="1" indent="-457200">
              <a:lnSpc>
                <a:spcPts val="4600"/>
              </a:lnSpc>
            </a:pPr>
            <a:r>
              <a:rPr lang="zh-CN" altLang="zh-CN" sz="2600" dirty="0" smtClean="0">
                <a:solidFill>
                  <a:srgbClr val="0000FF"/>
                </a:solidFill>
              </a:rPr>
              <a:t>数据安全</a:t>
            </a:r>
            <a:r>
              <a:rPr lang="zh-CN" altLang="zh-CN" sz="2600" dirty="0">
                <a:solidFill>
                  <a:srgbClr val="0000FF"/>
                </a:solidFill>
              </a:rPr>
              <a:t>标准</a:t>
            </a:r>
          </a:p>
          <a:p>
            <a:pPr marL="898525" lvl="1" indent="-457200">
              <a:lnSpc>
                <a:spcPts val="4600"/>
              </a:lnSpc>
            </a:pPr>
            <a:r>
              <a:rPr lang="zh-CN" altLang="zh-CN" sz="2600" dirty="0">
                <a:solidFill>
                  <a:srgbClr val="0000FF"/>
                </a:solidFill>
              </a:rPr>
              <a:t>数据安全模型</a:t>
            </a:r>
          </a:p>
          <a:p>
            <a:pPr>
              <a:lnSpc>
                <a:spcPts val="4600"/>
              </a:lnSpc>
            </a:pPr>
            <a:r>
              <a:rPr lang="en-US" altLang="zh-CN" sz="2800" dirty="0" smtClean="0">
                <a:solidFill>
                  <a:srgbClr val="0000FF"/>
                </a:solidFill>
              </a:rPr>
              <a:t> </a:t>
            </a:r>
            <a:r>
              <a:rPr lang="zh-CN" altLang="zh-CN" sz="2800" dirty="0" smtClean="0">
                <a:solidFill>
                  <a:srgbClr val="0000FF"/>
                </a:solidFill>
              </a:rPr>
              <a:t>数据安全</a:t>
            </a:r>
            <a:r>
              <a:rPr lang="zh-CN" altLang="zh-CN" sz="2800" dirty="0">
                <a:solidFill>
                  <a:srgbClr val="0000FF"/>
                </a:solidFill>
              </a:rPr>
              <a:t>控制</a:t>
            </a:r>
          </a:p>
          <a:p>
            <a:pPr marL="901700" lvl="2" indent="-457200">
              <a:lnSpc>
                <a:spcPts val="4600"/>
              </a:lnSpc>
              <a:buFont typeface="Wingdings" pitchFamily="2" charset="2"/>
              <a:buChar char="p"/>
            </a:pPr>
            <a:r>
              <a:rPr lang="zh-CN" altLang="zh-CN" sz="2600" dirty="0" smtClean="0">
                <a:solidFill>
                  <a:srgbClr val="0000FF"/>
                </a:solidFill>
              </a:rPr>
              <a:t>用户鉴别</a:t>
            </a:r>
          </a:p>
          <a:p>
            <a:pPr marL="901700" lvl="2" indent="-457200">
              <a:lnSpc>
                <a:spcPts val="4600"/>
              </a:lnSpc>
              <a:buFont typeface="Wingdings" pitchFamily="2" charset="2"/>
              <a:buChar char="p"/>
            </a:pPr>
            <a:r>
              <a:rPr lang="zh-CN" altLang="zh-CN" sz="2600" dirty="0" smtClean="0">
                <a:solidFill>
                  <a:srgbClr val="0000FF"/>
                </a:solidFill>
              </a:rPr>
              <a:t>数据</a:t>
            </a:r>
            <a:r>
              <a:rPr lang="zh-CN" altLang="zh-CN" sz="2600" dirty="0">
                <a:solidFill>
                  <a:srgbClr val="0000FF"/>
                </a:solidFill>
              </a:rPr>
              <a:t>存取控制</a:t>
            </a:r>
          </a:p>
          <a:p>
            <a:pPr marL="901700" lvl="2" indent="-457200">
              <a:lnSpc>
                <a:spcPts val="4600"/>
              </a:lnSpc>
              <a:buFont typeface="Wingdings" pitchFamily="2" charset="2"/>
              <a:buChar char="p"/>
            </a:pPr>
            <a:r>
              <a:rPr lang="zh-CN" altLang="zh-CN" sz="2600" dirty="0" smtClean="0">
                <a:solidFill>
                  <a:srgbClr val="0000FF"/>
                </a:solidFill>
              </a:rPr>
              <a:t>视图</a:t>
            </a:r>
            <a:endParaRPr lang="zh-CN" altLang="zh-CN" sz="2600" dirty="0">
              <a:solidFill>
                <a:srgbClr val="0000FF"/>
              </a:solidFill>
            </a:endParaRPr>
          </a:p>
          <a:p>
            <a:pPr marL="901700" lvl="2" indent="-457200">
              <a:lnSpc>
                <a:spcPts val="4600"/>
              </a:lnSpc>
              <a:buFont typeface="Wingdings" pitchFamily="2" charset="2"/>
              <a:buChar char="p"/>
            </a:pPr>
            <a:r>
              <a:rPr lang="zh-CN" altLang="zh-CN" sz="2600" dirty="0" smtClean="0">
                <a:solidFill>
                  <a:srgbClr val="0000FF"/>
                </a:solidFill>
              </a:rPr>
              <a:t>审计</a:t>
            </a:r>
            <a:r>
              <a:rPr lang="zh-CN" altLang="zh-CN" sz="2600" dirty="0">
                <a:solidFill>
                  <a:srgbClr val="0000FF"/>
                </a:solidFill>
              </a:rPr>
              <a:t>与</a:t>
            </a:r>
            <a:r>
              <a:rPr lang="zh-CN" altLang="zh-CN" sz="2400" dirty="0">
                <a:solidFill>
                  <a:srgbClr val="0000FF"/>
                </a:solidFill>
              </a:rPr>
              <a:t>数据加密</a:t>
            </a:r>
          </a:p>
        </p:txBody>
      </p:sp>
      <p:sp>
        <p:nvSpPr>
          <p:cNvPr id="4" name="日期占位符 3"/>
          <p:cNvSpPr>
            <a:spLocks noGrp="1"/>
          </p:cNvSpPr>
          <p:nvPr>
            <p:ph type="dt" sz="half" idx="10"/>
          </p:nvPr>
        </p:nvSpPr>
        <p:spPr/>
        <p:txBody>
          <a:bodyPr/>
          <a:lstStyle/>
          <a:p>
            <a:fld id="{AF69CA52-1E8A-40E5-89D7-825628B1B1C7}" type="datetime9">
              <a:rPr lang="zh-CN" altLang="en-US" smtClean="0"/>
              <a:t>2019年9月8日星期日9时4分54秒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a:t>
            </a:fld>
            <a:endParaRPr lang="zh-CN" altLang="en-US" dirty="0"/>
          </a:p>
        </p:txBody>
      </p:sp>
    </p:spTree>
    <p:extLst>
      <p:ext uri="{BB962C8B-B14F-4D97-AF65-F5344CB8AC3E}">
        <p14:creationId xmlns:p14="http://schemas.microsoft.com/office/powerpoint/2010/main" val="23510485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664"/>
            <a:ext cx="8219256" cy="706090"/>
          </a:xfrm>
        </p:spPr>
        <p:txBody>
          <a:bodyPr/>
          <a:lstStyle/>
          <a:p>
            <a:pPr lvl="0">
              <a:lnSpc>
                <a:spcPts val="4600"/>
              </a:lnSpc>
            </a:pPr>
            <a:r>
              <a:rPr lang="zh-CN" altLang="zh-CN" dirty="0"/>
              <a:t>数据保护</a:t>
            </a:r>
            <a:endParaRPr lang="en-US" altLang="zh-CN" dirty="0">
              <a:solidFill>
                <a:srgbClr val="0000FF"/>
              </a:solidFill>
            </a:endParaRPr>
          </a:p>
        </p:txBody>
      </p:sp>
      <p:sp>
        <p:nvSpPr>
          <p:cNvPr id="3" name="文本占位符 2"/>
          <p:cNvSpPr>
            <a:spLocks noGrp="1"/>
          </p:cNvSpPr>
          <p:nvPr>
            <p:ph type="body" idx="1"/>
          </p:nvPr>
        </p:nvSpPr>
        <p:spPr>
          <a:xfrm>
            <a:off x="107504" y="1052736"/>
            <a:ext cx="8856984" cy="5328592"/>
          </a:xfrm>
        </p:spPr>
        <p:txBody>
          <a:bodyPr>
            <a:noAutofit/>
          </a:bodyPr>
          <a:lstStyle/>
          <a:p>
            <a:r>
              <a:rPr lang="zh-CN" altLang="zh-CN" dirty="0"/>
              <a:t>为了更好的实现数据共享，</a:t>
            </a:r>
            <a:r>
              <a:rPr lang="en-US" altLang="zh-CN" dirty="0"/>
              <a:t>DBMS</a:t>
            </a:r>
            <a:r>
              <a:rPr lang="zh-CN" altLang="zh-CN" dirty="0"/>
              <a:t>必须提供完善的数据保护功能，以确保数据的安全可靠和正确有效。</a:t>
            </a:r>
          </a:p>
          <a:p>
            <a:r>
              <a:rPr lang="zh-CN" altLang="zh-CN" dirty="0" smtClean="0">
                <a:solidFill>
                  <a:srgbClr val="0000FF"/>
                </a:solidFill>
              </a:rPr>
              <a:t>数据保护</a:t>
            </a:r>
            <a:r>
              <a:rPr lang="zh-CN" altLang="en-US" dirty="0">
                <a:solidFill>
                  <a:srgbClr val="0000FF"/>
                </a:solidFill>
              </a:rPr>
              <a:t>：</a:t>
            </a:r>
            <a:r>
              <a:rPr lang="zh-CN" altLang="zh-CN" dirty="0" smtClean="0">
                <a:solidFill>
                  <a:srgbClr val="0000FF"/>
                </a:solidFill>
              </a:rPr>
              <a:t>主要</a:t>
            </a:r>
            <a:r>
              <a:rPr lang="zh-CN" altLang="zh-CN" dirty="0">
                <a:solidFill>
                  <a:srgbClr val="0000FF"/>
                </a:solidFill>
              </a:rPr>
              <a:t>包括数据安全、数据完整、数据并发和数据恢复等。</a:t>
            </a:r>
            <a:r>
              <a:rPr lang="zh-CN" altLang="zh-CN" dirty="0"/>
              <a:t>在确保数据的正确性和相容性的同时，保护数据不会受到破坏和泄露，即使受到破坏，也能够实施恢复。</a:t>
            </a:r>
          </a:p>
          <a:p>
            <a:r>
              <a:rPr lang="zh-CN" altLang="zh-CN" dirty="0"/>
              <a:t>数据保护的安全性、完整性、并发性和恢复</a:t>
            </a:r>
            <a:r>
              <a:rPr lang="zh-CN" altLang="zh-CN" dirty="0" smtClean="0"/>
              <a:t>性</a:t>
            </a:r>
            <a:r>
              <a:rPr lang="zh-CN" altLang="zh-CN" dirty="0"/>
              <a:t>等</a:t>
            </a:r>
            <a:r>
              <a:rPr lang="zh-CN" altLang="zh-CN" dirty="0" smtClean="0"/>
              <a:t>控制机制作为</a:t>
            </a:r>
            <a:r>
              <a:rPr lang="en-US" altLang="zh-CN" dirty="0"/>
              <a:t>DBMS</a:t>
            </a:r>
            <a:r>
              <a:rPr lang="zh-CN" altLang="zh-CN" dirty="0"/>
              <a:t>的主要子系统，已经成为衡量</a:t>
            </a:r>
            <a:r>
              <a:rPr lang="en-US" altLang="zh-CN" dirty="0"/>
              <a:t>DBMS</a:t>
            </a:r>
            <a:r>
              <a:rPr lang="zh-CN" altLang="zh-CN" dirty="0"/>
              <a:t>性能的重要指标。</a:t>
            </a:r>
          </a:p>
        </p:txBody>
      </p:sp>
      <p:sp>
        <p:nvSpPr>
          <p:cNvPr id="4" name="日期占位符 3"/>
          <p:cNvSpPr>
            <a:spLocks noGrp="1"/>
          </p:cNvSpPr>
          <p:nvPr>
            <p:ph type="dt" sz="half" idx="10"/>
          </p:nvPr>
        </p:nvSpPr>
        <p:spPr/>
        <p:txBody>
          <a:bodyPr/>
          <a:lstStyle/>
          <a:p>
            <a:fld id="{F63EB1C2-2F1E-4814-9601-778F991498D1}" type="datetime9">
              <a:rPr lang="zh-CN" altLang="en-US" smtClean="0"/>
              <a:t>2019年9月8日星期日9时4分54秒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a:t>
            </a:fld>
            <a:endParaRPr lang="zh-CN" altLang="en-US" dirty="0"/>
          </a:p>
        </p:txBody>
      </p:sp>
    </p:spTree>
    <p:extLst>
      <p:ext uri="{BB962C8B-B14F-4D97-AF65-F5344CB8AC3E}">
        <p14:creationId xmlns:p14="http://schemas.microsoft.com/office/powerpoint/2010/main" val="20955618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8219256" cy="706090"/>
          </a:xfrm>
        </p:spPr>
        <p:txBody>
          <a:bodyPr/>
          <a:lstStyle/>
          <a:p>
            <a:pPr lvl="0">
              <a:lnSpc>
                <a:spcPts val="4600"/>
              </a:lnSpc>
            </a:pPr>
            <a:r>
              <a:rPr lang="en-US" altLang="zh-CN" dirty="0"/>
              <a:t>7.1  </a:t>
            </a:r>
            <a:r>
              <a:rPr lang="zh-CN" altLang="zh-CN" dirty="0"/>
              <a:t>数据安全模型</a:t>
            </a:r>
            <a:endParaRPr lang="en-US" altLang="zh-CN" dirty="0">
              <a:solidFill>
                <a:srgbClr val="0000FF"/>
              </a:solidFill>
            </a:endParaRPr>
          </a:p>
        </p:txBody>
      </p:sp>
      <p:sp>
        <p:nvSpPr>
          <p:cNvPr id="3" name="文本占位符 2"/>
          <p:cNvSpPr>
            <a:spLocks noGrp="1"/>
          </p:cNvSpPr>
          <p:nvPr>
            <p:ph type="body" idx="1"/>
          </p:nvPr>
        </p:nvSpPr>
        <p:spPr>
          <a:xfrm>
            <a:off x="107504" y="1052736"/>
            <a:ext cx="8856984" cy="5256584"/>
          </a:xfrm>
        </p:spPr>
        <p:txBody>
          <a:bodyPr>
            <a:noAutofit/>
          </a:bodyPr>
          <a:lstStyle/>
          <a:p>
            <a:pPr marL="444500" indent="-444500">
              <a:lnSpc>
                <a:spcPts val="5600"/>
              </a:lnSpc>
            </a:pPr>
            <a:r>
              <a:rPr lang="zh-CN" altLang="zh-CN" sz="2800" dirty="0" smtClean="0"/>
              <a:t>数据安全</a:t>
            </a:r>
            <a:r>
              <a:rPr lang="zh-CN" altLang="zh-CN" sz="2800" dirty="0"/>
              <a:t>已经发展成为一个主要研究领域，并且建立了相应的安全标准。</a:t>
            </a:r>
          </a:p>
          <a:p>
            <a:pPr marL="501650" indent="-457200">
              <a:lnSpc>
                <a:spcPts val="5600"/>
              </a:lnSpc>
            </a:pPr>
            <a:r>
              <a:rPr lang="zh-CN" altLang="zh-CN" sz="2800" dirty="0" smtClean="0">
                <a:solidFill>
                  <a:srgbClr val="0000FF"/>
                </a:solidFill>
              </a:rPr>
              <a:t>数据安全</a:t>
            </a:r>
            <a:r>
              <a:rPr lang="zh-CN" altLang="zh-CN" sz="2800" dirty="0">
                <a:solidFill>
                  <a:srgbClr val="0000FF"/>
                </a:solidFill>
              </a:rPr>
              <a:t>标准</a:t>
            </a:r>
          </a:p>
          <a:p>
            <a:pPr marL="498475" indent="-457200">
              <a:lnSpc>
                <a:spcPts val="5600"/>
              </a:lnSpc>
            </a:pPr>
            <a:r>
              <a:rPr lang="zh-CN" altLang="zh-CN" sz="2800" dirty="0">
                <a:solidFill>
                  <a:srgbClr val="0000FF"/>
                </a:solidFill>
              </a:rPr>
              <a:t>数据安全模型</a:t>
            </a:r>
          </a:p>
        </p:txBody>
      </p:sp>
      <p:sp>
        <p:nvSpPr>
          <p:cNvPr id="4" name="日期占位符 3"/>
          <p:cNvSpPr>
            <a:spLocks noGrp="1"/>
          </p:cNvSpPr>
          <p:nvPr>
            <p:ph type="dt" sz="half" idx="10"/>
          </p:nvPr>
        </p:nvSpPr>
        <p:spPr/>
        <p:txBody>
          <a:bodyPr/>
          <a:lstStyle/>
          <a:p>
            <a:fld id="{F63EB1C2-2F1E-4814-9601-778F991498D1}" type="datetime9">
              <a:rPr lang="zh-CN" altLang="en-US" smtClean="0"/>
              <a:t>2019年9月8日星期日9时4分54秒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a:t>
            </a:fld>
            <a:endParaRPr lang="zh-CN" altLang="en-US" dirty="0"/>
          </a:p>
        </p:txBody>
      </p:sp>
    </p:spTree>
    <p:extLst>
      <p:ext uri="{BB962C8B-B14F-4D97-AF65-F5344CB8AC3E}">
        <p14:creationId xmlns:p14="http://schemas.microsoft.com/office/powerpoint/2010/main" val="1716898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7.1.1  </a:t>
            </a:r>
            <a:r>
              <a:rPr lang="zh-CN" altLang="zh-CN" dirty="0"/>
              <a:t>数据安全标准</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2019年9月8日星期日9时4分54秒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数据安全的常用标准：</a:t>
            </a:r>
            <a:r>
              <a:rPr lang="zh-CN" altLang="zh-CN" sz="2000" dirty="0"/>
              <a:t>《可信计算机系统评估准则》和</a:t>
            </a:r>
            <a:r>
              <a:rPr lang="zh-CN" altLang="zh-CN" sz="2000" dirty="0" smtClean="0"/>
              <a:t>《可信数据库解释》</a:t>
            </a:r>
            <a:endParaRPr lang="zh-CN" altLang="zh-CN" sz="2000" dirty="0"/>
          </a:p>
          <a:p>
            <a:pPr marL="360363" indent="0">
              <a:buNone/>
            </a:pPr>
            <a:r>
              <a:rPr lang="en-US" altLang="zh-CN" sz="2000" dirty="0" smtClean="0">
                <a:solidFill>
                  <a:srgbClr val="0000FF"/>
                </a:solidFill>
              </a:rPr>
              <a:t>TCSEC</a:t>
            </a:r>
            <a:r>
              <a:rPr lang="zh-CN" altLang="zh-CN" sz="2000" dirty="0" smtClean="0">
                <a:solidFill>
                  <a:srgbClr val="0000FF"/>
                </a:solidFill>
              </a:rPr>
              <a:t>：可信计算机系统评估准则</a:t>
            </a:r>
            <a:r>
              <a:rPr lang="zh-CN" altLang="en-US" sz="2000" dirty="0" smtClean="0"/>
              <a:t>；</a:t>
            </a:r>
            <a:r>
              <a:rPr lang="en-US" altLang="zh-CN" sz="2000" dirty="0" smtClean="0"/>
              <a:t>Trusted </a:t>
            </a:r>
            <a:r>
              <a:rPr lang="en-US" altLang="zh-CN" sz="2000" dirty="0"/>
              <a:t>Computer System Evacuation Criteria</a:t>
            </a:r>
            <a:r>
              <a:rPr lang="zh-CN" altLang="zh-CN" sz="2000" dirty="0" smtClean="0"/>
              <a:t>，美国国防部</a:t>
            </a:r>
            <a:r>
              <a:rPr lang="zh-CN" altLang="zh-CN" sz="2000" dirty="0"/>
              <a:t>（</a:t>
            </a:r>
            <a:r>
              <a:rPr lang="en-US" altLang="zh-CN" sz="2000" dirty="0"/>
              <a:t>Department of Defense</a:t>
            </a:r>
            <a:r>
              <a:rPr lang="zh-CN" altLang="zh-CN" sz="2000" dirty="0"/>
              <a:t>，</a:t>
            </a:r>
            <a:r>
              <a:rPr lang="en-US" altLang="zh-CN" sz="2000" dirty="0" err="1"/>
              <a:t>DoD</a:t>
            </a:r>
            <a:r>
              <a:rPr lang="zh-CN" altLang="zh-CN" sz="2000" dirty="0"/>
              <a:t>）</a:t>
            </a:r>
            <a:r>
              <a:rPr lang="en-US" altLang="zh-CN" sz="2000" dirty="0"/>
              <a:t>1985</a:t>
            </a:r>
            <a:r>
              <a:rPr lang="zh-CN" altLang="zh-CN" sz="2000" dirty="0"/>
              <a:t>年颁布。</a:t>
            </a:r>
          </a:p>
          <a:p>
            <a:pPr marL="360363" indent="0">
              <a:buNone/>
            </a:pPr>
            <a:r>
              <a:rPr lang="en-US" altLang="zh-CN" sz="2000" dirty="0" smtClean="0">
                <a:solidFill>
                  <a:srgbClr val="0000FF"/>
                </a:solidFill>
              </a:rPr>
              <a:t>TDI</a:t>
            </a:r>
            <a:r>
              <a:rPr lang="zh-CN" altLang="zh-CN" sz="2000" dirty="0" smtClean="0">
                <a:solidFill>
                  <a:srgbClr val="0000FF"/>
                </a:solidFill>
              </a:rPr>
              <a:t>：可信</a:t>
            </a:r>
            <a:r>
              <a:rPr lang="zh-CN" altLang="zh-CN" sz="2000" dirty="0">
                <a:solidFill>
                  <a:srgbClr val="0000FF"/>
                </a:solidFill>
              </a:rPr>
              <a:t>数据库</a:t>
            </a:r>
            <a:r>
              <a:rPr lang="zh-CN" altLang="zh-CN" sz="2000" dirty="0" smtClean="0">
                <a:solidFill>
                  <a:srgbClr val="0000FF"/>
                </a:solidFill>
              </a:rPr>
              <a:t>解释</a:t>
            </a:r>
            <a:r>
              <a:rPr lang="zh-CN" altLang="en-US" sz="2000" dirty="0" smtClean="0"/>
              <a:t>；</a:t>
            </a:r>
            <a:r>
              <a:rPr lang="en-US" altLang="zh-CN" sz="2000" dirty="0" smtClean="0"/>
              <a:t>Trusted </a:t>
            </a:r>
            <a:r>
              <a:rPr lang="en-US" altLang="zh-CN" sz="2000" dirty="0"/>
              <a:t>Database Interpretation</a:t>
            </a:r>
            <a:r>
              <a:rPr lang="zh-CN" altLang="zh-CN" sz="2000" dirty="0" smtClean="0"/>
              <a:t>，美国</a:t>
            </a:r>
            <a:r>
              <a:rPr lang="zh-CN" altLang="zh-CN" sz="2000" dirty="0"/>
              <a:t>国家计算机安全中心（</a:t>
            </a:r>
            <a:r>
              <a:rPr lang="en-US" altLang="zh-CN" sz="2000" dirty="0"/>
              <a:t>National Computer Security Center</a:t>
            </a:r>
            <a:r>
              <a:rPr lang="zh-CN" altLang="zh-CN" sz="2000" dirty="0"/>
              <a:t>，</a:t>
            </a:r>
            <a:r>
              <a:rPr lang="en-US" altLang="zh-CN" sz="2000" dirty="0"/>
              <a:t>NCSC</a:t>
            </a:r>
            <a:r>
              <a:rPr lang="zh-CN" altLang="zh-CN" sz="2000" dirty="0"/>
              <a:t>）</a:t>
            </a:r>
            <a:r>
              <a:rPr lang="en-US" altLang="zh-CN" sz="2000" dirty="0"/>
              <a:t>1991</a:t>
            </a:r>
            <a:r>
              <a:rPr lang="zh-CN" altLang="zh-CN" sz="2000" dirty="0"/>
              <a:t>年颁布。</a:t>
            </a:r>
          </a:p>
          <a:p>
            <a:r>
              <a:rPr lang="en-US" altLang="zh-CN" sz="2000" dirty="0"/>
              <a:t>TDI</a:t>
            </a:r>
            <a:r>
              <a:rPr lang="zh-CN" altLang="zh-CN" sz="2000" dirty="0"/>
              <a:t>和</a:t>
            </a:r>
            <a:r>
              <a:rPr lang="en-US" altLang="zh-CN" sz="2000" dirty="0"/>
              <a:t>TCSEC</a:t>
            </a:r>
            <a:r>
              <a:rPr lang="zh-CN" altLang="zh-CN" sz="2000" dirty="0"/>
              <a:t>按照</a:t>
            </a:r>
            <a:r>
              <a:rPr lang="zh-CN" altLang="zh-CN" sz="2000" dirty="0">
                <a:solidFill>
                  <a:srgbClr val="0000FF"/>
                </a:solidFill>
              </a:rPr>
              <a:t>四组七个等级</a:t>
            </a:r>
            <a:r>
              <a:rPr lang="zh-CN" altLang="zh-CN" sz="2000" dirty="0"/>
              <a:t>（</a:t>
            </a:r>
            <a:r>
              <a:rPr lang="en-US" altLang="zh-CN" sz="2000" dirty="0"/>
              <a:t>D</a:t>
            </a:r>
            <a:r>
              <a:rPr lang="zh-CN" altLang="zh-CN" sz="2000" dirty="0"/>
              <a:t>（最小保护）；</a:t>
            </a:r>
            <a:r>
              <a:rPr lang="en-US" altLang="zh-CN" sz="2000" dirty="0"/>
              <a:t>C1</a:t>
            </a:r>
            <a:r>
              <a:rPr lang="zh-CN" altLang="zh-CN" sz="2000" dirty="0"/>
              <a:t>（</a:t>
            </a:r>
            <a:r>
              <a:rPr lang="zh-CN" altLang="zh-CN" sz="2000" dirty="0">
                <a:solidFill>
                  <a:srgbClr val="0000FF"/>
                </a:solidFill>
              </a:rPr>
              <a:t>自主存取保护</a:t>
            </a:r>
            <a:r>
              <a:rPr lang="zh-CN" altLang="zh-CN" sz="2000" dirty="0"/>
              <a:t>），</a:t>
            </a:r>
            <a:r>
              <a:rPr lang="en-US" altLang="zh-CN" sz="2000" dirty="0"/>
              <a:t>C2</a:t>
            </a:r>
            <a:r>
              <a:rPr lang="zh-CN" altLang="zh-CN" sz="2000" dirty="0"/>
              <a:t>（受控存取保护）；</a:t>
            </a:r>
            <a:r>
              <a:rPr lang="en-US" altLang="zh-CN" sz="2000" dirty="0"/>
              <a:t>B1</a:t>
            </a:r>
            <a:r>
              <a:rPr lang="zh-CN" altLang="zh-CN" sz="2000" dirty="0"/>
              <a:t>（</a:t>
            </a:r>
            <a:r>
              <a:rPr lang="zh-CN" altLang="zh-CN" sz="2000" dirty="0">
                <a:solidFill>
                  <a:srgbClr val="0000FF"/>
                </a:solidFill>
              </a:rPr>
              <a:t>强制存取保护</a:t>
            </a:r>
            <a:r>
              <a:rPr lang="zh-CN" altLang="zh-CN" sz="2000" dirty="0"/>
              <a:t>），</a:t>
            </a:r>
            <a:r>
              <a:rPr lang="en-US" altLang="zh-CN" sz="2000" dirty="0"/>
              <a:t>B2</a:t>
            </a:r>
            <a:r>
              <a:rPr lang="zh-CN" altLang="zh-CN" sz="2000" dirty="0"/>
              <a:t>（结构化保护），</a:t>
            </a:r>
            <a:r>
              <a:rPr lang="en-US" altLang="zh-CN" sz="2000" dirty="0"/>
              <a:t>B3</a:t>
            </a:r>
            <a:r>
              <a:rPr lang="zh-CN" altLang="zh-CN" sz="2000" dirty="0"/>
              <a:t>（安全域）；</a:t>
            </a:r>
            <a:r>
              <a:rPr lang="en-US" altLang="zh-CN" sz="2000" dirty="0"/>
              <a:t>A1</a:t>
            </a:r>
            <a:r>
              <a:rPr lang="zh-CN" altLang="zh-CN" sz="2000" dirty="0"/>
              <a:t>（验证设计）），从安全策略、责任、保证和文档等，详细描述了数据安全的具体指标。</a:t>
            </a:r>
            <a:endParaRPr lang="zh-CN" altLang="en-US" sz="2000" dirty="0"/>
          </a:p>
        </p:txBody>
      </p:sp>
    </p:spTree>
    <p:extLst>
      <p:ext uri="{BB962C8B-B14F-4D97-AF65-F5344CB8AC3E}">
        <p14:creationId xmlns:p14="http://schemas.microsoft.com/office/powerpoint/2010/main" val="601689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7.1.1  </a:t>
            </a:r>
            <a:r>
              <a:rPr lang="zh-CN" altLang="zh-CN" dirty="0"/>
              <a:t>数据安全标准</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2019年9月8日星期日9时4分54秒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en-US" altLang="zh-CN" sz="2000" dirty="0">
                <a:solidFill>
                  <a:srgbClr val="0000FF"/>
                </a:solidFill>
              </a:rPr>
              <a:t>C1</a:t>
            </a:r>
            <a:r>
              <a:rPr lang="zh-CN" altLang="zh-CN" sz="2000" dirty="0"/>
              <a:t>：初级的自主安全保护。实现用户和数据的分离以及</a:t>
            </a:r>
            <a:r>
              <a:rPr lang="zh-CN" altLang="zh-CN" sz="2000" dirty="0">
                <a:solidFill>
                  <a:srgbClr val="0000FF"/>
                </a:solidFill>
              </a:rPr>
              <a:t>自主存取控制</a:t>
            </a:r>
            <a:r>
              <a:rPr lang="zh-CN" altLang="zh-CN" sz="2000" dirty="0"/>
              <a:t>（</a:t>
            </a:r>
            <a:r>
              <a:rPr lang="en-US" altLang="zh-CN" sz="2000" dirty="0"/>
              <a:t> Discretionary Access Control</a:t>
            </a:r>
            <a:r>
              <a:rPr lang="zh-CN" altLang="zh-CN" sz="2000" dirty="0"/>
              <a:t>，</a:t>
            </a:r>
            <a:r>
              <a:rPr lang="en-US" altLang="zh-CN" sz="2000" dirty="0">
                <a:solidFill>
                  <a:srgbClr val="0000FF"/>
                </a:solidFill>
              </a:rPr>
              <a:t>DAC</a:t>
            </a:r>
            <a:r>
              <a:rPr lang="en-US" altLang="zh-CN" sz="2000" dirty="0"/>
              <a:t>)</a:t>
            </a:r>
            <a:r>
              <a:rPr lang="zh-CN" altLang="zh-CN" sz="2000" dirty="0"/>
              <a:t>，限制用户权限。即</a:t>
            </a:r>
            <a:r>
              <a:rPr lang="zh-CN" altLang="zh-CN" sz="2000" dirty="0" smtClean="0"/>
              <a:t>：</a:t>
            </a:r>
            <a:endParaRPr lang="en-US" altLang="zh-CN" sz="2000" dirty="0" smtClean="0"/>
          </a:p>
          <a:p>
            <a:pPr marL="901700" indent="0">
              <a:buNone/>
            </a:pPr>
            <a:r>
              <a:rPr lang="en-US" altLang="zh-CN" sz="2000" dirty="0" smtClean="0">
                <a:solidFill>
                  <a:srgbClr val="0000FF"/>
                </a:solidFill>
              </a:rPr>
              <a:t>DAC</a:t>
            </a:r>
            <a:r>
              <a:rPr lang="zh-CN" altLang="zh-CN" sz="2000" dirty="0">
                <a:solidFill>
                  <a:srgbClr val="0000FF"/>
                </a:solidFill>
              </a:rPr>
              <a:t>使产品达到</a:t>
            </a:r>
            <a:r>
              <a:rPr lang="en-US" altLang="zh-CN" sz="2000" dirty="0">
                <a:solidFill>
                  <a:srgbClr val="0000FF"/>
                </a:solidFill>
              </a:rPr>
              <a:t>C1</a:t>
            </a:r>
            <a:r>
              <a:rPr lang="zh-CN" altLang="zh-CN" sz="2000" dirty="0">
                <a:solidFill>
                  <a:srgbClr val="0000FF"/>
                </a:solidFill>
              </a:rPr>
              <a:t>级</a:t>
            </a:r>
            <a:r>
              <a:rPr lang="zh-CN" altLang="zh-CN" sz="2000" dirty="0"/>
              <a:t>。</a:t>
            </a:r>
          </a:p>
          <a:p>
            <a:r>
              <a:rPr lang="en-US" altLang="zh-CN" sz="2000" dirty="0"/>
              <a:t>C2</a:t>
            </a:r>
            <a:r>
              <a:rPr lang="zh-CN" altLang="zh-CN" sz="2000" dirty="0"/>
              <a:t>：安全产品的最低要求。受控的存取保护，</a:t>
            </a:r>
            <a:r>
              <a:rPr lang="en-US" altLang="zh-CN" sz="2000" dirty="0"/>
              <a:t>C2</a:t>
            </a:r>
            <a:r>
              <a:rPr lang="zh-CN" altLang="zh-CN" sz="2000" dirty="0"/>
              <a:t>是</a:t>
            </a:r>
            <a:r>
              <a:rPr lang="en-US" altLang="zh-CN" sz="2000" dirty="0"/>
              <a:t>C1</a:t>
            </a:r>
            <a:r>
              <a:rPr lang="zh-CN" altLang="zh-CN" sz="2000" dirty="0"/>
              <a:t>级</a:t>
            </a:r>
            <a:r>
              <a:rPr lang="en-US" altLang="zh-CN" sz="2000" dirty="0"/>
              <a:t>DAC</a:t>
            </a:r>
            <a:r>
              <a:rPr lang="zh-CN" altLang="zh-CN" sz="2000" dirty="0"/>
              <a:t>的细化。即：改进的</a:t>
            </a:r>
            <a:r>
              <a:rPr lang="en-US" altLang="zh-CN" sz="2000" dirty="0"/>
              <a:t>DAC</a:t>
            </a:r>
            <a:r>
              <a:rPr lang="zh-CN" altLang="zh-CN" sz="2000" dirty="0"/>
              <a:t>使产品达到</a:t>
            </a:r>
            <a:r>
              <a:rPr lang="en-US" altLang="zh-CN" sz="2000" dirty="0"/>
              <a:t>C2</a:t>
            </a:r>
            <a:r>
              <a:rPr lang="zh-CN" altLang="zh-CN" sz="2000" dirty="0"/>
              <a:t>级。</a:t>
            </a:r>
          </a:p>
          <a:p>
            <a:r>
              <a:rPr lang="en-US" altLang="zh-CN" sz="2000" dirty="0">
                <a:solidFill>
                  <a:srgbClr val="0000FF"/>
                </a:solidFill>
              </a:rPr>
              <a:t>B1</a:t>
            </a:r>
            <a:r>
              <a:rPr lang="zh-CN" altLang="zh-CN" sz="2000" dirty="0">
                <a:solidFill>
                  <a:srgbClr val="0000FF"/>
                </a:solidFill>
              </a:rPr>
              <a:t>：</a:t>
            </a:r>
            <a:r>
              <a:rPr lang="zh-CN" altLang="zh-CN" sz="2000" dirty="0"/>
              <a:t>标记安全保护。通过对数据加标记，实施主体和客体的</a:t>
            </a:r>
            <a:r>
              <a:rPr lang="zh-CN" altLang="zh-CN" sz="2000" dirty="0">
                <a:solidFill>
                  <a:srgbClr val="0000FF"/>
                </a:solidFill>
              </a:rPr>
              <a:t>强制存取控制</a:t>
            </a:r>
            <a:r>
              <a:rPr lang="en-US" altLang="zh-CN" sz="2000" dirty="0"/>
              <a:t>( Mandatory Access Control</a:t>
            </a:r>
            <a:r>
              <a:rPr lang="zh-CN" altLang="zh-CN" sz="2000" dirty="0"/>
              <a:t>，</a:t>
            </a:r>
            <a:r>
              <a:rPr lang="en-US" altLang="zh-CN" sz="2000" dirty="0">
                <a:solidFill>
                  <a:srgbClr val="0000FF"/>
                </a:solidFill>
              </a:rPr>
              <a:t>MAC</a:t>
            </a:r>
            <a:r>
              <a:rPr lang="en-US" altLang="zh-CN" sz="2000" dirty="0"/>
              <a:t> )</a:t>
            </a:r>
            <a:r>
              <a:rPr lang="zh-CN" altLang="zh-CN" sz="2000" dirty="0"/>
              <a:t>，从而提供安全</a:t>
            </a:r>
            <a:r>
              <a:rPr lang="en-US" altLang="zh-CN" sz="2000" dirty="0"/>
              <a:t>(Security)</a:t>
            </a:r>
            <a:r>
              <a:rPr lang="zh-CN" altLang="zh-CN" sz="2000" dirty="0"/>
              <a:t>可信</a:t>
            </a:r>
            <a:r>
              <a:rPr lang="en-US" altLang="zh-CN" sz="2000" dirty="0"/>
              <a:t>(Trusted)</a:t>
            </a:r>
            <a:r>
              <a:rPr lang="zh-CN" altLang="zh-CN" sz="2000" dirty="0"/>
              <a:t>产品。即</a:t>
            </a:r>
            <a:r>
              <a:rPr lang="zh-CN" altLang="zh-CN" sz="2000" dirty="0" smtClean="0"/>
              <a:t>：</a:t>
            </a:r>
            <a:endParaRPr lang="en-US" altLang="zh-CN" sz="2000" dirty="0" smtClean="0"/>
          </a:p>
          <a:p>
            <a:pPr marL="901700" indent="0">
              <a:buNone/>
            </a:pPr>
            <a:r>
              <a:rPr lang="en-US" altLang="zh-CN" sz="2000" dirty="0" smtClean="0">
                <a:solidFill>
                  <a:srgbClr val="0000FF"/>
                </a:solidFill>
              </a:rPr>
              <a:t>MAC</a:t>
            </a:r>
            <a:r>
              <a:rPr lang="zh-CN" altLang="zh-CN" sz="2000" dirty="0">
                <a:solidFill>
                  <a:srgbClr val="0000FF"/>
                </a:solidFill>
              </a:rPr>
              <a:t>使产品达到</a:t>
            </a:r>
            <a:r>
              <a:rPr lang="en-US" altLang="zh-CN" sz="2000" dirty="0">
                <a:solidFill>
                  <a:srgbClr val="0000FF"/>
                </a:solidFill>
              </a:rPr>
              <a:t>B1</a:t>
            </a:r>
            <a:r>
              <a:rPr lang="zh-CN" altLang="zh-CN" sz="2000" dirty="0">
                <a:solidFill>
                  <a:srgbClr val="0000FF"/>
                </a:solidFill>
              </a:rPr>
              <a:t>级</a:t>
            </a:r>
            <a:r>
              <a:rPr lang="zh-CN" altLang="zh-CN" sz="2000" dirty="0"/>
              <a:t>。</a:t>
            </a:r>
          </a:p>
        </p:txBody>
      </p:sp>
    </p:spTree>
    <p:extLst>
      <p:ext uri="{BB962C8B-B14F-4D97-AF65-F5344CB8AC3E}">
        <p14:creationId xmlns:p14="http://schemas.microsoft.com/office/powerpoint/2010/main" val="18822008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7.1.2  </a:t>
            </a:r>
            <a:r>
              <a:rPr lang="zh-CN" altLang="zh-CN" dirty="0"/>
              <a:t>数据安全模型</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2019年9月8日星期日9时4分54秒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7</a:t>
            </a:fld>
            <a:endParaRPr lang="zh-CN" altLang="en-US" dirty="0"/>
          </a:p>
        </p:txBody>
      </p:sp>
      <p:sp>
        <p:nvSpPr>
          <p:cNvPr id="7" name="文本占位符 6"/>
          <p:cNvSpPr>
            <a:spLocks noGrp="1"/>
          </p:cNvSpPr>
          <p:nvPr>
            <p:ph type="body" idx="1"/>
          </p:nvPr>
        </p:nvSpPr>
        <p:spPr>
          <a:xfrm>
            <a:off x="107504" y="764704"/>
            <a:ext cx="8856984" cy="3312368"/>
          </a:xfrm>
        </p:spPr>
        <p:txBody>
          <a:bodyPr>
            <a:noAutofit/>
          </a:bodyPr>
          <a:lstStyle/>
          <a:p>
            <a:r>
              <a:rPr lang="zh-CN" altLang="zh-CN" sz="2000" dirty="0"/>
              <a:t>完全稳定的计算机系统（硬件和软件）以及网络环境是数据安全的基础。</a:t>
            </a:r>
          </a:p>
          <a:p>
            <a:r>
              <a:rPr lang="zh-CN" altLang="zh-CN" sz="2000" dirty="0" smtClean="0">
                <a:solidFill>
                  <a:srgbClr val="0000FF"/>
                </a:solidFill>
              </a:rPr>
              <a:t>计算机系统安全</a:t>
            </a:r>
            <a:r>
              <a:rPr lang="zh-CN" altLang="en-US" sz="2000" dirty="0" smtClean="0">
                <a:solidFill>
                  <a:srgbClr val="0000FF"/>
                </a:solidFill>
              </a:rPr>
              <a:t>：</a:t>
            </a:r>
            <a:r>
              <a:rPr lang="zh-CN" altLang="zh-CN" sz="2000" dirty="0" smtClean="0"/>
              <a:t>为了</a:t>
            </a:r>
            <a:r>
              <a:rPr lang="zh-CN" altLang="zh-CN" sz="2000" dirty="0"/>
              <a:t>保护计算机系统的硬件、软件及其数据，避免遭到偶然或自然、无意或有意的破坏或泄露，而采取的保护措施。内容包括</a:t>
            </a:r>
            <a:r>
              <a:rPr lang="zh-CN" altLang="zh-CN" sz="2000" dirty="0">
                <a:solidFill>
                  <a:srgbClr val="0000FF"/>
                </a:solidFill>
              </a:rPr>
              <a:t>技术安全（核心）、管理安全和政策法律</a:t>
            </a:r>
            <a:r>
              <a:rPr lang="zh-CN" altLang="zh-CN" sz="2000" dirty="0"/>
              <a:t>。</a:t>
            </a:r>
          </a:p>
          <a:p>
            <a:r>
              <a:rPr lang="zh-CN" altLang="zh-CN" sz="2000" dirty="0">
                <a:solidFill>
                  <a:srgbClr val="0000FF"/>
                </a:solidFill>
              </a:rPr>
              <a:t>技术</a:t>
            </a:r>
            <a:r>
              <a:rPr lang="zh-CN" altLang="zh-CN" sz="2000" dirty="0" smtClean="0">
                <a:solidFill>
                  <a:srgbClr val="0000FF"/>
                </a:solidFill>
              </a:rPr>
              <a:t>安全</a:t>
            </a:r>
            <a:r>
              <a:rPr lang="zh-CN" altLang="en-US" sz="2000" dirty="0" smtClean="0">
                <a:solidFill>
                  <a:srgbClr val="0000FF"/>
                </a:solidFill>
              </a:rPr>
              <a:t>：</a:t>
            </a:r>
            <a:r>
              <a:rPr lang="zh-CN" altLang="zh-CN" sz="2000" dirty="0" smtClean="0"/>
              <a:t>利用</a:t>
            </a:r>
            <a:r>
              <a:rPr lang="zh-CN" altLang="zh-CN" sz="2000" dirty="0"/>
              <a:t>硬件和软件的安全技术，实现对计算机系统及其数据的保护，当系统受到攻击时仍能保证系统的正常运行，确保数据不会受破坏和泄漏</a:t>
            </a:r>
            <a:r>
              <a:rPr lang="zh-CN" altLang="zh-CN" sz="2000" dirty="0" smtClean="0"/>
              <a:t>。</a:t>
            </a:r>
            <a:r>
              <a:rPr lang="zh-CN" altLang="zh-CN" sz="2000" dirty="0" smtClean="0">
                <a:solidFill>
                  <a:srgbClr val="0000FF"/>
                </a:solidFill>
              </a:rPr>
              <a:t>数据安全</a:t>
            </a:r>
            <a:r>
              <a:rPr lang="zh-CN" altLang="zh-CN" sz="2000" dirty="0">
                <a:solidFill>
                  <a:srgbClr val="0000FF"/>
                </a:solidFill>
              </a:rPr>
              <a:t>模型</a:t>
            </a:r>
            <a:r>
              <a:rPr lang="zh-CN" altLang="zh-CN" sz="2000" dirty="0"/>
              <a:t>如图</a:t>
            </a:r>
            <a:r>
              <a:rPr lang="en-US" altLang="zh-CN" sz="2000" dirty="0"/>
              <a:t>7.1</a:t>
            </a:r>
            <a:r>
              <a:rPr lang="zh-CN" altLang="zh-CN" sz="2000" dirty="0"/>
              <a:t>所示。</a:t>
            </a:r>
          </a:p>
        </p:txBody>
      </p:sp>
      <p:grpSp>
        <p:nvGrpSpPr>
          <p:cNvPr id="8" name="组合 7"/>
          <p:cNvGrpSpPr/>
          <p:nvPr/>
        </p:nvGrpSpPr>
        <p:grpSpPr>
          <a:xfrm>
            <a:off x="179512" y="4509116"/>
            <a:ext cx="8784976" cy="1224285"/>
            <a:chOff x="0" y="-2"/>
            <a:chExt cx="4645663" cy="590622"/>
          </a:xfrm>
        </p:grpSpPr>
        <p:sp>
          <p:nvSpPr>
            <p:cNvPr id="9" name="AutoShape 3"/>
            <p:cNvSpPr>
              <a:spLocks noChangeArrowheads="1"/>
            </p:cNvSpPr>
            <p:nvPr/>
          </p:nvSpPr>
          <p:spPr bwMode="auto">
            <a:xfrm>
              <a:off x="1123950" y="228600"/>
              <a:ext cx="311785" cy="94989"/>
            </a:xfrm>
            <a:prstGeom prst="leftRightArrow">
              <a:avLst>
                <a:gd name="adj1" fmla="val 50000"/>
                <a:gd name="adj2" fmla="val 51429"/>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nSpc>
                  <a:spcPts val="2500"/>
                </a:lnSpc>
              </a:pPr>
              <a:endParaRPr lang="zh-CN" altLang="en-US" sz="1600">
                <a:solidFill>
                  <a:srgbClr val="0000FF"/>
                </a:solidFill>
                <a:latin typeface="微软雅黑" pitchFamily="34" charset="-122"/>
                <a:ea typeface="微软雅黑" pitchFamily="34" charset="-122"/>
              </a:endParaRPr>
            </a:p>
          </p:txBody>
        </p:sp>
        <p:sp>
          <p:nvSpPr>
            <p:cNvPr id="10" name="AutoShape 4"/>
            <p:cNvSpPr>
              <a:spLocks noChangeArrowheads="1"/>
            </p:cNvSpPr>
            <p:nvPr/>
          </p:nvSpPr>
          <p:spPr bwMode="auto">
            <a:xfrm>
              <a:off x="1438275" y="0"/>
              <a:ext cx="1007745" cy="590550"/>
            </a:xfrm>
            <a:prstGeom prst="plaque">
              <a:avLst>
                <a:gd name="adj" fmla="val 16667"/>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lnSpc>
                  <a:spcPts val="2500"/>
                </a:lnSpc>
                <a:spcAft>
                  <a:spcPts val="0"/>
                </a:spcAft>
                <a:tabLst>
                  <a:tab pos="-76200" algn="l"/>
                  <a:tab pos="5257800" algn="l"/>
                </a:tabLst>
              </a:pPr>
              <a:r>
                <a:rPr lang="zh-CN" sz="1600" dirty="0">
                  <a:solidFill>
                    <a:srgbClr val="0000FF"/>
                  </a:solidFill>
                  <a:effectLst/>
                  <a:latin typeface="微软雅黑" pitchFamily="34" charset="-122"/>
                  <a:ea typeface="微软雅黑" pitchFamily="34" charset="-122"/>
                  <a:cs typeface="Times New Roman"/>
                </a:rPr>
                <a:t>数据库系统安全</a:t>
              </a:r>
            </a:p>
            <a:p>
              <a:pPr algn="ctr">
                <a:lnSpc>
                  <a:spcPts val="2500"/>
                </a:lnSpc>
                <a:spcAft>
                  <a:spcPts val="0"/>
                </a:spcAft>
                <a:tabLst>
                  <a:tab pos="-76200" algn="l"/>
                  <a:tab pos="5257800" algn="l"/>
                </a:tabLst>
              </a:pPr>
              <a:r>
                <a:rPr lang="zh-CN" sz="1600" dirty="0">
                  <a:solidFill>
                    <a:srgbClr val="0000FF"/>
                  </a:solidFill>
                  <a:effectLst/>
                  <a:latin typeface="微软雅黑" pitchFamily="34" charset="-122"/>
                  <a:ea typeface="微软雅黑" pitchFamily="34" charset="-122"/>
                  <a:cs typeface="Times New Roman"/>
                </a:rPr>
                <a:t>（</a:t>
              </a:r>
              <a:r>
                <a:rPr lang="en-US" sz="1600" dirty="0">
                  <a:solidFill>
                    <a:srgbClr val="0000FF"/>
                  </a:solidFill>
                  <a:effectLst/>
                  <a:latin typeface="微软雅黑" pitchFamily="34" charset="-122"/>
                  <a:ea typeface="微软雅黑" pitchFamily="34" charset="-122"/>
                  <a:cs typeface="Times New Roman"/>
                </a:rPr>
                <a:t>DBMS</a:t>
              </a:r>
              <a:r>
                <a:rPr lang="zh-CN" sz="1600" dirty="0">
                  <a:solidFill>
                    <a:srgbClr val="0000FF"/>
                  </a:solidFill>
                  <a:effectLst/>
                  <a:latin typeface="微软雅黑" pitchFamily="34" charset="-122"/>
                  <a:ea typeface="微软雅黑" pitchFamily="34" charset="-122"/>
                  <a:cs typeface="Times New Roman"/>
                </a:rPr>
                <a:t>）</a:t>
              </a:r>
            </a:p>
          </p:txBody>
        </p:sp>
        <p:grpSp>
          <p:nvGrpSpPr>
            <p:cNvPr id="11" name="Group 6"/>
            <p:cNvGrpSpPr>
              <a:grpSpLocks/>
            </p:cNvGrpSpPr>
            <p:nvPr/>
          </p:nvGrpSpPr>
          <p:grpSpPr bwMode="auto">
            <a:xfrm>
              <a:off x="2724152" y="-2"/>
              <a:ext cx="1921511" cy="590622"/>
              <a:chOff x="5694" y="4896"/>
              <a:chExt cx="2928" cy="1006"/>
            </a:xfrm>
          </p:grpSpPr>
          <p:sp>
            <p:nvSpPr>
              <p:cNvPr id="14" name="AutoShape 7"/>
              <p:cNvSpPr>
                <a:spLocks noChangeArrowheads="1"/>
              </p:cNvSpPr>
              <p:nvPr/>
            </p:nvSpPr>
            <p:spPr bwMode="auto">
              <a:xfrm>
                <a:off x="7518" y="4896"/>
                <a:ext cx="1104" cy="1006"/>
              </a:xfrm>
              <a:prstGeom prst="can">
                <a:avLst>
                  <a:gd name="adj" fmla="val 23037"/>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59436" tIns="29718" rIns="59436" bIns="29718" anchor="ctr" anchorCtr="0" upright="1">
                <a:noAutofit/>
              </a:bodyPr>
              <a:lstStyle/>
              <a:p>
                <a:pPr algn="ctr">
                  <a:lnSpc>
                    <a:spcPts val="2500"/>
                  </a:lnSpc>
                  <a:spcAft>
                    <a:spcPts val="0"/>
                  </a:spcAft>
                  <a:tabLst>
                    <a:tab pos="-76200" algn="l"/>
                    <a:tab pos="5257800" algn="l"/>
                  </a:tabLst>
                </a:pPr>
                <a:r>
                  <a:rPr lang="zh-CN" sz="1600" dirty="0">
                    <a:solidFill>
                      <a:srgbClr val="0000FF"/>
                    </a:solidFill>
                    <a:effectLst/>
                    <a:latin typeface="微软雅黑" pitchFamily="34" charset="-122"/>
                    <a:ea typeface="微软雅黑" pitchFamily="34" charset="-122"/>
                    <a:cs typeface="Times New Roman"/>
                  </a:rPr>
                  <a:t>数据密码存储</a:t>
                </a:r>
              </a:p>
              <a:p>
                <a:pPr algn="ctr">
                  <a:lnSpc>
                    <a:spcPts val="2500"/>
                  </a:lnSpc>
                  <a:spcAft>
                    <a:spcPts val="0"/>
                  </a:spcAft>
                  <a:tabLst>
                    <a:tab pos="-76200" algn="l"/>
                    <a:tab pos="5257800" algn="l"/>
                  </a:tabLst>
                </a:pPr>
                <a:r>
                  <a:rPr lang="en-US" sz="1600" dirty="0">
                    <a:solidFill>
                      <a:srgbClr val="0000FF"/>
                    </a:solidFill>
                    <a:effectLst/>
                    <a:latin typeface="微软雅黑" pitchFamily="34" charset="-122"/>
                    <a:ea typeface="微软雅黑" pitchFamily="34" charset="-122"/>
                    <a:cs typeface="Times New Roman"/>
                  </a:rPr>
                  <a:t>(DB)</a:t>
                </a:r>
                <a:endParaRPr lang="zh-CN" sz="1600" dirty="0">
                  <a:solidFill>
                    <a:srgbClr val="0000FF"/>
                  </a:solidFill>
                  <a:effectLst/>
                  <a:latin typeface="微软雅黑" pitchFamily="34" charset="-122"/>
                  <a:ea typeface="微软雅黑" pitchFamily="34" charset="-122"/>
                  <a:cs typeface="Times New Roman"/>
                </a:endParaRPr>
              </a:p>
            </p:txBody>
          </p:sp>
          <p:sp>
            <p:nvSpPr>
              <p:cNvPr id="15" name="AutoShape 8"/>
              <p:cNvSpPr>
                <a:spLocks noChangeArrowheads="1"/>
              </p:cNvSpPr>
              <p:nvPr/>
            </p:nvSpPr>
            <p:spPr bwMode="auto">
              <a:xfrm>
                <a:off x="5694" y="4896"/>
                <a:ext cx="1392" cy="1006"/>
              </a:xfrm>
              <a:prstGeom prst="roundRect">
                <a:avLst>
                  <a:gd name="adj" fmla="val 50000"/>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lnSpc>
                    <a:spcPts val="2500"/>
                  </a:lnSpc>
                  <a:spcBef>
                    <a:spcPts val="300"/>
                  </a:spcBef>
                  <a:spcAft>
                    <a:spcPts val="0"/>
                  </a:spcAft>
                  <a:tabLst>
                    <a:tab pos="-76200" algn="l"/>
                    <a:tab pos="5257800" algn="l"/>
                  </a:tabLst>
                </a:pPr>
                <a:r>
                  <a:rPr lang="zh-CN" sz="1600" dirty="0" smtClean="0">
                    <a:solidFill>
                      <a:srgbClr val="0000FF"/>
                    </a:solidFill>
                    <a:effectLst/>
                    <a:latin typeface="微软雅黑" pitchFamily="34" charset="-122"/>
                    <a:ea typeface="微软雅黑" pitchFamily="34" charset="-122"/>
                    <a:cs typeface="Times New Roman"/>
                  </a:rPr>
                  <a:t>操作系统</a:t>
                </a:r>
                <a:r>
                  <a:rPr lang="zh-CN" sz="1600" dirty="0">
                    <a:solidFill>
                      <a:srgbClr val="0000FF"/>
                    </a:solidFill>
                    <a:effectLst/>
                    <a:latin typeface="微软雅黑" pitchFamily="34" charset="-122"/>
                    <a:ea typeface="微软雅黑" pitchFamily="34" charset="-122"/>
                    <a:cs typeface="Times New Roman"/>
                  </a:rPr>
                  <a:t>安全</a:t>
                </a:r>
              </a:p>
              <a:p>
                <a:pPr algn="ctr">
                  <a:lnSpc>
                    <a:spcPts val="2500"/>
                  </a:lnSpc>
                  <a:spcAft>
                    <a:spcPts val="0"/>
                  </a:spcAft>
                  <a:tabLst>
                    <a:tab pos="-76200" algn="l"/>
                    <a:tab pos="5257800" algn="l"/>
                  </a:tabLst>
                </a:pPr>
                <a:r>
                  <a:rPr lang="zh-CN" sz="1600" dirty="0">
                    <a:solidFill>
                      <a:srgbClr val="0000FF"/>
                    </a:solidFill>
                    <a:effectLst/>
                    <a:latin typeface="微软雅黑" pitchFamily="34" charset="-122"/>
                    <a:ea typeface="微软雅黑" pitchFamily="34" charset="-122"/>
                    <a:cs typeface="Times New Roman"/>
                  </a:rPr>
                  <a:t>（</a:t>
                </a:r>
                <a:r>
                  <a:rPr lang="en-US" sz="1600" dirty="0">
                    <a:solidFill>
                      <a:srgbClr val="0000FF"/>
                    </a:solidFill>
                    <a:effectLst/>
                    <a:latin typeface="微软雅黑" pitchFamily="34" charset="-122"/>
                    <a:ea typeface="微软雅黑" pitchFamily="34" charset="-122"/>
                    <a:cs typeface="Times New Roman"/>
                  </a:rPr>
                  <a:t>OS</a:t>
                </a:r>
                <a:r>
                  <a:rPr lang="zh-CN" sz="1600" dirty="0">
                    <a:solidFill>
                      <a:srgbClr val="0000FF"/>
                    </a:solidFill>
                    <a:effectLst/>
                    <a:latin typeface="微软雅黑" pitchFamily="34" charset="-122"/>
                    <a:ea typeface="微软雅黑" pitchFamily="34" charset="-122"/>
                    <a:cs typeface="Times New Roman"/>
                  </a:rPr>
                  <a:t>）</a:t>
                </a:r>
              </a:p>
            </p:txBody>
          </p:sp>
          <p:sp>
            <p:nvSpPr>
              <p:cNvPr id="16" name="AutoShape 9"/>
              <p:cNvSpPr>
                <a:spLocks noChangeArrowheads="1"/>
              </p:cNvSpPr>
              <p:nvPr/>
            </p:nvSpPr>
            <p:spPr bwMode="auto">
              <a:xfrm>
                <a:off x="7086" y="5275"/>
                <a:ext cx="432" cy="168"/>
              </a:xfrm>
              <a:prstGeom prst="leftRightArrow">
                <a:avLst>
                  <a:gd name="adj1" fmla="val 50000"/>
                  <a:gd name="adj2" fmla="val 51429"/>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nSpc>
                    <a:spcPts val="2500"/>
                  </a:lnSpc>
                </a:pPr>
                <a:endParaRPr lang="zh-CN" altLang="en-US" sz="1600">
                  <a:solidFill>
                    <a:srgbClr val="0000FF"/>
                  </a:solidFill>
                  <a:latin typeface="微软雅黑" pitchFamily="34" charset="-122"/>
                  <a:ea typeface="微软雅黑" pitchFamily="34" charset="-122"/>
                </a:endParaRPr>
              </a:p>
            </p:txBody>
          </p:sp>
        </p:grpSp>
        <p:sp>
          <p:nvSpPr>
            <p:cNvPr id="12" name="AutoShape 10"/>
            <p:cNvSpPr>
              <a:spLocks noChangeArrowheads="1"/>
            </p:cNvSpPr>
            <p:nvPr/>
          </p:nvSpPr>
          <p:spPr bwMode="auto">
            <a:xfrm>
              <a:off x="2438400" y="209550"/>
              <a:ext cx="283210" cy="98425"/>
            </a:xfrm>
            <a:prstGeom prst="leftRightArrow">
              <a:avLst>
                <a:gd name="adj1" fmla="val 50000"/>
                <a:gd name="adj2" fmla="val 51429"/>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nSpc>
                  <a:spcPts val="2500"/>
                </a:lnSpc>
              </a:pPr>
              <a:endParaRPr lang="zh-CN" altLang="en-US" sz="1600">
                <a:solidFill>
                  <a:srgbClr val="0000FF"/>
                </a:solidFill>
                <a:latin typeface="微软雅黑" pitchFamily="34" charset="-122"/>
                <a:ea typeface="微软雅黑" pitchFamily="34" charset="-122"/>
              </a:endParaRPr>
            </a:p>
          </p:txBody>
        </p:sp>
        <p:sp>
          <p:nvSpPr>
            <p:cNvPr id="13" name="八边形 12"/>
            <p:cNvSpPr/>
            <p:nvPr/>
          </p:nvSpPr>
          <p:spPr>
            <a:xfrm>
              <a:off x="0" y="0"/>
              <a:ext cx="1123950" cy="590550"/>
            </a:xfrm>
            <a:prstGeom prst="octagon">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ts val="2500"/>
                </a:lnSpc>
                <a:spcBef>
                  <a:spcPts val="1200"/>
                </a:spcBef>
                <a:spcAft>
                  <a:spcPts val="0"/>
                </a:spcAft>
                <a:tabLst>
                  <a:tab pos="-76200" algn="l"/>
                  <a:tab pos="5257800" algn="l"/>
                </a:tabLst>
              </a:pPr>
              <a:endParaRPr lang="en-US" altLang="zh-CN" sz="1600" dirty="0" smtClean="0">
                <a:solidFill>
                  <a:srgbClr val="0000FF"/>
                </a:solidFill>
                <a:effectLst/>
                <a:latin typeface="微软雅黑" pitchFamily="34" charset="-122"/>
                <a:ea typeface="微软雅黑" pitchFamily="34" charset="-122"/>
                <a:cs typeface="Times New Roman"/>
              </a:endParaRPr>
            </a:p>
            <a:p>
              <a:pPr algn="ctr">
                <a:lnSpc>
                  <a:spcPts val="2500"/>
                </a:lnSpc>
                <a:spcBef>
                  <a:spcPts val="600"/>
                </a:spcBef>
                <a:spcAft>
                  <a:spcPts val="0"/>
                </a:spcAft>
                <a:tabLst>
                  <a:tab pos="-76200" algn="l"/>
                  <a:tab pos="5257800" algn="l"/>
                </a:tabLst>
              </a:pPr>
              <a:r>
                <a:rPr lang="zh-CN" sz="1600" dirty="0" smtClean="0">
                  <a:solidFill>
                    <a:srgbClr val="0000FF"/>
                  </a:solidFill>
                  <a:effectLst/>
                  <a:latin typeface="微软雅黑" pitchFamily="34" charset="-122"/>
                  <a:ea typeface="微软雅黑" pitchFamily="34" charset="-122"/>
                  <a:cs typeface="Times New Roman"/>
                </a:rPr>
                <a:t>用户</a:t>
              </a:r>
              <a:r>
                <a:rPr lang="zh-CN" sz="1600" dirty="0">
                  <a:solidFill>
                    <a:srgbClr val="0000FF"/>
                  </a:solidFill>
                  <a:effectLst/>
                  <a:latin typeface="微软雅黑" pitchFamily="34" charset="-122"/>
                  <a:ea typeface="微软雅黑" pitchFamily="34" charset="-122"/>
                  <a:cs typeface="Times New Roman"/>
                </a:rPr>
                <a:t>标识和鉴别</a:t>
              </a:r>
            </a:p>
            <a:p>
              <a:pPr algn="ctr">
                <a:lnSpc>
                  <a:spcPts val="2500"/>
                </a:lnSpc>
                <a:spcBef>
                  <a:spcPts val="600"/>
                </a:spcBef>
                <a:spcAft>
                  <a:spcPts val="0"/>
                </a:spcAft>
                <a:tabLst>
                  <a:tab pos="-76200" algn="l"/>
                  <a:tab pos="5257800" algn="l"/>
                </a:tabLst>
              </a:pPr>
              <a:r>
                <a:rPr lang="zh-CN" sz="1600" dirty="0">
                  <a:solidFill>
                    <a:srgbClr val="0000FF"/>
                  </a:solidFill>
                  <a:effectLst/>
                  <a:latin typeface="微软雅黑" pitchFamily="34" charset="-122"/>
                  <a:ea typeface="微软雅黑" pitchFamily="34" charset="-122"/>
                  <a:cs typeface="Times New Roman"/>
                </a:rPr>
                <a:t>（</a:t>
              </a:r>
              <a:r>
                <a:rPr lang="en-US" sz="1600" dirty="0">
                  <a:solidFill>
                    <a:srgbClr val="0000FF"/>
                  </a:solidFill>
                  <a:effectLst/>
                  <a:latin typeface="微软雅黑" pitchFamily="34" charset="-122"/>
                  <a:ea typeface="微软雅黑" pitchFamily="34" charset="-122"/>
                  <a:cs typeface="Times New Roman"/>
                </a:rPr>
                <a:t>User</a:t>
              </a:r>
              <a:r>
                <a:rPr lang="zh-CN" sz="1600" dirty="0">
                  <a:solidFill>
                    <a:srgbClr val="0000FF"/>
                  </a:solidFill>
                  <a:effectLst/>
                  <a:latin typeface="微软雅黑" pitchFamily="34" charset="-122"/>
                  <a:ea typeface="微软雅黑" pitchFamily="34" charset="-122"/>
                  <a:cs typeface="Times New Roman"/>
                </a:rPr>
                <a:t>）</a:t>
              </a:r>
            </a:p>
            <a:p>
              <a:pPr indent="254000" algn="ctr">
                <a:lnSpc>
                  <a:spcPts val="2500"/>
                </a:lnSpc>
                <a:spcAft>
                  <a:spcPts val="0"/>
                </a:spcAft>
              </a:pPr>
              <a:r>
                <a:rPr lang="en-US" sz="1600" dirty="0">
                  <a:solidFill>
                    <a:srgbClr val="0000FF"/>
                  </a:solidFill>
                  <a:effectLst/>
                  <a:latin typeface="微软雅黑" pitchFamily="34" charset="-122"/>
                  <a:ea typeface="微软雅黑" pitchFamily="34" charset="-122"/>
                  <a:cs typeface="宋体"/>
                </a:rPr>
                <a:t> </a:t>
              </a:r>
              <a:endParaRPr lang="zh-CN" sz="1600" dirty="0">
                <a:solidFill>
                  <a:srgbClr val="0000FF"/>
                </a:solidFill>
                <a:effectLst/>
                <a:latin typeface="微软雅黑" pitchFamily="34" charset="-122"/>
                <a:ea typeface="微软雅黑" pitchFamily="34" charset="-122"/>
                <a:cs typeface="宋体"/>
              </a:endParaRPr>
            </a:p>
          </p:txBody>
        </p:sp>
      </p:grpSp>
    </p:spTree>
    <p:extLst>
      <p:ext uri="{BB962C8B-B14F-4D97-AF65-F5344CB8AC3E}">
        <p14:creationId xmlns:p14="http://schemas.microsoft.com/office/powerpoint/2010/main" val="14020969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7.1.2  </a:t>
            </a:r>
            <a:r>
              <a:rPr lang="zh-CN" altLang="zh-CN" dirty="0"/>
              <a:t>数据安全模型</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2019年9月8日星期日9时4分54秒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8</a:t>
            </a:fld>
            <a:endParaRPr lang="zh-CN" altLang="en-US" dirty="0"/>
          </a:p>
        </p:txBody>
      </p:sp>
      <p:sp>
        <p:nvSpPr>
          <p:cNvPr id="7" name="文本占位符 6"/>
          <p:cNvSpPr>
            <a:spLocks noGrp="1"/>
          </p:cNvSpPr>
          <p:nvPr>
            <p:ph type="body" idx="1"/>
          </p:nvPr>
        </p:nvSpPr>
        <p:spPr>
          <a:xfrm>
            <a:off x="107504" y="764704"/>
            <a:ext cx="8856984" cy="5544616"/>
          </a:xfrm>
        </p:spPr>
        <p:txBody>
          <a:bodyPr>
            <a:noAutofit/>
          </a:bodyPr>
          <a:lstStyle/>
          <a:p>
            <a:r>
              <a:rPr lang="zh-CN" altLang="zh-CN" sz="2000" dirty="0">
                <a:solidFill>
                  <a:srgbClr val="0000FF"/>
                </a:solidFill>
              </a:rPr>
              <a:t>安全模型工作原理：</a:t>
            </a:r>
            <a:r>
              <a:rPr lang="zh-CN" altLang="zh-CN" sz="2000" dirty="0"/>
              <a:t>在访问计算机系统时，首先输入鉴别用户身份的用户名和密码，其次输入访问操作系统的帐号与密码，然后再导入符合数据加密标准（</a:t>
            </a:r>
            <a:r>
              <a:rPr lang="en-US" altLang="zh-CN" sz="2000" dirty="0"/>
              <a:t>Data Encryption Standard</a:t>
            </a:r>
            <a:r>
              <a:rPr lang="zh-CN" altLang="zh-CN" sz="2000" dirty="0"/>
              <a:t>，</a:t>
            </a:r>
            <a:r>
              <a:rPr lang="en-US" altLang="zh-CN" sz="2000" dirty="0"/>
              <a:t>DES)</a:t>
            </a:r>
            <a:r>
              <a:rPr lang="zh-CN" altLang="zh-CN" sz="2000" dirty="0"/>
              <a:t>的解密程序对加密数据进行解密，最后通过</a:t>
            </a:r>
            <a:r>
              <a:rPr lang="en-US" altLang="zh-CN" sz="2000" dirty="0"/>
              <a:t>DBMS</a:t>
            </a:r>
            <a:r>
              <a:rPr lang="zh-CN" altLang="zh-CN" sz="2000" dirty="0"/>
              <a:t>读取访问权限，对授权的数据库进行访问。</a:t>
            </a:r>
          </a:p>
          <a:p>
            <a:r>
              <a:rPr lang="zh-CN" altLang="zh-CN" sz="2000" dirty="0"/>
              <a:t>因此，通过数据安全模型的四层保护，可以有效地保护数据的安全。</a:t>
            </a:r>
          </a:p>
        </p:txBody>
      </p:sp>
    </p:spTree>
    <p:extLst>
      <p:ext uri="{BB962C8B-B14F-4D97-AF65-F5344CB8AC3E}">
        <p14:creationId xmlns:p14="http://schemas.microsoft.com/office/powerpoint/2010/main" val="21140480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8219256" cy="706090"/>
          </a:xfrm>
        </p:spPr>
        <p:txBody>
          <a:bodyPr/>
          <a:lstStyle/>
          <a:p>
            <a:pPr lvl="0">
              <a:lnSpc>
                <a:spcPts val="4600"/>
              </a:lnSpc>
            </a:pPr>
            <a:r>
              <a:rPr lang="en-US" altLang="zh-CN" dirty="0"/>
              <a:t>7.2  </a:t>
            </a:r>
            <a:r>
              <a:rPr lang="zh-CN" altLang="zh-CN" dirty="0"/>
              <a:t>数据安全控制</a:t>
            </a:r>
            <a:endParaRPr lang="en-US" altLang="zh-CN" dirty="0">
              <a:solidFill>
                <a:srgbClr val="0000FF"/>
              </a:solidFill>
            </a:endParaRPr>
          </a:p>
        </p:txBody>
      </p:sp>
      <p:sp>
        <p:nvSpPr>
          <p:cNvPr id="3" name="文本占位符 2"/>
          <p:cNvSpPr>
            <a:spLocks noGrp="1"/>
          </p:cNvSpPr>
          <p:nvPr>
            <p:ph type="body" idx="1"/>
          </p:nvPr>
        </p:nvSpPr>
        <p:spPr>
          <a:xfrm>
            <a:off x="107504" y="1052736"/>
            <a:ext cx="8856984" cy="5256584"/>
          </a:xfrm>
        </p:spPr>
        <p:txBody>
          <a:bodyPr>
            <a:noAutofit/>
          </a:bodyPr>
          <a:lstStyle/>
          <a:p>
            <a:pPr marL="444500" indent="-444500">
              <a:lnSpc>
                <a:spcPts val="5600"/>
              </a:lnSpc>
            </a:pPr>
            <a:r>
              <a:rPr lang="zh-CN" altLang="zh-CN" sz="2800" dirty="0">
                <a:solidFill>
                  <a:srgbClr val="0000FF"/>
                </a:solidFill>
              </a:rPr>
              <a:t>数据（库）</a:t>
            </a:r>
            <a:r>
              <a:rPr lang="zh-CN" altLang="zh-CN" sz="2800" dirty="0" smtClean="0">
                <a:solidFill>
                  <a:srgbClr val="0000FF"/>
                </a:solidFill>
              </a:rPr>
              <a:t>安全</a:t>
            </a:r>
            <a:r>
              <a:rPr lang="zh-CN" altLang="en-US" sz="2800" dirty="0" smtClean="0">
                <a:solidFill>
                  <a:srgbClr val="0000FF"/>
                </a:solidFill>
              </a:rPr>
              <a:t>：</a:t>
            </a:r>
            <a:r>
              <a:rPr lang="zh-CN" altLang="zh-CN" sz="2800" dirty="0" smtClean="0"/>
              <a:t>保护</a:t>
            </a:r>
            <a:r>
              <a:rPr lang="zh-CN" altLang="zh-CN" sz="2800" dirty="0"/>
              <a:t>数据库防止非法使用造成的数据泄露、更改或破坏等</a:t>
            </a:r>
            <a:r>
              <a:rPr lang="zh-CN" altLang="zh-CN" sz="2800" dirty="0" smtClean="0"/>
              <a:t>。</a:t>
            </a:r>
            <a:endParaRPr lang="en-US" altLang="zh-CN" sz="2800" dirty="0" smtClean="0"/>
          </a:p>
          <a:p>
            <a:pPr marL="501650" lvl="1" indent="-457200">
              <a:lnSpc>
                <a:spcPts val="4600"/>
              </a:lnSpc>
              <a:buFont typeface="Wingdings" pitchFamily="2" charset="2"/>
              <a:buChar char="n"/>
            </a:pPr>
            <a:r>
              <a:rPr lang="zh-CN" altLang="zh-CN" sz="2800" dirty="0" smtClean="0">
                <a:solidFill>
                  <a:srgbClr val="0000FF"/>
                </a:solidFill>
              </a:rPr>
              <a:t>用户</a:t>
            </a:r>
            <a:r>
              <a:rPr lang="zh-CN" altLang="zh-CN" sz="2800" dirty="0">
                <a:solidFill>
                  <a:srgbClr val="0000FF"/>
                </a:solidFill>
              </a:rPr>
              <a:t>鉴别</a:t>
            </a:r>
          </a:p>
          <a:p>
            <a:pPr marL="501650" lvl="1" indent="-457200">
              <a:lnSpc>
                <a:spcPts val="4600"/>
              </a:lnSpc>
              <a:buFont typeface="Wingdings" pitchFamily="2" charset="2"/>
              <a:buChar char="n"/>
            </a:pPr>
            <a:r>
              <a:rPr lang="zh-CN" altLang="zh-CN" sz="2800" dirty="0">
                <a:solidFill>
                  <a:srgbClr val="0000FF"/>
                </a:solidFill>
              </a:rPr>
              <a:t>数据存取控制</a:t>
            </a:r>
          </a:p>
          <a:p>
            <a:pPr marL="501650" lvl="1" indent="-457200">
              <a:lnSpc>
                <a:spcPts val="4600"/>
              </a:lnSpc>
              <a:buFont typeface="Wingdings" pitchFamily="2" charset="2"/>
              <a:buChar char="n"/>
            </a:pPr>
            <a:r>
              <a:rPr lang="zh-CN" altLang="zh-CN" sz="2800" dirty="0">
                <a:solidFill>
                  <a:srgbClr val="0000FF"/>
                </a:solidFill>
              </a:rPr>
              <a:t>视图</a:t>
            </a:r>
          </a:p>
          <a:p>
            <a:pPr marL="501650" lvl="1" indent="-457200">
              <a:lnSpc>
                <a:spcPts val="4600"/>
              </a:lnSpc>
              <a:buFont typeface="Wingdings" pitchFamily="2" charset="2"/>
              <a:buChar char="n"/>
            </a:pPr>
            <a:r>
              <a:rPr lang="zh-CN" altLang="zh-CN" sz="2600" dirty="0">
                <a:solidFill>
                  <a:srgbClr val="0000FF"/>
                </a:solidFill>
              </a:rPr>
              <a:t>审计与数据加密</a:t>
            </a:r>
          </a:p>
        </p:txBody>
      </p:sp>
      <p:sp>
        <p:nvSpPr>
          <p:cNvPr id="4" name="日期占位符 3"/>
          <p:cNvSpPr>
            <a:spLocks noGrp="1"/>
          </p:cNvSpPr>
          <p:nvPr>
            <p:ph type="dt" sz="half" idx="10"/>
          </p:nvPr>
        </p:nvSpPr>
        <p:spPr/>
        <p:txBody>
          <a:bodyPr/>
          <a:lstStyle/>
          <a:p>
            <a:fld id="{F63EB1C2-2F1E-4814-9601-778F991498D1}" type="datetime9">
              <a:rPr lang="zh-CN" altLang="en-US" smtClean="0"/>
              <a:t>2019年9月8日星期日9时4分54秒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9</a:t>
            </a:fld>
            <a:endParaRPr lang="zh-CN" altLang="en-US" dirty="0"/>
          </a:p>
        </p:txBody>
      </p:sp>
    </p:spTree>
    <p:extLst>
      <p:ext uri="{BB962C8B-B14F-4D97-AF65-F5344CB8AC3E}">
        <p14:creationId xmlns:p14="http://schemas.microsoft.com/office/powerpoint/2010/main" val="30771175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7.2.1 </a:t>
            </a:r>
            <a:r>
              <a:rPr lang="zh-CN" altLang="zh-CN" dirty="0"/>
              <a:t>用户鉴别</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2019年9月8日星期日9时4分54秒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10</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dirty="0">
                <a:solidFill>
                  <a:srgbClr val="0000FF"/>
                </a:solidFill>
              </a:rPr>
              <a:t>用户</a:t>
            </a:r>
            <a:r>
              <a:rPr lang="zh-CN" altLang="zh-CN" dirty="0" smtClean="0">
                <a:solidFill>
                  <a:srgbClr val="0000FF"/>
                </a:solidFill>
              </a:rPr>
              <a:t>鉴别</a:t>
            </a:r>
            <a:r>
              <a:rPr lang="zh-CN" altLang="en-US" dirty="0" smtClean="0">
                <a:solidFill>
                  <a:srgbClr val="0000FF"/>
                </a:solidFill>
              </a:rPr>
              <a:t>：</a:t>
            </a:r>
            <a:r>
              <a:rPr lang="zh-CN" altLang="zh-CN" dirty="0" smtClean="0"/>
              <a:t>标识</a:t>
            </a:r>
            <a:r>
              <a:rPr lang="zh-CN" altLang="zh-CN" dirty="0"/>
              <a:t>和鉴别用户身份。通常包括用户标识（唯一非空，</a:t>
            </a:r>
            <a:r>
              <a:rPr lang="en-US" altLang="zh-CN" dirty="0"/>
              <a:t>DBA</a:t>
            </a:r>
            <a:r>
              <a:rPr lang="zh-CN" altLang="zh-CN" dirty="0"/>
              <a:t>可见）、用户名称（可以空值，</a:t>
            </a:r>
            <a:r>
              <a:rPr lang="en-US" altLang="zh-CN" dirty="0"/>
              <a:t>DBA</a:t>
            </a:r>
            <a:r>
              <a:rPr lang="zh-CN" altLang="zh-CN" dirty="0"/>
              <a:t>可见）和用户密码（非空，用户可见）等。</a:t>
            </a:r>
          </a:p>
          <a:p>
            <a:r>
              <a:rPr lang="zh-CN" altLang="zh-CN" dirty="0"/>
              <a:t>用户鉴别是最外层的安全保护。</a:t>
            </a:r>
          </a:p>
          <a:p>
            <a:r>
              <a:rPr lang="zh-CN" altLang="zh-CN" dirty="0"/>
              <a:t>在用户访问数据时，首先输入用户信息（例如：用户标识和密码），然后进行鉴别，通过后才能访问数据。</a:t>
            </a:r>
          </a:p>
          <a:p>
            <a:r>
              <a:rPr lang="zh-CN" altLang="zh-CN" dirty="0">
                <a:solidFill>
                  <a:srgbClr val="0000FF"/>
                </a:solidFill>
              </a:rPr>
              <a:t>用户鉴别方法：</a:t>
            </a:r>
            <a:r>
              <a:rPr lang="zh-CN" altLang="zh-CN" dirty="0"/>
              <a:t>静态鉴别和动态鉴别等</a:t>
            </a:r>
            <a:r>
              <a:rPr lang="zh-CN" altLang="zh-CN" dirty="0" smtClean="0"/>
              <a:t>。</a:t>
            </a:r>
            <a:endParaRPr lang="zh-CN" altLang="zh-CN" dirty="0"/>
          </a:p>
        </p:txBody>
      </p:sp>
    </p:spTree>
    <p:extLst>
      <p:ext uri="{BB962C8B-B14F-4D97-AF65-F5344CB8AC3E}">
        <p14:creationId xmlns:p14="http://schemas.microsoft.com/office/powerpoint/2010/main" val="31117296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7.2.1 </a:t>
            </a:r>
            <a:r>
              <a:rPr lang="zh-CN" altLang="zh-CN" dirty="0"/>
              <a:t>用户鉴别</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2019年9月8日星期日9时4分55秒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11</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dirty="0" smtClean="0">
                <a:solidFill>
                  <a:srgbClr val="0000FF"/>
                </a:solidFill>
              </a:rPr>
              <a:t>静态鉴别</a:t>
            </a:r>
            <a:r>
              <a:rPr lang="zh-CN" altLang="en-US" dirty="0" smtClean="0">
                <a:solidFill>
                  <a:srgbClr val="0000FF"/>
                </a:solidFill>
              </a:rPr>
              <a:t>：</a:t>
            </a:r>
            <a:r>
              <a:rPr lang="zh-CN" altLang="zh-CN" dirty="0" smtClean="0"/>
              <a:t>使用</a:t>
            </a:r>
            <a:r>
              <a:rPr lang="zh-CN" altLang="zh-CN" dirty="0"/>
              <a:t>固定不变的用户信息进行身份鉴别。用户标识和名称以显式方式显示，密码则以隐式方式显示（例如：显示为“</a:t>
            </a:r>
            <a:r>
              <a:rPr lang="en-US" altLang="zh-CN" dirty="0"/>
              <a:t>*</a:t>
            </a:r>
            <a:r>
              <a:rPr lang="zh-CN" altLang="zh-CN" dirty="0"/>
              <a:t>”）。</a:t>
            </a:r>
          </a:p>
          <a:p>
            <a:pPr marL="360363" indent="0">
              <a:buNone/>
            </a:pPr>
            <a:r>
              <a:rPr lang="zh-CN" altLang="zh-CN" dirty="0">
                <a:solidFill>
                  <a:srgbClr val="0000FF"/>
                </a:solidFill>
              </a:rPr>
              <a:t>例如：</a:t>
            </a:r>
            <a:r>
              <a:rPr lang="zh-CN" altLang="zh-CN" dirty="0"/>
              <a:t>客户的用户标识和密码分别为：</a:t>
            </a:r>
            <a:r>
              <a:rPr lang="en-US" altLang="zh-CN" dirty="0"/>
              <a:t>C001</a:t>
            </a:r>
            <a:r>
              <a:rPr lang="zh-CN" altLang="zh-CN" dirty="0"/>
              <a:t>和</a:t>
            </a:r>
            <a:r>
              <a:rPr lang="en-US" altLang="zh-CN" dirty="0"/>
              <a:t>Car123</a:t>
            </a:r>
            <a:r>
              <a:rPr lang="zh-CN" altLang="zh-CN" dirty="0"/>
              <a:t>。</a:t>
            </a:r>
          </a:p>
          <a:p>
            <a:r>
              <a:rPr lang="zh-CN" altLang="zh-CN" dirty="0">
                <a:solidFill>
                  <a:srgbClr val="0000FF"/>
                </a:solidFill>
              </a:rPr>
              <a:t>动态</a:t>
            </a:r>
            <a:r>
              <a:rPr lang="zh-CN" altLang="zh-CN" dirty="0" smtClean="0">
                <a:solidFill>
                  <a:srgbClr val="0000FF"/>
                </a:solidFill>
              </a:rPr>
              <a:t>鉴别</a:t>
            </a:r>
            <a:r>
              <a:rPr lang="zh-CN" altLang="en-US" dirty="0" smtClean="0">
                <a:solidFill>
                  <a:srgbClr val="0000FF"/>
                </a:solidFill>
              </a:rPr>
              <a:t>：</a:t>
            </a:r>
            <a:r>
              <a:rPr lang="zh-CN" altLang="zh-CN" dirty="0" smtClean="0"/>
              <a:t>使用</a:t>
            </a:r>
            <a:r>
              <a:rPr lang="zh-CN" altLang="zh-CN" dirty="0"/>
              <a:t>动态可变的用户信息进行身份鉴别。用户标识和名称以静态显式方式显示，密码则以动态隐式方式显示。</a:t>
            </a:r>
          </a:p>
          <a:p>
            <a:r>
              <a:rPr lang="zh-CN" altLang="zh-CN" dirty="0">
                <a:solidFill>
                  <a:srgbClr val="0000FF"/>
                </a:solidFill>
              </a:rPr>
              <a:t>动态信息：</a:t>
            </a:r>
            <a:r>
              <a:rPr lang="zh-CN" altLang="zh-CN" dirty="0"/>
              <a:t>使用预约的函数或算法生成的动态可变的信息。即：首先提供一个随机信息，然后根据预先约定的函数或算法进行计算，最后根据运算结果进行用户身份鉴别。</a:t>
            </a:r>
          </a:p>
        </p:txBody>
      </p:sp>
    </p:spTree>
    <p:extLst>
      <p:ext uri="{BB962C8B-B14F-4D97-AF65-F5344CB8AC3E}">
        <p14:creationId xmlns:p14="http://schemas.microsoft.com/office/powerpoint/2010/main" val="36608417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7.2.1 </a:t>
            </a:r>
            <a:r>
              <a:rPr lang="zh-CN" altLang="zh-CN" dirty="0"/>
              <a:t>用户鉴别</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2019年9月8日星期日9时4分55秒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12</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dirty="0">
                <a:solidFill>
                  <a:srgbClr val="0000FF"/>
                </a:solidFill>
              </a:rPr>
              <a:t>例</a:t>
            </a:r>
            <a:r>
              <a:rPr lang="en-US" altLang="zh-CN" dirty="0">
                <a:solidFill>
                  <a:srgbClr val="0000FF"/>
                </a:solidFill>
              </a:rPr>
              <a:t>7.1  </a:t>
            </a:r>
            <a:r>
              <a:rPr lang="zh-CN" altLang="zh-CN" dirty="0"/>
              <a:t>客户的用户标识、姓名和密码分别为：</a:t>
            </a:r>
            <a:r>
              <a:rPr lang="en-US" altLang="zh-CN" dirty="0"/>
              <a:t>C006</a:t>
            </a:r>
            <a:r>
              <a:rPr lang="zh-CN" altLang="zh-CN" dirty="0"/>
              <a:t>、李丽和</a:t>
            </a:r>
            <a:r>
              <a:rPr lang="en-US" altLang="zh-CN" dirty="0"/>
              <a:t>Abc20617216</a:t>
            </a:r>
            <a:r>
              <a:rPr lang="zh-CN" altLang="zh-CN" dirty="0"/>
              <a:t>。</a:t>
            </a:r>
          </a:p>
          <a:p>
            <a:r>
              <a:rPr lang="zh-CN" altLang="zh-CN" dirty="0">
                <a:solidFill>
                  <a:srgbClr val="0000FF"/>
                </a:solidFill>
              </a:rPr>
              <a:t>分析：</a:t>
            </a:r>
            <a:r>
              <a:rPr lang="zh-CN" altLang="zh-CN" dirty="0"/>
              <a:t>客户的用户标识和姓名使用静态信息。用户密码则使用动态信息，即：</a:t>
            </a:r>
          </a:p>
          <a:p>
            <a:pPr marL="806450" indent="-806450">
              <a:buNone/>
            </a:pPr>
            <a:r>
              <a:rPr lang="zh-CN" altLang="zh-CN" dirty="0"/>
              <a:t>（</a:t>
            </a:r>
            <a:r>
              <a:rPr lang="en-US" altLang="zh-CN" dirty="0"/>
              <a:t>1</a:t>
            </a:r>
            <a:r>
              <a:rPr lang="zh-CN" altLang="zh-CN" dirty="0"/>
              <a:t>）提供一组随机信息</a:t>
            </a:r>
            <a:r>
              <a:rPr lang="en-US" altLang="zh-CN" dirty="0"/>
              <a:t>65</a:t>
            </a:r>
            <a:r>
              <a:rPr lang="zh-CN" altLang="zh-CN" dirty="0"/>
              <a:t>，</a:t>
            </a:r>
            <a:r>
              <a:rPr lang="en-US" altLang="zh-CN" dirty="0"/>
              <a:t>98</a:t>
            </a:r>
            <a:r>
              <a:rPr lang="zh-CN" altLang="zh-CN" dirty="0"/>
              <a:t>和</a:t>
            </a:r>
            <a:r>
              <a:rPr lang="en-US" altLang="zh-CN" dirty="0"/>
              <a:t>99</a:t>
            </a:r>
            <a:r>
              <a:rPr lang="zh-CN" altLang="zh-CN" dirty="0"/>
              <a:t>，使用函数</a:t>
            </a:r>
            <a:r>
              <a:rPr lang="en-US" altLang="zh-CN" dirty="0"/>
              <a:t>Asc2Char()</a:t>
            </a:r>
            <a:r>
              <a:rPr lang="zh-CN" altLang="zh-CN" dirty="0"/>
              <a:t>，把随机数据转换为</a:t>
            </a:r>
            <a:r>
              <a:rPr lang="en-US" altLang="zh-CN" dirty="0"/>
              <a:t>ASCII</a:t>
            </a:r>
            <a:r>
              <a:rPr lang="zh-CN" altLang="zh-CN" dirty="0"/>
              <a:t>字符</a:t>
            </a:r>
            <a:r>
              <a:rPr lang="en-US" altLang="zh-CN" dirty="0" err="1"/>
              <a:t>Abc</a:t>
            </a:r>
            <a:r>
              <a:rPr lang="zh-CN" altLang="zh-CN" dirty="0"/>
              <a:t>。</a:t>
            </a:r>
          </a:p>
          <a:p>
            <a:pPr marL="806450" indent="-806450">
              <a:buNone/>
            </a:pPr>
            <a:r>
              <a:rPr lang="zh-CN" altLang="zh-CN" dirty="0"/>
              <a:t>（</a:t>
            </a:r>
            <a:r>
              <a:rPr lang="en-US" altLang="zh-CN" dirty="0"/>
              <a:t>2</a:t>
            </a:r>
            <a:r>
              <a:rPr lang="zh-CN" altLang="zh-CN" dirty="0"/>
              <a:t>）获取当前日期的年、月和日</a:t>
            </a:r>
            <a:r>
              <a:rPr lang="en-US" altLang="zh-CN" dirty="0"/>
              <a:t>17-2-16</a:t>
            </a:r>
            <a:r>
              <a:rPr lang="zh-CN" altLang="zh-CN" dirty="0"/>
              <a:t>；获取当前时间的时和分</a:t>
            </a:r>
            <a:r>
              <a:rPr lang="en-US" altLang="zh-CN" dirty="0"/>
              <a:t>20-6</a:t>
            </a:r>
            <a:r>
              <a:rPr lang="zh-CN" altLang="zh-CN" dirty="0"/>
              <a:t>。</a:t>
            </a:r>
          </a:p>
          <a:p>
            <a:pPr marL="806450" indent="-806450">
              <a:buNone/>
            </a:pPr>
            <a:r>
              <a:rPr lang="zh-CN" altLang="zh-CN" dirty="0"/>
              <a:t>（</a:t>
            </a:r>
            <a:r>
              <a:rPr lang="en-US" altLang="zh-CN" dirty="0"/>
              <a:t>3</a:t>
            </a:r>
            <a:r>
              <a:rPr lang="zh-CN" altLang="zh-CN" dirty="0"/>
              <a:t>）生成动态密码：</a:t>
            </a:r>
            <a:r>
              <a:rPr lang="en-US" altLang="zh-CN" dirty="0"/>
              <a:t>Abc20617216</a:t>
            </a:r>
            <a:r>
              <a:rPr lang="zh-CN" altLang="zh-CN" dirty="0"/>
              <a:t>。</a:t>
            </a:r>
          </a:p>
          <a:p>
            <a:pPr marL="806450" indent="0">
              <a:buNone/>
            </a:pPr>
            <a:r>
              <a:rPr lang="zh-CN" altLang="zh-CN" dirty="0"/>
              <a:t>显然，用户密码每一分钟都在改变。</a:t>
            </a:r>
          </a:p>
        </p:txBody>
      </p:sp>
    </p:spTree>
    <p:extLst>
      <p:ext uri="{BB962C8B-B14F-4D97-AF65-F5344CB8AC3E}">
        <p14:creationId xmlns:p14="http://schemas.microsoft.com/office/powerpoint/2010/main" val="23217152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7.2.1 </a:t>
            </a:r>
            <a:r>
              <a:rPr lang="zh-CN" altLang="zh-CN" dirty="0"/>
              <a:t>用户鉴别</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2019年9月8日星期日9时4分55秒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13</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dirty="0">
                <a:solidFill>
                  <a:srgbClr val="0000FF"/>
                </a:solidFill>
              </a:rPr>
              <a:t>例</a:t>
            </a:r>
            <a:r>
              <a:rPr lang="en-US" altLang="zh-CN" dirty="0">
                <a:solidFill>
                  <a:srgbClr val="0000FF"/>
                </a:solidFill>
              </a:rPr>
              <a:t>7.2  </a:t>
            </a:r>
            <a:r>
              <a:rPr lang="zh-CN" altLang="zh-CN" dirty="0"/>
              <a:t>解释如图</a:t>
            </a:r>
            <a:r>
              <a:rPr lang="en-US" altLang="zh-CN" dirty="0"/>
              <a:t>7.2</a:t>
            </a:r>
            <a:r>
              <a:rPr lang="zh-CN" altLang="zh-CN" dirty="0"/>
              <a:t>所示的登录界面中的验证码。</a:t>
            </a:r>
          </a:p>
          <a:p>
            <a:r>
              <a:rPr lang="zh-CN" altLang="zh-CN" dirty="0">
                <a:solidFill>
                  <a:srgbClr val="0000FF"/>
                </a:solidFill>
              </a:rPr>
              <a:t>分析：</a:t>
            </a:r>
            <a:r>
              <a:rPr lang="zh-CN" altLang="zh-CN" dirty="0"/>
              <a:t>用户访问网络资源时所采用的登陆方式：用户账号＋密码＋验证码。</a:t>
            </a:r>
          </a:p>
          <a:p>
            <a:r>
              <a:rPr lang="zh-CN" altLang="zh-CN" dirty="0">
                <a:solidFill>
                  <a:srgbClr val="0000FF"/>
                </a:solidFill>
              </a:rPr>
              <a:t>基本方法：</a:t>
            </a:r>
            <a:r>
              <a:rPr lang="zh-CN" altLang="zh-CN" dirty="0"/>
              <a:t>验证码是把随机产生的多个数字或者字符组成的一串字符，生成一幅图像，同时在图像中加上噪声（防止</a:t>
            </a:r>
            <a:r>
              <a:rPr lang="en-US" altLang="zh-CN" dirty="0"/>
              <a:t>OCR</a:t>
            </a:r>
            <a:r>
              <a:rPr lang="zh-CN" altLang="zh-CN" dirty="0"/>
              <a:t>识别），用户用肉眼识别其中的验证码信息，输入登录界面，提交网站验证，验证成功后才能使用网站资源。</a:t>
            </a:r>
          </a:p>
          <a:p>
            <a:r>
              <a:rPr lang="zh-CN" altLang="zh-CN" dirty="0"/>
              <a:t>不难看出，验证码一般是防止“黑客”利用机器人自动批量注册、或用特定程序暴力破解方式进行</a:t>
            </a:r>
            <a:r>
              <a:rPr lang="zh-CN" altLang="zh-CN" dirty="0">
                <a:solidFill>
                  <a:srgbClr val="0000FF"/>
                </a:solidFill>
              </a:rPr>
              <a:t>不断的登陆和灌水</a:t>
            </a:r>
            <a:r>
              <a:rPr lang="zh-CN" altLang="zh-CN" dirty="0"/>
              <a:t>等。因为验证码是一个混合了数字或者符号的噪声图像，人眼识别都很困难，机器识别就更加困难，从而起到安全保护的作用。</a:t>
            </a:r>
          </a:p>
        </p:txBody>
      </p:sp>
    </p:spTree>
    <p:extLst>
      <p:ext uri="{BB962C8B-B14F-4D97-AF65-F5344CB8AC3E}">
        <p14:creationId xmlns:p14="http://schemas.microsoft.com/office/powerpoint/2010/main" val="28013078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7.2.1 </a:t>
            </a:r>
            <a:r>
              <a:rPr lang="zh-CN" altLang="zh-CN" dirty="0"/>
              <a:t>用户鉴别</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2019年9月8日星期日9时4分55秒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14</a:t>
            </a:fld>
            <a:endParaRPr lang="zh-CN" altLang="en-US" dirty="0"/>
          </a:p>
        </p:txBody>
      </p:sp>
      <p:sp>
        <p:nvSpPr>
          <p:cNvPr id="7" name="文本占位符 6"/>
          <p:cNvSpPr>
            <a:spLocks noGrp="1"/>
          </p:cNvSpPr>
          <p:nvPr>
            <p:ph type="body" idx="1"/>
          </p:nvPr>
        </p:nvSpPr>
        <p:spPr>
          <a:xfrm>
            <a:off x="107504" y="764704"/>
            <a:ext cx="8856984" cy="648072"/>
          </a:xfrm>
        </p:spPr>
        <p:txBody>
          <a:bodyPr>
            <a:noAutofit/>
          </a:bodyPr>
          <a:lstStyle/>
          <a:p>
            <a:r>
              <a:rPr lang="zh-CN" altLang="zh-CN" dirty="0">
                <a:solidFill>
                  <a:srgbClr val="0000FF"/>
                </a:solidFill>
              </a:rPr>
              <a:t>例</a:t>
            </a:r>
            <a:r>
              <a:rPr lang="en-US" altLang="zh-CN" dirty="0">
                <a:solidFill>
                  <a:srgbClr val="0000FF"/>
                </a:solidFill>
              </a:rPr>
              <a:t>7.2  </a:t>
            </a:r>
            <a:r>
              <a:rPr lang="zh-CN" altLang="zh-CN" dirty="0"/>
              <a:t>解释如图</a:t>
            </a:r>
            <a:r>
              <a:rPr lang="en-US" altLang="zh-CN" dirty="0"/>
              <a:t>7.2</a:t>
            </a:r>
            <a:r>
              <a:rPr lang="zh-CN" altLang="zh-CN" dirty="0"/>
              <a:t>所示的登录界面中的验证码</a:t>
            </a:r>
            <a:r>
              <a:rPr lang="zh-CN" altLang="zh-CN" dirty="0" smtClean="0"/>
              <a:t>。</a:t>
            </a:r>
            <a:endParaRPr lang="zh-CN" altLang="zh-CN" dirty="0"/>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1556792"/>
            <a:ext cx="3409185" cy="3960000"/>
          </a:xfrm>
          <a:prstGeom prst="rect">
            <a:avLst/>
          </a:prstGeom>
          <a:noFill/>
          <a:ln>
            <a:solidFill>
              <a:schemeClr val="tx1"/>
            </a:solidFill>
            <a:prstDash val="solid"/>
          </a:ln>
        </p:spPr>
      </p:pic>
    </p:spTree>
    <p:extLst>
      <p:ext uri="{BB962C8B-B14F-4D97-AF65-F5344CB8AC3E}">
        <p14:creationId xmlns:p14="http://schemas.microsoft.com/office/powerpoint/2010/main" val="42779613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7.2.1 </a:t>
            </a:r>
            <a:r>
              <a:rPr lang="zh-CN" altLang="zh-CN" dirty="0"/>
              <a:t>用户鉴别</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15</a:t>
            </a:fld>
            <a:endParaRPr lang="zh-CN" altLang="en-US" dirty="0"/>
          </a:p>
        </p:txBody>
      </p:sp>
      <p:sp>
        <p:nvSpPr>
          <p:cNvPr id="7" name="文本占位符 6"/>
          <p:cNvSpPr>
            <a:spLocks noGrp="1"/>
          </p:cNvSpPr>
          <p:nvPr>
            <p:ph type="body" idx="1"/>
          </p:nvPr>
        </p:nvSpPr>
        <p:spPr>
          <a:xfrm>
            <a:off x="395536" y="764704"/>
            <a:ext cx="8568952" cy="5616624"/>
          </a:xfrm>
        </p:spPr>
        <p:txBody>
          <a:bodyPr>
            <a:noAutofit/>
          </a:bodyPr>
          <a:lstStyle/>
          <a:p>
            <a:pPr>
              <a:lnSpc>
                <a:spcPts val="4600"/>
              </a:lnSpc>
            </a:pPr>
            <a:r>
              <a:rPr lang="en-US" altLang="zh-CN" sz="3200" dirty="0">
                <a:solidFill>
                  <a:srgbClr val="0000FF"/>
                </a:solidFill>
              </a:rPr>
              <a:t>SQL Server </a:t>
            </a:r>
            <a:r>
              <a:rPr lang="en-US" altLang="zh-CN" sz="3200" dirty="0" smtClean="0">
                <a:solidFill>
                  <a:srgbClr val="0000FF"/>
                </a:solidFill>
              </a:rPr>
              <a:t>2016</a:t>
            </a:r>
            <a:r>
              <a:rPr lang="zh-CN" altLang="zh-CN" sz="3200" dirty="0" smtClean="0"/>
              <a:t>完全</a:t>
            </a:r>
            <a:r>
              <a:rPr lang="zh-CN" altLang="zh-CN" sz="3200" dirty="0"/>
              <a:t>支持</a:t>
            </a:r>
            <a:r>
              <a:rPr lang="en-US" altLang="zh-CN" sz="3200" dirty="0">
                <a:solidFill>
                  <a:srgbClr val="0000FF"/>
                </a:solidFill>
              </a:rPr>
              <a:t>DAC</a:t>
            </a:r>
            <a:r>
              <a:rPr lang="zh-CN" altLang="zh-CN" sz="3200" dirty="0">
                <a:solidFill>
                  <a:srgbClr val="0000FF"/>
                </a:solidFill>
              </a:rPr>
              <a:t>和</a:t>
            </a:r>
            <a:r>
              <a:rPr lang="en-US" altLang="zh-CN" sz="3200" dirty="0">
                <a:solidFill>
                  <a:srgbClr val="0000FF"/>
                </a:solidFill>
              </a:rPr>
              <a:t>MAC</a:t>
            </a:r>
            <a:r>
              <a:rPr lang="zh-CN" altLang="zh-CN" sz="3200" dirty="0">
                <a:solidFill>
                  <a:srgbClr val="0000FF"/>
                </a:solidFill>
              </a:rPr>
              <a:t>控制</a:t>
            </a:r>
            <a:r>
              <a:rPr lang="zh-CN" altLang="zh-CN" sz="3200" dirty="0"/>
              <a:t>，并提供了一整套完善的</a:t>
            </a:r>
            <a:r>
              <a:rPr lang="zh-CN" altLang="zh-CN" sz="3200" dirty="0">
                <a:solidFill>
                  <a:srgbClr val="0000FF"/>
                </a:solidFill>
              </a:rPr>
              <a:t>数据安全控制</a:t>
            </a:r>
            <a:r>
              <a:rPr lang="zh-CN" altLang="zh-CN" sz="3200" dirty="0" smtClean="0">
                <a:solidFill>
                  <a:srgbClr val="0000FF"/>
                </a:solidFill>
              </a:rPr>
              <a:t>机制</a:t>
            </a:r>
            <a:endParaRPr lang="en-US" altLang="zh-CN" sz="3200" dirty="0" smtClean="0">
              <a:solidFill>
                <a:srgbClr val="0000FF"/>
              </a:solidFill>
            </a:endParaRPr>
          </a:p>
          <a:p>
            <a:pPr marL="0" indent="0">
              <a:lnSpc>
                <a:spcPts val="4600"/>
              </a:lnSpc>
              <a:buNone/>
            </a:pPr>
            <a:endParaRPr lang="en-US" altLang="zh-CN" sz="3200" dirty="0" smtClean="0"/>
          </a:p>
          <a:p>
            <a:pPr>
              <a:lnSpc>
                <a:spcPts val="6600"/>
              </a:lnSpc>
            </a:pPr>
            <a:r>
              <a:rPr lang="zh-CN" altLang="zh-CN" sz="3200" dirty="0" smtClean="0">
                <a:solidFill>
                  <a:srgbClr val="0000FF"/>
                </a:solidFill>
              </a:rPr>
              <a:t>登录服务器</a:t>
            </a:r>
            <a:endParaRPr lang="en-US" altLang="zh-CN" sz="3200" dirty="0" smtClean="0">
              <a:solidFill>
                <a:srgbClr val="0000FF"/>
              </a:solidFill>
            </a:endParaRPr>
          </a:p>
          <a:p>
            <a:pPr>
              <a:lnSpc>
                <a:spcPts val="6600"/>
              </a:lnSpc>
            </a:pPr>
            <a:r>
              <a:rPr lang="zh-CN" altLang="zh-CN" sz="3200" dirty="0" smtClean="0">
                <a:solidFill>
                  <a:srgbClr val="0000FF"/>
                </a:solidFill>
              </a:rPr>
              <a:t>数据库用户</a:t>
            </a:r>
            <a:endParaRPr lang="en-US" altLang="zh-CN" sz="3200" dirty="0" smtClean="0">
              <a:solidFill>
                <a:srgbClr val="0000FF"/>
              </a:solidFill>
            </a:endParaRPr>
          </a:p>
          <a:p>
            <a:pPr>
              <a:lnSpc>
                <a:spcPts val="6600"/>
              </a:lnSpc>
            </a:pPr>
            <a:r>
              <a:rPr lang="zh-CN" altLang="zh-CN" sz="3200" dirty="0" smtClean="0">
                <a:solidFill>
                  <a:srgbClr val="0000FF"/>
                </a:solidFill>
              </a:rPr>
              <a:t>数据库角色</a:t>
            </a:r>
            <a:endParaRPr lang="zh-CN" altLang="zh-CN" sz="3200" dirty="0">
              <a:solidFill>
                <a:srgbClr val="0000FF"/>
              </a:solidFill>
            </a:endParaRPr>
          </a:p>
        </p:txBody>
      </p:sp>
    </p:spTree>
    <p:extLst>
      <p:ext uri="{BB962C8B-B14F-4D97-AF65-F5344CB8AC3E}">
        <p14:creationId xmlns:p14="http://schemas.microsoft.com/office/powerpoint/2010/main" val="9472052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solidFill>
                  <a:srgbClr val="0000FF"/>
                </a:solidFill>
              </a:rPr>
              <a:t>1.  </a:t>
            </a:r>
            <a:r>
              <a:rPr lang="zh-CN" altLang="zh-CN" dirty="0">
                <a:solidFill>
                  <a:srgbClr val="0000FF"/>
                </a:solidFill>
              </a:rPr>
              <a:t>登录服务器</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16</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a:lnSpc>
                <a:spcPts val="3000"/>
              </a:lnSpc>
            </a:pPr>
            <a:r>
              <a:rPr lang="zh-CN" altLang="zh-CN" sz="2000" dirty="0" smtClean="0">
                <a:solidFill>
                  <a:srgbClr val="0000FF"/>
                </a:solidFill>
              </a:rPr>
              <a:t>登录</a:t>
            </a:r>
            <a:r>
              <a:rPr lang="zh-CN" altLang="en-US" sz="2000" dirty="0" smtClean="0">
                <a:solidFill>
                  <a:srgbClr val="0000FF"/>
                </a:solidFill>
              </a:rPr>
              <a:t>：</a:t>
            </a:r>
            <a:r>
              <a:rPr lang="zh-CN" altLang="zh-CN" sz="2000" dirty="0" smtClean="0"/>
              <a:t>访问</a:t>
            </a:r>
            <a:r>
              <a:rPr lang="zh-CN" altLang="zh-CN" sz="2000" dirty="0"/>
              <a:t>数据库，需要登录到数据库服务器。登录服务器的用户，必须是</a:t>
            </a:r>
            <a:r>
              <a:rPr lang="en-US" altLang="zh-CN" sz="2000" dirty="0">
                <a:solidFill>
                  <a:srgbClr val="0000FF"/>
                </a:solidFill>
              </a:rPr>
              <a:t>Windows</a:t>
            </a:r>
            <a:r>
              <a:rPr lang="zh-CN" altLang="zh-CN" sz="2000" dirty="0">
                <a:solidFill>
                  <a:srgbClr val="0000FF"/>
                </a:solidFill>
              </a:rPr>
              <a:t>合法用户</a:t>
            </a:r>
            <a:r>
              <a:rPr lang="zh-CN" altLang="zh-CN" sz="2000" dirty="0"/>
              <a:t>或</a:t>
            </a:r>
            <a:r>
              <a:rPr lang="en-US" altLang="zh-CN" sz="2000" dirty="0">
                <a:solidFill>
                  <a:srgbClr val="0000FF"/>
                </a:solidFill>
              </a:rPr>
              <a:t>SQL Server </a:t>
            </a:r>
            <a:r>
              <a:rPr lang="en-US" altLang="zh-CN" sz="2000" dirty="0" smtClean="0">
                <a:solidFill>
                  <a:srgbClr val="0000FF"/>
                </a:solidFill>
              </a:rPr>
              <a:t>2016</a:t>
            </a:r>
            <a:r>
              <a:rPr lang="zh-CN" altLang="zh-CN" sz="2000" dirty="0" smtClean="0">
                <a:solidFill>
                  <a:srgbClr val="0000FF"/>
                </a:solidFill>
              </a:rPr>
              <a:t>的</a:t>
            </a:r>
            <a:r>
              <a:rPr lang="zh-CN" altLang="zh-CN" sz="2000" dirty="0">
                <a:solidFill>
                  <a:srgbClr val="0000FF"/>
                </a:solidFill>
              </a:rPr>
              <a:t>合法用户</a:t>
            </a:r>
            <a:r>
              <a:rPr lang="zh-CN" altLang="zh-CN" sz="2000" dirty="0"/>
              <a:t>等。即：</a:t>
            </a:r>
          </a:p>
          <a:p>
            <a:pPr marL="360363" indent="0">
              <a:lnSpc>
                <a:spcPts val="3000"/>
              </a:lnSpc>
              <a:buNone/>
            </a:pPr>
            <a:r>
              <a:rPr lang="en-US" altLang="zh-CN" sz="2000" dirty="0">
                <a:solidFill>
                  <a:srgbClr val="0000FF"/>
                </a:solidFill>
              </a:rPr>
              <a:t>CREATE LOGIN &lt;</a:t>
            </a:r>
            <a:r>
              <a:rPr lang="zh-CN" altLang="zh-CN" sz="2000" dirty="0">
                <a:solidFill>
                  <a:srgbClr val="0000FF"/>
                </a:solidFill>
              </a:rPr>
              <a:t>登录名</a:t>
            </a:r>
            <a:r>
              <a:rPr lang="en-US" altLang="zh-CN" sz="2000" dirty="0">
                <a:solidFill>
                  <a:srgbClr val="0000FF"/>
                </a:solidFill>
              </a:rPr>
              <a:t>&gt; FROM WINDOWS</a:t>
            </a:r>
            <a:endParaRPr lang="zh-CN" altLang="zh-CN" sz="2000" dirty="0">
              <a:solidFill>
                <a:srgbClr val="0000FF"/>
              </a:solidFill>
            </a:endParaRPr>
          </a:p>
          <a:p>
            <a:pPr marL="360363" indent="0">
              <a:lnSpc>
                <a:spcPts val="3000"/>
              </a:lnSpc>
              <a:buNone/>
            </a:pPr>
            <a:r>
              <a:rPr lang="en-US" altLang="zh-CN" sz="2000" dirty="0">
                <a:solidFill>
                  <a:srgbClr val="0000FF"/>
                </a:solidFill>
              </a:rPr>
              <a:t>CREATE LOGIN &lt;</a:t>
            </a:r>
            <a:r>
              <a:rPr lang="zh-CN" altLang="zh-CN" sz="2000" dirty="0">
                <a:solidFill>
                  <a:srgbClr val="0000FF"/>
                </a:solidFill>
              </a:rPr>
              <a:t>登录名</a:t>
            </a:r>
            <a:r>
              <a:rPr lang="en-US" altLang="zh-CN" sz="2000" dirty="0">
                <a:solidFill>
                  <a:srgbClr val="0000FF"/>
                </a:solidFill>
              </a:rPr>
              <a:t>&gt; WITH PASSWORD=&lt;</a:t>
            </a:r>
            <a:r>
              <a:rPr lang="zh-CN" altLang="zh-CN" sz="2000" dirty="0">
                <a:solidFill>
                  <a:srgbClr val="0000FF"/>
                </a:solidFill>
              </a:rPr>
              <a:t>密码</a:t>
            </a:r>
            <a:r>
              <a:rPr lang="en-US" altLang="zh-CN" sz="2000" dirty="0">
                <a:solidFill>
                  <a:srgbClr val="0000FF"/>
                </a:solidFill>
              </a:rPr>
              <a:t>&gt;</a:t>
            </a:r>
            <a:endParaRPr lang="zh-CN" altLang="zh-CN" sz="2000" dirty="0">
              <a:solidFill>
                <a:srgbClr val="0000FF"/>
              </a:solidFill>
            </a:endParaRPr>
          </a:p>
          <a:p>
            <a:pPr marL="360363" indent="0">
              <a:lnSpc>
                <a:spcPts val="3000"/>
              </a:lnSpc>
              <a:buNone/>
            </a:pPr>
            <a:r>
              <a:rPr lang="en-US" altLang="zh-CN" sz="2000" dirty="0">
                <a:solidFill>
                  <a:srgbClr val="0000FF"/>
                </a:solidFill>
              </a:rPr>
              <a:t>DROP LOGIN &lt;</a:t>
            </a:r>
            <a:r>
              <a:rPr lang="zh-CN" altLang="zh-CN" sz="2000" dirty="0">
                <a:solidFill>
                  <a:srgbClr val="0000FF"/>
                </a:solidFill>
              </a:rPr>
              <a:t>登录名</a:t>
            </a:r>
            <a:r>
              <a:rPr lang="en-US" altLang="zh-CN" sz="2000" dirty="0">
                <a:solidFill>
                  <a:srgbClr val="0000FF"/>
                </a:solidFill>
              </a:rPr>
              <a:t>&gt;</a:t>
            </a:r>
            <a:endParaRPr lang="zh-CN" altLang="zh-CN" sz="2000" dirty="0">
              <a:solidFill>
                <a:srgbClr val="0000FF"/>
              </a:solidFill>
            </a:endParaRPr>
          </a:p>
          <a:p>
            <a:pPr>
              <a:lnSpc>
                <a:spcPts val="3000"/>
              </a:lnSpc>
            </a:pPr>
            <a:r>
              <a:rPr lang="zh-CN" altLang="zh-CN" sz="2000" dirty="0">
                <a:solidFill>
                  <a:srgbClr val="0000FF"/>
                </a:solidFill>
              </a:rPr>
              <a:t>例如：</a:t>
            </a:r>
            <a:r>
              <a:rPr lang="zh-CN" altLang="zh-CN" sz="2000" dirty="0"/>
              <a:t>把计算机</a:t>
            </a:r>
            <a:r>
              <a:rPr lang="en-US" altLang="zh-CN" sz="2000" dirty="0" err="1"/>
              <a:t>Happyu-Zjsu</a:t>
            </a:r>
            <a:r>
              <a:rPr lang="zh-CN" altLang="zh-CN" sz="2000" dirty="0"/>
              <a:t>中，</a:t>
            </a:r>
            <a:r>
              <a:rPr lang="en-US" altLang="zh-CN" sz="2000" dirty="0"/>
              <a:t>Windows</a:t>
            </a:r>
            <a:r>
              <a:rPr lang="zh-CN" altLang="zh-CN" sz="2000" dirty="0"/>
              <a:t>下的用户</a:t>
            </a:r>
            <a:r>
              <a:rPr lang="en-US" altLang="zh-CN" sz="2000" dirty="0" err="1"/>
              <a:t>WinTim</a:t>
            </a:r>
            <a:r>
              <a:rPr lang="zh-CN" altLang="zh-CN" sz="2000" dirty="0"/>
              <a:t>转换成为</a:t>
            </a:r>
            <a:r>
              <a:rPr lang="en-US" altLang="zh-CN" sz="2000" dirty="0"/>
              <a:t>SQL Server</a:t>
            </a:r>
            <a:r>
              <a:rPr lang="zh-CN" altLang="zh-CN" sz="2000" dirty="0"/>
              <a:t>登录。</a:t>
            </a:r>
          </a:p>
          <a:p>
            <a:pPr marL="360363" indent="0">
              <a:lnSpc>
                <a:spcPts val="3000"/>
              </a:lnSpc>
              <a:buNone/>
            </a:pPr>
            <a:r>
              <a:rPr lang="en-US" altLang="zh-CN" sz="2000" dirty="0"/>
              <a:t>CREATE LOGIN [</a:t>
            </a:r>
            <a:r>
              <a:rPr lang="en-US" altLang="zh-CN" sz="2000" dirty="0" err="1"/>
              <a:t>Happyu-Zjsu</a:t>
            </a:r>
            <a:r>
              <a:rPr lang="en-US" altLang="zh-CN" sz="2000" dirty="0"/>
              <a:t>\</a:t>
            </a:r>
            <a:r>
              <a:rPr lang="en-US" altLang="zh-CN" sz="2000" dirty="0" err="1"/>
              <a:t>WinTim</a:t>
            </a:r>
            <a:r>
              <a:rPr lang="en-US" altLang="zh-CN" sz="2000" dirty="0"/>
              <a:t>] FROM WINDOWS</a:t>
            </a:r>
            <a:endParaRPr lang="zh-CN" altLang="zh-CN" sz="2000" dirty="0"/>
          </a:p>
          <a:p>
            <a:pPr>
              <a:lnSpc>
                <a:spcPts val="3000"/>
              </a:lnSpc>
            </a:pPr>
            <a:r>
              <a:rPr lang="zh-CN" altLang="zh-CN" sz="2000" dirty="0">
                <a:solidFill>
                  <a:srgbClr val="0000FF"/>
                </a:solidFill>
              </a:rPr>
              <a:t>例如：</a:t>
            </a:r>
            <a:r>
              <a:rPr lang="zh-CN" altLang="zh-CN" sz="2000" dirty="0"/>
              <a:t>在服务器</a:t>
            </a:r>
            <a:r>
              <a:rPr lang="en-US" altLang="zh-CN" sz="2000" dirty="0" err="1"/>
              <a:t>Happyu-Zjsu</a:t>
            </a:r>
            <a:r>
              <a:rPr lang="zh-CN" altLang="zh-CN" sz="2000" dirty="0"/>
              <a:t>中，创建名称为</a:t>
            </a:r>
            <a:r>
              <a:rPr lang="en-US" altLang="zh-CN" sz="2000" dirty="0" err="1"/>
              <a:t>SqlTim</a:t>
            </a:r>
            <a:r>
              <a:rPr lang="zh-CN" altLang="zh-CN" sz="2000" dirty="0"/>
              <a:t>，密码为</a:t>
            </a:r>
            <a:r>
              <a:rPr lang="en-US" altLang="zh-CN" sz="2000" dirty="0"/>
              <a:t>tim123</a:t>
            </a:r>
            <a:r>
              <a:rPr lang="zh-CN" altLang="zh-CN" sz="2000" dirty="0"/>
              <a:t>的</a:t>
            </a:r>
            <a:r>
              <a:rPr lang="en-US" altLang="zh-CN" sz="2000" dirty="0"/>
              <a:t>SQL Server</a:t>
            </a:r>
            <a:r>
              <a:rPr lang="zh-CN" altLang="zh-CN" sz="2000" dirty="0"/>
              <a:t>登录。</a:t>
            </a:r>
          </a:p>
          <a:p>
            <a:pPr marL="360363" indent="0">
              <a:lnSpc>
                <a:spcPts val="3000"/>
              </a:lnSpc>
              <a:buNone/>
            </a:pPr>
            <a:r>
              <a:rPr lang="en-US" altLang="zh-CN" sz="2000" dirty="0"/>
              <a:t>CREATE LOGIN [</a:t>
            </a:r>
            <a:r>
              <a:rPr lang="en-US" altLang="zh-CN" sz="2000" dirty="0" err="1"/>
              <a:t>SqlTim</a:t>
            </a:r>
            <a:r>
              <a:rPr lang="en-US" altLang="zh-CN" sz="2000" dirty="0"/>
              <a:t>] WITH PASSWORD='tim123'</a:t>
            </a:r>
            <a:endParaRPr lang="zh-CN" altLang="zh-CN" sz="2000" dirty="0"/>
          </a:p>
          <a:p>
            <a:pPr>
              <a:lnSpc>
                <a:spcPts val="3000"/>
              </a:lnSpc>
            </a:pPr>
            <a:r>
              <a:rPr lang="zh-CN" altLang="zh-CN" sz="2000" dirty="0">
                <a:solidFill>
                  <a:srgbClr val="0000FF"/>
                </a:solidFill>
              </a:rPr>
              <a:t>例如：</a:t>
            </a:r>
            <a:r>
              <a:rPr lang="zh-CN" altLang="zh-CN" sz="2000" dirty="0"/>
              <a:t>在服务器</a:t>
            </a:r>
            <a:r>
              <a:rPr lang="en-US" altLang="zh-CN" sz="2000" dirty="0" err="1"/>
              <a:t>Happyu-Zjsu</a:t>
            </a:r>
            <a:r>
              <a:rPr lang="zh-CN" altLang="zh-CN" sz="2000" dirty="0"/>
              <a:t>中，删除登录</a:t>
            </a:r>
            <a:r>
              <a:rPr lang="en-US" altLang="zh-CN" sz="2000" dirty="0" err="1"/>
              <a:t>Happyu-Zjsu</a:t>
            </a:r>
            <a:r>
              <a:rPr lang="en-US" altLang="zh-CN" sz="2000" dirty="0"/>
              <a:t>\</a:t>
            </a:r>
            <a:r>
              <a:rPr lang="en-US" altLang="zh-CN" sz="2000" dirty="0" err="1"/>
              <a:t>WinTim</a:t>
            </a:r>
            <a:r>
              <a:rPr lang="zh-CN" altLang="zh-CN" sz="2000" dirty="0"/>
              <a:t>。</a:t>
            </a:r>
          </a:p>
          <a:p>
            <a:pPr marL="360363" indent="0">
              <a:lnSpc>
                <a:spcPts val="3000"/>
              </a:lnSpc>
              <a:buNone/>
            </a:pPr>
            <a:r>
              <a:rPr lang="en-US" altLang="zh-CN" sz="2000" dirty="0"/>
              <a:t>DROP LOGIN [</a:t>
            </a:r>
            <a:r>
              <a:rPr lang="en-US" altLang="zh-CN" sz="2000" dirty="0" err="1"/>
              <a:t>Happyu-Zjsu</a:t>
            </a:r>
            <a:r>
              <a:rPr lang="en-US" altLang="zh-CN" sz="2000" dirty="0"/>
              <a:t>\</a:t>
            </a:r>
            <a:r>
              <a:rPr lang="en-US" altLang="zh-CN" sz="2000" dirty="0" err="1"/>
              <a:t>WinTim</a:t>
            </a:r>
            <a:r>
              <a:rPr lang="en-US" altLang="zh-CN" sz="2000" dirty="0"/>
              <a:t>]</a:t>
            </a:r>
            <a:endParaRPr lang="zh-CN" altLang="zh-CN" sz="2000" dirty="0"/>
          </a:p>
          <a:p>
            <a:pPr>
              <a:lnSpc>
                <a:spcPts val="3000"/>
              </a:lnSpc>
            </a:pPr>
            <a:r>
              <a:rPr lang="zh-CN" altLang="zh-CN" sz="2000" dirty="0">
                <a:solidFill>
                  <a:srgbClr val="0000FF"/>
                </a:solidFill>
              </a:rPr>
              <a:t>思考：</a:t>
            </a:r>
            <a:r>
              <a:rPr lang="zh-CN" altLang="zh-CN" sz="2000" dirty="0"/>
              <a:t>举例说明</a:t>
            </a:r>
            <a:r>
              <a:rPr lang="en-US" altLang="zh-CN" sz="2000" dirty="0"/>
              <a:t>ALTER LOGIN</a:t>
            </a:r>
            <a:r>
              <a:rPr lang="zh-CN" altLang="zh-CN" sz="2000" dirty="0"/>
              <a:t>的用法。</a:t>
            </a:r>
          </a:p>
        </p:txBody>
      </p:sp>
    </p:spTree>
    <p:extLst>
      <p:ext uri="{BB962C8B-B14F-4D97-AF65-F5344CB8AC3E}">
        <p14:creationId xmlns:p14="http://schemas.microsoft.com/office/powerpoint/2010/main" val="12169835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solidFill>
                  <a:srgbClr val="0000FF"/>
                </a:solidFill>
              </a:rPr>
              <a:t>2.  </a:t>
            </a:r>
            <a:r>
              <a:rPr lang="zh-CN" altLang="zh-CN" dirty="0">
                <a:solidFill>
                  <a:srgbClr val="0000FF"/>
                </a:solidFill>
              </a:rPr>
              <a:t>数据库用户</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17</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a:lnSpc>
                <a:spcPts val="3300"/>
              </a:lnSpc>
            </a:pPr>
            <a:r>
              <a:rPr lang="zh-CN" altLang="zh-CN" sz="2000" dirty="0"/>
              <a:t>登录服务器后，如果需要访问数据库，还必须成为该</a:t>
            </a:r>
            <a:r>
              <a:rPr lang="zh-CN" altLang="zh-CN" sz="2000" dirty="0">
                <a:solidFill>
                  <a:srgbClr val="0000FF"/>
                </a:solidFill>
              </a:rPr>
              <a:t>数据库用户</a:t>
            </a:r>
            <a:r>
              <a:rPr lang="zh-CN" altLang="zh-CN" sz="2000" dirty="0"/>
              <a:t>。数据库用户可以从</a:t>
            </a:r>
            <a:r>
              <a:rPr lang="en-US" altLang="zh-CN" sz="2000" dirty="0"/>
              <a:t>Windows</a:t>
            </a:r>
            <a:r>
              <a:rPr lang="zh-CN" altLang="zh-CN" sz="2000" dirty="0"/>
              <a:t>用户、</a:t>
            </a:r>
            <a:r>
              <a:rPr lang="en-US" altLang="zh-CN" sz="2000" dirty="0"/>
              <a:t>SQL Server</a:t>
            </a:r>
            <a:r>
              <a:rPr lang="zh-CN" altLang="zh-CN" sz="2000" dirty="0"/>
              <a:t>登录或角色映射过来。即：</a:t>
            </a:r>
          </a:p>
          <a:p>
            <a:pPr marL="360363" indent="0">
              <a:lnSpc>
                <a:spcPts val="3300"/>
              </a:lnSpc>
              <a:buNone/>
            </a:pPr>
            <a:r>
              <a:rPr lang="en-US" altLang="zh-CN" sz="2000" dirty="0">
                <a:solidFill>
                  <a:srgbClr val="0000FF"/>
                </a:solidFill>
              </a:rPr>
              <a:t>CREATE USER &lt;</a:t>
            </a:r>
            <a:r>
              <a:rPr lang="zh-CN" altLang="zh-CN" sz="2000" dirty="0">
                <a:solidFill>
                  <a:srgbClr val="0000FF"/>
                </a:solidFill>
              </a:rPr>
              <a:t>数据库用户</a:t>
            </a:r>
            <a:r>
              <a:rPr lang="en-US" altLang="zh-CN" sz="2000" dirty="0">
                <a:solidFill>
                  <a:srgbClr val="0000FF"/>
                </a:solidFill>
              </a:rPr>
              <a:t>&gt; FOR LOGIN &lt;Win</a:t>
            </a:r>
            <a:r>
              <a:rPr lang="zh-CN" altLang="zh-CN" sz="2000" dirty="0">
                <a:solidFill>
                  <a:srgbClr val="0000FF"/>
                </a:solidFill>
              </a:rPr>
              <a:t>登录名</a:t>
            </a:r>
            <a:r>
              <a:rPr lang="en-US" altLang="zh-CN" sz="2000" dirty="0">
                <a:solidFill>
                  <a:srgbClr val="0000FF"/>
                </a:solidFill>
              </a:rPr>
              <a:t>&gt; </a:t>
            </a:r>
            <a:endParaRPr lang="zh-CN" altLang="zh-CN" sz="2000" dirty="0">
              <a:solidFill>
                <a:srgbClr val="0000FF"/>
              </a:solidFill>
            </a:endParaRPr>
          </a:p>
          <a:p>
            <a:pPr marL="360363" indent="0">
              <a:lnSpc>
                <a:spcPts val="3300"/>
              </a:lnSpc>
              <a:buNone/>
            </a:pPr>
            <a:r>
              <a:rPr lang="en-US" altLang="zh-CN" sz="2000" dirty="0">
                <a:solidFill>
                  <a:srgbClr val="0000FF"/>
                </a:solidFill>
              </a:rPr>
              <a:t>CREATE USER &lt;</a:t>
            </a:r>
            <a:r>
              <a:rPr lang="zh-CN" altLang="zh-CN" sz="2000" dirty="0">
                <a:solidFill>
                  <a:srgbClr val="0000FF"/>
                </a:solidFill>
              </a:rPr>
              <a:t>数据库用户</a:t>
            </a:r>
            <a:r>
              <a:rPr lang="en-US" altLang="zh-CN" sz="2000" dirty="0">
                <a:solidFill>
                  <a:srgbClr val="0000FF"/>
                </a:solidFill>
              </a:rPr>
              <a:t>&gt; FOR LOGIN &lt;</a:t>
            </a:r>
            <a:r>
              <a:rPr lang="en-US" altLang="zh-CN" sz="2000" dirty="0" err="1">
                <a:solidFill>
                  <a:srgbClr val="0000FF"/>
                </a:solidFill>
              </a:rPr>
              <a:t>Sql</a:t>
            </a:r>
            <a:r>
              <a:rPr lang="zh-CN" altLang="zh-CN" sz="2000" dirty="0">
                <a:solidFill>
                  <a:srgbClr val="0000FF"/>
                </a:solidFill>
              </a:rPr>
              <a:t>登录名</a:t>
            </a:r>
            <a:r>
              <a:rPr lang="en-US" altLang="zh-CN" sz="2000" dirty="0">
                <a:solidFill>
                  <a:srgbClr val="0000FF"/>
                </a:solidFill>
              </a:rPr>
              <a:t>&gt;</a:t>
            </a:r>
            <a:endParaRPr lang="zh-CN" altLang="zh-CN" sz="2000" dirty="0">
              <a:solidFill>
                <a:srgbClr val="0000FF"/>
              </a:solidFill>
            </a:endParaRPr>
          </a:p>
          <a:p>
            <a:pPr marL="360363" indent="0">
              <a:lnSpc>
                <a:spcPts val="3300"/>
              </a:lnSpc>
              <a:buNone/>
            </a:pPr>
            <a:r>
              <a:rPr lang="en-US" altLang="zh-CN" sz="2000" dirty="0">
                <a:solidFill>
                  <a:srgbClr val="0000FF"/>
                </a:solidFill>
              </a:rPr>
              <a:t>DROP USER &lt;</a:t>
            </a:r>
            <a:r>
              <a:rPr lang="zh-CN" altLang="zh-CN" sz="2000" dirty="0">
                <a:solidFill>
                  <a:srgbClr val="0000FF"/>
                </a:solidFill>
              </a:rPr>
              <a:t>数据库用户</a:t>
            </a:r>
            <a:r>
              <a:rPr lang="en-US" altLang="zh-CN" sz="2000" dirty="0">
                <a:solidFill>
                  <a:srgbClr val="0000FF"/>
                </a:solidFill>
              </a:rPr>
              <a:t>&gt;</a:t>
            </a:r>
            <a:endParaRPr lang="zh-CN" altLang="zh-CN" sz="2000" dirty="0">
              <a:solidFill>
                <a:srgbClr val="0000FF"/>
              </a:solidFill>
            </a:endParaRPr>
          </a:p>
          <a:p>
            <a:pPr>
              <a:lnSpc>
                <a:spcPts val="3300"/>
              </a:lnSpc>
            </a:pPr>
            <a:r>
              <a:rPr lang="zh-CN" altLang="zh-CN" sz="2000" dirty="0">
                <a:solidFill>
                  <a:srgbClr val="0000FF"/>
                </a:solidFill>
              </a:rPr>
              <a:t>例</a:t>
            </a:r>
            <a:r>
              <a:rPr lang="en-US" altLang="zh-CN" sz="2000" dirty="0">
                <a:solidFill>
                  <a:srgbClr val="0000FF"/>
                </a:solidFill>
              </a:rPr>
              <a:t>7.3  </a:t>
            </a:r>
            <a:r>
              <a:rPr lang="zh-CN" altLang="zh-CN" sz="2000" dirty="0"/>
              <a:t>在服务器</a:t>
            </a:r>
            <a:r>
              <a:rPr lang="en-US" altLang="zh-CN" sz="2000" dirty="0" err="1"/>
              <a:t>Happyu-Zjsu</a:t>
            </a:r>
            <a:r>
              <a:rPr lang="zh-CN" altLang="zh-CN" sz="2000" dirty="0"/>
              <a:t>中，针对</a:t>
            </a:r>
            <a:r>
              <a:rPr lang="en-US" altLang="zh-CN" sz="2000" dirty="0"/>
              <a:t>EBook</a:t>
            </a:r>
            <a:r>
              <a:rPr lang="zh-CN" altLang="zh-CN" sz="2000" dirty="0"/>
              <a:t>，为</a:t>
            </a:r>
            <a:r>
              <a:rPr lang="en-US" altLang="zh-CN" sz="2000" dirty="0"/>
              <a:t>Windows</a:t>
            </a:r>
            <a:r>
              <a:rPr lang="zh-CN" altLang="zh-CN" sz="2000" dirty="0"/>
              <a:t>登录</a:t>
            </a:r>
            <a:r>
              <a:rPr lang="en-US" altLang="zh-CN" sz="2000" dirty="0" err="1"/>
              <a:t>WinTim</a:t>
            </a:r>
            <a:r>
              <a:rPr lang="zh-CN" altLang="zh-CN" sz="2000" dirty="0"/>
              <a:t>创建名为</a:t>
            </a:r>
            <a:r>
              <a:rPr lang="en-US" altLang="zh-CN" sz="2000" dirty="0" err="1"/>
              <a:t>WinTimer</a:t>
            </a:r>
            <a:r>
              <a:rPr lang="zh-CN" altLang="zh-CN" sz="2000" dirty="0"/>
              <a:t>的数据库用户。同时为</a:t>
            </a:r>
            <a:r>
              <a:rPr lang="en-US" altLang="zh-CN" sz="2000" dirty="0"/>
              <a:t>SQL</a:t>
            </a:r>
            <a:r>
              <a:rPr lang="zh-CN" altLang="zh-CN" sz="2000" dirty="0"/>
              <a:t>登录</a:t>
            </a:r>
            <a:r>
              <a:rPr lang="en-US" altLang="zh-CN" sz="2000" dirty="0" err="1"/>
              <a:t>SqlTim</a:t>
            </a:r>
            <a:r>
              <a:rPr lang="zh-CN" altLang="zh-CN" sz="2000" dirty="0"/>
              <a:t>创建名为</a:t>
            </a:r>
            <a:r>
              <a:rPr lang="en-US" altLang="zh-CN" sz="2000" dirty="0" err="1"/>
              <a:t>SqlTimer</a:t>
            </a:r>
            <a:r>
              <a:rPr lang="zh-CN" altLang="zh-CN" sz="2000" dirty="0"/>
              <a:t>的数据库用户，然后删除数据库用户</a:t>
            </a:r>
            <a:r>
              <a:rPr lang="en-US" altLang="zh-CN" sz="2000" dirty="0" err="1"/>
              <a:t>WinTimer</a:t>
            </a:r>
            <a:r>
              <a:rPr lang="zh-CN" altLang="zh-CN" sz="2000" dirty="0"/>
              <a:t>。</a:t>
            </a:r>
          </a:p>
          <a:p>
            <a:pPr marL="360363" indent="0">
              <a:lnSpc>
                <a:spcPts val="3300"/>
              </a:lnSpc>
              <a:buNone/>
            </a:pPr>
            <a:r>
              <a:rPr lang="en-US" altLang="zh-CN" sz="2000" dirty="0"/>
              <a:t>USE EBook</a:t>
            </a:r>
            <a:endParaRPr lang="zh-CN" altLang="zh-CN" sz="2000" dirty="0"/>
          </a:p>
          <a:p>
            <a:pPr marL="360363" indent="0">
              <a:lnSpc>
                <a:spcPts val="3300"/>
              </a:lnSpc>
              <a:buNone/>
            </a:pPr>
            <a:r>
              <a:rPr lang="en-US" altLang="zh-CN" sz="2000" dirty="0"/>
              <a:t>CREATE USER </a:t>
            </a:r>
            <a:r>
              <a:rPr lang="en-US" altLang="zh-CN" sz="2000" dirty="0" err="1"/>
              <a:t>WinTimer</a:t>
            </a:r>
            <a:r>
              <a:rPr lang="en-US" altLang="zh-CN" sz="2000" dirty="0"/>
              <a:t> FOR LOGIN [</a:t>
            </a:r>
            <a:r>
              <a:rPr lang="en-US" altLang="zh-CN" sz="2000" dirty="0" err="1"/>
              <a:t>Happyu-Zjsu</a:t>
            </a:r>
            <a:r>
              <a:rPr lang="en-US" altLang="zh-CN" sz="2000" dirty="0"/>
              <a:t>\</a:t>
            </a:r>
            <a:r>
              <a:rPr lang="en-US" altLang="zh-CN" sz="2000" dirty="0" err="1"/>
              <a:t>WinTim</a:t>
            </a:r>
            <a:r>
              <a:rPr lang="en-US" altLang="zh-CN" sz="2000" dirty="0"/>
              <a:t>]</a:t>
            </a:r>
            <a:endParaRPr lang="zh-CN" altLang="zh-CN" sz="2000" dirty="0"/>
          </a:p>
          <a:p>
            <a:pPr marL="360363" indent="0">
              <a:lnSpc>
                <a:spcPts val="3300"/>
              </a:lnSpc>
              <a:buNone/>
            </a:pPr>
            <a:r>
              <a:rPr lang="en-US" altLang="zh-CN" sz="2000" dirty="0"/>
              <a:t>CREATE USER </a:t>
            </a:r>
            <a:r>
              <a:rPr lang="en-US" altLang="zh-CN" sz="2000" dirty="0" err="1"/>
              <a:t>SqlTimer</a:t>
            </a:r>
            <a:r>
              <a:rPr lang="en-US" altLang="zh-CN" sz="2000" dirty="0"/>
              <a:t> FOR LOGIN </a:t>
            </a:r>
            <a:r>
              <a:rPr lang="en-US" altLang="zh-CN" sz="2000" dirty="0" err="1"/>
              <a:t>SqlTim</a:t>
            </a:r>
            <a:endParaRPr lang="zh-CN" altLang="zh-CN" sz="2000" dirty="0"/>
          </a:p>
          <a:p>
            <a:pPr marL="360363" indent="0">
              <a:lnSpc>
                <a:spcPts val="3300"/>
              </a:lnSpc>
              <a:buNone/>
            </a:pPr>
            <a:r>
              <a:rPr lang="en-US" altLang="zh-CN" sz="2000" dirty="0"/>
              <a:t>DROP USER </a:t>
            </a:r>
            <a:r>
              <a:rPr lang="en-US" altLang="zh-CN" sz="2000" dirty="0" err="1"/>
              <a:t>WinTimer</a:t>
            </a:r>
            <a:endParaRPr lang="zh-CN" altLang="zh-CN" sz="2000" dirty="0"/>
          </a:p>
          <a:p>
            <a:pPr>
              <a:lnSpc>
                <a:spcPts val="3300"/>
              </a:lnSpc>
            </a:pPr>
            <a:r>
              <a:rPr lang="zh-CN" altLang="zh-CN" sz="2000" dirty="0">
                <a:solidFill>
                  <a:srgbClr val="0000FF"/>
                </a:solidFill>
              </a:rPr>
              <a:t>思考：</a:t>
            </a:r>
            <a:r>
              <a:rPr lang="zh-CN" altLang="zh-CN" sz="2000" dirty="0"/>
              <a:t>举例说明</a:t>
            </a:r>
            <a:r>
              <a:rPr lang="en-US" altLang="zh-CN" sz="2000" dirty="0"/>
              <a:t>ALTER USER</a:t>
            </a:r>
            <a:r>
              <a:rPr lang="zh-CN" altLang="zh-CN" sz="2000" dirty="0"/>
              <a:t>的用法。</a:t>
            </a:r>
          </a:p>
        </p:txBody>
      </p:sp>
    </p:spTree>
    <p:extLst>
      <p:ext uri="{BB962C8B-B14F-4D97-AF65-F5344CB8AC3E}">
        <p14:creationId xmlns:p14="http://schemas.microsoft.com/office/powerpoint/2010/main" val="21305710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solidFill>
                  <a:srgbClr val="0000FF"/>
                </a:solidFill>
              </a:rPr>
              <a:t>3.  </a:t>
            </a:r>
            <a:r>
              <a:rPr lang="zh-CN" altLang="zh-CN" dirty="0">
                <a:solidFill>
                  <a:srgbClr val="0000FF"/>
                </a:solidFill>
              </a:rPr>
              <a:t>数据库角色</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18</a:t>
            </a:fld>
            <a:endParaRPr lang="zh-CN" altLang="en-US" dirty="0"/>
          </a:p>
        </p:txBody>
      </p:sp>
      <p:sp>
        <p:nvSpPr>
          <p:cNvPr id="7" name="文本占位符 6"/>
          <p:cNvSpPr>
            <a:spLocks noGrp="1"/>
          </p:cNvSpPr>
          <p:nvPr>
            <p:ph type="body" idx="1"/>
          </p:nvPr>
        </p:nvSpPr>
        <p:spPr>
          <a:xfrm>
            <a:off x="107504" y="908720"/>
            <a:ext cx="8856984" cy="5472608"/>
          </a:xfrm>
        </p:spPr>
        <p:txBody>
          <a:bodyPr>
            <a:noAutofit/>
          </a:bodyPr>
          <a:lstStyle/>
          <a:p>
            <a:r>
              <a:rPr lang="zh-CN" altLang="zh-CN" sz="2000" dirty="0" smtClean="0">
                <a:solidFill>
                  <a:srgbClr val="0000FF"/>
                </a:solidFill>
              </a:rPr>
              <a:t>数据库角</a:t>
            </a:r>
            <a:r>
              <a:rPr lang="zh-CN" altLang="en-US" sz="2000" dirty="0" smtClean="0">
                <a:solidFill>
                  <a:srgbClr val="0000FF"/>
                </a:solidFill>
              </a:rPr>
              <a:t>色：</a:t>
            </a:r>
            <a:r>
              <a:rPr lang="zh-CN" altLang="zh-CN" sz="2000" dirty="0" smtClean="0"/>
              <a:t>为了</a:t>
            </a:r>
            <a:r>
              <a:rPr lang="zh-CN" altLang="zh-CN" sz="2000" dirty="0"/>
              <a:t>更好地管理数据库用户，可以为多个同类的数据库用户创建一个角色，这样可以通过给一个角色授权，使得多个同类的数据库用户拥有相同的权限。即：</a:t>
            </a:r>
          </a:p>
          <a:p>
            <a:pPr marL="360363" indent="0">
              <a:buNone/>
            </a:pPr>
            <a:r>
              <a:rPr lang="en-US" altLang="zh-CN" sz="2000" dirty="0">
                <a:solidFill>
                  <a:srgbClr val="0000FF"/>
                </a:solidFill>
              </a:rPr>
              <a:t>CREATE ROLE &lt;</a:t>
            </a:r>
            <a:r>
              <a:rPr lang="zh-CN" altLang="zh-CN" sz="2000" dirty="0">
                <a:solidFill>
                  <a:srgbClr val="0000FF"/>
                </a:solidFill>
              </a:rPr>
              <a:t>数据库角色</a:t>
            </a:r>
            <a:r>
              <a:rPr lang="en-US" altLang="zh-CN" sz="2000" dirty="0">
                <a:solidFill>
                  <a:srgbClr val="0000FF"/>
                </a:solidFill>
              </a:rPr>
              <a:t>&gt;</a:t>
            </a:r>
            <a:endParaRPr lang="zh-CN" altLang="zh-CN" sz="2000" dirty="0">
              <a:solidFill>
                <a:srgbClr val="0000FF"/>
              </a:solidFill>
            </a:endParaRPr>
          </a:p>
          <a:p>
            <a:pPr marL="360363" indent="0">
              <a:buNone/>
            </a:pPr>
            <a:r>
              <a:rPr lang="en-US" altLang="zh-CN" sz="2000" dirty="0">
                <a:solidFill>
                  <a:srgbClr val="0000FF"/>
                </a:solidFill>
              </a:rPr>
              <a:t>EXEC SP_ADDROLEMEMBER &lt;</a:t>
            </a:r>
            <a:r>
              <a:rPr lang="zh-CN" altLang="zh-CN" sz="2000" dirty="0">
                <a:solidFill>
                  <a:srgbClr val="0000FF"/>
                </a:solidFill>
              </a:rPr>
              <a:t>数据库角色</a:t>
            </a:r>
            <a:r>
              <a:rPr lang="en-US" altLang="zh-CN" sz="2000" dirty="0">
                <a:solidFill>
                  <a:srgbClr val="0000FF"/>
                </a:solidFill>
              </a:rPr>
              <a:t>&gt;,&lt;</a:t>
            </a:r>
            <a:r>
              <a:rPr lang="zh-CN" altLang="zh-CN" sz="2000" dirty="0">
                <a:solidFill>
                  <a:srgbClr val="0000FF"/>
                </a:solidFill>
              </a:rPr>
              <a:t>数据库用户</a:t>
            </a:r>
            <a:r>
              <a:rPr lang="en-US" altLang="zh-CN" sz="2000" dirty="0">
                <a:solidFill>
                  <a:srgbClr val="0000FF"/>
                </a:solidFill>
              </a:rPr>
              <a:t>&gt;</a:t>
            </a:r>
            <a:endParaRPr lang="zh-CN" altLang="zh-CN" sz="2000" dirty="0">
              <a:solidFill>
                <a:srgbClr val="0000FF"/>
              </a:solidFill>
            </a:endParaRPr>
          </a:p>
          <a:p>
            <a:pPr marL="360363" indent="0">
              <a:buNone/>
            </a:pPr>
            <a:r>
              <a:rPr lang="en-US" altLang="zh-CN" sz="2000" dirty="0">
                <a:solidFill>
                  <a:srgbClr val="0000FF"/>
                </a:solidFill>
              </a:rPr>
              <a:t>EXEC SP_DROPROLEMEMBER &lt;</a:t>
            </a:r>
            <a:r>
              <a:rPr lang="zh-CN" altLang="zh-CN" sz="2000" dirty="0">
                <a:solidFill>
                  <a:srgbClr val="0000FF"/>
                </a:solidFill>
              </a:rPr>
              <a:t>数据库角色</a:t>
            </a:r>
            <a:r>
              <a:rPr lang="en-US" altLang="zh-CN" sz="2000" dirty="0">
                <a:solidFill>
                  <a:srgbClr val="0000FF"/>
                </a:solidFill>
              </a:rPr>
              <a:t>&gt;,&lt;</a:t>
            </a:r>
            <a:r>
              <a:rPr lang="zh-CN" altLang="zh-CN" sz="2000" dirty="0">
                <a:solidFill>
                  <a:srgbClr val="0000FF"/>
                </a:solidFill>
              </a:rPr>
              <a:t>数据库用户</a:t>
            </a:r>
            <a:r>
              <a:rPr lang="en-US" altLang="zh-CN" sz="2000" dirty="0">
                <a:solidFill>
                  <a:srgbClr val="0000FF"/>
                </a:solidFill>
              </a:rPr>
              <a:t>&gt;</a:t>
            </a:r>
            <a:endParaRPr lang="zh-CN" altLang="zh-CN" sz="2000" dirty="0">
              <a:solidFill>
                <a:srgbClr val="0000FF"/>
              </a:solidFill>
            </a:endParaRPr>
          </a:p>
          <a:p>
            <a:pPr marL="360363" indent="0">
              <a:buNone/>
            </a:pPr>
            <a:r>
              <a:rPr lang="en-US" altLang="zh-CN" sz="2000" dirty="0">
                <a:solidFill>
                  <a:srgbClr val="0000FF"/>
                </a:solidFill>
              </a:rPr>
              <a:t>DROP ROLE &lt;</a:t>
            </a:r>
            <a:r>
              <a:rPr lang="zh-CN" altLang="zh-CN" sz="2000" dirty="0">
                <a:solidFill>
                  <a:srgbClr val="0000FF"/>
                </a:solidFill>
              </a:rPr>
              <a:t>数据库角色</a:t>
            </a:r>
            <a:r>
              <a:rPr lang="en-US" altLang="zh-CN" sz="2000" dirty="0" smtClean="0">
                <a:solidFill>
                  <a:srgbClr val="0000FF"/>
                </a:solidFill>
              </a:rPr>
              <a:t>&gt;</a:t>
            </a:r>
            <a:endParaRPr lang="zh-CN" altLang="zh-CN" sz="2000" dirty="0">
              <a:solidFill>
                <a:srgbClr val="0000FF"/>
              </a:solidFill>
            </a:endParaRPr>
          </a:p>
        </p:txBody>
      </p:sp>
    </p:spTree>
    <p:extLst>
      <p:ext uri="{BB962C8B-B14F-4D97-AF65-F5344CB8AC3E}">
        <p14:creationId xmlns:p14="http://schemas.microsoft.com/office/powerpoint/2010/main" val="17651298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3.  </a:t>
            </a:r>
            <a:r>
              <a:rPr lang="zh-CN" altLang="zh-CN" dirty="0"/>
              <a:t>数据库角色</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19</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smtClean="0">
                <a:solidFill>
                  <a:srgbClr val="0000FF"/>
                </a:solidFill>
              </a:rPr>
              <a:t>例</a:t>
            </a:r>
            <a:r>
              <a:rPr lang="en-US" altLang="zh-CN" sz="2000" dirty="0">
                <a:solidFill>
                  <a:srgbClr val="0000FF"/>
                </a:solidFill>
              </a:rPr>
              <a:t>7.4  </a:t>
            </a:r>
            <a:r>
              <a:rPr lang="zh-CN" altLang="zh-CN" sz="2000" dirty="0"/>
              <a:t>在服务器</a:t>
            </a:r>
            <a:r>
              <a:rPr lang="en-US" altLang="zh-CN" sz="2000" dirty="0" err="1"/>
              <a:t>Happyu-Zjsu</a:t>
            </a:r>
            <a:r>
              <a:rPr lang="zh-CN" altLang="zh-CN" sz="2000" dirty="0"/>
              <a:t>中，针对</a:t>
            </a:r>
            <a:r>
              <a:rPr lang="en-US" altLang="zh-CN" sz="2000" dirty="0"/>
              <a:t>EBook</a:t>
            </a:r>
            <a:r>
              <a:rPr lang="zh-CN" altLang="zh-CN" sz="2000" dirty="0"/>
              <a:t>，创建包含的数据库用户</a:t>
            </a:r>
            <a:r>
              <a:rPr lang="en-US" altLang="zh-CN" sz="2000" dirty="0" err="1"/>
              <a:t>WinTimer</a:t>
            </a:r>
            <a:r>
              <a:rPr lang="zh-CN" altLang="zh-CN" sz="2000" dirty="0"/>
              <a:t>和</a:t>
            </a:r>
            <a:r>
              <a:rPr lang="en-US" altLang="zh-CN" sz="2000" dirty="0" err="1"/>
              <a:t>SqlTimer</a:t>
            </a:r>
            <a:r>
              <a:rPr lang="zh-CN" altLang="zh-CN" sz="2000" dirty="0"/>
              <a:t>的名为</a:t>
            </a:r>
            <a:r>
              <a:rPr lang="en-US" altLang="zh-CN" sz="2000" dirty="0" err="1"/>
              <a:t>WinSqlRole</a:t>
            </a:r>
            <a:r>
              <a:rPr lang="zh-CN" altLang="zh-CN" sz="2000" dirty="0"/>
              <a:t>数据库角色，然后删除数据库角色</a:t>
            </a:r>
            <a:r>
              <a:rPr lang="en-US" altLang="zh-CN" sz="2000" dirty="0" err="1"/>
              <a:t>WinSqlRole</a:t>
            </a:r>
            <a:r>
              <a:rPr lang="zh-CN" altLang="zh-CN" sz="2000" dirty="0"/>
              <a:t>。</a:t>
            </a:r>
          </a:p>
          <a:p>
            <a:pPr marL="360363" indent="0">
              <a:buNone/>
            </a:pPr>
            <a:r>
              <a:rPr lang="en-US" altLang="zh-CN" sz="2000" dirty="0"/>
              <a:t>USE EBook</a:t>
            </a:r>
            <a:endParaRPr lang="zh-CN" altLang="zh-CN" sz="2000" dirty="0"/>
          </a:p>
          <a:p>
            <a:pPr marL="360363" indent="0">
              <a:buNone/>
            </a:pPr>
            <a:r>
              <a:rPr lang="en-US" altLang="zh-CN" sz="2000" dirty="0"/>
              <a:t>CREATE ROLE </a:t>
            </a:r>
            <a:r>
              <a:rPr lang="en-US" altLang="zh-CN" sz="2000" dirty="0" err="1"/>
              <a:t>WinSqlRole</a:t>
            </a:r>
            <a:endParaRPr lang="zh-CN" altLang="zh-CN" sz="2000" dirty="0"/>
          </a:p>
          <a:p>
            <a:pPr marL="360363" indent="0">
              <a:buNone/>
            </a:pPr>
            <a:r>
              <a:rPr lang="en-US" altLang="zh-CN" sz="2000" dirty="0"/>
              <a:t>EXEC SP_ADDROLEMEMBER '</a:t>
            </a:r>
            <a:r>
              <a:rPr lang="en-US" altLang="zh-CN" sz="2000" dirty="0" err="1"/>
              <a:t>WinSqlRole</a:t>
            </a:r>
            <a:r>
              <a:rPr lang="en-US" altLang="zh-CN" sz="2000" dirty="0"/>
              <a:t>','</a:t>
            </a:r>
            <a:r>
              <a:rPr lang="en-US" altLang="zh-CN" sz="2000" dirty="0" err="1"/>
              <a:t>WinTimer</a:t>
            </a:r>
            <a:r>
              <a:rPr lang="en-US" altLang="zh-CN" sz="2000" dirty="0"/>
              <a:t>'</a:t>
            </a:r>
            <a:endParaRPr lang="zh-CN" altLang="zh-CN" sz="2000" dirty="0"/>
          </a:p>
          <a:p>
            <a:pPr marL="360363" indent="0">
              <a:buNone/>
            </a:pPr>
            <a:r>
              <a:rPr lang="en-US" altLang="zh-CN" sz="2000" dirty="0"/>
              <a:t>EXEC SP_ADDROLEMEMBER '</a:t>
            </a:r>
            <a:r>
              <a:rPr lang="en-US" altLang="zh-CN" sz="2000" dirty="0" err="1"/>
              <a:t>WinSqlRole</a:t>
            </a:r>
            <a:r>
              <a:rPr lang="en-US" altLang="zh-CN" sz="2000" dirty="0"/>
              <a:t>','</a:t>
            </a:r>
            <a:r>
              <a:rPr lang="en-US" altLang="zh-CN" sz="2000" dirty="0" err="1"/>
              <a:t>SqlTimer</a:t>
            </a:r>
            <a:r>
              <a:rPr lang="en-US" altLang="zh-CN" sz="2000" dirty="0"/>
              <a:t>'</a:t>
            </a:r>
            <a:endParaRPr lang="zh-CN" altLang="zh-CN" sz="2000" dirty="0"/>
          </a:p>
          <a:p>
            <a:pPr marL="360363" indent="0">
              <a:buNone/>
            </a:pPr>
            <a:r>
              <a:rPr lang="en-US" altLang="zh-CN" sz="2000" dirty="0"/>
              <a:t>EXEC SP_DROPROLEMEMBER '</a:t>
            </a:r>
            <a:r>
              <a:rPr lang="en-US" altLang="zh-CN" sz="2000" dirty="0" err="1"/>
              <a:t>WinSqlRole</a:t>
            </a:r>
            <a:r>
              <a:rPr lang="en-US" altLang="zh-CN" sz="2000" dirty="0"/>
              <a:t>','</a:t>
            </a:r>
            <a:r>
              <a:rPr lang="en-US" altLang="zh-CN" sz="2000" dirty="0" err="1"/>
              <a:t>WinTimer</a:t>
            </a:r>
            <a:r>
              <a:rPr lang="en-US" altLang="zh-CN" sz="2000" dirty="0"/>
              <a:t>'</a:t>
            </a:r>
            <a:endParaRPr lang="zh-CN" altLang="zh-CN" sz="2000" dirty="0"/>
          </a:p>
          <a:p>
            <a:pPr marL="360363" indent="0">
              <a:buNone/>
            </a:pPr>
            <a:r>
              <a:rPr lang="en-US" altLang="zh-CN" sz="2000" dirty="0"/>
              <a:t>EXEC SP_DROPROLEMEMBER '</a:t>
            </a:r>
            <a:r>
              <a:rPr lang="en-US" altLang="zh-CN" sz="2000" dirty="0" err="1"/>
              <a:t>WinSqlRole</a:t>
            </a:r>
            <a:r>
              <a:rPr lang="en-US" altLang="zh-CN" sz="2000" dirty="0"/>
              <a:t>','</a:t>
            </a:r>
            <a:r>
              <a:rPr lang="en-US" altLang="zh-CN" sz="2000" dirty="0" err="1"/>
              <a:t>SqlTimer</a:t>
            </a:r>
            <a:r>
              <a:rPr lang="en-US" altLang="zh-CN" sz="2000" dirty="0"/>
              <a:t>'</a:t>
            </a:r>
            <a:endParaRPr lang="zh-CN" altLang="zh-CN" sz="2000" dirty="0"/>
          </a:p>
          <a:p>
            <a:pPr marL="360363" indent="0">
              <a:buNone/>
            </a:pPr>
            <a:r>
              <a:rPr lang="en-US" altLang="zh-CN" sz="2000" dirty="0"/>
              <a:t>DROP ROLE </a:t>
            </a:r>
            <a:r>
              <a:rPr lang="en-US" altLang="zh-CN" sz="2000" dirty="0" err="1"/>
              <a:t>WinSqlRole</a:t>
            </a:r>
            <a:endParaRPr lang="zh-CN" altLang="zh-CN" sz="2000" dirty="0"/>
          </a:p>
          <a:p>
            <a:r>
              <a:rPr lang="zh-CN" altLang="zh-CN" sz="2000" dirty="0">
                <a:solidFill>
                  <a:srgbClr val="0000FF"/>
                </a:solidFill>
              </a:rPr>
              <a:t>思考：</a:t>
            </a:r>
            <a:r>
              <a:rPr lang="zh-CN" altLang="zh-CN" sz="2000" dirty="0"/>
              <a:t>举例说明</a:t>
            </a:r>
            <a:r>
              <a:rPr lang="en-US" altLang="zh-CN" sz="2000" dirty="0"/>
              <a:t>ALTER ROLE</a:t>
            </a:r>
            <a:r>
              <a:rPr lang="zh-CN" altLang="zh-CN" sz="2000" dirty="0"/>
              <a:t>的用法。</a:t>
            </a:r>
          </a:p>
          <a:p>
            <a:pPr>
              <a:lnSpc>
                <a:spcPts val="3300"/>
              </a:lnSpc>
            </a:pPr>
            <a:endParaRPr lang="zh-CN" altLang="zh-CN" sz="2000" dirty="0"/>
          </a:p>
        </p:txBody>
      </p:sp>
    </p:spTree>
    <p:extLst>
      <p:ext uri="{BB962C8B-B14F-4D97-AF65-F5344CB8AC3E}">
        <p14:creationId xmlns:p14="http://schemas.microsoft.com/office/powerpoint/2010/main" val="29440951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7.2.2 </a:t>
            </a:r>
            <a:r>
              <a:rPr lang="zh-CN" altLang="zh-CN" dirty="0"/>
              <a:t>数据存取控制</a:t>
            </a:r>
            <a:endParaRPr lang="zh-CN" altLang="en-US" dirty="0"/>
          </a:p>
        </p:txBody>
      </p:sp>
      <p:sp>
        <p:nvSpPr>
          <p:cNvPr id="3" name="文本占位符 2"/>
          <p:cNvSpPr>
            <a:spLocks noGrp="1"/>
          </p:cNvSpPr>
          <p:nvPr>
            <p:ph type="body" idx="1"/>
          </p:nvPr>
        </p:nvSpPr>
        <p:spPr/>
        <p:txBody>
          <a:bodyPr/>
          <a:lstStyle/>
          <a:p>
            <a:r>
              <a:rPr lang="zh-CN" altLang="zh-CN" dirty="0">
                <a:solidFill>
                  <a:srgbClr val="0000FF"/>
                </a:solidFill>
              </a:rPr>
              <a:t>数据</a:t>
            </a:r>
            <a:r>
              <a:rPr lang="zh-CN" altLang="zh-CN" dirty="0" smtClean="0">
                <a:solidFill>
                  <a:srgbClr val="0000FF"/>
                </a:solidFill>
              </a:rPr>
              <a:t>存取控制</a:t>
            </a:r>
            <a:r>
              <a:rPr lang="zh-CN" altLang="en-US" dirty="0" smtClean="0">
                <a:solidFill>
                  <a:srgbClr val="0000FF"/>
                </a:solidFill>
              </a:rPr>
              <a:t>：</a:t>
            </a:r>
            <a:r>
              <a:rPr lang="zh-CN" altLang="zh-CN" dirty="0" smtClean="0"/>
              <a:t>在</a:t>
            </a:r>
            <a:r>
              <a:rPr lang="zh-CN" altLang="zh-CN" dirty="0"/>
              <a:t>存取数据时，需要确定用户是否拥有访问数据的权限，从而确保授权用户对数据的合法访问</a:t>
            </a:r>
            <a:r>
              <a:rPr lang="zh-CN" altLang="zh-CN" dirty="0" smtClean="0"/>
              <a:t>。</a:t>
            </a:r>
            <a:endParaRPr lang="en-US" altLang="zh-CN" dirty="0" smtClean="0"/>
          </a:p>
          <a:p>
            <a:pPr marL="360363" indent="0">
              <a:buNone/>
            </a:pPr>
            <a:r>
              <a:rPr lang="zh-CN" altLang="zh-CN" dirty="0" smtClean="0"/>
              <a:t>主要包括</a:t>
            </a:r>
            <a:r>
              <a:rPr lang="zh-CN" altLang="en-US" dirty="0" smtClean="0"/>
              <a:t>：</a:t>
            </a:r>
            <a:r>
              <a:rPr lang="zh-CN" altLang="zh-CN" dirty="0" smtClean="0">
                <a:solidFill>
                  <a:srgbClr val="0000FF"/>
                </a:solidFill>
              </a:rPr>
              <a:t>定义</a:t>
            </a:r>
            <a:r>
              <a:rPr lang="zh-CN" altLang="zh-CN" dirty="0">
                <a:solidFill>
                  <a:srgbClr val="0000FF"/>
                </a:solidFill>
              </a:rPr>
              <a:t>权限</a:t>
            </a:r>
            <a:r>
              <a:rPr lang="zh-CN" altLang="zh-CN" dirty="0"/>
              <a:t>和</a:t>
            </a:r>
            <a:r>
              <a:rPr lang="zh-CN" altLang="zh-CN" dirty="0">
                <a:solidFill>
                  <a:srgbClr val="0000FF"/>
                </a:solidFill>
              </a:rPr>
              <a:t>检查权限</a:t>
            </a:r>
            <a:r>
              <a:rPr lang="zh-CN" altLang="zh-CN" dirty="0"/>
              <a:t>等。</a:t>
            </a:r>
          </a:p>
          <a:p>
            <a:r>
              <a:rPr lang="zh-CN" altLang="zh-CN" dirty="0">
                <a:solidFill>
                  <a:srgbClr val="0000FF"/>
                </a:solidFill>
              </a:rPr>
              <a:t>定义权限：</a:t>
            </a:r>
            <a:r>
              <a:rPr lang="zh-CN" altLang="zh-CN" dirty="0"/>
              <a:t>为每个授权用户，定义相应的数据访问权限，并写入数据字典。</a:t>
            </a:r>
          </a:p>
          <a:p>
            <a:r>
              <a:rPr lang="zh-CN" altLang="zh-CN" dirty="0">
                <a:solidFill>
                  <a:srgbClr val="0000FF"/>
                </a:solidFill>
              </a:rPr>
              <a:t>检查权限：</a:t>
            </a:r>
            <a:r>
              <a:rPr lang="zh-CN" altLang="zh-CN" dirty="0"/>
              <a:t>在用户发出存取数据请求时，</a:t>
            </a:r>
            <a:r>
              <a:rPr lang="en-US" altLang="zh-CN" dirty="0"/>
              <a:t>DBMS</a:t>
            </a:r>
            <a:r>
              <a:rPr lang="zh-CN" altLang="zh-CN" dirty="0"/>
              <a:t>会检查其访问权限，如果合法，则接受访问；否则拒绝访问。</a:t>
            </a:r>
          </a:p>
          <a:p>
            <a:r>
              <a:rPr lang="zh-CN" altLang="zh-CN" dirty="0">
                <a:solidFill>
                  <a:srgbClr val="0000FF"/>
                </a:solidFill>
              </a:rPr>
              <a:t>数据存取控制方法：自主存取控制和强制存取控制</a:t>
            </a:r>
            <a:r>
              <a:rPr lang="zh-CN" altLang="zh-CN" dirty="0"/>
              <a:t>等，从而使</a:t>
            </a:r>
            <a:r>
              <a:rPr lang="zh-CN" altLang="zh-CN" dirty="0">
                <a:solidFill>
                  <a:srgbClr val="0000FF"/>
                </a:solidFill>
              </a:rPr>
              <a:t>产品达到</a:t>
            </a:r>
            <a:r>
              <a:rPr lang="en-US" altLang="zh-CN" dirty="0">
                <a:solidFill>
                  <a:srgbClr val="0000FF"/>
                </a:solidFill>
              </a:rPr>
              <a:t>C2</a:t>
            </a:r>
            <a:r>
              <a:rPr lang="zh-CN" altLang="zh-CN" dirty="0">
                <a:solidFill>
                  <a:srgbClr val="0000FF"/>
                </a:solidFill>
              </a:rPr>
              <a:t>级和</a:t>
            </a:r>
            <a:r>
              <a:rPr lang="en-US" altLang="zh-CN" dirty="0">
                <a:solidFill>
                  <a:srgbClr val="0000FF"/>
                </a:solidFill>
              </a:rPr>
              <a:t>B1</a:t>
            </a:r>
            <a:r>
              <a:rPr lang="zh-CN" altLang="zh-CN" dirty="0">
                <a:solidFill>
                  <a:srgbClr val="0000FF"/>
                </a:solidFill>
              </a:rPr>
              <a:t>级</a:t>
            </a:r>
            <a:r>
              <a:rPr lang="zh-CN" altLang="zh-CN" dirty="0" smtClean="0"/>
              <a:t>。</a:t>
            </a:r>
            <a:endParaRPr lang="zh-CN" altLang="en-US" dirty="0"/>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20</a:t>
            </a:fld>
            <a:endParaRPr lang="zh-CN" altLang="en-US" dirty="0"/>
          </a:p>
        </p:txBody>
      </p:sp>
    </p:spTree>
    <p:extLst>
      <p:ext uri="{BB962C8B-B14F-4D97-AF65-F5344CB8AC3E}">
        <p14:creationId xmlns:p14="http://schemas.microsoft.com/office/powerpoint/2010/main" val="4752993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1</a:t>
            </a:r>
            <a:r>
              <a:rPr lang="zh-CN" altLang="zh-CN" dirty="0"/>
              <a:t>．自主存取控制</a:t>
            </a:r>
            <a:r>
              <a:rPr lang="en-US" altLang="zh-CN" dirty="0"/>
              <a:t>DAC</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21</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自主</a:t>
            </a:r>
            <a:r>
              <a:rPr lang="zh-CN" altLang="zh-CN" sz="2000" dirty="0" smtClean="0">
                <a:solidFill>
                  <a:srgbClr val="0000FF"/>
                </a:solidFill>
              </a:rPr>
              <a:t>存取控制</a:t>
            </a:r>
            <a:r>
              <a:rPr lang="zh-CN" altLang="en-US" sz="2000" dirty="0" smtClean="0">
                <a:solidFill>
                  <a:srgbClr val="0000FF"/>
                </a:solidFill>
              </a:rPr>
              <a:t>：</a:t>
            </a:r>
            <a:r>
              <a:rPr lang="zh-CN" altLang="zh-CN" sz="2000" dirty="0" smtClean="0"/>
              <a:t>给</a:t>
            </a:r>
            <a:r>
              <a:rPr lang="zh-CN" altLang="zh-CN" sz="2000" dirty="0"/>
              <a:t>不同用户授予</a:t>
            </a:r>
            <a:r>
              <a:rPr lang="en-US" altLang="zh-CN" sz="2000" dirty="0"/>
              <a:t>/</a:t>
            </a:r>
            <a:r>
              <a:rPr lang="zh-CN" altLang="zh-CN" sz="2000" dirty="0"/>
              <a:t>阻止</a:t>
            </a:r>
            <a:r>
              <a:rPr lang="en-US" altLang="zh-CN" sz="2000" dirty="0"/>
              <a:t>/</a:t>
            </a:r>
            <a:r>
              <a:rPr lang="zh-CN" altLang="zh-CN" sz="2000" dirty="0"/>
              <a:t>收回，对数据对象的存取权限。</a:t>
            </a:r>
          </a:p>
          <a:p>
            <a:r>
              <a:rPr lang="zh-CN" altLang="zh-CN" sz="2000" dirty="0"/>
              <a:t>用户权限由数据对象和操作类型等组成。即：定义用户对数据对象的操作。</a:t>
            </a:r>
          </a:p>
          <a:p>
            <a:r>
              <a:rPr lang="zh-CN" altLang="zh-CN" sz="2000" dirty="0">
                <a:solidFill>
                  <a:srgbClr val="0000FF"/>
                </a:solidFill>
              </a:rPr>
              <a:t>数据对象：</a:t>
            </a:r>
            <a:r>
              <a:rPr lang="zh-CN" altLang="zh-CN" sz="2000" dirty="0"/>
              <a:t>数据库、表、属性、视图、索引以及数据字典中相关的模式对象等。</a:t>
            </a:r>
          </a:p>
          <a:p>
            <a:r>
              <a:rPr lang="zh-CN" altLang="zh-CN" sz="2000" dirty="0">
                <a:solidFill>
                  <a:srgbClr val="0000FF"/>
                </a:solidFill>
              </a:rPr>
              <a:t>操作类型：</a:t>
            </a:r>
            <a:r>
              <a:rPr lang="zh-CN" altLang="zh-CN" sz="2000" dirty="0"/>
              <a:t>建立、修改、插入、删除、查询和“所有权限”等。</a:t>
            </a:r>
          </a:p>
          <a:p>
            <a:r>
              <a:rPr lang="zh-CN" altLang="zh-CN" sz="2000" dirty="0"/>
              <a:t>在</a:t>
            </a:r>
            <a:r>
              <a:rPr lang="en-US" altLang="zh-CN" sz="2000" dirty="0"/>
              <a:t>DAC</a:t>
            </a:r>
            <a:r>
              <a:rPr lang="zh-CN" altLang="zh-CN" sz="2000" dirty="0"/>
              <a:t>中，用户授权的数据对象范围（即：授权粒度）越小，则授权子系统越灵活，但是定义权限和检查权限的开销也会增大；同理，用户授权粒度越大，则授权子系统的灵活性会降低，但是定义权限和检查权限比较简单，系统开销也较小。因此，授权粒度应根据实际应用进行合理选取。而且</a:t>
            </a:r>
            <a:r>
              <a:rPr lang="en-US" altLang="zh-CN" sz="2000" dirty="0"/>
              <a:t>DBMS</a:t>
            </a:r>
            <a:r>
              <a:rPr lang="zh-CN" altLang="zh-CN" sz="2000" dirty="0"/>
              <a:t>支持多粒度控制，用户权限可以使用多粒度进行控制。</a:t>
            </a:r>
          </a:p>
          <a:p>
            <a:r>
              <a:rPr lang="zh-CN" altLang="zh-CN" sz="2000" dirty="0">
                <a:solidFill>
                  <a:srgbClr val="0000FF"/>
                </a:solidFill>
              </a:rPr>
              <a:t>提示：</a:t>
            </a:r>
            <a:r>
              <a:rPr lang="zh-CN" altLang="zh-CN" sz="2000" dirty="0"/>
              <a:t>在</a:t>
            </a:r>
            <a:r>
              <a:rPr lang="en-US" altLang="zh-CN" sz="2000" dirty="0"/>
              <a:t>DAC</a:t>
            </a:r>
            <a:r>
              <a:rPr lang="zh-CN" altLang="zh-CN" sz="2000" dirty="0"/>
              <a:t>中，不同的用户对于不同的数据对象可以拥有不同的存取权限，且用户还可将其拥有的权限授权给其他用户。</a:t>
            </a:r>
          </a:p>
        </p:txBody>
      </p:sp>
    </p:spTree>
    <p:extLst>
      <p:ext uri="{BB962C8B-B14F-4D97-AF65-F5344CB8AC3E}">
        <p14:creationId xmlns:p14="http://schemas.microsoft.com/office/powerpoint/2010/main" val="1699493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a:t>
            </a:r>
            <a:r>
              <a:rPr lang="zh-CN" altLang="zh-CN" dirty="0"/>
              <a:t>．强制存取控制</a:t>
            </a:r>
            <a:r>
              <a:rPr lang="en-US" altLang="zh-CN" dirty="0"/>
              <a:t>MAC</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22</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因为</a:t>
            </a:r>
            <a:r>
              <a:rPr lang="en-US" altLang="zh-CN" sz="2000" dirty="0"/>
              <a:t>DAC</a:t>
            </a:r>
            <a:r>
              <a:rPr lang="zh-CN" altLang="zh-CN" sz="2000" dirty="0"/>
              <a:t>的继续授权功能降低了安全性，所以需要在</a:t>
            </a:r>
            <a:r>
              <a:rPr lang="en-US" altLang="zh-CN" sz="2000" dirty="0"/>
              <a:t>DAC</a:t>
            </a:r>
            <a:r>
              <a:rPr lang="zh-CN" altLang="zh-CN" sz="2000" dirty="0"/>
              <a:t>的基础上引入许可证机制，通过验证许可证密级，强制控制用户的访问权限。</a:t>
            </a:r>
          </a:p>
          <a:p>
            <a:r>
              <a:rPr lang="zh-CN" altLang="zh-CN" sz="2000" dirty="0">
                <a:solidFill>
                  <a:srgbClr val="0000FF"/>
                </a:solidFill>
              </a:rPr>
              <a:t>强制存储</a:t>
            </a:r>
            <a:r>
              <a:rPr lang="zh-CN" altLang="zh-CN" sz="2000" dirty="0" smtClean="0">
                <a:solidFill>
                  <a:srgbClr val="0000FF"/>
                </a:solidFill>
              </a:rPr>
              <a:t>控制</a:t>
            </a:r>
            <a:r>
              <a:rPr lang="zh-CN" altLang="en-US" sz="2000" dirty="0" smtClean="0">
                <a:solidFill>
                  <a:srgbClr val="0000FF"/>
                </a:solidFill>
              </a:rPr>
              <a:t>：</a:t>
            </a:r>
            <a:r>
              <a:rPr lang="zh-CN" altLang="zh-CN" sz="2000" dirty="0" smtClean="0"/>
              <a:t>为了</a:t>
            </a:r>
            <a:r>
              <a:rPr lang="zh-CN" altLang="zh-CN" sz="2000" dirty="0"/>
              <a:t>确保更高级别的数据安全保护，根据</a:t>
            </a:r>
            <a:r>
              <a:rPr lang="en-US" altLang="zh-CN" sz="2000" dirty="0"/>
              <a:t>TCSEC/TDI</a:t>
            </a:r>
            <a:r>
              <a:rPr lang="zh-CN" altLang="zh-CN" sz="2000" dirty="0"/>
              <a:t>中安全策略的要求，所采取的强制存取检查机制。</a:t>
            </a:r>
          </a:p>
          <a:p>
            <a:r>
              <a:rPr lang="en-US" altLang="zh-CN" sz="2000" dirty="0"/>
              <a:t>MAC</a:t>
            </a:r>
            <a:r>
              <a:rPr lang="zh-CN" altLang="zh-CN" sz="2000" dirty="0"/>
              <a:t>适用于数据安全要求严格，而且具有固定密级的部门。例如：军事部门、政府部门和金融部门等。</a:t>
            </a:r>
          </a:p>
          <a:p>
            <a:r>
              <a:rPr lang="zh-CN" altLang="zh-CN" sz="2000" dirty="0"/>
              <a:t>在</a:t>
            </a:r>
            <a:r>
              <a:rPr lang="en-US" altLang="zh-CN" sz="2000" dirty="0"/>
              <a:t>MAC</a:t>
            </a:r>
            <a:r>
              <a:rPr lang="zh-CN" altLang="zh-CN" sz="2000" dirty="0"/>
              <a:t>中，</a:t>
            </a:r>
            <a:r>
              <a:rPr lang="en-US" altLang="zh-CN" sz="2000" dirty="0"/>
              <a:t>DBMS</a:t>
            </a:r>
            <a:r>
              <a:rPr lang="zh-CN" altLang="zh-CN" sz="2000" dirty="0"/>
              <a:t>把</a:t>
            </a:r>
            <a:r>
              <a:rPr lang="zh-CN" altLang="zh-CN" sz="2000" dirty="0">
                <a:solidFill>
                  <a:srgbClr val="0000FF"/>
                </a:solidFill>
              </a:rPr>
              <a:t>管理对象</a:t>
            </a:r>
            <a:r>
              <a:rPr lang="zh-CN" altLang="zh-CN" sz="2000" dirty="0"/>
              <a:t>分为</a:t>
            </a:r>
            <a:r>
              <a:rPr lang="zh-CN" altLang="zh-CN" sz="2000" dirty="0">
                <a:solidFill>
                  <a:srgbClr val="0000FF"/>
                </a:solidFill>
              </a:rPr>
              <a:t>主体和客体</a:t>
            </a:r>
            <a:r>
              <a:rPr lang="zh-CN" altLang="zh-CN" sz="2000" dirty="0"/>
              <a:t>等。</a:t>
            </a:r>
          </a:p>
          <a:p>
            <a:r>
              <a:rPr lang="zh-CN" altLang="zh-CN" sz="2000" dirty="0">
                <a:solidFill>
                  <a:srgbClr val="0000FF"/>
                </a:solidFill>
              </a:rPr>
              <a:t>主体：</a:t>
            </a:r>
            <a:r>
              <a:rPr lang="zh-CN" altLang="zh-CN" sz="2000" dirty="0"/>
              <a:t>系统的活动实体。包括</a:t>
            </a:r>
            <a:r>
              <a:rPr lang="en-US" altLang="zh-CN" sz="2000" dirty="0"/>
              <a:t>DBMS</a:t>
            </a:r>
            <a:r>
              <a:rPr lang="zh-CN" altLang="zh-CN" sz="2000" dirty="0"/>
              <a:t>的用户及其进程。</a:t>
            </a:r>
            <a:r>
              <a:rPr lang="en-US" altLang="zh-CN" sz="2000" dirty="0"/>
              <a:t>DBMS</a:t>
            </a:r>
            <a:r>
              <a:rPr lang="zh-CN" altLang="zh-CN" sz="2000" dirty="0"/>
              <a:t>为主体的每个实例指派一个“许可证级别”。</a:t>
            </a:r>
          </a:p>
          <a:p>
            <a:r>
              <a:rPr lang="zh-CN" altLang="zh-CN" sz="2000" dirty="0">
                <a:solidFill>
                  <a:srgbClr val="0000FF"/>
                </a:solidFill>
              </a:rPr>
              <a:t>客体：</a:t>
            </a:r>
            <a:r>
              <a:rPr lang="zh-CN" altLang="zh-CN" sz="2000" dirty="0"/>
              <a:t>是受主体操纵的被动实体。包括文件、表、索引、视图等。</a:t>
            </a:r>
            <a:r>
              <a:rPr lang="en-US" altLang="zh-CN" sz="2000" dirty="0"/>
              <a:t>DBMS</a:t>
            </a:r>
            <a:r>
              <a:rPr lang="zh-CN" altLang="zh-CN" sz="2000" dirty="0"/>
              <a:t>为客体的每个实例指派一个密级。</a:t>
            </a:r>
          </a:p>
        </p:txBody>
      </p:sp>
    </p:spTree>
    <p:extLst>
      <p:ext uri="{BB962C8B-B14F-4D97-AF65-F5344CB8AC3E}">
        <p14:creationId xmlns:p14="http://schemas.microsoft.com/office/powerpoint/2010/main" val="40147199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a:t>
            </a:r>
            <a:r>
              <a:rPr lang="zh-CN" altLang="zh-CN" dirty="0"/>
              <a:t>．强制存取控制</a:t>
            </a:r>
            <a:r>
              <a:rPr lang="en-US" altLang="zh-CN" dirty="0"/>
              <a:t>MAC</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23</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a:lnSpc>
                <a:spcPts val="3300"/>
              </a:lnSpc>
            </a:pPr>
            <a:r>
              <a:rPr lang="zh-CN" altLang="zh-CN" sz="2000" dirty="0">
                <a:solidFill>
                  <a:srgbClr val="0000FF"/>
                </a:solidFill>
              </a:rPr>
              <a:t>主体</a:t>
            </a:r>
            <a:r>
              <a:rPr lang="en-US" altLang="zh-CN" sz="2000" dirty="0">
                <a:solidFill>
                  <a:srgbClr val="0000FF"/>
                </a:solidFill>
              </a:rPr>
              <a:t>/</a:t>
            </a:r>
            <a:r>
              <a:rPr lang="zh-CN" altLang="zh-CN" sz="2000" dirty="0">
                <a:solidFill>
                  <a:srgbClr val="0000FF"/>
                </a:solidFill>
              </a:rPr>
              <a:t>客体的级别可以分为若干等级。</a:t>
            </a:r>
            <a:r>
              <a:rPr lang="zh-CN" altLang="zh-CN" sz="2000" dirty="0"/>
              <a:t>例如：绝密（如：高考试卷）；机密（如：新款汽车设计图纸）；可信（如：私人信件）；公开（如：贷款利率公告）等。</a:t>
            </a:r>
          </a:p>
          <a:p>
            <a:pPr>
              <a:lnSpc>
                <a:spcPts val="3300"/>
              </a:lnSpc>
            </a:pPr>
            <a:r>
              <a:rPr lang="en-US" altLang="zh-CN" sz="2000" dirty="0"/>
              <a:t>MAC</a:t>
            </a:r>
            <a:r>
              <a:rPr lang="zh-CN" altLang="zh-CN" sz="2000" dirty="0"/>
              <a:t>通过比较主体的许可证级别和客体的密级，确定</a:t>
            </a:r>
            <a:r>
              <a:rPr lang="zh-CN" altLang="zh-CN" sz="2000" dirty="0" smtClean="0"/>
              <a:t>主体能够</a:t>
            </a:r>
            <a:r>
              <a:rPr lang="zh-CN" altLang="zh-CN" sz="2000" dirty="0"/>
              <a:t>存取</a:t>
            </a:r>
            <a:r>
              <a:rPr lang="zh-CN" altLang="zh-CN" sz="2000" dirty="0" smtClean="0"/>
              <a:t>客体</a:t>
            </a:r>
            <a:r>
              <a:rPr lang="zh-CN" altLang="en-US" sz="2000" dirty="0" smtClean="0"/>
              <a:t>？</a:t>
            </a:r>
            <a:endParaRPr lang="zh-CN" altLang="zh-CN" sz="2000" dirty="0"/>
          </a:p>
          <a:p>
            <a:pPr>
              <a:lnSpc>
                <a:spcPts val="3300"/>
              </a:lnSpc>
            </a:pPr>
            <a:r>
              <a:rPr lang="zh-CN" altLang="zh-CN" sz="2000" dirty="0">
                <a:solidFill>
                  <a:srgbClr val="0000FF"/>
                </a:solidFill>
              </a:rPr>
              <a:t>主体访问客体的基本规则</a:t>
            </a:r>
            <a:r>
              <a:rPr lang="zh-CN" altLang="zh-CN" sz="2000" dirty="0"/>
              <a:t>：</a:t>
            </a:r>
          </a:p>
          <a:p>
            <a:pPr marL="360363" indent="0">
              <a:lnSpc>
                <a:spcPts val="3300"/>
              </a:lnSpc>
              <a:buNone/>
            </a:pPr>
            <a:r>
              <a:rPr lang="zh-CN" altLang="zh-CN" sz="2000" dirty="0"/>
              <a:t>规则</a:t>
            </a:r>
            <a:r>
              <a:rPr lang="en-US" altLang="zh-CN" sz="2000" dirty="0"/>
              <a:t>1</a:t>
            </a:r>
            <a:r>
              <a:rPr lang="zh-CN" altLang="zh-CN" sz="2000" dirty="0"/>
              <a:t>：主体的许可证级别大于或者等于客体的密级。</a:t>
            </a:r>
          </a:p>
          <a:p>
            <a:pPr marL="360363" indent="0">
              <a:lnSpc>
                <a:spcPts val="3300"/>
              </a:lnSpc>
              <a:buNone/>
            </a:pPr>
            <a:r>
              <a:rPr lang="zh-CN" altLang="zh-CN" sz="2000" dirty="0"/>
              <a:t>规则</a:t>
            </a:r>
            <a:r>
              <a:rPr lang="en-US" altLang="zh-CN" sz="2000" dirty="0"/>
              <a:t>2</a:t>
            </a:r>
            <a:r>
              <a:rPr lang="zh-CN" altLang="zh-CN" sz="2000" dirty="0"/>
              <a:t>：主体的许可证级别等于客体的密级。</a:t>
            </a:r>
          </a:p>
          <a:p>
            <a:pPr>
              <a:lnSpc>
                <a:spcPts val="3300"/>
              </a:lnSpc>
            </a:pPr>
            <a:r>
              <a:rPr lang="zh-CN" altLang="zh-CN" sz="2000" dirty="0"/>
              <a:t>不难看出，</a:t>
            </a:r>
            <a:r>
              <a:rPr lang="zh-CN" altLang="zh-CN" sz="2000" dirty="0">
                <a:solidFill>
                  <a:srgbClr val="0000FF"/>
                </a:solidFill>
              </a:rPr>
              <a:t>规则</a:t>
            </a:r>
            <a:r>
              <a:rPr lang="en-US" altLang="zh-CN" sz="2000" dirty="0">
                <a:solidFill>
                  <a:srgbClr val="0000FF"/>
                </a:solidFill>
              </a:rPr>
              <a:t>2</a:t>
            </a:r>
            <a:r>
              <a:rPr lang="zh-CN" altLang="zh-CN" sz="2000" dirty="0">
                <a:solidFill>
                  <a:srgbClr val="0000FF"/>
                </a:solidFill>
              </a:rPr>
              <a:t>的比规则</a:t>
            </a:r>
            <a:r>
              <a:rPr lang="en-US" altLang="zh-CN" sz="2000" dirty="0">
                <a:solidFill>
                  <a:srgbClr val="0000FF"/>
                </a:solidFill>
              </a:rPr>
              <a:t>1</a:t>
            </a:r>
            <a:r>
              <a:rPr lang="zh-CN" altLang="zh-CN" sz="2000" dirty="0">
                <a:solidFill>
                  <a:srgbClr val="0000FF"/>
                </a:solidFill>
              </a:rPr>
              <a:t>安全性高</a:t>
            </a:r>
            <a:r>
              <a:rPr lang="zh-CN" altLang="zh-CN" sz="2000" dirty="0"/>
              <a:t>。</a:t>
            </a:r>
          </a:p>
          <a:p>
            <a:pPr>
              <a:lnSpc>
                <a:spcPts val="3300"/>
              </a:lnSpc>
            </a:pPr>
            <a:r>
              <a:rPr lang="zh-CN" altLang="zh-CN" sz="2000" dirty="0"/>
              <a:t>在</a:t>
            </a:r>
            <a:r>
              <a:rPr lang="en-US" altLang="zh-CN" sz="2000" dirty="0"/>
              <a:t>MAC</a:t>
            </a:r>
            <a:r>
              <a:rPr lang="zh-CN" altLang="zh-CN" sz="2000" dirty="0"/>
              <a:t>中，每个用户均授权一个指定级别的许可证，每个数据对象均授权一个指定的密级，对于任意一个数据对象，只有合法许可证级别的用户才可以进行存取。</a:t>
            </a:r>
          </a:p>
          <a:p>
            <a:pPr>
              <a:lnSpc>
                <a:spcPts val="3300"/>
              </a:lnSpc>
            </a:pPr>
            <a:r>
              <a:rPr lang="en-US" altLang="zh-CN" sz="2000" dirty="0">
                <a:solidFill>
                  <a:srgbClr val="0000FF"/>
                </a:solidFill>
              </a:rPr>
              <a:t>MAC</a:t>
            </a:r>
            <a:r>
              <a:rPr lang="zh-CN" altLang="zh-CN" sz="2000" dirty="0">
                <a:solidFill>
                  <a:srgbClr val="0000FF"/>
                </a:solidFill>
              </a:rPr>
              <a:t>是</a:t>
            </a:r>
            <a:r>
              <a:rPr lang="en-US" altLang="zh-CN" sz="2000" dirty="0">
                <a:solidFill>
                  <a:srgbClr val="0000FF"/>
                </a:solidFill>
              </a:rPr>
              <a:t>DBMS</a:t>
            </a:r>
            <a:r>
              <a:rPr lang="zh-CN" altLang="zh-CN" sz="2000" dirty="0">
                <a:solidFill>
                  <a:srgbClr val="0000FF"/>
                </a:solidFill>
              </a:rPr>
              <a:t>的内部控制引擎</a:t>
            </a:r>
            <a:r>
              <a:rPr lang="zh-CN" altLang="zh-CN" sz="2000" dirty="0"/>
              <a:t>（非用户控制），所以</a:t>
            </a:r>
            <a:r>
              <a:rPr lang="en-US" altLang="zh-CN" sz="2000" dirty="0">
                <a:solidFill>
                  <a:srgbClr val="0000FF"/>
                </a:solidFill>
              </a:rPr>
              <a:t>MAC</a:t>
            </a:r>
            <a:r>
              <a:rPr lang="zh-CN" altLang="zh-CN" sz="2000" dirty="0">
                <a:solidFill>
                  <a:srgbClr val="0000FF"/>
                </a:solidFill>
              </a:rPr>
              <a:t>较</a:t>
            </a:r>
            <a:r>
              <a:rPr lang="en-US" altLang="zh-CN" sz="2000" dirty="0">
                <a:solidFill>
                  <a:srgbClr val="0000FF"/>
                </a:solidFill>
              </a:rPr>
              <a:t>DAC</a:t>
            </a:r>
            <a:r>
              <a:rPr lang="zh-CN" altLang="zh-CN" sz="2000" dirty="0">
                <a:solidFill>
                  <a:srgbClr val="0000FF"/>
                </a:solidFill>
              </a:rPr>
              <a:t>具有更高的安全性</a:t>
            </a:r>
            <a:r>
              <a:rPr lang="zh-CN" altLang="zh-CN" sz="2000" dirty="0"/>
              <a:t>。</a:t>
            </a:r>
          </a:p>
        </p:txBody>
      </p:sp>
    </p:spTree>
    <p:extLst>
      <p:ext uri="{BB962C8B-B14F-4D97-AF65-F5344CB8AC3E}">
        <p14:creationId xmlns:p14="http://schemas.microsoft.com/office/powerpoint/2010/main" val="5239777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3. </a:t>
            </a:r>
            <a:r>
              <a:rPr lang="zh-CN" altLang="zh-CN" dirty="0"/>
              <a:t>合法的非法访问控制</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24</a:t>
            </a:fld>
            <a:endParaRPr lang="zh-CN" altLang="en-US" dirty="0"/>
          </a:p>
        </p:txBody>
      </p:sp>
      <p:sp>
        <p:nvSpPr>
          <p:cNvPr id="7" name="文本占位符 6"/>
          <p:cNvSpPr>
            <a:spLocks noGrp="1"/>
          </p:cNvSpPr>
          <p:nvPr>
            <p:ph type="body" idx="1"/>
          </p:nvPr>
        </p:nvSpPr>
        <p:spPr>
          <a:xfrm>
            <a:off x="107504" y="836712"/>
            <a:ext cx="8856984" cy="5544616"/>
          </a:xfrm>
        </p:spPr>
        <p:txBody>
          <a:bodyPr>
            <a:noAutofit/>
          </a:bodyPr>
          <a:lstStyle/>
          <a:p>
            <a:r>
              <a:rPr lang="zh-CN" altLang="zh-CN" sz="2000" dirty="0">
                <a:solidFill>
                  <a:srgbClr val="0000FF"/>
                </a:solidFill>
              </a:rPr>
              <a:t>合法的非法访问</a:t>
            </a:r>
            <a:r>
              <a:rPr lang="zh-CN" altLang="zh-CN" sz="2000" dirty="0" smtClean="0">
                <a:solidFill>
                  <a:srgbClr val="0000FF"/>
                </a:solidFill>
              </a:rPr>
              <a:t>控制</a:t>
            </a:r>
            <a:r>
              <a:rPr lang="zh-CN" altLang="en-US" sz="2000" dirty="0" smtClean="0">
                <a:solidFill>
                  <a:srgbClr val="0000FF"/>
                </a:solidFill>
              </a:rPr>
              <a:t>：</a:t>
            </a:r>
            <a:r>
              <a:rPr lang="zh-CN" altLang="zh-CN" sz="2000" dirty="0" smtClean="0"/>
              <a:t>用于</a:t>
            </a:r>
            <a:r>
              <a:rPr lang="zh-CN" altLang="zh-CN" sz="2000" dirty="0"/>
              <a:t>控制合法用户通过合法的算法和查询，计算出未授权访问的数据，而采取的控制技术。</a:t>
            </a:r>
          </a:p>
          <a:p>
            <a:r>
              <a:rPr lang="zh-CN" altLang="zh-CN" sz="2000" dirty="0"/>
              <a:t>合法的非法访问的</a:t>
            </a:r>
            <a:r>
              <a:rPr lang="zh-CN" altLang="zh-CN" sz="2000" dirty="0">
                <a:solidFill>
                  <a:srgbClr val="0000FF"/>
                </a:solidFill>
              </a:rPr>
              <a:t>特点：</a:t>
            </a:r>
            <a:r>
              <a:rPr lang="zh-CN" altLang="zh-CN" sz="2000" dirty="0"/>
              <a:t>用户操作合法，且通过合法操作，能导出不允许访问的数据。</a:t>
            </a:r>
          </a:p>
          <a:p>
            <a:r>
              <a:rPr lang="zh-CN" altLang="zh-CN" sz="2000" dirty="0">
                <a:solidFill>
                  <a:srgbClr val="0000FF"/>
                </a:solidFill>
              </a:rPr>
              <a:t>例如：</a:t>
            </a:r>
            <a:r>
              <a:rPr lang="zh-CN" altLang="zh-CN" sz="2000" dirty="0"/>
              <a:t>在银行查询中，如果允许查询大于等于</a:t>
            </a:r>
            <a:r>
              <a:rPr lang="en-US" altLang="zh-CN" sz="2000" dirty="0"/>
              <a:t>N</a:t>
            </a:r>
            <a:r>
              <a:rPr lang="zh-CN" altLang="zh-CN" sz="2000" dirty="0"/>
              <a:t>（</a:t>
            </a:r>
            <a:r>
              <a:rPr lang="en-US" altLang="zh-CN" sz="2000" dirty="0"/>
              <a:t>N&gt;60</a:t>
            </a:r>
            <a:r>
              <a:rPr lang="zh-CN" altLang="zh-CN" sz="2000" dirty="0"/>
              <a:t>）个人的存款总额，但是不允许查询一个用户的存款余额。则用户</a:t>
            </a:r>
            <a:r>
              <a:rPr lang="en-US" altLang="zh-CN" sz="2000" dirty="0"/>
              <a:t>Jim</a:t>
            </a:r>
            <a:r>
              <a:rPr lang="zh-CN" altLang="zh-CN" sz="2000" dirty="0"/>
              <a:t>可以通过如下合法查询得到</a:t>
            </a:r>
            <a:r>
              <a:rPr lang="en-US" altLang="zh-CN" sz="2000" dirty="0"/>
              <a:t>Tom</a:t>
            </a:r>
            <a:r>
              <a:rPr lang="zh-CN" altLang="zh-CN" sz="2000" dirty="0"/>
              <a:t>的银行存款：</a:t>
            </a:r>
          </a:p>
          <a:p>
            <a:pPr marL="360363" indent="0">
              <a:buNone/>
            </a:pPr>
            <a:r>
              <a:rPr lang="zh-CN" altLang="zh-CN" sz="2000" dirty="0"/>
              <a:t>（</a:t>
            </a:r>
            <a:r>
              <a:rPr lang="en-US" altLang="zh-CN" sz="2000" dirty="0"/>
              <a:t>1</a:t>
            </a:r>
            <a:r>
              <a:rPr lang="zh-CN" altLang="zh-CN" sz="2000" dirty="0"/>
              <a:t>）查询</a:t>
            </a:r>
            <a:r>
              <a:rPr lang="en-US" altLang="zh-CN" sz="2000" dirty="0"/>
              <a:t>Jim</a:t>
            </a:r>
            <a:r>
              <a:rPr lang="zh-CN" altLang="zh-CN" sz="2000" dirty="0"/>
              <a:t>和选定</a:t>
            </a:r>
            <a:r>
              <a:rPr lang="en-US" altLang="zh-CN" sz="2000" dirty="0"/>
              <a:t>N-1</a:t>
            </a:r>
            <a:r>
              <a:rPr lang="zh-CN" altLang="zh-CN" sz="2000" dirty="0"/>
              <a:t>个人的存款余额</a:t>
            </a:r>
            <a:r>
              <a:rPr lang="en-US" altLang="zh-CN" sz="2000" dirty="0"/>
              <a:t>S1</a:t>
            </a:r>
            <a:r>
              <a:rPr lang="zh-CN" altLang="zh-CN" sz="2000" dirty="0"/>
              <a:t>。</a:t>
            </a:r>
          </a:p>
          <a:p>
            <a:pPr marL="360363" indent="0">
              <a:buNone/>
            </a:pPr>
            <a:r>
              <a:rPr lang="zh-CN" altLang="zh-CN" sz="2000" dirty="0"/>
              <a:t>（</a:t>
            </a:r>
            <a:r>
              <a:rPr lang="en-US" altLang="zh-CN" sz="2000" dirty="0"/>
              <a:t>2</a:t>
            </a:r>
            <a:r>
              <a:rPr lang="zh-CN" altLang="zh-CN" sz="2000" dirty="0"/>
              <a:t>）查询</a:t>
            </a:r>
            <a:r>
              <a:rPr lang="en-US" altLang="zh-CN" sz="2000" dirty="0"/>
              <a:t>Tom</a:t>
            </a:r>
            <a:r>
              <a:rPr lang="zh-CN" altLang="zh-CN" sz="2000" dirty="0"/>
              <a:t>和选定</a:t>
            </a:r>
            <a:r>
              <a:rPr lang="en-US" altLang="zh-CN" sz="2000" dirty="0"/>
              <a:t>N-1</a:t>
            </a:r>
            <a:r>
              <a:rPr lang="zh-CN" altLang="zh-CN" sz="2000" dirty="0"/>
              <a:t>个人的存款余额</a:t>
            </a:r>
            <a:r>
              <a:rPr lang="en-US" altLang="zh-CN" sz="2000" dirty="0"/>
              <a:t>S2</a:t>
            </a:r>
            <a:r>
              <a:rPr lang="zh-CN" altLang="zh-CN" sz="2000" dirty="0"/>
              <a:t>。</a:t>
            </a:r>
          </a:p>
          <a:p>
            <a:pPr marL="360363" indent="0">
              <a:buNone/>
            </a:pPr>
            <a:r>
              <a:rPr lang="zh-CN" altLang="zh-CN" sz="2000" dirty="0"/>
              <a:t>因为</a:t>
            </a:r>
            <a:r>
              <a:rPr lang="en-US" altLang="zh-CN" sz="2000" dirty="0"/>
              <a:t>Jim</a:t>
            </a:r>
            <a:r>
              <a:rPr lang="zh-CN" altLang="zh-CN" sz="2000" dirty="0"/>
              <a:t>知道自己的存款</a:t>
            </a:r>
            <a:r>
              <a:rPr lang="en-US" altLang="zh-CN" sz="2000" dirty="0"/>
              <a:t>P1</a:t>
            </a:r>
            <a:r>
              <a:rPr lang="zh-CN" altLang="zh-CN" sz="2000" dirty="0"/>
              <a:t>，所以很容易算出</a:t>
            </a:r>
            <a:r>
              <a:rPr lang="en-US" altLang="zh-CN" sz="2000" dirty="0"/>
              <a:t>Tom</a:t>
            </a:r>
            <a:r>
              <a:rPr lang="zh-CN" altLang="zh-CN" sz="2000" dirty="0"/>
              <a:t>的存款</a:t>
            </a:r>
            <a:r>
              <a:rPr lang="en-US" altLang="zh-CN" sz="2000" dirty="0"/>
              <a:t>P2=S2-S1+P1</a:t>
            </a:r>
            <a:r>
              <a:rPr lang="zh-CN" altLang="zh-CN" sz="2000" dirty="0"/>
              <a:t>。</a:t>
            </a:r>
          </a:p>
        </p:txBody>
      </p:sp>
    </p:spTree>
    <p:extLst>
      <p:ext uri="{BB962C8B-B14F-4D97-AF65-F5344CB8AC3E}">
        <p14:creationId xmlns:p14="http://schemas.microsoft.com/office/powerpoint/2010/main" val="27766060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3. </a:t>
            </a:r>
            <a:r>
              <a:rPr lang="zh-CN" altLang="zh-CN" dirty="0"/>
              <a:t>合法的非法访问控制</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25</a:t>
            </a:fld>
            <a:endParaRPr lang="zh-CN" altLang="en-US" dirty="0"/>
          </a:p>
        </p:txBody>
      </p:sp>
      <p:sp>
        <p:nvSpPr>
          <p:cNvPr id="7" name="文本占位符 6"/>
          <p:cNvSpPr>
            <a:spLocks noGrp="1"/>
          </p:cNvSpPr>
          <p:nvPr>
            <p:ph type="body" idx="1"/>
          </p:nvPr>
        </p:nvSpPr>
        <p:spPr>
          <a:xfrm>
            <a:off x="107504" y="908720"/>
            <a:ext cx="8856984" cy="5472608"/>
          </a:xfrm>
        </p:spPr>
        <p:txBody>
          <a:bodyPr>
            <a:noAutofit/>
          </a:bodyPr>
          <a:lstStyle/>
          <a:p>
            <a:r>
              <a:rPr lang="zh-CN" altLang="zh-CN" sz="2000" dirty="0"/>
              <a:t>合法的非法访问的</a:t>
            </a:r>
            <a:r>
              <a:rPr lang="zh-CN" altLang="zh-CN" sz="2000" dirty="0">
                <a:solidFill>
                  <a:srgbClr val="0000FF"/>
                </a:solidFill>
              </a:rPr>
              <a:t>控制技术：</a:t>
            </a:r>
          </a:p>
          <a:p>
            <a:pPr marL="360363" indent="0">
              <a:buNone/>
            </a:pPr>
            <a:r>
              <a:rPr lang="zh-CN" altLang="zh-CN" sz="2000" dirty="0"/>
              <a:t>（</a:t>
            </a:r>
            <a:r>
              <a:rPr lang="en-US" altLang="zh-CN" sz="2000" dirty="0"/>
              <a:t>1</a:t>
            </a:r>
            <a:r>
              <a:rPr lang="zh-CN" altLang="zh-CN" sz="2000" dirty="0"/>
              <a:t>）使用户的查询和算法费用超过非法得到数据的价值。</a:t>
            </a:r>
          </a:p>
          <a:p>
            <a:pPr marL="360363" indent="0">
              <a:buNone/>
            </a:pPr>
            <a:r>
              <a:rPr lang="zh-CN" altLang="zh-CN" sz="2000" dirty="0"/>
              <a:t>（</a:t>
            </a:r>
            <a:r>
              <a:rPr lang="en-US" altLang="zh-CN" sz="2000" dirty="0"/>
              <a:t>2</a:t>
            </a:r>
            <a:r>
              <a:rPr lang="zh-CN" altLang="zh-CN" sz="2000" dirty="0"/>
              <a:t>）破坏用户查询和推导未授权数据的条件。</a:t>
            </a:r>
          </a:p>
          <a:p>
            <a:r>
              <a:rPr lang="zh-CN" altLang="zh-CN" sz="2000" dirty="0">
                <a:solidFill>
                  <a:srgbClr val="0000FF"/>
                </a:solidFill>
              </a:rPr>
              <a:t>例如：</a:t>
            </a:r>
            <a:r>
              <a:rPr lang="zh-CN" altLang="zh-CN" sz="2000" dirty="0"/>
              <a:t>在上例中，可以规定用户的任意两次查询的相同数据不能超过</a:t>
            </a:r>
            <a:r>
              <a:rPr lang="en-US" altLang="zh-CN" sz="2000" dirty="0"/>
              <a:t>M</a:t>
            </a:r>
            <a:r>
              <a:rPr lang="zh-CN" altLang="zh-CN" sz="2000" dirty="0"/>
              <a:t>。</a:t>
            </a:r>
          </a:p>
          <a:p>
            <a:pPr marL="360363" indent="0">
              <a:buNone/>
            </a:pPr>
            <a:r>
              <a:rPr lang="zh-CN" altLang="zh-CN" sz="2000" dirty="0"/>
              <a:t>不难证明：</a:t>
            </a:r>
            <a:r>
              <a:rPr lang="en-US" altLang="zh-CN" sz="2000" dirty="0"/>
              <a:t>Jim</a:t>
            </a:r>
            <a:r>
              <a:rPr lang="zh-CN" altLang="zh-CN" sz="2000" dirty="0"/>
              <a:t>至少经过</a:t>
            </a:r>
            <a:r>
              <a:rPr lang="en-US" altLang="zh-CN" sz="2000" dirty="0"/>
              <a:t>(N-2)/M+1</a:t>
            </a:r>
            <a:r>
              <a:rPr lang="zh-CN" altLang="zh-CN" sz="2000" dirty="0"/>
              <a:t>次查询，才可以知道</a:t>
            </a:r>
            <a:r>
              <a:rPr lang="en-US" altLang="zh-CN" sz="2000" dirty="0"/>
              <a:t>Tom</a:t>
            </a:r>
            <a:r>
              <a:rPr lang="zh-CN" altLang="zh-CN" sz="2000" dirty="0"/>
              <a:t>的存款。如果</a:t>
            </a:r>
            <a:r>
              <a:rPr lang="en-US" altLang="zh-CN" sz="2000" dirty="0"/>
              <a:t>(N-2)/M+1</a:t>
            </a:r>
            <a:r>
              <a:rPr lang="zh-CN" altLang="zh-CN" sz="2000" dirty="0"/>
              <a:t>的值很大，则</a:t>
            </a:r>
            <a:r>
              <a:rPr lang="en-US" altLang="zh-CN" sz="2000" dirty="0"/>
              <a:t>Jim</a:t>
            </a:r>
            <a:r>
              <a:rPr lang="zh-CN" altLang="zh-CN" sz="2000" dirty="0"/>
              <a:t>的查询费用会很高（查询时间的代价）。为了提高安全性，可以进一步限制：每个用户的查询次数不能超过</a:t>
            </a:r>
            <a:r>
              <a:rPr lang="en-US" altLang="zh-CN" sz="2000" dirty="0"/>
              <a:t>(N-2)/M</a:t>
            </a:r>
            <a:r>
              <a:rPr lang="zh-CN" altLang="zh-CN" sz="2000" dirty="0"/>
              <a:t>次。</a:t>
            </a:r>
          </a:p>
        </p:txBody>
      </p:sp>
    </p:spTree>
    <p:extLst>
      <p:ext uri="{BB962C8B-B14F-4D97-AF65-F5344CB8AC3E}">
        <p14:creationId xmlns:p14="http://schemas.microsoft.com/office/powerpoint/2010/main" val="39406368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4. SQL Server</a:t>
            </a:r>
            <a:r>
              <a:rPr lang="zh-CN" altLang="zh-CN" dirty="0"/>
              <a:t>的权限控制</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26</a:t>
            </a:fld>
            <a:endParaRPr lang="zh-CN" altLang="en-US" dirty="0"/>
          </a:p>
        </p:txBody>
      </p:sp>
      <p:sp>
        <p:nvSpPr>
          <p:cNvPr id="7" name="文本占位符 6"/>
          <p:cNvSpPr>
            <a:spLocks noGrp="1"/>
          </p:cNvSpPr>
          <p:nvPr>
            <p:ph type="body" idx="1"/>
          </p:nvPr>
        </p:nvSpPr>
        <p:spPr>
          <a:xfrm>
            <a:off x="107504" y="908720"/>
            <a:ext cx="8856984" cy="5472608"/>
          </a:xfrm>
        </p:spPr>
        <p:txBody>
          <a:bodyPr>
            <a:noAutofit/>
          </a:bodyPr>
          <a:lstStyle/>
          <a:p>
            <a:pPr>
              <a:lnSpc>
                <a:spcPts val="3300"/>
              </a:lnSpc>
            </a:pPr>
            <a:r>
              <a:rPr lang="en-US" altLang="zh-CN" sz="2000" dirty="0"/>
              <a:t>SQL Server </a:t>
            </a:r>
            <a:r>
              <a:rPr lang="en-US" altLang="zh-CN" sz="2000" dirty="0" smtClean="0"/>
              <a:t>2016</a:t>
            </a:r>
            <a:r>
              <a:rPr lang="zh-CN" altLang="zh-CN" sz="2000" dirty="0" smtClean="0"/>
              <a:t>支持</a:t>
            </a:r>
            <a:r>
              <a:rPr lang="zh-CN" altLang="zh-CN" sz="2000" dirty="0">
                <a:solidFill>
                  <a:srgbClr val="0000FF"/>
                </a:solidFill>
              </a:rPr>
              <a:t>授权</a:t>
            </a:r>
            <a:r>
              <a:rPr lang="en-US" altLang="zh-CN" sz="2000" dirty="0">
                <a:solidFill>
                  <a:srgbClr val="0000FF"/>
                </a:solidFill>
              </a:rPr>
              <a:t>GRANT</a:t>
            </a:r>
            <a:r>
              <a:rPr lang="zh-CN" altLang="zh-CN" sz="2000" dirty="0">
                <a:solidFill>
                  <a:srgbClr val="0000FF"/>
                </a:solidFill>
              </a:rPr>
              <a:t>、阻权</a:t>
            </a:r>
            <a:r>
              <a:rPr lang="en-US" altLang="zh-CN" sz="2000" dirty="0">
                <a:solidFill>
                  <a:srgbClr val="0000FF"/>
                </a:solidFill>
              </a:rPr>
              <a:t>DENY</a:t>
            </a:r>
            <a:r>
              <a:rPr lang="zh-CN" altLang="zh-CN" sz="2000" dirty="0">
                <a:solidFill>
                  <a:srgbClr val="0000FF"/>
                </a:solidFill>
              </a:rPr>
              <a:t>和收权</a:t>
            </a:r>
            <a:r>
              <a:rPr lang="en-US" altLang="zh-CN" sz="2000" dirty="0">
                <a:solidFill>
                  <a:srgbClr val="0000FF"/>
                </a:solidFill>
              </a:rPr>
              <a:t>REVOKE </a:t>
            </a:r>
            <a:r>
              <a:rPr lang="zh-CN" altLang="zh-CN" sz="2000" dirty="0"/>
              <a:t>等权限控制。即：</a:t>
            </a:r>
          </a:p>
          <a:p>
            <a:pPr marL="360363" indent="0">
              <a:lnSpc>
                <a:spcPts val="3300"/>
              </a:lnSpc>
              <a:buNone/>
            </a:pPr>
            <a:r>
              <a:rPr lang="en-US" altLang="zh-CN" sz="1800" dirty="0">
                <a:solidFill>
                  <a:srgbClr val="0000FF"/>
                </a:solidFill>
              </a:rPr>
              <a:t>GRANT &lt;</a:t>
            </a:r>
            <a:r>
              <a:rPr lang="zh-CN" altLang="zh-CN" sz="1800" dirty="0">
                <a:solidFill>
                  <a:srgbClr val="0000FF"/>
                </a:solidFill>
              </a:rPr>
              <a:t>权限</a:t>
            </a:r>
            <a:r>
              <a:rPr lang="en-US" altLang="zh-CN" sz="1800" dirty="0">
                <a:solidFill>
                  <a:srgbClr val="0000FF"/>
                </a:solidFill>
              </a:rPr>
              <a:t>&gt; [ON &lt;</a:t>
            </a:r>
            <a:r>
              <a:rPr lang="zh-CN" altLang="zh-CN" sz="1800" dirty="0">
                <a:solidFill>
                  <a:srgbClr val="0000FF"/>
                </a:solidFill>
              </a:rPr>
              <a:t>对象</a:t>
            </a:r>
            <a:r>
              <a:rPr lang="en-US" altLang="zh-CN" sz="1800" dirty="0">
                <a:solidFill>
                  <a:srgbClr val="0000FF"/>
                </a:solidFill>
              </a:rPr>
              <a:t>&gt;] TO &lt;</a:t>
            </a:r>
            <a:r>
              <a:rPr lang="zh-CN" altLang="zh-CN" sz="1800" dirty="0">
                <a:solidFill>
                  <a:srgbClr val="0000FF"/>
                </a:solidFill>
              </a:rPr>
              <a:t>用户</a:t>
            </a:r>
            <a:r>
              <a:rPr lang="en-US" altLang="zh-CN" sz="1800" dirty="0">
                <a:solidFill>
                  <a:srgbClr val="0000FF"/>
                </a:solidFill>
              </a:rPr>
              <a:t>|</a:t>
            </a:r>
            <a:r>
              <a:rPr lang="zh-CN" altLang="zh-CN" sz="1800" dirty="0">
                <a:solidFill>
                  <a:srgbClr val="0000FF"/>
                </a:solidFill>
              </a:rPr>
              <a:t>角色</a:t>
            </a:r>
            <a:r>
              <a:rPr lang="en-US" altLang="zh-CN" sz="1800" dirty="0">
                <a:solidFill>
                  <a:srgbClr val="0000FF"/>
                </a:solidFill>
              </a:rPr>
              <a:t>|PUBLIC&gt; [WITH GRANT OPTION]</a:t>
            </a:r>
            <a:endParaRPr lang="zh-CN" altLang="zh-CN" sz="1800" dirty="0">
              <a:solidFill>
                <a:srgbClr val="0000FF"/>
              </a:solidFill>
            </a:endParaRPr>
          </a:p>
          <a:p>
            <a:pPr marL="360363" indent="0">
              <a:lnSpc>
                <a:spcPts val="3300"/>
              </a:lnSpc>
              <a:buNone/>
            </a:pPr>
            <a:r>
              <a:rPr lang="en-US" altLang="zh-CN" sz="1800" dirty="0">
                <a:solidFill>
                  <a:srgbClr val="0000FF"/>
                </a:solidFill>
              </a:rPr>
              <a:t>REVOKE &lt;</a:t>
            </a:r>
            <a:r>
              <a:rPr lang="zh-CN" altLang="zh-CN" sz="1800" dirty="0">
                <a:solidFill>
                  <a:srgbClr val="0000FF"/>
                </a:solidFill>
              </a:rPr>
              <a:t>权限</a:t>
            </a:r>
            <a:r>
              <a:rPr lang="en-US" altLang="zh-CN" sz="1800" dirty="0">
                <a:solidFill>
                  <a:srgbClr val="0000FF"/>
                </a:solidFill>
              </a:rPr>
              <a:t>&gt; [ON &lt;</a:t>
            </a:r>
            <a:r>
              <a:rPr lang="zh-CN" altLang="zh-CN" sz="1800" dirty="0">
                <a:solidFill>
                  <a:srgbClr val="0000FF"/>
                </a:solidFill>
              </a:rPr>
              <a:t>对象</a:t>
            </a:r>
            <a:r>
              <a:rPr lang="en-US" altLang="zh-CN" sz="1800" dirty="0">
                <a:solidFill>
                  <a:srgbClr val="0000FF"/>
                </a:solidFill>
              </a:rPr>
              <a:t>&gt;] FROM &lt;</a:t>
            </a:r>
            <a:r>
              <a:rPr lang="zh-CN" altLang="zh-CN" sz="1800" dirty="0">
                <a:solidFill>
                  <a:srgbClr val="0000FF"/>
                </a:solidFill>
              </a:rPr>
              <a:t>用户</a:t>
            </a:r>
            <a:r>
              <a:rPr lang="en-US" altLang="zh-CN" sz="1800" dirty="0">
                <a:solidFill>
                  <a:srgbClr val="0000FF"/>
                </a:solidFill>
              </a:rPr>
              <a:t>|</a:t>
            </a:r>
            <a:r>
              <a:rPr lang="zh-CN" altLang="zh-CN" sz="1800" dirty="0">
                <a:solidFill>
                  <a:srgbClr val="0000FF"/>
                </a:solidFill>
              </a:rPr>
              <a:t>角色</a:t>
            </a:r>
            <a:r>
              <a:rPr lang="en-US" altLang="zh-CN" sz="1800" dirty="0">
                <a:solidFill>
                  <a:srgbClr val="0000FF"/>
                </a:solidFill>
              </a:rPr>
              <a:t>|PUBLIC&gt;</a:t>
            </a:r>
            <a:endParaRPr lang="zh-CN" altLang="zh-CN" sz="1800" dirty="0">
              <a:solidFill>
                <a:srgbClr val="0000FF"/>
              </a:solidFill>
            </a:endParaRPr>
          </a:p>
          <a:p>
            <a:pPr>
              <a:lnSpc>
                <a:spcPts val="3300"/>
              </a:lnSpc>
            </a:pPr>
            <a:r>
              <a:rPr lang="zh-CN" altLang="zh-CN" sz="2000" dirty="0">
                <a:solidFill>
                  <a:srgbClr val="0000FF"/>
                </a:solidFill>
              </a:rPr>
              <a:t>其中：</a:t>
            </a:r>
          </a:p>
          <a:p>
            <a:pPr marL="360363" indent="0">
              <a:lnSpc>
                <a:spcPts val="3300"/>
              </a:lnSpc>
              <a:buNone/>
            </a:pPr>
            <a:r>
              <a:rPr lang="en-US" altLang="zh-CN" sz="2000" dirty="0">
                <a:solidFill>
                  <a:srgbClr val="0000FF"/>
                </a:solidFill>
              </a:rPr>
              <a:t>GRANT</a:t>
            </a:r>
            <a:r>
              <a:rPr lang="zh-CN" altLang="zh-CN" sz="2000" dirty="0">
                <a:solidFill>
                  <a:srgbClr val="0000FF"/>
                </a:solidFill>
              </a:rPr>
              <a:t>：</a:t>
            </a:r>
            <a:r>
              <a:rPr lang="zh-CN" altLang="zh-CN" sz="2000" dirty="0"/>
              <a:t>把权限授权给用户</a:t>
            </a:r>
            <a:r>
              <a:rPr lang="en-US" altLang="zh-CN" sz="2000" dirty="0"/>
              <a:t>/</a:t>
            </a:r>
            <a:r>
              <a:rPr lang="zh-CN" altLang="zh-CN" sz="2000" dirty="0"/>
              <a:t>角色。</a:t>
            </a:r>
          </a:p>
          <a:p>
            <a:pPr marL="360363" indent="0">
              <a:lnSpc>
                <a:spcPts val="3300"/>
              </a:lnSpc>
              <a:buNone/>
            </a:pPr>
            <a:r>
              <a:rPr lang="en-US" altLang="zh-CN" sz="2000" dirty="0">
                <a:solidFill>
                  <a:srgbClr val="0000FF"/>
                </a:solidFill>
              </a:rPr>
              <a:t>REVOKE</a:t>
            </a:r>
            <a:r>
              <a:rPr lang="zh-CN" altLang="zh-CN" sz="2000" dirty="0">
                <a:solidFill>
                  <a:srgbClr val="0000FF"/>
                </a:solidFill>
              </a:rPr>
              <a:t>：</a:t>
            </a:r>
            <a:r>
              <a:rPr lang="zh-CN" altLang="zh-CN" sz="2000" dirty="0"/>
              <a:t>收回用户</a:t>
            </a:r>
            <a:r>
              <a:rPr lang="en-US" altLang="zh-CN" sz="2000" dirty="0"/>
              <a:t>/</a:t>
            </a:r>
            <a:r>
              <a:rPr lang="zh-CN" altLang="zh-CN" sz="2000" dirty="0"/>
              <a:t>角色的权限。</a:t>
            </a:r>
          </a:p>
          <a:p>
            <a:pPr>
              <a:lnSpc>
                <a:spcPts val="3300"/>
              </a:lnSpc>
            </a:pPr>
            <a:r>
              <a:rPr lang="zh-CN" altLang="zh-CN" sz="2000" dirty="0">
                <a:solidFill>
                  <a:srgbClr val="0000FF"/>
                </a:solidFill>
              </a:rPr>
              <a:t>权限：</a:t>
            </a:r>
            <a:r>
              <a:rPr lang="en-US" altLang="zh-CN" sz="2000" dirty="0"/>
              <a:t>SELECT</a:t>
            </a:r>
            <a:r>
              <a:rPr lang="zh-CN" altLang="zh-CN" sz="2000" dirty="0"/>
              <a:t>、</a:t>
            </a:r>
            <a:r>
              <a:rPr lang="en-US" altLang="zh-CN" sz="2000" dirty="0"/>
              <a:t>INSERT</a:t>
            </a:r>
            <a:r>
              <a:rPr lang="zh-CN" altLang="zh-CN" sz="2000" dirty="0"/>
              <a:t>、</a:t>
            </a:r>
            <a:r>
              <a:rPr lang="en-US" altLang="zh-CN" sz="2000" dirty="0"/>
              <a:t>UPDATE</a:t>
            </a:r>
            <a:r>
              <a:rPr lang="zh-CN" altLang="zh-CN" sz="2000" dirty="0"/>
              <a:t>、</a:t>
            </a:r>
            <a:r>
              <a:rPr lang="en-US" altLang="zh-CN" sz="2000" dirty="0"/>
              <a:t>DELETE</a:t>
            </a:r>
            <a:r>
              <a:rPr lang="zh-CN" altLang="zh-CN" sz="2000" dirty="0"/>
              <a:t>、</a:t>
            </a:r>
            <a:r>
              <a:rPr lang="en-US" altLang="zh-CN" sz="2000" dirty="0"/>
              <a:t>CREATE DATABASE</a:t>
            </a:r>
            <a:r>
              <a:rPr lang="zh-CN" altLang="zh-CN" sz="2000" dirty="0"/>
              <a:t>、</a:t>
            </a:r>
            <a:r>
              <a:rPr lang="en-US" altLang="zh-CN" sz="2000" dirty="0"/>
              <a:t>CREATE RULE</a:t>
            </a:r>
            <a:r>
              <a:rPr lang="zh-CN" altLang="zh-CN" sz="2000" dirty="0"/>
              <a:t>、</a:t>
            </a:r>
            <a:r>
              <a:rPr lang="en-US" altLang="zh-CN" sz="2000" dirty="0"/>
              <a:t>CREATE TABLE</a:t>
            </a:r>
            <a:r>
              <a:rPr lang="zh-CN" altLang="zh-CN" sz="2000" dirty="0"/>
              <a:t>、</a:t>
            </a:r>
            <a:r>
              <a:rPr lang="en-US" altLang="zh-CN" sz="2000" dirty="0"/>
              <a:t>CREATE VIEW</a:t>
            </a:r>
            <a:r>
              <a:rPr lang="zh-CN" altLang="zh-CN" sz="2000" dirty="0"/>
              <a:t>、</a:t>
            </a:r>
            <a:r>
              <a:rPr lang="en-US" altLang="zh-CN" sz="2000" dirty="0"/>
              <a:t>CREATE FUNCTION</a:t>
            </a:r>
            <a:r>
              <a:rPr lang="zh-CN" altLang="zh-CN" sz="2000" dirty="0"/>
              <a:t>、</a:t>
            </a:r>
            <a:r>
              <a:rPr lang="en-US" altLang="zh-CN" sz="2000" dirty="0"/>
              <a:t>CREATE PROCEDURE</a:t>
            </a:r>
            <a:r>
              <a:rPr lang="zh-CN" altLang="zh-CN" sz="2000" dirty="0"/>
              <a:t>和</a:t>
            </a:r>
            <a:r>
              <a:rPr lang="en-US" altLang="zh-CN" sz="2000" dirty="0"/>
              <a:t>ALL</a:t>
            </a:r>
            <a:r>
              <a:rPr lang="zh-CN" altLang="zh-CN" sz="2000" dirty="0"/>
              <a:t>等权限。</a:t>
            </a:r>
          </a:p>
          <a:p>
            <a:pPr>
              <a:lnSpc>
                <a:spcPts val="3300"/>
              </a:lnSpc>
            </a:pPr>
            <a:r>
              <a:rPr lang="zh-CN" altLang="zh-CN" sz="2000" dirty="0">
                <a:solidFill>
                  <a:srgbClr val="0000FF"/>
                </a:solidFill>
              </a:rPr>
              <a:t>对象：</a:t>
            </a:r>
            <a:r>
              <a:rPr lang="zh-CN" altLang="zh-CN" sz="2000" dirty="0" smtClean="0"/>
              <a:t>数据库</a:t>
            </a:r>
            <a:r>
              <a:rPr lang="zh-CN" altLang="en-US" sz="2000" dirty="0" smtClean="0"/>
              <a:t>、</a:t>
            </a:r>
            <a:r>
              <a:rPr lang="zh-CN" altLang="zh-CN" sz="2000" dirty="0" smtClean="0"/>
              <a:t>表</a:t>
            </a:r>
            <a:r>
              <a:rPr lang="zh-CN" altLang="zh-CN" sz="2000" dirty="0"/>
              <a:t>（属性</a:t>
            </a:r>
            <a:r>
              <a:rPr lang="zh-CN" altLang="zh-CN" sz="2000" dirty="0" smtClean="0"/>
              <a:t>）</a:t>
            </a:r>
            <a:r>
              <a:rPr lang="zh-CN" altLang="en-US" sz="2000" dirty="0" smtClean="0"/>
              <a:t>和视图</a:t>
            </a:r>
            <a:r>
              <a:rPr lang="zh-CN" altLang="zh-CN" sz="2000" dirty="0" smtClean="0"/>
              <a:t>等</a:t>
            </a:r>
            <a:r>
              <a:rPr lang="zh-CN" altLang="zh-CN" sz="2000" dirty="0"/>
              <a:t>。</a:t>
            </a:r>
          </a:p>
          <a:p>
            <a:pPr>
              <a:lnSpc>
                <a:spcPts val="3300"/>
              </a:lnSpc>
            </a:pPr>
            <a:r>
              <a:rPr lang="en-US" altLang="zh-CN" sz="2000" dirty="0">
                <a:solidFill>
                  <a:srgbClr val="0000FF"/>
                </a:solidFill>
              </a:rPr>
              <a:t>WITH GRANT OPTION</a:t>
            </a:r>
            <a:r>
              <a:rPr lang="zh-CN" altLang="zh-CN" sz="2000" dirty="0">
                <a:solidFill>
                  <a:srgbClr val="0000FF"/>
                </a:solidFill>
              </a:rPr>
              <a:t>：</a:t>
            </a:r>
            <a:r>
              <a:rPr lang="zh-CN" altLang="zh-CN" sz="2000" dirty="0"/>
              <a:t>可以把获得的授权继续授予其他用户。</a:t>
            </a:r>
          </a:p>
        </p:txBody>
      </p:sp>
    </p:spTree>
    <p:extLst>
      <p:ext uri="{BB962C8B-B14F-4D97-AF65-F5344CB8AC3E}">
        <p14:creationId xmlns:p14="http://schemas.microsoft.com/office/powerpoint/2010/main" val="11205128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4. SQL Server</a:t>
            </a:r>
            <a:r>
              <a:rPr lang="zh-CN" altLang="zh-CN" dirty="0"/>
              <a:t>的权限控制</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27</a:t>
            </a:fld>
            <a:endParaRPr lang="zh-CN" altLang="en-US" dirty="0"/>
          </a:p>
        </p:txBody>
      </p:sp>
      <p:sp>
        <p:nvSpPr>
          <p:cNvPr id="7" name="文本占位符 6"/>
          <p:cNvSpPr>
            <a:spLocks noGrp="1"/>
          </p:cNvSpPr>
          <p:nvPr>
            <p:ph type="body" idx="1"/>
          </p:nvPr>
        </p:nvSpPr>
        <p:spPr>
          <a:xfrm>
            <a:off x="107504" y="908720"/>
            <a:ext cx="8856984" cy="5472608"/>
          </a:xfrm>
        </p:spPr>
        <p:txBody>
          <a:bodyPr>
            <a:noAutofit/>
          </a:bodyPr>
          <a:lstStyle/>
          <a:p>
            <a:pPr>
              <a:lnSpc>
                <a:spcPts val="3300"/>
              </a:lnSpc>
            </a:pPr>
            <a:r>
              <a:rPr lang="zh-CN" altLang="zh-CN" sz="2000" dirty="0">
                <a:solidFill>
                  <a:srgbClr val="0000FF"/>
                </a:solidFill>
              </a:rPr>
              <a:t>例</a:t>
            </a:r>
            <a:r>
              <a:rPr lang="en-US" altLang="zh-CN" sz="2000" dirty="0">
                <a:solidFill>
                  <a:srgbClr val="0000FF"/>
                </a:solidFill>
              </a:rPr>
              <a:t>7.5  </a:t>
            </a:r>
            <a:r>
              <a:rPr lang="zh-CN" altLang="zh-CN" sz="2000" dirty="0"/>
              <a:t>完成如下授权和收权：</a:t>
            </a:r>
          </a:p>
          <a:p>
            <a:pPr marL="0" indent="0">
              <a:lnSpc>
                <a:spcPts val="3300"/>
              </a:lnSpc>
              <a:buNone/>
            </a:pPr>
            <a:r>
              <a:rPr lang="zh-CN" altLang="zh-CN" sz="1800" dirty="0"/>
              <a:t>（</a:t>
            </a:r>
            <a:r>
              <a:rPr lang="en-US" altLang="zh-CN" sz="1800" dirty="0"/>
              <a:t>1</a:t>
            </a:r>
            <a:r>
              <a:rPr lang="zh-CN" altLang="zh-CN" sz="1800" dirty="0"/>
              <a:t>）把</a:t>
            </a:r>
            <a:r>
              <a:rPr lang="en-US" altLang="zh-CN" sz="1800" dirty="0"/>
              <a:t>CREATE TABLE</a:t>
            </a:r>
            <a:r>
              <a:rPr lang="zh-CN" altLang="zh-CN" sz="1800" dirty="0"/>
              <a:t>和</a:t>
            </a:r>
            <a:r>
              <a:rPr lang="en-US" altLang="zh-CN" sz="1800" dirty="0"/>
              <a:t>CREATE PROCEDURE</a:t>
            </a:r>
            <a:r>
              <a:rPr lang="zh-CN" altLang="zh-CN" sz="1800" dirty="0"/>
              <a:t>授权给用户</a:t>
            </a:r>
            <a:r>
              <a:rPr lang="en-US" altLang="zh-CN" sz="1800" dirty="0" err="1"/>
              <a:t>WinTimer</a:t>
            </a:r>
            <a:r>
              <a:rPr lang="zh-CN" altLang="zh-CN" sz="1800" dirty="0"/>
              <a:t>和</a:t>
            </a:r>
            <a:r>
              <a:rPr lang="en-US" altLang="zh-CN" sz="1800" dirty="0" err="1"/>
              <a:t>SqlTimer</a:t>
            </a:r>
            <a:r>
              <a:rPr lang="zh-CN" altLang="zh-CN" sz="1800" dirty="0"/>
              <a:t>。</a:t>
            </a:r>
          </a:p>
          <a:p>
            <a:pPr marL="625475" indent="0">
              <a:lnSpc>
                <a:spcPts val="3300"/>
              </a:lnSpc>
              <a:buNone/>
            </a:pPr>
            <a:r>
              <a:rPr lang="en-US" altLang="zh-CN" sz="1800" dirty="0"/>
              <a:t>GRANT CREATE TABLE, CREATE PROCEDURE TO </a:t>
            </a:r>
            <a:r>
              <a:rPr lang="en-US" altLang="zh-CN" sz="1800" dirty="0" err="1"/>
              <a:t>WinTimer</a:t>
            </a:r>
            <a:r>
              <a:rPr lang="en-US" altLang="zh-CN" sz="1800" dirty="0"/>
              <a:t>, </a:t>
            </a:r>
            <a:r>
              <a:rPr lang="en-US" altLang="zh-CN" sz="1800" dirty="0" err="1"/>
              <a:t>SqlTimer</a:t>
            </a:r>
            <a:endParaRPr lang="zh-CN" altLang="zh-CN" sz="1800" dirty="0"/>
          </a:p>
          <a:p>
            <a:pPr marL="625475" indent="0">
              <a:lnSpc>
                <a:spcPts val="3300"/>
              </a:lnSpc>
              <a:buNone/>
            </a:pPr>
            <a:r>
              <a:rPr lang="zh-CN" altLang="zh-CN" sz="2000" dirty="0"/>
              <a:t>提示：含有</a:t>
            </a:r>
            <a:r>
              <a:rPr lang="en-US" altLang="zh-CN" sz="2000" dirty="0"/>
              <a:t>CREATE</a:t>
            </a:r>
            <a:r>
              <a:rPr lang="zh-CN" altLang="zh-CN" sz="2000" dirty="0"/>
              <a:t>权限的</a:t>
            </a:r>
            <a:r>
              <a:rPr lang="en-US" altLang="zh-CN" sz="2000" dirty="0"/>
              <a:t>GRANT</a:t>
            </a:r>
            <a:r>
              <a:rPr lang="zh-CN" altLang="zh-CN" sz="2000" dirty="0"/>
              <a:t>语句没有</a:t>
            </a:r>
            <a:r>
              <a:rPr lang="en-US" altLang="zh-CN" sz="2000" dirty="0"/>
              <a:t>ON</a:t>
            </a:r>
            <a:r>
              <a:rPr lang="zh-CN" altLang="zh-CN" sz="2000" dirty="0"/>
              <a:t>选项。</a:t>
            </a:r>
          </a:p>
          <a:p>
            <a:pPr marL="0" indent="0">
              <a:lnSpc>
                <a:spcPts val="3300"/>
              </a:lnSpc>
              <a:buNone/>
            </a:pPr>
            <a:r>
              <a:rPr lang="zh-CN" altLang="zh-CN" sz="2000" dirty="0"/>
              <a:t>（</a:t>
            </a:r>
            <a:r>
              <a:rPr lang="en-US" altLang="zh-CN" sz="2000" dirty="0"/>
              <a:t>2</a:t>
            </a:r>
            <a:r>
              <a:rPr lang="zh-CN" altLang="zh-CN" sz="2000" dirty="0"/>
              <a:t>）把所有权限授权给用户</a:t>
            </a:r>
            <a:r>
              <a:rPr lang="en-US" altLang="zh-CN" sz="2000" dirty="0" err="1"/>
              <a:t>SqlTimer</a:t>
            </a:r>
            <a:r>
              <a:rPr lang="zh-CN" altLang="zh-CN" sz="2000" dirty="0"/>
              <a:t>（不推荐使用）。</a:t>
            </a:r>
          </a:p>
          <a:p>
            <a:pPr marL="625475" indent="0">
              <a:lnSpc>
                <a:spcPts val="3300"/>
              </a:lnSpc>
              <a:buNone/>
            </a:pPr>
            <a:r>
              <a:rPr lang="en-US" altLang="zh-CN" sz="2000" dirty="0"/>
              <a:t>GRANT ALL TO </a:t>
            </a:r>
            <a:r>
              <a:rPr lang="en-US" altLang="zh-CN" sz="2000" dirty="0" err="1"/>
              <a:t>SqlTimer</a:t>
            </a:r>
            <a:endParaRPr lang="zh-CN" altLang="zh-CN" sz="2000" dirty="0"/>
          </a:p>
          <a:p>
            <a:pPr marL="0" indent="0">
              <a:lnSpc>
                <a:spcPts val="3300"/>
              </a:lnSpc>
              <a:buNone/>
            </a:pPr>
            <a:r>
              <a:rPr lang="zh-CN" altLang="zh-CN" sz="2000" dirty="0"/>
              <a:t>（</a:t>
            </a:r>
            <a:r>
              <a:rPr lang="en-US" altLang="zh-CN" sz="2000" dirty="0"/>
              <a:t>3</a:t>
            </a:r>
            <a:r>
              <a:rPr lang="zh-CN" altLang="zh-CN" sz="2000" dirty="0"/>
              <a:t>）把对</a:t>
            </a:r>
            <a:r>
              <a:rPr lang="en-US" altLang="zh-CN" sz="2000" dirty="0"/>
              <a:t>Book</a:t>
            </a:r>
            <a:r>
              <a:rPr lang="zh-CN" altLang="zh-CN" sz="2000" dirty="0"/>
              <a:t>的查询（读取）权限授权给角色</a:t>
            </a:r>
            <a:r>
              <a:rPr lang="en-US" altLang="zh-CN" sz="2000" dirty="0" err="1"/>
              <a:t>WinSqlRole</a:t>
            </a:r>
            <a:r>
              <a:rPr lang="zh-CN" altLang="zh-CN" sz="2000" dirty="0"/>
              <a:t>。</a:t>
            </a:r>
          </a:p>
          <a:p>
            <a:pPr marL="625475" indent="0">
              <a:lnSpc>
                <a:spcPts val="3300"/>
              </a:lnSpc>
              <a:buNone/>
            </a:pPr>
            <a:r>
              <a:rPr lang="en-US" altLang="zh-CN" sz="2000" dirty="0"/>
              <a:t>GRANT SELECT ON Book TO </a:t>
            </a:r>
            <a:r>
              <a:rPr lang="en-US" altLang="zh-CN" sz="2000" dirty="0" err="1"/>
              <a:t>WinSqlRole</a:t>
            </a:r>
            <a:endParaRPr lang="zh-CN" altLang="zh-CN" sz="2000" dirty="0"/>
          </a:p>
          <a:p>
            <a:pPr marL="0" indent="0">
              <a:lnSpc>
                <a:spcPts val="3300"/>
              </a:lnSpc>
              <a:buNone/>
            </a:pPr>
            <a:r>
              <a:rPr lang="zh-CN" altLang="zh-CN" sz="2000" dirty="0"/>
              <a:t>（</a:t>
            </a:r>
            <a:r>
              <a:rPr lang="en-US" altLang="zh-CN" sz="2000" dirty="0"/>
              <a:t>4</a:t>
            </a:r>
            <a:r>
              <a:rPr lang="zh-CN" altLang="zh-CN" sz="2000" dirty="0"/>
              <a:t>）把对</a:t>
            </a:r>
            <a:r>
              <a:rPr lang="en-US" altLang="zh-CN" sz="2000" dirty="0" err="1"/>
              <a:t>Cust</a:t>
            </a:r>
            <a:r>
              <a:rPr lang="zh-CN" altLang="zh-CN" sz="2000" dirty="0"/>
              <a:t>的户名、性别、生日的修改权限授权给用户</a:t>
            </a:r>
            <a:r>
              <a:rPr lang="en-US" altLang="zh-CN" sz="2000" dirty="0" err="1"/>
              <a:t>WinTimer</a:t>
            </a:r>
            <a:r>
              <a:rPr lang="zh-CN" altLang="zh-CN" sz="2000" dirty="0"/>
              <a:t>。</a:t>
            </a:r>
          </a:p>
          <a:p>
            <a:pPr marL="625475" indent="0">
              <a:lnSpc>
                <a:spcPts val="3300"/>
              </a:lnSpc>
              <a:buNone/>
            </a:pPr>
            <a:r>
              <a:rPr lang="en-US" altLang="zh-CN" sz="2000" dirty="0"/>
              <a:t>GRANT UPDATE ON </a:t>
            </a:r>
            <a:r>
              <a:rPr lang="en-US" altLang="zh-CN" sz="2000" dirty="0" err="1"/>
              <a:t>Cust</a:t>
            </a:r>
            <a:r>
              <a:rPr lang="en-US" altLang="zh-CN" sz="2000" dirty="0"/>
              <a:t> (</a:t>
            </a:r>
            <a:r>
              <a:rPr lang="en-US" altLang="zh-CN" sz="2000" dirty="0" err="1"/>
              <a:t>CName</a:t>
            </a:r>
            <a:r>
              <a:rPr lang="en-US" altLang="zh-CN" sz="2000" dirty="0"/>
              <a:t>, </a:t>
            </a:r>
            <a:r>
              <a:rPr lang="en-US" altLang="zh-CN" sz="2000" dirty="0" err="1"/>
              <a:t>CSex</a:t>
            </a:r>
            <a:r>
              <a:rPr lang="en-US" altLang="zh-CN" sz="2000" dirty="0"/>
              <a:t>, Birth) TO </a:t>
            </a:r>
            <a:r>
              <a:rPr lang="en-US" altLang="zh-CN" sz="2000" dirty="0" err="1"/>
              <a:t>WinTimer</a:t>
            </a:r>
            <a:endParaRPr lang="zh-CN" altLang="zh-CN" sz="2000" dirty="0"/>
          </a:p>
          <a:p>
            <a:pPr marL="0" indent="0">
              <a:lnSpc>
                <a:spcPts val="3300"/>
              </a:lnSpc>
              <a:buNone/>
            </a:pPr>
            <a:r>
              <a:rPr lang="zh-CN" altLang="zh-CN" sz="1800" dirty="0"/>
              <a:t>（</a:t>
            </a:r>
            <a:r>
              <a:rPr lang="en-US" altLang="zh-CN" sz="1800" dirty="0"/>
              <a:t>5</a:t>
            </a:r>
            <a:r>
              <a:rPr lang="zh-CN" altLang="zh-CN" sz="1800" dirty="0"/>
              <a:t>）把对</a:t>
            </a:r>
            <a:r>
              <a:rPr lang="en-US" altLang="zh-CN" sz="1800" dirty="0"/>
              <a:t>Book</a:t>
            </a:r>
            <a:r>
              <a:rPr lang="zh-CN" altLang="zh-CN" sz="1800" dirty="0"/>
              <a:t>的查询权限授权给</a:t>
            </a:r>
            <a:r>
              <a:rPr lang="en-US" altLang="zh-CN" sz="1800" dirty="0" err="1"/>
              <a:t>SqlTimer</a:t>
            </a:r>
            <a:r>
              <a:rPr lang="zh-CN" altLang="zh-CN" sz="1800" dirty="0"/>
              <a:t>，然后再把该权限授权给</a:t>
            </a:r>
            <a:r>
              <a:rPr lang="en-US" altLang="zh-CN" sz="1800" dirty="0" err="1"/>
              <a:t>WinTimer</a:t>
            </a:r>
            <a:r>
              <a:rPr lang="zh-CN" altLang="zh-CN" sz="1800" dirty="0" smtClean="0"/>
              <a:t>。</a:t>
            </a:r>
            <a:endParaRPr lang="zh-CN" altLang="zh-CN" sz="1800" dirty="0"/>
          </a:p>
        </p:txBody>
      </p:sp>
    </p:spTree>
    <p:extLst>
      <p:ext uri="{BB962C8B-B14F-4D97-AF65-F5344CB8AC3E}">
        <p14:creationId xmlns:p14="http://schemas.microsoft.com/office/powerpoint/2010/main" val="9460511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4. SQL Server</a:t>
            </a:r>
            <a:r>
              <a:rPr lang="zh-CN" altLang="zh-CN" dirty="0"/>
              <a:t>的权限控制</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28</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marL="625475" indent="0">
              <a:buNone/>
            </a:pPr>
            <a:r>
              <a:rPr lang="en-US" altLang="zh-CN" sz="2000" dirty="0"/>
              <a:t>GRANT SELECT ON Book TO </a:t>
            </a:r>
            <a:r>
              <a:rPr lang="en-US" altLang="zh-CN" sz="2000" dirty="0" err="1"/>
              <a:t>SqlTimer</a:t>
            </a:r>
            <a:r>
              <a:rPr lang="en-US" altLang="zh-CN" sz="2000" dirty="0"/>
              <a:t> WITH GRANT OPTION </a:t>
            </a:r>
            <a:endParaRPr lang="zh-CN" altLang="zh-CN" sz="2000" dirty="0"/>
          </a:p>
          <a:p>
            <a:pPr marL="625475" indent="0">
              <a:buNone/>
            </a:pPr>
            <a:r>
              <a:rPr lang="en-US" altLang="zh-CN" sz="2000" dirty="0"/>
              <a:t>--</a:t>
            </a:r>
            <a:r>
              <a:rPr lang="zh-CN" altLang="zh-CN" sz="2000" dirty="0"/>
              <a:t>用</a:t>
            </a:r>
            <a:r>
              <a:rPr lang="en-US" altLang="zh-CN" sz="2000" dirty="0" err="1"/>
              <a:t>SqlTim</a:t>
            </a:r>
            <a:r>
              <a:rPr lang="zh-CN" altLang="zh-CN" sz="2000" dirty="0"/>
              <a:t>重新登录</a:t>
            </a:r>
            <a:r>
              <a:rPr lang="en-US" altLang="zh-CN" sz="2000" dirty="0"/>
              <a:t>SQL Server </a:t>
            </a:r>
            <a:r>
              <a:rPr lang="en-US" altLang="zh-CN" sz="2000" dirty="0" smtClean="0"/>
              <a:t>2016</a:t>
            </a:r>
            <a:endParaRPr lang="zh-CN" altLang="zh-CN" sz="2000" dirty="0"/>
          </a:p>
          <a:p>
            <a:pPr marL="625475" indent="0">
              <a:buNone/>
            </a:pPr>
            <a:r>
              <a:rPr lang="en-US" altLang="zh-CN" sz="2000" dirty="0"/>
              <a:t>GRANT SELECT ON Book TO </a:t>
            </a:r>
            <a:r>
              <a:rPr lang="en-US" altLang="zh-CN" sz="2000" dirty="0" err="1"/>
              <a:t>WinTimer</a:t>
            </a:r>
            <a:endParaRPr lang="zh-CN" altLang="zh-CN" sz="2000" dirty="0"/>
          </a:p>
          <a:p>
            <a:pPr marL="0" indent="0">
              <a:buNone/>
            </a:pPr>
            <a:r>
              <a:rPr lang="zh-CN" altLang="zh-CN" sz="2000" dirty="0"/>
              <a:t>（</a:t>
            </a:r>
            <a:r>
              <a:rPr lang="en-US" altLang="zh-CN" sz="2000" dirty="0"/>
              <a:t>6</a:t>
            </a:r>
            <a:r>
              <a:rPr lang="zh-CN" altLang="zh-CN" sz="2000" dirty="0"/>
              <a:t>）把对</a:t>
            </a:r>
            <a:r>
              <a:rPr lang="en-US" altLang="zh-CN" sz="2000" dirty="0"/>
              <a:t>EBook</a:t>
            </a:r>
            <a:r>
              <a:rPr lang="zh-CN" altLang="zh-CN" sz="2000" dirty="0"/>
              <a:t>的所有定义的权限授权给</a:t>
            </a:r>
            <a:r>
              <a:rPr lang="en-US" altLang="zh-CN" sz="2000" dirty="0" err="1"/>
              <a:t>WinTimer</a:t>
            </a:r>
            <a:r>
              <a:rPr lang="zh-CN" altLang="zh-CN" sz="2000" dirty="0"/>
              <a:t>。</a:t>
            </a:r>
          </a:p>
          <a:p>
            <a:pPr marL="625475" indent="0">
              <a:buNone/>
            </a:pPr>
            <a:r>
              <a:rPr lang="en-US" altLang="zh-CN" sz="2000" dirty="0"/>
              <a:t>GRANT CONTROL ON DATABASE::EBook TO </a:t>
            </a:r>
            <a:r>
              <a:rPr lang="en-US" altLang="zh-CN" sz="2000" dirty="0" err="1"/>
              <a:t>WinTimer</a:t>
            </a:r>
            <a:endParaRPr lang="zh-CN" altLang="zh-CN" sz="2000" dirty="0"/>
          </a:p>
          <a:p>
            <a:pPr marL="0" indent="0">
              <a:buNone/>
            </a:pPr>
            <a:r>
              <a:rPr lang="zh-CN" altLang="zh-CN" sz="2000" dirty="0"/>
              <a:t>（</a:t>
            </a:r>
            <a:r>
              <a:rPr lang="en-US" altLang="zh-CN" sz="2000" dirty="0"/>
              <a:t>7</a:t>
            </a:r>
            <a:r>
              <a:rPr lang="zh-CN" altLang="zh-CN" sz="2000" dirty="0"/>
              <a:t>）把对</a:t>
            </a:r>
            <a:r>
              <a:rPr lang="en-US" altLang="zh-CN" sz="2000" dirty="0"/>
              <a:t>Book</a:t>
            </a:r>
            <a:r>
              <a:rPr lang="zh-CN" altLang="zh-CN" sz="2000" dirty="0"/>
              <a:t>的查询权限授权给所有用户。</a:t>
            </a:r>
          </a:p>
          <a:p>
            <a:pPr marL="625475" indent="0">
              <a:buNone/>
            </a:pPr>
            <a:r>
              <a:rPr lang="en-US" altLang="zh-CN" sz="2000" dirty="0"/>
              <a:t>GRANT SELECT ON Book TO PUBLIC</a:t>
            </a:r>
            <a:endParaRPr lang="zh-CN" altLang="zh-CN" sz="2000" dirty="0"/>
          </a:p>
          <a:p>
            <a:pPr marL="0" indent="0">
              <a:buNone/>
            </a:pPr>
            <a:r>
              <a:rPr lang="zh-CN" altLang="zh-CN" sz="2000" dirty="0"/>
              <a:t>（</a:t>
            </a:r>
            <a:r>
              <a:rPr lang="en-US" altLang="zh-CN" sz="2000" dirty="0"/>
              <a:t>8</a:t>
            </a:r>
            <a:r>
              <a:rPr lang="zh-CN" altLang="zh-CN" sz="2000" dirty="0"/>
              <a:t>）收回</a:t>
            </a:r>
            <a:r>
              <a:rPr lang="en-US" altLang="zh-CN" sz="2000" dirty="0" err="1"/>
              <a:t>WinTimer</a:t>
            </a:r>
            <a:r>
              <a:rPr lang="zh-CN" altLang="zh-CN" sz="2000" dirty="0"/>
              <a:t>对</a:t>
            </a:r>
            <a:r>
              <a:rPr lang="en-US" altLang="zh-CN" sz="2000" dirty="0" err="1"/>
              <a:t>Cust</a:t>
            </a:r>
            <a:r>
              <a:rPr lang="zh-CN" altLang="zh-CN" sz="2000" dirty="0"/>
              <a:t>的户名、性别、生日的修改权限。</a:t>
            </a:r>
          </a:p>
          <a:p>
            <a:pPr marL="625475" indent="0">
              <a:buNone/>
            </a:pPr>
            <a:r>
              <a:rPr lang="en-US" altLang="zh-CN" sz="2000" dirty="0"/>
              <a:t>REVOKE UPDATE ON </a:t>
            </a:r>
            <a:r>
              <a:rPr lang="en-US" altLang="zh-CN" sz="2000" dirty="0" err="1"/>
              <a:t>Cust</a:t>
            </a:r>
            <a:r>
              <a:rPr lang="en-US" altLang="zh-CN" sz="2000" dirty="0"/>
              <a:t> (</a:t>
            </a:r>
            <a:r>
              <a:rPr lang="en-US" altLang="zh-CN" sz="2000" dirty="0" err="1"/>
              <a:t>CName</a:t>
            </a:r>
            <a:r>
              <a:rPr lang="en-US" altLang="zh-CN" sz="2000" dirty="0"/>
              <a:t>, </a:t>
            </a:r>
            <a:r>
              <a:rPr lang="en-US" altLang="zh-CN" sz="2000" dirty="0" err="1"/>
              <a:t>CSex</a:t>
            </a:r>
            <a:r>
              <a:rPr lang="en-US" altLang="zh-CN" sz="2000" dirty="0"/>
              <a:t>, Birth) FROM </a:t>
            </a:r>
            <a:r>
              <a:rPr lang="en-US" altLang="zh-CN" sz="2000" dirty="0" err="1"/>
              <a:t>WinTimer</a:t>
            </a:r>
            <a:endParaRPr lang="zh-CN" altLang="zh-CN" sz="2000" dirty="0"/>
          </a:p>
          <a:p>
            <a:r>
              <a:rPr lang="zh-CN" altLang="zh-CN" sz="2000" dirty="0">
                <a:solidFill>
                  <a:srgbClr val="0000FF"/>
                </a:solidFill>
              </a:rPr>
              <a:t>思考</a:t>
            </a:r>
            <a:r>
              <a:rPr lang="en-US" altLang="zh-CN" sz="2000" dirty="0">
                <a:solidFill>
                  <a:srgbClr val="0000FF"/>
                </a:solidFill>
              </a:rPr>
              <a:t>1</a:t>
            </a:r>
            <a:r>
              <a:rPr lang="zh-CN" altLang="zh-CN" sz="2000" dirty="0">
                <a:solidFill>
                  <a:srgbClr val="0000FF"/>
                </a:solidFill>
              </a:rPr>
              <a:t>：</a:t>
            </a:r>
            <a:r>
              <a:rPr lang="zh-CN" altLang="zh-CN" sz="2000" dirty="0"/>
              <a:t>如果收回了用户</a:t>
            </a:r>
            <a:r>
              <a:rPr lang="en-US" altLang="zh-CN" sz="2000" dirty="0"/>
              <a:t>A</a:t>
            </a:r>
            <a:r>
              <a:rPr lang="zh-CN" altLang="zh-CN" sz="2000" dirty="0"/>
              <a:t>对数据对象</a:t>
            </a:r>
            <a:r>
              <a:rPr lang="en-US" altLang="zh-CN" sz="2000" dirty="0"/>
              <a:t>X</a:t>
            </a:r>
            <a:r>
              <a:rPr lang="zh-CN" altLang="zh-CN" sz="2000" dirty="0"/>
              <a:t>的指定权限，则能够同时收回</a:t>
            </a:r>
            <a:r>
              <a:rPr lang="en-US" altLang="zh-CN" sz="2000" dirty="0"/>
              <a:t>A</a:t>
            </a:r>
            <a:r>
              <a:rPr lang="zh-CN" altLang="zh-CN" sz="2000" dirty="0"/>
              <a:t>授权的用户对</a:t>
            </a:r>
            <a:r>
              <a:rPr lang="en-US" altLang="zh-CN" sz="2000" dirty="0"/>
              <a:t>X</a:t>
            </a:r>
            <a:r>
              <a:rPr lang="zh-CN" altLang="zh-CN" sz="2000" dirty="0"/>
              <a:t>的相应指定权限吗？</a:t>
            </a:r>
          </a:p>
          <a:p>
            <a:r>
              <a:rPr lang="zh-CN" altLang="zh-CN" sz="2000" dirty="0"/>
              <a:t>思考</a:t>
            </a:r>
            <a:r>
              <a:rPr lang="en-US" altLang="zh-CN" sz="2000" dirty="0"/>
              <a:t>2</a:t>
            </a:r>
            <a:r>
              <a:rPr lang="zh-CN" altLang="zh-CN" sz="2000" dirty="0"/>
              <a:t>：举例说明</a:t>
            </a:r>
            <a:r>
              <a:rPr lang="en-US" altLang="zh-CN" sz="2000" dirty="0"/>
              <a:t>Deny</a:t>
            </a:r>
            <a:r>
              <a:rPr lang="zh-CN" altLang="zh-CN" sz="2000" dirty="0"/>
              <a:t>的用法。</a:t>
            </a:r>
          </a:p>
        </p:txBody>
      </p:sp>
    </p:spTree>
    <p:extLst>
      <p:ext uri="{BB962C8B-B14F-4D97-AF65-F5344CB8AC3E}">
        <p14:creationId xmlns:p14="http://schemas.microsoft.com/office/powerpoint/2010/main" val="26130378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solidFill>
                  <a:srgbClr val="0000FF"/>
                </a:solidFill>
              </a:rPr>
              <a:t>7.2.3 </a:t>
            </a:r>
            <a:r>
              <a:rPr lang="en-US" altLang="zh-CN" dirty="0" smtClean="0">
                <a:solidFill>
                  <a:srgbClr val="0000FF"/>
                </a:solidFill>
              </a:rPr>
              <a:t> </a:t>
            </a:r>
            <a:r>
              <a:rPr lang="zh-CN" altLang="zh-CN" dirty="0" smtClean="0">
                <a:solidFill>
                  <a:srgbClr val="0000FF"/>
                </a:solidFill>
              </a:rPr>
              <a:t>视图</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29</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a:lnSpc>
                <a:spcPts val="5000"/>
              </a:lnSpc>
            </a:pPr>
            <a:r>
              <a:rPr lang="zh-CN" altLang="zh-CN" sz="2800" dirty="0"/>
              <a:t>针对不同用户，通常仅需要数据库整体逻辑模型的局部数据（例如：用户仅需要</a:t>
            </a:r>
            <a:r>
              <a:rPr lang="en-US" altLang="zh-CN" sz="2800" dirty="0"/>
              <a:t>EBook</a:t>
            </a:r>
            <a:r>
              <a:rPr lang="zh-CN" altLang="zh-CN" sz="2800" dirty="0"/>
              <a:t>中的户名、书名和购买日期）。</a:t>
            </a:r>
            <a:r>
              <a:rPr lang="zh-CN" altLang="zh-CN" sz="2800" dirty="0">
                <a:solidFill>
                  <a:srgbClr val="0000FF"/>
                </a:solidFill>
              </a:rPr>
              <a:t>视图是</a:t>
            </a:r>
            <a:r>
              <a:rPr lang="en-US" altLang="zh-CN" sz="2800" dirty="0"/>
              <a:t>DBMS</a:t>
            </a:r>
            <a:r>
              <a:rPr lang="zh-CN" altLang="zh-CN" sz="2800" dirty="0"/>
              <a:t>提供给用户，从不同角度</a:t>
            </a:r>
            <a:r>
              <a:rPr lang="zh-CN" altLang="zh-CN" sz="2800" dirty="0">
                <a:solidFill>
                  <a:srgbClr val="0000FF"/>
                </a:solidFill>
              </a:rPr>
              <a:t>使用数据库数据的有效手段</a:t>
            </a:r>
            <a:r>
              <a:rPr lang="zh-CN" altLang="zh-CN" sz="2800" dirty="0"/>
              <a:t>。</a:t>
            </a:r>
          </a:p>
          <a:p>
            <a:pPr>
              <a:lnSpc>
                <a:spcPts val="5000"/>
              </a:lnSpc>
            </a:pPr>
            <a:r>
              <a:rPr lang="zh-CN" altLang="zh-CN" sz="2800" dirty="0" smtClean="0">
                <a:solidFill>
                  <a:srgbClr val="0000FF"/>
                </a:solidFill>
              </a:rPr>
              <a:t>视图</a:t>
            </a:r>
            <a:r>
              <a:rPr lang="zh-CN" altLang="zh-CN" sz="2800" dirty="0">
                <a:solidFill>
                  <a:srgbClr val="0000FF"/>
                </a:solidFill>
              </a:rPr>
              <a:t>的</a:t>
            </a:r>
            <a:r>
              <a:rPr lang="zh-CN" altLang="zh-CN" sz="2800" dirty="0" smtClean="0">
                <a:solidFill>
                  <a:srgbClr val="0000FF"/>
                </a:solidFill>
              </a:rPr>
              <a:t>概念</a:t>
            </a:r>
            <a:endParaRPr lang="en-US" altLang="zh-CN" sz="2800" dirty="0" smtClean="0">
              <a:solidFill>
                <a:srgbClr val="0000FF"/>
              </a:solidFill>
            </a:endParaRPr>
          </a:p>
          <a:p>
            <a:pPr>
              <a:lnSpc>
                <a:spcPts val="5000"/>
              </a:lnSpc>
            </a:pPr>
            <a:r>
              <a:rPr lang="zh-CN" altLang="zh-CN" sz="2800" dirty="0" smtClean="0">
                <a:solidFill>
                  <a:srgbClr val="0000FF"/>
                </a:solidFill>
              </a:rPr>
              <a:t>视图</a:t>
            </a:r>
            <a:r>
              <a:rPr lang="zh-CN" altLang="zh-CN" sz="2800" dirty="0">
                <a:solidFill>
                  <a:srgbClr val="0000FF"/>
                </a:solidFill>
              </a:rPr>
              <a:t>的操作</a:t>
            </a:r>
          </a:p>
          <a:p>
            <a:pPr>
              <a:lnSpc>
                <a:spcPts val="5000"/>
              </a:lnSpc>
            </a:pPr>
            <a:r>
              <a:rPr lang="zh-CN" altLang="zh-CN" sz="2800" dirty="0" smtClean="0">
                <a:solidFill>
                  <a:srgbClr val="0000FF"/>
                </a:solidFill>
              </a:rPr>
              <a:t>视图</a:t>
            </a:r>
            <a:r>
              <a:rPr lang="zh-CN" altLang="zh-CN" sz="2800" dirty="0">
                <a:solidFill>
                  <a:srgbClr val="0000FF"/>
                </a:solidFill>
              </a:rPr>
              <a:t>的作用</a:t>
            </a:r>
          </a:p>
          <a:p>
            <a:endParaRPr lang="zh-CN" altLang="en-US" sz="2000" dirty="0"/>
          </a:p>
        </p:txBody>
      </p:sp>
    </p:spTree>
    <p:extLst>
      <p:ext uri="{BB962C8B-B14F-4D97-AF65-F5344CB8AC3E}">
        <p14:creationId xmlns:p14="http://schemas.microsoft.com/office/powerpoint/2010/main" val="1917501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solidFill>
                  <a:srgbClr val="0000FF"/>
                </a:solidFill>
              </a:rPr>
              <a:t>1. </a:t>
            </a:r>
            <a:r>
              <a:rPr lang="zh-CN" altLang="zh-CN" dirty="0">
                <a:solidFill>
                  <a:srgbClr val="0000FF"/>
                </a:solidFill>
              </a:rPr>
              <a:t>视图的概念</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30</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smtClean="0">
                <a:solidFill>
                  <a:srgbClr val="0000FF"/>
                </a:solidFill>
              </a:rPr>
              <a:t>视图</a:t>
            </a:r>
            <a:r>
              <a:rPr lang="zh-CN" altLang="en-US" sz="2000" dirty="0" smtClean="0">
                <a:solidFill>
                  <a:srgbClr val="0000FF"/>
                </a:solidFill>
              </a:rPr>
              <a:t>：</a:t>
            </a:r>
            <a:r>
              <a:rPr lang="zh-CN" altLang="zh-CN" sz="2000" dirty="0" smtClean="0"/>
              <a:t>利用</a:t>
            </a:r>
            <a:r>
              <a:rPr lang="zh-CN" altLang="zh-CN" sz="2000" dirty="0"/>
              <a:t>查询语句定义的，从一个或者多个表中导出的虚表。视图对应于数据库模式结构的外模式。</a:t>
            </a:r>
          </a:p>
          <a:p>
            <a:r>
              <a:rPr lang="zh-CN" altLang="zh-CN" sz="2000" dirty="0"/>
              <a:t>在</a:t>
            </a:r>
            <a:r>
              <a:rPr lang="zh-CN" altLang="zh-CN" sz="2000" dirty="0">
                <a:solidFill>
                  <a:srgbClr val="0000FF"/>
                </a:solidFill>
              </a:rPr>
              <a:t>视图</a:t>
            </a:r>
            <a:r>
              <a:rPr lang="zh-CN" altLang="zh-CN" sz="2000" dirty="0"/>
              <a:t>中，</a:t>
            </a:r>
            <a:r>
              <a:rPr lang="zh-CN" altLang="zh-CN" sz="2000" dirty="0">
                <a:solidFill>
                  <a:srgbClr val="0000FF"/>
                </a:solidFill>
              </a:rPr>
              <a:t>只存放带查询语句的视图定义</a:t>
            </a:r>
            <a:r>
              <a:rPr lang="zh-CN" altLang="zh-CN" sz="2000" dirty="0"/>
              <a:t>，</a:t>
            </a:r>
            <a:r>
              <a:rPr lang="zh-CN" altLang="zh-CN" sz="2000" dirty="0">
                <a:solidFill>
                  <a:srgbClr val="0000FF"/>
                </a:solidFill>
              </a:rPr>
              <a:t>不存放视图对应的数据</a:t>
            </a:r>
            <a:r>
              <a:rPr lang="zh-CN" altLang="zh-CN" sz="2000" dirty="0"/>
              <a:t>；只有执行视图时，才从表中导出相应的数据，因此视图的数据仍存放在表中，且</a:t>
            </a:r>
            <a:r>
              <a:rPr lang="zh-CN" altLang="zh-CN" sz="2000" dirty="0">
                <a:solidFill>
                  <a:srgbClr val="0000FF"/>
                </a:solidFill>
              </a:rPr>
              <a:t>随着表的变化而变化</a:t>
            </a:r>
            <a:r>
              <a:rPr lang="zh-CN" altLang="zh-CN" sz="2000" dirty="0"/>
              <a:t>。即：</a:t>
            </a:r>
          </a:p>
          <a:p>
            <a:r>
              <a:rPr lang="zh-CN" altLang="zh-CN" sz="2000" dirty="0">
                <a:solidFill>
                  <a:srgbClr val="0000FF"/>
                </a:solidFill>
              </a:rPr>
              <a:t>视图</a:t>
            </a:r>
            <a:r>
              <a:rPr lang="zh-CN" altLang="zh-CN" sz="2000" dirty="0"/>
              <a:t>是数据库整体</a:t>
            </a:r>
            <a:r>
              <a:rPr lang="zh-CN" altLang="zh-CN" sz="2000" dirty="0">
                <a:solidFill>
                  <a:srgbClr val="0000FF"/>
                </a:solidFill>
              </a:rPr>
              <a:t>逻辑模型</a:t>
            </a:r>
            <a:r>
              <a:rPr lang="zh-CN" altLang="zh-CN" sz="2000" dirty="0"/>
              <a:t>的“</a:t>
            </a:r>
            <a:r>
              <a:rPr lang="zh-CN" altLang="zh-CN" sz="2000" dirty="0">
                <a:solidFill>
                  <a:srgbClr val="0000FF"/>
                </a:solidFill>
              </a:rPr>
              <a:t>局部数据</a:t>
            </a:r>
            <a:r>
              <a:rPr lang="zh-CN" altLang="zh-CN" sz="2000" dirty="0"/>
              <a:t>”的“</a:t>
            </a:r>
            <a:r>
              <a:rPr lang="zh-CN" altLang="zh-CN" sz="2000" dirty="0">
                <a:solidFill>
                  <a:srgbClr val="0000FF"/>
                </a:solidFill>
              </a:rPr>
              <a:t>临时</a:t>
            </a:r>
            <a:r>
              <a:rPr lang="zh-CN" altLang="zh-CN" sz="2000" dirty="0"/>
              <a:t>”体现</a:t>
            </a:r>
            <a:r>
              <a:rPr lang="zh-CN" altLang="zh-CN" sz="2000" dirty="0" smtClean="0"/>
              <a:t>。</a:t>
            </a:r>
            <a:endParaRPr lang="zh-CN" altLang="en-US" sz="2000" dirty="0"/>
          </a:p>
        </p:txBody>
      </p:sp>
    </p:spTree>
    <p:extLst>
      <p:ext uri="{BB962C8B-B14F-4D97-AF65-F5344CB8AC3E}">
        <p14:creationId xmlns:p14="http://schemas.microsoft.com/office/powerpoint/2010/main" val="160829590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1. </a:t>
            </a:r>
            <a:r>
              <a:rPr lang="zh-CN" altLang="zh-CN" dirty="0"/>
              <a:t>视图的概念</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31</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smtClean="0">
                <a:solidFill>
                  <a:srgbClr val="0000FF"/>
                </a:solidFill>
              </a:rPr>
              <a:t>视图特点</a:t>
            </a:r>
            <a:r>
              <a:rPr lang="zh-CN" altLang="zh-CN" sz="2000" dirty="0">
                <a:solidFill>
                  <a:srgbClr val="0000FF"/>
                </a:solidFill>
              </a:rPr>
              <a:t>：</a:t>
            </a:r>
          </a:p>
          <a:p>
            <a:pPr marL="625475" indent="-625475">
              <a:buNone/>
            </a:pPr>
            <a:r>
              <a:rPr lang="zh-CN" altLang="zh-CN" sz="2000" dirty="0"/>
              <a:t>（</a:t>
            </a:r>
            <a:r>
              <a:rPr lang="en-US" altLang="zh-CN" sz="2000" dirty="0"/>
              <a:t>1</a:t>
            </a:r>
            <a:r>
              <a:rPr lang="zh-CN" altLang="zh-CN" sz="2000" dirty="0"/>
              <a:t>）视图是虚表。视图本身仅仅是视图定义，不包含具体的数据。</a:t>
            </a:r>
          </a:p>
          <a:p>
            <a:pPr marL="625475" indent="-625475">
              <a:buNone/>
            </a:pPr>
            <a:r>
              <a:rPr lang="zh-CN" altLang="zh-CN" sz="2000" dirty="0"/>
              <a:t>（</a:t>
            </a:r>
            <a:r>
              <a:rPr lang="en-US" altLang="zh-CN" sz="2000" dirty="0"/>
              <a:t>2</a:t>
            </a:r>
            <a:r>
              <a:rPr lang="zh-CN" altLang="zh-CN" sz="2000" dirty="0"/>
              <a:t>）视图数据是临时数据。视图的数据仅在执行视图时，临时从表中导出相应的数据；执行结束，将自动释放，因此不会出现数据冗余。</a:t>
            </a:r>
          </a:p>
          <a:p>
            <a:pPr marL="625475" indent="-625475">
              <a:buNone/>
            </a:pPr>
            <a:r>
              <a:rPr lang="zh-CN" altLang="zh-CN" sz="2000" dirty="0"/>
              <a:t>（</a:t>
            </a:r>
            <a:r>
              <a:rPr lang="en-US" altLang="zh-CN" sz="2000" dirty="0"/>
              <a:t>3</a:t>
            </a:r>
            <a:r>
              <a:rPr lang="zh-CN" altLang="zh-CN" sz="2000" dirty="0"/>
              <a:t>）视图数据自动更新。因为视图数据是在执行视图时，临时从表中导出的数据，所以如果表的数据发生了变化，则视图数据会随之改变。</a:t>
            </a:r>
          </a:p>
          <a:p>
            <a:pPr marL="625475" indent="-625475">
              <a:buNone/>
            </a:pPr>
            <a:r>
              <a:rPr lang="zh-CN" altLang="zh-CN" sz="2000" dirty="0"/>
              <a:t>（</a:t>
            </a:r>
            <a:r>
              <a:rPr lang="en-US" altLang="zh-CN" sz="2000" dirty="0"/>
              <a:t>4</a:t>
            </a:r>
            <a:r>
              <a:rPr lang="zh-CN" altLang="zh-CN" sz="2000" dirty="0"/>
              <a:t>）利用视图创建视图。视图既然是虚“表”，因此视图一旦定义，就可以完全按照表的使用方法来使用视图。即：</a:t>
            </a:r>
          </a:p>
          <a:p>
            <a:r>
              <a:rPr lang="zh-CN" altLang="zh-CN" sz="2000" dirty="0"/>
              <a:t>视图</a:t>
            </a:r>
            <a:r>
              <a:rPr lang="zh-CN" altLang="zh-CN" sz="2000" dirty="0">
                <a:solidFill>
                  <a:srgbClr val="0000FF"/>
                </a:solidFill>
              </a:rPr>
              <a:t>等价定义</a:t>
            </a:r>
            <a:r>
              <a:rPr lang="zh-CN" altLang="zh-CN" sz="2000" dirty="0"/>
              <a:t>：</a:t>
            </a:r>
            <a:r>
              <a:rPr lang="zh-CN" altLang="zh-CN" sz="2000" dirty="0">
                <a:solidFill>
                  <a:srgbClr val="0000FF"/>
                </a:solidFill>
              </a:rPr>
              <a:t>利用查询语句定义的，从表或视图中导出的虚表</a:t>
            </a:r>
            <a:r>
              <a:rPr lang="zh-CN" altLang="zh-CN" sz="2000" dirty="0"/>
              <a:t>。</a:t>
            </a:r>
            <a:endParaRPr lang="zh-CN" altLang="en-US" sz="2000" dirty="0"/>
          </a:p>
        </p:txBody>
      </p:sp>
    </p:spTree>
    <p:extLst>
      <p:ext uri="{BB962C8B-B14F-4D97-AF65-F5344CB8AC3E}">
        <p14:creationId xmlns:p14="http://schemas.microsoft.com/office/powerpoint/2010/main" val="18008995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1. </a:t>
            </a:r>
            <a:r>
              <a:rPr lang="zh-CN" altLang="zh-CN" dirty="0"/>
              <a:t>视图的概念</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32</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a:lnSpc>
                <a:spcPts val="3000"/>
              </a:lnSpc>
            </a:pPr>
            <a:r>
              <a:rPr lang="zh-CN" altLang="zh-CN" sz="2000" dirty="0">
                <a:solidFill>
                  <a:srgbClr val="0000FF"/>
                </a:solidFill>
              </a:rPr>
              <a:t>视图与表的</a:t>
            </a:r>
            <a:r>
              <a:rPr lang="zh-CN" altLang="zh-CN" sz="2000" dirty="0" smtClean="0">
                <a:solidFill>
                  <a:srgbClr val="0000FF"/>
                </a:solidFill>
              </a:rPr>
              <a:t>区别：</a:t>
            </a:r>
            <a:endParaRPr lang="zh-CN" altLang="zh-CN" sz="2000" dirty="0">
              <a:solidFill>
                <a:srgbClr val="0000FF"/>
              </a:solidFill>
            </a:endParaRPr>
          </a:p>
          <a:p>
            <a:pPr marL="625475" indent="-625475">
              <a:lnSpc>
                <a:spcPts val="3000"/>
              </a:lnSpc>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）概念不同。</a:t>
            </a:r>
            <a:r>
              <a:rPr lang="zh-CN" altLang="zh-CN" sz="2000" dirty="0"/>
              <a:t>表是使用</a:t>
            </a:r>
            <a:r>
              <a:rPr lang="en-US" altLang="zh-CN" sz="2000" dirty="0"/>
              <a:t>DDL</a:t>
            </a:r>
            <a:r>
              <a:rPr lang="zh-CN" altLang="zh-CN" sz="2000" dirty="0"/>
              <a:t>定义的，以独立文件的形式存储在外存上的真实数据。而视图则是利用查询语句定义的，从表或视图中导出的虚表。</a:t>
            </a:r>
          </a:p>
          <a:p>
            <a:pPr marL="625475" indent="-625475">
              <a:lnSpc>
                <a:spcPts val="3000"/>
              </a:lnSpc>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）数据有效期不同。</a:t>
            </a:r>
            <a:r>
              <a:rPr lang="zh-CN" altLang="zh-CN" sz="2000" dirty="0"/>
              <a:t>表是拥有真实数据的实表，永远有效；而视图则是只有查询语句的没有数据的虚表，在执行视图时，才临时有效。</a:t>
            </a:r>
          </a:p>
          <a:p>
            <a:pPr marL="625475" indent="-625475">
              <a:lnSpc>
                <a:spcPts val="3000"/>
              </a:lnSpc>
              <a:buNone/>
            </a:pPr>
            <a:r>
              <a:rPr lang="zh-CN" altLang="zh-CN" sz="2000" dirty="0">
                <a:solidFill>
                  <a:srgbClr val="0000FF"/>
                </a:solidFill>
              </a:rPr>
              <a:t>（</a:t>
            </a:r>
            <a:r>
              <a:rPr lang="en-US" altLang="zh-CN" sz="2000" dirty="0">
                <a:solidFill>
                  <a:srgbClr val="0000FF"/>
                </a:solidFill>
              </a:rPr>
              <a:t>3</a:t>
            </a:r>
            <a:r>
              <a:rPr lang="zh-CN" altLang="zh-CN" sz="2000" dirty="0">
                <a:solidFill>
                  <a:srgbClr val="0000FF"/>
                </a:solidFill>
              </a:rPr>
              <a:t>）数据存储不同。</a:t>
            </a:r>
            <a:r>
              <a:rPr lang="zh-CN" altLang="zh-CN" sz="2000" dirty="0"/>
              <a:t>表永久存储在外存，而视图中没有数据。</a:t>
            </a:r>
          </a:p>
          <a:p>
            <a:pPr marL="625475" indent="-625475">
              <a:lnSpc>
                <a:spcPts val="3000"/>
              </a:lnSpc>
              <a:buNone/>
            </a:pPr>
            <a:r>
              <a:rPr lang="zh-CN" altLang="zh-CN" sz="2000" dirty="0">
                <a:solidFill>
                  <a:srgbClr val="0000FF"/>
                </a:solidFill>
              </a:rPr>
              <a:t>（</a:t>
            </a:r>
            <a:r>
              <a:rPr lang="en-US" altLang="zh-CN" sz="2000" dirty="0">
                <a:solidFill>
                  <a:srgbClr val="0000FF"/>
                </a:solidFill>
              </a:rPr>
              <a:t>4</a:t>
            </a:r>
            <a:r>
              <a:rPr lang="zh-CN" altLang="zh-CN" sz="2000" dirty="0">
                <a:solidFill>
                  <a:srgbClr val="0000FF"/>
                </a:solidFill>
              </a:rPr>
              <a:t>）更新方式不同。</a:t>
            </a:r>
            <a:r>
              <a:rPr lang="zh-CN" altLang="zh-CN" sz="2000" dirty="0"/>
              <a:t>表</a:t>
            </a:r>
            <a:r>
              <a:rPr lang="zh-CN" altLang="zh-CN" sz="2000" dirty="0" smtClean="0"/>
              <a:t>可任意</a:t>
            </a:r>
            <a:r>
              <a:rPr lang="zh-CN" altLang="zh-CN" sz="2000" dirty="0"/>
              <a:t>更新，而视图不能任意更新，而是有条件更新。</a:t>
            </a:r>
          </a:p>
          <a:p>
            <a:pPr>
              <a:lnSpc>
                <a:spcPts val="3000"/>
              </a:lnSpc>
            </a:pPr>
            <a:r>
              <a:rPr lang="zh-CN" altLang="zh-CN" sz="2000" dirty="0">
                <a:solidFill>
                  <a:srgbClr val="0000FF"/>
                </a:solidFill>
              </a:rPr>
              <a:t>视图与表的</a:t>
            </a:r>
            <a:r>
              <a:rPr lang="zh-CN" altLang="zh-CN" sz="2000" dirty="0" smtClean="0">
                <a:solidFill>
                  <a:srgbClr val="0000FF"/>
                </a:solidFill>
              </a:rPr>
              <a:t>联系：</a:t>
            </a:r>
            <a:endParaRPr lang="zh-CN" altLang="zh-CN" sz="2000" dirty="0">
              <a:solidFill>
                <a:srgbClr val="0000FF"/>
              </a:solidFill>
            </a:endParaRPr>
          </a:p>
          <a:p>
            <a:pPr marL="625475" indent="-625475">
              <a:lnSpc>
                <a:spcPts val="3000"/>
              </a:lnSpc>
              <a:buNone/>
            </a:pPr>
            <a:r>
              <a:rPr lang="zh-CN" altLang="en-US" sz="2000" dirty="0" smtClean="0"/>
              <a:t>（</a:t>
            </a:r>
            <a:r>
              <a:rPr lang="en-US" altLang="zh-CN" sz="2000" dirty="0" smtClean="0"/>
              <a:t>1</a:t>
            </a:r>
            <a:r>
              <a:rPr lang="zh-CN" altLang="en-US" sz="2000" dirty="0" smtClean="0"/>
              <a:t>）</a:t>
            </a:r>
            <a:r>
              <a:rPr lang="zh-CN" altLang="zh-CN" sz="2000" dirty="0" smtClean="0"/>
              <a:t>视图</a:t>
            </a:r>
            <a:r>
              <a:rPr lang="zh-CN" altLang="zh-CN" sz="2000" dirty="0"/>
              <a:t>最终定义在表之上，视图数据来自于表；表是视图的基础，并为视图提供数据，如果表的结构发生了改变，或者删除了表，则相应的视图就会失去意义，因此需要修改或者删除相应的视图。</a:t>
            </a:r>
          </a:p>
          <a:p>
            <a:pPr marL="625475" indent="-625475">
              <a:lnSpc>
                <a:spcPts val="3000"/>
              </a:lnSpc>
              <a:buNone/>
            </a:pPr>
            <a:r>
              <a:rPr lang="zh-CN" altLang="en-US" sz="2000" dirty="0" smtClean="0"/>
              <a:t>（</a:t>
            </a:r>
            <a:r>
              <a:rPr lang="en-US" altLang="zh-CN" sz="2000" dirty="0" smtClean="0"/>
              <a:t>2</a:t>
            </a:r>
            <a:r>
              <a:rPr lang="zh-CN" altLang="en-US" sz="2000" dirty="0" smtClean="0"/>
              <a:t>）</a:t>
            </a:r>
            <a:r>
              <a:rPr lang="zh-CN" altLang="zh-CN" sz="2000" dirty="0" smtClean="0"/>
              <a:t>对于</a:t>
            </a:r>
            <a:r>
              <a:rPr lang="zh-CN" altLang="zh-CN" sz="2000" dirty="0"/>
              <a:t>最终用户来说，视图与表等价。即：视图和表在用户看来都是“表”，用户完全可以按照表的使用方法来使用视图，同时可以在视图上定义视图。</a:t>
            </a:r>
          </a:p>
        </p:txBody>
      </p:sp>
    </p:spTree>
    <p:extLst>
      <p:ext uri="{BB962C8B-B14F-4D97-AF65-F5344CB8AC3E}">
        <p14:creationId xmlns:p14="http://schemas.microsoft.com/office/powerpoint/2010/main" val="32615370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33</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利用</a:t>
            </a:r>
            <a:r>
              <a:rPr lang="en-US" altLang="zh-CN" sz="2000" dirty="0"/>
              <a:t>SQL Server </a:t>
            </a:r>
            <a:r>
              <a:rPr lang="en-US" altLang="zh-CN" sz="2000" dirty="0" smtClean="0"/>
              <a:t>2016</a:t>
            </a:r>
            <a:r>
              <a:rPr lang="zh-CN" altLang="zh-CN" sz="2000" dirty="0" smtClean="0"/>
              <a:t>的</a:t>
            </a:r>
            <a:r>
              <a:rPr lang="zh-CN" altLang="zh-CN" sz="2000" dirty="0"/>
              <a:t>视图机制，可以方便的进行</a:t>
            </a:r>
            <a:r>
              <a:rPr lang="zh-CN" altLang="zh-CN" sz="2000" dirty="0">
                <a:solidFill>
                  <a:srgbClr val="0000FF"/>
                </a:solidFill>
              </a:rPr>
              <a:t>视图的建立、删除、查询和更新</a:t>
            </a:r>
            <a:r>
              <a:rPr lang="zh-CN" altLang="zh-CN" sz="2000" dirty="0"/>
              <a:t>等。</a:t>
            </a:r>
          </a:p>
          <a:p>
            <a:pPr marL="0" indent="0">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）建立视图：</a:t>
            </a:r>
            <a:r>
              <a:rPr lang="zh-CN" altLang="zh-CN" sz="2000" dirty="0"/>
              <a:t>可以使用</a:t>
            </a:r>
            <a:r>
              <a:rPr lang="en-US" altLang="zh-CN" sz="2000" dirty="0"/>
              <a:t>CREATE VIEW</a:t>
            </a:r>
            <a:r>
              <a:rPr lang="zh-CN" altLang="zh-CN" sz="2000" dirty="0"/>
              <a:t>实现。</a:t>
            </a:r>
          </a:p>
          <a:p>
            <a:pPr marL="360363" indent="0">
              <a:buNone/>
            </a:pPr>
            <a:r>
              <a:rPr lang="en-US" altLang="zh-CN" sz="2000" dirty="0">
                <a:solidFill>
                  <a:srgbClr val="0000FF"/>
                </a:solidFill>
              </a:rPr>
              <a:t>CREATE VIEW &lt;</a:t>
            </a:r>
            <a:r>
              <a:rPr lang="zh-CN" altLang="zh-CN" sz="2000" dirty="0">
                <a:solidFill>
                  <a:srgbClr val="0000FF"/>
                </a:solidFill>
              </a:rPr>
              <a:t>视图名</a:t>
            </a:r>
            <a:r>
              <a:rPr lang="en-US" altLang="zh-CN" sz="2000" dirty="0">
                <a:solidFill>
                  <a:srgbClr val="0000FF"/>
                </a:solidFill>
              </a:rPr>
              <a:t>&gt; [(&lt;</a:t>
            </a:r>
            <a:r>
              <a:rPr lang="zh-CN" altLang="zh-CN" sz="2000" dirty="0">
                <a:solidFill>
                  <a:srgbClr val="0000FF"/>
                </a:solidFill>
              </a:rPr>
              <a:t>列名</a:t>
            </a:r>
            <a:r>
              <a:rPr lang="en-US" altLang="zh-CN" sz="2000" dirty="0">
                <a:solidFill>
                  <a:srgbClr val="0000FF"/>
                </a:solidFill>
              </a:rPr>
              <a:t>&gt; [</a:t>
            </a:r>
            <a:r>
              <a:rPr lang="zh-CN" altLang="zh-CN" sz="2000" dirty="0">
                <a:solidFill>
                  <a:srgbClr val="0000FF"/>
                </a:solidFill>
              </a:rPr>
              <a:t>，</a:t>
            </a:r>
            <a:r>
              <a:rPr lang="en-US" altLang="zh-CN" sz="2000" dirty="0">
                <a:solidFill>
                  <a:srgbClr val="0000FF"/>
                </a:solidFill>
              </a:rPr>
              <a:t>&lt;</a:t>
            </a:r>
            <a:r>
              <a:rPr lang="zh-CN" altLang="zh-CN" sz="2000" dirty="0">
                <a:solidFill>
                  <a:srgbClr val="0000FF"/>
                </a:solidFill>
              </a:rPr>
              <a:t>列名</a:t>
            </a:r>
            <a:r>
              <a:rPr lang="en-US" altLang="zh-CN" sz="2000" dirty="0">
                <a:solidFill>
                  <a:srgbClr val="0000FF"/>
                </a:solidFill>
              </a:rPr>
              <a:t>&gt;]… )] AS</a:t>
            </a:r>
            <a:endParaRPr lang="zh-CN" altLang="zh-CN" sz="2000" dirty="0">
              <a:solidFill>
                <a:srgbClr val="0000FF"/>
              </a:solidFill>
            </a:endParaRPr>
          </a:p>
          <a:p>
            <a:pPr marL="360363" indent="0">
              <a:buNone/>
            </a:pPr>
            <a:r>
              <a:rPr lang="en-US" altLang="zh-CN" sz="2000" dirty="0">
                <a:solidFill>
                  <a:srgbClr val="0000FF"/>
                </a:solidFill>
              </a:rPr>
              <a:t>    SELECT </a:t>
            </a:r>
            <a:r>
              <a:rPr lang="zh-CN" altLang="zh-CN" sz="2000" dirty="0">
                <a:solidFill>
                  <a:srgbClr val="0000FF"/>
                </a:solidFill>
              </a:rPr>
              <a:t>语句</a:t>
            </a:r>
          </a:p>
          <a:p>
            <a:pPr marL="360363" indent="0">
              <a:buNone/>
            </a:pPr>
            <a:r>
              <a:rPr lang="en-US" altLang="zh-CN" sz="2000" dirty="0">
                <a:solidFill>
                  <a:srgbClr val="0000FF"/>
                </a:solidFill>
              </a:rPr>
              <a:t>    [WITH CHECK OPTION]</a:t>
            </a:r>
            <a:endParaRPr lang="zh-CN" altLang="zh-CN" sz="2000" dirty="0">
              <a:solidFill>
                <a:srgbClr val="0000FF"/>
              </a:solidFill>
            </a:endParaRPr>
          </a:p>
          <a:p>
            <a:r>
              <a:rPr lang="zh-CN" altLang="zh-CN" sz="2000" dirty="0"/>
              <a:t>视图名：视图的名称。</a:t>
            </a:r>
          </a:p>
        </p:txBody>
      </p:sp>
    </p:spTree>
    <p:extLst>
      <p:ext uri="{BB962C8B-B14F-4D97-AF65-F5344CB8AC3E}">
        <p14:creationId xmlns:p14="http://schemas.microsoft.com/office/powerpoint/2010/main" val="171960920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34</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列名：视图中属性列的名称。用于给查询表达式或两（多）个同名列进行命名。如果未指定</a:t>
            </a:r>
            <a:r>
              <a:rPr lang="en-US" altLang="zh-CN" sz="2000" dirty="0"/>
              <a:t>&lt;</a:t>
            </a:r>
            <a:r>
              <a:rPr lang="zh-CN" altLang="zh-CN" sz="2000" dirty="0"/>
              <a:t>列名</a:t>
            </a:r>
            <a:r>
              <a:rPr lang="en-US" altLang="zh-CN" sz="2000" dirty="0"/>
              <a:t>&gt;</a:t>
            </a:r>
            <a:r>
              <a:rPr lang="zh-CN" altLang="zh-CN" sz="2000" dirty="0"/>
              <a:t>，则视图列与</a:t>
            </a:r>
            <a:r>
              <a:rPr lang="en-US" altLang="zh-CN" sz="2000" dirty="0"/>
              <a:t>SELECT</a:t>
            </a:r>
            <a:r>
              <a:rPr lang="zh-CN" altLang="zh-CN" sz="2000" dirty="0"/>
              <a:t>中的属性列同名。</a:t>
            </a:r>
          </a:p>
          <a:p>
            <a:r>
              <a:rPr lang="en-US" altLang="zh-CN" sz="2000" dirty="0"/>
              <a:t>AS</a:t>
            </a:r>
            <a:r>
              <a:rPr lang="zh-CN" altLang="zh-CN" sz="2000" dirty="0"/>
              <a:t>：视图要执行的操作。</a:t>
            </a:r>
          </a:p>
          <a:p>
            <a:r>
              <a:rPr lang="en-US" altLang="zh-CN" sz="2000" dirty="0"/>
              <a:t>SELECT</a:t>
            </a:r>
            <a:r>
              <a:rPr lang="zh-CN" altLang="zh-CN" sz="2000" dirty="0"/>
              <a:t>语句：多个表或视图的复杂查询。</a:t>
            </a:r>
            <a:r>
              <a:rPr lang="en-US" altLang="zh-CN" sz="2000" dirty="0"/>
              <a:t>SELECT</a:t>
            </a:r>
            <a:r>
              <a:rPr lang="zh-CN" altLang="zh-CN" sz="2000" dirty="0"/>
              <a:t>子句不能包括：</a:t>
            </a:r>
            <a:r>
              <a:rPr lang="en-US" altLang="zh-CN" sz="2000" dirty="0"/>
              <a:t>COMPUTE </a:t>
            </a:r>
            <a:r>
              <a:rPr lang="zh-CN" altLang="zh-CN" sz="2000" dirty="0"/>
              <a:t>或</a:t>
            </a:r>
            <a:r>
              <a:rPr lang="en-US" altLang="zh-CN" sz="2000" dirty="0"/>
              <a:t> COMPUTE BY</a:t>
            </a:r>
            <a:r>
              <a:rPr lang="zh-CN" altLang="zh-CN" sz="2000" dirty="0"/>
              <a:t>；</a:t>
            </a:r>
            <a:r>
              <a:rPr lang="en-US" altLang="zh-CN" sz="2000" dirty="0"/>
              <a:t>ORDER BY</a:t>
            </a:r>
            <a:r>
              <a:rPr lang="zh-CN" altLang="zh-CN" sz="2000" dirty="0"/>
              <a:t>（</a:t>
            </a:r>
            <a:r>
              <a:rPr lang="en-US" altLang="zh-CN" sz="2000" dirty="0"/>
              <a:t>SELECT</a:t>
            </a:r>
            <a:r>
              <a:rPr lang="zh-CN" altLang="zh-CN" sz="2000" dirty="0"/>
              <a:t>列中有</a:t>
            </a:r>
            <a:r>
              <a:rPr lang="en-US" altLang="zh-CN" sz="2000" dirty="0"/>
              <a:t>TOP</a:t>
            </a:r>
            <a:r>
              <a:rPr lang="zh-CN" altLang="zh-CN" sz="2000" dirty="0"/>
              <a:t>例外）；</a:t>
            </a:r>
            <a:r>
              <a:rPr lang="en-US" altLang="zh-CN" sz="2000" dirty="0"/>
              <a:t>INTO</a:t>
            </a:r>
            <a:r>
              <a:rPr lang="zh-CN" altLang="zh-CN" sz="2000" dirty="0"/>
              <a:t>等。</a:t>
            </a:r>
          </a:p>
          <a:p>
            <a:r>
              <a:rPr lang="en-US" altLang="zh-CN" sz="2000" dirty="0">
                <a:solidFill>
                  <a:srgbClr val="0000FF"/>
                </a:solidFill>
              </a:rPr>
              <a:t>WITH CHECK OPTION</a:t>
            </a:r>
            <a:r>
              <a:rPr lang="zh-CN" altLang="zh-CN" sz="2000" dirty="0">
                <a:solidFill>
                  <a:srgbClr val="0000FF"/>
                </a:solidFill>
              </a:rPr>
              <a:t>：</a:t>
            </a:r>
            <a:r>
              <a:rPr lang="zh-CN" altLang="zh-CN" sz="2000" dirty="0"/>
              <a:t>可选项。更新视图必须符合</a:t>
            </a:r>
            <a:r>
              <a:rPr lang="en-US" altLang="zh-CN" sz="2000" dirty="0"/>
              <a:t>SELECT</a:t>
            </a:r>
            <a:r>
              <a:rPr lang="zh-CN" altLang="zh-CN" sz="2000" dirty="0"/>
              <a:t>中的条件。如果在</a:t>
            </a:r>
            <a:r>
              <a:rPr lang="en-US" altLang="zh-CN" sz="2000" dirty="0"/>
              <a:t>SELECT</a:t>
            </a:r>
            <a:r>
              <a:rPr lang="zh-CN" altLang="zh-CN" sz="2000" dirty="0"/>
              <a:t>中有</a:t>
            </a:r>
            <a:r>
              <a:rPr lang="en-US" altLang="zh-CN" sz="2000" dirty="0"/>
              <a:t>TOP</a:t>
            </a:r>
            <a:r>
              <a:rPr lang="zh-CN" altLang="zh-CN" sz="2000" dirty="0"/>
              <a:t>，则不能使用</a:t>
            </a:r>
            <a:r>
              <a:rPr lang="en-US" altLang="zh-CN" sz="2000" dirty="0"/>
              <a:t>WITH CHECK OPTION</a:t>
            </a:r>
            <a:r>
              <a:rPr lang="zh-CN" altLang="zh-CN" sz="2000" dirty="0"/>
              <a:t>。</a:t>
            </a:r>
          </a:p>
          <a:p>
            <a:r>
              <a:rPr lang="zh-CN" altLang="zh-CN" sz="2000" dirty="0" smtClean="0">
                <a:solidFill>
                  <a:srgbClr val="0000FF"/>
                </a:solidFill>
              </a:rPr>
              <a:t>提示：</a:t>
            </a:r>
            <a:r>
              <a:rPr lang="zh-CN" altLang="zh-CN" sz="2000" dirty="0" smtClean="0"/>
              <a:t>使用</a:t>
            </a:r>
            <a:r>
              <a:rPr lang="en-US" altLang="zh-CN" sz="2000" dirty="0" smtClean="0"/>
              <a:t>WITH CHECK OPTION</a:t>
            </a:r>
            <a:r>
              <a:rPr lang="zh-CN" altLang="zh-CN" sz="2000" dirty="0" smtClean="0"/>
              <a:t>之后，如果对视图进行插入、修改或者删除时，</a:t>
            </a:r>
            <a:r>
              <a:rPr lang="en-US" altLang="zh-CN" sz="2000" dirty="0" smtClean="0"/>
              <a:t>DBMS</a:t>
            </a:r>
            <a:r>
              <a:rPr lang="zh-CN" altLang="zh-CN" sz="2000" dirty="0" smtClean="0"/>
              <a:t>会自动检测视图定义中的条件，如果不满足，则拒绝执行操作，从而防止用户通过视图对数据进行更新，在一定程度上保护了数据库。</a:t>
            </a:r>
            <a:endParaRPr lang="zh-CN" altLang="zh-CN" sz="2000" dirty="0"/>
          </a:p>
        </p:txBody>
      </p:sp>
    </p:spTree>
    <p:extLst>
      <p:ext uri="{BB962C8B-B14F-4D97-AF65-F5344CB8AC3E}">
        <p14:creationId xmlns:p14="http://schemas.microsoft.com/office/powerpoint/2010/main" val="27535125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35</a:t>
            </a:fld>
            <a:endParaRPr lang="zh-CN" altLang="en-US" dirty="0"/>
          </a:p>
        </p:txBody>
      </p:sp>
      <p:sp>
        <p:nvSpPr>
          <p:cNvPr id="7" name="文本占位符 6"/>
          <p:cNvSpPr>
            <a:spLocks noGrp="1"/>
          </p:cNvSpPr>
          <p:nvPr>
            <p:ph type="body" idx="1"/>
          </p:nvPr>
        </p:nvSpPr>
        <p:spPr>
          <a:xfrm>
            <a:off x="179512" y="764704"/>
            <a:ext cx="8784976" cy="5616624"/>
          </a:xfrm>
        </p:spPr>
        <p:txBody>
          <a:bodyPr>
            <a:noAutofit/>
          </a:bodyPr>
          <a:lstStyle/>
          <a:p>
            <a:r>
              <a:rPr lang="zh-CN" altLang="zh-CN" sz="2000" dirty="0">
                <a:solidFill>
                  <a:srgbClr val="0000FF"/>
                </a:solidFill>
              </a:rPr>
              <a:t>例</a:t>
            </a:r>
            <a:r>
              <a:rPr lang="en-US" altLang="zh-CN" sz="2000" dirty="0">
                <a:solidFill>
                  <a:srgbClr val="0000FF"/>
                </a:solidFill>
              </a:rPr>
              <a:t>7.6  </a:t>
            </a:r>
            <a:r>
              <a:rPr lang="zh-CN" altLang="zh-CN" sz="2000" dirty="0"/>
              <a:t>创建如下视图：</a:t>
            </a:r>
          </a:p>
          <a:p>
            <a:pPr marL="360363" indent="-360363">
              <a:buNone/>
            </a:pPr>
            <a:r>
              <a:rPr lang="zh-CN" altLang="zh-CN" sz="2000" dirty="0">
                <a:solidFill>
                  <a:srgbClr val="0000FF"/>
                </a:solidFill>
              </a:rPr>
              <a:t>（</a:t>
            </a:r>
            <a:r>
              <a:rPr lang="en-US" altLang="zh-CN" sz="2000" dirty="0">
                <a:solidFill>
                  <a:srgbClr val="0000FF"/>
                </a:solidFill>
              </a:rPr>
              <a:t>a</a:t>
            </a:r>
            <a:r>
              <a:rPr lang="zh-CN" altLang="zh-CN" sz="2000" dirty="0">
                <a:solidFill>
                  <a:srgbClr val="0000FF"/>
                </a:solidFill>
              </a:rPr>
              <a:t>）建立每个出版社的销售信息</a:t>
            </a:r>
            <a:r>
              <a:rPr lang="zh-CN" altLang="zh-CN" sz="2000" dirty="0" smtClean="0">
                <a:solidFill>
                  <a:srgbClr val="0000FF"/>
                </a:solidFill>
              </a:rPr>
              <a:t>：</a:t>
            </a:r>
            <a:endParaRPr lang="en-US" altLang="zh-CN" sz="2000" dirty="0" smtClean="0">
              <a:solidFill>
                <a:srgbClr val="0000FF"/>
              </a:solidFill>
            </a:endParaRPr>
          </a:p>
          <a:p>
            <a:pPr marL="360363" indent="-360363">
              <a:buNone/>
            </a:pPr>
            <a:r>
              <a:rPr lang="en-US" altLang="zh-CN" sz="2000" dirty="0"/>
              <a:t> </a:t>
            </a:r>
            <a:r>
              <a:rPr lang="en-US" altLang="zh-CN" sz="2000" dirty="0" smtClean="0"/>
              <a:t>    </a:t>
            </a:r>
            <a:r>
              <a:rPr lang="en-US" altLang="zh-CN" sz="2000" dirty="0" err="1" smtClean="0"/>
              <a:t>PressInfo</a:t>
            </a:r>
            <a:r>
              <a:rPr lang="zh-CN" altLang="zh-CN" sz="2000" dirty="0"/>
              <a:t>（</a:t>
            </a:r>
            <a:r>
              <a:rPr lang="en-US" altLang="zh-CN" sz="2000" dirty="0" err="1"/>
              <a:t>PNo,PName,PCode,PAddr,Press.Phone</a:t>
            </a:r>
            <a:r>
              <a:rPr lang="en-US" altLang="zh-CN" sz="2000" dirty="0"/>
              <a:t>,</a:t>
            </a:r>
            <a:endParaRPr lang="zh-CN" altLang="zh-CN" sz="2000" dirty="0"/>
          </a:p>
          <a:p>
            <a:pPr marL="360363" indent="0">
              <a:buNone/>
            </a:pPr>
            <a:r>
              <a:rPr lang="en-US" altLang="zh-CN" sz="2000" dirty="0" smtClean="0"/>
              <a:t>                  </a:t>
            </a:r>
            <a:r>
              <a:rPr lang="en-US" altLang="zh-CN" sz="2000" dirty="0" err="1" smtClean="0"/>
              <a:t>Press.EMail,HPage,BNo,BName,CNo,CName,PDate</a:t>
            </a:r>
            <a:r>
              <a:rPr lang="zh-CN" altLang="zh-CN" sz="2000" dirty="0" smtClean="0"/>
              <a:t>）</a:t>
            </a:r>
            <a:endParaRPr lang="zh-CN" altLang="zh-CN" sz="2000" dirty="0"/>
          </a:p>
          <a:p>
            <a:pPr marL="360363" indent="0">
              <a:buNone/>
            </a:pPr>
            <a:r>
              <a:rPr lang="en-US" altLang="zh-CN" sz="2000" dirty="0"/>
              <a:t>CREATE VIEW </a:t>
            </a:r>
            <a:r>
              <a:rPr lang="en-US" altLang="zh-CN" sz="2000" dirty="0" err="1"/>
              <a:t>PressInfo</a:t>
            </a:r>
            <a:r>
              <a:rPr lang="en-US" altLang="zh-CN" sz="2000" dirty="0"/>
              <a:t> AS</a:t>
            </a:r>
            <a:endParaRPr lang="zh-CN" altLang="zh-CN" sz="2000" dirty="0"/>
          </a:p>
          <a:p>
            <a:pPr marL="360363" indent="0">
              <a:buNone/>
            </a:pPr>
            <a:r>
              <a:rPr lang="en-US" altLang="zh-CN" sz="2000" dirty="0"/>
              <a:t>    SELECT </a:t>
            </a:r>
            <a:r>
              <a:rPr lang="en-US" altLang="zh-CN" sz="2000" dirty="0" err="1"/>
              <a:t>Press.PNo,PName,PCode,PAddr,Press.Phone,Press.EMail,HPage</a:t>
            </a:r>
            <a:r>
              <a:rPr lang="en-US" altLang="zh-CN" sz="2000" dirty="0"/>
              <a:t>,</a:t>
            </a:r>
            <a:endParaRPr lang="zh-CN" altLang="zh-CN" sz="2000" dirty="0"/>
          </a:p>
          <a:p>
            <a:pPr marL="360363" indent="0">
              <a:buNone/>
            </a:pPr>
            <a:r>
              <a:rPr lang="en-US" altLang="zh-CN" sz="2000" dirty="0"/>
              <a:t>        </a:t>
            </a:r>
            <a:r>
              <a:rPr lang="en-US" altLang="zh-CN" sz="2000" dirty="0" err="1"/>
              <a:t>Book.BNo,BName,Cust.CNo,CName,PDate</a:t>
            </a:r>
            <a:r>
              <a:rPr lang="en-US" altLang="zh-CN" sz="2000" dirty="0"/>
              <a:t> </a:t>
            </a:r>
            <a:endParaRPr lang="zh-CN" altLang="zh-CN" sz="2000" dirty="0"/>
          </a:p>
          <a:p>
            <a:pPr marL="360363" indent="0">
              <a:buNone/>
            </a:pPr>
            <a:r>
              <a:rPr lang="en-US" altLang="zh-CN" sz="2000" dirty="0"/>
              <a:t>    FROM </a:t>
            </a:r>
            <a:r>
              <a:rPr lang="en-US" altLang="zh-CN" sz="2000" dirty="0" err="1"/>
              <a:t>Press,Book,Cust,Buy</a:t>
            </a:r>
            <a:endParaRPr lang="zh-CN" altLang="zh-CN" sz="2000" dirty="0"/>
          </a:p>
          <a:p>
            <a:pPr marL="360363" indent="0">
              <a:buNone/>
            </a:pPr>
            <a:r>
              <a:rPr lang="en-US" altLang="zh-CN" sz="2000" dirty="0"/>
              <a:t>    WHERE </a:t>
            </a:r>
            <a:r>
              <a:rPr lang="en-US" altLang="zh-CN" sz="2000" dirty="0" err="1"/>
              <a:t>Press.PNo</a:t>
            </a:r>
            <a:r>
              <a:rPr lang="en-US" altLang="zh-CN" sz="2000" dirty="0"/>
              <a:t>=</a:t>
            </a:r>
            <a:r>
              <a:rPr lang="en-US" altLang="zh-CN" sz="2000" dirty="0" err="1"/>
              <a:t>Book.PNo</a:t>
            </a:r>
            <a:r>
              <a:rPr lang="en-US" altLang="zh-CN" sz="2000" dirty="0"/>
              <a:t> AND </a:t>
            </a:r>
            <a:r>
              <a:rPr lang="en-US" altLang="zh-CN" sz="2000" dirty="0" err="1"/>
              <a:t>Book.BNo</a:t>
            </a:r>
            <a:r>
              <a:rPr lang="en-US" altLang="zh-CN" sz="2000" dirty="0"/>
              <a:t>=</a:t>
            </a:r>
            <a:r>
              <a:rPr lang="en-US" altLang="zh-CN" sz="2000" dirty="0" err="1"/>
              <a:t>Buy.BNo</a:t>
            </a:r>
            <a:r>
              <a:rPr lang="en-US" altLang="zh-CN" sz="2000" dirty="0"/>
              <a:t> AND </a:t>
            </a:r>
            <a:r>
              <a:rPr lang="en-US" altLang="zh-CN" sz="2000" dirty="0" err="1"/>
              <a:t>Cust.CNo</a:t>
            </a:r>
            <a:r>
              <a:rPr lang="en-US" altLang="zh-CN" sz="2000" dirty="0"/>
              <a:t>=</a:t>
            </a:r>
            <a:r>
              <a:rPr lang="en-US" altLang="zh-CN" sz="2000" dirty="0" err="1"/>
              <a:t>Buy.CNo</a:t>
            </a:r>
            <a:endParaRPr lang="zh-CN" altLang="zh-CN" sz="2000" dirty="0"/>
          </a:p>
          <a:p>
            <a:r>
              <a:rPr lang="zh-CN" altLang="zh-CN" sz="2000" dirty="0">
                <a:solidFill>
                  <a:srgbClr val="0000FF"/>
                </a:solidFill>
              </a:rPr>
              <a:t>思考：</a:t>
            </a:r>
            <a:r>
              <a:rPr lang="zh-CN" altLang="zh-CN" sz="2000" dirty="0"/>
              <a:t>创建“浙江工商大学出版社”的销售信息视图</a:t>
            </a:r>
            <a:r>
              <a:rPr lang="zh-CN" altLang="zh-CN" sz="2000" dirty="0" smtClean="0"/>
              <a:t>。</a:t>
            </a:r>
            <a:endParaRPr lang="zh-CN" altLang="zh-CN" sz="2000" dirty="0"/>
          </a:p>
        </p:txBody>
      </p:sp>
    </p:spTree>
    <p:extLst>
      <p:ext uri="{BB962C8B-B14F-4D97-AF65-F5344CB8AC3E}">
        <p14:creationId xmlns:p14="http://schemas.microsoft.com/office/powerpoint/2010/main" val="390999964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36</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例</a:t>
            </a:r>
            <a:r>
              <a:rPr lang="en-US" altLang="zh-CN" sz="2000" dirty="0">
                <a:solidFill>
                  <a:srgbClr val="0000FF"/>
                </a:solidFill>
              </a:rPr>
              <a:t>7.6  </a:t>
            </a:r>
            <a:r>
              <a:rPr lang="zh-CN" altLang="zh-CN" sz="2000" dirty="0"/>
              <a:t>创建如下视图：</a:t>
            </a:r>
          </a:p>
          <a:p>
            <a:pPr marL="0" indent="0">
              <a:buNone/>
            </a:pPr>
            <a:r>
              <a:rPr lang="zh-CN" altLang="zh-CN" sz="2000" dirty="0">
                <a:solidFill>
                  <a:srgbClr val="0000FF"/>
                </a:solidFill>
              </a:rPr>
              <a:t>（</a:t>
            </a:r>
            <a:r>
              <a:rPr lang="en-US" altLang="zh-CN" sz="2000" dirty="0">
                <a:solidFill>
                  <a:srgbClr val="0000FF"/>
                </a:solidFill>
              </a:rPr>
              <a:t>b</a:t>
            </a:r>
            <a:r>
              <a:rPr lang="zh-CN" altLang="zh-CN" sz="2000" dirty="0">
                <a:solidFill>
                  <a:srgbClr val="0000FF"/>
                </a:solidFill>
              </a:rPr>
              <a:t>）建立每本图书的销售</a:t>
            </a:r>
            <a:r>
              <a:rPr lang="zh-CN" altLang="zh-CN" sz="2000" dirty="0" smtClean="0">
                <a:solidFill>
                  <a:srgbClr val="0000FF"/>
                </a:solidFill>
              </a:rPr>
              <a:t>信息</a:t>
            </a:r>
            <a:r>
              <a:rPr lang="zh-CN" altLang="en-US" sz="2000" dirty="0" smtClean="0">
                <a:solidFill>
                  <a:srgbClr val="0000FF"/>
                </a:solidFill>
              </a:rPr>
              <a:t>：</a:t>
            </a:r>
            <a:endParaRPr lang="en-US" altLang="zh-CN" sz="2000" dirty="0" smtClean="0">
              <a:solidFill>
                <a:srgbClr val="0000FF"/>
              </a:solidFill>
            </a:endParaRPr>
          </a:p>
          <a:p>
            <a:pPr marL="625475" indent="0">
              <a:buNone/>
            </a:pPr>
            <a:r>
              <a:rPr lang="en-US" altLang="zh-CN" sz="2000" dirty="0" err="1" smtClean="0"/>
              <a:t>BookInfo</a:t>
            </a:r>
            <a:r>
              <a:rPr lang="zh-CN" altLang="zh-CN" sz="2000" dirty="0"/>
              <a:t>（</a:t>
            </a:r>
            <a:r>
              <a:rPr lang="en-US" altLang="zh-CN" sz="2000" dirty="0" err="1"/>
              <a:t>Book.BNo,BName,Author,EditNo,Price</a:t>
            </a:r>
            <a:r>
              <a:rPr lang="en-US" altLang="zh-CN" sz="2000" dirty="0"/>
              <a:t>,</a:t>
            </a:r>
            <a:endParaRPr lang="zh-CN" altLang="zh-CN" sz="2000" dirty="0"/>
          </a:p>
          <a:p>
            <a:pPr marL="360363" indent="0">
              <a:buNone/>
            </a:pPr>
            <a:r>
              <a:rPr lang="en-US" altLang="zh-CN" sz="2000" dirty="0" smtClean="0"/>
              <a:t>             </a:t>
            </a:r>
            <a:r>
              <a:rPr lang="en-US" altLang="zh-CN" sz="2000" dirty="0" err="1" smtClean="0"/>
              <a:t>PPrice,SPrice,PNo,PName,CNo,CName,PDate</a:t>
            </a:r>
            <a:r>
              <a:rPr lang="zh-CN" altLang="zh-CN" sz="2000" dirty="0" smtClean="0"/>
              <a:t>）</a:t>
            </a:r>
            <a:endParaRPr lang="zh-CN" altLang="zh-CN" sz="2000" dirty="0"/>
          </a:p>
          <a:p>
            <a:pPr marL="265113" indent="0">
              <a:buNone/>
            </a:pPr>
            <a:r>
              <a:rPr lang="en-US" altLang="zh-CN" sz="2000" dirty="0"/>
              <a:t>CREATE VIEW </a:t>
            </a:r>
            <a:r>
              <a:rPr lang="en-US" altLang="zh-CN" sz="2000" dirty="0" err="1"/>
              <a:t>BookInfo</a:t>
            </a:r>
            <a:r>
              <a:rPr lang="en-US" altLang="zh-CN" sz="2000" dirty="0"/>
              <a:t> AS</a:t>
            </a:r>
            <a:endParaRPr lang="zh-CN" altLang="zh-CN" sz="2000" dirty="0"/>
          </a:p>
          <a:p>
            <a:pPr marL="360363" indent="0">
              <a:buNone/>
            </a:pPr>
            <a:r>
              <a:rPr lang="en-US" altLang="zh-CN" sz="2000" dirty="0"/>
              <a:t>    SELECT </a:t>
            </a:r>
            <a:r>
              <a:rPr lang="en-US" altLang="zh-CN" sz="2000" dirty="0" err="1"/>
              <a:t>Book.BNo,BName,Author,EditNo,Price,PPrice,SPrice</a:t>
            </a:r>
            <a:r>
              <a:rPr lang="en-US" altLang="zh-CN" sz="2000" dirty="0"/>
              <a:t>,</a:t>
            </a:r>
            <a:endParaRPr lang="zh-CN" altLang="zh-CN" sz="2000" dirty="0"/>
          </a:p>
          <a:p>
            <a:pPr marL="360363" indent="0">
              <a:buNone/>
            </a:pPr>
            <a:r>
              <a:rPr lang="en-US" altLang="zh-CN" sz="2000" dirty="0"/>
              <a:t>        </a:t>
            </a:r>
            <a:r>
              <a:rPr lang="en-US" altLang="zh-CN" sz="2000" dirty="0" smtClean="0"/>
              <a:t>         </a:t>
            </a:r>
            <a:r>
              <a:rPr lang="en-US" altLang="zh-CN" sz="2000" dirty="0" err="1" smtClean="0"/>
              <a:t>Press.PNo,PName,Cust.CNo,CName,PDate</a:t>
            </a:r>
            <a:r>
              <a:rPr lang="en-US" altLang="zh-CN" sz="2000" dirty="0" smtClean="0"/>
              <a:t> </a:t>
            </a:r>
            <a:endParaRPr lang="zh-CN" altLang="zh-CN" sz="2000" dirty="0"/>
          </a:p>
          <a:p>
            <a:pPr marL="360363" indent="0">
              <a:buNone/>
            </a:pPr>
            <a:r>
              <a:rPr lang="en-US" altLang="zh-CN" sz="2000" dirty="0"/>
              <a:t>    FROM </a:t>
            </a:r>
            <a:r>
              <a:rPr lang="en-US" altLang="zh-CN" sz="2000" dirty="0" err="1"/>
              <a:t>Press,Book,Cust,Buy</a:t>
            </a:r>
            <a:endParaRPr lang="zh-CN" altLang="zh-CN" sz="2000" dirty="0"/>
          </a:p>
          <a:p>
            <a:pPr marL="1708150" indent="-1347788">
              <a:buNone/>
            </a:pPr>
            <a:r>
              <a:rPr lang="en-US" altLang="zh-CN" sz="2000" dirty="0"/>
              <a:t>    WHERE </a:t>
            </a:r>
            <a:r>
              <a:rPr lang="en-US" altLang="zh-CN" sz="2000" dirty="0" err="1"/>
              <a:t>Press.PNo</a:t>
            </a:r>
            <a:r>
              <a:rPr lang="en-US" altLang="zh-CN" sz="2000" dirty="0"/>
              <a:t>=</a:t>
            </a:r>
            <a:r>
              <a:rPr lang="en-US" altLang="zh-CN" sz="2000" dirty="0" err="1"/>
              <a:t>Book.PNo</a:t>
            </a:r>
            <a:r>
              <a:rPr lang="en-US" altLang="zh-CN" sz="2000" dirty="0"/>
              <a:t> AND </a:t>
            </a:r>
            <a:r>
              <a:rPr lang="en-US" altLang="zh-CN" sz="2000" dirty="0" err="1"/>
              <a:t>Book.BNo</a:t>
            </a:r>
            <a:r>
              <a:rPr lang="en-US" altLang="zh-CN" sz="2000" dirty="0"/>
              <a:t>=</a:t>
            </a:r>
            <a:r>
              <a:rPr lang="en-US" altLang="zh-CN" sz="2000" dirty="0" err="1"/>
              <a:t>Buy.BNo</a:t>
            </a:r>
            <a:r>
              <a:rPr lang="en-US" altLang="zh-CN" sz="2000" dirty="0"/>
              <a:t> AND </a:t>
            </a:r>
            <a:r>
              <a:rPr lang="en-US" altLang="zh-CN" sz="2000" dirty="0" err="1"/>
              <a:t>Cust.CNo</a:t>
            </a:r>
            <a:r>
              <a:rPr lang="en-US" altLang="zh-CN" sz="2000" dirty="0"/>
              <a:t>=</a:t>
            </a:r>
            <a:r>
              <a:rPr lang="en-US" altLang="zh-CN" sz="2000" dirty="0" err="1"/>
              <a:t>Buy.CNo</a:t>
            </a:r>
            <a:endParaRPr lang="zh-CN" altLang="zh-CN" sz="2000" dirty="0"/>
          </a:p>
          <a:p>
            <a:r>
              <a:rPr lang="zh-CN" altLang="zh-CN" sz="2000" dirty="0">
                <a:solidFill>
                  <a:srgbClr val="0000FF"/>
                </a:solidFill>
              </a:rPr>
              <a:t>思考：</a:t>
            </a:r>
            <a:r>
              <a:rPr lang="zh-CN" altLang="zh-CN" sz="2000" dirty="0"/>
              <a:t>创建图书“</a:t>
            </a:r>
            <a:r>
              <a:rPr lang="en-US" altLang="zh-CN" sz="2000" dirty="0"/>
              <a:t>Access</a:t>
            </a:r>
            <a:r>
              <a:rPr lang="zh-CN" altLang="zh-CN" sz="2000" dirty="0"/>
              <a:t>数据库应用”的销售信息视图。</a:t>
            </a:r>
          </a:p>
        </p:txBody>
      </p:sp>
    </p:spTree>
    <p:extLst>
      <p:ext uri="{BB962C8B-B14F-4D97-AF65-F5344CB8AC3E}">
        <p14:creationId xmlns:p14="http://schemas.microsoft.com/office/powerpoint/2010/main" val="88649728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37</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marL="0" indent="0">
              <a:buNone/>
            </a:pPr>
            <a:r>
              <a:rPr lang="zh-CN" altLang="zh-CN" sz="2000" dirty="0" smtClean="0">
                <a:solidFill>
                  <a:srgbClr val="0000FF"/>
                </a:solidFill>
              </a:rPr>
              <a:t>（</a:t>
            </a:r>
            <a:r>
              <a:rPr lang="en-US" altLang="zh-CN" sz="2000" dirty="0">
                <a:solidFill>
                  <a:srgbClr val="0000FF"/>
                </a:solidFill>
              </a:rPr>
              <a:t>c</a:t>
            </a:r>
            <a:r>
              <a:rPr lang="zh-CN" altLang="zh-CN" sz="2000" dirty="0">
                <a:solidFill>
                  <a:srgbClr val="0000FF"/>
                </a:solidFill>
              </a:rPr>
              <a:t>）建立每位客户的购买</a:t>
            </a:r>
            <a:r>
              <a:rPr lang="zh-CN" altLang="zh-CN" sz="2000" dirty="0" smtClean="0">
                <a:solidFill>
                  <a:srgbClr val="0000FF"/>
                </a:solidFill>
              </a:rPr>
              <a:t>信息</a:t>
            </a:r>
            <a:endParaRPr lang="en-US" altLang="zh-CN" sz="2000" dirty="0" smtClean="0">
              <a:solidFill>
                <a:srgbClr val="0000FF"/>
              </a:solidFill>
            </a:endParaRPr>
          </a:p>
          <a:p>
            <a:pPr marL="0" indent="0">
              <a:buNone/>
            </a:pPr>
            <a:r>
              <a:rPr lang="zh-CN" altLang="en-US" sz="2000" dirty="0" smtClean="0"/>
              <a:t>        </a:t>
            </a:r>
            <a:r>
              <a:rPr lang="en-US" altLang="zh-CN" sz="2000" dirty="0" err="1" smtClean="0"/>
              <a:t>CustInfo</a:t>
            </a:r>
            <a:r>
              <a:rPr lang="zh-CN" altLang="zh-CN" sz="2000" dirty="0"/>
              <a:t>（</a:t>
            </a:r>
            <a:r>
              <a:rPr lang="en-US" altLang="zh-CN" sz="2000" dirty="0" err="1"/>
              <a:t>CNo,CName,CSex,Birth,Cust.Phone</a:t>
            </a:r>
            <a:r>
              <a:rPr lang="en-US" altLang="zh-CN" sz="2000" dirty="0"/>
              <a:t>,</a:t>
            </a:r>
            <a:endParaRPr lang="zh-CN" altLang="zh-CN" sz="2000" dirty="0"/>
          </a:p>
          <a:p>
            <a:pPr marL="0" indent="0">
              <a:buNone/>
            </a:pPr>
            <a:r>
              <a:rPr lang="en-US" altLang="zh-CN" sz="2000" dirty="0" smtClean="0"/>
              <a:t>                </a:t>
            </a:r>
            <a:r>
              <a:rPr lang="en-US" altLang="zh-CN" sz="2000" dirty="0" err="1" smtClean="0"/>
              <a:t>Marry,Photo,Cust.Email,PNo,PName,BNo,BName,PDate</a:t>
            </a:r>
            <a:r>
              <a:rPr lang="zh-CN" altLang="zh-CN" sz="2000" dirty="0" smtClean="0"/>
              <a:t>）</a:t>
            </a:r>
            <a:endParaRPr lang="en-US" altLang="zh-CN" sz="2000" dirty="0" smtClean="0"/>
          </a:p>
          <a:p>
            <a:pPr marL="541338" indent="0">
              <a:buNone/>
            </a:pPr>
            <a:r>
              <a:rPr lang="zh-CN" altLang="zh-CN" sz="2000" dirty="0" smtClean="0"/>
              <a:t>并</a:t>
            </a:r>
            <a:r>
              <a:rPr lang="zh-CN" altLang="zh-CN" sz="2000" dirty="0"/>
              <a:t>要求在进行修插入、修改和删除操作时，只涉及数学系的学生。</a:t>
            </a:r>
          </a:p>
          <a:p>
            <a:pPr marL="0" indent="0">
              <a:buNone/>
            </a:pPr>
            <a:r>
              <a:rPr lang="en-US" altLang="zh-CN" sz="2000" dirty="0" smtClean="0"/>
              <a:t>  CREATE </a:t>
            </a:r>
            <a:r>
              <a:rPr lang="en-US" altLang="zh-CN" sz="2000" dirty="0"/>
              <a:t>VIEW </a:t>
            </a:r>
            <a:r>
              <a:rPr lang="en-US" altLang="zh-CN" sz="2000" dirty="0" err="1"/>
              <a:t>CustInfo</a:t>
            </a:r>
            <a:r>
              <a:rPr lang="en-US" altLang="zh-CN" sz="2000" dirty="0"/>
              <a:t> AS</a:t>
            </a:r>
            <a:endParaRPr lang="zh-CN" altLang="zh-CN" sz="2000" dirty="0"/>
          </a:p>
          <a:p>
            <a:pPr marL="0" indent="0">
              <a:buNone/>
            </a:pPr>
            <a:r>
              <a:rPr lang="en-US" altLang="zh-CN" sz="2000" dirty="0"/>
              <a:t>    </a:t>
            </a:r>
            <a:r>
              <a:rPr lang="en-US" altLang="zh-CN" sz="2000" dirty="0" smtClean="0"/>
              <a:t>  SELECT </a:t>
            </a:r>
            <a:r>
              <a:rPr lang="en-US" altLang="zh-CN" sz="1800" dirty="0" err="1"/>
              <a:t>Cust.CNo,CName,CSex,Birth,Cust.Phone,Marry,Photo,Cust.Email</a:t>
            </a:r>
            <a:r>
              <a:rPr lang="en-US" altLang="zh-CN" sz="1800" dirty="0"/>
              <a:t>,</a:t>
            </a:r>
            <a:endParaRPr lang="zh-CN" altLang="zh-CN" sz="1800" dirty="0"/>
          </a:p>
          <a:p>
            <a:pPr marL="0" indent="0">
              <a:buNone/>
            </a:pPr>
            <a:r>
              <a:rPr lang="en-US" altLang="zh-CN" sz="1800" dirty="0"/>
              <a:t>        </a:t>
            </a:r>
            <a:r>
              <a:rPr lang="en-US" altLang="zh-CN" sz="1800" dirty="0" smtClean="0"/>
              <a:t>             </a:t>
            </a:r>
            <a:r>
              <a:rPr lang="en-US" altLang="zh-CN" sz="1800" dirty="0" err="1" smtClean="0"/>
              <a:t>Press.PNo,PName,Book.BNo,BName,PDate</a:t>
            </a:r>
            <a:r>
              <a:rPr lang="en-US" altLang="zh-CN" sz="1800" dirty="0" smtClean="0"/>
              <a:t> </a:t>
            </a:r>
            <a:endParaRPr lang="zh-CN" altLang="zh-CN" sz="1800" dirty="0"/>
          </a:p>
          <a:p>
            <a:pPr marL="0" indent="0">
              <a:buNone/>
            </a:pPr>
            <a:r>
              <a:rPr lang="en-US" altLang="zh-CN" sz="2000" dirty="0"/>
              <a:t>    </a:t>
            </a:r>
            <a:r>
              <a:rPr lang="en-US" altLang="zh-CN" sz="2000" dirty="0" smtClean="0"/>
              <a:t>  FROM </a:t>
            </a:r>
            <a:r>
              <a:rPr lang="en-US" altLang="zh-CN" sz="2000" dirty="0" err="1"/>
              <a:t>Press,Book,Cust,Buy</a:t>
            </a:r>
            <a:endParaRPr lang="zh-CN" altLang="zh-CN" sz="2000" dirty="0"/>
          </a:p>
          <a:p>
            <a:pPr marL="0" indent="0">
              <a:buNone/>
            </a:pPr>
            <a:r>
              <a:rPr lang="en-US" altLang="zh-CN" sz="2000" dirty="0"/>
              <a:t>    </a:t>
            </a:r>
            <a:r>
              <a:rPr lang="en-US" altLang="zh-CN" sz="2000" dirty="0" smtClean="0"/>
              <a:t>   WHERE </a:t>
            </a:r>
            <a:r>
              <a:rPr lang="en-US" altLang="zh-CN" sz="2000" dirty="0" err="1"/>
              <a:t>Press.PNo</a:t>
            </a:r>
            <a:r>
              <a:rPr lang="en-US" altLang="zh-CN" sz="2000" dirty="0"/>
              <a:t>=</a:t>
            </a:r>
            <a:r>
              <a:rPr lang="en-US" altLang="zh-CN" sz="2000" dirty="0" err="1"/>
              <a:t>Book.PNo</a:t>
            </a:r>
            <a:r>
              <a:rPr lang="en-US" altLang="zh-CN" sz="2000" dirty="0"/>
              <a:t> AND </a:t>
            </a:r>
            <a:r>
              <a:rPr lang="en-US" altLang="zh-CN" sz="2000" dirty="0" err="1"/>
              <a:t>Book.BNo</a:t>
            </a:r>
            <a:r>
              <a:rPr lang="en-US" altLang="zh-CN" sz="2000" dirty="0"/>
              <a:t>=</a:t>
            </a:r>
            <a:r>
              <a:rPr lang="en-US" altLang="zh-CN" sz="2000" dirty="0" err="1"/>
              <a:t>Buy.BNo</a:t>
            </a:r>
            <a:r>
              <a:rPr lang="en-US" altLang="zh-CN" sz="2000" dirty="0"/>
              <a:t> </a:t>
            </a:r>
            <a:r>
              <a:rPr lang="en-US" altLang="zh-CN" sz="2000" dirty="0" smtClean="0"/>
              <a:t>AND</a:t>
            </a:r>
          </a:p>
          <a:p>
            <a:pPr marL="0" indent="0">
              <a:buNone/>
            </a:pPr>
            <a:r>
              <a:rPr lang="en-US" altLang="zh-CN" sz="2000" dirty="0" smtClean="0"/>
              <a:t>                 </a:t>
            </a:r>
            <a:r>
              <a:rPr lang="en-US" altLang="zh-CN" sz="2000" dirty="0" err="1" smtClean="0"/>
              <a:t>Cust.CNo</a:t>
            </a:r>
            <a:r>
              <a:rPr lang="en-US" altLang="zh-CN" sz="2000" dirty="0" smtClean="0"/>
              <a:t>=</a:t>
            </a:r>
            <a:r>
              <a:rPr lang="en-US" altLang="zh-CN" sz="2000" dirty="0" err="1" smtClean="0"/>
              <a:t>Buy.CNo</a:t>
            </a:r>
            <a:endParaRPr lang="zh-CN" altLang="zh-CN" sz="2000" dirty="0"/>
          </a:p>
          <a:p>
            <a:pPr marL="0" indent="0">
              <a:buNone/>
            </a:pPr>
            <a:r>
              <a:rPr lang="en-US" altLang="zh-CN" sz="2000" dirty="0"/>
              <a:t>    </a:t>
            </a:r>
            <a:r>
              <a:rPr lang="en-US" altLang="zh-CN" sz="2000" dirty="0" smtClean="0"/>
              <a:t>              WITH </a:t>
            </a:r>
            <a:r>
              <a:rPr lang="en-US" altLang="zh-CN" sz="2000" dirty="0"/>
              <a:t>CHECK OPTION</a:t>
            </a:r>
            <a:endParaRPr lang="zh-CN" altLang="zh-CN" sz="2000" dirty="0"/>
          </a:p>
          <a:p>
            <a:r>
              <a:rPr lang="zh-CN" altLang="zh-CN" sz="2000" dirty="0">
                <a:solidFill>
                  <a:srgbClr val="0000FF"/>
                </a:solidFill>
              </a:rPr>
              <a:t>思考：</a:t>
            </a:r>
            <a:r>
              <a:rPr lang="zh-CN" altLang="zh-CN" sz="2000" dirty="0"/>
              <a:t>创建客户“李丽”的购买信息视图。</a:t>
            </a:r>
          </a:p>
        </p:txBody>
      </p:sp>
    </p:spTree>
    <p:extLst>
      <p:ext uri="{BB962C8B-B14F-4D97-AF65-F5344CB8AC3E}">
        <p14:creationId xmlns:p14="http://schemas.microsoft.com/office/powerpoint/2010/main" val="39449494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38</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marL="0" indent="0">
              <a:buNone/>
            </a:pPr>
            <a:r>
              <a:rPr lang="zh-CN" altLang="zh-CN" sz="2000" dirty="0">
                <a:solidFill>
                  <a:srgbClr val="0000FF"/>
                </a:solidFill>
              </a:rPr>
              <a:t>（</a:t>
            </a:r>
            <a:r>
              <a:rPr lang="en-US" altLang="zh-CN" sz="2000" dirty="0">
                <a:solidFill>
                  <a:srgbClr val="0000FF"/>
                </a:solidFill>
              </a:rPr>
              <a:t>d</a:t>
            </a:r>
            <a:r>
              <a:rPr lang="zh-CN" altLang="zh-CN" sz="2000" dirty="0">
                <a:solidFill>
                  <a:srgbClr val="0000FF"/>
                </a:solidFill>
              </a:rPr>
              <a:t>）统计每位客户购买图书的户号、户名、本数、最低售价、最高售价、平均售价和购书总额的视图。即：</a:t>
            </a:r>
          </a:p>
          <a:p>
            <a:pPr marL="0" indent="0" algn="ctr">
              <a:lnSpc>
                <a:spcPts val="3300"/>
              </a:lnSpc>
              <a:buNone/>
            </a:pPr>
            <a:r>
              <a:rPr lang="en-US" altLang="zh-CN" sz="1800" dirty="0" err="1"/>
              <a:t>CustStatisBuy</a:t>
            </a:r>
            <a:r>
              <a:rPr lang="en-US" altLang="zh-CN" sz="1800" dirty="0"/>
              <a:t>(</a:t>
            </a:r>
            <a:r>
              <a:rPr lang="en-US" altLang="zh-CN" sz="1800" dirty="0" err="1"/>
              <a:t>CNo,CName,Number,MaxPrice,MinPrice,AvgPrice,SumPrice</a:t>
            </a:r>
            <a:r>
              <a:rPr lang="en-US" altLang="zh-CN" sz="1800" dirty="0"/>
              <a:t>)</a:t>
            </a:r>
            <a:endParaRPr lang="zh-CN" altLang="zh-CN" sz="1800" dirty="0"/>
          </a:p>
          <a:p>
            <a:pPr marL="0" indent="0">
              <a:lnSpc>
                <a:spcPts val="3300"/>
              </a:lnSpc>
              <a:buNone/>
            </a:pPr>
            <a:r>
              <a:rPr lang="en-US" altLang="zh-CN" sz="2000" dirty="0"/>
              <a:t>CREATE </a:t>
            </a:r>
            <a:r>
              <a:rPr lang="en-US" altLang="zh-CN" sz="2000" dirty="0" smtClean="0"/>
              <a:t>VIEW</a:t>
            </a:r>
          </a:p>
          <a:p>
            <a:pPr marL="0" indent="0">
              <a:lnSpc>
                <a:spcPts val="3300"/>
              </a:lnSpc>
              <a:buNone/>
            </a:pPr>
            <a:r>
              <a:rPr lang="en-US" altLang="zh-CN" sz="2000" dirty="0" smtClean="0"/>
              <a:t>   </a:t>
            </a:r>
            <a:r>
              <a:rPr lang="en-US" altLang="zh-CN" sz="2000" dirty="0" err="1" smtClean="0"/>
              <a:t>CustStatisBuy</a:t>
            </a:r>
            <a:r>
              <a:rPr lang="en-US" altLang="zh-CN" sz="2000" dirty="0" smtClean="0"/>
              <a:t>(</a:t>
            </a:r>
            <a:r>
              <a:rPr lang="en-US" altLang="zh-CN" sz="1800" dirty="0" err="1" smtClean="0"/>
              <a:t>CNo,CName,Number,MaxPrice,MinPrice,AvgPrice,SumPrice</a:t>
            </a:r>
            <a:r>
              <a:rPr lang="en-US" altLang="zh-CN" sz="2000" dirty="0"/>
              <a:t>)</a:t>
            </a:r>
            <a:endParaRPr lang="zh-CN" altLang="zh-CN" sz="2000" dirty="0"/>
          </a:p>
          <a:p>
            <a:pPr marL="0" indent="0">
              <a:lnSpc>
                <a:spcPts val="3300"/>
              </a:lnSpc>
              <a:buNone/>
            </a:pPr>
            <a:r>
              <a:rPr lang="en-US" altLang="zh-CN" sz="2000" dirty="0"/>
              <a:t>    </a:t>
            </a:r>
            <a:r>
              <a:rPr lang="en-US" altLang="zh-CN" sz="2000" dirty="0" smtClean="0"/>
              <a:t>AS </a:t>
            </a:r>
          </a:p>
          <a:p>
            <a:pPr marL="0" indent="0">
              <a:lnSpc>
                <a:spcPts val="3300"/>
              </a:lnSpc>
              <a:buNone/>
            </a:pPr>
            <a:r>
              <a:rPr lang="en-US" altLang="zh-CN" sz="2000" dirty="0" smtClean="0"/>
              <a:t>   </a:t>
            </a:r>
            <a:r>
              <a:rPr lang="en-US" altLang="zh-CN" sz="2000" dirty="0"/>
              <a:t>SELECT </a:t>
            </a:r>
            <a:r>
              <a:rPr lang="en-US" altLang="zh-CN" sz="2000" dirty="0" err="1"/>
              <a:t>Cust.CNo,CName,COUNT</a:t>
            </a:r>
            <a:r>
              <a:rPr lang="en-US" altLang="zh-CN" sz="2000" dirty="0"/>
              <a:t>(*),</a:t>
            </a:r>
            <a:endParaRPr lang="zh-CN" altLang="zh-CN" sz="2000" dirty="0"/>
          </a:p>
          <a:p>
            <a:pPr marL="0" indent="0">
              <a:lnSpc>
                <a:spcPts val="3300"/>
              </a:lnSpc>
              <a:buNone/>
            </a:pPr>
            <a:r>
              <a:rPr lang="en-US" altLang="zh-CN" sz="2000" dirty="0" smtClean="0"/>
              <a:t>                MAX(</a:t>
            </a:r>
            <a:r>
              <a:rPr lang="en-US" altLang="zh-CN" sz="2000" dirty="0" err="1" smtClean="0"/>
              <a:t>SPrice</a:t>
            </a:r>
            <a:r>
              <a:rPr lang="en-US" altLang="zh-CN" sz="2000" dirty="0"/>
              <a:t>),MIN(</a:t>
            </a:r>
            <a:r>
              <a:rPr lang="en-US" altLang="zh-CN" sz="2000" dirty="0" err="1"/>
              <a:t>SPrice</a:t>
            </a:r>
            <a:r>
              <a:rPr lang="en-US" altLang="zh-CN" sz="2000" dirty="0"/>
              <a:t>),AVG(</a:t>
            </a:r>
            <a:r>
              <a:rPr lang="en-US" altLang="zh-CN" sz="2000" dirty="0" err="1"/>
              <a:t>SPrice</a:t>
            </a:r>
            <a:r>
              <a:rPr lang="en-US" altLang="zh-CN" sz="2000" dirty="0"/>
              <a:t>),SUM(</a:t>
            </a:r>
            <a:r>
              <a:rPr lang="en-US" altLang="zh-CN" sz="2000" dirty="0" err="1"/>
              <a:t>SPrice</a:t>
            </a:r>
            <a:r>
              <a:rPr lang="en-US" altLang="zh-CN" sz="2000" dirty="0"/>
              <a:t>)</a:t>
            </a:r>
            <a:endParaRPr lang="zh-CN" altLang="zh-CN" sz="2000" dirty="0"/>
          </a:p>
          <a:p>
            <a:pPr marL="0" indent="0">
              <a:lnSpc>
                <a:spcPts val="3300"/>
              </a:lnSpc>
              <a:buNone/>
            </a:pPr>
            <a:r>
              <a:rPr lang="en-US" altLang="zh-CN" sz="2000" dirty="0"/>
              <a:t>   </a:t>
            </a:r>
            <a:r>
              <a:rPr lang="en-US" altLang="zh-CN" sz="2000" dirty="0" smtClean="0"/>
              <a:t> FROM </a:t>
            </a:r>
            <a:r>
              <a:rPr lang="en-US" altLang="zh-CN" sz="2000" dirty="0" err="1"/>
              <a:t>Cust,Buy,Book</a:t>
            </a:r>
            <a:endParaRPr lang="zh-CN" altLang="zh-CN" sz="2000" dirty="0"/>
          </a:p>
          <a:p>
            <a:pPr marL="0" indent="0">
              <a:lnSpc>
                <a:spcPts val="3300"/>
              </a:lnSpc>
              <a:buNone/>
            </a:pPr>
            <a:r>
              <a:rPr lang="en-US" altLang="zh-CN" sz="2000" dirty="0"/>
              <a:t>    WHERE </a:t>
            </a:r>
            <a:r>
              <a:rPr lang="en-US" altLang="zh-CN" sz="2000" dirty="0" err="1"/>
              <a:t>Cust.CNo</a:t>
            </a:r>
            <a:r>
              <a:rPr lang="en-US" altLang="zh-CN" sz="2000" dirty="0"/>
              <a:t>=</a:t>
            </a:r>
            <a:r>
              <a:rPr lang="en-US" altLang="zh-CN" sz="2000" dirty="0" err="1"/>
              <a:t>Buy.CNo</a:t>
            </a:r>
            <a:r>
              <a:rPr lang="en-US" altLang="zh-CN" sz="2000" dirty="0"/>
              <a:t> AND </a:t>
            </a:r>
            <a:r>
              <a:rPr lang="en-US" altLang="zh-CN" sz="2000" dirty="0" err="1"/>
              <a:t>Book.BNo</a:t>
            </a:r>
            <a:r>
              <a:rPr lang="en-US" altLang="zh-CN" sz="2000" dirty="0"/>
              <a:t>=</a:t>
            </a:r>
            <a:r>
              <a:rPr lang="en-US" altLang="zh-CN" sz="2000" dirty="0" err="1"/>
              <a:t>Buy.BNo</a:t>
            </a:r>
            <a:endParaRPr lang="zh-CN" altLang="zh-CN" sz="2000" dirty="0"/>
          </a:p>
          <a:p>
            <a:pPr marL="0" indent="0">
              <a:lnSpc>
                <a:spcPts val="3300"/>
              </a:lnSpc>
              <a:buNone/>
            </a:pPr>
            <a:r>
              <a:rPr lang="en-US" altLang="zh-CN" sz="2000" dirty="0"/>
              <a:t>    </a:t>
            </a:r>
            <a:r>
              <a:rPr lang="en-US" altLang="zh-CN" sz="2000" dirty="0" smtClean="0"/>
              <a:t>             GROUP </a:t>
            </a:r>
            <a:r>
              <a:rPr lang="en-US" altLang="zh-CN" sz="2000" dirty="0"/>
              <a:t>BY </a:t>
            </a:r>
            <a:r>
              <a:rPr lang="en-US" altLang="zh-CN" sz="2000" dirty="0" err="1"/>
              <a:t>Cust.CNo,CName</a:t>
            </a:r>
            <a:endParaRPr lang="zh-CN" altLang="zh-CN" sz="2000" dirty="0"/>
          </a:p>
          <a:p>
            <a:r>
              <a:rPr lang="zh-CN" altLang="zh-CN" sz="2000" dirty="0">
                <a:solidFill>
                  <a:srgbClr val="0000FF"/>
                </a:solidFill>
              </a:rPr>
              <a:t>思考：</a:t>
            </a:r>
            <a:r>
              <a:rPr lang="zh-CN" altLang="zh-CN" sz="2000" dirty="0"/>
              <a:t>举例说明</a:t>
            </a:r>
            <a:r>
              <a:rPr lang="en-US" altLang="zh-CN" sz="2000" dirty="0"/>
              <a:t>ALTER VIEW</a:t>
            </a:r>
            <a:r>
              <a:rPr lang="zh-CN" altLang="zh-CN" sz="2000" dirty="0"/>
              <a:t>的用法。</a:t>
            </a:r>
          </a:p>
        </p:txBody>
      </p:sp>
    </p:spTree>
    <p:extLst>
      <p:ext uri="{BB962C8B-B14F-4D97-AF65-F5344CB8AC3E}">
        <p14:creationId xmlns:p14="http://schemas.microsoft.com/office/powerpoint/2010/main" val="234097004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39</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marL="0" indent="0">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）删除视图：</a:t>
            </a:r>
            <a:r>
              <a:rPr lang="zh-CN" altLang="zh-CN" sz="2000" dirty="0"/>
              <a:t>可以使用</a:t>
            </a:r>
            <a:r>
              <a:rPr lang="en-US" altLang="zh-CN" sz="2000" dirty="0"/>
              <a:t>DROP VIEW</a:t>
            </a:r>
            <a:r>
              <a:rPr lang="zh-CN" altLang="zh-CN" sz="2000" dirty="0"/>
              <a:t>实现。</a:t>
            </a:r>
          </a:p>
          <a:p>
            <a:pPr marL="625475" indent="0">
              <a:buNone/>
            </a:pPr>
            <a:r>
              <a:rPr lang="en-US" altLang="zh-CN" sz="2000" dirty="0"/>
              <a:t>DROP VIEW &lt;</a:t>
            </a:r>
            <a:r>
              <a:rPr lang="zh-CN" altLang="zh-CN" sz="2000" dirty="0"/>
              <a:t>视图</a:t>
            </a:r>
            <a:r>
              <a:rPr lang="en-US" altLang="zh-CN" sz="2000" dirty="0"/>
              <a:t>&gt; [</a:t>
            </a:r>
            <a:r>
              <a:rPr lang="zh-CN" altLang="zh-CN" sz="2000" dirty="0"/>
              <a:t>，</a:t>
            </a:r>
            <a:r>
              <a:rPr lang="en-US" altLang="zh-CN" sz="2000" dirty="0"/>
              <a:t>&lt;</a:t>
            </a:r>
            <a:r>
              <a:rPr lang="zh-CN" altLang="zh-CN" sz="2000" dirty="0"/>
              <a:t>视图</a:t>
            </a:r>
            <a:r>
              <a:rPr lang="en-US" altLang="zh-CN" sz="2000" dirty="0"/>
              <a:t>&gt;… ]</a:t>
            </a:r>
            <a:endParaRPr lang="zh-CN" altLang="zh-CN" sz="2000" dirty="0"/>
          </a:p>
          <a:p>
            <a:pPr marL="625475" indent="0">
              <a:buNone/>
            </a:pPr>
            <a:r>
              <a:rPr lang="zh-CN" altLang="zh-CN" sz="2000" dirty="0">
                <a:solidFill>
                  <a:srgbClr val="0000FF"/>
                </a:solidFill>
              </a:rPr>
              <a:t>例如：</a:t>
            </a:r>
            <a:r>
              <a:rPr lang="zh-CN" altLang="zh-CN" sz="2000" dirty="0"/>
              <a:t>删除视图</a:t>
            </a:r>
            <a:r>
              <a:rPr lang="en-US" altLang="zh-CN" sz="2000" dirty="0" err="1"/>
              <a:t>BookInfo</a:t>
            </a:r>
            <a:r>
              <a:rPr lang="zh-CN" altLang="zh-CN" sz="2000" dirty="0"/>
              <a:t>和</a:t>
            </a:r>
            <a:r>
              <a:rPr lang="en-US" altLang="zh-CN" sz="2000" dirty="0" err="1"/>
              <a:t>CustInfo</a:t>
            </a:r>
            <a:r>
              <a:rPr lang="zh-CN" altLang="zh-CN" sz="2000" dirty="0"/>
              <a:t>。</a:t>
            </a:r>
          </a:p>
          <a:p>
            <a:pPr marL="625475" indent="0">
              <a:buNone/>
            </a:pPr>
            <a:r>
              <a:rPr lang="en-US" altLang="zh-CN" sz="2000" dirty="0"/>
              <a:t>DROP VIEW </a:t>
            </a:r>
            <a:r>
              <a:rPr lang="en-US" altLang="zh-CN" sz="2000" dirty="0" err="1"/>
              <a:t>BookInfo,CustInfo</a:t>
            </a:r>
            <a:endParaRPr lang="zh-CN" altLang="zh-CN" sz="2000" dirty="0"/>
          </a:p>
          <a:p>
            <a:pPr marL="0" indent="0">
              <a:buNone/>
            </a:pPr>
            <a:r>
              <a:rPr lang="zh-CN" altLang="zh-CN" sz="2000" dirty="0">
                <a:solidFill>
                  <a:srgbClr val="0000FF"/>
                </a:solidFill>
              </a:rPr>
              <a:t>（</a:t>
            </a:r>
            <a:r>
              <a:rPr lang="en-US" altLang="zh-CN" sz="2000" dirty="0">
                <a:solidFill>
                  <a:srgbClr val="0000FF"/>
                </a:solidFill>
              </a:rPr>
              <a:t>3</a:t>
            </a:r>
            <a:r>
              <a:rPr lang="zh-CN" altLang="zh-CN" sz="2000" dirty="0">
                <a:solidFill>
                  <a:srgbClr val="0000FF"/>
                </a:solidFill>
              </a:rPr>
              <a:t>）查询视图</a:t>
            </a:r>
          </a:p>
          <a:p>
            <a:pPr marL="444500" indent="0">
              <a:buNone/>
            </a:pPr>
            <a:r>
              <a:rPr lang="zh-CN" altLang="zh-CN" sz="2000" dirty="0"/>
              <a:t>因为视图是“虚”表，所以完全可以使用</a:t>
            </a:r>
            <a:r>
              <a:rPr lang="en-US" altLang="zh-CN" sz="2000" dirty="0"/>
              <a:t>SELECT</a:t>
            </a:r>
            <a:r>
              <a:rPr lang="zh-CN" altLang="zh-CN" sz="2000" dirty="0"/>
              <a:t>对视图进行任意查询</a:t>
            </a:r>
            <a:r>
              <a:rPr lang="zh-CN" altLang="zh-CN" sz="2000" dirty="0" smtClean="0"/>
              <a:t>。</a:t>
            </a:r>
            <a:endParaRPr lang="zh-CN" altLang="zh-CN" sz="2000" dirty="0"/>
          </a:p>
          <a:p>
            <a:pPr marL="444500" indent="0">
              <a:buNone/>
            </a:pPr>
            <a:r>
              <a:rPr lang="zh-CN" altLang="zh-CN" sz="2000" dirty="0"/>
              <a:t>对</a:t>
            </a:r>
            <a:r>
              <a:rPr lang="zh-CN" altLang="zh-CN" sz="2000" dirty="0">
                <a:solidFill>
                  <a:srgbClr val="0000FF"/>
                </a:solidFill>
              </a:rPr>
              <a:t>视图的查询</a:t>
            </a:r>
            <a:r>
              <a:rPr lang="zh-CN" altLang="zh-CN" sz="2000" dirty="0"/>
              <a:t>与对</a:t>
            </a:r>
            <a:r>
              <a:rPr lang="zh-CN" altLang="zh-CN" sz="2000" dirty="0">
                <a:solidFill>
                  <a:srgbClr val="0000FF"/>
                </a:solidFill>
              </a:rPr>
              <a:t>表的查询</a:t>
            </a:r>
            <a:r>
              <a:rPr lang="zh-CN" altLang="zh-CN" sz="2000" dirty="0"/>
              <a:t>完全一样，且还可以对表和视图进行</a:t>
            </a:r>
            <a:r>
              <a:rPr lang="zh-CN" altLang="zh-CN" sz="2000" dirty="0">
                <a:solidFill>
                  <a:srgbClr val="0000FF"/>
                </a:solidFill>
              </a:rPr>
              <a:t>混合查询</a:t>
            </a:r>
            <a:r>
              <a:rPr lang="zh-CN" altLang="zh-CN" sz="2000" dirty="0" smtClean="0"/>
              <a:t>。</a:t>
            </a:r>
            <a:endParaRPr lang="en-US" altLang="zh-CN" sz="2000" dirty="0" smtClean="0"/>
          </a:p>
          <a:p>
            <a:r>
              <a:rPr lang="zh-CN" altLang="zh-CN" sz="2000" dirty="0">
                <a:solidFill>
                  <a:srgbClr val="0000FF"/>
                </a:solidFill>
              </a:rPr>
              <a:t>例</a:t>
            </a:r>
            <a:r>
              <a:rPr lang="en-US" altLang="zh-CN" sz="2000" dirty="0">
                <a:solidFill>
                  <a:srgbClr val="0000FF"/>
                </a:solidFill>
              </a:rPr>
              <a:t>7.7  </a:t>
            </a:r>
            <a:r>
              <a:rPr lang="zh-CN" altLang="zh-CN" sz="2000" dirty="0"/>
              <a:t>查询购买图书金额前三位的客户的姓名、性别、生日、电话和金额。</a:t>
            </a:r>
          </a:p>
          <a:p>
            <a:pPr marL="444500" indent="0">
              <a:buNone/>
            </a:pPr>
            <a:r>
              <a:rPr lang="en-US" altLang="zh-CN" sz="2000" dirty="0"/>
              <a:t>SELECT TOP 3 </a:t>
            </a:r>
            <a:r>
              <a:rPr lang="en-US" altLang="zh-CN" sz="2000" dirty="0" err="1"/>
              <a:t>X.CName,CSex,Birth,Phone,SumPrice</a:t>
            </a:r>
            <a:endParaRPr lang="zh-CN" altLang="zh-CN" sz="2000" dirty="0"/>
          </a:p>
          <a:p>
            <a:pPr marL="444500" indent="0">
              <a:buNone/>
            </a:pPr>
            <a:r>
              <a:rPr lang="en-US" altLang="zh-CN" sz="2000" dirty="0"/>
              <a:t>    FROM </a:t>
            </a:r>
            <a:r>
              <a:rPr lang="en-US" altLang="zh-CN" sz="2000" dirty="0" err="1"/>
              <a:t>Cust</a:t>
            </a:r>
            <a:r>
              <a:rPr lang="en-US" altLang="zh-CN" sz="2000" dirty="0"/>
              <a:t> X, </a:t>
            </a:r>
            <a:r>
              <a:rPr lang="en-US" altLang="zh-CN" sz="2000" dirty="0" err="1">
                <a:solidFill>
                  <a:srgbClr val="0000FF"/>
                </a:solidFill>
              </a:rPr>
              <a:t>CustStatisBuy</a:t>
            </a:r>
            <a:r>
              <a:rPr lang="en-US" altLang="zh-CN" sz="2000" dirty="0">
                <a:solidFill>
                  <a:srgbClr val="0000FF"/>
                </a:solidFill>
              </a:rPr>
              <a:t> </a:t>
            </a:r>
            <a:r>
              <a:rPr lang="en-US" altLang="zh-CN" sz="2000" dirty="0"/>
              <a:t>Y</a:t>
            </a:r>
            <a:endParaRPr lang="zh-CN" altLang="zh-CN" sz="2000" dirty="0"/>
          </a:p>
          <a:p>
            <a:pPr marL="444500" indent="0">
              <a:buNone/>
            </a:pPr>
            <a:r>
              <a:rPr lang="en-US" altLang="zh-CN" sz="2000" dirty="0"/>
              <a:t>    WHERE </a:t>
            </a:r>
            <a:r>
              <a:rPr lang="en-US" altLang="zh-CN" sz="2000" dirty="0" err="1"/>
              <a:t>X.CNo</a:t>
            </a:r>
            <a:r>
              <a:rPr lang="en-US" altLang="zh-CN" sz="2000" dirty="0"/>
              <a:t>=</a:t>
            </a:r>
            <a:r>
              <a:rPr lang="en-US" altLang="zh-CN" sz="2000" dirty="0" err="1"/>
              <a:t>Y.CNo</a:t>
            </a:r>
            <a:endParaRPr lang="zh-CN" altLang="zh-CN" sz="2000" dirty="0"/>
          </a:p>
          <a:p>
            <a:pPr marL="444500" indent="0">
              <a:buNone/>
            </a:pPr>
            <a:r>
              <a:rPr lang="en-US" altLang="zh-CN" sz="2000" dirty="0"/>
              <a:t>    ORDER BY </a:t>
            </a:r>
            <a:r>
              <a:rPr lang="en-US" altLang="zh-CN" sz="2000" dirty="0" err="1"/>
              <a:t>SumPrice</a:t>
            </a:r>
            <a:r>
              <a:rPr lang="en-US" altLang="zh-CN" sz="2000" dirty="0"/>
              <a:t> DESC</a:t>
            </a:r>
            <a:endParaRPr lang="zh-CN" altLang="zh-CN" sz="2000" dirty="0"/>
          </a:p>
          <a:p>
            <a:pPr marL="444500" indent="0">
              <a:buNone/>
            </a:pPr>
            <a:endParaRPr lang="zh-CN" altLang="zh-CN" sz="2000" dirty="0"/>
          </a:p>
          <a:p>
            <a:pPr marL="0" indent="0">
              <a:buNone/>
            </a:pPr>
            <a:endParaRPr lang="zh-CN" altLang="zh-CN" sz="2000" dirty="0"/>
          </a:p>
        </p:txBody>
      </p:sp>
    </p:spTree>
    <p:extLst>
      <p:ext uri="{BB962C8B-B14F-4D97-AF65-F5344CB8AC3E}">
        <p14:creationId xmlns:p14="http://schemas.microsoft.com/office/powerpoint/2010/main" val="114437240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40</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a:t>
            </a:r>
            <a:r>
              <a:rPr lang="en-US" altLang="zh-CN" sz="2000" dirty="0">
                <a:solidFill>
                  <a:srgbClr val="0000FF"/>
                </a:solidFill>
              </a:rPr>
              <a:t>4</a:t>
            </a:r>
            <a:r>
              <a:rPr lang="zh-CN" altLang="zh-CN" sz="2000" dirty="0">
                <a:solidFill>
                  <a:srgbClr val="0000FF"/>
                </a:solidFill>
              </a:rPr>
              <a:t>）更新视图</a:t>
            </a:r>
          </a:p>
          <a:p>
            <a:r>
              <a:rPr lang="zh-CN" altLang="zh-CN" sz="2000" dirty="0"/>
              <a:t>更新视图是指通过视图更新表的数据。对用户来说，相当于更新了视图（其实不然）。</a:t>
            </a:r>
          </a:p>
          <a:p>
            <a:r>
              <a:rPr lang="zh-CN" altLang="zh-CN" sz="2000" dirty="0"/>
              <a:t>根据视图与表的关系，对视图的更新，最终需要转换为对表的更新，而且这种转换有时是不可逆的，所以并非所有视图都可以更新。</a:t>
            </a:r>
            <a:r>
              <a:rPr lang="zh-CN" altLang="zh-CN" sz="2000" dirty="0">
                <a:solidFill>
                  <a:srgbClr val="0000FF"/>
                </a:solidFill>
              </a:rPr>
              <a:t>更新视图的条件</a:t>
            </a:r>
            <a:r>
              <a:rPr lang="zh-CN" altLang="zh-CN" sz="2000" dirty="0"/>
              <a:t>如下：</a:t>
            </a:r>
          </a:p>
          <a:p>
            <a:pPr marL="360363" indent="-360363">
              <a:buNone/>
            </a:pPr>
            <a:r>
              <a:rPr lang="en-US" altLang="zh-CN" sz="2000" dirty="0">
                <a:solidFill>
                  <a:srgbClr val="0000FF"/>
                </a:solidFill>
              </a:rPr>
              <a:t>1</a:t>
            </a:r>
            <a:r>
              <a:rPr lang="zh-CN" altLang="zh-CN" sz="2000" dirty="0">
                <a:solidFill>
                  <a:srgbClr val="0000FF"/>
                </a:solidFill>
              </a:rPr>
              <a:t>）修改的视图属性必须直接“引用”表的属性。</a:t>
            </a:r>
            <a:r>
              <a:rPr lang="zh-CN" altLang="zh-CN" sz="2000" dirty="0"/>
              <a:t>不能是使用</a:t>
            </a:r>
            <a:r>
              <a:rPr lang="en-US" altLang="zh-CN" sz="2000" dirty="0"/>
              <a:t>AVG</a:t>
            </a:r>
            <a:r>
              <a:rPr lang="zh-CN" altLang="zh-CN" sz="2000" dirty="0"/>
              <a:t>、</a:t>
            </a:r>
            <a:r>
              <a:rPr lang="en-US" altLang="zh-CN" sz="2000" dirty="0"/>
              <a:t>COUNT</a:t>
            </a:r>
            <a:r>
              <a:rPr lang="zh-CN" altLang="zh-CN" sz="2000" dirty="0"/>
              <a:t>、</a:t>
            </a:r>
            <a:r>
              <a:rPr lang="en-US" altLang="zh-CN" sz="2000" dirty="0"/>
              <a:t>SUM</a:t>
            </a:r>
            <a:r>
              <a:rPr lang="zh-CN" altLang="zh-CN" sz="2000" dirty="0"/>
              <a:t>、</a:t>
            </a:r>
            <a:r>
              <a:rPr lang="en-US" altLang="zh-CN" sz="2000" dirty="0"/>
              <a:t>MIN</a:t>
            </a:r>
            <a:r>
              <a:rPr lang="zh-CN" altLang="zh-CN" sz="2000" dirty="0"/>
              <a:t>、</a:t>
            </a:r>
            <a:r>
              <a:rPr lang="en-US" altLang="zh-CN" sz="2000" dirty="0"/>
              <a:t>MAX</a:t>
            </a:r>
            <a:r>
              <a:rPr lang="zh-CN" altLang="zh-CN" sz="2000" dirty="0"/>
              <a:t>、</a:t>
            </a:r>
            <a:r>
              <a:rPr lang="en-US" altLang="zh-CN" sz="2000" dirty="0"/>
              <a:t>STDEV</a:t>
            </a:r>
            <a:r>
              <a:rPr lang="zh-CN" altLang="zh-CN" sz="2000" dirty="0"/>
              <a:t>、</a:t>
            </a:r>
            <a:r>
              <a:rPr lang="en-US" altLang="zh-CN" sz="2000" dirty="0"/>
              <a:t>UNION</a:t>
            </a:r>
            <a:r>
              <a:rPr lang="zh-CN" altLang="zh-CN" sz="2000" dirty="0"/>
              <a:t>、</a:t>
            </a:r>
            <a:r>
              <a:rPr lang="en-US" altLang="zh-CN" sz="2000" dirty="0"/>
              <a:t>EXCEPT</a:t>
            </a:r>
            <a:r>
              <a:rPr lang="zh-CN" altLang="zh-CN" sz="2000" dirty="0"/>
              <a:t>和</a:t>
            </a:r>
            <a:r>
              <a:rPr lang="en-US" altLang="zh-CN" sz="2000" dirty="0"/>
              <a:t>INTERSECT</a:t>
            </a:r>
            <a:r>
              <a:rPr lang="zh-CN" altLang="zh-CN" sz="2000" dirty="0"/>
              <a:t>等派生的表达式。</a:t>
            </a:r>
          </a:p>
          <a:p>
            <a:pPr marL="0" indent="0">
              <a:buNone/>
            </a:pPr>
            <a:r>
              <a:rPr lang="en-US" altLang="zh-CN" sz="2000" dirty="0">
                <a:solidFill>
                  <a:srgbClr val="0000FF"/>
                </a:solidFill>
              </a:rPr>
              <a:t>2</a:t>
            </a:r>
            <a:r>
              <a:rPr lang="zh-CN" altLang="zh-CN" sz="2000" dirty="0">
                <a:solidFill>
                  <a:srgbClr val="0000FF"/>
                </a:solidFill>
              </a:rPr>
              <a:t>）修改的视图属性不受</a:t>
            </a:r>
            <a:r>
              <a:rPr lang="en-US" altLang="zh-CN" sz="2000" dirty="0">
                <a:solidFill>
                  <a:srgbClr val="0000FF"/>
                </a:solidFill>
              </a:rPr>
              <a:t>GROUP BY</a:t>
            </a:r>
            <a:r>
              <a:rPr lang="zh-CN" altLang="zh-CN" sz="2000" dirty="0">
                <a:solidFill>
                  <a:srgbClr val="0000FF"/>
                </a:solidFill>
              </a:rPr>
              <a:t>、</a:t>
            </a:r>
            <a:r>
              <a:rPr lang="en-US" altLang="zh-CN" sz="2000" dirty="0">
                <a:solidFill>
                  <a:srgbClr val="0000FF"/>
                </a:solidFill>
              </a:rPr>
              <a:t>HAVING</a:t>
            </a:r>
            <a:r>
              <a:rPr lang="zh-CN" altLang="zh-CN" sz="2000" dirty="0">
                <a:solidFill>
                  <a:srgbClr val="0000FF"/>
                </a:solidFill>
              </a:rPr>
              <a:t>、</a:t>
            </a:r>
            <a:r>
              <a:rPr lang="en-US" altLang="zh-CN" sz="2000" dirty="0">
                <a:solidFill>
                  <a:srgbClr val="0000FF"/>
                </a:solidFill>
              </a:rPr>
              <a:t>DISTINCT</a:t>
            </a:r>
            <a:r>
              <a:rPr lang="zh-CN" altLang="zh-CN" sz="2000" dirty="0">
                <a:solidFill>
                  <a:srgbClr val="0000FF"/>
                </a:solidFill>
              </a:rPr>
              <a:t>的影响。</a:t>
            </a:r>
          </a:p>
          <a:p>
            <a:r>
              <a:rPr lang="zh-CN" altLang="zh-CN" sz="2000" dirty="0"/>
              <a:t>更新视图可以使用</a:t>
            </a:r>
            <a:r>
              <a:rPr lang="en-US" altLang="zh-CN" sz="2000" dirty="0"/>
              <a:t>INSERT</a:t>
            </a:r>
            <a:r>
              <a:rPr lang="zh-CN" altLang="zh-CN" sz="2000" dirty="0"/>
              <a:t>、</a:t>
            </a:r>
            <a:r>
              <a:rPr lang="en-US" altLang="zh-CN" sz="2000" dirty="0"/>
              <a:t>UPDATE</a:t>
            </a:r>
            <a:r>
              <a:rPr lang="zh-CN" altLang="zh-CN" sz="2000" dirty="0"/>
              <a:t>和</a:t>
            </a:r>
            <a:r>
              <a:rPr lang="en-US" altLang="zh-CN" sz="2000" dirty="0"/>
              <a:t>DELETE</a:t>
            </a:r>
            <a:r>
              <a:rPr lang="zh-CN" altLang="zh-CN" sz="2000" dirty="0"/>
              <a:t>，按照对表的更新方法</a:t>
            </a:r>
            <a:r>
              <a:rPr lang="zh-CN" altLang="zh-CN" sz="2000" dirty="0" smtClean="0"/>
              <a:t>实现</a:t>
            </a:r>
            <a:endParaRPr lang="zh-CN" altLang="zh-CN" sz="2000" dirty="0"/>
          </a:p>
        </p:txBody>
      </p:sp>
    </p:spTree>
    <p:extLst>
      <p:ext uri="{BB962C8B-B14F-4D97-AF65-F5344CB8AC3E}">
        <p14:creationId xmlns:p14="http://schemas.microsoft.com/office/powerpoint/2010/main" val="233582332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41</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例</a:t>
            </a:r>
            <a:r>
              <a:rPr lang="en-US" altLang="zh-CN" sz="2000" dirty="0">
                <a:solidFill>
                  <a:srgbClr val="0000FF"/>
                </a:solidFill>
              </a:rPr>
              <a:t>7.8  </a:t>
            </a:r>
            <a:r>
              <a:rPr lang="zh-CN" altLang="zh-CN" sz="2000" dirty="0"/>
              <a:t>利用</a:t>
            </a:r>
            <a:r>
              <a:rPr lang="en-US" altLang="zh-CN" sz="2000" dirty="0" err="1"/>
              <a:t>Cust</a:t>
            </a:r>
            <a:r>
              <a:rPr lang="zh-CN" altLang="zh-CN" sz="2000" dirty="0"/>
              <a:t>建立男客户的信息为户号、户名和生日的视图</a:t>
            </a:r>
            <a:r>
              <a:rPr lang="en-US" altLang="zh-CN" sz="2000" dirty="0" err="1"/>
              <a:t>CustMale</a:t>
            </a:r>
            <a:r>
              <a:rPr lang="zh-CN" altLang="zh-CN" sz="2000" dirty="0"/>
              <a:t>，并进行如下操作：</a:t>
            </a:r>
          </a:p>
          <a:p>
            <a:pPr marL="0" indent="0">
              <a:buNone/>
            </a:pPr>
            <a:r>
              <a:rPr lang="zh-CN" altLang="zh-CN" sz="2000" dirty="0"/>
              <a:t>（</a:t>
            </a:r>
            <a:r>
              <a:rPr lang="en-US" altLang="zh-CN" sz="2000" dirty="0"/>
              <a:t>a</a:t>
            </a:r>
            <a:r>
              <a:rPr lang="zh-CN" altLang="zh-CN" sz="2000" dirty="0"/>
              <a:t>）插入客户信息：（</a:t>
            </a:r>
            <a:r>
              <a:rPr lang="en-US" altLang="zh-CN" sz="2000" dirty="0"/>
              <a:t>C008</a:t>
            </a:r>
            <a:r>
              <a:rPr lang="zh-CN" altLang="zh-CN" sz="2000" dirty="0"/>
              <a:t>，白晶，男）和（</a:t>
            </a:r>
            <a:r>
              <a:rPr lang="en-US" altLang="zh-CN" sz="2000" dirty="0"/>
              <a:t>C009</a:t>
            </a:r>
            <a:r>
              <a:rPr lang="zh-CN" altLang="zh-CN" sz="2000" dirty="0"/>
              <a:t>，海军）。</a:t>
            </a:r>
          </a:p>
          <a:p>
            <a:pPr marL="0" indent="0">
              <a:buNone/>
            </a:pPr>
            <a:r>
              <a:rPr lang="zh-CN" altLang="zh-CN" sz="2000" dirty="0"/>
              <a:t>（</a:t>
            </a:r>
            <a:r>
              <a:rPr lang="en-US" altLang="zh-CN" sz="2000" dirty="0"/>
              <a:t>b</a:t>
            </a:r>
            <a:r>
              <a:rPr lang="zh-CN" altLang="zh-CN" sz="2000" dirty="0"/>
              <a:t>）修改户号为</a:t>
            </a:r>
            <a:r>
              <a:rPr lang="en-US" altLang="zh-CN" sz="2000" dirty="0"/>
              <a:t>C008</a:t>
            </a:r>
            <a:r>
              <a:rPr lang="zh-CN" altLang="zh-CN" sz="2000" dirty="0"/>
              <a:t>的户名为：白磊。</a:t>
            </a:r>
          </a:p>
          <a:p>
            <a:pPr marL="0" indent="0">
              <a:buNone/>
            </a:pPr>
            <a:r>
              <a:rPr lang="zh-CN" altLang="zh-CN" sz="2000" dirty="0"/>
              <a:t>（</a:t>
            </a:r>
            <a:r>
              <a:rPr lang="en-US" altLang="zh-CN" sz="2000" dirty="0"/>
              <a:t>c</a:t>
            </a:r>
            <a:r>
              <a:rPr lang="zh-CN" altLang="zh-CN" sz="2000" dirty="0"/>
              <a:t>）删除户号为</a:t>
            </a:r>
            <a:r>
              <a:rPr lang="en-US" altLang="zh-CN" sz="2000" dirty="0"/>
              <a:t>C009</a:t>
            </a:r>
            <a:r>
              <a:rPr lang="zh-CN" altLang="zh-CN" sz="2000" dirty="0"/>
              <a:t>的元组。</a:t>
            </a:r>
          </a:p>
          <a:p>
            <a:pPr marL="625475" indent="0">
              <a:buNone/>
            </a:pPr>
            <a:r>
              <a:rPr lang="en-US" altLang="zh-CN" sz="2000" dirty="0"/>
              <a:t>CREATE VIEW </a:t>
            </a:r>
            <a:r>
              <a:rPr lang="en-US" altLang="zh-CN" sz="2000" dirty="0" err="1"/>
              <a:t>CustMale</a:t>
            </a:r>
            <a:r>
              <a:rPr lang="en-US" altLang="zh-CN" sz="2000" dirty="0"/>
              <a:t> AS </a:t>
            </a:r>
            <a:endParaRPr lang="zh-CN" altLang="zh-CN" sz="2000" dirty="0"/>
          </a:p>
          <a:p>
            <a:pPr marL="625475" indent="0">
              <a:buNone/>
            </a:pPr>
            <a:r>
              <a:rPr lang="en-US" altLang="zh-CN" sz="2000" dirty="0"/>
              <a:t>    SELECT </a:t>
            </a:r>
            <a:r>
              <a:rPr lang="en-US" altLang="zh-CN" sz="2000" dirty="0" err="1"/>
              <a:t>CNo,CName,CSex</a:t>
            </a:r>
            <a:r>
              <a:rPr lang="en-US" altLang="zh-CN" sz="2000" dirty="0"/>
              <a:t>,</a:t>
            </a:r>
            <a:endParaRPr lang="zh-CN" altLang="zh-CN" sz="2000" dirty="0"/>
          </a:p>
          <a:p>
            <a:pPr marL="625475" indent="0">
              <a:buNone/>
            </a:pPr>
            <a:r>
              <a:rPr lang="en-US" altLang="zh-CN" sz="2000" dirty="0"/>
              <a:t>        DATEPART(YEAR,GETDATE())-DATEPART(</a:t>
            </a:r>
            <a:r>
              <a:rPr lang="en-US" altLang="zh-CN" sz="2000" dirty="0" err="1"/>
              <a:t>YEAR,Birth</a:t>
            </a:r>
            <a:r>
              <a:rPr lang="en-US" altLang="zh-CN" sz="2000" dirty="0"/>
              <a:t>) </a:t>
            </a:r>
            <a:r>
              <a:rPr lang="en-US" altLang="zh-CN" sz="2000" dirty="0" err="1"/>
              <a:t>CAge</a:t>
            </a:r>
            <a:endParaRPr lang="zh-CN" altLang="zh-CN" sz="2000" dirty="0"/>
          </a:p>
          <a:p>
            <a:pPr marL="625475" indent="0">
              <a:buNone/>
            </a:pPr>
            <a:r>
              <a:rPr lang="en-US" altLang="zh-CN" sz="2000" dirty="0"/>
              <a:t>    FROM </a:t>
            </a:r>
            <a:r>
              <a:rPr lang="en-US" altLang="zh-CN" sz="2000" dirty="0" err="1"/>
              <a:t>Cust</a:t>
            </a:r>
            <a:endParaRPr lang="zh-CN" altLang="zh-CN" sz="2000" dirty="0"/>
          </a:p>
          <a:p>
            <a:pPr marL="625475" indent="0">
              <a:buNone/>
            </a:pPr>
            <a:r>
              <a:rPr lang="en-US" altLang="zh-CN" sz="2000" dirty="0"/>
              <a:t>    WHERE </a:t>
            </a:r>
            <a:r>
              <a:rPr lang="en-US" altLang="zh-CN" sz="2000" dirty="0" err="1"/>
              <a:t>CSex</a:t>
            </a:r>
            <a:r>
              <a:rPr lang="en-US" altLang="zh-CN" sz="2000" dirty="0"/>
              <a:t>='</a:t>
            </a:r>
            <a:r>
              <a:rPr lang="zh-CN" altLang="zh-CN" sz="2000" dirty="0"/>
              <a:t>男</a:t>
            </a:r>
            <a:r>
              <a:rPr lang="en-US" altLang="zh-CN" sz="2000" dirty="0"/>
              <a:t>'</a:t>
            </a:r>
            <a:endParaRPr lang="zh-CN" altLang="zh-CN" sz="2000" dirty="0"/>
          </a:p>
        </p:txBody>
      </p:sp>
    </p:spTree>
    <p:extLst>
      <p:ext uri="{BB962C8B-B14F-4D97-AF65-F5344CB8AC3E}">
        <p14:creationId xmlns:p14="http://schemas.microsoft.com/office/powerpoint/2010/main" val="74730846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42</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例</a:t>
            </a:r>
            <a:r>
              <a:rPr lang="en-US" altLang="zh-CN" sz="2000" dirty="0">
                <a:solidFill>
                  <a:srgbClr val="0000FF"/>
                </a:solidFill>
              </a:rPr>
              <a:t>7.8  </a:t>
            </a:r>
            <a:r>
              <a:rPr lang="zh-CN" altLang="zh-CN" sz="2000" dirty="0"/>
              <a:t>利用</a:t>
            </a:r>
            <a:r>
              <a:rPr lang="en-US" altLang="zh-CN" sz="2000" dirty="0" err="1"/>
              <a:t>Cust</a:t>
            </a:r>
            <a:r>
              <a:rPr lang="zh-CN" altLang="zh-CN" sz="2000" dirty="0"/>
              <a:t>建立男客户的信息为户号、户名和生日的视图</a:t>
            </a:r>
            <a:r>
              <a:rPr lang="en-US" altLang="zh-CN" sz="2000" dirty="0" err="1"/>
              <a:t>CustMale</a:t>
            </a:r>
            <a:r>
              <a:rPr lang="zh-CN" altLang="zh-CN" sz="2000" dirty="0"/>
              <a:t>，并进行如下操作：</a:t>
            </a:r>
          </a:p>
          <a:p>
            <a:pPr marL="360363" indent="0">
              <a:buNone/>
            </a:pPr>
            <a:r>
              <a:rPr lang="en-US" altLang="zh-CN" sz="2000" dirty="0"/>
              <a:t>INSERT INTO </a:t>
            </a:r>
            <a:r>
              <a:rPr lang="en-US" altLang="zh-CN" sz="2000" dirty="0" err="1"/>
              <a:t>CustMale</a:t>
            </a:r>
            <a:r>
              <a:rPr lang="en-US" altLang="zh-CN" sz="2000" dirty="0"/>
              <a:t>(</a:t>
            </a:r>
            <a:r>
              <a:rPr lang="en-US" altLang="zh-CN" sz="2000" dirty="0" err="1"/>
              <a:t>CNo,CName,CSex</a:t>
            </a:r>
            <a:r>
              <a:rPr lang="en-US" altLang="zh-CN" sz="2000" dirty="0"/>
              <a:t>)</a:t>
            </a:r>
            <a:endParaRPr lang="zh-CN" altLang="zh-CN" sz="2000" dirty="0"/>
          </a:p>
          <a:p>
            <a:pPr marL="360363" indent="0">
              <a:buNone/>
            </a:pPr>
            <a:r>
              <a:rPr lang="en-US" altLang="zh-CN" sz="2000" dirty="0"/>
              <a:t>    VALUES('C008','</a:t>
            </a:r>
            <a:r>
              <a:rPr lang="zh-CN" altLang="zh-CN" sz="2000" dirty="0"/>
              <a:t>白晶</a:t>
            </a:r>
            <a:r>
              <a:rPr lang="en-US" altLang="zh-CN" sz="2000" dirty="0"/>
              <a:t>', '</a:t>
            </a:r>
            <a:r>
              <a:rPr lang="zh-CN" altLang="zh-CN" sz="2000" dirty="0"/>
              <a:t>男</a:t>
            </a:r>
            <a:r>
              <a:rPr lang="en-US" altLang="zh-CN" sz="2000" dirty="0"/>
              <a:t>')</a:t>
            </a:r>
            <a:endParaRPr lang="zh-CN" altLang="zh-CN" sz="2000" dirty="0"/>
          </a:p>
          <a:p>
            <a:pPr marL="360363" indent="0">
              <a:buNone/>
            </a:pPr>
            <a:r>
              <a:rPr lang="en-US" altLang="zh-CN" sz="2000" dirty="0"/>
              <a:t>INSERT INTO </a:t>
            </a:r>
            <a:r>
              <a:rPr lang="en-US" altLang="zh-CN" sz="2000" dirty="0" err="1"/>
              <a:t>CustMale</a:t>
            </a:r>
            <a:r>
              <a:rPr lang="en-US" altLang="zh-CN" sz="2000" dirty="0"/>
              <a:t>(</a:t>
            </a:r>
            <a:r>
              <a:rPr lang="en-US" altLang="zh-CN" sz="2000" dirty="0" err="1"/>
              <a:t>CNo,CName</a:t>
            </a:r>
            <a:r>
              <a:rPr lang="en-US" altLang="zh-CN" sz="2000" dirty="0"/>
              <a:t>)</a:t>
            </a:r>
            <a:endParaRPr lang="zh-CN" altLang="zh-CN" sz="2000" dirty="0"/>
          </a:p>
          <a:p>
            <a:pPr marL="360363" indent="0">
              <a:buNone/>
            </a:pPr>
            <a:r>
              <a:rPr lang="en-US" altLang="zh-CN" sz="2000" dirty="0"/>
              <a:t>    VALUES('C009','</a:t>
            </a:r>
            <a:r>
              <a:rPr lang="zh-CN" altLang="zh-CN" sz="2000" dirty="0"/>
              <a:t>海军</a:t>
            </a:r>
            <a:r>
              <a:rPr lang="en-US" altLang="zh-CN" sz="2000" dirty="0"/>
              <a:t>')</a:t>
            </a:r>
            <a:endParaRPr lang="zh-CN" altLang="zh-CN" sz="2000" dirty="0"/>
          </a:p>
          <a:p>
            <a:pPr marL="360363" indent="0">
              <a:buNone/>
            </a:pPr>
            <a:r>
              <a:rPr lang="en-US" altLang="zh-CN" sz="2000" dirty="0"/>
              <a:t>UPDATE </a:t>
            </a:r>
            <a:r>
              <a:rPr lang="en-US" altLang="zh-CN" sz="2000" dirty="0" err="1"/>
              <a:t>CustMale</a:t>
            </a:r>
            <a:endParaRPr lang="zh-CN" altLang="zh-CN" sz="2000" dirty="0"/>
          </a:p>
          <a:p>
            <a:pPr marL="360363" indent="0">
              <a:buNone/>
            </a:pPr>
            <a:r>
              <a:rPr lang="en-US" altLang="zh-CN" sz="2000" dirty="0"/>
              <a:t>    SET </a:t>
            </a:r>
            <a:r>
              <a:rPr lang="en-US" altLang="zh-CN" sz="2000" dirty="0" err="1"/>
              <a:t>CName</a:t>
            </a:r>
            <a:r>
              <a:rPr lang="en-US" altLang="zh-CN" sz="2000" dirty="0"/>
              <a:t>='</a:t>
            </a:r>
            <a:r>
              <a:rPr lang="zh-CN" altLang="zh-CN" sz="2000" dirty="0"/>
              <a:t>白磊</a:t>
            </a:r>
            <a:r>
              <a:rPr lang="en-US" altLang="zh-CN" sz="2000" dirty="0"/>
              <a:t>' </a:t>
            </a:r>
            <a:endParaRPr lang="zh-CN" altLang="zh-CN" sz="2000" dirty="0"/>
          </a:p>
          <a:p>
            <a:pPr marL="360363" indent="0">
              <a:buNone/>
            </a:pPr>
            <a:r>
              <a:rPr lang="en-US" altLang="zh-CN" sz="2000" dirty="0"/>
              <a:t>    WHERE </a:t>
            </a:r>
            <a:r>
              <a:rPr lang="en-US" altLang="zh-CN" sz="2000" dirty="0" err="1"/>
              <a:t>CNo</a:t>
            </a:r>
            <a:r>
              <a:rPr lang="en-US" altLang="zh-CN" sz="2000" dirty="0"/>
              <a:t>='C008'</a:t>
            </a:r>
            <a:endParaRPr lang="zh-CN" altLang="zh-CN" sz="2000" dirty="0"/>
          </a:p>
          <a:p>
            <a:pPr marL="360363" indent="0">
              <a:buNone/>
            </a:pPr>
            <a:r>
              <a:rPr lang="en-US" altLang="zh-CN" sz="2000" dirty="0"/>
              <a:t>DELETE FROM </a:t>
            </a:r>
            <a:r>
              <a:rPr lang="en-US" altLang="zh-CN" sz="2000" dirty="0" err="1"/>
              <a:t>CustMale</a:t>
            </a:r>
            <a:endParaRPr lang="zh-CN" altLang="zh-CN" sz="2000" dirty="0"/>
          </a:p>
          <a:p>
            <a:pPr marL="360363" indent="0">
              <a:buNone/>
            </a:pPr>
            <a:r>
              <a:rPr lang="en-US" altLang="zh-CN" sz="2000" dirty="0"/>
              <a:t>    WHERE </a:t>
            </a:r>
            <a:r>
              <a:rPr lang="en-US" altLang="zh-CN" sz="2000" dirty="0" err="1"/>
              <a:t>SNo</a:t>
            </a:r>
            <a:r>
              <a:rPr lang="en-US" altLang="zh-CN" sz="2000" dirty="0"/>
              <a:t>='C009'</a:t>
            </a:r>
            <a:endParaRPr lang="zh-CN" altLang="zh-CN" sz="2000" dirty="0"/>
          </a:p>
        </p:txBody>
      </p:sp>
    </p:spTree>
    <p:extLst>
      <p:ext uri="{BB962C8B-B14F-4D97-AF65-F5344CB8AC3E}">
        <p14:creationId xmlns:p14="http://schemas.microsoft.com/office/powerpoint/2010/main" val="35570688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2. </a:t>
            </a:r>
            <a:r>
              <a:rPr lang="zh-CN" altLang="zh-CN" dirty="0"/>
              <a:t>视图的操作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43</a:t>
            </a:fld>
            <a:endParaRPr lang="zh-CN" altLang="en-US" dirty="0"/>
          </a:p>
        </p:txBody>
      </p:sp>
      <p:sp>
        <p:nvSpPr>
          <p:cNvPr id="7" name="文本占位符 6"/>
          <p:cNvSpPr>
            <a:spLocks noGrp="1"/>
          </p:cNvSpPr>
          <p:nvPr>
            <p:ph type="body" idx="1"/>
          </p:nvPr>
        </p:nvSpPr>
        <p:spPr>
          <a:xfrm>
            <a:off x="251520" y="1052736"/>
            <a:ext cx="8568952" cy="5328592"/>
          </a:xfrm>
        </p:spPr>
        <p:txBody>
          <a:bodyPr>
            <a:noAutofit/>
          </a:bodyPr>
          <a:lstStyle/>
          <a:p>
            <a:r>
              <a:rPr lang="zh-CN" altLang="zh-CN" sz="2000" dirty="0">
                <a:solidFill>
                  <a:srgbClr val="0000FF"/>
                </a:solidFill>
              </a:rPr>
              <a:t>思考</a:t>
            </a:r>
            <a:r>
              <a:rPr lang="en-US" altLang="zh-CN" sz="2000" dirty="0">
                <a:solidFill>
                  <a:srgbClr val="0000FF"/>
                </a:solidFill>
              </a:rPr>
              <a:t>1</a:t>
            </a:r>
            <a:r>
              <a:rPr lang="zh-CN" altLang="zh-CN" sz="2000" dirty="0">
                <a:solidFill>
                  <a:srgbClr val="0000FF"/>
                </a:solidFill>
              </a:rPr>
              <a:t>：</a:t>
            </a:r>
            <a:r>
              <a:rPr lang="zh-CN" altLang="zh-CN" sz="2000" dirty="0"/>
              <a:t>如果对</a:t>
            </a:r>
            <a:r>
              <a:rPr lang="en-US" altLang="zh-CN" sz="2000" dirty="0" err="1"/>
              <a:t>CustMale</a:t>
            </a:r>
            <a:r>
              <a:rPr lang="zh-CN" altLang="zh-CN" sz="2000" dirty="0"/>
              <a:t>进行查询操作，是否可以查询到“白晶”和“海军”的记录？为什么？</a:t>
            </a:r>
          </a:p>
          <a:p>
            <a:r>
              <a:rPr lang="zh-CN" altLang="zh-CN" sz="2000" dirty="0">
                <a:solidFill>
                  <a:srgbClr val="0000FF"/>
                </a:solidFill>
              </a:rPr>
              <a:t>思考</a:t>
            </a:r>
            <a:r>
              <a:rPr lang="en-US" altLang="zh-CN" sz="2000" dirty="0">
                <a:solidFill>
                  <a:srgbClr val="0000FF"/>
                </a:solidFill>
              </a:rPr>
              <a:t>2</a:t>
            </a:r>
            <a:r>
              <a:rPr lang="zh-CN" altLang="zh-CN" sz="2000" dirty="0">
                <a:solidFill>
                  <a:srgbClr val="0000FF"/>
                </a:solidFill>
              </a:rPr>
              <a:t>：</a:t>
            </a:r>
            <a:r>
              <a:rPr lang="zh-CN" altLang="zh-CN" sz="2000" dirty="0"/>
              <a:t>对于</a:t>
            </a:r>
            <a:r>
              <a:rPr lang="en-US" altLang="zh-CN" sz="2000" dirty="0"/>
              <a:t>DELETE FROM </a:t>
            </a:r>
            <a:r>
              <a:rPr lang="en-US" altLang="zh-CN" sz="2000" dirty="0" err="1"/>
              <a:t>CustMale</a:t>
            </a:r>
            <a:r>
              <a:rPr lang="en-US" altLang="zh-CN" sz="2000" dirty="0"/>
              <a:t> WHERE </a:t>
            </a:r>
            <a:r>
              <a:rPr lang="en-US" altLang="zh-CN" sz="2000" dirty="0" err="1"/>
              <a:t>CNo</a:t>
            </a:r>
            <a:r>
              <a:rPr lang="en-US" altLang="zh-CN" sz="2000" dirty="0"/>
              <a:t>='C009'</a:t>
            </a:r>
            <a:r>
              <a:rPr lang="zh-CN" altLang="zh-CN" sz="2000" dirty="0"/>
              <a:t>，是否删除了户号为</a:t>
            </a:r>
            <a:r>
              <a:rPr lang="en-US" altLang="zh-CN" sz="2000" dirty="0"/>
              <a:t>C009</a:t>
            </a:r>
            <a:r>
              <a:rPr lang="zh-CN" altLang="zh-CN" sz="2000" dirty="0"/>
              <a:t>的客户？为什么？</a:t>
            </a:r>
          </a:p>
          <a:p>
            <a:r>
              <a:rPr lang="zh-CN" altLang="zh-CN" sz="2000" dirty="0">
                <a:solidFill>
                  <a:srgbClr val="0000FF"/>
                </a:solidFill>
              </a:rPr>
              <a:t>思考</a:t>
            </a:r>
            <a:r>
              <a:rPr lang="en-US" altLang="zh-CN" sz="2000" dirty="0">
                <a:solidFill>
                  <a:srgbClr val="0000FF"/>
                </a:solidFill>
              </a:rPr>
              <a:t>3</a:t>
            </a:r>
            <a:r>
              <a:rPr lang="zh-CN" altLang="zh-CN" sz="2000" dirty="0">
                <a:solidFill>
                  <a:srgbClr val="0000FF"/>
                </a:solidFill>
              </a:rPr>
              <a:t>：</a:t>
            </a:r>
            <a:r>
              <a:rPr lang="zh-CN" altLang="zh-CN" sz="2000" dirty="0"/>
              <a:t>对于</a:t>
            </a:r>
            <a:r>
              <a:rPr lang="en-US" altLang="zh-CN" sz="2000" dirty="0"/>
              <a:t>DELETE FROM </a:t>
            </a:r>
            <a:r>
              <a:rPr lang="en-US" altLang="zh-CN" sz="2000" dirty="0" err="1"/>
              <a:t>CustMale</a:t>
            </a:r>
            <a:r>
              <a:rPr lang="en-US" altLang="zh-CN" sz="2000" dirty="0"/>
              <a:t> WHERE </a:t>
            </a:r>
            <a:r>
              <a:rPr lang="en-US" altLang="zh-CN" sz="2000" dirty="0" err="1"/>
              <a:t>CNo</a:t>
            </a:r>
            <a:r>
              <a:rPr lang="en-US" altLang="zh-CN" sz="2000" dirty="0"/>
              <a:t>='C008'</a:t>
            </a:r>
            <a:r>
              <a:rPr lang="zh-CN" altLang="zh-CN" sz="2000" dirty="0"/>
              <a:t>，是否删除了户号为</a:t>
            </a:r>
            <a:r>
              <a:rPr lang="en-US" altLang="zh-CN" sz="2000" dirty="0"/>
              <a:t>C008</a:t>
            </a:r>
            <a:r>
              <a:rPr lang="zh-CN" altLang="zh-CN" sz="2000" dirty="0"/>
              <a:t>的客户？为什么？</a:t>
            </a:r>
          </a:p>
        </p:txBody>
      </p:sp>
    </p:spTree>
    <p:extLst>
      <p:ext uri="{BB962C8B-B14F-4D97-AF65-F5344CB8AC3E}">
        <p14:creationId xmlns:p14="http://schemas.microsoft.com/office/powerpoint/2010/main" val="207117528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150762" cy="648072"/>
          </a:xfrm>
        </p:spPr>
        <p:txBody>
          <a:bodyPr>
            <a:normAutofit/>
          </a:bodyPr>
          <a:lstStyle/>
          <a:p>
            <a:r>
              <a:rPr lang="en-US" altLang="zh-CN" dirty="0">
                <a:solidFill>
                  <a:srgbClr val="0000FF"/>
                </a:solidFill>
              </a:rPr>
              <a:t>3. </a:t>
            </a:r>
            <a:r>
              <a:rPr lang="zh-CN" altLang="zh-CN" dirty="0">
                <a:solidFill>
                  <a:srgbClr val="0000FF"/>
                </a:solidFill>
              </a:rPr>
              <a:t>视图的作用</a:t>
            </a:r>
          </a:p>
        </p:txBody>
      </p:sp>
      <p:sp>
        <p:nvSpPr>
          <p:cNvPr id="4" name="日期占位符 3"/>
          <p:cNvSpPr>
            <a:spLocks noGrp="1"/>
          </p:cNvSpPr>
          <p:nvPr>
            <p:ph type="dt" sz="half" idx="10"/>
          </p:nvPr>
        </p:nvSpPr>
        <p:spPr>
          <a:xfrm>
            <a:off x="457200" y="6356350"/>
            <a:ext cx="2723759" cy="365125"/>
          </a:xfrm>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a:xfrm>
            <a:off x="3923928" y="6381328"/>
            <a:ext cx="2221222" cy="365125"/>
          </a:xfrm>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a:xfrm>
            <a:off x="6553200" y="6356350"/>
            <a:ext cx="2034154" cy="365125"/>
          </a:xfrm>
        </p:spPr>
        <p:txBody>
          <a:bodyPr/>
          <a:lstStyle/>
          <a:p>
            <a:fld id="{C46E5E69-9A6D-4AF8-BC2D-C556A9893D8F}" type="slidenum">
              <a:rPr lang="zh-CN" altLang="en-US" smtClean="0"/>
              <a:pPr/>
              <a:t>44</a:t>
            </a:fld>
            <a:endParaRPr lang="zh-CN" altLang="en-US" dirty="0"/>
          </a:p>
        </p:txBody>
      </p:sp>
      <p:sp>
        <p:nvSpPr>
          <p:cNvPr id="7" name="文本占位符 6"/>
          <p:cNvSpPr>
            <a:spLocks noGrp="1"/>
          </p:cNvSpPr>
          <p:nvPr>
            <p:ph type="body" idx="1"/>
          </p:nvPr>
        </p:nvSpPr>
        <p:spPr>
          <a:xfrm>
            <a:off x="323528" y="980728"/>
            <a:ext cx="8568952" cy="5328592"/>
          </a:xfrm>
        </p:spPr>
        <p:txBody>
          <a:bodyPr>
            <a:noAutofit/>
          </a:bodyPr>
          <a:lstStyle/>
          <a:p>
            <a:pPr marL="0" indent="0">
              <a:lnSpc>
                <a:spcPts val="6600"/>
              </a:lnSpc>
              <a:buNone/>
            </a:pPr>
            <a:r>
              <a:rPr lang="zh-CN" altLang="zh-CN" sz="2800" dirty="0">
                <a:solidFill>
                  <a:srgbClr val="0000FF"/>
                </a:solidFill>
              </a:rPr>
              <a:t>（</a:t>
            </a:r>
            <a:r>
              <a:rPr lang="en-US" altLang="zh-CN" sz="2800" dirty="0">
                <a:solidFill>
                  <a:srgbClr val="0000FF"/>
                </a:solidFill>
              </a:rPr>
              <a:t>1</a:t>
            </a:r>
            <a:r>
              <a:rPr lang="zh-CN" altLang="zh-CN" sz="2800" dirty="0">
                <a:solidFill>
                  <a:srgbClr val="0000FF"/>
                </a:solidFill>
              </a:rPr>
              <a:t>）简化用户操作。</a:t>
            </a:r>
          </a:p>
          <a:p>
            <a:pPr marL="0" indent="0">
              <a:lnSpc>
                <a:spcPts val="6600"/>
              </a:lnSpc>
              <a:buNone/>
            </a:pPr>
            <a:r>
              <a:rPr lang="zh-CN" altLang="zh-CN" sz="2800" dirty="0">
                <a:solidFill>
                  <a:srgbClr val="0000FF"/>
                </a:solidFill>
              </a:rPr>
              <a:t>（</a:t>
            </a:r>
            <a:r>
              <a:rPr lang="en-US" altLang="zh-CN" sz="2800" dirty="0">
                <a:solidFill>
                  <a:srgbClr val="0000FF"/>
                </a:solidFill>
              </a:rPr>
              <a:t>2</a:t>
            </a:r>
            <a:r>
              <a:rPr lang="zh-CN" altLang="zh-CN" sz="2800" dirty="0">
                <a:solidFill>
                  <a:srgbClr val="0000FF"/>
                </a:solidFill>
              </a:rPr>
              <a:t>）清晰表达查询。</a:t>
            </a:r>
          </a:p>
          <a:p>
            <a:pPr marL="1071563" indent="-1071563">
              <a:lnSpc>
                <a:spcPts val="6600"/>
              </a:lnSpc>
              <a:buNone/>
            </a:pPr>
            <a:r>
              <a:rPr lang="zh-CN" altLang="zh-CN" sz="2800" dirty="0">
                <a:solidFill>
                  <a:srgbClr val="0000FF"/>
                </a:solidFill>
              </a:rPr>
              <a:t>（</a:t>
            </a:r>
            <a:r>
              <a:rPr lang="en-US" altLang="zh-CN" sz="2800" dirty="0">
                <a:solidFill>
                  <a:srgbClr val="0000FF"/>
                </a:solidFill>
              </a:rPr>
              <a:t>3</a:t>
            </a:r>
            <a:r>
              <a:rPr lang="zh-CN" altLang="zh-CN" sz="2800" dirty="0">
                <a:solidFill>
                  <a:srgbClr val="0000FF"/>
                </a:solidFill>
              </a:rPr>
              <a:t>）同一数据可以以</a:t>
            </a:r>
            <a:r>
              <a:rPr lang="zh-CN" altLang="zh-CN" sz="2800" dirty="0" smtClean="0">
                <a:solidFill>
                  <a:srgbClr val="0000FF"/>
                </a:solidFill>
              </a:rPr>
              <a:t>不同形式</a:t>
            </a:r>
            <a:r>
              <a:rPr lang="zh-CN" altLang="zh-CN" sz="2800" dirty="0">
                <a:solidFill>
                  <a:srgbClr val="0000FF"/>
                </a:solidFill>
              </a:rPr>
              <a:t>提供给不同用户。</a:t>
            </a:r>
          </a:p>
          <a:p>
            <a:pPr marL="0" indent="0">
              <a:lnSpc>
                <a:spcPts val="6600"/>
              </a:lnSpc>
              <a:buNone/>
            </a:pPr>
            <a:r>
              <a:rPr lang="zh-CN" altLang="zh-CN" sz="2800" dirty="0">
                <a:solidFill>
                  <a:srgbClr val="0000FF"/>
                </a:solidFill>
              </a:rPr>
              <a:t>（</a:t>
            </a:r>
            <a:r>
              <a:rPr lang="en-US" altLang="zh-CN" sz="2800" dirty="0">
                <a:solidFill>
                  <a:srgbClr val="0000FF"/>
                </a:solidFill>
              </a:rPr>
              <a:t>4</a:t>
            </a:r>
            <a:r>
              <a:rPr lang="zh-CN" altLang="zh-CN" sz="2800" dirty="0">
                <a:solidFill>
                  <a:srgbClr val="0000FF"/>
                </a:solidFill>
              </a:rPr>
              <a:t>）在一定程度上确保了数据安全。</a:t>
            </a:r>
          </a:p>
          <a:p>
            <a:pPr marL="0" indent="0">
              <a:lnSpc>
                <a:spcPts val="6600"/>
              </a:lnSpc>
              <a:buNone/>
            </a:pPr>
            <a:r>
              <a:rPr lang="zh-CN" altLang="zh-CN" sz="2800" dirty="0">
                <a:solidFill>
                  <a:srgbClr val="0000FF"/>
                </a:solidFill>
              </a:rPr>
              <a:t>（</a:t>
            </a:r>
            <a:r>
              <a:rPr lang="en-US" altLang="zh-CN" sz="2800" dirty="0">
                <a:solidFill>
                  <a:srgbClr val="0000FF"/>
                </a:solidFill>
              </a:rPr>
              <a:t>5</a:t>
            </a:r>
            <a:r>
              <a:rPr lang="zh-CN" altLang="zh-CN" sz="2800" dirty="0">
                <a:solidFill>
                  <a:srgbClr val="0000FF"/>
                </a:solidFill>
              </a:rPr>
              <a:t>）在一定程度上提供了逻辑独立性</a:t>
            </a:r>
            <a:r>
              <a:rPr lang="zh-CN" altLang="zh-CN" sz="2800" dirty="0" smtClean="0"/>
              <a:t>。</a:t>
            </a:r>
            <a:endParaRPr lang="zh-CN" altLang="zh-CN" sz="2800" dirty="0"/>
          </a:p>
        </p:txBody>
      </p:sp>
    </p:spTree>
    <p:extLst>
      <p:ext uri="{BB962C8B-B14F-4D97-AF65-F5344CB8AC3E}">
        <p14:creationId xmlns:p14="http://schemas.microsoft.com/office/powerpoint/2010/main" val="165163751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zh-CN" altLang="zh-CN" dirty="0" smtClean="0">
                <a:solidFill>
                  <a:srgbClr val="0000FF"/>
                </a:solidFill>
              </a:rPr>
              <a:t>（</a:t>
            </a:r>
            <a:r>
              <a:rPr lang="en-US" altLang="zh-CN" dirty="0">
                <a:solidFill>
                  <a:srgbClr val="0000FF"/>
                </a:solidFill>
              </a:rPr>
              <a:t>1</a:t>
            </a:r>
            <a:r>
              <a:rPr lang="zh-CN" altLang="zh-CN" dirty="0">
                <a:solidFill>
                  <a:srgbClr val="0000FF"/>
                </a:solidFill>
              </a:rPr>
              <a:t>）简化用户操作</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45</a:t>
            </a:fld>
            <a:endParaRPr lang="zh-CN" altLang="en-US" dirty="0"/>
          </a:p>
        </p:txBody>
      </p:sp>
      <p:sp>
        <p:nvSpPr>
          <p:cNvPr id="7" name="文本占位符 6"/>
          <p:cNvSpPr>
            <a:spLocks noGrp="1"/>
          </p:cNvSpPr>
          <p:nvPr>
            <p:ph type="body" idx="1"/>
          </p:nvPr>
        </p:nvSpPr>
        <p:spPr>
          <a:xfrm>
            <a:off x="251520" y="764704"/>
            <a:ext cx="8712968" cy="5616624"/>
          </a:xfrm>
        </p:spPr>
        <p:txBody>
          <a:bodyPr>
            <a:noAutofit/>
          </a:bodyPr>
          <a:lstStyle/>
          <a:p>
            <a:r>
              <a:rPr lang="zh-CN" altLang="zh-CN" sz="2000" dirty="0" smtClean="0">
                <a:solidFill>
                  <a:srgbClr val="0000FF"/>
                </a:solidFill>
              </a:rPr>
              <a:t>如果</a:t>
            </a:r>
            <a:r>
              <a:rPr lang="zh-CN" altLang="zh-CN" sz="2000" dirty="0">
                <a:solidFill>
                  <a:srgbClr val="0000FF"/>
                </a:solidFill>
              </a:rPr>
              <a:t>用户需要执行针对多个表的多个条件的复杂查询，则可以把其定义为一个视图，从而把对多表多条件的复杂查询，转化为对视图的简单查询。</a:t>
            </a:r>
          </a:p>
          <a:p>
            <a:r>
              <a:rPr lang="zh-CN" altLang="zh-CN" sz="2000" dirty="0">
                <a:solidFill>
                  <a:srgbClr val="0000FF"/>
                </a:solidFill>
              </a:rPr>
              <a:t>例</a:t>
            </a:r>
            <a:r>
              <a:rPr lang="en-US" altLang="zh-CN" sz="2000" dirty="0">
                <a:solidFill>
                  <a:srgbClr val="0000FF"/>
                </a:solidFill>
              </a:rPr>
              <a:t>7.9  </a:t>
            </a:r>
            <a:r>
              <a:rPr lang="zh-CN" altLang="zh-CN" sz="2000" dirty="0"/>
              <a:t>分别使用视图和表，查询购买图书的本数在前</a:t>
            </a:r>
            <a:r>
              <a:rPr lang="en-US" altLang="zh-CN" sz="2000" dirty="0"/>
              <a:t>20%</a:t>
            </a:r>
            <a:r>
              <a:rPr lang="zh-CN" altLang="zh-CN" sz="2000" dirty="0"/>
              <a:t>的客户的户名和本数。</a:t>
            </a:r>
          </a:p>
          <a:p>
            <a:pPr marL="0" indent="0">
              <a:buNone/>
            </a:pPr>
            <a:r>
              <a:rPr lang="zh-CN" altLang="zh-CN" sz="2000" dirty="0">
                <a:solidFill>
                  <a:srgbClr val="0000FF"/>
                </a:solidFill>
              </a:rPr>
              <a:t>（</a:t>
            </a:r>
            <a:r>
              <a:rPr lang="en-US" altLang="zh-CN" sz="2000" dirty="0">
                <a:solidFill>
                  <a:srgbClr val="0000FF"/>
                </a:solidFill>
              </a:rPr>
              <a:t>a</a:t>
            </a:r>
            <a:r>
              <a:rPr lang="zh-CN" altLang="zh-CN" sz="2000" dirty="0">
                <a:solidFill>
                  <a:srgbClr val="0000FF"/>
                </a:solidFill>
              </a:rPr>
              <a:t>）使用视图。</a:t>
            </a:r>
          </a:p>
          <a:p>
            <a:pPr marL="625475" indent="0">
              <a:buNone/>
            </a:pPr>
            <a:r>
              <a:rPr lang="en-US" altLang="zh-CN" sz="2000" dirty="0"/>
              <a:t>SELECT TOP 20 PERCENT </a:t>
            </a:r>
            <a:r>
              <a:rPr lang="en-US" altLang="zh-CN" sz="2000" dirty="0" err="1"/>
              <a:t>CName,Number</a:t>
            </a:r>
            <a:endParaRPr lang="zh-CN" altLang="zh-CN" sz="2000" dirty="0"/>
          </a:p>
          <a:p>
            <a:pPr marL="625475" indent="0">
              <a:buNone/>
            </a:pPr>
            <a:r>
              <a:rPr lang="en-US" altLang="zh-CN" sz="2000" dirty="0"/>
              <a:t>FROM </a:t>
            </a:r>
            <a:r>
              <a:rPr lang="en-US" altLang="zh-CN" sz="2000" dirty="0" err="1" smtClean="0"/>
              <a:t>CustStatisBuy</a:t>
            </a:r>
            <a:r>
              <a:rPr lang="en-US" altLang="zh-CN" sz="2000" dirty="0" smtClean="0"/>
              <a:t>     ORDER </a:t>
            </a:r>
            <a:r>
              <a:rPr lang="en-US" altLang="zh-CN" sz="2000" dirty="0"/>
              <a:t>BY Number DESC</a:t>
            </a:r>
            <a:endParaRPr lang="zh-CN" altLang="zh-CN" sz="2000" dirty="0"/>
          </a:p>
          <a:p>
            <a:pPr marL="0" indent="0">
              <a:buNone/>
            </a:pPr>
            <a:r>
              <a:rPr lang="zh-CN" altLang="zh-CN" sz="2000" dirty="0">
                <a:solidFill>
                  <a:srgbClr val="0000FF"/>
                </a:solidFill>
              </a:rPr>
              <a:t>（</a:t>
            </a:r>
            <a:r>
              <a:rPr lang="en-US" altLang="zh-CN" sz="2000" dirty="0">
                <a:solidFill>
                  <a:srgbClr val="0000FF"/>
                </a:solidFill>
              </a:rPr>
              <a:t>b</a:t>
            </a:r>
            <a:r>
              <a:rPr lang="zh-CN" altLang="zh-CN" sz="2000" dirty="0">
                <a:solidFill>
                  <a:srgbClr val="0000FF"/>
                </a:solidFill>
              </a:rPr>
              <a:t>）使用表。</a:t>
            </a:r>
          </a:p>
          <a:p>
            <a:pPr marL="625475" indent="0">
              <a:buNone/>
            </a:pPr>
            <a:r>
              <a:rPr lang="en-US" altLang="zh-CN" sz="2000" dirty="0"/>
              <a:t>SELECT TOP 20 PERCENT </a:t>
            </a:r>
            <a:r>
              <a:rPr lang="en-US" altLang="zh-CN" sz="2000" dirty="0" err="1"/>
              <a:t>CName,COUNT</a:t>
            </a:r>
            <a:r>
              <a:rPr lang="en-US" altLang="zh-CN" sz="2000" dirty="0"/>
              <a:t>(*) Number</a:t>
            </a:r>
            <a:endParaRPr lang="zh-CN" altLang="zh-CN" sz="2000" dirty="0"/>
          </a:p>
          <a:p>
            <a:pPr marL="625475" indent="0">
              <a:buNone/>
            </a:pPr>
            <a:r>
              <a:rPr lang="en-US" altLang="zh-CN" sz="2000" dirty="0"/>
              <a:t>    FROM </a:t>
            </a:r>
            <a:r>
              <a:rPr lang="en-US" altLang="zh-CN" sz="2000" dirty="0" err="1" smtClean="0"/>
              <a:t>Cust,Buy</a:t>
            </a:r>
            <a:r>
              <a:rPr lang="en-US" altLang="zh-CN" sz="2000" dirty="0" smtClean="0"/>
              <a:t>    </a:t>
            </a:r>
            <a:r>
              <a:rPr lang="en-US" altLang="zh-CN" sz="2000" dirty="0"/>
              <a:t>WHERE </a:t>
            </a:r>
            <a:r>
              <a:rPr lang="en-US" altLang="zh-CN" sz="2000" dirty="0" err="1"/>
              <a:t>Cust.CNo</a:t>
            </a:r>
            <a:r>
              <a:rPr lang="en-US" altLang="zh-CN" sz="2000" dirty="0"/>
              <a:t>=</a:t>
            </a:r>
            <a:r>
              <a:rPr lang="en-US" altLang="zh-CN" sz="2000" dirty="0" err="1"/>
              <a:t>Buy.CNo</a:t>
            </a:r>
            <a:r>
              <a:rPr lang="en-US" altLang="zh-CN" sz="2000" dirty="0"/>
              <a:t> </a:t>
            </a:r>
            <a:endParaRPr lang="zh-CN" altLang="zh-CN" sz="2000" dirty="0"/>
          </a:p>
          <a:p>
            <a:pPr marL="625475" indent="0">
              <a:buNone/>
            </a:pPr>
            <a:r>
              <a:rPr lang="en-US" altLang="zh-CN" sz="2000" dirty="0"/>
              <a:t>    GROUP BY </a:t>
            </a:r>
            <a:r>
              <a:rPr lang="en-US" altLang="zh-CN" sz="2000" dirty="0" err="1" smtClean="0"/>
              <a:t>Cust.CNo,CName</a:t>
            </a:r>
            <a:r>
              <a:rPr lang="en-US" altLang="zh-CN" sz="2000" dirty="0" smtClean="0"/>
              <a:t>    </a:t>
            </a:r>
            <a:r>
              <a:rPr lang="en-US" altLang="zh-CN" sz="2000" dirty="0"/>
              <a:t>ORDER BY Number DESC</a:t>
            </a:r>
            <a:endParaRPr lang="zh-CN" altLang="zh-CN" sz="2000" dirty="0"/>
          </a:p>
          <a:p>
            <a:pPr marL="0" indent="0">
              <a:buNone/>
            </a:pPr>
            <a:r>
              <a:rPr lang="zh-CN" altLang="zh-CN" sz="2000" dirty="0">
                <a:solidFill>
                  <a:srgbClr val="0000FF"/>
                </a:solidFill>
              </a:rPr>
              <a:t>分析：</a:t>
            </a:r>
            <a:r>
              <a:rPr lang="zh-CN" altLang="zh-CN" sz="2000" dirty="0"/>
              <a:t>情况（</a:t>
            </a:r>
            <a:r>
              <a:rPr lang="en-US" altLang="zh-CN" sz="2000" dirty="0"/>
              <a:t>b</a:t>
            </a:r>
            <a:r>
              <a:rPr lang="zh-CN" altLang="zh-CN" sz="2000" dirty="0"/>
              <a:t>）是一个复杂的多表统计查询；而情况（</a:t>
            </a:r>
            <a:r>
              <a:rPr lang="en-US" altLang="zh-CN" sz="2000" dirty="0"/>
              <a:t>a</a:t>
            </a:r>
            <a:r>
              <a:rPr lang="zh-CN" altLang="zh-CN" sz="2000" dirty="0"/>
              <a:t>）通过把多表复杂查询定义成为一个视图，则把（</a:t>
            </a:r>
            <a:r>
              <a:rPr lang="en-US" altLang="zh-CN" sz="2000" dirty="0"/>
              <a:t>b</a:t>
            </a:r>
            <a:r>
              <a:rPr lang="zh-CN" altLang="zh-CN" sz="2000" dirty="0"/>
              <a:t>）转化成为一个简单的单表（视图）查询。</a:t>
            </a:r>
          </a:p>
          <a:p>
            <a:endParaRPr lang="zh-CN" altLang="zh-CN" sz="2000" dirty="0"/>
          </a:p>
        </p:txBody>
      </p:sp>
    </p:spTree>
    <p:extLst>
      <p:ext uri="{BB962C8B-B14F-4D97-AF65-F5344CB8AC3E}">
        <p14:creationId xmlns:p14="http://schemas.microsoft.com/office/powerpoint/2010/main" val="360746474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zh-CN" altLang="zh-CN" dirty="0">
                <a:solidFill>
                  <a:srgbClr val="0000FF"/>
                </a:solidFill>
              </a:rPr>
              <a:t>（</a:t>
            </a:r>
            <a:r>
              <a:rPr lang="en-US" altLang="zh-CN" dirty="0">
                <a:solidFill>
                  <a:srgbClr val="0000FF"/>
                </a:solidFill>
              </a:rPr>
              <a:t>2</a:t>
            </a:r>
            <a:r>
              <a:rPr lang="zh-CN" altLang="zh-CN" dirty="0">
                <a:solidFill>
                  <a:srgbClr val="0000FF"/>
                </a:solidFill>
              </a:rPr>
              <a:t>）清晰表达查询</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46</a:t>
            </a:fld>
            <a:endParaRPr lang="zh-CN" altLang="en-US" dirty="0"/>
          </a:p>
        </p:txBody>
      </p:sp>
      <p:sp>
        <p:nvSpPr>
          <p:cNvPr id="7" name="文本占位符 6"/>
          <p:cNvSpPr>
            <a:spLocks noGrp="1"/>
          </p:cNvSpPr>
          <p:nvPr>
            <p:ph type="body" idx="1"/>
          </p:nvPr>
        </p:nvSpPr>
        <p:spPr>
          <a:xfrm>
            <a:off x="251520" y="764704"/>
            <a:ext cx="8712968" cy="5616624"/>
          </a:xfrm>
        </p:spPr>
        <p:txBody>
          <a:bodyPr>
            <a:noAutofit/>
          </a:bodyPr>
          <a:lstStyle/>
          <a:p>
            <a:r>
              <a:rPr lang="zh-CN" altLang="zh-CN" sz="2000" dirty="0">
                <a:solidFill>
                  <a:srgbClr val="0000FF"/>
                </a:solidFill>
              </a:rPr>
              <a:t>因为基于多条件多表的复杂查询的复杂表示方法已经被定义在视图中，所以把复杂查询的复杂表示方法，转化为对视图的简单查询，从而使用户的查询更加清晰、直观和简单。</a:t>
            </a:r>
          </a:p>
          <a:p>
            <a:r>
              <a:rPr lang="zh-CN" altLang="zh-CN" sz="2000" dirty="0">
                <a:solidFill>
                  <a:srgbClr val="0000FF"/>
                </a:solidFill>
              </a:rPr>
              <a:t>例</a:t>
            </a:r>
            <a:r>
              <a:rPr lang="en-US" altLang="zh-CN" sz="2000" dirty="0">
                <a:solidFill>
                  <a:srgbClr val="0000FF"/>
                </a:solidFill>
              </a:rPr>
              <a:t>7.10  </a:t>
            </a:r>
            <a:r>
              <a:rPr lang="zh-CN" altLang="zh-CN" sz="2000" dirty="0" smtClean="0"/>
              <a:t>使用</a:t>
            </a:r>
            <a:r>
              <a:rPr lang="zh-CN" altLang="zh-CN" sz="2000" dirty="0"/>
              <a:t>视图和表，查询购买图书的金额在前</a:t>
            </a:r>
            <a:r>
              <a:rPr lang="en-US" altLang="zh-CN" sz="2000" dirty="0"/>
              <a:t>3</a:t>
            </a:r>
            <a:r>
              <a:rPr lang="zh-CN" altLang="zh-CN" sz="2000" dirty="0"/>
              <a:t>名的客户的户名和金额。</a:t>
            </a:r>
          </a:p>
          <a:p>
            <a:pPr marL="0" indent="0">
              <a:buNone/>
            </a:pPr>
            <a:r>
              <a:rPr lang="zh-CN" altLang="zh-CN" sz="2000" dirty="0">
                <a:solidFill>
                  <a:srgbClr val="0000FF"/>
                </a:solidFill>
              </a:rPr>
              <a:t>（</a:t>
            </a:r>
            <a:r>
              <a:rPr lang="en-US" altLang="zh-CN" sz="2000" dirty="0">
                <a:solidFill>
                  <a:srgbClr val="0000FF"/>
                </a:solidFill>
              </a:rPr>
              <a:t>a</a:t>
            </a:r>
            <a:r>
              <a:rPr lang="zh-CN" altLang="zh-CN" sz="2000" dirty="0">
                <a:solidFill>
                  <a:srgbClr val="0000FF"/>
                </a:solidFill>
              </a:rPr>
              <a:t>）使用视图。</a:t>
            </a:r>
          </a:p>
          <a:p>
            <a:pPr marL="625475" indent="0">
              <a:buNone/>
            </a:pPr>
            <a:r>
              <a:rPr lang="en-US" altLang="zh-CN" sz="2000" dirty="0"/>
              <a:t>SELECT TOP 3 </a:t>
            </a:r>
            <a:r>
              <a:rPr lang="en-US" altLang="zh-CN" sz="2000" dirty="0" err="1"/>
              <a:t>CName,SumPrice</a:t>
            </a:r>
            <a:endParaRPr lang="zh-CN" altLang="zh-CN" sz="2000" dirty="0"/>
          </a:p>
          <a:p>
            <a:pPr marL="625475" indent="0">
              <a:buNone/>
            </a:pPr>
            <a:r>
              <a:rPr lang="en-US" altLang="zh-CN" sz="2000" dirty="0"/>
              <a:t>FROM </a:t>
            </a:r>
            <a:r>
              <a:rPr lang="en-US" altLang="zh-CN" sz="2000" dirty="0" err="1" smtClean="0"/>
              <a:t>CustStatisBuy</a:t>
            </a:r>
            <a:r>
              <a:rPr lang="en-US" altLang="zh-CN" sz="2000" dirty="0" smtClean="0"/>
              <a:t>   ORDER </a:t>
            </a:r>
            <a:r>
              <a:rPr lang="en-US" altLang="zh-CN" sz="2000" dirty="0"/>
              <a:t>BY </a:t>
            </a:r>
            <a:r>
              <a:rPr lang="en-US" altLang="zh-CN" sz="2000" dirty="0" err="1"/>
              <a:t>SumPrice</a:t>
            </a:r>
            <a:r>
              <a:rPr lang="en-US" altLang="zh-CN" sz="2000" dirty="0"/>
              <a:t> DESC</a:t>
            </a:r>
            <a:endParaRPr lang="zh-CN" altLang="zh-CN" sz="2000" dirty="0"/>
          </a:p>
          <a:p>
            <a:pPr marL="0" indent="0">
              <a:buNone/>
            </a:pPr>
            <a:r>
              <a:rPr lang="zh-CN" altLang="zh-CN" sz="2000" dirty="0">
                <a:solidFill>
                  <a:srgbClr val="0000FF"/>
                </a:solidFill>
              </a:rPr>
              <a:t>（</a:t>
            </a:r>
            <a:r>
              <a:rPr lang="en-US" altLang="zh-CN" sz="2000" dirty="0">
                <a:solidFill>
                  <a:srgbClr val="0000FF"/>
                </a:solidFill>
              </a:rPr>
              <a:t>b</a:t>
            </a:r>
            <a:r>
              <a:rPr lang="zh-CN" altLang="zh-CN" sz="2000" dirty="0">
                <a:solidFill>
                  <a:srgbClr val="0000FF"/>
                </a:solidFill>
              </a:rPr>
              <a:t>）使用表。</a:t>
            </a:r>
          </a:p>
          <a:p>
            <a:pPr marL="625475" indent="0">
              <a:buNone/>
            </a:pPr>
            <a:r>
              <a:rPr lang="en-US" altLang="zh-CN" sz="2000" dirty="0"/>
              <a:t>SELECT TOP 3 </a:t>
            </a:r>
            <a:r>
              <a:rPr lang="en-US" altLang="zh-CN" sz="2000" dirty="0" err="1"/>
              <a:t>CName,SUM</a:t>
            </a:r>
            <a:r>
              <a:rPr lang="en-US" altLang="zh-CN" sz="2000" dirty="0"/>
              <a:t>(</a:t>
            </a:r>
            <a:r>
              <a:rPr lang="en-US" altLang="zh-CN" sz="2000" dirty="0" err="1"/>
              <a:t>SPrice</a:t>
            </a:r>
            <a:r>
              <a:rPr lang="en-US" altLang="zh-CN" sz="2000" dirty="0"/>
              <a:t>) </a:t>
            </a:r>
            <a:r>
              <a:rPr lang="en-US" altLang="zh-CN" sz="2000" dirty="0" err="1"/>
              <a:t>SumPrice</a:t>
            </a:r>
            <a:endParaRPr lang="zh-CN" altLang="zh-CN" sz="2000" dirty="0"/>
          </a:p>
          <a:p>
            <a:pPr marL="625475" indent="0">
              <a:buNone/>
            </a:pPr>
            <a:r>
              <a:rPr lang="en-US" altLang="zh-CN" sz="2000" dirty="0"/>
              <a:t>    FROM </a:t>
            </a:r>
            <a:r>
              <a:rPr lang="en-US" altLang="zh-CN" sz="2000" dirty="0" err="1"/>
              <a:t>Cust,Buy,Book</a:t>
            </a:r>
            <a:endParaRPr lang="zh-CN" altLang="zh-CN" sz="2000" dirty="0"/>
          </a:p>
          <a:p>
            <a:pPr marL="625475" indent="0">
              <a:buNone/>
            </a:pPr>
            <a:r>
              <a:rPr lang="en-US" altLang="zh-CN" sz="2000" dirty="0"/>
              <a:t>    WHERE </a:t>
            </a:r>
            <a:r>
              <a:rPr lang="en-US" altLang="zh-CN" sz="2000" dirty="0" err="1"/>
              <a:t>Cust.CNo</a:t>
            </a:r>
            <a:r>
              <a:rPr lang="en-US" altLang="zh-CN" sz="2000" dirty="0"/>
              <a:t>=</a:t>
            </a:r>
            <a:r>
              <a:rPr lang="en-US" altLang="zh-CN" sz="2000" dirty="0" err="1"/>
              <a:t>Buy.CNo</a:t>
            </a:r>
            <a:r>
              <a:rPr lang="en-US" altLang="zh-CN" sz="2000" dirty="0"/>
              <a:t> AND </a:t>
            </a:r>
            <a:r>
              <a:rPr lang="en-US" altLang="zh-CN" sz="2000" dirty="0" err="1"/>
              <a:t>Book.BNo</a:t>
            </a:r>
            <a:r>
              <a:rPr lang="en-US" altLang="zh-CN" sz="2000" dirty="0"/>
              <a:t>=</a:t>
            </a:r>
            <a:r>
              <a:rPr lang="en-US" altLang="zh-CN" sz="2000" dirty="0" err="1"/>
              <a:t>Buy.BNo</a:t>
            </a:r>
            <a:endParaRPr lang="zh-CN" altLang="zh-CN" sz="2000" dirty="0"/>
          </a:p>
          <a:p>
            <a:pPr marL="625475" indent="0">
              <a:buNone/>
            </a:pPr>
            <a:r>
              <a:rPr lang="en-US" altLang="zh-CN" sz="2000" dirty="0"/>
              <a:t>    GROUP BY </a:t>
            </a:r>
            <a:r>
              <a:rPr lang="en-US" altLang="zh-CN" sz="2000" dirty="0" err="1" smtClean="0"/>
              <a:t>Cust.CNo,CName</a:t>
            </a:r>
            <a:r>
              <a:rPr lang="en-US" altLang="zh-CN" sz="2000" dirty="0" smtClean="0"/>
              <a:t>    </a:t>
            </a:r>
            <a:r>
              <a:rPr lang="en-US" altLang="zh-CN" sz="2000" dirty="0"/>
              <a:t>ORDER BY </a:t>
            </a:r>
            <a:r>
              <a:rPr lang="en-US" altLang="zh-CN" sz="2000" dirty="0" err="1"/>
              <a:t>SumPrice</a:t>
            </a:r>
            <a:r>
              <a:rPr lang="en-US" altLang="zh-CN" sz="2000" dirty="0"/>
              <a:t> DESC</a:t>
            </a:r>
            <a:endParaRPr lang="zh-CN" altLang="zh-CN" sz="2000" dirty="0"/>
          </a:p>
          <a:p>
            <a:endParaRPr lang="zh-CN" altLang="zh-CN" sz="2000" dirty="0"/>
          </a:p>
        </p:txBody>
      </p:sp>
    </p:spTree>
    <p:extLst>
      <p:ext uri="{BB962C8B-B14F-4D97-AF65-F5344CB8AC3E}">
        <p14:creationId xmlns:p14="http://schemas.microsoft.com/office/powerpoint/2010/main" val="30725209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zh-CN" altLang="zh-CN" sz="2800" dirty="0">
                <a:solidFill>
                  <a:srgbClr val="0000FF"/>
                </a:solidFill>
              </a:rPr>
              <a:t>（</a:t>
            </a:r>
            <a:r>
              <a:rPr lang="en-US" altLang="zh-CN" sz="2800" dirty="0">
                <a:solidFill>
                  <a:srgbClr val="0000FF"/>
                </a:solidFill>
              </a:rPr>
              <a:t>3</a:t>
            </a:r>
            <a:r>
              <a:rPr lang="zh-CN" altLang="zh-CN" sz="2800" dirty="0">
                <a:solidFill>
                  <a:srgbClr val="0000FF"/>
                </a:solidFill>
              </a:rPr>
              <a:t>）同一数据可以以不同的形式提供给不同用户</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47</a:t>
            </a:fld>
            <a:endParaRPr lang="zh-CN" altLang="en-US" dirty="0"/>
          </a:p>
        </p:txBody>
      </p:sp>
      <p:sp>
        <p:nvSpPr>
          <p:cNvPr id="7" name="文本占位符 6"/>
          <p:cNvSpPr>
            <a:spLocks noGrp="1"/>
          </p:cNvSpPr>
          <p:nvPr>
            <p:ph type="body" idx="1"/>
          </p:nvPr>
        </p:nvSpPr>
        <p:spPr>
          <a:xfrm>
            <a:off x="251520" y="764704"/>
            <a:ext cx="8712968" cy="5616624"/>
          </a:xfrm>
        </p:spPr>
        <p:txBody>
          <a:bodyPr>
            <a:noAutofit/>
          </a:bodyPr>
          <a:lstStyle/>
          <a:p>
            <a:r>
              <a:rPr lang="zh-CN" altLang="zh-CN" sz="2000" dirty="0">
                <a:solidFill>
                  <a:srgbClr val="0000FF"/>
                </a:solidFill>
              </a:rPr>
              <a:t>由于视图是数据库整体数据的局部数据的体现，所以通过视图可以使不同的用户以不同的方式看待同一数据，且可以以不同的形式使用同一数据。</a:t>
            </a:r>
          </a:p>
          <a:p>
            <a:r>
              <a:rPr lang="zh-CN" altLang="zh-CN" sz="2000" dirty="0">
                <a:solidFill>
                  <a:srgbClr val="0000FF"/>
                </a:solidFill>
              </a:rPr>
              <a:t>例</a:t>
            </a:r>
            <a:r>
              <a:rPr lang="en-US" altLang="zh-CN" sz="2000" dirty="0">
                <a:solidFill>
                  <a:srgbClr val="0000FF"/>
                </a:solidFill>
              </a:rPr>
              <a:t>7.11  </a:t>
            </a:r>
            <a:r>
              <a:rPr lang="zh-CN" altLang="zh-CN" sz="2000" dirty="0"/>
              <a:t>创建包含户号、户名、年龄、电话和购书本数等信息的男客户视图</a:t>
            </a:r>
            <a:r>
              <a:rPr lang="en-US" altLang="zh-CN" sz="2000" dirty="0" err="1"/>
              <a:t>MCust</a:t>
            </a:r>
            <a:r>
              <a:rPr lang="zh-CN" altLang="zh-CN" sz="2000" dirty="0"/>
              <a:t>和包含户号、户名、生日、婚否、电子邮箱和购书金额等女客户视图</a:t>
            </a:r>
            <a:r>
              <a:rPr lang="en-US" altLang="zh-CN" sz="2000" dirty="0" err="1"/>
              <a:t>WCust</a:t>
            </a:r>
            <a:r>
              <a:rPr lang="zh-CN" altLang="zh-CN" sz="2000" dirty="0"/>
              <a:t>。即：</a:t>
            </a:r>
          </a:p>
          <a:p>
            <a:pPr marL="0" indent="0">
              <a:buNone/>
            </a:pPr>
            <a:r>
              <a:rPr lang="zh-CN" altLang="zh-CN" sz="2000" dirty="0">
                <a:solidFill>
                  <a:srgbClr val="0000FF"/>
                </a:solidFill>
              </a:rPr>
              <a:t>（</a:t>
            </a:r>
            <a:r>
              <a:rPr lang="en-US" altLang="zh-CN" sz="2000" dirty="0">
                <a:solidFill>
                  <a:srgbClr val="0000FF"/>
                </a:solidFill>
              </a:rPr>
              <a:t>1</a:t>
            </a:r>
            <a:r>
              <a:rPr lang="zh-CN" altLang="zh-CN" sz="2000" dirty="0">
                <a:solidFill>
                  <a:srgbClr val="0000FF"/>
                </a:solidFill>
              </a:rPr>
              <a:t>）</a:t>
            </a:r>
            <a:r>
              <a:rPr lang="en-US" altLang="zh-CN" sz="2000" dirty="0" err="1">
                <a:solidFill>
                  <a:srgbClr val="0000FF"/>
                </a:solidFill>
              </a:rPr>
              <a:t>MCust</a:t>
            </a:r>
            <a:r>
              <a:rPr lang="en-US" altLang="zh-CN" sz="2000" dirty="0">
                <a:solidFill>
                  <a:srgbClr val="0000FF"/>
                </a:solidFill>
              </a:rPr>
              <a:t>(</a:t>
            </a:r>
            <a:r>
              <a:rPr lang="en-US" altLang="zh-CN" sz="2000" dirty="0" err="1">
                <a:solidFill>
                  <a:srgbClr val="0000FF"/>
                </a:solidFill>
              </a:rPr>
              <a:t>CNo,CName,CAge,Phone,Number</a:t>
            </a:r>
            <a:r>
              <a:rPr lang="en-US" altLang="zh-CN" sz="2000" dirty="0">
                <a:solidFill>
                  <a:srgbClr val="0000FF"/>
                </a:solidFill>
              </a:rPr>
              <a:t>)</a:t>
            </a:r>
            <a:r>
              <a:rPr lang="zh-CN" altLang="zh-CN" sz="2000" dirty="0">
                <a:solidFill>
                  <a:srgbClr val="0000FF"/>
                </a:solidFill>
              </a:rPr>
              <a:t>。</a:t>
            </a:r>
          </a:p>
          <a:p>
            <a:pPr marL="0" indent="0">
              <a:buNone/>
            </a:pPr>
            <a:r>
              <a:rPr lang="zh-CN" altLang="zh-CN" sz="2000" dirty="0">
                <a:solidFill>
                  <a:srgbClr val="0000FF"/>
                </a:solidFill>
              </a:rPr>
              <a:t>（</a:t>
            </a:r>
            <a:r>
              <a:rPr lang="en-US" altLang="zh-CN" sz="2000" dirty="0">
                <a:solidFill>
                  <a:srgbClr val="0000FF"/>
                </a:solidFill>
              </a:rPr>
              <a:t>2</a:t>
            </a:r>
            <a:r>
              <a:rPr lang="zh-CN" altLang="zh-CN" sz="2000" dirty="0">
                <a:solidFill>
                  <a:srgbClr val="0000FF"/>
                </a:solidFill>
              </a:rPr>
              <a:t>）</a:t>
            </a:r>
            <a:r>
              <a:rPr lang="en-US" altLang="zh-CN" sz="2000" dirty="0" err="1">
                <a:solidFill>
                  <a:srgbClr val="0000FF"/>
                </a:solidFill>
              </a:rPr>
              <a:t>WCust</a:t>
            </a:r>
            <a:r>
              <a:rPr lang="en-US" altLang="zh-CN" sz="2000" dirty="0">
                <a:solidFill>
                  <a:srgbClr val="0000FF"/>
                </a:solidFill>
              </a:rPr>
              <a:t>(</a:t>
            </a:r>
            <a:r>
              <a:rPr lang="en-US" altLang="zh-CN" sz="2000" dirty="0" err="1">
                <a:solidFill>
                  <a:srgbClr val="0000FF"/>
                </a:solidFill>
              </a:rPr>
              <a:t>CNo,CName,Birth,Marry,Email,SumPrice</a:t>
            </a:r>
            <a:r>
              <a:rPr lang="en-US" altLang="zh-CN" sz="2000" dirty="0">
                <a:solidFill>
                  <a:srgbClr val="0000FF"/>
                </a:solidFill>
              </a:rPr>
              <a:t>)</a:t>
            </a:r>
            <a:r>
              <a:rPr lang="zh-CN" altLang="zh-CN" sz="2000" dirty="0" smtClean="0">
                <a:solidFill>
                  <a:srgbClr val="0000FF"/>
                </a:solidFill>
              </a:rPr>
              <a:t>。</a:t>
            </a:r>
            <a:endParaRPr lang="zh-CN" altLang="zh-CN" sz="2000" dirty="0"/>
          </a:p>
        </p:txBody>
      </p:sp>
    </p:spTree>
    <p:extLst>
      <p:ext uri="{BB962C8B-B14F-4D97-AF65-F5344CB8AC3E}">
        <p14:creationId xmlns:p14="http://schemas.microsoft.com/office/powerpoint/2010/main" val="227602431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zh-CN" altLang="zh-CN" sz="2800" dirty="0">
                <a:solidFill>
                  <a:srgbClr val="0000FF"/>
                </a:solidFill>
              </a:rPr>
              <a:t>（</a:t>
            </a:r>
            <a:r>
              <a:rPr lang="en-US" altLang="zh-CN" sz="2800" dirty="0">
                <a:solidFill>
                  <a:srgbClr val="0000FF"/>
                </a:solidFill>
              </a:rPr>
              <a:t>3</a:t>
            </a:r>
            <a:r>
              <a:rPr lang="zh-CN" altLang="zh-CN" sz="2800" dirty="0">
                <a:solidFill>
                  <a:srgbClr val="0000FF"/>
                </a:solidFill>
              </a:rPr>
              <a:t>）同一数据可以以不同的形式提供给不同用户</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48</a:t>
            </a:fld>
            <a:endParaRPr lang="zh-CN" altLang="en-US" dirty="0"/>
          </a:p>
        </p:txBody>
      </p:sp>
      <p:sp>
        <p:nvSpPr>
          <p:cNvPr id="7" name="文本占位符 6"/>
          <p:cNvSpPr>
            <a:spLocks noGrp="1"/>
          </p:cNvSpPr>
          <p:nvPr>
            <p:ph type="body" idx="1"/>
          </p:nvPr>
        </p:nvSpPr>
        <p:spPr>
          <a:xfrm>
            <a:off x="323528" y="764704"/>
            <a:ext cx="8640960" cy="5616624"/>
          </a:xfrm>
        </p:spPr>
        <p:txBody>
          <a:bodyPr>
            <a:noAutofit/>
          </a:bodyPr>
          <a:lstStyle/>
          <a:p>
            <a:r>
              <a:rPr lang="en-US" altLang="zh-CN" sz="2000" dirty="0"/>
              <a:t>CREATE VIEW </a:t>
            </a:r>
            <a:r>
              <a:rPr lang="en-US" altLang="zh-CN" sz="2000" dirty="0" err="1"/>
              <a:t>MCust</a:t>
            </a:r>
            <a:r>
              <a:rPr lang="en-US" altLang="zh-CN" sz="2000" dirty="0"/>
              <a:t>(</a:t>
            </a:r>
            <a:r>
              <a:rPr lang="en-US" altLang="zh-CN" sz="2000" dirty="0" err="1"/>
              <a:t>CNo,CName,CAge,Phone,Number</a:t>
            </a:r>
            <a:r>
              <a:rPr lang="en-US" altLang="zh-CN" sz="2000" dirty="0"/>
              <a:t>) AS</a:t>
            </a:r>
            <a:endParaRPr lang="zh-CN" altLang="zh-CN" sz="2000" dirty="0"/>
          </a:p>
          <a:p>
            <a:pPr marL="360363" indent="0">
              <a:buNone/>
            </a:pPr>
            <a:r>
              <a:rPr lang="en-US" altLang="zh-CN" sz="2000" dirty="0"/>
              <a:t>    SELECT </a:t>
            </a:r>
            <a:r>
              <a:rPr lang="en-US" altLang="zh-CN" sz="2000" dirty="0" err="1"/>
              <a:t>Cust.CNo,Cust.CName</a:t>
            </a:r>
            <a:r>
              <a:rPr lang="en-US" altLang="zh-CN" sz="2000" dirty="0"/>
              <a:t>,</a:t>
            </a:r>
            <a:endParaRPr lang="zh-CN" altLang="zh-CN" sz="2000" dirty="0"/>
          </a:p>
          <a:p>
            <a:pPr marL="360363" indent="0">
              <a:buNone/>
            </a:pPr>
            <a:r>
              <a:rPr lang="en-US" altLang="zh-CN" sz="2000" dirty="0"/>
              <a:t>        </a:t>
            </a:r>
            <a:r>
              <a:rPr lang="en-US" altLang="zh-CN" sz="1800" dirty="0"/>
              <a:t>DATEPART(YEAR,GETDATE())-DATEPART(</a:t>
            </a:r>
            <a:r>
              <a:rPr lang="en-US" altLang="zh-CN" sz="1800" dirty="0" err="1"/>
              <a:t>YEAR,Birth</a:t>
            </a:r>
            <a:r>
              <a:rPr lang="en-US" altLang="zh-CN" sz="1800" dirty="0"/>
              <a:t>),</a:t>
            </a:r>
            <a:r>
              <a:rPr lang="en-US" altLang="zh-CN" sz="1800" dirty="0" err="1"/>
              <a:t>Phone,Number</a:t>
            </a:r>
            <a:endParaRPr lang="zh-CN" altLang="zh-CN" sz="1800" dirty="0"/>
          </a:p>
          <a:p>
            <a:pPr marL="360363" indent="0">
              <a:buNone/>
            </a:pPr>
            <a:r>
              <a:rPr lang="en-US" altLang="zh-CN" sz="2000" dirty="0"/>
              <a:t>    FROM </a:t>
            </a:r>
            <a:r>
              <a:rPr lang="en-US" altLang="zh-CN" sz="2000" dirty="0" err="1"/>
              <a:t>Cust,CustStatisBuy</a:t>
            </a:r>
            <a:endParaRPr lang="zh-CN" altLang="zh-CN" sz="2000" dirty="0"/>
          </a:p>
          <a:p>
            <a:pPr marL="360363" indent="0">
              <a:buNone/>
            </a:pPr>
            <a:r>
              <a:rPr lang="en-US" altLang="zh-CN" sz="2000" dirty="0"/>
              <a:t>    WHERE </a:t>
            </a:r>
            <a:r>
              <a:rPr lang="en-US" altLang="zh-CN" sz="2000" dirty="0" err="1"/>
              <a:t>Cust.CNo</a:t>
            </a:r>
            <a:r>
              <a:rPr lang="en-US" altLang="zh-CN" sz="2000" dirty="0"/>
              <a:t>=</a:t>
            </a:r>
            <a:r>
              <a:rPr lang="en-US" altLang="zh-CN" sz="2000" dirty="0" err="1"/>
              <a:t>CustStatisBuy.CNo</a:t>
            </a:r>
            <a:endParaRPr lang="zh-CN" altLang="zh-CN" sz="2000" dirty="0"/>
          </a:p>
          <a:p>
            <a:r>
              <a:rPr lang="en-US" altLang="zh-CN" sz="2000" dirty="0"/>
              <a:t>CREATE VIEW </a:t>
            </a:r>
            <a:r>
              <a:rPr lang="en-US" altLang="zh-CN" sz="2000" dirty="0" err="1"/>
              <a:t>WCust</a:t>
            </a:r>
            <a:r>
              <a:rPr lang="en-US" altLang="zh-CN" sz="2000" dirty="0"/>
              <a:t> AS</a:t>
            </a:r>
            <a:endParaRPr lang="zh-CN" altLang="zh-CN" sz="2000" dirty="0"/>
          </a:p>
          <a:p>
            <a:pPr marL="360363" indent="0">
              <a:buNone/>
            </a:pPr>
            <a:r>
              <a:rPr lang="en-US" altLang="zh-CN" sz="2000" dirty="0"/>
              <a:t>    SELECT </a:t>
            </a:r>
            <a:r>
              <a:rPr lang="en-US" altLang="zh-CN" sz="2000" dirty="0" err="1"/>
              <a:t>Cust.CNo,Cust.CName,Birth,Marry,Email,SumPrice</a:t>
            </a:r>
            <a:endParaRPr lang="zh-CN" altLang="zh-CN" sz="2000" dirty="0"/>
          </a:p>
          <a:p>
            <a:pPr marL="360363" indent="0">
              <a:buNone/>
            </a:pPr>
            <a:r>
              <a:rPr lang="en-US" altLang="zh-CN" sz="2000" dirty="0"/>
              <a:t>    FROM </a:t>
            </a:r>
            <a:r>
              <a:rPr lang="en-US" altLang="zh-CN" sz="2000" dirty="0" err="1"/>
              <a:t>Cust,CustStatisBuy</a:t>
            </a:r>
            <a:endParaRPr lang="zh-CN" altLang="zh-CN" sz="2000" dirty="0"/>
          </a:p>
          <a:p>
            <a:pPr marL="360363" indent="0">
              <a:buNone/>
            </a:pPr>
            <a:r>
              <a:rPr lang="en-US" altLang="zh-CN" sz="2000" dirty="0"/>
              <a:t>    WHERE </a:t>
            </a:r>
            <a:r>
              <a:rPr lang="en-US" altLang="zh-CN" sz="2000" dirty="0" err="1"/>
              <a:t>Cust.CNo</a:t>
            </a:r>
            <a:r>
              <a:rPr lang="en-US" altLang="zh-CN" sz="2000" dirty="0"/>
              <a:t>=</a:t>
            </a:r>
            <a:r>
              <a:rPr lang="en-US" altLang="zh-CN" sz="2000" dirty="0" err="1"/>
              <a:t>CustStatisBuy.CNo</a:t>
            </a:r>
            <a:endParaRPr lang="zh-CN" altLang="zh-CN" sz="2000" dirty="0"/>
          </a:p>
        </p:txBody>
      </p:sp>
    </p:spTree>
    <p:extLst>
      <p:ext uri="{BB962C8B-B14F-4D97-AF65-F5344CB8AC3E}">
        <p14:creationId xmlns:p14="http://schemas.microsoft.com/office/powerpoint/2010/main" val="83510341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zh-CN" altLang="zh-CN" sz="2800" dirty="0">
                <a:solidFill>
                  <a:srgbClr val="0000FF"/>
                </a:solidFill>
              </a:rPr>
              <a:t>（</a:t>
            </a:r>
            <a:r>
              <a:rPr lang="en-US" altLang="zh-CN" sz="2800" dirty="0">
                <a:solidFill>
                  <a:srgbClr val="0000FF"/>
                </a:solidFill>
              </a:rPr>
              <a:t>4</a:t>
            </a:r>
            <a:r>
              <a:rPr lang="zh-CN" altLang="zh-CN" sz="2800" dirty="0">
                <a:solidFill>
                  <a:srgbClr val="0000FF"/>
                </a:solidFill>
              </a:rPr>
              <a:t>）在一定程度上确保了数据安全</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49</a:t>
            </a:fld>
            <a:endParaRPr lang="zh-CN" altLang="en-US" dirty="0"/>
          </a:p>
        </p:txBody>
      </p:sp>
      <p:sp>
        <p:nvSpPr>
          <p:cNvPr id="7" name="文本占位符 6"/>
          <p:cNvSpPr>
            <a:spLocks noGrp="1"/>
          </p:cNvSpPr>
          <p:nvPr>
            <p:ph type="body" idx="1"/>
          </p:nvPr>
        </p:nvSpPr>
        <p:spPr>
          <a:xfrm>
            <a:off x="179512" y="764704"/>
            <a:ext cx="8784976" cy="5616624"/>
          </a:xfrm>
        </p:spPr>
        <p:txBody>
          <a:bodyPr>
            <a:noAutofit/>
          </a:bodyPr>
          <a:lstStyle/>
          <a:p>
            <a:r>
              <a:rPr lang="zh-CN" altLang="zh-CN" sz="2000" dirty="0">
                <a:solidFill>
                  <a:srgbClr val="0000FF"/>
                </a:solidFill>
              </a:rPr>
              <a:t>如果用户的访问权限是指定视图，则用户无权使用数据库中的其它数据，从而在一定程度上保护了数据库中数据的安全。</a:t>
            </a:r>
          </a:p>
          <a:p>
            <a:r>
              <a:rPr lang="zh-CN" altLang="zh-CN" sz="2000" dirty="0"/>
              <a:t>根据例</a:t>
            </a:r>
            <a:r>
              <a:rPr lang="en-US" altLang="zh-CN" sz="2000" dirty="0"/>
              <a:t>7.11</a:t>
            </a:r>
            <a:r>
              <a:rPr lang="zh-CN" altLang="zh-CN" sz="2000" dirty="0"/>
              <a:t>，不难看出：</a:t>
            </a:r>
          </a:p>
          <a:p>
            <a:r>
              <a:rPr lang="zh-CN" altLang="zh-CN" sz="2000" dirty="0"/>
              <a:t>男客户经过授权，只能使用</a:t>
            </a:r>
            <a:r>
              <a:rPr lang="en-US" altLang="zh-CN" sz="2000" dirty="0" err="1"/>
              <a:t>MCust</a:t>
            </a:r>
            <a:r>
              <a:rPr lang="zh-CN" altLang="zh-CN" sz="2000" dirty="0"/>
              <a:t>的户号、户名、年龄、电话和购书本数，而无权使用</a:t>
            </a:r>
            <a:r>
              <a:rPr lang="en-US" altLang="zh-CN" sz="2000" dirty="0"/>
              <a:t>EBook</a:t>
            </a:r>
            <a:r>
              <a:rPr lang="zh-CN" altLang="zh-CN" sz="2000" dirty="0"/>
              <a:t>中的其它数据；且年龄是由生日导出的数据，购书本数是视图</a:t>
            </a:r>
            <a:r>
              <a:rPr lang="en-US" altLang="zh-CN" sz="2000" dirty="0" err="1"/>
              <a:t>CustStatisBuy</a:t>
            </a:r>
            <a:r>
              <a:rPr lang="zh-CN" altLang="zh-CN" sz="2000" dirty="0"/>
              <a:t>中的数据。</a:t>
            </a:r>
          </a:p>
          <a:p>
            <a:r>
              <a:rPr lang="zh-CN" altLang="zh-CN" sz="2000" dirty="0"/>
              <a:t>女客户经过授权，只能使用</a:t>
            </a:r>
            <a:r>
              <a:rPr lang="en-US" altLang="zh-CN" sz="2000" dirty="0" err="1"/>
              <a:t>WCust</a:t>
            </a:r>
            <a:r>
              <a:rPr lang="zh-CN" altLang="zh-CN" sz="2000" dirty="0"/>
              <a:t>的户号、户名、生日、婚否、电子邮箱和购书金额，而无权使用</a:t>
            </a:r>
            <a:r>
              <a:rPr lang="en-US" altLang="zh-CN" sz="2000" dirty="0"/>
              <a:t>EBook</a:t>
            </a:r>
            <a:r>
              <a:rPr lang="zh-CN" altLang="zh-CN" sz="2000" dirty="0"/>
              <a:t>中的其它数据；且购书金额是视图</a:t>
            </a:r>
            <a:r>
              <a:rPr lang="en-US" altLang="zh-CN" sz="2000" dirty="0" err="1"/>
              <a:t>CustStatisBuy</a:t>
            </a:r>
            <a:r>
              <a:rPr lang="zh-CN" altLang="zh-CN" sz="2000" dirty="0"/>
              <a:t>中的数据。</a:t>
            </a:r>
          </a:p>
          <a:p>
            <a:r>
              <a:rPr lang="zh-CN" altLang="zh-CN" sz="2000" dirty="0"/>
              <a:t>因此，在一定程度上确保了</a:t>
            </a:r>
            <a:r>
              <a:rPr lang="en-US" altLang="zh-CN" sz="2000" dirty="0"/>
              <a:t>EBook</a:t>
            </a:r>
            <a:r>
              <a:rPr lang="zh-CN" altLang="zh-CN" sz="2000" dirty="0"/>
              <a:t>的保密性和对</a:t>
            </a:r>
            <a:r>
              <a:rPr lang="en-US" altLang="zh-CN" sz="2000" dirty="0"/>
              <a:t>EBook</a:t>
            </a:r>
            <a:r>
              <a:rPr lang="zh-CN" altLang="zh-CN" sz="2000" dirty="0"/>
              <a:t>的保护。</a:t>
            </a:r>
          </a:p>
        </p:txBody>
      </p:sp>
    </p:spTree>
    <p:extLst>
      <p:ext uri="{BB962C8B-B14F-4D97-AF65-F5344CB8AC3E}">
        <p14:creationId xmlns:p14="http://schemas.microsoft.com/office/powerpoint/2010/main" val="285422447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zh-CN" altLang="zh-CN" sz="2800" dirty="0">
                <a:solidFill>
                  <a:srgbClr val="0000FF"/>
                </a:solidFill>
              </a:rPr>
              <a:t>（</a:t>
            </a:r>
            <a:r>
              <a:rPr lang="en-US" altLang="zh-CN" sz="2800" dirty="0">
                <a:solidFill>
                  <a:srgbClr val="0000FF"/>
                </a:solidFill>
              </a:rPr>
              <a:t>5</a:t>
            </a:r>
            <a:r>
              <a:rPr lang="zh-CN" altLang="zh-CN" sz="2800" dirty="0">
                <a:solidFill>
                  <a:srgbClr val="0000FF"/>
                </a:solidFill>
              </a:rPr>
              <a:t>）在一定程度上提供了逻辑独立性</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50</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a:lnSpc>
                <a:spcPts val="3000"/>
              </a:lnSpc>
            </a:pPr>
            <a:r>
              <a:rPr lang="zh-CN" altLang="zh-CN" sz="2000" dirty="0">
                <a:solidFill>
                  <a:srgbClr val="0000FF"/>
                </a:solidFill>
              </a:rPr>
              <a:t>如果数据库的逻辑模型使用了</a:t>
            </a:r>
            <a:r>
              <a:rPr lang="en-US" altLang="zh-CN" sz="2000" dirty="0">
                <a:solidFill>
                  <a:srgbClr val="0000FF"/>
                </a:solidFill>
              </a:rPr>
              <a:t>N</a:t>
            </a:r>
            <a:r>
              <a:rPr lang="zh-CN" altLang="zh-CN" sz="2000" dirty="0">
                <a:solidFill>
                  <a:srgbClr val="0000FF"/>
                </a:solidFill>
              </a:rPr>
              <a:t>个关系，在设计完成之后发现，逻辑模型达不到系统的范式要求，结果把</a:t>
            </a:r>
            <a:r>
              <a:rPr lang="en-US" altLang="zh-CN" sz="2000" dirty="0">
                <a:solidFill>
                  <a:srgbClr val="0000FF"/>
                </a:solidFill>
              </a:rPr>
              <a:t>N</a:t>
            </a:r>
            <a:r>
              <a:rPr lang="zh-CN" altLang="zh-CN" sz="2000" dirty="0">
                <a:solidFill>
                  <a:srgbClr val="0000FF"/>
                </a:solidFill>
              </a:rPr>
              <a:t>个关系分解成了</a:t>
            </a:r>
            <a:r>
              <a:rPr lang="en-US" altLang="zh-CN" sz="2000" dirty="0">
                <a:solidFill>
                  <a:srgbClr val="0000FF"/>
                </a:solidFill>
              </a:rPr>
              <a:t>M</a:t>
            </a:r>
            <a:r>
              <a:rPr lang="zh-CN" altLang="zh-CN" sz="2000" dirty="0">
                <a:solidFill>
                  <a:srgbClr val="0000FF"/>
                </a:solidFill>
              </a:rPr>
              <a:t>（</a:t>
            </a:r>
            <a:r>
              <a:rPr lang="en-US" altLang="zh-CN" sz="2000" dirty="0">
                <a:solidFill>
                  <a:srgbClr val="0000FF"/>
                </a:solidFill>
              </a:rPr>
              <a:t>&gt;N</a:t>
            </a:r>
            <a:r>
              <a:rPr lang="zh-CN" altLang="zh-CN" sz="2000" dirty="0">
                <a:solidFill>
                  <a:srgbClr val="0000FF"/>
                </a:solidFill>
              </a:rPr>
              <a:t>）个关系；这时可以利用</a:t>
            </a:r>
            <a:r>
              <a:rPr lang="en-US" altLang="zh-CN" sz="2000" dirty="0">
                <a:solidFill>
                  <a:srgbClr val="0000FF"/>
                </a:solidFill>
              </a:rPr>
              <a:t>M</a:t>
            </a:r>
            <a:r>
              <a:rPr lang="zh-CN" altLang="zh-CN" sz="2000" dirty="0">
                <a:solidFill>
                  <a:srgbClr val="0000FF"/>
                </a:solidFill>
              </a:rPr>
              <a:t>个关系，创建</a:t>
            </a:r>
            <a:r>
              <a:rPr lang="en-US" altLang="zh-CN" sz="2000" dirty="0">
                <a:solidFill>
                  <a:srgbClr val="0000FF"/>
                </a:solidFill>
              </a:rPr>
              <a:t>N</a:t>
            </a:r>
            <a:r>
              <a:rPr lang="zh-CN" altLang="zh-CN" sz="2000" dirty="0">
                <a:solidFill>
                  <a:srgbClr val="0000FF"/>
                </a:solidFill>
              </a:rPr>
              <a:t>个视图，用于代替原来的</a:t>
            </a:r>
            <a:r>
              <a:rPr lang="en-US" altLang="zh-CN" sz="2000" dirty="0">
                <a:solidFill>
                  <a:srgbClr val="0000FF"/>
                </a:solidFill>
              </a:rPr>
              <a:t>N</a:t>
            </a:r>
            <a:r>
              <a:rPr lang="zh-CN" altLang="zh-CN" sz="2000" dirty="0">
                <a:solidFill>
                  <a:srgbClr val="0000FF"/>
                </a:solidFill>
              </a:rPr>
              <a:t>个关系。</a:t>
            </a:r>
          </a:p>
          <a:p>
            <a:pPr>
              <a:lnSpc>
                <a:spcPts val="3000"/>
              </a:lnSpc>
            </a:pPr>
            <a:r>
              <a:rPr lang="zh-CN" altLang="zh-CN" sz="2000" dirty="0">
                <a:solidFill>
                  <a:srgbClr val="0000FF"/>
                </a:solidFill>
              </a:rPr>
              <a:t>例</a:t>
            </a:r>
            <a:r>
              <a:rPr lang="en-US" altLang="zh-CN" sz="2000" dirty="0">
                <a:solidFill>
                  <a:srgbClr val="0000FF"/>
                </a:solidFill>
              </a:rPr>
              <a:t>7.12  </a:t>
            </a:r>
            <a:r>
              <a:rPr lang="zh-CN" altLang="zh-CN" sz="2000" dirty="0"/>
              <a:t>在</a:t>
            </a:r>
            <a:r>
              <a:rPr lang="en-US" altLang="zh-CN" sz="2000" dirty="0"/>
              <a:t>EBook</a:t>
            </a:r>
            <a:r>
              <a:rPr lang="zh-CN" altLang="zh-CN" sz="2000" dirty="0"/>
              <a:t>中，如果逻辑模型使用的单表</a:t>
            </a:r>
            <a:r>
              <a:rPr lang="en-US" altLang="zh-CN" sz="2000" dirty="0" err="1"/>
              <a:t>BInfo</a:t>
            </a:r>
            <a:r>
              <a:rPr lang="zh-CN" altLang="zh-CN" sz="2000" dirty="0"/>
              <a:t>如下：</a:t>
            </a:r>
          </a:p>
          <a:p>
            <a:pPr marL="360363" indent="0">
              <a:lnSpc>
                <a:spcPts val="3000"/>
              </a:lnSpc>
              <a:buNone/>
            </a:pPr>
            <a:r>
              <a:rPr lang="en-US" altLang="zh-CN" sz="2000" dirty="0" err="1"/>
              <a:t>BInfo</a:t>
            </a:r>
            <a:r>
              <a:rPr lang="zh-CN" altLang="zh-CN" sz="2000" dirty="0"/>
              <a:t>（</a:t>
            </a:r>
            <a:r>
              <a:rPr lang="en-US" altLang="zh-CN" sz="2000" dirty="0" err="1"/>
              <a:t>BNo</a:t>
            </a:r>
            <a:r>
              <a:rPr lang="zh-CN" altLang="zh-CN" sz="2000" dirty="0"/>
              <a:t>，</a:t>
            </a:r>
            <a:r>
              <a:rPr lang="en-US" altLang="zh-CN" sz="2000" dirty="0" err="1"/>
              <a:t>BName</a:t>
            </a:r>
            <a:r>
              <a:rPr lang="zh-CN" altLang="zh-CN" sz="2000" dirty="0"/>
              <a:t>，</a:t>
            </a:r>
            <a:r>
              <a:rPr lang="en-US" altLang="zh-CN" sz="2000" dirty="0"/>
              <a:t>Author</a:t>
            </a:r>
            <a:r>
              <a:rPr lang="zh-CN" altLang="zh-CN" sz="2000" dirty="0"/>
              <a:t>，</a:t>
            </a:r>
            <a:r>
              <a:rPr lang="en-US" altLang="zh-CN" sz="2000" dirty="0" err="1"/>
              <a:t>EditNo</a:t>
            </a:r>
            <a:r>
              <a:rPr lang="zh-CN" altLang="zh-CN" sz="2000" dirty="0"/>
              <a:t>，</a:t>
            </a:r>
            <a:r>
              <a:rPr lang="en-US" altLang="zh-CN" sz="2000" dirty="0"/>
              <a:t>Price</a:t>
            </a:r>
            <a:r>
              <a:rPr lang="zh-CN" altLang="zh-CN" sz="2000" dirty="0"/>
              <a:t>，</a:t>
            </a:r>
            <a:r>
              <a:rPr lang="en-US" altLang="zh-CN" sz="2000" dirty="0" err="1"/>
              <a:t>PPrice</a:t>
            </a:r>
            <a:r>
              <a:rPr lang="zh-CN" altLang="zh-CN" sz="2000" dirty="0"/>
              <a:t>，</a:t>
            </a:r>
            <a:r>
              <a:rPr lang="en-US" altLang="zh-CN" sz="2000" dirty="0" err="1"/>
              <a:t>SPrice</a:t>
            </a:r>
            <a:r>
              <a:rPr lang="zh-CN" altLang="zh-CN" sz="2000" dirty="0"/>
              <a:t>，</a:t>
            </a:r>
            <a:r>
              <a:rPr lang="en-US" altLang="zh-CN" sz="2000" dirty="0" err="1"/>
              <a:t>CNo</a:t>
            </a:r>
            <a:r>
              <a:rPr lang="zh-CN" altLang="zh-CN" sz="2000" dirty="0"/>
              <a:t>，</a:t>
            </a:r>
            <a:r>
              <a:rPr lang="en-US" altLang="zh-CN" sz="2000" dirty="0" err="1"/>
              <a:t>CName</a:t>
            </a:r>
            <a:r>
              <a:rPr lang="zh-CN" altLang="zh-CN" sz="2000" dirty="0"/>
              <a:t>，</a:t>
            </a:r>
            <a:r>
              <a:rPr lang="en-US" altLang="zh-CN" sz="2000" dirty="0" err="1"/>
              <a:t>CSex</a:t>
            </a:r>
            <a:r>
              <a:rPr lang="zh-CN" altLang="zh-CN" sz="2000" dirty="0"/>
              <a:t>，</a:t>
            </a:r>
            <a:r>
              <a:rPr lang="en-US" altLang="zh-CN" sz="2000" dirty="0"/>
              <a:t>Birth</a:t>
            </a:r>
            <a:r>
              <a:rPr lang="zh-CN" altLang="zh-CN" sz="2000" dirty="0"/>
              <a:t>，</a:t>
            </a:r>
            <a:r>
              <a:rPr lang="en-US" altLang="zh-CN" sz="2000" dirty="0" err="1"/>
              <a:t>CPhone</a:t>
            </a:r>
            <a:r>
              <a:rPr lang="zh-CN" altLang="zh-CN" sz="2000" dirty="0"/>
              <a:t>，</a:t>
            </a:r>
            <a:r>
              <a:rPr lang="en-US" altLang="zh-CN" sz="2000" dirty="0" err="1"/>
              <a:t>CEmail</a:t>
            </a:r>
            <a:r>
              <a:rPr lang="zh-CN" altLang="zh-CN" sz="2000" dirty="0"/>
              <a:t>，</a:t>
            </a:r>
            <a:r>
              <a:rPr lang="en-US" altLang="zh-CN" sz="2000" dirty="0"/>
              <a:t>Marry</a:t>
            </a:r>
            <a:r>
              <a:rPr lang="zh-CN" altLang="zh-CN" sz="2000" dirty="0"/>
              <a:t>，</a:t>
            </a:r>
            <a:r>
              <a:rPr lang="en-US" altLang="zh-CN" sz="2000" dirty="0"/>
              <a:t>Photo</a:t>
            </a:r>
            <a:r>
              <a:rPr lang="zh-CN" altLang="zh-CN" sz="2000" dirty="0"/>
              <a:t>，</a:t>
            </a:r>
            <a:r>
              <a:rPr lang="en-US" altLang="zh-CN" sz="2000" dirty="0" err="1"/>
              <a:t>PNo</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err="1"/>
              <a:t>PPhone</a:t>
            </a:r>
            <a:r>
              <a:rPr lang="zh-CN" altLang="zh-CN" sz="2000" dirty="0"/>
              <a:t>，</a:t>
            </a:r>
            <a:r>
              <a:rPr lang="en-US" altLang="zh-CN" sz="2000" dirty="0" err="1"/>
              <a:t>PEmail</a:t>
            </a:r>
            <a:r>
              <a:rPr lang="zh-CN" altLang="zh-CN" sz="2000" dirty="0"/>
              <a:t>，</a:t>
            </a:r>
            <a:r>
              <a:rPr lang="en-US" altLang="zh-CN" sz="2000" dirty="0" err="1"/>
              <a:t>HPage</a:t>
            </a:r>
            <a:r>
              <a:rPr lang="zh-CN" altLang="zh-CN" sz="2000" dirty="0"/>
              <a:t>，</a:t>
            </a:r>
            <a:r>
              <a:rPr lang="en-US" altLang="zh-CN" sz="2000" dirty="0" err="1"/>
              <a:t>PDate</a:t>
            </a:r>
            <a:r>
              <a:rPr lang="zh-CN" altLang="zh-CN" sz="2000" dirty="0"/>
              <a:t>）。</a:t>
            </a:r>
          </a:p>
          <a:p>
            <a:pPr marL="360363" indent="0">
              <a:lnSpc>
                <a:spcPts val="3000"/>
              </a:lnSpc>
              <a:buNone/>
            </a:pPr>
            <a:r>
              <a:rPr lang="zh-CN" altLang="zh-CN" sz="2000" dirty="0"/>
              <a:t>则为了使</a:t>
            </a:r>
            <a:r>
              <a:rPr lang="en-US" altLang="zh-CN" sz="2000" dirty="0" err="1"/>
              <a:t>BInfo</a:t>
            </a:r>
            <a:r>
              <a:rPr lang="zh-CN" altLang="zh-CN" sz="2000" dirty="0"/>
              <a:t>满足系统的规范要求（即</a:t>
            </a:r>
            <a:r>
              <a:rPr lang="en-US" altLang="zh-CN" sz="2000" dirty="0"/>
              <a:t>3NF</a:t>
            </a:r>
            <a:r>
              <a:rPr lang="zh-CN" altLang="zh-CN" sz="2000" dirty="0"/>
              <a:t>），需要把</a:t>
            </a:r>
            <a:r>
              <a:rPr lang="en-US" altLang="zh-CN" sz="2000" dirty="0" err="1"/>
              <a:t>BInfo</a:t>
            </a:r>
            <a:r>
              <a:rPr lang="zh-CN" altLang="zh-CN" sz="2000" dirty="0"/>
              <a:t>分解为</a:t>
            </a:r>
            <a:r>
              <a:rPr lang="en-US" altLang="zh-CN" sz="2000" dirty="0"/>
              <a:t>Book</a:t>
            </a:r>
            <a:r>
              <a:rPr lang="zh-CN" altLang="zh-CN" sz="2000" dirty="0"/>
              <a:t>、</a:t>
            </a:r>
            <a:r>
              <a:rPr lang="en-US" altLang="zh-CN" sz="2000" dirty="0" err="1"/>
              <a:t>Cust</a:t>
            </a:r>
            <a:r>
              <a:rPr lang="zh-CN" altLang="zh-CN" sz="2000" dirty="0"/>
              <a:t>、</a:t>
            </a:r>
            <a:r>
              <a:rPr lang="en-US" altLang="zh-CN" sz="2000" dirty="0"/>
              <a:t>Press</a:t>
            </a:r>
            <a:r>
              <a:rPr lang="zh-CN" altLang="zh-CN" sz="2000" dirty="0"/>
              <a:t>和</a:t>
            </a:r>
            <a:r>
              <a:rPr lang="en-US" altLang="zh-CN" sz="2000" dirty="0"/>
              <a:t>Buy</a:t>
            </a:r>
            <a:r>
              <a:rPr lang="zh-CN" altLang="zh-CN" sz="2000" dirty="0"/>
              <a:t>。即：</a:t>
            </a:r>
          </a:p>
          <a:p>
            <a:pPr marL="360363" indent="0">
              <a:lnSpc>
                <a:spcPts val="3000"/>
              </a:lnSpc>
              <a:buNone/>
            </a:pPr>
            <a:r>
              <a:rPr lang="en-US" altLang="zh-CN" sz="1800" dirty="0"/>
              <a:t>Book</a:t>
            </a:r>
            <a:r>
              <a:rPr lang="zh-CN" altLang="zh-CN" sz="1800" dirty="0"/>
              <a:t>（</a:t>
            </a:r>
            <a:r>
              <a:rPr lang="en-US" altLang="zh-CN" sz="1800" dirty="0" err="1"/>
              <a:t>BNo</a:t>
            </a:r>
            <a:r>
              <a:rPr lang="zh-CN" altLang="zh-CN" sz="1800" dirty="0"/>
              <a:t>，</a:t>
            </a:r>
            <a:r>
              <a:rPr lang="en-US" altLang="zh-CN" sz="1800" dirty="0" err="1"/>
              <a:t>BName</a:t>
            </a:r>
            <a:r>
              <a:rPr lang="zh-CN" altLang="zh-CN" sz="1800" dirty="0"/>
              <a:t>，</a:t>
            </a:r>
            <a:r>
              <a:rPr lang="en-US" altLang="zh-CN" sz="1800" dirty="0"/>
              <a:t>Author</a:t>
            </a:r>
            <a:r>
              <a:rPr lang="zh-CN" altLang="zh-CN" sz="1800" dirty="0"/>
              <a:t>，</a:t>
            </a:r>
            <a:r>
              <a:rPr lang="en-US" altLang="zh-CN" sz="1800" dirty="0" err="1"/>
              <a:t>PNo</a:t>
            </a:r>
            <a:r>
              <a:rPr lang="zh-CN" altLang="zh-CN" sz="1800" dirty="0"/>
              <a:t>，</a:t>
            </a:r>
            <a:r>
              <a:rPr lang="en-US" altLang="zh-CN" sz="1800" dirty="0" err="1"/>
              <a:t>EditNo</a:t>
            </a:r>
            <a:r>
              <a:rPr lang="zh-CN" altLang="zh-CN" sz="1800" dirty="0"/>
              <a:t>，</a:t>
            </a:r>
            <a:r>
              <a:rPr lang="en-US" altLang="zh-CN" sz="1800" dirty="0"/>
              <a:t>Price</a:t>
            </a:r>
            <a:r>
              <a:rPr lang="zh-CN" altLang="zh-CN" sz="1800" dirty="0"/>
              <a:t>，</a:t>
            </a:r>
            <a:r>
              <a:rPr lang="en-US" altLang="zh-CN" sz="1800" dirty="0" err="1"/>
              <a:t>PPrice</a:t>
            </a:r>
            <a:r>
              <a:rPr lang="zh-CN" altLang="zh-CN" sz="1800" dirty="0"/>
              <a:t>，</a:t>
            </a:r>
            <a:r>
              <a:rPr lang="en-US" altLang="zh-CN" sz="1800" dirty="0" err="1"/>
              <a:t>SPrice</a:t>
            </a:r>
            <a:r>
              <a:rPr lang="zh-CN" altLang="zh-CN" sz="1800" dirty="0"/>
              <a:t>）</a:t>
            </a:r>
          </a:p>
          <a:p>
            <a:pPr marL="360363" indent="0">
              <a:lnSpc>
                <a:spcPts val="3000"/>
              </a:lnSpc>
              <a:buNone/>
            </a:pPr>
            <a:r>
              <a:rPr lang="en-US" altLang="zh-CN" sz="2000" dirty="0" err="1"/>
              <a:t>Cust</a:t>
            </a:r>
            <a:r>
              <a:rPr lang="zh-CN" altLang="zh-CN" sz="2000" dirty="0"/>
              <a:t>（</a:t>
            </a:r>
            <a:r>
              <a:rPr lang="en-US" altLang="zh-CN" sz="2000" dirty="0" err="1"/>
              <a:t>CNo</a:t>
            </a:r>
            <a:r>
              <a:rPr lang="zh-CN" altLang="zh-CN" sz="2000" dirty="0"/>
              <a:t>，</a:t>
            </a:r>
            <a:r>
              <a:rPr lang="en-US" altLang="zh-CN" sz="2000" dirty="0" err="1"/>
              <a:t>CName</a:t>
            </a:r>
            <a:r>
              <a:rPr lang="zh-CN" altLang="zh-CN" sz="2000" dirty="0"/>
              <a:t>，</a:t>
            </a:r>
            <a:r>
              <a:rPr lang="en-US" altLang="zh-CN" sz="2000" dirty="0" err="1"/>
              <a:t>CSex</a:t>
            </a:r>
            <a:r>
              <a:rPr lang="zh-CN" altLang="zh-CN" sz="2000" dirty="0"/>
              <a:t>，</a:t>
            </a:r>
            <a:r>
              <a:rPr lang="en-US" altLang="zh-CN" sz="2000" dirty="0"/>
              <a:t>Birth</a:t>
            </a:r>
            <a:r>
              <a:rPr lang="zh-CN" altLang="zh-CN" sz="2000" dirty="0"/>
              <a:t>，</a:t>
            </a:r>
            <a:r>
              <a:rPr lang="en-US" altLang="zh-CN" sz="2000" dirty="0"/>
              <a:t>Phone</a:t>
            </a:r>
            <a:r>
              <a:rPr lang="zh-CN" altLang="zh-CN" sz="2000" dirty="0"/>
              <a:t>，</a:t>
            </a:r>
            <a:r>
              <a:rPr lang="en-US" altLang="zh-CN" sz="2000" dirty="0"/>
              <a:t>Marry</a:t>
            </a:r>
            <a:r>
              <a:rPr lang="zh-CN" altLang="zh-CN" sz="2000" dirty="0"/>
              <a:t>，</a:t>
            </a:r>
            <a:r>
              <a:rPr lang="en-US" altLang="zh-CN" sz="2000" dirty="0"/>
              <a:t>Photo</a:t>
            </a:r>
            <a:r>
              <a:rPr lang="zh-CN" altLang="zh-CN" sz="2000" dirty="0"/>
              <a:t>，</a:t>
            </a:r>
            <a:r>
              <a:rPr lang="en-US" altLang="zh-CN" sz="2000" dirty="0"/>
              <a:t>Email</a:t>
            </a:r>
            <a:r>
              <a:rPr lang="zh-CN" altLang="zh-CN" sz="2000" dirty="0"/>
              <a:t>）</a:t>
            </a:r>
          </a:p>
          <a:p>
            <a:pPr marL="360363" indent="0">
              <a:lnSpc>
                <a:spcPts val="3000"/>
              </a:lnSpc>
              <a:buNone/>
            </a:pPr>
            <a:r>
              <a:rPr lang="en-US" altLang="zh-CN" sz="2000" dirty="0"/>
              <a:t>Press</a:t>
            </a:r>
            <a:r>
              <a:rPr lang="zh-CN" altLang="zh-CN" sz="2000" dirty="0"/>
              <a:t>（</a:t>
            </a:r>
            <a:r>
              <a:rPr lang="en-US" altLang="zh-CN" sz="2000" dirty="0" err="1"/>
              <a:t>PNo</a:t>
            </a:r>
            <a:r>
              <a:rPr lang="zh-CN" altLang="zh-CN" sz="2000" dirty="0"/>
              <a:t>，</a:t>
            </a:r>
            <a:r>
              <a:rPr lang="en-US" altLang="zh-CN" sz="2000" dirty="0" err="1"/>
              <a:t>PName</a:t>
            </a:r>
            <a:r>
              <a:rPr lang="zh-CN" altLang="zh-CN" sz="2000" dirty="0"/>
              <a:t>，</a:t>
            </a:r>
            <a:r>
              <a:rPr lang="en-US" altLang="zh-CN" sz="2000" dirty="0" err="1"/>
              <a:t>PCode</a:t>
            </a:r>
            <a:r>
              <a:rPr lang="zh-CN" altLang="zh-CN" sz="2000" dirty="0"/>
              <a:t>，</a:t>
            </a:r>
            <a:r>
              <a:rPr lang="en-US" altLang="zh-CN" sz="2000" dirty="0" err="1"/>
              <a:t>PAddr</a:t>
            </a:r>
            <a:r>
              <a:rPr lang="zh-CN" altLang="zh-CN" sz="2000" dirty="0"/>
              <a:t>，</a:t>
            </a:r>
            <a:r>
              <a:rPr lang="en-US" altLang="zh-CN" sz="2000" dirty="0"/>
              <a:t>Phone</a:t>
            </a:r>
            <a:r>
              <a:rPr lang="zh-CN" altLang="zh-CN" sz="2000" dirty="0"/>
              <a:t>，</a:t>
            </a:r>
            <a:r>
              <a:rPr lang="en-US" altLang="zh-CN" sz="2000" dirty="0"/>
              <a:t>Email</a:t>
            </a:r>
            <a:r>
              <a:rPr lang="zh-CN" altLang="zh-CN" sz="2000" dirty="0"/>
              <a:t>，</a:t>
            </a:r>
            <a:r>
              <a:rPr lang="en-US" altLang="zh-CN" sz="2000" dirty="0" err="1"/>
              <a:t>HPage</a:t>
            </a:r>
            <a:r>
              <a:rPr lang="zh-CN" altLang="zh-CN" sz="2000" dirty="0"/>
              <a:t>）</a:t>
            </a:r>
          </a:p>
          <a:p>
            <a:pPr marL="360363" indent="0">
              <a:lnSpc>
                <a:spcPts val="3000"/>
              </a:lnSpc>
              <a:buNone/>
            </a:pPr>
            <a:r>
              <a:rPr lang="en-US" altLang="zh-CN" sz="2000" dirty="0"/>
              <a:t>Buy</a:t>
            </a:r>
            <a:r>
              <a:rPr lang="zh-CN" altLang="zh-CN" sz="2000" dirty="0"/>
              <a:t>（</a:t>
            </a:r>
            <a:r>
              <a:rPr lang="en-US" altLang="zh-CN" sz="2000" dirty="0" err="1"/>
              <a:t>CNo</a:t>
            </a:r>
            <a:r>
              <a:rPr lang="zh-CN" altLang="zh-CN" sz="2000" dirty="0"/>
              <a:t>，</a:t>
            </a:r>
            <a:r>
              <a:rPr lang="en-US" altLang="zh-CN" sz="2000" dirty="0" err="1"/>
              <a:t>BNo</a:t>
            </a:r>
            <a:r>
              <a:rPr lang="zh-CN" altLang="zh-CN" sz="2000" dirty="0"/>
              <a:t>，</a:t>
            </a:r>
            <a:r>
              <a:rPr lang="en-US" altLang="zh-CN" sz="2000" dirty="0" err="1"/>
              <a:t>PDate</a:t>
            </a:r>
            <a:r>
              <a:rPr lang="zh-CN" altLang="zh-CN" sz="2000" dirty="0"/>
              <a:t>）</a:t>
            </a:r>
          </a:p>
          <a:p>
            <a:pPr>
              <a:lnSpc>
                <a:spcPts val="3000"/>
              </a:lnSpc>
            </a:pPr>
            <a:r>
              <a:rPr lang="zh-CN" altLang="zh-CN" sz="2000" dirty="0"/>
              <a:t>如何利用</a:t>
            </a:r>
            <a:r>
              <a:rPr lang="en-US" altLang="zh-CN" sz="2000" dirty="0"/>
              <a:t>Book</a:t>
            </a:r>
            <a:r>
              <a:rPr lang="zh-CN" altLang="zh-CN" sz="2000" dirty="0"/>
              <a:t>、</a:t>
            </a:r>
            <a:r>
              <a:rPr lang="en-US" altLang="zh-CN" sz="2000" dirty="0" err="1"/>
              <a:t>Cust</a:t>
            </a:r>
            <a:r>
              <a:rPr lang="zh-CN" altLang="zh-CN" sz="2000" dirty="0"/>
              <a:t>、</a:t>
            </a:r>
            <a:r>
              <a:rPr lang="en-US" altLang="zh-CN" sz="2000" dirty="0"/>
              <a:t>Press</a:t>
            </a:r>
            <a:r>
              <a:rPr lang="zh-CN" altLang="zh-CN" sz="2000" dirty="0"/>
              <a:t>和</a:t>
            </a:r>
            <a:r>
              <a:rPr lang="en-US" altLang="zh-CN" sz="2000" dirty="0"/>
              <a:t>Buy</a:t>
            </a:r>
            <a:r>
              <a:rPr lang="zh-CN" altLang="zh-CN" sz="2000" dirty="0"/>
              <a:t>替代</a:t>
            </a:r>
            <a:r>
              <a:rPr lang="en-US" altLang="zh-CN" sz="2000" dirty="0" err="1"/>
              <a:t>BInfo</a:t>
            </a:r>
            <a:r>
              <a:rPr lang="zh-CN" altLang="zh-CN" sz="2000" dirty="0"/>
              <a:t>？</a:t>
            </a:r>
          </a:p>
          <a:p>
            <a:endParaRPr lang="zh-CN" altLang="zh-CN" sz="2000" dirty="0"/>
          </a:p>
        </p:txBody>
      </p:sp>
    </p:spTree>
    <p:extLst>
      <p:ext uri="{BB962C8B-B14F-4D97-AF65-F5344CB8AC3E}">
        <p14:creationId xmlns:p14="http://schemas.microsoft.com/office/powerpoint/2010/main" val="279525003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zh-CN" altLang="zh-CN" sz="2800" dirty="0"/>
              <a:t>（</a:t>
            </a:r>
            <a:r>
              <a:rPr lang="en-US" altLang="zh-CN" sz="2800" dirty="0"/>
              <a:t>5</a:t>
            </a:r>
            <a:r>
              <a:rPr lang="zh-CN" altLang="zh-CN" sz="2800" dirty="0"/>
              <a:t>）在一定程度上提供了逻辑独立性</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51</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solidFill>
                  <a:srgbClr val="0000FF"/>
                </a:solidFill>
              </a:rPr>
              <a:t>解决方法：</a:t>
            </a:r>
            <a:r>
              <a:rPr lang="zh-CN" altLang="zh-CN" sz="2000" dirty="0"/>
              <a:t>首先利用</a:t>
            </a:r>
            <a:r>
              <a:rPr lang="en-US" altLang="zh-CN" sz="2000" dirty="0"/>
              <a:t>Book</a:t>
            </a:r>
            <a:r>
              <a:rPr lang="zh-CN" altLang="zh-CN" sz="2000" dirty="0"/>
              <a:t>、</a:t>
            </a:r>
            <a:r>
              <a:rPr lang="en-US" altLang="zh-CN" sz="2000" dirty="0" err="1"/>
              <a:t>Cust</a:t>
            </a:r>
            <a:r>
              <a:rPr lang="zh-CN" altLang="zh-CN" sz="2000" dirty="0"/>
              <a:t>、</a:t>
            </a:r>
            <a:r>
              <a:rPr lang="en-US" altLang="zh-CN" sz="2000" dirty="0"/>
              <a:t>Press</a:t>
            </a:r>
            <a:r>
              <a:rPr lang="zh-CN" altLang="zh-CN" sz="2000" dirty="0"/>
              <a:t>和</a:t>
            </a:r>
            <a:r>
              <a:rPr lang="en-US" altLang="zh-CN" sz="2000" dirty="0"/>
              <a:t>Buy</a:t>
            </a:r>
            <a:r>
              <a:rPr lang="zh-CN" altLang="zh-CN" sz="2000" dirty="0"/>
              <a:t>创建视图</a:t>
            </a:r>
            <a:r>
              <a:rPr lang="en-US" altLang="zh-CN" sz="2000" dirty="0" err="1"/>
              <a:t>BInfo</a:t>
            </a:r>
            <a:r>
              <a:rPr lang="zh-CN" altLang="zh-CN" sz="2000" dirty="0"/>
              <a:t>；然后利用视图</a:t>
            </a:r>
            <a:r>
              <a:rPr lang="en-US" altLang="zh-CN" sz="2000" dirty="0" err="1"/>
              <a:t>BInfo</a:t>
            </a:r>
            <a:r>
              <a:rPr lang="zh-CN" altLang="zh-CN" sz="2000" dirty="0"/>
              <a:t>替代“表</a:t>
            </a:r>
            <a:r>
              <a:rPr lang="en-US" altLang="zh-CN" sz="2000" dirty="0" err="1"/>
              <a:t>BInfo</a:t>
            </a:r>
            <a:r>
              <a:rPr lang="zh-CN" altLang="zh-CN" sz="2000" dirty="0"/>
              <a:t>”。即：</a:t>
            </a:r>
          </a:p>
          <a:p>
            <a:pPr marL="360363" indent="0">
              <a:buNone/>
            </a:pPr>
            <a:r>
              <a:rPr lang="en-US" altLang="zh-CN" sz="2000" dirty="0"/>
              <a:t>CREATE VIEW </a:t>
            </a:r>
            <a:r>
              <a:rPr lang="en-US" altLang="zh-CN" sz="2000" dirty="0" err="1"/>
              <a:t>BInfo</a:t>
            </a:r>
            <a:r>
              <a:rPr lang="en-US" altLang="zh-CN" sz="2000" dirty="0"/>
              <a:t> AS</a:t>
            </a:r>
            <a:endParaRPr lang="zh-CN" altLang="zh-CN" sz="2000" dirty="0"/>
          </a:p>
          <a:p>
            <a:pPr marL="360363" indent="0">
              <a:buNone/>
            </a:pPr>
            <a:r>
              <a:rPr lang="en-US" altLang="zh-CN" sz="2000" dirty="0"/>
              <a:t>    SELECT </a:t>
            </a:r>
            <a:r>
              <a:rPr lang="en-US" altLang="zh-CN" sz="2000" dirty="0" err="1"/>
              <a:t>Book.BNo,BName,Author,EditNo,Price,PPrice,SPrice</a:t>
            </a:r>
            <a:r>
              <a:rPr lang="en-US" altLang="zh-CN" sz="2000" dirty="0"/>
              <a:t>,</a:t>
            </a:r>
            <a:endParaRPr lang="zh-CN" altLang="zh-CN" sz="2000" dirty="0"/>
          </a:p>
          <a:p>
            <a:pPr marL="360363" indent="0">
              <a:buNone/>
            </a:pPr>
            <a:r>
              <a:rPr lang="en-US" altLang="zh-CN" sz="2000" dirty="0"/>
              <a:t>        </a:t>
            </a:r>
            <a:r>
              <a:rPr lang="en-US" altLang="zh-CN" sz="2000" dirty="0" err="1"/>
              <a:t>Cust.CNo,CName,CSex,Birth,Cust.Phone</a:t>
            </a:r>
            <a:r>
              <a:rPr lang="en-US" altLang="zh-CN" sz="2000" dirty="0"/>
              <a:t> </a:t>
            </a:r>
            <a:r>
              <a:rPr lang="en-US" altLang="zh-CN" sz="2000" dirty="0" err="1"/>
              <a:t>CPhone</a:t>
            </a:r>
            <a:r>
              <a:rPr lang="en-US" altLang="zh-CN" sz="2000" dirty="0"/>
              <a:t>,</a:t>
            </a:r>
            <a:endParaRPr lang="zh-CN" altLang="zh-CN" sz="2000" dirty="0"/>
          </a:p>
          <a:p>
            <a:pPr marL="360363" indent="0">
              <a:buNone/>
            </a:pPr>
            <a:r>
              <a:rPr lang="en-US" altLang="zh-CN" sz="2000" dirty="0"/>
              <a:t>            </a:t>
            </a:r>
            <a:r>
              <a:rPr lang="en-US" altLang="zh-CN" sz="2000" dirty="0" err="1"/>
              <a:t>Cust.Email</a:t>
            </a:r>
            <a:r>
              <a:rPr lang="en-US" altLang="zh-CN" sz="2000" dirty="0"/>
              <a:t> </a:t>
            </a:r>
            <a:r>
              <a:rPr lang="en-US" altLang="zh-CN" sz="2000" dirty="0" err="1"/>
              <a:t>CEmail,Marry,Photo</a:t>
            </a:r>
            <a:r>
              <a:rPr lang="en-US" altLang="zh-CN" sz="2000" dirty="0"/>
              <a:t>,</a:t>
            </a:r>
            <a:endParaRPr lang="zh-CN" altLang="zh-CN" sz="2000" dirty="0"/>
          </a:p>
          <a:p>
            <a:pPr marL="360363" indent="0">
              <a:buNone/>
            </a:pPr>
            <a:r>
              <a:rPr lang="en-US" altLang="zh-CN" sz="2000" dirty="0"/>
              <a:t>        </a:t>
            </a:r>
            <a:r>
              <a:rPr lang="en-US" altLang="zh-CN" sz="1800" dirty="0" err="1"/>
              <a:t>Press.PNo,PName,PCode,PAddr,Press.Phone</a:t>
            </a:r>
            <a:r>
              <a:rPr lang="en-US" altLang="zh-CN" sz="1800" dirty="0"/>
              <a:t> </a:t>
            </a:r>
            <a:r>
              <a:rPr lang="en-US" altLang="zh-CN" sz="1800" dirty="0" err="1"/>
              <a:t>PPhone,Press.Email</a:t>
            </a:r>
            <a:r>
              <a:rPr lang="en-US" altLang="zh-CN" sz="1800" dirty="0"/>
              <a:t> </a:t>
            </a:r>
            <a:endParaRPr lang="zh-CN" altLang="zh-CN" sz="1800" dirty="0"/>
          </a:p>
          <a:p>
            <a:pPr marL="360363" indent="0">
              <a:buNone/>
            </a:pPr>
            <a:r>
              <a:rPr lang="en-US" altLang="zh-CN" sz="2000" dirty="0"/>
              <a:t>            </a:t>
            </a:r>
            <a:r>
              <a:rPr lang="en-US" altLang="zh-CN" sz="2000" dirty="0" err="1"/>
              <a:t>PEmail,HPage,PDate</a:t>
            </a:r>
            <a:endParaRPr lang="zh-CN" altLang="zh-CN" sz="2000" dirty="0"/>
          </a:p>
          <a:p>
            <a:pPr marL="360363" indent="0">
              <a:buNone/>
            </a:pPr>
            <a:r>
              <a:rPr lang="en-US" altLang="zh-CN" sz="2000" dirty="0"/>
              <a:t>    FROM </a:t>
            </a:r>
            <a:r>
              <a:rPr lang="en-US" altLang="zh-CN" sz="2000" dirty="0" err="1"/>
              <a:t>Press,Book,Cust,Buy</a:t>
            </a:r>
            <a:endParaRPr lang="zh-CN" altLang="zh-CN" sz="2000" dirty="0"/>
          </a:p>
          <a:p>
            <a:pPr marL="1612900" indent="-1252538">
              <a:buNone/>
            </a:pPr>
            <a:r>
              <a:rPr lang="en-US" altLang="zh-CN" sz="2000" dirty="0"/>
              <a:t>    WHERE </a:t>
            </a:r>
            <a:r>
              <a:rPr lang="en-US" altLang="zh-CN" sz="1800" dirty="0" err="1"/>
              <a:t>Press.PNo</a:t>
            </a:r>
            <a:r>
              <a:rPr lang="en-US" altLang="zh-CN" sz="1800" dirty="0"/>
              <a:t>=</a:t>
            </a:r>
            <a:r>
              <a:rPr lang="en-US" altLang="zh-CN" sz="1800" dirty="0" err="1"/>
              <a:t>Book.PNo</a:t>
            </a:r>
            <a:r>
              <a:rPr lang="en-US" altLang="zh-CN" sz="1800" dirty="0"/>
              <a:t> AND </a:t>
            </a:r>
            <a:r>
              <a:rPr lang="en-US" altLang="zh-CN" sz="1800" dirty="0" err="1"/>
              <a:t>Book.BNo</a:t>
            </a:r>
            <a:r>
              <a:rPr lang="en-US" altLang="zh-CN" sz="1800" dirty="0"/>
              <a:t>=</a:t>
            </a:r>
            <a:r>
              <a:rPr lang="en-US" altLang="zh-CN" sz="1800" dirty="0" err="1"/>
              <a:t>Buy.BNo</a:t>
            </a:r>
            <a:r>
              <a:rPr lang="en-US" altLang="zh-CN" sz="1800" dirty="0"/>
              <a:t> AND </a:t>
            </a:r>
            <a:r>
              <a:rPr lang="en-US" altLang="zh-CN" sz="1800" dirty="0" err="1" smtClean="0"/>
              <a:t>Cust.CNo</a:t>
            </a:r>
            <a:r>
              <a:rPr lang="en-US" altLang="zh-CN" sz="1800" dirty="0" smtClean="0"/>
              <a:t>=</a:t>
            </a:r>
            <a:r>
              <a:rPr lang="en-US" altLang="zh-CN" sz="1800" dirty="0" err="1" smtClean="0"/>
              <a:t>Buy.CNo</a:t>
            </a:r>
            <a:endParaRPr lang="zh-CN" altLang="zh-CN" sz="1800" dirty="0"/>
          </a:p>
        </p:txBody>
      </p:sp>
    </p:spTree>
    <p:extLst>
      <p:ext uri="{BB962C8B-B14F-4D97-AF65-F5344CB8AC3E}">
        <p14:creationId xmlns:p14="http://schemas.microsoft.com/office/powerpoint/2010/main" val="397455213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zh-CN" altLang="zh-CN" sz="2800" dirty="0"/>
              <a:t>（</a:t>
            </a:r>
            <a:r>
              <a:rPr lang="en-US" altLang="zh-CN" sz="2800" dirty="0"/>
              <a:t>5</a:t>
            </a:r>
            <a:r>
              <a:rPr lang="zh-CN" altLang="zh-CN" sz="2800" dirty="0"/>
              <a:t>）在一定程度上提供了逻辑独立性</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52</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smtClean="0">
                <a:solidFill>
                  <a:srgbClr val="0000FF"/>
                </a:solidFill>
              </a:rPr>
              <a:t>提示</a:t>
            </a:r>
            <a:r>
              <a:rPr lang="zh-CN" altLang="zh-CN" sz="2000" dirty="0">
                <a:solidFill>
                  <a:srgbClr val="0000FF"/>
                </a:solidFill>
              </a:rPr>
              <a:t>：</a:t>
            </a:r>
            <a:r>
              <a:rPr lang="zh-CN" altLang="zh-CN" sz="2000" dirty="0"/>
              <a:t>视图作为一种实用的外模式，在实际应用中起到非常重要的作用。</a:t>
            </a:r>
          </a:p>
          <a:p>
            <a:r>
              <a:rPr lang="zh-CN" altLang="zh-CN" sz="2000" dirty="0"/>
              <a:t>因此，在数据库的逻辑模型（模式）发生改变时，为了尽量保持数据库的外模式不受影响，可以通过定义视图（外模式与模式映像）来实现一定程度上的变换控制，从而确保应用程序不作修改或者只需作很小程度上的调整，最终在一定程度上提供了数据的逻辑独立性。</a:t>
            </a:r>
          </a:p>
        </p:txBody>
      </p:sp>
    </p:spTree>
    <p:extLst>
      <p:ext uri="{BB962C8B-B14F-4D97-AF65-F5344CB8AC3E}">
        <p14:creationId xmlns:p14="http://schemas.microsoft.com/office/powerpoint/2010/main" val="72511992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rmAutofit fontScale="90000"/>
          </a:bodyPr>
          <a:lstStyle/>
          <a:p>
            <a:r>
              <a:rPr lang="en-US" altLang="zh-CN" dirty="0"/>
              <a:t>7.2.4  </a:t>
            </a:r>
            <a:r>
              <a:rPr lang="zh-CN" altLang="zh-CN" dirty="0"/>
              <a:t>审计与数据加密</a:t>
            </a:r>
            <a:endParaRPr lang="zh-CN" altLang="en-US"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53</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审计和数据加密从两个不同的角度保护了数据的安全。审计是</a:t>
            </a:r>
            <a:r>
              <a:rPr lang="en-US" altLang="zh-CN" sz="2000" dirty="0"/>
              <a:t>C2</a:t>
            </a:r>
            <a:r>
              <a:rPr lang="zh-CN" altLang="zh-CN" sz="2000" dirty="0"/>
              <a:t>级以上产品必须具备的安全保护机制，侧重点是对数据访问权限的检查和监督；数据加密则是对数据的比较底层的保护，侧重点在于对存储和传输的数据本身的加密，使数据转换为不可识别的数据格式。</a:t>
            </a:r>
          </a:p>
          <a:p>
            <a:pPr marL="0" indent="0">
              <a:buNone/>
            </a:pPr>
            <a:endParaRPr lang="zh-CN" altLang="zh-CN" sz="2000" dirty="0"/>
          </a:p>
        </p:txBody>
      </p:sp>
    </p:spTree>
    <p:extLst>
      <p:ext uri="{BB962C8B-B14F-4D97-AF65-F5344CB8AC3E}">
        <p14:creationId xmlns:p14="http://schemas.microsoft.com/office/powerpoint/2010/main" val="37199060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1. </a:t>
            </a:r>
            <a:r>
              <a:rPr lang="zh-CN" altLang="zh-CN" sz="2800" dirty="0"/>
              <a:t>审计</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54</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pPr>
              <a:lnSpc>
                <a:spcPts val="3300"/>
              </a:lnSpc>
            </a:pPr>
            <a:r>
              <a:rPr lang="zh-CN" altLang="zh-CN" sz="2000" dirty="0"/>
              <a:t>审计（</a:t>
            </a:r>
            <a:r>
              <a:rPr lang="en-US" altLang="zh-CN" sz="2000" dirty="0"/>
              <a:t>Audit</a:t>
            </a:r>
            <a:r>
              <a:rPr lang="zh-CN" altLang="zh-CN" sz="2000" dirty="0"/>
              <a:t>）主要用于监视并记录对数据库的操作行为，实时智能地解析对数据库的各种操作，并记入审计日志，以便日后进行查询、分析和过滤，实现对用户操作的监控和审查。</a:t>
            </a:r>
          </a:p>
          <a:p>
            <a:pPr>
              <a:lnSpc>
                <a:spcPts val="3300"/>
              </a:lnSpc>
            </a:pPr>
            <a:r>
              <a:rPr lang="zh-CN" altLang="zh-CN" sz="2000" dirty="0"/>
              <a:t>审计是由</a:t>
            </a:r>
            <a:r>
              <a:rPr lang="en-US" altLang="zh-CN" sz="2000" dirty="0"/>
              <a:t>DBA</a:t>
            </a:r>
            <a:r>
              <a:rPr lang="zh-CN" altLang="zh-CN" sz="2000" dirty="0"/>
              <a:t>、审计员或审计程序，对访问数据库的操作进行事前和事后的审查和监督的过程。</a:t>
            </a:r>
          </a:p>
          <a:p>
            <a:pPr>
              <a:lnSpc>
                <a:spcPts val="3300"/>
              </a:lnSpc>
            </a:pPr>
            <a:r>
              <a:rPr lang="zh-CN" altLang="zh-CN" sz="2000" dirty="0"/>
              <a:t>审计作为一种监督机制，是为了查明有关数据库操作的认定与所授权的访问权限之间的一致程度，找出非法存取数据的人、时间和内容，并将结果传递给有利害关系的用户。</a:t>
            </a:r>
          </a:p>
          <a:p>
            <a:pPr>
              <a:lnSpc>
                <a:spcPts val="3300"/>
              </a:lnSpc>
            </a:pPr>
            <a:r>
              <a:rPr lang="zh-CN" altLang="zh-CN" sz="2000" dirty="0"/>
              <a:t>审计在保护和评价系统的安全性方面起着十分重要的作用。</a:t>
            </a:r>
          </a:p>
          <a:p>
            <a:pPr>
              <a:lnSpc>
                <a:spcPts val="3300"/>
              </a:lnSpc>
            </a:pPr>
            <a:r>
              <a:rPr lang="zh-CN" altLang="zh-CN" sz="2000" dirty="0"/>
              <a:t>审计可以监控用户对数据库的表 、视图、存储过程、函数、索引和触发器等的创建、修改和删除等，并精确分析每个操作。</a:t>
            </a:r>
          </a:p>
          <a:p>
            <a:pPr>
              <a:lnSpc>
                <a:spcPts val="3300"/>
              </a:lnSpc>
            </a:pPr>
            <a:r>
              <a:rPr lang="zh-CN" altLang="zh-CN" sz="2000" dirty="0"/>
              <a:t>审计可以根据设置的规则，智能判断违规操作数据库的行为，并对违规行为进行记录和报警，为数据库系统的安全运行提供了有力保障。</a:t>
            </a:r>
          </a:p>
        </p:txBody>
      </p:sp>
    </p:spTree>
    <p:extLst>
      <p:ext uri="{BB962C8B-B14F-4D97-AF65-F5344CB8AC3E}">
        <p14:creationId xmlns:p14="http://schemas.microsoft.com/office/powerpoint/2010/main" val="183652184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1. </a:t>
            </a:r>
            <a:r>
              <a:rPr lang="zh-CN" altLang="zh-CN" sz="2800" dirty="0"/>
              <a:t>审计</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55</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审计的主要功能包括：</a:t>
            </a:r>
          </a:p>
          <a:p>
            <a:pPr marL="0" indent="0">
              <a:buNone/>
            </a:pPr>
            <a:r>
              <a:rPr lang="zh-CN" altLang="zh-CN" sz="2000" dirty="0"/>
              <a:t>（</a:t>
            </a:r>
            <a:r>
              <a:rPr lang="en-US" altLang="zh-CN" sz="2000" dirty="0"/>
              <a:t>1</a:t>
            </a:r>
            <a:r>
              <a:rPr lang="zh-CN" altLang="zh-CN" sz="2000" dirty="0"/>
              <a:t>）实时监测并智能地分析和还原各种数据库操作过程。</a:t>
            </a:r>
          </a:p>
          <a:p>
            <a:pPr marL="0" indent="0">
              <a:buNone/>
            </a:pPr>
            <a:r>
              <a:rPr lang="zh-CN" altLang="zh-CN" sz="2000" dirty="0"/>
              <a:t>（</a:t>
            </a:r>
            <a:r>
              <a:rPr lang="en-US" altLang="zh-CN" sz="2000" dirty="0"/>
              <a:t>2</a:t>
            </a:r>
            <a:r>
              <a:rPr lang="zh-CN" altLang="zh-CN" sz="2000" dirty="0"/>
              <a:t>）根据规则设定及时阻断违规操作，保护重要的表和视图等。</a:t>
            </a:r>
          </a:p>
          <a:p>
            <a:pPr marL="0" indent="0">
              <a:buNone/>
            </a:pPr>
            <a:r>
              <a:rPr lang="zh-CN" altLang="zh-CN" sz="2000" dirty="0"/>
              <a:t>（</a:t>
            </a:r>
            <a:r>
              <a:rPr lang="en-US" altLang="zh-CN" sz="2000" dirty="0"/>
              <a:t>3</a:t>
            </a:r>
            <a:r>
              <a:rPr lang="zh-CN" altLang="zh-CN" sz="2000" dirty="0"/>
              <a:t>）对数据库系统漏洞、登录帐号、登录工具和数据操作过程的跟踪，发现对数据库系统的异常使用。</a:t>
            </a:r>
          </a:p>
          <a:p>
            <a:pPr marL="0" indent="0">
              <a:buNone/>
            </a:pPr>
            <a:r>
              <a:rPr lang="zh-CN" altLang="zh-CN" sz="2000" dirty="0"/>
              <a:t>（</a:t>
            </a:r>
            <a:r>
              <a:rPr lang="en-US" altLang="zh-CN" sz="2000" dirty="0"/>
              <a:t>4</a:t>
            </a:r>
            <a:r>
              <a:rPr lang="zh-CN" altLang="zh-CN" sz="2000" dirty="0"/>
              <a:t>）审计规则和审计查阅方式。可以对登录用户、表名、字段名及关键字等进行多条件组合的规则设定，形成灵活的审计策略。</a:t>
            </a:r>
          </a:p>
          <a:p>
            <a:pPr marL="0" indent="0">
              <a:buNone/>
            </a:pPr>
            <a:r>
              <a:rPr lang="zh-CN" altLang="zh-CN" sz="2000" dirty="0"/>
              <a:t>（</a:t>
            </a:r>
            <a:r>
              <a:rPr lang="en-US" altLang="zh-CN" sz="2000" dirty="0"/>
              <a:t>5</a:t>
            </a:r>
            <a:r>
              <a:rPr lang="zh-CN" altLang="zh-CN" sz="2000" dirty="0"/>
              <a:t>）提供包括记录、报警、中断和向网管系统报警等多种响应措施。</a:t>
            </a:r>
          </a:p>
          <a:p>
            <a:pPr marL="0" indent="0">
              <a:buNone/>
            </a:pPr>
            <a:r>
              <a:rPr lang="zh-CN" altLang="zh-CN" sz="2000" dirty="0"/>
              <a:t>（</a:t>
            </a:r>
            <a:r>
              <a:rPr lang="en-US" altLang="zh-CN" sz="2000" dirty="0"/>
              <a:t>6</a:t>
            </a:r>
            <a:r>
              <a:rPr lang="zh-CN" altLang="zh-CN" sz="2000" dirty="0"/>
              <a:t>）审计日志管理。审计信息的查询统计分析功能，生成专业化的审计报表。</a:t>
            </a:r>
          </a:p>
          <a:p>
            <a:r>
              <a:rPr lang="zh-CN" altLang="zh-CN" sz="2000" dirty="0"/>
              <a:t>提示：审计很费时间和空间，</a:t>
            </a:r>
            <a:r>
              <a:rPr lang="en-US" altLang="zh-CN" sz="2000" dirty="0"/>
              <a:t>DBA</a:t>
            </a:r>
            <a:r>
              <a:rPr lang="zh-CN" altLang="zh-CN" sz="2000" dirty="0"/>
              <a:t>可以根据应用对安全性的要求，灵活地打开或关闭审计功能。</a:t>
            </a:r>
          </a:p>
          <a:p>
            <a:r>
              <a:rPr lang="zh-CN" altLang="zh-CN" sz="2000" dirty="0"/>
              <a:t>审计事件主要包括：服务器事件、系统权限、语句事件和模式对象事件等。</a:t>
            </a:r>
          </a:p>
          <a:p>
            <a:pPr>
              <a:lnSpc>
                <a:spcPts val="3300"/>
              </a:lnSpc>
            </a:pPr>
            <a:endParaRPr lang="zh-CN" altLang="zh-CN" sz="2000" dirty="0"/>
          </a:p>
        </p:txBody>
      </p:sp>
    </p:spTree>
    <p:extLst>
      <p:ext uri="{BB962C8B-B14F-4D97-AF65-F5344CB8AC3E}">
        <p14:creationId xmlns:p14="http://schemas.microsoft.com/office/powerpoint/2010/main" val="304689452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56</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数据加密是防止数据在存储和传输中被破译失密的有效手段，从而提高数据的安全性和保密性。数据加密技术是一种防止信息泄露的技术。</a:t>
            </a:r>
          </a:p>
          <a:p>
            <a:r>
              <a:rPr lang="zh-CN" altLang="zh-CN" sz="2000" dirty="0"/>
              <a:t>数据加密是指根据预定的算法将原始数据（即：明文，</a:t>
            </a:r>
            <a:r>
              <a:rPr lang="en-US" altLang="zh-CN" sz="2000" dirty="0"/>
              <a:t>Plain text</a:t>
            </a:r>
            <a:r>
              <a:rPr lang="zh-CN" altLang="zh-CN" sz="2000" dirty="0"/>
              <a:t>）变换为不可直接识别的结果数据（即：密文，</a:t>
            </a:r>
            <a:r>
              <a:rPr lang="en-US" altLang="zh-CN" sz="2000" dirty="0"/>
              <a:t>Cipher text</a:t>
            </a:r>
            <a:r>
              <a:rPr lang="zh-CN" altLang="zh-CN" sz="2000" dirty="0"/>
              <a:t>）的过程。具体包括加密和解密。即：</a:t>
            </a:r>
          </a:p>
          <a:p>
            <a:r>
              <a:rPr lang="zh-CN" altLang="zh-CN" sz="2000" dirty="0"/>
              <a:t>加密过程：通过加密算法和加密密钥将明文转变为密文。</a:t>
            </a:r>
          </a:p>
          <a:p>
            <a:r>
              <a:rPr lang="zh-CN" altLang="zh-CN" sz="2000" dirty="0"/>
              <a:t>解密过程：通过解密算法和解密密钥将密文恢复为明文。</a:t>
            </a:r>
          </a:p>
          <a:p>
            <a:r>
              <a:rPr lang="zh-CN" altLang="zh-CN" sz="2000" dirty="0"/>
              <a:t>密钥：由数字、字母或特殊符号组成的字符串。用于控制数据加密和解密的过程。</a:t>
            </a:r>
          </a:p>
          <a:p>
            <a:r>
              <a:rPr lang="zh-CN" altLang="zh-CN" sz="2000" dirty="0"/>
              <a:t>提示：通常公开加密算法，而不公开密钥。</a:t>
            </a:r>
          </a:p>
          <a:p>
            <a:r>
              <a:rPr lang="zh-CN" altLang="zh-CN" sz="2000" dirty="0"/>
              <a:t>显然，用户获取密文后，如果不知道解密算法，则无法知道数据的具体内容</a:t>
            </a:r>
            <a:r>
              <a:rPr lang="zh-CN" altLang="zh-CN" sz="2000" dirty="0" smtClean="0"/>
              <a:t>。</a:t>
            </a:r>
            <a:endParaRPr lang="zh-CN" altLang="zh-CN" sz="2000" dirty="0"/>
          </a:p>
        </p:txBody>
      </p:sp>
    </p:spTree>
    <p:extLst>
      <p:ext uri="{BB962C8B-B14F-4D97-AF65-F5344CB8AC3E}">
        <p14:creationId xmlns:p14="http://schemas.microsoft.com/office/powerpoint/2010/main" val="259855821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57</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例</a:t>
            </a:r>
            <a:r>
              <a:rPr lang="en-US" altLang="zh-CN" sz="2000" dirty="0"/>
              <a:t>7.12  </a:t>
            </a:r>
            <a:r>
              <a:rPr lang="zh-CN" altLang="zh-CN" sz="2000" dirty="0"/>
              <a:t>如果用户得到的密文为“</a:t>
            </a:r>
            <a:r>
              <a:rPr lang="en-US" altLang="zh-CN" sz="2000" dirty="0"/>
              <a:t>N(RNXX)DTZ*</a:t>
            </a:r>
            <a:r>
              <a:rPr lang="zh-CN" altLang="zh-CN" sz="2000" dirty="0"/>
              <a:t>”，请解密该密文。</a:t>
            </a:r>
          </a:p>
          <a:p>
            <a:r>
              <a:rPr lang="zh-CN" altLang="zh-CN" sz="2000" dirty="0"/>
              <a:t>分析：根据对密文的解析，不难看出，加密与解密的方法如下：</a:t>
            </a:r>
          </a:p>
          <a:p>
            <a:r>
              <a:rPr lang="zh-CN" altLang="zh-CN" sz="2000" dirty="0"/>
              <a:t>加密方法：英文字母在字母表中，循环向后移</a:t>
            </a:r>
            <a:r>
              <a:rPr lang="en-US" altLang="zh-CN" sz="2000" dirty="0"/>
              <a:t>5</a:t>
            </a:r>
            <a:r>
              <a:rPr lang="zh-CN" altLang="zh-CN" sz="2000" dirty="0"/>
              <a:t>位，“括号”对应“空格”，“星号”对应“感叹号”。</a:t>
            </a:r>
          </a:p>
          <a:p>
            <a:r>
              <a:rPr lang="zh-CN" altLang="zh-CN" sz="2000" dirty="0"/>
              <a:t>解密方法：英文字母在字母表中，循环向前移</a:t>
            </a:r>
            <a:r>
              <a:rPr lang="en-US" altLang="zh-CN" sz="2000" dirty="0"/>
              <a:t>5</a:t>
            </a:r>
            <a:r>
              <a:rPr lang="zh-CN" altLang="zh-CN" sz="2000" dirty="0"/>
              <a:t>位，“括号”对应“空格”，“星号”对应“感叹号”。</a:t>
            </a:r>
          </a:p>
          <a:p>
            <a:r>
              <a:rPr lang="zh-CN" altLang="zh-CN" sz="2000" dirty="0"/>
              <a:t>所以，解密后的明文为“</a:t>
            </a:r>
            <a:r>
              <a:rPr lang="en-US" altLang="zh-CN" sz="2000" dirty="0"/>
              <a:t>I MISS YOU!</a:t>
            </a:r>
            <a:r>
              <a:rPr lang="zh-CN" altLang="zh-CN" sz="2000" dirty="0"/>
              <a:t>”。</a:t>
            </a:r>
          </a:p>
          <a:p>
            <a:endParaRPr lang="zh-CN" altLang="zh-CN" sz="2000" dirty="0"/>
          </a:p>
        </p:txBody>
      </p:sp>
    </p:spTree>
    <p:extLst>
      <p:ext uri="{BB962C8B-B14F-4D97-AF65-F5344CB8AC3E}">
        <p14:creationId xmlns:p14="http://schemas.microsoft.com/office/powerpoint/2010/main" val="317494657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58</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常用的加密方法：替换方法、置换方法和混合方法等。</a:t>
            </a:r>
          </a:p>
          <a:p>
            <a:r>
              <a:rPr lang="zh-CN" altLang="zh-CN" sz="2000" dirty="0"/>
              <a:t>（</a:t>
            </a:r>
            <a:r>
              <a:rPr lang="en-US" altLang="zh-CN" sz="2000" dirty="0"/>
              <a:t>1</a:t>
            </a:r>
            <a:r>
              <a:rPr lang="zh-CN" altLang="zh-CN" sz="2000" dirty="0"/>
              <a:t>）替换方法：使用密钥（</a:t>
            </a:r>
            <a:r>
              <a:rPr lang="en-US" altLang="zh-CN" sz="2000" dirty="0"/>
              <a:t>Encryption Key</a:t>
            </a:r>
            <a:r>
              <a:rPr lang="zh-CN" altLang="zh-CN" sz="2000" dirty="0"/>
              <a:t>）将明文中的每一个字符转换为密文中的对应字符。</a:t>
            </a:r>
          </a:p>
          <a:p>
            <a:r>
              <a:rPr lang="zh-CN" altLang="zh-CN" sz="2000" dirty="0"/>
              <a:t>（</a:t>
            </a:r>
            <a:r>
              <a:rPr lang="en-US" altLang="zh-CN" sz="2000" dirty="0"/>
              <a:t>2</a:t>
            </a:r>
            <a:r>
              <a:rPr lang="zh-CN" altLang="zh-CN" sz="2000" dirty="0"/>
              <a:t>）置换方法：将明文的字符按不同的顺序重新排列。</a:t>
            </a:r>
          </a:p>
          <a:p>
            <a:r>
              <a:rPr lang="zh-CN" altLang="zh-CN" sz="2000" dirty="0"/>
              <a:t>（</a:t>
            </a:r>
            <a:r>
              <a:rPr lang="en-US" altLang="zh-CN" sz="2000" dirty="0"/>
              <a:t>3</a:t>
            </a:r>
            <a:r>
              <a:rPr lang="zh-CN" altLang="zh-CN" sz="2000" dirty="0"/>
              <a:t>）混合方法：同时使用替换方法和置换方法，进行混合加密。混合加密在</a:t>
            </a:r>
            <a:r>
              <a:rPr lang="en-US" altLang="zh-CN" sz="2000" dirty="0"/>
              <a:t>1977</a:t>
            </a:r>
            <a:r>
              <a:rPr lang="zh-CN" altLang="zh-CN" sz="2000" dirty="0"/>
              <a:t>年定为美国官方的数据加密标准（</a:t>
            </a:r>
            <a:r>
              <a:rPr lang="en-US" altLang="zh-CN" sz="2000" dirty="0"/>
              <a:t>Data Encryption Standard</a:t>
            </a:r>
            <a:r>
              <a:rPr lang="zh-CN" altLang="zh-CN" sz="2000" dirty="0"/>
              <a:t>，</a:t>
            </a:r>
            <a:r>
              <a:rPr lang="en-US" altLang="zh-CN" sz="2000" dirty="0"/>
              <a:t>DES</a:t>
            </a:r>
            <a:r>
              <a:rPr lang="zh-CN" altLang="zh-CN" sz="2000" dirty="0"/>
              <a:t>）。</a:t>
            </a:r>
          </a:p>
        </p:txBody>
      </p:sp>
    </p:spTree>
    <p:extLst>
      <p:ext uri="{BB962C8B-B14F-4D97-AF65-F5344CB8AC3E}">
        <p14:creationId xmlns:p14="http://schemas.microsoft.com/office/powerpoint/2010/main" val="386374804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59</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en-US" altLang="zh-CN" sz="2000" dirty="0"/>
              <a:t>DES</a:t>
            </a:r>
            <a:r>
              <a:rPr lang="zh-CN" altLang="zh-CN" sz="2000" dirty="0"/>
              <a:t>工作原理：把明文分割成</a:t>
            </a:r>
            <a:r>
              <a:rPr lang="en-US" altLang="zh-CN" sz="2000" dirty="0"/>
              <a:t>64</a:t>
            </a:r>
            <a:r>
              <a:rPr lang="zh-CN" altLang="zh-CN" sz="2000" dirty="0"/>
              <a:t>位大小的块，每个块用</a:t>
            </a:r>
            <a:r>
              <a:rPr lang="en-US" altLang="zh-CN" sz="2000" dirty="0"/>
              <a:t>64</a:t>
            </a:r>
            <a:r>
              <a:rPr lang="zh-CN" altLang="zh-CN" sz="2000" dirty="0"/>
              <a:t>位密钥进行加密。每块先用初始置换方法进行加密，再连续进行</a:t>
            </a:r>
            <a:r>
              <a:rPr lang="en-US" altLang="zh-CN" sz="2000" dirty="0"/>
              <a:t>16</a:t>
            </a:r>
            <a:r>
              <a:rPr lang="zh-CN" altLang="zh-CN" sz="2000" dirty="0"/>
              <a:t>次复杂的替换，最后再对其施用初始置换的逆。</a:t>
            </a:r>
          </a:p>
          <a:p>
            <a:r>
              <a:rPr lang="zh-CN" altLang="zh-CN" sz="2000" dirty="0"/>
              <a:t>提示：密钥由</a:t>
            </a:r>
            <a:r>
              <a:rPr lang="en-US" altLang="zh-CN" sz="2000" dirty="0"/>
              <a:t>56</a:t>
            </a:r>
            <a:r>
              <a:rPr lang="zh-CN" altLang="zh-CN" sz="2000" dirty="0"/>
              <a:t>位数据位和</a:t>
            </a:r>
            <a:r>
              <a:rPr lang="en-US" altLang="zh-CN" sz="2000" dirty="0"/>
              <a:t>8</a:t>
            </a:r>
            <a:r>
              <a:rPr lang="zh-CN" altLang="zh-CN" sz="2000" dirty="0"/>
              <a:t>位奇偶校验位组成，因此只有</a:t>
            </a:r>
            <a:r>
              <a:rPr lang="en-US" altLang="zh-CN" sz="2000" dirty="0"/>
              <a:t>56</a:t>
            </a:r>
            <a:r>
              <a:rPr lang="zh-CN" altLang="zh-CN" sz="2000" dirty="0"/>
              <a:t>位可能的密码。第</a:t>
            </a:r>
            <a:r>
              <a:rPr lang="en-US" altLang="zh-CN" sz="2000" dirty="0"/>
              <a:t>i</a:t>
            </a:r>
            <a:r>
              <a:rPr lang="zh-CN" altLang="zh-CN" sz="2000" dirty="0"/>
              <a:t>步的替换不是直接利用原始的密钥</a:t>
            </a:r>
            <a:r>
              <a:rPr lang="en-US" altLang="zh-CN" sz="2000" dirty="0"/>
              <a:t>K</a:t>
            </a:r>
            <a:r>
              <a:rPr lang="zh-CN" altLang="zh-CN" sz="2000" dirty="0"/>
              <a:t>，而是由</a:t>
            </a:r>
            <a:r>
              <a:rPr lang="en-US" altLang="zh-CN" sz="2000" dirty="0"/>
              <a:t>K</a:t>
            </a:r>
            <a:r>
              <a:rPr lang="zh-CN" altLang="zh-CN" sz="2000" dirty="0"/>
              <a:t>与</a:t>
            </a:r>
            <a:r>
              <a:rPr lang="en-US" altLang="zh-CN" sz="2000" dirty="0"/>
              <a:t>i</a:t>
            </a:r>
            <a:r>
              <a:rPr lang="zh-CN" altLang="zh-CN" sz="2000" dirty="0"/>
              <a:t>计算出的密钥</a:t>
            </a:r>
            <a:r>
              <a:rPr lang="en-US" altLang="zh-CN" sz="2000" dirty="0"/>
              <a:t>Ki</a:t>
            </a:r>
            <a:r>
              <a:rPr lang="zh-CN" altLang="zh-CN" sz="2000" dirty="0"/>
              <a:t>。</a:t>
            </a:r>
          </a:p>
          <a:p>
            <a:r>
              <a:rPr lang="zh-CN" altLang="zh-CN" sz="2000" dirty="0"/>
              <a:t>不难看出，数据加密系统通常是由明文、密文、算法和密钥组成。发方通过加密算法，用加密密钥将明文加密为密文后发出。收方收到密文后，通过解密算法，用解密密钥将密文解密为明文。黑客即使窃取了数据，也无法识别密文，从而保护了数据。</a:t>
            </a:r>
          </a:p>
        </p:txBody>
      </p:sp>
    </p:spTree>
    <p:extLst>
      <p:ext uri="{BB962C8B-B14F-4D97-AF65-F5344CB8AC3E}">
        <p14:creationId xmlns:p14="http://schemas.microsoft.com/office/powerpoint/2010/main" val="174705347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60</a:t>
            </a:fld>
            <a:endParaRPr lang="zh-CN" altLang="en-US" dirty="0"/>
          </a:p>
        </p:txBody>
      </p:sp>
      <p:sp>
        <p:nvSpPr>
          <p:cNvPr id="7" name="文本占位符 6"/>
          <p:cNvSpPr>
            <a:spLocks noGrp="1"/>
          </p:cNvSpPr>
          <p:nvPr>
            <p:ph type="body" idx="1"/>
          </p:nvPr>
        </p:nvSpPr>
        <p:spPr>
          <a:xfrm>
            <a:off x="107504" y="764704"/>
            <a:ext cx="8856984" cy="648072"/>
          </a:xfrm>
        </p:spPr>
        <p:txBody>
          <a:bodyPr>
            <a:noAutofit/>
          </a:bodyPr>
          <a:lstStyle/>
          <a:p>
            <a:r>
              <a:rPr lang="en-US" altLang="zh-CN" sz="2000" dirty="0"/>
              <a:t>DES</a:t>
            </a:r>
            <a:r>
              <a:rPr lang="zh-CN" altLang="zh-CN" sz="2000" dirty="0"/>
              <a:t>分为私钥机制（如图</a:t>
            </a:r>
            <a:r>
              <a:rPr lang="en-US" altLang="zh-CN" sz="2000" dirty="0"/>
              <a:t>7.3</a:t>
            </a:r>
            <a:r>
              <a:rPr lang="zh-CN" altLang="zh-CN" sz="2000" dirty="0"/>
              <a:t>所示）和公钥机制（如图</a:t>
            </a:r>
            <a:r>
              <a:rPr lang="en-US" altLang="zh-CN" sz="2000" dirty="0"/>
              <a:t>7.4</a:t>
            </a:r>
            <a:r>
              <a:rPr lang="zh-CN" altLang="zh-CN" sz="2000" dirty="0"/>
              <a:t>和</a:t>
            </a:r>
            <a:r>
              <a:rPr lang="en-US" altLang="zh-CN" sz="2000" dirty="0"/>
              <a:t>7.5</a:t>
            </a:r>
            <a:r>
              <a:rPr lang="zh-CN" altLang="zh-CN" sz="2000" dirty="0"/>
              <a:t>所示）等</a:t>
            </a:r>
            <a:r>
              <a:rPr lang="zh-CN" altLang="zh-CN" sz="2000" dirty="0" smtClean="0"/>
              <a:t>。</a:t>
            </a:r>
            <a:endParaRPr lang="zh-CN" altLang="zh-CN" sz="2000" dirty="0"/>
          </a:p>
        </p:txBody>
      </p:sp>
      <p:grpSp>
        <p:nvGrpSpPr>
          <p:cNvPr id="8" name="组合 7"/>
          <p:cNvGrpSpPr/>
          <p:nvPr/>
        </p:nvGrpSpPr>
        <p:grpSpPr>
          <a:xfrm>
            <a:off x="1547664" y="1348047"/>
            <a:ext cx="5548322" cy="952000"/>
            <a:chOff x="0" y="0"/>
            <a:chExt cx="3324225" cy="788661"/>
          </a:xfrm>
        </p:grpSpPr>
        <p:sp>
          <p:nvSpPr>
            <p:cNvPr id="23" name="Rectangle 4"/>
            <p:cNvSpPr>
              <a:spLocks noChangeArrowheads="1"/>
            </p:cNvSpPr>
            <p:nvPr/>
          </p:nvSpPr>
          <p:spPr bwMode="auto">
            <a:xfrm>
              <a:off x="0" y="152400"/>
              <a:ext cx="904875" cy="431800"/>
            </a:xfrm>
            <a:prstGeom prst="rect">
              <a:avLst/>
            </a:prstGeom>
            <a:noFill/>
            <a:ln w="9525">
              <a:solidFill>
                <a:schemeClr val="tx1"/>
              </a:solidFill>
              <a:miter lim="800000"/>
              <a:headEnd/>
              <a:tailEnd/>
            </a:ln>
            <a:effectLst/>
            <a:extLst/>
          </p:spPr>
          <p:txBody>
            <a:bodyPr wrap="square" anchor="ctr"/>
            <a:lstStyle/>
            <a:p>
              <a:pPr algn="ctr" fontAlgn="base">
                <a:spcAft>
                  <a:spcPts val="0"/>
                </a:spcAft>
              </a:pPr>
              <a:r>
                <a:rPr lang="zh-CN" sz="2000" kern="1200" dirty="0">
                  <a:solidFill>
                    <a:srgbClr val="000000"/>
                  </a:solidFill>
                  <a:effectLst/>
                  <a:latin typeface="微软雅黑" pitchFamily="34" charset="-122"/>
                  <a:ea typeface="微软雅黑" pitchFamily="34" charset="-122"/>
                  <a:cs typeface="Times New Roman"/>
                </a:rPr>
                <a:t>明文</a:t>
              </a:r>
              <a:endParaRPr lang="zh-CN" sz="2000" dirty="0">
                <a:effectLst/>
                <a:latin typeface="微软雅黑" pitchFamily="34" charset="-122"/>
                <a:ea typeface="微软雅黑" pitchFamily="34" charset="-122"/>
                <a:cs typeface="宋体"/>
              </a:endParaRPr>
            </a:p>
          </p:txBody>
        </p:sp>
        <p:sp>
          <p:nvSpPr>
            <p:cNvPr id="24" name="Rectangle 6"/>
            <p:cNvSpPr>
              <a:spLocks noChangeArrowheads="1"/>
            </p:cNvSpPr>
            <p:nvPr/>
          </p:nvSpPr>
          <p:spPr bwMode="auto">
            <a:xfrm>
              <a:off x="2409825" y="152400"/>
              <a:ext cx="914400" cy="431800"/>
            </a:xfrm>
            <a:prstGeom prst="rect">
              <a:avLst/>
            </a:prstGeom>
            <a:noFill/>
            <a:ln w="9525">
              <a:solidFill>
                <a:schemeClr val="tx1"/>
              </a:solidFill>
              <a:miter lim="800000"/>
              <a:headEnd/>
              <a:tailEnd/>
            </a:ln>
            <a:effectLst/>
            <a:extLst/>
          </p:spPr>
          <p:txBody>
            <a:bodyPr wrap="square" anchor="ctr"/>
            <a:lstStyle/>
            <a:p>
              <a:pPr algn="ctr" fontAlgn="base">
                <a:spcAft>
                  <a:spcPts val="0"/>
                </a:spcAft>
              </a:pPr>
              <a:r>
                <a:rPr lang="zh-CN" sz="2000" kern="1200" dirty="0">
                  <a:solidFill>
                    <a:srgbClr val="000000"/>
                  </a:solidFill>
                  <a:effectLst/>
                  <a:latin typeface="微软雅黑" pitchFamily="34" charset="-122"/>
                  <a:ea typeface="微软雅黑" pitchFamily="34" charset="-122"/>
                  <a:cs typeface="Times New Roman"/>
                </a:rPr>
                <a:t>密文</a:t>
              </a:r>
              <a:endParaRPr lang="zh-CN" sz="2000" dirty="0">
                <a:effectLst/>
                <a:latin typeface="微软雅黑" pitchFamily="34" charset="-122"/>
                <a:ea typeface="微软雅黑" pitchFamily="34" charset="-122"/>
                <a:cs typeface="宋体"/>
              </a:endParaRPr>
            </a:p>
          </p:txBody>
        </p:sp>
        <p:cxnSp>
          <p:nvCxnSpPr>
            <p:cNvPr id="25" name="Line 9"/>
            <p:cNvCxnSpPr/>
            <p:nvPr/>
          </p:nvCxnSpPr>
          <p:spPr bwMode="auto">
            <a:xfrm>
              <a:off x="904875" y="285750"/>
              <a:ext cx="150939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Line 10"/>
            <p:cNvCxnSpPr/>
            <p:nvPr/>
          </p:nvCxnSpPr>
          <p:spPr bwMode="auto">
            <a:xfrm flipH="1">
              <a:off x="904875" y="428625"/>
              <a:ext cx="15049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Box 24"/>
            <p:cNvSpPr txBox="1">
              <a:spLocks noChangeArrowheads="1"/>
            </p:cNvSpPr>
            <p:nvPr/>
          </p:nvSpPr>
          <p:spPr bwMode="auto">
            <a:xfrm>
              <a:off x="1304925" y="0"/>
              <a:ext cx="725312" cy="331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Aft>
                  <a:spcPts val="0"/>
                </a:spcAft>
              </a:pPr>
              <a:r>
                <a:rPr lang="zh-CN" sz="2000" dirty="0">
                  <a:effectLst/>
                  <a:latin typeface="微软雅黑" pitchFamily="34" charset="-122"/>
                  <a:ea typeface="微软雅黑" pitchFamily="34" charset="-122"/>
                  <a:cs typeface="Tahoma"/>
                </a:rPr>
                <a:t>密钥加密</a:t>
              </a:r>
              <a:endParaRPr lang="zh-CN" sz="2000" dirty="0">
                <a:effectLst/>
                <a:latin typeface="微软雅黑" pitchFamily="34" charset="-122"/>
                <a:ea typeface="微软雅黑" pitchFamily="34" charset="-122"/>
                <a:cs typeface="宋体"/>
              </a:endParaRPr>
            </a:p>
          </p:txBody>
        </p:sp>
        <p:sp>
          <p:nvSpPr>
            <p:cNvPr id="28" name="TextBox 24"/>
            <p:cNvSpPr txBox="1">
              <a:spLocks noChangeArrowheads="1"/>
            </p:cNvSpPr>
            <p:nvPr/>
          </p:nvSpPr>
          <p:spPr bwMode="auto">
            <a:xfrm>
              <a:off x="1300726" y="457200"/>
              <a:ext cx="725312" cy="331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fontAlgn="base">
                <a:spcAft>
                  <a:spcPts val="0"/>
                </a:spcAft>
                <a:tabLst>
                  <a:tab pos="2637155" algn="ctr"/>
                  <a:tab pos="5274310" algn="r"/>
                </a:tabLst>
              </a:pPr>
              <a:r>
                <a:rPr lang="zh-CN" sz="2000" kern="100" dirty="0">
                  <a:effectLst/>
                  <a:latin typeface="微软雅黑" pitchFamily="34" charset="-122"/>
                  <a:ea typeface="微软雅黑" pitchFamily="34" charset="-122"/>
                  <a:cs typeface="Tahoma"/>
                </a:rPr>
                <a:t>密钥解密</a:t>
              </a:r>
              <a:endParaRPr lang="zh-CN" sz="2000" kern="100" dirty="0">
                <a:effectLst/>
                <a:latin typeface="微软雅黑" pitchFamily="34" charset="-122"/>
                <a:ea typeface="微软雅黑" pitchFamily="34" charset="-122"/>
                <a:cs typeface="Times New Roman"/>
              </a:endParaRPr>
            </a:p>
          </p:txBody>
        </p:sp>
      </p:grpSp>
      <p:grpSp>
        <p:nvGrpSpPr>
          <p:cNvPr id="9" name="组合 8"/>
          <p:cNvGrpSpPr/>
          <p:nvPr/>
        </p:nvGrpSpPr>
        <p:grpSpPr>
          <a:xfrm>
            <a:off x="1556791" y="3220534"/>
            <a:ext cx="5548322" cy="849408"/>
            <a:chOff x="0" y="0"/>
            <a:chExt cx="3324225" cy="703670"/>
          </a:xfrm>
        </p:grpSpPr>
        <p:sp>
          <p:nvSpPr>
            <p:cNvPr id="17" name="Rectangle 4"/>
            <p:cNvSpPr>
              <a:spLocks noChangeArrowheads="1"/>
            </p:cNvSpPr>
            <p:nvPr/>
          </p:nvSpPr>
          <p:spPr bwMode="auto">
            <a:xfrm>
              <a:off x="0" y="152400"/>
              <a:ext cx="904875" cy="431800"/>
            </a:xfrm>
            <a:prstGeom prst="rect">
              <a:avLst/>
            </a:prstGeom>
            <a:noFill/>
            <a:ln w="9525">
              <a:solidFill>
                <a:schemeClr val="tx1"/>
              </a:solidFill>
              <a:miter lim="800000"/>
              <a:headEnd/>
              <a:tailEnd/>
            </a:ln>
            <a:effectLst/>
            <a:extLst/>
          </p:spPr>
          <p:txBody>
            <a:bodyPr wrap="square" anchor="ctr"/>
            <a:lstStyle/>
            <a:p>
              <a:pPr algn="ctr" fontAlgn="base">
                <a:spcAft>
                  <a:spcPts val="0"/>
                </a:spcAft>
                <a:tabLst>
                  <a:tab pos="2637155" algn="ctr"/>
                  <a:tab pos="5274310" algn="r"/>
                </a:tabLst>
              </a:pPr>
              <a:r>
                <a:rPr lang="zh-CN" sz="2000" kern="1200">
                  <a:solidFill>
                    <a:srgbClr val="000000"/>
                  </a:solidFill>
                  <a:effectLst/>
                  <a:latin typeface="微软雅黑" pitchFamily="34" charset="-122"/>
                  <a:ea typeface="微软雅黑" pitchFamily="34" charset="-122"/>
                  <a:cs typeface="Times New Roman"/>
                </a:rPr>
                <a:t>明文</a:t>
              </a:r>
              <a:endParaRPr lang="zh-CN" sz="2000" kern="100">
                <a:effectLst/>
                <a:latin typeface="微软雅黑" pitchFamily="34" charset="-122"/>
                <a:ea typeface="微软雅黑" pitchFamily="34" charset="-122"/>
                <a:cs typeface="Times New Roman"/>
              </a:endParaRPr>
            </a:p>
          </p:txBody>
        </p:sp>
        <p:sp>
          <p:nvSpPr>
            <p:cNvPr id="18" name="Rectangle 6"/>
            <p:cNvSpPr>
              <a:spLocks noChangeArrowheads="1"/>
            </p:cNvSpPr>
            <p:nvPr/>
          </p:nvSpPr>
          <p:spPr bwMode="auto">
            <a:xfrm>
              <a:off x="2409825" y="152400"/>
              <a:ext cx="914400" cy="431800"/>
            </a:xfrm>
            <a:prstGeom prst="rect">
              <a:avLst/>
            </a:prstGeom>
            <a:noFill/>
            <a:ln w="9525">
              <a:solidFill>
                <a:schemeClr val="tx1"/>
              </a:solidFill>
              <a:miter lim="800000"/>
              <a:headEnd/>
              <a:tailEnd/>
            </a:ln>
            <a:effectLst/>
            <a:extLst/>
          </p:spPr>
          <p:txBody>
            <a:bodyPr wrap="square" anchor="ctr"/>
            <a:lstStyle/>
            <a:p>
              <a:pPr algn="ctr" fontAlgn="base">
                <a:spcAft>
                  <a:spcPts val="0"/>
                </a:spcAft>
                <a:tabLst>
                  <a:tab pos="2637155" algn="ctr"/>
                  <a:tab pos="5274310" algn="r"/>
                </a:tabLst>
              </a:pPr>
              <a:r>
                <a:rPr lang="zh-CN" sz="2000" kern="1200" dirty="0">
                  <a:solidFill>
                    <a:srgbClr val="000000"/>
                  </a:solidFill>
                  <a:effectLst/>
                  <a:latin typeface="微软雅黑" pitchFamily="34" charset="-122"/>
                  <a:ea typeface="微软雅黑" pitchFamily="34" charset="-122"/>
                  <a:cs typeface="Times New Roman"/>
                </a:rPr>
                <a:t>密文</a:t>
              </a:r>
              <a:endParaRPr lang="zh-CN" sz="2000" kern="100" dirty="0">
                <a:effectLst/>
                <a:latin typeface="微软雅黑" pitchFamily="34" charset="-122"/>
                <a:ea typeface="微软雅黑" pitchFamily="34" charset="-122"/>
                <a:cs typeface="Times New Roman"/>
              </a:endParaRPr>
            </a:p>
          </p:txBody>
        </p:sp>
        <p:cxnSp>
          <p:nvCxnSpPr>
            <p:cNvPr id="19" name="Line 9"/>
            <p:cNvCxnSpPr/>
            <p:nvPr/>
          </p:nvCxnSpPr>
          <p:spPr bwMode="auto">
            <a:xfrm>
              <a:off x="904875" y="285750"/>
              <a:ext cx="150939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Line 10"/>
            <p:cNvCxnSpPr/>
            <p:nvPr/>
          </p:nvCxnSpPr>
          <p:spPr bwMode="auto">
            <a:xfrm flipH="1">
              <a:off x="904875" y="428625"/>
              <a:ext cx="15049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Box 24"/>
            <p:cNvSpPr txBox="1">
              <a:spLocks noChangeArrowheads="1"/>
            </p:cNvSpPr>
            <p:nvPr/>
          </p:nvSpPr>
          <p:spPr bwMode="auto">
            <a:xfrm>
              <a:off x="1300726" y="0"/>
              <a:ext cx="725312" cy="331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fontAlgn="base">
                <a:spcAft>
                  <a:spcPts val="0"/>
                </a:spcAft>
                <a:tabLst>
                  <a:tab pos="2637155" algn="ctr"/>
                  <a:tab pos="5274310" algn="r"/>
                </a:tabLst>
              </a:pPr>
              <a:r>
                <a:rPr lang="zh-CN" sz="2000" kern="100" dirty="0">
                  <a:effectLst/>
                  <a:latin typeface="微软雅黑" pitchFamily="34" charset="-122"/>
                  <a:ea typeface="微软雅黑" pitchFamily="34" charset="-122"/>
                  <a:cs typeface="Tahoma"/>
                </a:rPr>
                <a:t>私钥加密</a:t>
              </a:r>
              <a:endParaRPr lang="zh-CN" sz="2000" kern="100" dirty="0">
                <a:effectLst/>
                <a:latin typeface="微软雅黑" pitchFamily="34" charset="-122"/>
                <a:ea typeface="微软雅黑" pitchFamily="34" charset="-122"/>
                <a:cs typeface="Times New Roman"/>
              </a:endParaRPr>
            </a:p>
          </p:txBody>
        </p:sp>
        <p:sp>
          <p:nvSpPr>
            <p:cNvPr id="22" name="TextBox 24"/>
            <p:cNvSpPr txBox="1">
              <a:spLocks noChangeArrowheads="1"/>
            </p:cNvSpPr>
            <p:nvPr/>
          </p:nvSpPr>
          <p:spPr bwMode="auto">
            <a:xfrm>
              <a:off x="1262310" y="457200"/>
              <a:ext cx="802146" cy="246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indent="127000" algn="just" fontAlgn="base">
                <a:lnSpc>
                  <a:spcPts val="1560"/>
                </a:lnSpc>
                <a:spcAft>
                  <a:spcPts val="0"/>
                </a:spcAft>
              </a:pPr>
              <a:r>
                <a:rPr lang="zh-CN" sz="2000" dirty="0">
                  <a:effectLst/>
                  <a:latin typeface="微软雅黑" pitchFamily="34" charset="-122"/>
                  <a:ea typeface="微软雅黑" pitchFamily="34" charset="-122"/>
                  <a:cs typeface="Tahoma"/>
                </a:rPr>
                <a:t>公钥解密</a:t>
              </a:r>
              <a:endParaRPr lang="zh-CN" sz="2000" dirty="0">
                <a:effectLst/>
                <a:latin typeface="微软雅黑" pitchFamily="34" charset="-122"/>
                <a:ea typeface="微软雅黑" pitchFamily="34" charset="-122"/>
                <a:cs typeface="宋体"/>
              </a:endParaRPr>
            </a:p>
          </p:txBody>
        </p:sp>
      </p:grpSp>
      <p:grpSp>
        <p:nvGrpSpPr>
          <p:cNvPr id="10" name="组合 9"/>
          <p:cNvGrpSpPr/>
          <p:nvPr/>
        </p:nvGrpSpPr>
        <p:grpSpPr>
          <a:xfrm>
            <a:off x="1528227" y="4956419"/>
            <a:ext cx="5548322" cy="849408"/>
            <a:chOff x="0" y="0"/>
            <a:chExt cx="3324225" cy="703670"/>
          </a:xfrm>
        </p:grpSpPr>
        <p:sp>
          <p:nvSpPr>
            <p:cNvPr id="11" name="Rectangle 4"/>
            <p:cNvSpPr>
              <a:spLocks noChangeArrowheads="1"/>
            </p:cNvSpPr>
            <p:nvPr/>
          </p:nvSpPr>
          <p:spPr bwMode="auto">
            <a:xfrm>
              <a:off x="0" y="152400"/>
              <a:ext cx="904875" cy="431800"/>
            </a:xfrm>
            <a:prstGeom prst="rect">
              <a:avLst/>
            </a:prstGeom>
            <a:noFill/>
            <a:ln w="9525">
              <a:solidFill>
                <a:schemeClr val="tx1"/>
              </a:solidFill>
              <a:miter lim="800000"/>
              <a:headEnd/>
              <a:tailEnd/>
            </a:ln>
            <a:effectLst/>
            <a:extLst/>
          </p:spPr>
          <p:txBody>
            <a:bodyPr wrap="square" anchor="ctr"/>
            <a:lstStyle/>
            <a:p>
              <a:pPr algn="ctr" fontAlgn="base">
                <a:spcAft>
                  <a:spcPts val="0"/>
                </a:spcAft>
                <a:tabLst>
                  <a:tab pos="2637155" algn="ctr"/>
                  <a:tab pos="5274310" algn="r"/>
                </a:tabLst>
              </a:pPr>
              <a:r>
                <a:rPr lang="zh-CN" sz="2000" kern="1200">
                  <a:solidFill>
                    <a:srgbClr val="000000"/>
                  </a:solidFill>
                  <a:effectLst/>
                  <a:latin typeface="微软雅黑" pitchFamily="34" charset="-122"/>
                  <a:ea typeface="微软雅黑" pitchFamily="34" charset="-122"/>
                  <a:cs typeface="Times New Roman"/>
                </a:rPr>
                <a:t>明文</a:t>
              </a:r>
              <a:endParaRPr lang="zh-CN" sz="2000" kern="100">
                <a:effectLst/>
                <a:latin typeface="微软雅黑" pitchFamily="34" charset="-122"/>
                <a:ea typeface="微软雅黑" pitchFamily="34" charset="-122"/>
                <a:cs typeface="Times New Roman"/>
              </a:endParaRPr>
            </a:p>
          </p:txBody>
        </p:sp>
        <p:sp>
          <p:nvSpPr>
            <p:cNvPr id="12" name="Rectangle 6"/>
            <p:cNvSpPr>
              <a:spLocks noChangeArrowheads="1"/>
            </p:cNvSpPr>
            <p:nvPr/>
          </p:nvSpPr>
          <p:spPr bwMode="auto">
            <a:xfrm>
              <a:off x="2409825" y="152400"/>
              <a:ext cx="914400" cy="431800"/>
            </a:xfrm>
            <a:prstGeom prst="rect">
              <a:avLst/>
            </a:prstGeom>
            <a:noFill/>
            <a:ln w="9525">
              <a:solidFill>
                <a:schemeClr val="tx1"/>
              </a:solidFill>
              <a:miter lim="800000"/>
              <a:headEnd/>
              <a:tailEnd/>
            </a:ln>
            <a:effectLst/>
            <a:extLst/>
          </p:spPr>
          <p:txBody>
            <a:bodyPr wrap="square" anchor="ctr"/>
            <a:lstStyle/>
            <a:p>
              <a:pPr algn="ctr" fontAlgn="base">
                <a:spcAft>
                  <a:spcPts val="0"/>
                </a:spcAft>
                <a:tabLst>
                  <a:tab pos="2637155" algn="ctr"/>
                  <a:tab pos="5274310" algn="r"/>
                </a:tabLst>
              </a:pPr>
              <a:r>
                <a:rPr lang="zh-CN" sz="2000" kern="1200">
                  <a:solidFill>
                    <a:srgbClr val="000000"/>
                  </a:solidFill>
                  <a:effectLst/>
                  <a:latin typeface="微软雅黑" pitchFamily="34" charset="-122"/>
                  <a:ea typeface="微软雅黑" pitchFamily="34" charset="-122"/>
                  <a:cs typeface="Times New Roman"/>
                </a:rPr>
                <a:t>密文</a:t>
              </a:r>
              <a:endParaRPr lang="zh-CN" sz="2000" kern="100">
                <a:effectLst/>
                <a:latin typeface="微软雅黑" pitchFamily="34" charset="-122"/>
                <a:ea typeface="微软雅黑" pitchFamily="34" charset="-122"/>
                <a:cs typeface="Times New Roman"/>
              </a:endParaRPr>
            </a:p>
          </p:txBody>
        </p:sp>
        <p:cxnSp>
          <p:nvCxnSpPr>
            <p:cNvPr id="13" name="Line 9"/>
            <p:cNvCxnSpPr/>
            <p:nvPr/>
          </p:nvCxnSpPr>
          <p:spPr bwMode="auto">
            <a:xfrm>
              <a:off x="904875" y="285750"/>
              <a:ext cx="150939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Line 10"/>
            <p:cNvCxnSpPr/>
            <p:nvPr/>
          </p:nvCxnSpPr>
          <p:spPr bwMode="auto">
            <a:xfrm flipH="1">
              <a:off x="904875" y="428625"/>
              <a:ext cx="15049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24"/>
            <p:cNvSpPr txBox="1">
              <a:spLocks noChangeArrowheads="1"/>
            </p:cNvSpPr>
            <p:nvPr/>
          </p:nvSpPr>
          <p:spPr bwMode="auto">
            <a:xfrm>
              <a:off x="1300726" y="0"/>
              <a:ext cx="725312" cy="331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fontAlgn="base">
                <a:spcAft>
                  <a:spcPts val="0"/>
                </a:spcAft>
                <a:tabLst>
                  <a:tab pos="2637155" algn="ctr"/>
                  <a:tab pos="5274310" algn="r"/>
                </a:tabLst>
              </a:pPr>
              <a:r>
                <a:rPr lang="zh-CN" sz="2000" kern="100">
                  <a:effectLst/>
                  <a:latin typeface="微软雅黑" pitchFamily="34" charset="-122"/>
                  <a:ea typeface="微软雅黑" pitchFamily="34" charset="-122"/>
                  <a:cs typeface="Tahoma"/>
                </a:rPr>
                <a:t>公钥加密</a:t>
              </a:r>
              <a:endParaRPr lang="zh-CN" sz="2000" kern="100">
                <a:effectLst/>
                <a:latin typeface="微软雅黑" pitchFamily="34" charset="-122"/>
                <a:ea typeface="微软雅黑" pitchFamily="34" charset="-122"/>
                <a:cs typeface="Times New Roman"/>
              </a:endParaRPr>
            </a:p>
          </p:txBody>
        </p:sp>
        <p:sp>
          <p:nvSpPr>
            <p:cNvPr id="16" name="TextBox 24"/>
            <p:cNvSpPr txBox="1">
              <a:spLocks noChangeArrowheads="1"/>
            </p:cNvSpPr>
            <p:nvPr/>
          </p:nvSpPr>
          <p:spPr bwMode="auto">
            <a:xfrm>
              <a:off x="1262310" y="457200"/>
              <a:ext cx="802146" cy="246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indent="127000" algn="just" fontAlgn="base">
                <a:lnSpc>
                  <a:spcPts val="1560"/>
                </a:lnSpc>
                <a:spcAft>
                  <a:spcPts val="0"/>
                </a:spcAft>
              </a:pPr>
              <a:r>
                <a:rPr lang="zh-CN" sz="2000">
                  <a:effectLst/>
                  <a:latin typeface="微软雅黑" pitchFamily="34" charset="-122"/>
                  <a:ea typeface="微软雅黑" pitchFamily="34" charset="-122"/>
                  <a:cs typeface="Tahoma"/>
                </a:rPr>
                <a:t>私钥解密</a:t>
              </a:r>
              <a:endParaRPr lang="zh-CN" sz="2000">
                <a:effectLst/>
                <a:latin typeface="微软雅黑" pitchFamily="34" charset="-122"/>
                <a:ea typeface="微软雅黑" pitchFamily="34" charset="-122"/>
                <a:cs typeface="宋体"/>
              </a:endParaRPr>
            </a:p>
          </p:txBody>
        </p:sp>
      </p:grpSp>
      <p:sp>
        <p:nvSpPr>
          <p:cNvPr id="3" name="矩形 2"/>
          <p:cNvSpPr/>
          <p:nvPr/>
        </p:nvSpPr>
        <p:spPr>
          <a:xfrm>
            <a:off x="3283550" y="2420888"/>
            <a:ext cx="2465740" cy="400110"/>
          </a:xfrm>
          <a:prstGeom prst="rect">
            <a:avLst/>
          </a:prstGeom>
        </p:spPr>
        <p:txBody>
          <a:bodyPr wrap="none">
            <a:spAutoFit/>
          </a:bodyPr>
          <a:lstStyle/>
          <a:p>
            <a:r>
              <a:rPr lang="zh-CN" altLang="zh-CN" sz="2000" dirty="0" smtClean="0">
                <a:latin typeface="微软雅黑" pitchFamily="34" charset="-122"/>
                <a:ea typeface="微软雅黑" pitchFamily="34" charset="-122"/>
              </a:rPr>
              <a:t>图</a:t>
            </a:r>
            <a:r>
              <a:rPr lang="en-US" altLang="zh-CN" sz="2000" dirty="0" smtClean="0">
                <a:latin typeface="微软雅黑" pitchFamily="34" charset="-122"/>
                <a:ea typeface="微软雅黑" pitchFamily="34" charset="-122"/>
              </a:rPr>
              <a:t>7.3  </a:t>
            </a:r>
            <a:r>
              <a:rPr lang="en-US" altLang="zh-CN" sz="2000" dirty="0">
                <a:latin typeface="微软雅黑" pitchFamily="34" charset="-122"/>
                <a:ea typeface="微软雅黑" pitchFamily="34" charset="-122"/>
              </a:rPr>
              <a:t>DES</a:t>
            </a:r>
            <a:r>
              <a:rPr lang="zh-CN" altLang="zh-CN" sz="2000" dirty="0">
                <a:latin typeface="微软雅黑" pitchFamily="34" charset="-122"/>
                <a:ea typeface="微软雅黑" pitchFamily="34" charset="-122"/>
              </a:rPr>
              <a:t>加密解密</a:t>
            </a:r>
            <a:endParaRPr lang="zh-CN" altLang="en-US" sz="2000" dirty="0">
              <a:latin typeface="微软雅黑" pitchFamily="34" charset="-122"/>
              <a:ea typeface="微软雅黑" pitchFamily="34" charset="-122"/>
            </a:endParaRPr>
          </a:p>
        </p:txBody>
      </p:sp>
      <p:sp>
        <p:nvSpPr>
          <p:cNvPr id="29" name="矩形 28"/>
          <p:cNvSpPr/>
          <p:nvPr/>
        </p:nvSpPr>
        <p:spPr>
          <a:xfrm>
            <a:off x="2821500" y="4248073"/>
            <a:ext cx="3502882" cy="400110"/>
          </a:xfrm>
          <a:prstGeom prst="rect">
            <a:avLst/>
          </a:prstGeom>
        </p:spPr>
        <p:txBody>
          <a:bodyPr wrap="none">
            <a:spAutoFit/>
          </a:bodyPr>
          <a:lstStyle/>
          <a:p>
            <a:r>
              <a:rPr lang="zh-CN" altLang="zh-CN" sz="2000" dirty="0">
                <a:latin typeface="微软雅黑" pitchFamily="34" charset="-122"/>
                <a:ea typeface="微软雅黑" pitchFamily="34" charset="-122"/>
              </a:rPr>
              <a:t>图7.4  RSA私钥加密公钥解密</a:t>
            </a:r>
            <a:endParaRPr lang="zh-CN" altLang="en-US" sz="2000" dirty="0">
              <a:latin typeface="微软雅黑" pitchFamily="34" charset="-122"/>
              <a:ea typeface="微软雅黑" pitchFamily="34" charset="-122"/>
            </a:endParaRPr>
          </a:p>
        </p:txBody>
      </p:sp>
      <p:sp>
        <p:nvSpPr>
          <p:cNvPr id="30" name="矩形 29"/>
          <p:cNvSpPr/>
          <p:nvPr/>
        </p:nvSpPr>
        <p:spPr>
          <a:xfrm>
            <a:off x="2821500" y="5877272"/>
            <a:ext cx="3502882" cy="400110"/>
          </a:xfrm>
          <a:prstGeom prst="rect">
            <a:avLst/>
          </a:prstGeom>
        </p:spPr>
        <p:txBody>
          <a:bodyPr wrap="none">
            <a:spAutoFit/>
          </a:bodyPr>
          <a:lstStyle/>
          <a:p>
            <a:r>
              <a:rPr lang="zh-CN" altLang="zh-CN" sz="2000" dirty="0">
                <a:latin typeface="微软雅黑" pitchFamily="34" charset="-122"/>
                <a:ea typeface="微软雅黑" pitchFamily="34" charset="-122"/>
              </a:rPr>
              <a:t>图7.5  RSA公钥加密私钥解密</a:t>
            </a:r>
            <a:endParaRPr lang="zh-CN" altLang="en-US" sz="2000" dirty="0">
              <a:latin typeface="微软雅黑" pitchFamily="34" charset="-122"/>
              <a:ea typeface="微软雅黑" pitchFamily="34" charset="-122"/>
            </a:endParaRPr>
          </a:p>
        </p:txBody>
      </p:sp>
    </p:spTree>
    <p:extLst>
      <p:ext uri="{BB962C8B-B14F-4D97-AF65-F5344CB8AC3E}">
        <p14:creationId xmlns:p14="http://schemas.microsoft.com/office/powerpoint/2010/main" val="362663923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61</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私钥机制：“加密算法</a:t>
            </a:r>
            <a:r>
              <a:rPr lang="en-US" altLang="zh-CN" sz="2000" dirty="0"/>
              <a:t>+</a:t>
            </a:r>
            <a:r>
              <a:rPr lang="zh-CN" altLang="zh-CN" sz="2000" dirty="0"/>
              <a:t>密钥”和“解密算法</a:t>
            </a:r>
            <a:r>
              <a:rPr lang="en-US" altLang="zh-CN" sz="2000" dirty="0"/>
              <a:t>+</a:t>
            </a:r>
            <a:r>
              <a:rPr lang="zh-CN" altLang="zh-CN" sz="2000" dirty="0"/>
              <a:t>密钥”均保密的</a:t>
            </a:r>
            <a:r>
              <a:rPr lang="en-US" altLang="zh-CN" sz="2000" dirty="0"/>
              <a:t>DES</a:t>
            </a:r>
            <a:r>
              <a:rPr lang="zh-CN" altLang="zh-CN" sz="2000" dirty="0"/>
              <a:t>。常用的方法是加密和解密使用相同的“加密算法</a:t>
            </a:r>
            <a:r>
              <a:rPr lang="en-US" altLang="zh-CN" sz="2000" dirty="0"/>
              <a:t>+</a:t>
            </a:r>
            <a:r>
              <a:rPr lang="zh-CN" altLang="zh-CN" sz="2000" dirty="0"/>
              <a:t>密钥”（即：对称加密）。</a:t>
            </a:r>
          </a:p>
          <a:p>
            <a:r>
              <a:rPr lang="zh-CN" altLang="zh-CN" sz="2000" dirty="0"/>
              <a:t>例</a:t>
            </a:r>
            <a:r>
              <a:rPr lang="en-US" altLang="zh-CN" sz="2000" dirty="0"/>
              <a:t>7.13  </a:t>
            </a:r>
            <a:r>
              <a:rPr lang="zh-CN" altLang="zh-CN" sz="2000" dirty="0"/>
              <a:t>如果明文为“</a:t>
            </a:r>
            <a:r>
              <a:rPr lang="en-US" altLang="zh-CN" sz="2000" dirty="0"/>
              <a:t>AS KINGFISHERS CATCH FIRE</a:t>
            </a:r>
            <a:r>
              <a:rPr lang="zh-CN" altLang="zh-CN" sz="2000" dirty="0"/>
              <a:t>”，加密密钥为“</a:t>
            </a:r>
            <a:r>
              <a:rPr lang="en-US" altLang="zh-CN" sz="2000" dirty="0"/>
              <a:t>ELIOT</a:t>
            </a:r>
            <a:r>
              <a:rPr lang="zh-CN" altLang="zh-CN" sz="2000" dirty="0"/>
              <a:t>”，则加密算法如下：</a:t>
            </a:r>
          </a:p>
          <a:p>
            <a:r>
              <a:rPr lang="zh-CN" altLang="zh-CN" sz="2000" dirty="0"/>
              <a:t>（</a:t>
            </a:r>
            <a:r>
              <a:rPr lang="en-US" altLang="zh-CN" sz="2000" dirty="0"/>
              <a:t>1</a:t>
            </a:r>
            <a:r>
              <a:rPr lang="zh-CN" altLang="zh-CN" sz="2000" dirty="0"/>
              <a:t>）把明文划分为多个密钥字符串长度大小的块（</a:t>
            </a:r>
            <a:r>
              <a:rPr lang="en-US" altLang="zh-CN" sz="2000" dirty="0"/>
              <a:t>+</a:t>
            </a:r>
            <a:r>
              <a:rPr lang="zh-CN" altLang="zh-CN" sz="2000" dirty="0"/>
              <a:t>表示空格）：</a:t>
            </a:r>
          </a:p>
          <a:p>
            <a:r>
              <a:rPr lang="en-US" altLang="zh-CN" sz="2000" dirty="0"/>
              <a:t>AS+KI NGFIS HERS+ CATCH +FIRE</a:t>
            </a:r>
            <a:endParaRPr lang="zh-CN" altLang="zh-CN" sz="2000" dirty="0"/>
          </a:p>
          <a:p>
            <a:r>
              <a:rPr lang="zh-CN" altLang="zh-CN" sz="2000" dirty="0"/>
              <a:t>（</a:t>
            </a:r>
            <a:r>
              <a:rPr lang="en-US" altLang="zh-CN" sz="2000" dirty="0"/>
              <a:t>2</a:t>
            </a:r>
            <a:r>
              <a:rPr lang="zh-CN" altLang="zh-CN" sz="2000" dirty="0"/>
              <a:t>）用</a:t>
            </a:r>
            <a:r>
              <a:rPr lang="en-US" altLang="zh-CN" sz="2000" dirty="0"/>
              <a:t>00-26</a:t>
            </a:r>
            <a:r>
              <a:rPr lang="zh-CN" altLang="zh-CN" sz="2000" dirty="0"/>
              <a:t>范围的</a:t>
            </a:r>
            <a:r>
              <a:rPr lang="en-US" altLang="zh-CN" sz="2000" dirty="0"/>
              <a:t>27</a:t>
            </a:r>
            <a:r>
              <a:rPr lang="zh-CN" altLang="zh-CN" sz="2000" dirty="0"/>
              <a:t>个整数取代明文的每个字符，空格</a:t>
            </a:r>
            <a:r>
              <a:rPr lang="en-US" altLang="zh-CN" sz="2000" dirty="0"/>
              <a:t>=00</a:t>
            </a:r>
            <a:r>
              <a:rPr lang="zh-CN" altLang="zh-CN" sz="2000" dirty="0"/>
              <a:t>，</a:t>
            </a:r>
            <a:r>
              <a:rPr lang="en-US" altLang="zh-CN" sz="2000" dirty="0"/>
              <a:t>A=01</a:t>
            </a:r>
            <a:r>
              <a:rPr lang="zh-CN" altLang="zh-CN" sz="2000" dirty="0"/>
              <a:t>，</a:t>
            </a:r>
            <a:r>
              <a:rPr lang="en-US" altLang="zh-CN" sz="2000" dirty="0"/>
              <a:t>...</a:t>
            </a:r>
            <a:r>
              <a:rPr lang="zh-CN" altLang="zh-CN" sz="2000" dirty="0"/>
              <a:t>，</a:t>
            </a:r>
            <a:r>
              <a:rPr lang="en-US" altLang="zh-CN" sz="2000" dirty="0"/>
              <a:t>Z=26</a:t>
            </a:r>
            <a:r>
              <a:rPr lang="zh-CN" altLang="zh-CN" sz="2000" dirty="0"/>
              <a:t>：</a:t>
            </a:r>
          </a:p>
          <a:p>
            <a:r>
              <a:rPr lang="en-US" altLang="zh-CN" sz="2000" dirty="0"/>
              <a:t>0118001109 1407060919 0805181900 0301200308 0006091905</a:t>
            </a:r>
            <a:endParaRPr lang="zh-CN" altLang="zh-CN" sz="2000" dirty="0"/>
          </a:p>
          <a:p>
            <a:r>
              <a:rPr lang="zh-CN" altLang="zh-CN" sz="2000" dirty="0"/>
              <a:t>（</a:t>
            </a:r>
            <a:r>
              <a:rPr lang="en-US" altLang="zh-CN" sz="2000" dirty="0"/>
              <a:t>3</a:t>
            </a:r>
            <a:r>
              <a:rPr lang="zh-CN" altLang="zh-CN" sz="2000" dirty="0"/>
              <a:t>）用</a:t>
            </a:r>
            <a:r>
              <a:rPr lang="en-US" altLang="zh-CN" sz="2000" dirty="0"/>
              <a:t>00-26</a:t>
            </a:r>
            <a:r>
              <a:rPr lang="zh-CN" altLang="zh-CN" sz="2000" dirty="0"/>
              <a:t>范围的整数取代密钥的每个字符：</a:t>
            </a:r>
          </a:p>
          <a:p>
            <a:r>
              <a:rPr lang="en-US" altLang="zh-CN" sz="2000" dirty="0"/>
              <a:t>05120915204</a:t>
            </a:r>
            <a:endParaRPr lang="zh-CN" altLang="zh-CN" sz="2000" dirty="0"/>
          </a:p>
        </p:txBody>
      </p:sp>
    </p:spTree>
    <p:extLst>
      <p:ext uri="{BB962C8B-B14F-4D97-AF65-F5344CB8AC3E}">
        <p14:creationId xmlns:p14="http://schemas.microsoft.com/office/powerpoint/2010/main" val="273692023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62</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a:t>
            </a:r>
            <a:r>
              <a:rPr lang="en-US" altLang="zh-CN" sz="2000" dirty="0"/>
              <a:t>4</a:t>
            </a:r>
            <a:r>
              <a:rPr lang="zh-CN" altLang="zh-CN" sz="2000" dirty="0"/>
              <a:t>）对明文的每个块，把每个字符用对应的整数编码与密钥中相应位置的字符的整数编码的和模</a:t>
            </a:r>
            <a:r>
              <a:rPr lang="en-US" altLang="zh-CN" sz="2000" dirty="0"/>
              <a:t>27</a:t>
            </a:r>
            <a:r>
              <a:rPr lang="zh-CN" altLang="zh-CN" sz="2000" dirty="0"/>
              <a:t>后的值（整数编码）取代：</a:t>
            </a:r>
          </a:p>
          <a:p>
            <a:r>
              <a:rPr lang="zh-CN" altLang="zh-CN" sz="2000" dirty="0"/>
              <a:t>例如：第一个整数编码为：</a:t>
            </a:r>
            <a:r>
              <a:rPr lang="en-US" altLang="zh-CN" sz="2000" dirty="0"/>
              <a:t>(01+05) mod 27=06</a:t>
            </a:r>
            <a:r>
              <a:rPr lang="zh-CN" altLang="zh-CN" sz="2000" dirty="0"/>
              <a:t>。</a:t>
            </a:r>
          </a:p>
          <a:p>
            <a:r>
              <a:rPr lang="zh-CN" altLang="zh-CN" sz="2000" dirty="0"/>
              <a:t>（</a:t>
            </a:r>
            <a:r>
              <a:rPr lang="en-US" altLang="zh-CN" sz="2000" dirty="0"/>
              <a:t>5</a:t>
            </a:r>
            <a:r>
              <a:rPr lang="zh-CN" altLang="zh-CN" sz="2000" dirty="0"/>
              <a:t>）把步骤</a:t>
            </a:r>
            <a:r>
              <a:rPr lang="en-US" altLang="zh-CN" sz="2000" dirty="0"/>
              <a:t>4</a:t>
            </a:r>
            <a:r>
              <a:rPr lang="zh-CN" altLang="zh-CN" sz="2000" dirty="0"/>
              <a:t>的结果中的整数编码，再用等价字符替换：</a:t>
            </a:r>
          </a:p>
          <a:p>
            <a:r>
              <a:rPr lang="en-US" altLang="zh-CN" sz="2000" dirty="0"/>
              <a:t>FDIZB SSOXL MQ+GT HMBRA ERRFY</a:t>
            </a:r>
            <a:endParaRPr lang="zh-CN" altLang="zh-CN" sz="2000" dirty="0"/>
          </a:p>
          <a:p>
            <a:r>
              <a:rPr lang="zh-CN" altLang="zh-CN" sz="2000" dirty="0" smtClean="0"/>
              <a:t>提示：理想的加密机制是黑客解密密文的代价远超其所得利益。加密机制的最终目标是即使是密钥的发明人，也无法获取密钥，从而也无法解密密文。</a:t>
            </a:r>
            <a:endParaRPr lang="zh-CN" altLang="zh-CN" sz="2000" dirty="0"/>
          </a:p>
        </p:txBody>
      </p:sp>
    </p:spTree>
    <p:extLst>
      <p:ext uri="{BB962C8B-B14F-4D97-AF65-F5344CB8AC3E}">
        <p14:creationId xmlns:p14="http://schemas.microsoft.com/office/powerpoint/2010/main" val="322058737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63</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公钥机制：“加密算法</a:t>
            </a:r>
            <a:r>
              <a:rPr lang="en-US" altLang="zh-CN" sz="2000" dirty="0"/>
              <a:t>+</a:t>
            </a:r>
            <a:r>
              <a:rPr lang="zh-CN" altLang="zh-CN" sz="2000" dirty="0"/>
              <a:t>密钥”公开，“解密算法</a:t>
            </a:r>
            <a:r>
              <a:rPr lang="en-US" altLang="zh-CN" sz="2000" dirty="0"/>
              <a:t>+</a:t>
            </a:r>
            <a:r>
              <a:rPr lang="zh-CN" altLang="zh-CN" sz="2000" dirty="0"/>
              <a:t>密钥”保密的</a:t>
            </a:r>
            <a:r>
              <a:rPr lang="en-US" altLang="zh-CN" sz="2000" dirty="0"/>
              <a:t>DES</a:t>
            </a:r>
            <a:r>
              <a:rPr lang="zh-CN" altLang="zh-CN" sz="2000" dirty="0"/>
              <a:t>。因为加密和解密使用不同的密钥，所以公钥机制称为非对称加密。</a:t>
            </a:r>
          </a:p>
          <a:p>
            <a:r>
              <a:rPr lang="zh-CN" altLang="zh-CN" sz="2000" dirty="0"/>
              <a:t>公钥机制的加密思想由</a:t>
            </a:r>
            <a:r>
              <a:rPr lang="en-US" altLang="zh-CN" sz="2000" dirty="0" err="1"/>
              <a:t>Diffie</a:t>
            </a:r>
            <a:r>
              <a:rPr lang="zh-CN" altLang="zh-CN" sz="2000" dirty="0"/>
              <a:t>和</a:t>
            </a:r>
            <a:r>
              <a:rPr lang="en-US" altLang="zh-CN" sz="2000" dirty="0"/>
              <a:t>Hellman</a:t>
            </a:r>
            <a:r>
              <a:rPr lang="zh-CN" altLang="zh-CN" sz="2000" dirty="0"/>
              <a:t>提出。最著名的加密方法是</a:t>
            </a:r>
            <a:r>
              <a:rPr lang="en-US" altLang="zh-CN" sz="2000" dirty="0"/>
              <a:t>RSA</a:t>
            </a:r>
            <a:r>
              <a:rPr lang="zh-CN" altLang="zh-CN" sz="2000" dirty="0"/>
              <a:t>（发明人</a:t>
            </a:r>
            <a:r>
              <a:rPr lang="en-US" altLang="zh-CN" sz="2000" dirty="0" err="1"/>
              <a:t>Rivest</a:t>
            </a:r>
            <a:r>
              <a:rPr lang="zh-CN" altLang="zh-CN" sz="2000" dirty="0"/>
              <a:t>、</a:t>
            </a:r>
            <a:r>
              <a:rPr lang="en-US" altLang="zh-CN" sz="2000" dirty="0"/>
              <a:t>Shamir</a:t>
            </a:r>
            <a:r>
              <a:rPr lang="zh-CN" altLang="zh-CN" sz="2000" dirty="0"/>
              <a:t>和</a:t>
            </a:r>
            <a:r>
              <a:rPr lang="en-US" altLang="zh-CN" sz="2000" dirty="0" err="1"/>
              <a:t>Adleman</a:t>
            </a:r>
            <a:r>
              <a:rPr lang="zh-CN" altLang="zh-CN" sz="2000" dirty="0"/>
              <a:t>）方法。</a:t>
            </a:r>
          </a:p>
          <a:p>
            <a:r>
              <a:rPr lang="en-US" altLang="zh-CN" sz="2000" dirty="0"/>
              <a:t>RSA</a:t>
            </a:r>
            <a:r>
              <a:rPr lang="zh-CN" altLang="zh-CN" sz="2000" dirty="0"/>
              <a:t>的工作原理：</a:t>
            </a:r>
          </a:p>
          <a:p>
            <a:r>
              <a:rPr lang="zh-CN" altLang="zh-CN" sz="2000" dirty="0"/>
              <a:t>（</a:t>
            </a:r>
            <a:r>
              <a:rPr lang="en-US" altLang="zh-CN" sz="2000" dirty="0"/>
              <a:t>1</a:t>
            </a:r>
            <a:r>
              <a:rPr lang="zh-CN" altLang="zh-CN" sz="2000" dirty="0"/>
              <a:t>）任意选取两个不同的大质数</a:t>
            </a:r>
            <a:r>
              <a:rPr lang="en-US" altLang="zh-CN" sz="2000" dirty="0"/>
              <a:t>p</a:t>
            </a:r>
            <a:r>
              <a:rPr lang="zh-CN" altLang="zh-CN" sz="2000" dirty="0"/>
              <a:t>和</a:t>
            </a:r>
            <a:r>
              <a:rPr lang="en-US" altLang="zh-CN" sz="2000" dirty="0"/>
              <a:t>q</a:t>
            </a:r>
            <a:r>
              <a:rPr lang="zh-CN" altLang="zh-CN" sz="2000" dirty="0"/>
              <a:t>，计算乘积</a:t>
            </a:r>
            <a:r>
              <a:rPr lang="en-US" altLang="zh-CN" sz="2000" dirty="0"/>
              <a:t>r=p*q</a:t>
            </a:r>
            <a:r>
              <a:rPr lang="zh-CN" altLang="zh-CN" sz="2000" dirty="0"/>
              <a:t>。</a:t>
            </a:r>
          </a:p>
          <a:p>
            <a:r>
              <a:rPr lang="zh-CN" altLang="zh-CN" sz="2000" dirty="0"/>
              <a:t>（</a:t>
            </a:r>
            <a:r>
              <a:rPr lang="en-US" altLang="zh-CN" sz="2000" dirty="0"/>
              <a:t>2</a:t>
            </a:r>
            <a:r>
              <a:rPr lang="zh-CN" altLang="zh-CN" sz="2000" dirty="0"/>
              <a:t>）任意选取一个大整数</a:t>
            </a:r>
            <a:r>
              <a:rPr lang="en-US" altLang="zh-CN" sz="2000" dirty="0"/>
              <a:t>e</a:t>
            </a:r>
            <a:r>
              <a:rPr lang="zh-CN" altLang="zh-CN" sz="2000" dirty="0"/>
              <a:t>，</a:t>
            </a:r>
            <a:r>
              <a:rPr lang="en-US" altLang="zh-CN" sz="2000" dirty="0"/>
              <a:t>e</a:t>
            </a:r>
            <a:r>
              <a:rPr lang="zh-CN" altLang="zh-CN" sz="2000" dirty="0"/>
              <a:t>与</a:t>
            </a:r>
            <a:r>
              <a:rPr lang="en-US" altLang="zh-CN" sz="2000" dirty="0"/>
              <a:t>(p-1)*(q-1)</a:t>
            </a:r>
            <a:r>
              <a:rPr lang="zh-CN" altLang="zh-CN" sz="2000" dirty="0"/>
              <a:t>互质，</a:t>
            </a:r>
            <a:r>
              <a:rPr lang="en-US" altLang="zh-CN" sz="2000" dirty="0"/>
              <a:t>e</a:t>
            </a:r>
            <a:r>
              <a:rPr lang="zh-CN" altLang="zh-CN" sz="2000" dirty="0"/>
              <a:t>用做加密密钥。</a:t>
            </a:r>
          </a:p>
          <a:p>
            <a:r>
              <a:rPr lang="zh-CN" altLang="zh-CN" sz="2000" dirty="0"/>
              <a:t>提示：</a:t>
            </a:r>
            <a:r>
              <a:rPr lang="en-US" altLang="zh-CN" sz="2000" dirty="0"/>
              <a:t>e</a:t>
            </a:r>
            <a:r>
              <a:rPr lang="zh-CN" altLang="zh-CN" sz="2000" dirty="0"/>
              <a:t>可以选择大于</a:t>
            </a:r>
            <a:r>
              <a:rPr lang="en-US" altLang="zh-CN" sz="2000" dirty="0"/>
              <a:t>p</a:t>
            </a:r>
            <a:r>
              <a:rPr lang="zh-CN" altLang="zh-CN" sz="2000" dirty="0"/>
              <a:t>和</a:t>
            </a:r>
            <a:r>
              <a:rPr lang="en-US" altLang="zh-CN" sz="2000" dirty="0"/>
              <a:t>q</a:t>
            </a:r>
            <a:r>
              <a:rPr lang="zh-CN" altLang="zh-CN" sz="2000" dirty="0"/>
              <a:t>的质数。</a:t>
            </a:r>
          </a:p>
        </p:txBody>
      </p:sp>
    </p:spTree>
    <p:extLst>
      <p:ext uri="{BB962C8B-B14F-4D97-AF65-F5344CB8AC3E}">
        <p14:creationId xmlns:p14="http://schemas.microsoft.com/office/powerpoint/2010/main" val="152972401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64</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a:t>
            </a:r>
            <a:r>
              <a:rPr lang="en-US" altLang="zh-CN" sz="2000" dirty="0"/>
              <a:t>3</a:t>
            </a:r>
            <a:r>
              <a:rPr lang="zh-CN" altLang="zh-CN" sz="2000" dirty="0"/>
              <a:t>）确定解密密钥</a:t>
            </a:r>
            <a:r>
              <a:rPr lang="en-US" altLang="zh-CN" sz="2000" dirty="0"/>
              <a:t>d</a:t>
            </a:r>
            <a:r>
              <a:rPr lang="zh-CN" altLang="zh-CN" sz="2000" dirty="0"/>
              <a:t>：利用如下公式，根据</a:t>
            </a:r>
            <a:r>
              <a:rPr lang="en-US" altLang="zh-CN" sz="2000" dirty="0"/>
              <a:t>e</a:t>
            </a:r>
            <a:r>
              <a:rPr lang="zh-CN" altLang="zh-CN" sz="2000" dirty="0"/>
              <a:t>、</a:t>
            </a:r>
            <a:r>
              <a:rPr lang="en-US" altLang="zh-CN" sz="2000" dirty="0"/>
              <a:t>p</a:t>
            </a:r>
            <a:r>
              <a:rPr lang="zh-CN" altLang="zh-CN" sz="2000" dirty="0"/>
              <a:t>和</a:t>
            </a:r>
            <a:r>
              <a:rPr lang="en-US" altLang="zh-CN" sz="2000" dirty="0"/>
              <a:t>q</a:t>
            </a:r>
            <a:r>
              <a:rPr lang="zh-CN" altLang="zh-CN" sz="2000" dirty="0"/>
              <a:t>，计算出</a:t>
            </a:r>
            <a:r>
              <a:rPr lang="en-US" altLang="zh-CN" sz="2000" dirty="0"/>
              <a:t>d</a:t>
            </a:r>
            <a:r>
              <a:rPr lang="zh-CN" altLang="zh-CN" sz="2000" dirty="0"/>
              <a:t>。</a:t>
            </a:r>
          </a:p>
          <a:p>
            <a:r>
              <a:rPr lang="zh-CN" altLang="zh-CN" sz="2000" dirty="0"/>
              <a:t>（</a:t>
            </a:r>
            <a:r>
              <a:rPr lang="en-US" altLang="zh-CN" sz="2000" dirty="0"/>
              <a:t>d*e</a:t>
            </a:r>
            <a:r>
              <a:rPr lang="zh-CN" altLang="zh-CN" sz="2000" dirty="0"/>
              <a:t>）</a:t>
            </a:r>
            <a:r>
              <a:rPr lang="en-US" altLang="zh-CN" sz="2000" dirty="0"/>
              <a:t>mod</a:t>
            </a:r>
            <a:r>
              <a:rPr lang="zh-CN" altLang="zh-CN" sz="2000" dirty="0"/>
              <a:t>（</a:t>
            </a:r>
            <a:r>
              <a:rPr lang="en-US" altLang="zh-CN" sz="2000" dirty="0"/>
              <a:t>p-1</a:t>
            </a:r>
            <a:r>
              <a:rPr lang="zh-CN" altLang="zh-CN" sz="2000" dirty="0"/>
              <a:t>）</a:t>
            </a:r>
            <a:r>
              <a:rPr lang="en-US" altLang="zh-CN" sz="2000" dirty="0"/>
              <a:t>*</a:t>
            </a:r>
            <a:r>
              <a:rPr lang="zh-CN" altLang="zh-CN" sz="2000" dirty="0"/>
              <a:t>（</a:t>
            </a:r>
            <a:r>
              <a:rPr lang="en-US" altLang="zh-CN" sz="2000" dirty="0"/>
              <a:t>q-1</a:t>
            </a:r>
            <a:r>
              <a:rPr lang="zh-CN" altLang="zh-CN" sz="2000" dirty="0"/>
              <a:t>）</a:t>
            </a:r>
            <a:r>
              <a:rPr lang="en-US" altLang="zh-CN" sz="2000" dirty="0"/>
              <a:t>=1</a:t>
            </a:r>
            <a:endParaRPr lang="zh-CN" altLang="zh-CN" sz="2000" dirty="0"/>
          </a:p>
          <a:p>
            <a:r>
              <a:rPr lang="zh-CN" altLang="zh-CN" sz="2000" dirty="0"/>
              <a:t>（</a:t>
            </a:r>
            <a:r>
              <a:rPr lang="en-US" altLang="zh-CN" sz="2000" dirty="0"/>
              <a:t>4</a:t>
            </a:r>
            <a:r>
              <a:rPr lang="zh-CN" altLang="zh-CN" sz="2000" dirty="0"/>
              <a:t>）公开</a:t>
            </a:r>
            <a:r>
              <a:rPr lang="en-US" altLang="zh-CN" sz="2000" dirty="0"/>
              <a:t>r</a:t>
            </a:r>
            <a:r>
              <a:rPr lang="zh-CN" altLang="zh-CN" sz="2000" dirty="0"/>
              <a:t>和</a:t>
            </a:r>
            <a:r>
              <a:rPr lang="en-US" altLang="zh-CN" sz="2000" dirty="0"/>
              <a:t>e</a:t>
            </a:r>
            <a:r>
              <a:rPr lang="zh-CN" altLang="zh-CN" sz="2000" dirty="0"/>
              <a:t>，不公开</a:t>
            </a:r>
            <a:r>
              <a:rPr lang="en-US" altLang="zh-CN" sz="2000" dirty="0"/>
              <a:t>d</a:t>
            </a:r>
            <a:r>
              <a:rPr lang="zh-CN" altLang="zh-CN" sz="2000" dirty="0"/>
              <a:t>。</a:t>
            </a:r>
          </a:p>
          <a:p>
            <a:r>
              <a:rPr lang="zh-CN" altLang="zh-CN" sz="2000" dirty="0"/>
              <a:t>（</a:t>
            </a:r>
            <a:r>
              <a:rPr lang="en-US" altLang="zh-CN" sz="2000" dirty="0"/>
              <a:t>5</a:t>
            </a:r>
            <a:r>
              <a:rPr lang="zh-CN" altLang="zh-CN" sz="2000" dirty="0"/>
              <a:t>）把明文</a:t>
            </a:r>
            <a:r>
              <a:rPr lang="en-US" altLang="zh-CN" sz="2000" dirty="0"/>
              <a:t>p (&lt;r</a:t>
            </a:r>
            <a:r>
              <a:rPr lang="zh-CN" altLang="zh-CN" sz="2000" dirty="0"/>
              <a:t>的整数</a:t>
            </a:r>
            <a:r>
              <a:rPr lang="en-US" altLang="zh-CN" sz="2000" dirty="0"/>
              <a:t>)</a:t>
            </a:r>
            <a:r>
              <a:rPr lang="zh-CN" altLang="zh-CN" sz="2000" dirty="0"/>
              <a:t>加密为密文</a:t>
            </a:r>
            <a:r>
              <a:rPr lang="en-US" altLang="zh-CN" sz="2000" dirty="0"/>
              <a:t>c</a:t>
            </a:r>
            <a:r>
              <a:rPr lang="zh-CN" altLang="zh-CN" sz="2000" dirty="0"/>
              <a:t>：</a:t>
            </a:r>
          </a:p>
          <a:p>
            <a:r>
              <a:rPr lang="en-US" altLang="zh-CN" sz="2000" dirty="0"/>
              <a:t>c = </a:t>
            </a:r>
            <a:r>
              <a:rPr lang="zh-CN" altLang="zh-CN" sz="2000" dirty="0"/>
              <a:t>（</a:t>
            </a:r>
            <a:r>
              <a:rPr lang="en-US" altLang="zh-CN" sz="2000" dirty="0" err="1"/>
              <a:t>p^e</a:t>
            </a:r>
            <a:r>
              <a:rPr lang="zh-CN" altLang="zh-CN" sz="2000" dirty="0"/>
              <a:t>）</a:t>
            </a:r>
            <a:r>
              <a:rPr lang="en-US" altLang="zh-CN" sz="2000" dirty="0"/>
              <a:t>mod r</a:t>
            </a:r>
            <a:endParaRPr lang="zh-CN" altLang="zh-CN" sz="2000" dirty="0"/>
          </a:p>
          <a:p>
            <a:r>
              <a:rPr lang="zh-CN" altLang="zh-CN" sz="2000" dirty="0"/>
              <a:t>（</a:t>
            </a:r>
            <a:r>
              <a:rPr lang="en-US" altLang="zh-CN" sz="2000" dirty="0"/>
              <a:t>6</a:t>
            </a:r>
            <a:r>
              <a:rPr lang="zh-CN" altLang="zh-CN" sz="2000" dirty="0"/>
              <a:t>）把密文</a:t>
            </a:r>
            <a:r>
              <a:rPr lang="en-US" altLang="zh-CN" sz="2000" dirty="0"/>
              <a:t>c</a:t>
            </a:r>
            <a:r>
              <a:rPr lang="zh-CN" altLang="zh-CN" sz="2000" dirty="0"/>
              <a:t>解密为明文</a:t>
            </a:r>
            <a:r>
              <a:rPr lang="en-US" altLang="zh-CN" sz="2000" dirty="0"/>
              <a:t>p</a:t>
            </a:r>
            <a:r>
              <a:rPr lang="zh-CN" altLang="zh-CN" sz="2000" dirty="0"/>
              <a:t>：</a:t>
            </a:r>
          </a:p>
          <a:p>
            <a:r>
              <a:rPr lang="en-US" altLang="zh-CN" sz="2000" dirty="0"/>
              <a:t>p = </a:t>
            </a:r>
            <a:r>
              <a:rPr lang="zh-CN" altLang="zh-CN" sz="2000" dirty="0"/>
              <a:t>（</a:t>
            </a:r>
            <a:r>
              <a:rPr lang="en-US" altLang="zh-CN" sz="2000" dirty="0" err="1"/>
              <a:t>c^d</a:t>
            </a:r>
            <a:r>
              <a:rPr lang="zh-CN" altLang="zh-CN" sz="2000" dirty="0"/>
              <a:t>）</a:t>
            </a:r>
            <a:r>
              <a:rPr lang="en-US" altLang="zh-CN" sz="2000" dirty="0"/>
              <a:t>mod r</a:t>
            </a:r>
            <a:endParaRPr lang="zh-CN" altLang="zh-CN" sz="2000" dirty="0"/>
          </a:p>
          <a:p>
            <a:r>
              <a:rPr lang="zh-CN" altLang="zh-CN" sz="2000" dirty="0"/>
              <a:t>提示：根据</a:t>
            </a:r>
            <a:r>
              <a:rPr lang="en-US" altLang="zh-CN" sz="2000" dirty="0"/>
              <a:t>r</a:t>
            </a:r>
            <a:r>
              <a:rPr lang="zh-CN" altLang="zh-CN" sz="2000" dirty="0"/>
              <a:t>和</a:t>
            </a:r>
            <a:r>
              <a:rPr lang="en-US" altLang="zh-CN" sz="2000" dirty="0"/>
              <a:t>e</a:t>
            </a:r>
            <a:r>
              <a:rPr lang="zh-CN" altLang="zh-CN" sz="2000" dirty="0"/>
              <a:t>计算</a:t>
            </a:r>
            <a:r>
              <a:rPr lang="en-US" altLang="zh-CN" sz="2000" dirty="0"/>
              <a:t>d</a:t>
            </a:r>
            <a:r>
              <a:rPr lang="zh-CN" altLang="zh-CN" sz="2000" dirty="0"/>
              <a:t>几乎是不可能的。因此，任何人均可加密明文，且只有授权用户（知道</a:t>
            </a:r>
            <a:r>
              <a:rPr lang="en-US" altLang="zh-CN" sz="2000" dirty="0"/>
              <a:t>d</a:t>
            </a:r>
            <a:r>
              <a:rPr lang="zh-CN" altLang="zh-CN" sz="2000" dirty="0"/>
              <a:t>）才可解密密文。</a:t>
            </a:r>
          </a:p>
        </p:txBody>
      </p:sp>
    </p:spTree>
    <p:extLst>
      <p:ext uri="{BB962C8B-B14F-4D97-AF65-F5344CB8AC3E}">
        <p14:creationId xmlns:p14="http://schemas.microsoft.com/office/powerpoint/2010/main" val="334775154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65</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例</a:t>
            </a:r>
            <a:r>
              <a:rPr lang="en-US" altLang="zh-CN" sz="2000" dirty="0"/>
              <a:t>7.14  </a:t>
            </a:r>
            <a:r>
              <a:rPr lang="zh-CN" altLang="zh-CN" sz="2000" dirty="0"/>
              <a:t>如果明文为</a:t>
            </a:r>
            <a:r>
              <a:rPr lang="en-US" altLang="zh-CN" sz="2000" dirty="0"/>
              <a:t>13</a:t>
            </a:r>
            <a:r>
              <a:rPr lang="zh-CN" altLang="zh-CN" sz="2000" dirty="0"/>
              <a:t>，则计算密文</a:t>
            </a:r>
            <a:r>
              <a:rPr lang="en-US" altLang="zh-CN" sz="2000" dirty="0"/>
              <a:t>c</a:t>
            </a:r>
            <a:r>
              <a:rPr lang="zh-CN" altLang="zh-CN" sz="2000" dirty="0"/>
              <a:t>，并解密秘文。</a:t>
            </a:r>
          </a:p>
          <a:p>
            <a:r>
              <a:rPr lang="zh-CN" altLang="zh-CN" sz="2000" dirty="0"/>
              <a:t>（</a:t>
            </a:r>
            <a:r>
              <a:rPr lang="en-US" altLang="zh-CN" sz="2000" dirty="0"/>
              <a:t>1</a:t>
            </a:r>
            <a:r>
              <a:rPr lang="zh-CN" altLang="zh-CN" sz="2000" dirty="0"/>
              <a:t>）选取</a:t>
            </a:r>
            <a:r>
              <a:rPr lang="en-US" altLang="zh-CN" sz="2000" dirty="0"/>
              <a:t>p=3, q=5</a:t>
            </a:r>
            <a:r>
              <a:rPr lang="zh-CN" altLang="zh-CN" sz="2000" dirty="0"/>
              <a:t>，则</a:t>
            </a:r>
            <a:r>
              <a:rPr lang="en-US" altLang="zh-CN" sz="2000" dirty="0"/>
              <a:t>r=15</a:t>
            </a:r>
            <a:r>
              <a:rPr lang="zh-CN" altLang="zh-CN" sz="2000" dirty="0"/>
              <a:t>。</a:t>
            </a:r>
          </a:p>
          <a:p>
            <a:r>
              <a:rPr lang="zh-CN" altLang="zh-CN" sz="2000" dirty="0"/>
              <a:t>（</a:t>
            </a:r>
            <a:r>
              <a:rPr lang="en-US" altLang="zh-CN" sz="2000" dirty="0"/>
              <a:t>2</a:t>
            </a:r>
            <a:r>
              <a:rPr lang="zh-CN" altLang="zh-CN" sz="2000" dirty="0"/>
              <a:t>）因为（</a:t>
            </a:r>
            <a:r>
              <a:rPr lang="en-US" altLang="zh-CN" sz="2000" dirty="0"/>
              <a:t>p-1</a:t>
            </a:r>
            <a:r>
              <a:rPr lang="zh-CN" altLang="zh-CN" sz="2000" dirty="0"/>
              <a:t>）</a:t>
            </a:r>
            <a:r>
              <a:rPr lang="en-US" altLang="zh-CN" sz="2000" dirty="0"/>
              <a:t>*</a:t>
            </a:r>
            <a:r>
              <a:rPr lang="zh-CN" altLang="zh-CN" sz="2000" dirty="0"/>
              <a:t>（</a:t>
            </a:r>
            <a:r>
              <a:rPr lang="en-US" altLang="zh-CN" sz="2000" dirty="0"/>
              <a:t>q-1</a:t>
            </a:r>
            <a:r>
              <a:rPr lang="zh-CN" altLang="zh-CN" sz="2000" dirty="0"/>
              <a:t>）</a:t>
            </a:r>
            <a:r>
              <a:rPr lang="en-US" altLang="zh-CN" sz="2000" dirty="0"/>
              <a:t>=8</a:t>
            </a:r>
            <a:r>
              <a:rPr lang="zh-CN" altLang="zh-CN" sz="2000" dirty="0"/>
              <a:t>，所以选取</a:t>
            </a:r>
            <a:r>
              <a:rPr lang="en-US" altLang="zh-CN" sz="2000" dirty="0"/>
              <a:t>e=11</a:t>
            </a:r>
            <a:r>
              <a:rPr lang="zh-CN" altLang="zh-CN" sz="2000" dirty="0"/>
              <a:t>。</a:t>
            </a:r>
          </a:p>
          <a:p>
            <a:r>
              <a:rPr lang="zh-CN" altLang="zh-CN" sz="2000" dirty="0"/>
              <a:t>（</a:t>
            </a:r>
            <a:r>
              <a:rPr lang="en-US" altLang="zh-CN" sz="2000" dirty="0"/>
              <a:t>3</a:t>
            </a:r>
            <a:r>
              <a:rPr lang="zh-CN" altLang="zh-CN" sz="2000" dirty="0"/>
              <a:t>）根据（</a:t>
            </a:r>
            <a:r>
              <a:rPr lang="en-US" altLang="zh-CN" sz="2000" dirty="0"/>
              <a:t>d*11</a:t>
            </a:r>
            <a:r>
              <a:rPr lang="zh-CN" altLang="zh-CN" sz="2000" dirty="0"/>
              <a:t>）</a:t>
            </a:r>
            <a:r>
              <a:rPr lang="en-US" altLang="zh-CN" sz="2000" dirty="0"/>
              <a:t>mod 8 = 1</a:t>
            </a:r>
            <a:r>
              <a:rPr lang="zh-CN" altLang="zh-CN" sz="2000" dirty="0"/>
              <a:t>，计算</a:t>
            </a:r>
            <a:r>
              <a:rPr lang="en-US" altLang="zh-CN" sz="2000" dirty="0"/>
              <a:t>d=3</a:t>
            </a:r>
            <a:r>
              <a:rPr lang="zh-CN" altLang="zh-CN" sz="2000" dirty="0"/>
              <a:t>。</a:t>
            </a:r>
          </a:p>
          <a:p>
            <a:r>
              <a:rPr lang="zh-CN" altLang="zh-CN" sz="2000" dirty="0"/>
              <a:t>（</a:t>
            </a:r>
            <a:r>
              <a:rPr lang="en-US" altLang="zh-CN" sz="2000" dirty="0"/>
              <a:t>4</a:t>
            </a:r>
            <a:r>
              <a:rPr lang="zh-CN" altLang="zh-CN" sz="2000" dirty="0"/>
              <a:t>）加密明文</a:t>
            </a:r>
            <a:r>
              <a:rPr lang="en-US" altLang="zh-CN" sz="2000" dirty="0"/>
              <a:t>13</a:t>
            </a:r>
            <a:r>
              <a:rPr lang="zh-CN" altLang="zh-CN" sz="2000" dirty="0"/>
              <a:t>为密文</a:t>
            </a:r>
            <a:r>
              <a:rPr lang="en-US" altLang="zh-CN" sz="2000" dirty="0"/>
              <a:t>c</a:t>
            </a:r>
            <a:r>
              <a:rPr lang="zh-CN" altLang="zh-CN" sz="2000" dirty="0"/>
              <a:t>：</a:t>
            </a:r>
          </a:p>
          <a:p>
            <a:r>
              <a:rPr lang="en-US" altLang="zh-CN" sz="2000" dirty="0"/>
              <a:t>     c = </a:t>
            </a:r>
            <a:r>
              <a:rPr lang="en-US" altLang="zh-CN" sz="2000" dirty="0" err="1"/>
              <a:t>p^e</a:t>
            </a:r>
            <a:r>
              <a:rPr lang="en-US" altLang="zh-CN" sz="2000" dirty="0"/>
              <a:t> mod </a:t>
            </a:r>
            <a:r>
              <a:rPr lang="en-US" altLang="zh-CN" sz="2000" dirty="0" smtClean="0"/>
              <a:t>r       </a:t>
            </a:r>
            <a:r>
              <a:rPr lang="en-US" altLang="zh-CN" sz="2000" dirty="0"/>
              <a:t>= 13^11 mod </a:t>
            </a:r>
            <a:r>
              <a:rPr lang="en-US" altLang="zh-CN" sz="2000" dirty="0" smtClean="0"/>
              <a:t>15</a:t>
            </a:r>
            <a:endParaRPr lang="zh-CN" altLang="zh-CN" sz="2000" dirty="0" smtClean="0"/>
          </a:p>
          <a:p>
            <a:r>
              <a:rPr lang="en-US" altLang="zh-CN" sz="2000" dirty="0" smtClean="0"/>
              <a:t>       = 1,792,160,394,037 mod 15       </a:t>
            </a:r>
            <a:r>
              <a:rPr lang="en-US" altLang="zh-CN" sz="2000" dirty="0"/>
              <a:t>= 7</a:t>
            </a:r>
            <a:endParaRPr lang="zh-CN" altLang="zh-CN" sz="2000" dirty="0"/>
          </a:p>
          <a:p>
            <a:r>
              <a:rPr lang="zh-CN" altLang="zh-CN" sz="2000" dirty="0"/>
              <a:t>（</a:t>
            </a:r>
            <a:r>
              <a:rPr lang="en-US" altLang="zh-CN" sz="2000" dirty="0"/>
              <a:t>5</a:t>
            </a:r>
            <a:r>
              <a:rPr lang="zh-CN" altLang="zh-CN" sz="2000" dirty="0"/>
              <a:t>）解密密文</a:t>
            </a:r>
            <a:r>
              <a:rPr lang="en-US" altLang="zh-CN" sz="2000" dirty="0"/>
              <a:t>7</a:t>
            </a:r>
            <a:r>
              <a:rPr lang="zh-CN" altLang="zh-CN" sz="2000" dirty="0"/>
              <a:t>为明文</a:t>
            </a:r>
            <a:r>
              <a:rPr lang="en-US" altLang="zh-CN" sz="2000" dirty="0"/>
              <a:t>p</a:t>
            </a:r>
            <a:r>
              <a:rPr lang="zh-CN" altLang="zh-CN" sz="2000" dirty="0"/>
              <a:t>：</a:t>
            </a:r>
          </a:p>
          <a:p>
            <a:r>
              <a:rPr lang="en-US" altLang="zh-CN" sz="2000" dirty="0"/>
              <a:t>     p = </a:t>
            </a:r>
            <a:r>
              <a:rPr lang="en-US" altLang="zh-CN" sz="2000" dirty="0" err="1"/>
              <a:t>c^d</a:t>
            </a:r>
            <a:r>
              <a:rPr lang="en-US" altLang="zh-CN" sz="2000" dirty="0"/>
              <a:t> mod r</a:t>
            </a:r>
            <a:endParaRPr lang="zh-CN" altLang="zh-CN" sz="2000" dirty="0"/>
          </a:p>
          <a:p>
            <a:r>
              <a:rPr lang="en-US" altLang="zh-CN" sz="2000" dirty="0"/>
              <a:t>       = 7^3 mod </a:t>
            </a:r>
            <a:r>
              <a:rPr lang="en-US" altLang="zh-CN" sz="2000" dirty="0" smtClean="0"/>
              <a:t>15       </a:t>
            </a:r>
            <a:r>
              <a:rPr lang="en-US" altLang="zh-CN" sz="2000" dirty="0"/>
              <a:t>= 343 mod </a:t>
            </a:r>
            <a:r>
              <a:rPr lang="en-US" altLang="zh-CN" sz="2000" dirty="0" smtClean="0"/>
              <a:t>15       </a:t>
            </a:r>
            <a:r>
              <a:rPr lang="en-US" altLang="zh-CN" sz="2000" dirty="0"/>
              <a:t>= 13</a:t>
            </a:r>
            <a:endParaRPr lang="zh-CN" altLang="zh-CN" sz="2000" dirty="0"/>
          </a:p>
          <a:p>
            <a:r>
              <a:rPr lang="zh-CN" altLang="zh-CN" sz="2000" dirty="0"/>
              <a:t>提示：因为</a:t>
            </a:r>
            <a:r>
              <a:rPr lang="en-US" altLang="zh-CN" sz="2000" dirty="0"/>
              <a:t>e</a:t>
            </a:r>
            <a:r>
              <a:rPr lang="zh-CN" altLang="zh-CN" sz="2000" dirty="0"/>
              <a:t>和</a:t>
            </a:r>
            <a:r>
              <a:rPr lang="en-US" altLang="zh-CN" sz="2000" dirty="0"/>
              <a:t>d</a:t>
            </a:r>
            <a:r>
              <a:rPr lang="zh-CN" altLang="zh-CN" sz="2000" dirty="0"/>
              <a:t>互逆，所以公钥机制可以对加密信息进行</a:t>
            </a:r>
            <a:r>
              <a:rPr lang="en-US" altLang="zh-CN" sz="2000" dirty="0"/>
              <a:t>"</a:t>
            </a:r>
            <a:r>
              <a:rPr lang="zh-CN" altLang="zh-CN" sz="2000" dirty="0"/>
              <a:t>数字签名</a:t>
            </a:r>
            <a:r>
              <a:rPr lang="en-US" altLang="zh-CN" sz="2000" dirty="0"/>
              <a:t>"</a:t>
            </a:r>
            <a:r>
              <a:rPr lang="zh-CN" altLang="zh-CN" sz="2000" dirty="0"/>
              <a:t>。</a:t>
            </a:r>
          </a:p>
          <a:p>
            <a:endParaRPr lang="zh-CN" altLang="zh-CN" sz="2000" dirty="0"/>
          </a:p>
        </p:txBody>
      </p:sp>
    </p:spTree>
    <p:extLst>
      <p:ext uri="{BB962C8B-B14F-4D97-AF65-F5344CB8AC3E}">
        <p14:creationId xmlns:p14="http://schemas.microsoft.com/office/powerpoint/2010/main" val="127117163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19256" cy="418058"/>
          </a:xfrm>
        </p:spPr>
        <p:txBody>
          <a:bodyPr>
            <a:noAutofit/>
          </a:bodyPr>
          <a:lstStyle/>
          <a:p>
            <a:r>
              <a:rPr lang="en-US" altLang="zh-CN" sz="2800" dirty="0"/>
              <a:t>2. </a:t>
            </a:r>
            <a:r>
              <a:rPr lang="zh-CN" altLang="zh-CN" sz="2800" dirty="0"/>
              <a:t>数据加密</a:t>
            </a:r>
            <a:endParaRPr lang="zh-CN" altLang="en-US" sz="2800" dirty="0">
              <a:solidFill>
                <a:srgbClr val="0000FF"/>
              </a:solidFill>
            </a:endParaRPr>
          </a:p>
        </p:txBody>
      </p:sp>
      <p:sp>
        <p:nvSpPr>
          <p:cNvPr id="4" name="日期占位符 3"/>
          <p:cNvSpPr>
            <a:spLocks noGrp="1"/>
          </p:cNvSpPr>
          <p:nvPr>
            <p:ph type="dt" sz="half" idx="10"/>
          </p:nvPr>
        </p:nvSpPr>
        <p:spPr/>
        <p:txBody>
          <a:bodyPr/>
          <a:lstStyle/>
          <a:p>
            <a:fld id="{75431D66-8930-4DED-9A80-B7A017F716B4}"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66</a:t>
            </a:fld>
            <a:endParaRPr lang="zh-CN" altLang="en-US" dirty="0"/>
          </a:p>
        </p:txBody>
      </p:sp>
      <p:sp>
        <p:nvSpPr>
          <p:cNvPr id="7" name="文本占位符 6"/>
          <p:cNvSpPr>
            <a:spLocks noGrp="1"/>
          </p:cNvSpPr>
          <p:nvPr>
            <p:ph type="body" idx="1"/>
          </p:nvPr>
        </p:nvSpPr>
        <p:spPr>
          <a:xfrm>
            <a:off x="107504" y="764704"/>
            <a:ext cx="8856984" cy="5616624"/>
          </a:xfrm>
        </p:spPr>
        <p:txBody>
          <a:bodyPr>
            <a:noAutofit/>
          </a:bodyPr>
          <a:lstStyle/>
          <a:p>
            <a:r>
              <a:rPr lang="zh-CN" altLang="zh-CN" sz="2000" dirty="0"/>
              <a:t>例</a:t>
            </a:r>
            <a:r>
              <a:rPr lang="en-US" altLang="zh-CN" sz="2000" dirty="0"/>
              <a:t>7.15  A</a:t>
            </a:r>
            <a:r>
              <a:rPr lang="zh-CN" altLang="zh-CN" sz="2000" dirty="0"/>
              <a:t>和</a:t>
            </a:r>
            <a:r>
              <a:rPr lang="en-US" altLang="zh-CN" sz="2000" dirty="0"/>
              <a:t>B</a:t>
            </a:r>
            <a:r>
              <a:rPr lang="zh-CN" altLang="zh-CN" sz="2000" dirty="0"/>
              <a:t>的加密算法分别是</a:t>
            </a:r>
            <a:r>
              <a:rPr lang="en-US" altLang="zh-CN" sz="2000" dirty="0"/>
              <a:t>ECA</a:t>
            </a:r>
            <a:r>
              <a:rPr lang="zh-CN" altLang="zh-CN" sz="2000" dirty="0"/>
              <a:t>和</a:t>
            </a:r>
            <a:r>
              <a:rPr lang="en-US" altLang="zh-CN" sz="2000" dirty="0"/>
              <a:t>ECB</a:t>
            </a:r>
            <a:r>
              <a:rPr lang="zh-CN" altLang="zh-CN" sz="2000" dirty="0"/>
              <a:t>，解密算法分别是</a:t>
            </a:r>
            <a:r>
              <a:rPr lang="en-US" altLang="zh-CN" sz="2000" dirty="0"/>
              <a:t>DCA</a:t>
            </a:r>
            <a:r>
              <a:rPr lang="zh-CN" altLang="zh-CN" sz="2000" dirty="0"/>
              <a:t>和</a:t>
            </a:r>
            <a:r>
              <a:rPr lang="en-US" altLang="zh-CN" sz="2000" dirty="0"/>
              <a:t>DCB</a:t>
            </a:r>
            <a:r>
              <a:rPr lang="zh-CN" altLang="zh-CN" sz="2000" dirty="0"/>
              <a:t>，</a:t>
            </a:r>
            <a:r>
              <a:rPr lang="en-US" altLang="zh-CN" sz="2000" dirty="0"/>
              <a:t>ECA</a:t>
            </a:r>
            <a:r>
              <a:rPr lang="zh-CN" altLang="zh-CN" sz="2000" dirty="0"/>
              <a:t>和</a:t>
            </a:r>
            <a:r>
              <a:rPr lang="en-US" altLang="zh-CN" sz="2000" dirty="0"/>
              <a:t>DCA</a:t>
            </a:r>
            <a:r>
              <a:rPr lang="zh-CN" altLang="zh-CN" sz="2000" dirty="0"/>
              <a:t>互逆，</a:t>
            </a:r>
            <a:r>
              <a:rPr lang="en-US" altLang="zh-CN" sz="2000" dirty="0"/>
              <a:t>ECB</a:t>
            </a:r>
            <a:r>
              <a:rPr lang="zh-CN" altLang="zh-CN" sz="2000" dirty="0"/>
              <a:t>和</a:t>
            </a:r>
            <a:r>
              <a:rPr lang="en-US" altLang="zh-CN" sz="2000" dirty="0"/>
              <a:t>DCB</a:t>
            </a:r>
            <a:r>
              <a:rPr lang="zh-CN" altLang="zh-CN" sz="2000" dirty="0"/>
              <a:t>互逆。</a:t>
            </a:r>
            <a:r>
              <a:rPr lang="en-US" altLang="zh-CN" sz="2000" dirty="0"/>
              <a:t>B</a:t>
            </a:r>
            <a:r>
              <a:rPr lang="zh-CN" altLang="zh-CN" sz="2000" dirty="0"/>
              <a:t>如何确认并接收</a:t>
            </a:r>
            <a:r>
              <a:rPr lang="en-US" altLang="zh-CN" sz="2000" dirty="0"/>
              <a:t>A</a:t>
            </a:r>
            <a:r>
              <a:rPr lang="zh-CN" altLang="zh-CN" sz="2000" dirty="0"/>
              <a:t>发送的</a:t>
            </a:r>
            <a:r>
              <a:rPr lang="en-US" altLang="zh-CN" sz="2000" dirty="0"/>
              <a:t>P</a:t>
            </a:r>
            <a:r>
              <a:rPr lang="zh-CN" altLang="zh-CN" sz="2000" dirty="0"/>
              <a:t>？</a:t>
            </a:r>
          </a:p>
          <a:p>
            <a:r>
              <a:rPr lang="zh-CN" altLang="zh-CN" sz="2000" dirty="0"/>
              <a:t>分析：</a:t>
            </a:r>
          </a:p>
          <a:p>
            <a:r>
              <a:rPr lang="zh-CN" altLang="zh-CN" sz="2000" dirty="0"/>
              <a:t>（</a:t>
            </a:r>
            <a:r>
              <a:rPr lang="en-US" altLang="zh-CN" sz="2000" dirty="0"/>
              <a:t>1</a:t>
            </a:r>
            <a:r>
              <a:rPr lang="zh-CN" altLang="zh-CN" sz="2000" dirty="0"/>
              <a:t>）</a:t>
            </a:r>
            <a:r>
              <a:rPr lang="en-US" altLang="zh-CN" sz="2000" dirty="0"/>
              <a:t>A</a:t>
            </a:r>
            <a:r>
              <a:rPr lang="zh-CN" altLang="zh-CN" sz="2000" dirty="0"/>
              <a:t>加密明文</a:t>
            </a:r>
            <a:r>
              <a:rPr lang="en-US" altLang="zh-CN" sz="2000" dirty="0"/>
              <a:t>P</a:t>
            </a:r>
            <a:r>
              <a:rPr lang="zh-CN" altLang="zh-CN" sz="2000" dirty="0"/>
              <a:t>为密文</a:t>
            </a:r>
            <a:r>
              <a:rPr lang="en-US" altLang="zh-CN" sz="2000" dirty="0"/>
              <a:t>C</a:t>
            </a:r>
            <a:r>
              <a:rPr lang="zh-CN" altLang="zh-CN" sz="2000" dirty="0"/>
              <a:t>：</a:t>
            </a:r>
          </a:p>
          <a:p>
            <a:r>
              <a:rPr lang="en-US" altLang="zh-CN" sz="2000" dirty="0"/>
              <a:t>C = ECB</a:t>
            </a:r>
            <a:r>
              <a:rPr lang="zh-CN" altLang="zh-CN" sz="2000" dirty="0"/>
              <a:t>（</a:t>
            </a:r>
            <a:r>
              <a:rPr lang="en-US" altLang="zh-CN" sz="2000" dirty="0"/>
              <a:t>DCA</a:t>
            </a:r>
            <a:r>
              <a:rPr lang="zh-CN" altLang="zh-CN" sz="2000" dirty="0"/>
              <a:t>（</a:t>
            </a:r>
            <a:r>
              <a:rPr lang="en-US" altLang="zh-CN" sz="2000" dirty="0"/>
              <a:t>P</a:t>
            </a:r>
            <a:r>
              <a:rPr lang="zh-CN" altLang="zh-CN" sz="2000" dirty="0"/>
              <a:t>））</a:t>
            </a:r>
          </a:p>
          <a:p>
            <a:r>
              <a:rPr lang="zh-CN" altLang="zh-CN" sz="2000" dirty="0"/>
              <a:t>（</a:t>
            </a:r>
            <a:r>
              <a:rPr lang="en-US" altLang="zh-CN" sz="2000" dirty="0"/>
              <a:t>2</a:t>
            </a:r>
            <a:r>
              <a:rPr lang="zh-CN" altLang="zh-CN" sz="2000" dirty="0"/>
              <a:t>）</a:t>
            </a:r>
            <a:r>
              <a:rPr lang="en-US" altLang="zh-CN" sz="2000" dirty="0"/>
              <a:t>B</a:t>
            </a:r>
            <a:r>
              <a:rPr lang="zh-CN" altLang="zh-CN" sz="2000" dirty="0"/>
              <a:t>解密密文</a:t>
            </a:r>
            <a:r>
              <a:rPr lang="en-US" altLang="zh-CN" sz="2000" dirty="0"/>
              <a:t>C</a:t>
            </a:r>
            <a:r>
              <a:rPr lang="zh-CN" altLang="zh-CN" sz="2000" dirty="0"/>
              <a:t>为明文</a:t>
            </a:r>
            <a:r>
              <a:rPr lang="en-US" altLang="zh-CN" sz="2000" dirty="0"/>
              <a:t>P</a:t>
            </a:r>
            <a:r>
              <a:rPr lang="zh-CN" altLang="zh-CN" sz="2000" dirty="0"/>
              <a:t>：</a:t>
            </a:r>
          </a:p>
          <a:p>
            <a:r>
              <a:rPr lang="en-US" altLang="zh-CN" sz="2000" dirty="0"/>
              <a:t>     ECA</a:t>
            </a:r>
            <a:r>
              <a:rPr lang="zh-CN" altLang="zh-CN" sz="2000" dirty="0"/>
              <a:t>（</a:t>
            </a:r>
            <a:r>
              <a:rPr lang="en-US" altLang="zh-CN" sz="2000" dirty="0"/>
              <a:t>DCB</a:t>
            </a:r>
            <a:r>
              <a:rPr lang="zh-CN" altLang="zh-CN" sz="2000" dirty="0"/>
              <a:t>（</a:t>
            </a:r>
            <a:r>
              <a:rPr lang="en-US" altLang="zh-CN" sz="2000" dirty="0"/>
              <a:t>C</a:t>
            </a:r>
            <a:r>
              <a:rPr lang="zh-CN" altLang="zh-CN" sz="2000" dirty="0"/>
              <a:t>））</a:t>
            </a:r>
          </a:p>
          <a:p>
            <a:r>
              <a:rPr lang="en-US" altLang="zh-CN" sz="2000" dirty="0"/>
              <a:t>       = ECA</a:t>
            </a:r>
            <a:r>
              <a:rPr lang="zh-CN" altLang="zh-CN" sz="2000" dirty="0"/>
              <a:t>（</a:t>
            </a:r>
            <a:r>
              <a:rPr lang="en-US" altLang="zh-CN" sz="2000" dirty="0"/>
              <a:t>DCB</a:t>
            </a:r>
            <a:r>
              <a:rPr lang="zh-CN" altLang="zh-CN" sz="2000" dirty="0"/>
              <a:t>（</a:t>
            </a:r>
            <a:r>
              <a:rPr lang="en-US" altLang="zh-CN" sz="2000" dirty="0"/>
              <a:t>ECB</a:t>
            </a:r>
            <a:r>
              <a:rPr lang="zh-CN" altLang="zh-CN" sz="2000" dirty="0"/>
              <a:t>（</a:t>
            </a:r>
            <a:r>
              <a:rPr lang="en-US" altLang="zh-CN" sz="2000" dirty="0"/>
              <a:t>DCA</a:t>
            </a:r>
            <a:r>
              <a:rPr lang="zh-CN" altLang="zh-CN" sz="2000" dirty="0"/>
              <a:t>（</a:t>
            </a:r>
            <a:r>
              <a:rPr lang="en-US" altLang="zh-CN" sz="2000" dirty="0"/>
              <a:t>P</a:t>
            </a:r>
            <a:r>
              <a:rPr lang="zh-CN" altLang="zh-CN" sz="2000" dirty="0"/>
              <a:t>））））</a:t>
            </a:r>
          </a:p>
          <a:p>
            <a:r>
              <a:rPr lang="en-US" altLang="zh-CN" sz="2000" dirty="0"/>
              <a:t>       = ECA</a:t>
            </a:r>
            <a:r>
              <a:rPr lang="zh-CN" altLang="zh-CN" sz="2000" dirty="0"/>
              <a:t>（</a:t>
            </a:r>
            <a:r>
              <a:rPr lang="en-US" altLang="zh-CN" sz="2000" dirty="0"/>
              <a:t>DCA</a:t>
            </a:r>
            <a:r>
              <a:rPr lang="zh-CN" altLang="zh-CN" sz="2000" dirty="0"/>
              <a:t>（</a:t>
            </a:r>
            <a:r>
              <a:rPr lang="en-US" altLang="zh-CN" sz="2000" dirty="0"/>
              <a:t>P</a:t>
            </a:r>
            <a:r>
              <a:rPr lang="zh-CN" altLang="zh-CN" sz="2000" dirty="0" smtClean="0"/>
              <a:t>））</a:t>
            </a:r>
            <a:r>
              <a:rPr lang="en-US" altLang="zh-CN" sz="2000" dirty="0" smtClean="0"/>
              <a:t>       </a:t>
            </a:r>
            <a:r>
              <a:rPr lang="en-US" altLang="zh-CN" sz="2000" dirty="0"/>
              <a:t>= P</a:t>
            </a:r>
            <a:endParaRPr lang="zh-CN" altLang="zh-CN" sz="2000" dirty="0"/>
          </a:p>
          <a:p>
            <a:r>
              <a:rPr lang="zh-CN" altLang="zh-CN" sz="2000" dirty="0"/>
              <a:t>提示：</a:t>
            </a:r>
            <a:r>
              <a:rPr lang="en-US" altLang="zh-CN" sz="2000" dirty="0"/>
              <a:t>DCB</a:t>
            </a:r>
            <a:r>
              <a:rPr lang="zh-CN" altLang="zh-CN" sz="2000" dirty="0"/>
              <a:t>和</a:t>
            </a:r>
            <a:r>
              <a:rPr lang="en-US" altLang="zh-CN" sz="2000" dirty="0"/>
              <a:t>ECB</a:t>
            </a:r>
            <a:r>
              <a:rPr lang="zh-CN" altLang="zh-CN" sz="2000" dirty="0"/>
              <a:t>互消。</a:t>
            </a:r>
            <a:r>
              <a:rPr lang="en-US" altLang="zh-CN" sz="2000" dirty="0"/>
              <a:t>DCB</a:t>
            </a:r>
            <a:r>
              <a:rPr lang="zh-CN" altLang="zh-CN" sz="2000" dirty="0"/>
              <a:t>和</a:t>
            </a:r>
            <a:r>
              <a:rPr lang="en-US" altLang="zh-CN" sz="2000" dirty="0"/>
              <a:t>ECB</a:t>
            </a:r>
            <a:r>
              <a:rPr lang="zh-CN" altLang="zh-CN" sz="2000" dirty="0"/>
              <a:t>互消。</a:t>
            </a:r>
            <a:r>
              <a:rPr lang="en-US" altLang="zh-CN" sz="2000" dirty="0"/>
              <a:t>B</a:t>
            </a:r>
            <a:r>
              <a:rPr lang="zh-CN" altLang="zh-CN" sz="2000" dirty="0"/>
              <a:t>确认</a:t>
            </a:r>
            <a:r>
              <a:rPr lang="en-US" altLang="zh-CN" sz="2000" dirty="0"/>
              <a:t>P</a:t>
            </a:r>
            <a:r>
              <a:rPr lang="zh-CN" altLang="zh-CN" sz="2000" dirty="0"/>
              <a:t>是</a:t>
            </a:r>
            <a:r>
              <a:rPr lang="en-US" altLang="zh-CN" sz="2000" dirty="0"/>
              <a:t>A</a:t>
            </a:r>
            <a:r>
              <a:rPr lang="zh-CN" altLang="zh-CN" sz="2000" dirty="0"/>
              <a:t>发送的，因为使用</a:t>
            </a:r>
            <a:r>
              <a:rPr lang="en-US" altLang="zh-CN" sz="2000" dirty="0"/>
              <a:t>DCA</a:t>
            </a:r>
            <a:r>
              <a:rPr lang="zh-CN" altLang="zh-CN" sz="2000" dirty="0"/>
              <a:t>加密密文，用</a:t>
            </a:r>
            <a:r>
              <a:rPr lang="en-US" altLang="zh-CN" sz="2000" dirty="0"/>
              <a:t>ECA</a:t>
            </a:r>
            <a:r>
              <a:rPr lang="zh-CN" altLang="zh-CN" sz="2000" dirty="0"/>
              <a:t>才能解密密文</a:t>
            </a:r>
            <a:r>
              <a:rPr lang="en-US" altLang="zh-CN" sz="2000" dirty="0"/>
              <a:t>C</a:t>
            </a:r>
            <a:r>
              <a:rPr lang="zh-CN" altLang="zh-CN" sz="2000" dirty="0"/>
              <a:t>得到明文</a:t>
            </a:r>
            <a:r>
              <a:rPr lang="en-US" altLang="zh-CN" sz="2000" dirty="0"/>
              <a:t>P</a:t>
            </a:r>
            <a:r>
              <a:rPr lang="zh-CN" altLang="zh-CN" sz="2000" dirty="0"/>
              <a:t>，而只有</a:t>
            </a:r>
            <a:r>
              <a:rPr lang="en-US" altLang="zh-CN" sz="2000" dirty="0"/>
              <a:t>A</a:t>
            </a:r>
            <a:r>
              <a:rPr lang="zh-CN" altLang="zh-CN" sz="2000" dirty="0"/>
              <a:t>知道</a:t>
            </a:r>
            <a:r>
              <a:rPr lang="en-US" altLang="zh-CN" sz="2000" dirty="0"/>
              <a:t>DCA</a:t>
            </a:r>
            <a:r>
              <a:rPr lang="zh-CN" altLang="zh-CN" sz="2000" dirty="0"/>
              <a:t>。</a:t>
            </a:r>
          </a:p>
          <a:p>
            <a:r>
              <a:rPr lang="zh-CN" altLang="zh-CN" sz="2000" dirty="0"/>
              <a:t>提示：数据的加密与解密比较费时，且会占用大量系统资源。</a:t>
            </a:r>
          </a:p>
          <a:p>
            <a:endParaRPr lang="zh-CN" altLang="zh-CN" sz="2000" dirty="0"/>
          </a:p>
        </p:txBody>
      </p:sp>
    </p:spTree>
    <p:extLst>
      <p:ext uri="{BB962C8B-B14F-4D97-AF65-F5344CB8AC3E}">
        <p14:creationId xmlns:p14="http://schemas.microsoft.com/office/powerpoint/2010/main" val="307017199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i="0" u="none" strike="noStrike" kern="2200" baseline="0" dirty="0" smtClean="0"/>
              <a:t>3.6</a:t>
            </a:r>
            <a:r>
              <a:rPr lang="zh-CN" altLang="en-US" i="0" u="none" strike="noStrike" kern="2200" baseline="0" dirty="0" smtClean="0"/>
              <a:t> 小 结</a:t>
            </a:r>
          </a:p>
        </p:txBody>
      </p:sp>
      <p:sp>
        <p:nvSpPr>
          <p:cNvPr id="3" name="文本占位符 2"/>
          <p:cNvSpPr>
            <a:spLocks noGrp="1"/>
          </p:cNvSpPr>
          <p:nvPr>
            <p:ph type="body" idx="1"/>
          </p:nvPr>
        </p:nvSpPr>
        <p:spPr>
          <a:xfrm>
            <a:off x="251520" y="980728"/>
            <a:ext cx="8640960" cy="5400600"/>
          </a:xfrm>
        </p:spPr>
        <p:txBody>
          <a:bodyPr>
            <a:noAutofit/>
          </a:bodyPr>
          <a:lstStyle/>
          <a:p>
            <a:r>
              <a:rPr lang="zh-CN" altLang="zh-CN" dirty="0" smtClean="0"/>
              <a:t>数据安全</a:t>
            </a:r>
            <a:r>
              <a:rPr lang="zh-CN" altLang="zh-CN" dirty="0"/>
              <a:t>标准（</a:t>
            </a:r>
            <a:r>
              <a:rPr lang="en-US" altLang="zh-CN" dirty="0"/>
              <a:t>TCSEC</a:t>
            </a:r>
            <a:r>
              <a:rPr lang="zh-CN" altLang="zh-CN" dirty="0"/>
              <a:t>和</a:t>
            </a:r>
            <a:r>
              <a:rPr lang="en-US" altLang="zh-CN" dirty="0"/>
              <a:t>TDI</a:t>
            </a:r>
            <a:r>
              <a:rPr lang="zh-CN" altLang="zh-CN" dirty="0"/>
              <a:t>）和计算机系统安全。</a:t>
            </a:r>
          </a:p>
          <a:p>
            <a:r>
              <a:rPr lang="zh-CN" altLang="zh-CN" dirty="0" smtClean="0">
                <a:solidFill>
                  <a:srgbClr val="0000FF"/>
                </a:solidFill>
              </a:rPr>
              <a:t>数据安全</a:t>
            </a:r>
            <a:r>
              <a:rPr lang="zh-CN" altLang="zh-CN" dirty="0">
                <a:solidFill>
                  <a:srgbClr val="0000FF"/>
                </a:solidFill>
              </a:rPr>
              <a:t>模型（数据加密</a:t>
            </a:r>
            <a:r>
              <a:rPr lang="en-US" altLang="zh-CN" dirty="0">
                <a:solidFill>
                  <a:srgbClr val="0000FF"/>
                </a:solidFill>
              </a:rPr>
              <a:t>+</a:t>
            </a:r>
            <a:r>
              <a:rPr lang="zh-CN" altLang="zh-CN" dirty="0">
                <a:solidFill>
                  <a:srgbClr val="0000FF"/>
                </a:solidFill>
              </a:rPr>
              <a:t>操作系统</a:t>
            </a:r>
            <a:r>
              <a:rPr lang="en-US" altLang="zh-CN" dirty="0">
                <a:solidFill>
                  <a:srgbClr val="0000FF"/>
                </a:solidFill>
              </a:rPr>
              <a:t>+DBMS+</a:t>
            </a:r>
            <a:r>
              <a:rPr lang="zh-CN" altLang="zh-CN" dirty="0">
                <a:solidFill>
                  <a:srgbClr val="0000FF"/>
                </a:solidFill>
              </a:rPr>
              <a:t>用户鉴别）和数据库安全。</a:t>
            </a:r>
          </a:p>
          <a:p>
            <a:r>
              <a:rPr lang="zh-CN" altLang="zh-CN" dirty="0" smtClean="0">
                <a:solidFill>
                  <a:srgbClr val="0000FF"/>
                </a:solidFill>
              </a:rPr>
              <a:t>用户</a:t>
            </a:r>
            <a:r>
              <a:rPr lang="zh-CN" altLang="zh-CN" dirty="0">
                <a:solidFill>
                  <a:srgbClr val="0000FF"/>
                </a:solidFill>
              </a:rPr>
              <a:t>鉴别、数据存取控制、视图、审计和数据加密等数据控制机制。</a:t>
            </a:r>
          </a:p>
          <a:p>
            <a:r>
              <a:rPr lang="zh-CN" altLang="zh-CN" dirty="0" smtClean="0">
                <a:solidFill>
                  <a:srgbClr val="0000FF"/>
                </a:solidFill>
              </a:rPr>
              <a:t>数据</a:t>
            </a:r>
            <a:r>
              <a:rPr lang="zh-CN" altLang="zh-CN" dirty="0">
                <a:solidFill>
                  <a:srgbClr val="0000FF"/>
                </a:solidFill>
              </a:rPr>
              <a:t>存取控制方法（自主存取控制和强制存取控制等）。</a:t>
            </a:r>
          </a:p>
          <a:p>
            <a:r>
              <a:rPr lang="en-US" altLang="zh-CN" dirty="0" smtClean="0">
                <a:solidFill>
                  <a:srgbClr val="0000FF"/>
                </a:solidFill>
              </a:rPr>
              <a:t>SQL </a:t>
            </a:r>
            <a:r>
              <a:rPr lang="en-US" altLang="zh-CN" dirty="0">
                <a:solidFill>
                  <a:srgbClr val="0000FF"/>
                </a:solidFill>
              </a:rPr>
              <a:t>Server</a:t>
            </a:r>
            <a:r>
              <a:rPr lang="zh-CN" altLang="zh-CN" dirty="0">
                <a:solidFill>
                  <a:srgbClr val="0000FF"/>
                </a:solidFill>
              </a:rPr>
              <a:t>的安全控制（登录服务器</a:t>
            </a:r>
            <a:r>
              <a:rPr lang="en-US" altLang="zh-CN" dirty="0">
                <a:solidFill>
                  <a:srgbClr val="0000FF"/>
                </a:solidFill>
              </a:rPr>
              <a:t>+</a:t>
            </a:r>
            <a:r>
              <a:rPr lang="zh-CN" altLang="zh-CN" dirty="0">
                <a:solidFill>
                  <a:srgbClr val="0000FF"/>
                </a:solidFill>
              </a:rPr>
              <a:t>数据库用户</a:t>
            </a:r>
            <a:r>
              <a:rPr lang="en-US" altLang="zh-CN" dirty="0">
                <a:solidFill>
                  <a:srgbClr val="0000FF"/>
                </a:solidFill>
              </a:rPr>
              <a:t>+</a:t>
            </a:r>
            <a:r>
              <a:rPr lang="zh-CN" altLang="zh-CN" dirty="0">
                <a:solidFill>
                  <a:srgbClr val="0000FF"/>
                </a:solidFill>
              </a:rPr>
              <a:t>数据库角色；授权</a:t>
            </a:r>
            <a:r>
              <a:rPr lang="en-US" altLang="zh-CN" dirty="0">
                <a:solidFill>
                  <a:srgbClr val="0000FF"/>
                </a:solidFill>
              </a:rPr>
              <a:t>GRANT+</a:t>
            </a:r>
            <a:r>
              <a:rPr lang="zh-CN" altLang="zh-CN" dirty="0">
                <a:solidFill>
                  <a:srgbClr val="0000FF"/>
                </a:solidFill>
              </a:rPr>
              <a:t>阻权</a:t>
            </a:r>
            <a:r>
              <a:rPr lang="en-US" altLang="zh-CN" dirty="0">
                <a:solidFill>
                  <a:srgbClr val="0000FF"/>
                </a:solidFill>
              </a:rPr>
              <a:t>DENY+</a:t>
            </a:r>
            <a:r>
              <a:rPr lang="zh-CN" altLang="zh-CN" dirty="0">
                <a:solidFill>
                  <a:srgbClr val="0000FF"/>
                </a:solidFill>
              </a:rPr>
              <a:t>收权</a:t>
            </a:r>
            <a:r>
              <a:rPr lang="en-US" altLang="zh-CN" dirty="0">
                <a:solidFill>
                  <a:srgbClr val="0000FF"/>
                </a:solidFill>
              </a:rPr>
              <a:t>REVOKE </a:t>
            </a:r>
            <a:r>
              <a:rPr lang="zh-CN" altLang="zh-CN" dirty="0">
                <a:solidFill>
                  <a:srgbClr val="0000FF"/>
                </a:solidFill>
              </a:rPr>
              <a:t>等）。</a:t>
            </a:r>
          </a:p>
          <a:p>
            <a:r>
              <a:rPr lang="zh-CN" altLang="zh-CN" dirty="0" smtClean="0">
                <a:solidFill>
                  <a:srgbClr val="0000FF"/>
                </a:solidFill>
              </a:rPr>
              <a:t>视图</a:t>
            </a:r>
            <a:r>
              <a:rPr lang="zh-CN" altLang="zh-CN" dirty="0">
                <a:solidFill>
                  <a:srgbClr val="0000FF"/>
                </a:solidFill>
              </a:rPr>
              <a:t>的概念、特点、操作（创建</a:t>
            </a:r>
            <a:r>
              <a:rPr lang="en-US" altLang="zh-CN" dirty="0">
                <a:solidFill>
                  <a:srgbClr val="0000FF"/>
                </a:solidFill>
              </a:rPr>
              <a:t>+</a:t>
            </a:r>
            <a:r>
              <a:rPr lang="zh-CN" altLang="zh-CN" dirty="0">
                <a:solidFill>
                  <a:srgbClr val="0000FF"/>
                </a:solidFill>
              </a:rPr>
              <a:t>删除</a:t>
            </a:r>
            <a:r>
              <a:rPr lang="en-US" altLang="zh-CN" dirty="0">
                <a:solidFill>
                  <a:srgbClr val="0000FF"/>
                </a:solidFill>
              </a:rPr>
              <a:t>+</a:t>
            </a:r>
            <a:r>
              <a:rPr lang="zh-CN" altLang="zh-CN" dirty="0">
                <a:solidFill>
                  <a:srgbClr val="0000FF"/>
                </a:solidFill>
              </a:rPr>
              <a:t>更新</a:t>
            </a:r>
            <a:r>
              <a:rPr lang="en-US" altLang="zh-CN" dirty="0">
                <a:solidFill>
                  <a:srgbClr val="0000FF"/>
                </a:solidFill>
              </a:rPr>
              <a:t>+</a:t>
            </a:r>
            <a:r>
              <a:rPr lang="zh-CN" altLang="zh-CN" dirty="0">
                <a:solidFill>
                  <a:srgbClr val="0000FF"/>
                </a:solidFill>
              </a:rPr>
              <a:t>查询）、</a:t>
            </a:r>
            <a:r>
              <a:rPr lang="zh-CN" altLang="zh-CN" dirty="0" smtClean="0">
                <a:solidFill>
                  <a:srgbClr val="0000FF"/>
                </a:solidFill>
              </a:rPr>
              <a:t>作用</a:t>
            </a:r>
            <a:endParaRPr lang="zh-CN" altLang="zh-CN" dirty="0">
              <a:solidFill>
                <a:srgbClr val="0000FF"/>
              </a:solidFill>
            </a:endParaRPr>
          </a:p>
          <a:p>
            <a:r>
              <a:rPr lang="zh-CN" altLang="zh-CN" dirty="0" smtClean="0"/>
              <a:t>审计</a:t>
            </a:r>
            <a:r>
              <a:rPr lang="zh-CN" altLang="zh-CN" dirty="0"/>
              <a:t>与数据加密（</a:t>
            </a:r>
            <a:r>
              <a:rPr lang="en-US" altLang="zh-CN" dirty="0"/>
              <a:t>DES</a:t>
            </a:r>
            <a:r>
              <a:rPr lang="zh-CN" altLang="zh-CN" dirty="0"/>
              <a:t>和</a:t>
            </a:r>
            <a:r>
              <a:rPr lang="en-US" altLang="zh-CN" dirty="0"/>
              <a:t>RSA</a:t>
            </a:r>
            <a:r>
              <a:rPr lang="zh-CN" altLang="zh-CN" dirty="0"/>
              <a:t>）。</a:t>
            </a:r>
          </a:p>
        </p:txBody>
      </p:sp>
      <p:sp>
        <p:nvSpPr>
          <p:cNvPr id="4" name="日期占位符 3"/>
          <p:cNvSpPr>
            <a:spLocks noGrp="1"/>
          </p:cNvSpPr>
          <p:nvPr>
            <p:ph type="dt" sz="half" idx="10"/>
          </p:nvPr>
        </p:nvSpPr>
        <p:spPr/>
        <p:txBody>
          <a:bodyPr/>
          <a:lstStyle/>
          <a:p>
            <a:fld id="{7A7615D6-5F9E-4F89-A7D5-B8EAABA5E3FA}"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dirty="0" err="1"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67</a:t>
            </a:fld>
            <a:endParaRPr lang="zh-CN" altLang="en-US" dirty="0"/>
          </a:p>
        </p:txBody>
      </p:sp>
    </p:spTree>
    <p:extLst>
      <p:ext uri="{BB962C8B-B14F-4D97-AF65-F5344CB8AC3E}">
        <p14:creationId xmlns:p14="http://schemas.microsoft.com/office/powerpoint/2010/main" val="83878925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836712"/>
            <a:ext cx="8219256" cy="1512168"/>
          </a:xfrm>
        </p:spPr>
        <p:txBody>
          <a:bodyPr>
            <a:normAutofit/>
          </a:bodyPr>
          <a:lstStyle/>
          <a:p>
            <a:pPr marR="0" rtl="0"/>
            <a:r>
              <a:rPr lang="zh-CN" altLang="en-US" sz="6600" i="0" u="none" strike="noStrike" kern="2200" baseline="0" dirty="0" smtClean="0"/>
              <a:t>习　题</a:t>
            </a:r>
          </a:p>
        </p:txBody>
      </p:sp>
      <p:sp>
        <p:nvSpPr>
          <p:cNvPr id="3" name="文本占位符 2"/>
          <p:cNvSpPr>
            <a:spLocks noGrp="1"/>
          </p:cNvSpPr>
          <p:nvPr>
            <p:ph type="body" idx="1"/>
          </p:nvPr>
        </p:nvSpPr>
        <p:spPr>
          <a:xfrm>
            <a:off x="251520" y="2924944"/>
            <a:ext cx="8640960" cy="1872208"/>
          </a:xfrm>
        </p:spPr>
        <p:txBody>
          <a:bodyPr>
            <a:noAutofit/>
          </a:bodyPr>
          <a:lstStyle/>
          <a:p>
            <a:pPr marL="446088" indent="-446088" algn="ctr">
              <a:lnSpc>
                <a:spcPct val="100000"/>
              </a:lnSpc>
              <a:buNone/>
            </a:pPr>
            <a:r>
              <a:rPr lang="en-US" altLang="zh-CN" sz="6600" u="none" strike="noStrike" kern="100" baseline="0" dirty="0" smtClean="0">
                <a:solidFill>
                  <a:srgbClr val="0000FF"/>
                </a:solidFill>
              </a:rPr>
              <a:t>7.1</a:t>
            </a:r>
            <a:r>
              <a:rPr lang="zh-CN" altLang="en-US" sz="6600" u="none" strike="noStrike" kern="100" baseline="0" dirty="0" smtClean="0">
                <a:solidFill>
                  <a:srgbClr val="0000FF"/>
                </a:solidFill>
              </a:rPr>
              <a:t> ～</a:t>
            </a:r>
            <a:r>
              <a:rPr lang="en-US" altLang="zh-CN" sz="6600" u="none" strike="noStrike" kern="100" baseline="0" dirty="0" smtClean="0">
                <a:solidFill>
                  <a:srgbClr val="0000FF"/>
                </a:solidFill>
              </a:rPr>
              <a:t>7.10</a:t>
            </a:r>
            <a:endParaRPr lang="zh-CN" altLang="en-US" sz="6600" u="none" strike="noStrike" kern="100" baseline="0" dirty="0" smtClean="0">
              <a:solidFill>
                <a:srgbClr val="0000FF"/>
              </a:solidFill>
            </a:endParaRPr>
          </a:p>
        </p:txBody>
      </p:sp>
      <p:sp>
        <p:nvSpPr>
          <p:cNvPr id="4" name="日期占位符 3"/>
          <p:cNvSpPr>
            <a:spLocks noGrp="1"/>
          </p:cNvSpPr>
          <p:nvPr>
            <p:ph type="dt" sz="half" idx="10"/>
          </p:nvPr>
        </p:nvSpPr>
        <p:spPr/>
        <p:txBody>
          <a:bodyPr/>
          <a:lstStyle/>
          <a:p>
            <a:fld id="{4AEBE516-0A93-488F-BD22-763C9B3ABF0F}" type="datetime9">
              <a:rPr lang="zh-CN" altLang="en-US" smtClean="0"/>
              <a:t>2019年9月8日星期日9时4分56秒</a:t>
            </a:fld>
            <a:endParaRPr lang="zh-CN" altLang="en-US" dirty="0"/>
          </a:p>
        </p:txBody>
      </p:sp>
      <p:sp>
        <p:nvSpPr>
          <p:cNvPr id="5" name="页脚占位符 4"/>
          <p:cNvSpPr>
            <a:spLocks noGrp="1"/>
          </p:cNvSpPr>
          <p:nvPr>
            <p:ph type="ftr" sz="quarter" idx="11"/>
          </p:nvPr>
        </p:nvSpPr>
        <p:spPr/>
        <p:txBody>
          <a:bodyPr/>
          <a:lstStyle/>
          <a:p>
            <a:r>
              <a:rPr lang="en-US" altLang="zh-CN" smtClean="0"/>
              <a:t>HappyYou</a:t>
            </a:r>
            <a:endParaRPr lang="zh-CN" altLang="en-US" dirty="0"/>
          </a:p>
        </p:txBody>
      </p:sp>
      <p:sp>
        <p:nvSpPr>
          <p:cNvPr id="6" name="灯片编号占位符 5"/>
          <p:cNvSpPr>
            <a:spLocks noGrp="1"/>
          </p:cNvSpPr>
          <p:nvPr>
            <p:ph type="sldNum" sz="quarter" idx="12"/>
          </p:nvPr>
        </p:nvSpPr>
        <p:spPr/>
        <p:txBody>
          <a:bodyPr/>
          <a:lstStyle/>
          <a:p>
            <a:fld id="{C46E5E69-9A6D-4AF8-BC2D-C556A9893D8F}" type="slidenum">
              <a:rPr lang="zh-CN" altLang="en-US" smtClean="0"/>
              <a:pPr/>
              <a:t>68</a:t>
            </a:fld>
            <a:endParaRPr lang="zh-CN" altLang="en-US" dirty="0"/>
          </a:p>
        </p:txBody>
      </p:sp>
    </p:spTree>
    <p:extLst>
      <p:ext uri="{BB962C8B-B14F-4D97-AF65-F5344CB8AC3E}">
        <p14:creationId xmlns:p14="http://schemas.microsoft.com/office/powerpoint/2010/main" val="23165761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3711</TotalTime>
  <Words>7987</Words>
  <Application>Microsoft Office PowerPoint</Application>
  <PresentationFormat>全屏显示(4:3)</PresentationFormat>
  <Paragraphs>730</Paragraphs>
  <Slides>68</Slides>
  <Notes>1</Notes>
  <HiddenSlides>0</HiddenSlides>
  <MMClips>0</MMClips>
  <ScaleCrop>false</ScaleCrop>
  <HeadingPairs>
    <vt:vector size="4" baseType="variant">
      <vt:variant>
        <vt:lpstr>主题</vt:lpstr>
      </vt:variant>
      <vt:variant>
        <vt:i4>1</vt:i4>
      </vt:variant>
      <vt:variant>
        <vt:lpstr>幻灯片标题</vt:lpstr>
      </vt:variant>
      <vt:variant>
        <vt:i4>68</vt:i4>
      </vt:variant>
    </vt:vector>
  </HeadingPairs>
  <TitlesOfParts>
    <vt:vector size="69" baseType="lpstr">
      <vt:lpstr>Office 主题​​</vt:lpstr>
      <vt:lpstr>浙江工商大学计算机与信息工程学院</vt:lpstr>
      <vt:lpstr>第 7 章  数据安全</vt:lpstr>
      <vt:lpstr>数据保护</vt:lpstr>
      <vt:lpstr>7.1  数据安全模型</vt:lpstr>
      <vt:lpstr>7.1.1  数据安全标准</vt:lpstr>
      <vt:lpstr>7.1.1  数据安全标准</vt:lpstr>
      <vt:lpstr>7.1.2  数据安全模型</vt:lpstr>
      <vt:lpstr>7.1.2  数据安全模型</vt:lpstr>
      <vt:lpstr>7.2  数据安全控制</vt:lpstr>
      <vt:lpstr>7.2.1 用户鉴别</vt:lpstr>
      <vt:lpstr>7.2.1 用户鉴别</vt:lpstr>
      <vt:lpstr>7.2.1 用户鉴别</vt:lpstr>
      <vt:lpstr>7.2.1 用户鉴别</vt:lpstr>
      <vt:lpstr>7.2.1 用户鉴别</vt:lpstr>
      <vt:lpstr>7.2.1 用户鉴别</vt:lpstr>
      <vt:lpstr>1.  登录服务器</vt:lpstr>
      <vt:lpstr>2.  数据库用户</vt:lpstr>
      <vt:lpstr>3.  数据库角色</vt:lpstr>
      <vt:lpstr>3.  数据库角色</vt:lpstr>
      <vt:lpstr>7.2.2 数据存取控制</vt:lpstr>
      <vt:lpstr>1．自主存取控制DAC</vt:lpstr>
      <vt:lpstr>2．强制存取控制MAC</vt:lpstr>
      <vt:lpstr>2．强制存取控制MAC</vt:lpstr>
      <vt:lpstr>3. 合法的非法访问控制</vt:lpstr>
      <vt:lpstr>3. 合法的非法访问控制</vt:lpstr>
      <vt:lpstr>4. SQL Server的权限控制</vt:lpstr>
      <vt:lpstr>4. SQL Server的权限控制</vt:lpstr>
      <vt:lpstr>4. SQL Server的权限控制</vt:lpstr>
      <vt:lpstr>7.2.3  视图</vt:lpstr>
      <vt:lpstr>1. 视图的概念</vt:lpstr>
      <vt:lpstr>1. 视图的概念</vt:lpstr>
      <vt:lpstr>1. 视图的概念</vt:lpstr>
      <vt:lpstr>2. 视图的操作</vt:lpstr>
      <vt:lpstr>2. 视图的操作</vt:lpstr>
      <vt:lpstr>2. 视图的操作</vt:lpstr>
      <vt:lpstr>2. 视图的操作</vt:lpstr>
      <vt:lpstr>2. 视图的操作</vt:lpstr>
      <vt:lpstr>2. 视图的操作</vt:lpstr>
      <vt:lpstr>2. 视图的操作</vt:lpstr>
      <vt:lpstr>2. 视图的操作</vt:lpstr>
      <vt:lpstr>2. 视图的操作</vt:lpstr>
      <vt:lpstr>2. 视图的操作</vt:lpstr>
      <vt:lpstr>2. 视图的操作</vt:lpstr>
      <vt:lpstr>3. 视图的作用</vt:lpstr>
      <vt:lpstr>（1）简化用户操作</vt:lpstr>
      <vt:lpstr>（2）清晰表达查询</vt:lpstr>
      <vt:lpstr>（3）同一数据可以以不同的形式提供给不同用户</vt:lpstr>
      <vt:lpstr>（3）同一数据可以以不同的形式提供给不同用户</vt:lpstr>
      <vt:lpstr>（4）在一定程度上确保了数据安全</vt:lpstr>
      <vt:lpstr>（5）在一定程度上提供了逻辑独立性</vt:lpstr>
      <vt:lpstr>（5）在一定程度上提供了逻辑独立性</vt:lpstr>
      <vt:lpstr>（5）在一定程度上提供了逻辑独立性</vt:lpstr>
      <vt:lpstr>7.2.4  审计与数据加密</vt:lpstr>
      <vt:lpstr>1. 审计</vt:lpstr>
      <vt:lpstr>1. 审计</vt:lpstr>
      <vt:lpstr>2. 数据加密</vt:lpstr>
      <vt:lpstr>2. 数据加密</vt:lpstr>
      <vt:lpstr>2. 数据加密</vt:lpstr>
      <vt:lpstr>2. 数据加密</vt:lpstr>
      <vt:lpstr>2. 数据加密</vt:lpstr>
      <vt:lpstr>2. 数据加密</vt:lpstr>
      <vt:lpstr>2. 数据加密</vt:lpstr>
      <vt:lpstr>2. 数据加密</vt:lpstr>
      <vt:lpstr>2. 数据加密</vt:lpstr>
      <vt:lpstr>2. 数据加密</vt:lpstr>
      <vt:lpstr>2. 数据加密</vt:lpstr>
      <vt:lpstr>3.6 小 结</vt:lpstr>
      <vt:lpstr>习　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概述</dc:title>
  <dc:creator>Happyu</dc:creator>
  <cp:lastModifiedBy>Hasee</cp:lastModifiedBy>
  <cp:revision>463</cp:revision>
  <dcterms:created xsi:type="dcterms:W3CDTF">2017-06-19T02:48:13Z</dcterms:created>
  <dcterms:modified xsi:type="dcterms:W3CDTF">2019-09-08T01:04:59Z</dcterms:modified>
</cp:coreProperties>
</file>