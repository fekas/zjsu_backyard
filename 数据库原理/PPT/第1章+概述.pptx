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381" r:id="rId2"/>
    <p:sldId id="413" r:id="rId3"/>
    <p:sldId id="256" r:id="rId4"/>
    <p:sldId id="414" r:id="rId5"/>
    <p:sldId id="415" r:id="rId6"/>
    <p:sldId id="416" r:id="rId7"/>
    <p:sldId id="379" r:id="rId8"/>
    <p:sldId id="378" r:id="rId9"/>
    <p:sldId id="259" r:id="rId10"/>
    <p:sldId id="382" r:id="rId11"/>
    <p:sldId id="383" r:id="rId12"/>
    <p:sldId id="384" r:id="rId13"/>
    <p:sldId id="386" r:id="rId14"/>
    <p:sldId id="264" r:id="rId15"/>
    <p:sldId id="387" r:id="rId16"/>
    <p:sldId id="388" r:id="rId17"/>
    <p:sldId id="265" r:id="rId18"/>
    <p:sldId id="266" r:id="rId19"/>
    <p:sldId id="267" r:id="rId20"/>
    <p:sldId id="268" r:id="rId21"/>
    <p:sldId id="389" r:id="rId22"/>
    <p:sldId id="390" r:id="rId23"/>
    <p:sldId id="391" r:id="rId24"/>
    <p:sldId id="392" r:id="rId25"/>
    <p:sldId id="270" r:id="rId26"/>
    <p:sldId id="271" r:id="rId27"/>
    <p:sldId id="393" r:id="rId28"/>
    <p:sldId id="272" r:id="rId29"/>
    <p:sldId id="394" r:id="rId30"/>
    <p:sldId id="273" r:id="rId31"/>
    <p:sldId id="395" r:id="rId32"/>
    <p:sldId id="274" r:id="rId33"/>
    <p:sldId id="275" r:id="rId34"/>
    <p:sldId id="276" r:id="rId35"/>
    <p:sldId id="396" r:id="rId36"/>
    <p:sldId id="397" r:id="rId37"/>
    <p:sldId id="277" r:id="rId38"/>
    <p:sldId id="278" r:id="rId39"/>
    <p:sldId id="279" r:id="rId40"/>
    <p:sldId id="280" r:id="rId41"/>
    <p:sldId id="398" r:id="rId42"/>
    <p:sldId id="281" r:id="rId43"/>
    <p:sldId id="399" r:id="rId44"/>
    <p:sldId id="282" r:id="rId45"/>
    <p:sldId id="400" r:id="rId46"/>
    <p:sldId id="283" r:id="rId47"/>
    <p:sldId id="284" r:id="rId48"/>
    <p:sldId id="401" r:id="rId49"/>
    <p:sldId id="285" r:id="rId50"/>
    <p:sldId id="286" r:id="rId51"/>
    <p:sldId id="293" r:id="rId52"/>
    <p:sldId id="403" r:id="rId53"/>
    <p:sldId id="402" r:id="rId54"/>
    <p:sldId id="294" r:id="rId55"/>
    <p:sldId id="404" r:id="rId56"/>
    <p:sldId id="295" r:id="rId57"/>
    <p:sldId id="406" r:id="rId58"/>
    <p:sldId id="407" r:id="rId59"/>
    <p:sldId id="296" r:id="rId60"/>
    <p:sldId id="408" r:id="rId61"/>
    <p:sldId id="297" r:id="rId62"/>
    <p:sldId id="409" r:id="rId63"/>
    <p:sldId id="298" r:id="rId64"/>
    <p:sldId id="299" r:id="rId65"/>
    <p:sldId id="300" r:id="rId66"/>
    <p:sldId id="304" r:id="rId67"/>
    <p:sldId id="417" r:id="rId68"/>
    <p:sldId id="305" r:id="rId69"/>
    <p:sldId id="322" r:id="rId70"/>
    <p:sldId id="410" r:id="rId71"/>
    <p:sldId id="323" r:id="rId72"/>
    <p:sldId id="411" r:id="rId73"/>
    <p:sldId id="412" r:id="rId74"/>
    <p:sldId id="324" r:id="rId75"/>
    <p:sldId id="375" r:id="rId76"/>
    <p:sldId id="377" r:id="rId7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00FF"/>
    <a:srgbClr val="00FF00"/>
    <a:srgbClr val="00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 autoAdjust="0"/>
    <p:restoredTop sz="94607" autoAdjust="0"/>
  </p:normalViewPr>
  <p:slideViewPr>
    <p:cSldViewPr>
      <p:cViewPr varScale="1">
        <p:scale>
          <a:sx n="104" d="100"/>
          <a:sy n="104" d="100"/>
        </p:scale>
        <p:origin x="188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3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96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449D0E8-B7BC-DF4F-AD31-4DD5AEACA2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A2154B-CC15-F149-81FB-0377927B2C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0F151-5922-0B42-84F3-628930BBD18A}" type="datetimeFigureOut">
              <a:rPr kumimoji="1" lang="zh-CN" altLang="en-US" smtClean="0"/>
              <a:t>2019/9/10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710F21-B7CC-7C47-8D07-B54B4C3D43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1E8443-0ECF-1541-A5E4-8CDAB726ED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DF8B5-E239-084B-B822-936351E09B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7688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2C98B-BCE1-473E-B4E9-1F6B27B354D6}" type="datetimeFigureOut">
              <a:rPr lang="zh-CN" altLang="en-US" smtClean="0"/>
              <a:t>2019/9/10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2A1C5-F448-453F-AD22-06075418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86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FF0FEC2D-1921-4D49-9601-5EBBBFCF4A9B}" type="slidenum">
              <a:rPr lang="en-US" altLang="zh-CN" smtClean="0"/>
              <a:pPr eaLnBrk="1" hangingPunct="1"/>
              <a:t>1</a:t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84B3B-2BAF-2B40-8191-F5670C3DA262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59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2908-BCFF-F647-8165-52776908CC1B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743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5AB0D-2E36-9549-937D-6A566C2AC44D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23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F16D0-5722-564D-8C16-3ECE3FD91BC9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800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C5E44-9485-8B41-8868-EC853A12482A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34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4B763-207F-A64B-9B8C-DE1D3A9D5E25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62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C6A2-ABE5-2D4A-A761-768BB745A199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508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0251-2130-9D4B-BF6D-A7523DD5B235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593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C341-41D4-0042-A2D5-BFC8CF349FCE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73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9915-EABF-E348-8CD9-AF6399B201CD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94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93515-4CF1-AB4B-B137-38BBA40B1DA3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446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706090"/>
          </a:xfrm>
        </p:spPr>
        <p:txBody>
          <a:bodyPr>
            <a:normAutofit/>
          </a:bodyPr>
          <a:lstStyle>
            <a:lvl1pPr>
              <a:defRPr sz="3600" b="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112568"/>
          </a:xfrm>
        </p:spPr>
        <p:txBody>
          <a:bodyPr/>
          <a:lstStyle>
            <a:lvl1pPr marL="342900" indent="-342900"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n"/>
              <a:defRPr sz="2400"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p"/>
              <a:defRPr sz="22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l"/>
              <a:defRPr sz="20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u"/>
              <a:defRPr sz="18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Ø"/>
              <a:defRPr sz="16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6648" cy="365125"/>
          </a:xfrm>
        </p:spPr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A3CAC07D-3832-1749-AE1B-9C6B4055288E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23928" y="6381328"/>
            <a:ext cx="2239888" cy="365125"/>
          </a:xfrm>
        </p:spPr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051248" cy="365125"/>
          </a:xfrm>
        </p:spPr>
        <p:txBody>
          <a:bodyPr/>
          <a:lstStyle>
            <a:lvl1pPr algn="r"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C46E5E69-9A6D-4AF8-BC2D-C556A9893D8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234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8186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1D3A779F-326A-7944-AAA7-6F813262CD22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35896" y="6356350"/>
            <a:ext cx="23839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87607A0D-40CE-4FFA-B03A-EB935FC429F2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4261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ts val="3600"/>
        </a:lnSpc>
        <a:spcBef>
          <a:spcPts val="0"/>
        </a:spcBef>
        <a:buFont typeface="Wingdings" pitchFamily="2" charset="2"/>
        <a:buChar char="n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lnSpc>
          <a:spcPts val="3600"/>
        </a:lnSpc>
        <a:spcBef>
          <a:spcPts val="0"/>
        </a:spcBef>
        <a:buFont typeface="Wingdings" pitchFamily="2" charset="2"/>
        <a:buChar char="p"/>
        <a:defRPr sz="2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lnSpc>
          <a:spcPts val="3600"/>
        </a:lnSpc>
        <a:spcBef>
          <a:spcPts val="0"/>
        </a:spcBef>
        <a:buFont typeface="Wingdings" pitchFamily="2" charset="2"/>
        <a:buChar char="l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lnSpc>
          <a:spcPts val="3600"/>
        </a:lnSpc>
        <a:spcBef>
          <a:spcPts val="0"/>
        </a:spcBef>
        <a:buFont typeface="Wingdings" pitchFamily="2" charset="2"/>
        <a:buChar char="u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lnSpc>
          <a:spcPts val="3600"/>
        </a:lnSpc>
        <a:spcBef>
          <a:spcPts val="0"/>
        </a:spcBef>
        <a:buFont typeface="Wingdings" pitchFamily="2" charset="2"/>
        <a:buChar char="Ø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nteam.com.cn/putong/yingxiao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869160"/>
            <a:ext cx="7345362" cy="574378"/>
          </a:xfrm>
          <a:noFill/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rgbClr val="0000FF"/>
                </a:solidFill>
              </a:rPr>
              <a:t>浙江工商大学计算机与信息工程学院</a:t>
            </a:r>
            <a:endParaRPr lang="zh-CN" altLang="en-US" sz="1800" dirty="0">
              <a:solidFill>
                <a:srgbClr val="0000FF"/>
              </a:solidFill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20635" y="692696"/>
            <a:ext cx="8280400" cy="197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kumimoji="1" lang="zh-CN" altLang="en-US" sz="66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kumimoji="1" lang="zh-CN" altLang="en-US" sz="66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原理</a:t>
            </a:r>
          </a:p>
          <a:p>
            <a:pPr algn="ctr">
              <a:spcBef>
                <a:spcPct val="20000"/>
              </a:spcBef>
            </a:pPr>
            <a:r>
              <a:rPr kumimoji="1" lang="en-US" altLang="zh-CN" sz="4800" b="1" dirty="0">
                <a:solidFill>
                  <a:srgbClr val="0000FF"/>
                </a:solidFill>
                <a:latin typeface="Times New Roman" pitchFamily="18" charset="0"/>
              </a:rPr>
              <a:t>Database Principles</a:t>
            </a:r>
          </a:p>
        </p:txBody>
      </p:sp>
      <p:pic>
        <p:nvPicPr>
          <p:cNvPr id="2052" name="Picture 4" descr="tuli">
            <a:hlinkClick r:id="rId3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06530" y="4365104"/>
            <a:ext cx="1427163" cy="15017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-5417" y="2700715"/>
            <a:ext cx="8135938" cy="0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0" y="4797425"/>
            <a:ext cx="7451725" cy="0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 flipV="1">
            <a:off x="0" y="5445125"/>
            <a:ext cx="7451725" cy="23813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3311525" y="3824288"/>
            <a:ext cx="5832475" cy="1587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 flipV="1">
            <a:off x="1663970" y="1916832"/>
            <a:ext cx="5329237" cy="0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896938" y="5805487"/>
            <a:ext cx="723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</a:rPr>
              <a:t>College of Computer Science and Information Engineering</a:t>
            </a:r>
          </a:p>
          <a:p>
            <a:pPr algn="r"/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</a:rPr>
              <a:t>Zhejiang 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Times New Roman" pitchFamily="18" charset="0"/>
              </a:rPr>
              <a:t>Gongshang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</a:rPr>
              <a:t> University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2320131" y="3103845"/>
            <a:ext cx="43926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rgbClr val="3333FF"/>
                </a:solidFill>
                <a:latin typeface="Arial Black" pitchFamily="34" charset="0"/>
                <a:ea typeface="华文新魏" pitchFamily="2" charset="-122"/>
              </a:rPr>
              <a:t>凌 云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2136AF-D95D-DA4D-BBE6-C23CAB69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779B-F9C1-504E-A07A-D5C2FECDD492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E31E55-73E4-844C-AF4A-3BD14CEA0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514564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00" dirty="0">
                <a:solidFill>
                  <a:srgbClr val="0000FF"/>
                </a:solidFill>
              </a:rPr>
              <a:t>数据库技术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CE13-75FF-9740-AFAF-36A6A7EBD74B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395536" y="1379863"/>
            <a:ext cx="8352928" cy="4392487"/>
            <a:chOff x="1254" y="2393"/>
            <a:chExt cx="7308" cy="3657"/>
          </a:xfrm>
        </p:grpSpPr>
        <p:sp>
          <p:nvSpPr>
            <p:cNvPr id="8" name="Text Box 30"/>
            <p:cNvSpPr txBox="1">
              <a:spLocks noChangeArrowheads="1"/>
            </p:cNvSpPr>
            <p:nvPr/>
          </p:nvSpPr>
          <p:spPr bwMode="auto">
            <a:xfrm>
              <a:off x="1297" y="2393"/>
              <a:ext cx="7265" cy="372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数据库技术（理论+方法+实现）</a:t>
              </a: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9" name="Text Box 31"/>
            <p:cNvSpPr txBox="1">
              <a:spLocks noChangeArrowheads="1"/>
            </p:cNvSpPr>
            <p:nvPr/>
          </p:nvSpPr>
          <p:spPr bwMode="auto">
            <a:xfrm>
              <a:off x="2501" y="3074"/>
              <a:ext cx="1590" cy="372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统一结构化组织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10" name="Text Box 32"/>
            <p:cNvSpPr txBox="1">
              <a:spLocks noChangeArrowheads="1"/>
            </p:cNvSpPr>
            <p:nvPr/>
          </p:nvSpPr>
          <p:spPr bwMode="auto">
            <a:xfrm>
              <a:off x="2071" y="3756"/>
              <a:ext cx="688" cy="372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数据</a:t>
              </a: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 </a:t>
              </a: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cxnSp>
          <p:nvCxnSpPr>
            <p:cNvPr id="11" name="Line 33"/>
            <p:cNvCxnSpPr/>
            <p:nvPr/>
          </p:nvCxnSpPr>
          <p:spPr bwMode="auto">
            <a:xfrm>
              <a:off x="2759" y="3911"/>
              <a:ext cx="98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34"/>
            <p:cNvCxnSpPr/>
            <p:nvPr/>
          </p:nvCxnSpPr>
          <p:spPr bwMode="auto">
            <a:xfrm flipV="1">
              <a:off x="4220" y="5430"/>
              <a:ext cx="141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Text Box 35"/>
            <p:cNvSpPr txBox="1">
              <a:spLocks noChangeArrowheads="1"/>
            </p:cNvSpPr>
            <p:nvPr/>
          </p:nvSpPr>
          <p:spPr bwMode="auto">
            <a:xfrm>
              <a:off x="1254" y="4439"/>
              <a:ext cx="989" cy="372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DBMS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14" name="Text Box 36"/>
            <p:cNvSpPr txBox="1">
              <a:spLocks noChangeArrowheads="1"/>
            </p:cNvSpPr>
            <p:nvPr/>
          </p:nvSpPr>
          <p:spPr bwMode="auto">
            <a:xfrm>
              <a:off x="2587" y="4439"/>
              <a:ext cx="1117" cy="372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数据处理</a:t>
              </a: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 </a:t>
              </a: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 </a:t>
              </a: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 </a:t>
              </a: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cxnSp>
          <p:nvCxnSpPr>
            <p:cNvPr id="15" name="Line 37"/>
            <p:cNvCxnSpPr/>
            <p:nvPr/>
          </p:nvCxnSpPr>
          <p:spPr bwMode="auto">
            <a:xfrm>
              <a:off x="3317" y="2764"/>
              <a:ext cx="0" cy="31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Line 38"/>
            <p:cNvCxnSpPr/>
            <p:nvPr/>
          </p:nvCxnSpPr>
          <p:spPr bwMode="auto">
            <a:xfrm>
              <a:off x="3274" y="3446"/>
              <a:ext cx="0" cy="43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 Box 39"/>
            <p:cNvSpPr txBox="1">
              <a:spLocks noChangeArrowheads="1"/>
            </p:cNvSpPr>
            <p:nvPr/>
          </p:nvSpPr>
          <p:spPr bwMode="auto">
            <a:xfrm>
              <a:off x="3747" y="4903"/>
              <a:ext cx="860" cy="372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信息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 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 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18" name="AutoShape 40"/>
            <p:cNvSpPr>
              <a:spLocks noChangeArrowheads="1"/>
            </p:cNvSpPr>
            <p:nvPr/>
          </p:nvSpPr>
          <p:spPr bwMode="auto">
            <a:xfrm>
              <a:off x="3747" y="3570"/>
              <a:ext cx="903" cy="745"/>
            </a:xfrm>
            <a:prstGeom prst="can">
              <a:avLst>
                <a:gd name="adj" fmla="val 30569"/>
              </a:avLst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数据库</a:t>
              </a:r>
            </a:p>
          </p:txBody>
        </p:sp>
        <p:cxnSp>
          <p:nvCxnSpPr>
            <p:cNvPr id="19" name="Line 41"/>
            <p:cNvCxnSpPr/>
            <p:nvPr/>
          </p:nvCxnSpPr>
          <p:spPr bwMode="auto">
            <a:xfrm>
              <a:off x="5037" y="3446"/>
              <a:ext cx="0" cy="43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42"/>
            <p:cNvCxnSpPr/>
            <p:nvPr/>
          </p:nvCxnSpPr>
          <p:spPr bwMode="auto">
            <a:xfrm>
              <a:off x="4650" y="3911"/>
              <a:ext cx="77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AutoShape 43"/>
            <p:cNvSpPr>
              <a:spLocks noChangeArrowheads="1"/>
            </p:cNvSpPr>
            <p:nvPr/>
          </p:nvSpPr>
          <p:spPr bwMode="auto">
            <a:xfrm>
              <a:off x="5412" y="3571"/>
              <a:ext cx="366" cy="714"/>
            </a:xfrm>
            <a:prstGeom prst="can">
              <a:avLst>
                <a:gd name="adj" fmla="val 47271"/>
              </a:avLst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>
                <a:lnSpc>
                  <a:spcPts val="3000"/>
                </a:lnSpc>
                <a:spcAft>
                  <a:spcPts val="0"/>
                </a:spcAft>
              </a:pPr>
              <a:r>
                <a:rPr lang="en-US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 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cxnSp>
          <p:nvCxnSpPr>
            <p:cNvPr id="22" name="Line 44"/>
            <p:cNvCxnSpPr/>
            <p:nvPr/>
          </p:nvCxnSpPr>
          <p:spPr bwMode="auto">
            <a:xfrm>
              <a:off x="4220" y="4314"/>
              <a:ext cx="0" cy="55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 Box 45"/>
            <p:cNvSpPr txBox="1">
              <a:spLocks noChangeArrowheads="1"/>
            </p:cNvSpPr>
            <p:nvPr/>
          </p:nvSpPr>
          <p:spPr bwMode="auto">
            <a:xfrm>
              <a:off x="7554" y="4439"/>
              <a:ext cx="989" cy="403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数据挖掘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24" name="Text Box 46"/>
            <p:cNvSpPr txBox="1">
              <a:spLocks noChangeArrowheads="1"/>
            </p:cNvSpPr>
            <p:nvPr/>
          </p:nvSpPr>
          <p:spPr bwMode="auto">
            <a:xfrm>
              <a:off x="4564" y="3074"/>
              <a:ext cx="2360" cy="372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抽取+转换+加载（ETL）</a:t>
              </a: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 </a:t>
              </a: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 </a:t>
              </a:r>
              <a:endParaRPr lang="zh-CN" kern="1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cxnSp>
          <p:nvCxnSpPr>
            <p:cNvPr id="25" name="Line 47"/>
            <p:cNvCxnSpPr/>
            <p:nvPr/>
          </p:nvCxnSpPr>
          <p:spPr bwMode="auto">
            <a:xfrm flipV="1">
              <a:off x="6042" y="4625"/>
              <a:ext cx="46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Line 48"/>
            <p:cNvCxnSpPr/>
            <p:nvPr/>
          </p:nvCxnSpPr>
          <p:spPr bwMode="auto">
            <a:xfrm>
              <a:off x="5768" y="2764"/>
              <a:ext cx="0" cy="31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49"/>
            <p:cNvCxnSpPr/>
            <p:nvPr/>
          </p:nvCxnSpPr>
          <p:spPr bwMode="auto">
            <a:xfrm>
              <a:off x="6042" y="4315"/>
              <a:ext cx="0" cy="71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Line 50"/>
            <p:cNvCxnSpPr/>
            <p:nvPr/>
          </p:nvCxnSpPr>
          <p:spPr bwMode="auto">
            <a:xfrm>
              <a:off x="1598" y="2795"/>
              <a:ext cx="0" cy="164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Line 51"/>
            <p:cNvCxnSpPr/>
            <p:nvPr/>
          </p:nvCxnSpPr>
          <p:spPr bwMode="auto">
            <a:xfrm>
              <a:off x="2243" y="4624"/>
              <a:ext cx="34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Line 52"/>
            <p:cNvCxnSpPr/>
            <p:nvPr/>
          </p:nvCxnSpPr>
          <p:spPr bwMode="auto">
            <a:xfrm>
              <a:off x="3704" y="4624"/>
              <a:ext cx="532" cy="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 Box 53"/>
            <p:cNvSpPr txBox="1">
              <a:spLocks noChangeArrowheads="1"/>
            </p:cNvSpPr>
            <p:nvPr/>
          </p:nvSpPr>
          <p:spPr bwMode="auto">
            <a:xfrm>
              <a:off x="6504" y="4439"/>
              <a:ext cx="687" cy="403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OLAP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32" name="AutoShape 54"/>
            <p:cNvSpPr>
              <a:spLocks noChangeArrowheads="1"/>
            </p:cNvSpPr>
            <p:nvPr/>
          </p:nvSpPr>
          <p:spPr bwMode="auto">
            <a:xfrm>
              <a:off x="5622" y="5028"/>
              <a:ext cx="903" cy="890"/>
            </a:xfrm>
            <a:prstGeom prst="can">
              <a:avLst>
                <a:gd name="adj" fmla="val 32662"/>
              </a:avLst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知识库</a:t>
              </a:r>
            </a:p>
          </p:txBody>
        </p:sp>
        <p:cxnSp>
          <p:nvCxnSpPr>
            <p:cNvPr id="33" name="Line 55"/>
            <p:cNvCxnSpPr/>
            <p:nvPr/>
          </p:nvCxnSpPr>
          <p:spPr bwMode="auto">
            <a:xfrm>
              <a:off x="8058" y="2796"/>
              <a:ext cx="0" cy="164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Line 56"/>
            <p:cNvCxnSpPr/>
            <p:nvPr/>
          </p:nvCxnSpPr>
          <p:spPr bwMode="auto">
            <a:xfrm>
              <a:off x="4220" y="5275"/>
              <a:ext cx="0" cy="40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Text Box 57"/>
            <p:cNvSpPr txBox="1">
              <a:spLocks noChangeArrowheads="1"/>
            </p:cNvSpPr>
            <p:nvPr/>
          </p:nvSpPr>
          <p:spPr bwMode="auto">
            <a:xfrm>
              <a:off x="3704" y="5678"/>
              <a:ext cx="989" cy="372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分析理解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 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 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36" name="Text Box 58"/>
            <p:cNvSpPr txBox="1">
              <a:spLocks noChangeArrowheads="1"/>
            </p:cNvSpPr>
            <p:nvPr/>
          </p:nvSpPr>
          <p:spPr bwMode="auto">
            <a:xfrm>
              <a:off x="4693" y="4438"/>
              <a:ext cx="688" cy="403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57607" tIns="28804" rIns="57607" bIns="28804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OLTP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cxnSp>
          <p:nvCxnSpPr>
            <p:cNvPr id="37" name="Line 59"/>
            <p:cNvCxnSpPr/>
            <p:nvPr/>
          </p:nvCxnSpPr>
          <p:spPr bwMode="auto">
            <a:xfrm flipV="1">
              <a:off x="4236" y="4624"/>
              <a:ext cx="457" cy="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Line 60"/>
            <p:cNvCxnSpPr/>
            <p:nvPr/>
          </p:nvCxnSpPr>
          <p:spPr bwMode="auto">
            <a:xfrm>
              <a:off x="5381" y="4624"/>
              <a:ext cx="68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Line 61"/>
            <p:cNvCxnSpPr/>
            <p:nvPr/>
          </p:nvCxnSpPr>
          <p:spPr bwMode="auto">
            <a:xfrm>
              <a:off x="7176" y="4594"/>
              <a:ext cx="34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0" name="AutoShape 62"/>
            <p:cNvSpPr>
              <a:spLocks noChangeArrowheads="1"/>
            </p:cNvSpPr>
            <p:nvPr/>
          </p:nvSpPr>
          <p:spPr bwMode="auto">
            <a:xfrm>
              <a:off x="5664" y="3571"/>
              <a:ext cx="366" cy="714"/>
            </a:xfrm>
            <a:prstGeom prst="can">
              <a:avLst>
                <a:gd name="adj" fmla="val 47271"/>
              </a:avLst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>
                <a:lnSpc>
                  <a:spcPts val="3000"/>
                </a:lnSpc>
                <a:spcAft>
                  <a:spcPts val="0"/>
                </a:spcAft>
              </a:pPr>
              <a:r>
                <a:rPr lang="en-US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 </a:t>
              </a:r>
              <a:endParaRPr lang="zh-CN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41" name="AutoShape 63"/>
            <p:cNvSpPr>
              <a:spLocks noChangeArrowheads="1"/>
            </p:cNvSpPr>
            <p:nvPr/>
          </p:nvSpPr>
          <p:spPr bwMode="auto">
            <a:xfrm>
              <a:off x="5874" y="3571"/>
              <a:ext cx="1050" cy="744"/>
            </a:xfrm>
            <a:prstGeom prst="can">
              <a:avLst>
                <a:gd name="adj" fmla="val 30569"/>
              </a:avLst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数据仓库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6199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zh-CN" altLang="en-US" sz="3600" i="0" u="none" strike="noStrike" kern="2200" baseline="0" dirty="0"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en-US" altLang="zh-CN" sz="3600" i="0" u="none" strike="noStrike" kern="2200" baseline="0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3600" i="0" u="none" strike="noStrike" kern="2200" baseline="0" dirty="0">
                <a:latin typeface="微软雅黑" pitchFamily="34" charset="-122"/>
                <a:ea typeface="微软雅黑" pitchFamily="34" charset="-122"/>
              </a:rPr>
              <a:t>章 概述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pPr lvl="0"/>
            <a:r>
              <a:rPr lang="zh-CN" altLang="en-US" sz="2400" i="0" u="none" strike="noStrike" kern="100" baseline="0" dirty="0">
                <a:latin typeface="微软雅黑" pitchFamily="34" charset="-122"/>
                <a:ea typeface="微软雅黑" pitchFamily="34" charset="-122"/>
              </a:rPr>
              <a:t>数据 </a:t>
            </a:r>
            <a:r>
              <a:rPr lang="zh-CN" altLang="en-US" sz="2400" kern="100" dirty="0">
                <a:latin typeface="微软雅黑" pitchFamily="34" charset="-122"/>
                <a:ea typeface="微软雅黑" pitchFamily="34" charset="-122"/>
              </a:rPr>
              <a:t>→ 处理 </a:t>
            </a:r>
            <a:r>
              <a:rPr lang="zh-CN" altLang="en-US" kern="100" dirty="0"/>
              <a:t>→ </a:t>
            </a:r>
            <a:r>
              <a:rPr lang="zh-CN" altLang="en-US" sz="2400" kern="100" dirty="0">
                <a:latin typeface="微软雅黑" pitchFamily="34" charset="-122"/>
                <a:ea typeface="微软雅黑" pitchFamily="34" charset="-122"/>
              </a:rPr>
              <a:t>信息 </a:t>
            </a:r>
            <a:r>
              <a:rPr lang="zh-CN" altLang="en-US" kern="100" dirty="0"/>
              <a:t>→ 分析</a:t>
            </a:r>
            <a:r>
              <a:rPr lang="en-US" altLang="zh-CN" kern="100" dirty="0"/>
              <a:t>/</a:t>
            </a:r>
            <a:r>
              <a:rPr lang="zh-CN" altLang="en-US" kern="100" dirty="0"/>
              <a:t>决策</a:t>
            </a:r>
            <a:endParaRPr lang="en-US" altLang="zh-CN" sz="2400" kern="100" dirty="0">
              <a:latin typeface="微软雅黑" pitchFamily="34" charset="-122"/>
              <a:ea typeface="微软雅黑" pitchFamily="34" charset="-122"/>
            </a:endParaRPr>
          </a:p>
          <a:p>
            <a:pPr marL="0" lvl="0" indent="0">
              <a:lnSpc>
                <a:spcPts val="3600"/>
              </a:lnSpc>
              <a:spcBef>
                <a:spcPts val="0"/>
              </a:spcBef>
              <a:buNone/>
            </a:pPr>
            <a:r>
              <a:rPr lang="en-US" altLang="zh-CN" kern="100" dirty="0"/>
              <a:t>    </a:t>
            </a:r>
            <a:r>
              <a:rPr lang="zh-CN" altLang="en-US" sz="24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数据库技术 </a:t>
            </a:r>
            <a:r>
              <a:rPr lang="zh-CN" altLang="en-US" sz="2400" kern="100" dirty="0">
                <a:latin typeface="微软雅黑" pitchFamily="34" charset="-122"/>
                <a:ea typeface="微软雅黑" pitchFamily="34" charset="-122"/>
              </a:rPr>
              <a:t>→ </a:t>
            </a:r>
            <a:r>
              <a:rPr lang="zh-CN" altLang="en-US" sz="2400" i="0" u="none" strike="noStrike" kern="100" baseline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数据管理最有效的手段</a:t>
            </a:r>
            <a:r>
              <a:rPr lang="zh-CN" altLang="en-US" sz="2400" i="0" u="none" strike="noStrike" kern="100" baseline="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i="0" u="none" strike="noStrike" kern="100" baseline="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en-US" altLang="zh-CN" sz="2400" kern="100" dirty="0">
                <a:latin typeface="微软雅黑" pitchFamily="34" charset="-122"/>
                <a:ea typeface="微软雅黑" pitchFamily="34" charset="-122"/>
              </a:rPr>
              <a:t>1.1  </a:t>
            </a:r>
            <a:r>
              <a:rPr lang="zh-CN" altLang="zh-CN" sz="2400" kern="100" dirty="0"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zh-CN" altLang="en-US" kern="100" dirty="0"/>
              <a:t>实例</a:t>
            </a:r>
            <a:endParaRPr lang="en-US" altLang="zh-CN" kern="100" dirty="0"/>
          </a:p>
          <a:p>
            <a:pPr marL="0" indent="0">
              <a:buNone/>
            </a:pPr>
            <a:r>
              <a:rPr lang="en-US" altLang="zh-CN" sz="2800" kern="100" dirty="0"/>
              <a:t>    </a:t>
            </a:r>
            <a:r>
              <a:rPr lang="zh-CN" altLang="en-US" sz="2200" kern="100" dirty="0">
                <a:solidFill>
                  <a:srgbClr val="0000FF"/>
                </a:solidFill>
              </a:rPr>
              <a:t>学生选课数</a:t>
            </a:r>
            <a:r>
              <a:rPr lang="zh-CN" altLang="zh-CN" sz="2200" kern="100" dirty="0">
                <a:solidFill>
                  <a:srgbClr val="0000FF"/>
                </a:solidFill>
              </a:rPr>
              <a:t>据库</a:t>
            </a:r>
            <a:r>
              <a:rPr lang="en-US" altLang="zh-CN" sz="2200" kern="100" dirty="0">
                <a:solidFill>
                  <a:srgbClr val="0000FF"/>
                </a:solidFill>
              </a:rPr>
              <a:t> / </a:t>
            </a:r>
            <a:r>
              <a:rPr lang="zh-CN" altLang="en-US" sz="2200" kern="100" dirty="0">
                <a:solidFill>
                  <a:srgbClr val="0000FF"/>
                </a:solidFill>
              </a:rPr>
              <a:t>网上书店</a:t>
            </a:r>
            <a:r>
              <a:rPr lang="zh-CN" altLang="zh-CN" sz="2200" kern="100" dirty="0">
                <a:solidFill>
                  <a:srgbClr val="0000FF"/>
                </a:solidFill>
              </a:rPr>
              <a:t>数据库</a:t>
            </a:r>
          </a:p>
          <a:p>
            <a:pPr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en-US" altLang="zh-CN" sz="2400" kern="100" dirty="0">
                <a:latin typeface="微软雅黑" pitchFamily="34" charset="-122"/>
                <a:ea typeface="微软雅黑" pitchFamily="34" charset="-122"/>
              </a:rPr>
              <a:t>1.2  </a:t>
            </a:r>
            <a:r>
              <a:rPr lang="zh-CN" altLang="zh-CN" sz="2400" kern="100" dirty="0">
                <a:latin typeface="微软雅黑" pitchFamily="34" charset="-122"/>
                <a:ea typeface="微软雅黑" pitchFamily="34" charset="-122"/>
              </a:rPr>
              <a:t>基本知识</a:t>
            </a:r>
          </a:p>
          <a:p>
            <a:pPr marL="0" indent="0">
              <a:lnSpc>
                <a:spcPts val="3600"/>
              </a:lnSpc>
              <a:spcBef>
                <a:spcPts val="0"/>
              </a:spcBef>
              <a:buNone/>
            </a:pPr>
            <a:r>
              <a:rPr lang="en-US" altLang="zh-CN" sz="2400" kern="1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en-US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/ </a:t>
            </a:r>
            <a:r>
              <a:rPr lang="zh-CN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en-US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/ </a:t>
            </a:r>
            <a:r>
              <a:rPr lang="zh-CN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数据库管理系统</a:t>
            </a:r>
            <a:r>
              <a:rPr lang="en-US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/ </a:t>
            </a:r>
            <a:r>
              <a:rPr lang="zh-CN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数据库系统</a:t>
            </a:r>
            <a:r>
              <a:rPr lang="en-US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/ </a:t>
            </a:r>
            <a:r>
              <a:rPr lang="zh-CN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数据管理技术</a:t>
            </a:r>
          </a:p>
          <a:p>
            <a:pPr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en-US" altLang="zh-CN" sz="24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1.3  </a:t>
            </a:r>
            <a:r>
              <a:rPr lang="zh-CN" altLang="zh-CN" sz="24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数据模型</a:t>
            </a:r>
          </a:p>
          <a:p>
            <a:pPr marL="0" indent="0">
              <a:lnSpc>
                <a:spcPts val="3600"/>
              </a:lnSpc>
              <a:spcBef>
                <a:spcPts val="0"/>
              </a:spcBef>
              <a:buNone/>
            </a:pPr>
            <a:r>
              <a:rPr lang="en-US" altLang="zh-CN" sz="2400" kern="1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概念</a:t>
            </a:r>
            <a:r>
              <a:rPr lang="en-US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/ </a:t>
            </a:r>
            <a:r>
              <a:rPr lang="zh-CN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组成要素</a:t>
            </a:r>
            <a:r>
              <a:rPr lang="en-US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/ </a:t>
            </a:r>
            <a:r>
              <a:rPr lang="zh-CN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分类</a:t>
            </a:r>
          </a:p>
          <a:p>
            <a:pPr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en-US" altLang="zh-CN" sz="2400" kern="100" dirty="0">
                <a:latin typeface="微软雅黑" pitchFamily="34" charset="-122"/>
                <a:ea typeface="微软雅黑" pitchFamily="34" charset="-122"/>
              </a:rPr>
              <a:t>1.4  </a:t>
            </a:r>
            <a:r>
              <a:rPr lang="zh-CN" altLang="zh-CN" sz="2400" kern="100" dirty="0">
                <a:latin typeface="微软雅黑" pitchFamily="34" charset="-122"/>
                <a:ea typeface="微软雅黑" pitchFamily="34" charset="-122"/>
              </a:rPr>
              <a:t>数据库系统的结构</a:t>
            </a:r>
          </a:p>
          <a:p>
            <a:pPr marL="0" indent="0">
              <a:lnSpc>
                <a:spcPts val="3600"/>
              </a:lnSpc>
              <a:spcBef>
                <a:spcPts val="0"/>
              </a:spcBef>
              <a:buNone/>
            </a:pPr>
            <a:r>
              <a:rPr lang="en-US" altLang="zh-CN" sz="2400" kern="1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模式结构</a:t>
            </a:r>
            <a:r>
              <a:rPr lang="en-US" altLang="zh-CN" sz="2200" kern="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200" kern="100" dirty="0"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zh-CN" sz="2200" kern="100" dirty="0">
                <a:latin typeface="微软雅黑" pitchFamily="34" charset="-122"/>
                <a:ea typeface="微软雅黑" pitchFamily="34" charset="-122"/>
              </a:rPr>
              <a:t>体系结构</a:t>
            </a:r>
          </a:p>
          <a:p>
            <a:pPr marR="0" lvl="0" rtl="0"/>
            <a:endParaRPr lang="zh-CN" altLang="en-US" b="1" i="0" u="none" strike="noStrike" kern="100" baseline="0" dirty="0">
              <a:latin typeface="Times New Roman"/>
              <a:ea typeface="黑体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739B-3BEB-7147-9C8E-6E8EE70DA42E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104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2200" dirty="0"/>
              <a:t>1.1 </a:t>
            </a:r>
            <a:r>
              <a:rPr lang="zh-CN" altLang="en-US" kern="2200" dirty="0"/>
              <a:t> 数据库实例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76064"/>
          </a:xfrm>
        </p:spPr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1.1.1   </a:t>
            </a:r>
            <a:r>
              <a:rPr lang="zh-CN" altLang="zh-CN" dirty="0">
                <a:solidFill>
                  <a:srgbClr val="0000FF"/>
                </a:solidFill>
              </a:rPr>
              <a:t>学生选课数据库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1050-A8A9-1C48-B09C-3A8A243A8B95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996763"/>
              </p:ext>
            </p:extLst>
          </p:nvPr>
        </p:nvGraphicFramePr>
        <p:xfrm>
          <a:off x="611560" y="2276872"/>
          <a:ext cx="7920879" cy="396044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131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7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13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13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4982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学号</a:t>
                      </a: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SNo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SName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性别</a:t>
                      </a: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SSex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年龄</a:t>
                      </a: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SAge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电话</a:t>
                      </a: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SPhone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照片</a:t>
                      </a: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SPhoto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微信</a:t>
                      </a: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MInfo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65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S00001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西门庆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13666612316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Xn.jpg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Xn123456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6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S00002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潘金莲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女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13666612326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Pj.jpg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pj234567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6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S00003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武松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13666612336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Ws.jpg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Ws345678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6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S00004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武大郎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13666612346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Wd.jpg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Wd456789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11560" y="1729354"/>
            <a:ext cx="24482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57800" algn="l"/>
              </a:tabLs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表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1.1 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学生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Student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1751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2200" dirty="0"/>
              <a:t>1.1 </a:t>
            </a:r>
            <a:r>
              <a:rPr lang="zh-CN" altLang="en-US" kern="2200" dirty="0"/>
              <a:t> 数据库实例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76064"/>
          </a:xfrm>
        </p:spPr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1.1.1   </a:t>
            </a:r>
            <a:r>
              <a:rPr lang="zh-CN" altLang="zh-CN" dirty="0">
                <a:solidFill>
                  <a:srgbClr val="0000FF"/>
                </a:solidFill>
              </a:rPr>
              <a:t>学生选课数据库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AF295-666B-EF4B-808B-AEBE3D578C54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11560" y="1729355"/>
            <a:ext cx="24482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lvl="0"/>
            <a:r>
              <a:rPr lang="zh-CN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表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1.2 </a:t>
            </a:r>
            <a:r>
              <a:rPr lang="zh-CN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课程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Course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660949"/>
              </p:ext>
            </p:extLst>
          </p:nvPr>
        </p:nvGraphicFramePr>
        <p:xfrm>
          <a:off x="611560" y="2276872"/>
          <a:ext cx="7992886" cy="3528393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376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3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4318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课程号</a:t>
                      </a: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CNo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课程名</a:t>
                      </a: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CName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先修课</a:t>
                      </a: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CPNo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开课学期</a:t>
                      </a: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Seme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学时</a:t>
                      </a: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Peri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学分</a:t>
                      </a: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Cred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3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C001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高等数学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Null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C002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数据库原理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C003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C003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lang="zh-CN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C001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057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2200" dirty="0"/>
              <a:t>1.1 </a:t>
            </a:r>
            <a:r>
              <a:rPr lang="zh-CN" altLang="en-US" kern="2200" dirty="0"/>
              <a:t> 数据库实例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76064"/>
          </a:xfrm>
        </p:spPr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1.1.1   </a:t>
            </a:r>
            <a:r>
              <a:rPr lang="zh-CN" altLang="zh-CN" dirty="0">
                <a:solidFill>
                  <a:srgbClr val="0000FF"/>
                </a:solidFill>
              </a:rPr>
              <a:t>学生选课数据库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1871-B993-3D45-967F-54B3BB0F0002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11560" y="1729354"/>
            <a:ext cx="54726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lvl="0"/>
            <a:r>
              <a:rPr lang="zh-CN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表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1.3  </a:t>
            </a:r>
            <a:r>
              <a:rPr lang="zh-CN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选课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StudentCourse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049970"/>
              </p:ext>
            </p:extLst>
          </p:nvPr>
        </p:nvGraphicFramePr>
        <p:xfrm>
          <a:off x="539552" y="2348880"/>
          <a:ext cx="8208912" cy="3528392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399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1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11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74124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学号</a:t>
                      </a: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SNo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课程号</a:t>
                      </a: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CNo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成绩</a:t>
                      </a: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Grade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学号</a:t>
                      </a: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SNo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课程号</a:t>
                      </a: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CNo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成绩</a:t>
                      </a: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Grade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567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S00001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C001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S00002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C002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567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S00001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C002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S00003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C001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567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S00001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C003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S00003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C003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567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S00002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C001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S00004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C002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057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2200" dirty="0"/>
              <a:t>1.1 </a:t>
            </a:r>
            <a:r>
              <a:rPr lang="zh-CN" altLang="en-US" kern="2200" dirty="0"/>
              <a:t> 数据库实例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3528" y="1340768"/>
            <a:ext cx="8712968" cy="4968552"/>
          </a:xfrm>
        </p:spPr>
        <p:txBody>
          <a:bodyPr>
            <a:normAutofit/>
          </a:bodyPr>
          <a:lstStyle/>
          <a:p>
            <a:r>
              <a:rPr lang="en-US" altLang="zh-CN" kern="100" dirty="0">
                <a:solidFill>
                  <a:srgbClr val="0000FF"/>
                </a:solidFill>
              </a:rPr>
              <a:t>1.1.2  </a:t>
            </a:r>
            <a:r>
              <a:rPr lang="zh-CN" altLang="en-US" kern="100" dirty="0">
                <a:solidFill>
                  <a:srgbClr val="0000FF"/>
                </a:solidFill>
              </a:rPr>
              <a:t>电子书店</a:t>
            </a:r>
            <a:r>
              <a:rPr lang="en-US" altLang="zh-CN" kern="100" dirty="0">
                <a:solidFill>
                  <a:srgbClr val="0000FF"/>
                </a:solidFill>
              </a:rPr>
              <a:t>EBook</a:t>
            </a:r>
          </a:p>
          <a:p>
            <a:pPr marL="0" indent="0">
              <a:buNone/>
            </a:pPr>
            <a:r>
              <a:rPr lang="en-US" altLang="zh-CN" kern="100" dirty="0"/>
              <a:t>    </a:t>
            </a:r>
            <a:r>
              <a:rPr lang="zh-CN" altLang="en-US" kern="100" dirty="0">
                <a:solidFill>
                  <a:srgbClr val="0000FF"/>
                </a:solidFill>
              </a:rPr>
              <a:t>图书</a:t>
            </a:r>
            <a:r>
              <a:rPr lang="en-US" altLang="zh-CN" kern="100" dirty="0">
                <a:solidFill>
                  <a:srgbClr val="0000FF"/>
                </a:solidFill>
              </a:rPr>
              <a:t>Book / </a:t>
            </a:r>
            <a:r>
              <a:rPr lang="zh-CN" altLang="en-US" kern="100" dirty="0">
                <a:solidFill>
                  <a:srgbClr val="0000FF"/>
                </a:solidFill>
              </a:rPr>
              <a:t>客户</a:t>
            </a:r>
            <a:r>
              <a:rPr lang="en-US" altLang="zh-CN" kern="100" dirty="0" err="1">
                <a:solidFill>
                  <a:srgbClr val="0000FF"/>
                </a:solidFill>
              </a:rPr>
              <a:t>Cust</a:t>
            </a:r>
            <a:r>
              <a:rPr lang="en-US" altLang="zh-CN" kern="100" dirty="0">
                <a:solidFill>
                  <a:srgbClr val="0000FF"/>
                </a:solidFill>
              </a:rPr>
              <a:t> / </a:t>
            </a:r>
            <a:r>
              <a:rPr lang="zh-CN" altLang="en-US" kern="100" dirty="0">
                <a:solidFill>
                  <a:srgbClr val="0000FF"/>
                </a:solidFill>
              </a:rPr>
              <a:t>出版社</a:t>
            </a:r>
            <a:r>
              <a:rPr lang="en-US" altLang="zh-CN" kern="100" dirty="0">
                <a:solidFill>
                  <a:srgbClr val="0000FF"/>
                </a:solidFill>
              </a:rPr>
              <a:t>Press / </a:t>
            </a:r>
            <a:r>
              <a:rPr lang="zh-CN" altLang="en-US" kern="100" dirty="0">
                <a:solidFill>
                  <a:srgbClr val="0000FF"/>
                </a:solidFill>
              </a:rPr>
              <a:t>购买</a:t>
            </a:r>
            <a:r>
              <a:rPr lang="en-US" altLang="zh-CN" kern="100" dirty="0">
                <a:solidFill>
                  <a:srgbClr val="0000FF"/>
                </a:solidFill>
              </a:rPr>
              <a:t>Buy</a:t>
            </a:r>
          </a:p>
          <a:p>
            <a:pPr marL="342900" lvl="1" indent="-342900">
              <a:buFont typeface="Wingdings" pitchFamily="2" charset="2"/>
              <a:buChar char="n"/>
            </a:pPr>
            <a:r>
              <a:rPr lang="zh-CN" altLang="en-US" kern="100" dirty="0"/>
              <a:t>图书（书号，书名，作者，社号，版次，定价，进价，售价）</a:t>
            </a:r>
            <a:endParaRPr lang="en-US" altLang="zh-CN" kern="100" dirty="0"/>
          </a:p>
          <a:p>
            <a:pPr marL="400050" lvl="2" indent="0">
              <a:buNone/>
            </a:pPr>
            <a:r>
              <a:rPr lang="en-US" altLang="zh-CN" sz="1800" kern="100" dirty="0">
                <a:solidFill>
                  <a:srgbClr val="0000FF"/>
                </a:solidFill>
              </a:rPr>
              <a:t>Book</a:t>
            </a:r>
            <a:r>
              <a:rPr lang="zh-CN" altLang="en-US" sz="1800" kern="100" dirty="0">
                <a:solidFill>
                  <a:srgbClr val="0000FF"/>
                </a:solidFill>
              </a:rPr>
              <a:t>（</a:t>
            </a:r>
            <a:r>
              <a:rPr lang="en-US" altLang="zh-CN" sz="1800" kern="100" dirty="0" err="1">
                <a:solidFill>
                  <a:srgbClr val="0000FF"/>
                </a:solidFill>
              </a:rPr>
              <a:t>BNo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 err="1">
                <a:solidFill>
                  <a:srgbClr val="0000FF"/>
                </a:solidFill>
              </a:rPr>
              <a:t>BName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>
                <a:solidFill>
                  <a:srgbClr val="0000FF"/>
                </a:solidFill>
              </a:rPr>
              <a:t>Author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 err="1">
                <a:solidFill>
                  <a:srgbClr val="0000FF"/>
                </a:solidFill>
              </a:rPr>
              <a:t>PNo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 err="1">
                <a:solidFill>
                  <a:srgbClr val="0000FF"/>
                </a:solidFill>
              </a:rPr>
              <a:t>EditNo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>
                <a:solidFill>
                  <a:srgbClr val="0000FF"/>
                </a:solidFill>
              </a:rPr>
              <a:t>Price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 err="1">
                <a:solidFill>
                  <a:srgbClr val="0000FF"/>
                </a:solidFill>
              </a:rPr>
              <a:t>PPrice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 err="1">
                <a:solidFill>
                  <a:srgbClr val="0000FF"/>
                </a:solidFill>
              </a:rPr>
              <a:t>SPrice</a:t>
            </a:r>
            <a:r>
              <a:rPr lang="zh-CN" altLang="en-US" sz="1800" kern="100" dirty="0">
                <a:solidFill>
                  <a:srgbClr val="0000FF"/>
                </a:solidFill>
              </a:rPr>
              <a:t>）</a:t>
            </a:r>
          </a:p>
          <a:p>
            <a:r>
              <a:rPr lang="zh-CN" altLang="en-US" kern="100" dirty="0"/>
              <a:t>客户（户号，户名，性别，生日，电话，婚否，照片，邮箱）</a:t>
            </a:r>
            <a:endParaRPr lang="en-US" altLang="zh-CN" kern="100" dirty="0"/>
          </a:p>
          <a:p>
            <a:pPr marL="457200" lvl="1" indent="0">
              <a:buNone/>
            </a:pPr>
            <a:r>
              <a:rPr lang="en-US" altLang="zh-CN" sz="1800" kern="100" dirty="0" err="1">
                <a:solidFill>
                  <a:srgbClr val="0000FF"/>
                </a:solidFill>
              </a:rPr>
              <a:t>Cust</a:t>
            </a:r>
            <a:r>
              <a:rPr lang="zh-CN" altLang="en-US" sz="1800" kern="100" dirty="0">
                <a:solidFill>
                  <a:srgbClr val="0000FF"/>
                </a:solidFill>
              </a:rPr>
              <a:t>（</a:t>
            </a:r>
            <a:r>
              <a:rPr lang="en-US" altLang="zh-CN" sz="1800" kern="100" dirty="0" err="1">
                <a:solidFill>
                  <a:srgbClr val="0000FF"/>
                </a:solidFill>
              </a:rPr>
              <a:t>CNo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 err="1">
                <a:solidFill>
                  <a:srgbClr val="0000FF"/>
                </a:solidFill>
              </a:rPr>
              <a:t>CName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 err="1">
                <a:solidFill>
                  <a:srgbClr val="0000FF"/>
                </a:solidFill>
              </a:rPr>
              <a:t>CSex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>
                <a:solidFill>
                  <a:srgbClr val="0000FF"/>
                </a:solidFill>
              </a:rPr>
              <a:t>Birth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>
                <a:solidFill>
                  <a:srgbClr val="0000FF"/>
                </a:solidFill>
              </a:rPr>
              <a:t>Phone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>
                <a:solidFill>
                  <a:srgbClr val="0000FF"/>
                </a:solidFill>
              </a:rPr>
              <a:t>Marry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>
                <a:solidFill>
                  <a:srgbClr val="0000FF"/>
                </a:solidFill>
              </a:rPr>
              <a:t>Photo</a:t>
            </a:r>
            <a:r>
              <a:rPr lang="zh-CN" altLang="en-US" sz="1800" kern="100" dirty="0">
                <a:solidFill>
                  <a:srgbClr val="0000FF"/>
                </a:solidFill>
              </a:rPr>
              <a:t>，</a:t>
            </a:r>
            <a:r>
              <a:rPr lang="en-US" altLang="zh-CN" sz="1800" kern="100" dirty="0">
                <a:solidFill>
                  <a:srgbClr val="0000FF"/>
                </a:solidFill>
              </a:rPr>
              <a:t>Email</a:t>
            </a:r>
            <a:r>
              <a:rPr lang="zh-CN" altLang="en-US" sz="1800" kern="100" dirty="0">
                <a:solidFill>
                  <a:srgbClr val="0000FF"/>
                </a:solidFill>
              </a:rPr>
              <a:t>）</a:t>
            </a:r>
            <a:endParaRPr lang="en-US" altLang="zh-CN" sz="1800" dirty="0">
              <a:solidFill>
                <a:srgbClr val="0000FF"/>
              </a:solidFill>
            </a:endParaRPr>
          </a:p>
          <a:p>
            <a:r>
              <a:rPr lang="zh-CN" altLang="en-US" kern="100" dirty="0"/>
              <a:t>出版社（社号，社名，邮编，社址，电话，邮箱，网址）</a:t>
            </a:r>
            <a:endParaRPr lang="en-US" altLang="zh-CN" kern="100" dirty="0"/>
          </a:p>
          <a:p>
            <a:pPr marL="457200" lvl="1" indent="0">
              <a:buNone/>
            </a:pPr>
            <a:r>
              <a:rPr lang="en-US" altLang="zh-CN" sz="2000" kern="100" dirty="0">
                <a:solidFill>
                  <a:srgbClr val="0000FF"/>
                </a:solidFill>
              </a:rPr>
              <a:t>Press</a:t>
            </a:r>
            <a:r>
              <a:rPr lang="zh-CN" altLang="en-US" sz="2000" kern="100" dirty="0">
                <a:solidFill>
                  <a:srgbClr val="0000FF"/>
                </a:solidFill>
              </a:rPr>
              <a:t>（</a:t>
            </a:r>
            <a:r>
              <a:rPr lang="en-US" altLang="zh-CN" sz="2000" kern="100" dirty="0" err="1">
                <a:solidFill>
                  <a:srgbClr val="0000FF"/>
                </a:solidFill>
              </a:rPr>
              <a:t>PNo</a:t>
            </a:r>
            <a:r>
              <a:rPr lang="zh-CN" altLang="en-US" sz="2000" kern="100" dirty="0">
                <a:solidFill>
                  <a:srgbClr val="0000FF"/>
                </a:solidFill>
              </a:rPr>
              <a:t>，</a:t>
            </a:r>
            <a:r>
              <a:rPr lang="en-US" altLang="zh-CN" sz="2000" kern="100" dirty="0" err="1">
                <a:solidFill>
                  <a:srgbClr val="0000FF"/>
                </a:solidFill>
              </a:rPr>
              <a:t>PName</a:t>
            </a:r>
            <a:r>
              <a:rPr lang="zh-CN" altLang="en-US" sz="2000" kern="100" dirty="0">
                <a:solidFill>
                  <a:srgbClr val="0000FF"/>
                </a:solidFill>
              </a:rPr>
              <a:t>，</a:t>
            </a:r>
            <a:r>
              <a:rPr lang="en-US" altLang="zh-CN" sz="2000" kern="100" dirty="0" err="1">
                <a:solidFill>
                  <a:srgbClr val="0000FF"/>
                </a:solidFill>
              </a:rPr>
              <a:t>PCode</a:t>
            </a:r>
            <a:r>
              <a:rPr lang="zh-CN" altLang="en-US" sz="2000" kern="100" dirty="0">
                <a:solidFill>
                  <a:srgbClr val="0000FF"/>
                </a:solidFill>
              </a:rPr>
              <a:t>，</a:t>
            </a:r>
            <a:r>
              <a:rPr lang="en-US" altLang="zh-CN" sz="2000" kern="100" dirty="0" err="1">
                <a:solidFill>
                  <a:srgbClr val="0000FF"/>
                </a:solidFill>
              </a:rPr>
              <a:t>PAddr</a:t>
            </a:r>
            <a:r>
              <a:rPr lang="zh-CN" altLang="en-US" sz="2000" kern="100" dirty="0">
                <a:solidFill>
                  <a:srgbClr val="0000FF"/>
                </a:solidFill>
              </a:rPr>
              <a:t>，</a:t>
            </a:r>
            <a:r>
              <a:rPr lang="en-US" altLang="zh-CN" sz="2000" kern="100" dirty="0">
                <a:solidFill>
                  <a:srgbClr val="0000FF"/>
                </a:solidFill>
              </a:rPr>
              <a:t>Phone</a:t>
            </a:r>
            <a:r>
              <a:rPr lang="zh-CN" altLang="en-US" sz="2000" kern="100" dirty="0">
                <a:solidFill>
                  <a:srgbClr val="0000FF"/>
                </a:solidFill>
              </a:rPr>
              <a:t>，</a:t>
            </a:r>
            <a:r>
              <a:rPr lang="en-US" altLang="zh-CN" sz="2000" kern="100" dirty="0">
                <a:solidFill>
                  <a:srgbClr val="0000FF"/>
                </a:solidFill>
              </a:rPr>
              <a:t>Email</a:t>
            </a:r>
            <a:r>
              <a:rPr lang="zh-CN" altLang="en-US" sz="2000" kern="100" dirty="0">
                <a:solidFill>
                  <a:srgbClr val="0000FF"/>
                </a:solidFill>
              </a:rPr>
              <a:t>，</a:t>
            </a:r>
            <a:r>
              <a:rPr lang="en-US" altLang="zh-CN" sz="2000" kern="100" dirty="0" err="1">
                <a:solidFill>
                  <a:srgbClr val="0000FF"/>
                </a:solidFill>
              </a:rPr>
              <a:t>HPage</a:t>
            </a:r>
            <a:r>
              <a:rPr lang="zh-CN" altLang="en-US" sz="2000" kern="100" dirty="0">
                <a:solidFill>
                  <a:srgbClr val="0000FF"/>
                </a:solidFill>
              </a:rPr>
              <a:t>）</a:t>
            </a:r>
            <a:endParaRPr lang="en-US" altLang="zh-CN" sz="2000" dirty="0">
              <a:solidFill>
                <a:srgbClr val="0000FF"/>
              </a:solidFill>
            </a:endParaRPr>
          </a:p>
          <a:p>
            <a:r>
              <a:rPr lang="zh-CN" altLang="en-US" kern="100" dirty="0"/>
              <a:t>购买（户号，书号，购买日期）</a:t>
            </a:r>
            <a:endParaRPr lang="en-US" altLang="zh-CN" kern="100" dirty="0"/>
          </a:p>
          <a:p>
            <a:pPr marL="457200" lvl="1" indent="0">
              <a:buNone/>
            </a:pPr>
            <a:r>
              <a:rPr lang="en-US" altLang="zh-CN" kern="100" dirty="0">
                <a:solidFill>
                  <a:srgbClr val="0000FF"/>
                </a:solidFill>
              </a:rPr>
              <a:t>Buy</a:t>
            </a:r>
            <a:r>
              <a:rPr lang="zh-CN" altLang="en-US" kern="100" dirty="0">
                <a:solidFill>
                  <a:srgbClr val="0000FF"/>
                </a:solidFill>
              </a:rPr>
              <a:t>（</a:t>
            </a:r>
            <a:r>
              <a:rPr lang="en-US" altLang="zh-CN" kern="100" dirty="0" err="1">
                <a:solidFill>
                  <a:srgbClr val="0000FF"/>
                </a:solidFill>
              </a:rPr>
              <a:t>CNo</a:t>
            </a:r>
            <a:r>
              <a:rPr lang="zh-CN" altLang="en-US" kern="100" dirty="0">
                <a:solidFill>
                  <a:srgbClr val="0000FF"/>
                </a:solidFill>
              </a:rPr>
              <a:t>，</a:t>
            </a:r>
            <a:r>
              <a:rPr lang="en-US" altLang="zh-CN" kern="100" dirty="0" err="1">
                <a:solidFill>
                  <a:srgbClr val="0000FF"/>
                </a:solidFill>
              </a:rPr>
              <a:t>BNo</a:t>
            </a:r>
            <a:r>
              <a:rPr lang="zh-CN" altLang="en-US" kern="100" dirty="0">
                <a:solidFill>
                  <a:srgbClr val="0000FF"/>
                </a:solidFill>
              </a:rPr>
              <a:t>，</a:t>
            </a:r>
            <a:r>
              <a:rPr lang="en-US" altLang="zh-CN" kern="100" dirty="0" err="1">
                <a:solidFill>
                  <a:srgbClr val="0000FF"/>
                </a:solidFill>
              </a:rPr>
              <a:t>PDate</a:t>
            </a:r>
            <a:r>
              <a:rPr lang="zh-CN" altLang="en-US" kern="100" dirty="0">
                <a:solidFill>
                  <a:srgbClr val="0000FF"/>
                </a:solidFill>
              </a:rPr>
              <a:t>）</a:t>
            </a:r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E644-1ADF-E646-8120-083171252E77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5561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922114"/>
          </a:xfrm>
        </p:spPr>
        <p:txBody>
          <a:bodyPr/>
          <a:lstStyle/>
          <a:p>
            <a:r>
              <a:rPr lang="zh-CN" altLang="zh-CN" dirty="0">
                <a:solidFill>
                  <a:srgbClr val="0000FF"/>
                </a:solidFill>
              </a:rPr>
              <a:t>图书</a:t>
            </a:r>
            <a:r>
              <a:rPr lang="en-US" altLang="zh-CN" dirty="0">
                <a:solidFill>
                  <a:srgbClr val="0000FF"/>
                </a:solidFill>
              </a:rPr>
              <a:t>Book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535483"/>
              </p:ext>
            </p:extLst>
          </p:nvPr>
        </p:nvGraphicFramePr>
        <p:xfrm>
          <a:off x="251520" y="1196752"/>
          <a:ext cx="8712968" cy="4824537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2105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3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3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5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37729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书号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BNo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书名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BName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作者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Author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社号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PNo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版次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EditNo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定价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Price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进价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PPrice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售价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SPrice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46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ISBN978-7-04-040664-1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数据库系统概论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王珊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ISBN978-7-04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39.6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25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46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ISBN978-7-302-33894-9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Java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程序设计教程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雍俊海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ISBN978-7-302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69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26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36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46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ISBN978-7-5612-2591-2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图像技术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韩培友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ISBN978-7-5612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36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46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ISBN978-7-5612-2123-1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IDL</a:t>
                      </a: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可视化分析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韩培友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ISBN978-7-5612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45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46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ISBN978-7-5178-0167-2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Access</a:t>
                      </a: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数据库应用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韩培友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ISBN978-7-81140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39.8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46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ISBN978-7-81140-582-8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MySQL</a:t>
                      </a: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实验指导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韩培友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ISBN978-7-81140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25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15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3EF07-70EF-F245-929F-196A8A7F43CD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1868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19256" cy="706090"/>
          </a:xfrm>
        </p:spPr>
        <p:txBody>
          <a:bodyPr/>
          <a:lstStyle/>
          <a:p>
            <a:r>
              <a:rPr lang="zh-CN" altLang="zh-CN" dirty="0">
                <a:solidFill>
                  <a:srgbClr val="0000FF"/>
                </a:solidFill>
              </a:rPr>
              <a:t>客户</a:t>
            </a:r>
            <a:r>
              <a:rPr lang="en-US" altLang="zh-CN" dirty="0" err="1">
                <a:solidFill>
                  <a:srgbClr val="0000FF"/>
                </a:solidFill>
              </a:rPr>
              <a:t>Cust</a:t>
            </a:r>
            <a:endParaRPr lang="zh-CN" altLang="en-US" b="0" i="0" u="none" strike="noStrike" baseline="0" dirty="0">
              <a:solidFill>
                <a:srgbClr val="0000FF"/>
              </a:solidFill>
              <a:latin typeface="Times New Roman"/>
              <a:ea typeface="宋体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533974"/>
              </p:ext>
            </p:extLst>
          </p:nvPr>
        </p:nvGraphicFramePr>
        <p:xfrm>
          <a:off x="179512" y="1268760"/>
          <a:ext cx="8784976" cy="4752525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48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5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95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7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9934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户号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CNo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户名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CName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性别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CSex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生日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Birth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电话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Phone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婚否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Marry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照片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Photo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邮箱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EMail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58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C001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郭靖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1966-06-01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13611122233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是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二进制数据</a:t>
                      </a: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Hu.Jpg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123450@qq.com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52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黄药师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1979-09-10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13911122233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是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NULL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543210@qq.com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52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C003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黄蓉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女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1988-10-06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13622233355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是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NULL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122220@qq.com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52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C004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洪七公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1999-06-16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13922233355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否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NULL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222220@qq.com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52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C005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梅超风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女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2002-07-11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13655566699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否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NULL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345220@qq.com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52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C006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梅超风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女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2006-08-08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13955566699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否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NULL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562220@qq.com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09DDA-68BA-3847-BF1C-63244707BB7D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8886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19256" cy="706090"/>
          </a:xfrm>
        </p:spPr>
        <p:txBody>
          <a:bodyPr/>
          <a:lstStyle/>
          <a:p>
            <a:r>
              <a:rPr lang="zh-CN" altLang="zh-CN" dirty="0">
                <a:solidFill>
                  <a:srgbClr val="0000FF"/>
                </a:solidFill>
              </a:rPr>
              <a:t>购买</a:t>
            </a:r>
            <a:r>
              <a:rPr lang="en-US" altLang="zh-CN" dirty="0">
                <a:solidFill>
                  <a:srgbClr val="0000FF"/>
                </a:solidFill>
              </a:rPr>
              <a:t>Buy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878776"/>
              </p:ext>
            </p:extLst>
          </p:nvPr>
        </p:nvGraphicFramePr>
        <p:xfrm>
          <a:off x="251520" y="1484784"/>
          <a:ext cx="8640960" cy="424847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836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0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6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76044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户号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CNo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书号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BNo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购买日期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PDate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 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户号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CNo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书号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BNo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购买日期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PDate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7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C001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ISBN978-7-04-040664-1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2014-10-26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 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ISBN978-7-04-040664-1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2014-11-22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7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C001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ISBN978-7-302-33894-9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2014-06-16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 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C002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ISBN978-7-302-33894-9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2014-08-12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7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C001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ISBN978-7-5612-2591-2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2010-01-12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 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C003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ISBN978-7-5612-2591-2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2011-11-13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7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C001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ISBN978-7-5612-2123-1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2006-12-01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 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C005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ISBN978-7-5612-2123-1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2008-10-09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7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C001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ISBN978-7-5178-0167-2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2014-03-19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 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C006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ISBN978-7-5178-0167-2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2015-06-18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07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C001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ISBN978-7-81140-582-8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2012-09-15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 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C006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ISBN978-7-81140-582-8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2013-10-17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09EB-5EC0-AE4E-9582-6980F3490164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8035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0000FF"/>
                </a:solidFill>
              </a:rPr>
              <a:t>出版社</a:t>
            </a:r>
            <a:r>
              <a:rPr lang="en-US" altLang="zh-CN" dirty="0">
                <a:solidFill>
                  <a:srgbClr val="0000FF"/>
                </a:solidFill>
              </a:rPr>
              <a:t>Press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153696"/>
              </p:ext>
            </p:extLst>
          </p:nvPr>
        </p:nvGraphicFramePr>
        <p:xfrm>
          <a:off x="107504" y="1124744"/>
          <a:ext cx="8856984" cy="4968554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362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5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3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22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8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4209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社号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PNo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社名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PName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邮编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PCode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社址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PAddr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电话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Phone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邮箱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EMail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网址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HPage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86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ISBN978-7-04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高等教育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出版社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100120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北京市西城区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德外大街</a:t>
                      </a: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010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58581118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Gjdzfwb</a:t>
                      </a:r>
                      <a:endParaRPr lang="en-US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@pub.hep.cn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www.hep.edu.cn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86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ISBN978-7-302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清华大学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出版社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100084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清华大学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学研大厦</a:t>
                      </a: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座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010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62781733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e-sale</a:t>
                      </a: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@tup.tsinghua.edu.cn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www.tup.tsinghua.</a:t>
                      </a: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edu.cn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86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ISBN978-7-115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人民邮电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出版社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100164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北京市丰台区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成寿寺路</a:t>
                      </a: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11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010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81055075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Youdianhr</a:t>
                      </a:r>
                      <a:endParaRPr lang="en-US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@gmail.com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www.ptpress.com.cn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86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ISBN978-7-5612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西北工业大学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出版社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710072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西安市友谊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西路</a:t>
                      </a: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127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029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88493844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Fxb</a:t>
                      </a:r>
                      <a:endParaRPr lang="en-US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@nwpup.com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www.nwpup.com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86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ISBN978-7-81140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浙江工商大学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出版社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310012</a:t>
                      </a:r>
                      <a:endParaRPr lang="zh-CN" sz="1200" kern="1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杭州市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教工路</a:t>
                      </a: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198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0571</a:t>
                      </a:r>
                      <a:r>
                        <a:rPr lang="zh-CN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endParaRPr lang="en-US" alt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88823703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61627291</a:t>
                      </a: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@qq.com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www.zjgsupress.com</a:t>
                      </a:r>
                      <a:endParaRPr lang="zh-CN" sz="1200" kern="1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09-D94D-F24C-8995-011AA79056AF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1479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052736"/>
            <a:ext cx="8229600" cy="4680520"/>
          </a:xfrm>
        </p:spPr>
        <p:txBody>
          <a:bodyPr>
            <a:normAutofit fontScale="92500"/>
          </a:bodyPr>
          <a:lstStyle/>
          <a:p>
            <a:r>
              <a:rPr lang="zh-CN" altLang="zh-CN" dirty="0">
                <a:solidFill>
                  <a:srgbClr val="0000FF"/>
                </a:solidFill>
              </a:rPr>
              <a:t>电子书店数据库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zh-CN" dirty="0"/>
              <a:t>四张表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一张表是否可行？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数据只能以表的形式存储吗？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是否存在规范的数据结构来组织数据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zh-CN" dirty="0">
                <a:solidFill>
                  <a:srgbClr val="0000FF"/>
                </a:solidFill>
              </a:rPr>
              <a:t>思考：</a:t>
            </a:r>
            <a:r>
              <a:rPr lang="zh-CN" altLang="zh-CN" dirty="0"/>
              <a:t>使用四张表优于使用一张表？请从多方面进行分析</a:t>
            </a:r>
          </a:p>
          <a:p>
            <a:pPr lvl="0"/>
            <a:r>
              <a:rPr lang="zh-CN" altLang="zh-CN" dirty="0">
                <a:solidFill>
                  <a:srgbClr val="0000FF"/>
                </a:solidFill>
              </a:rPr>
              <a:t>提示：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lv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</a:t>
            </a:r>
            <a:r>
              <a:rPr lang="zh-CN" altLang="en-US" dirty="0"/>
              <a:t>从</a:t>
            </a:r>
            <a:r>
              <a:rPr lang="zh-CN" altLang="zh-CN" dirty="0"/>
              <a:t>数据冗余、插入异常、修改异常</a:t>
            </a:r>
            <a:r>
              <a:rPr lang="zh-CN" altLang="en-US" dirty="0"/>
              <a:t>、</a:t>
            </a:r>
            <a:r>
              <a:rPr lang="zh-CN" altLang="zh-CN" dirty="0"/>
              <a:t>删除异常等方面分析</a:t>
            </a:r>
          </a:p>
          <a:p>
            <a:r>
              <a:rPr lang="zh-CN" altLang="zh-CN" dirty="0">
                <a:solidFill>
                  <a:srgbClr val="0000FF"/>
                </a:solidFill>
              </a:rPr>
              <a:t>结论：</a:t>
            </a:r>
            <a:r>
              <a:rPr lang="zh-CN" altLang="zh-CN" dirty="0"/>
              <a:t>对于实际应用，设计数据库中表的个数，规范每个表的属性个数以及每个属性的特征要求、约束条件和依赖关系等，最终实现安全稳定合理的数据库系统。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83701" y="5842259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数据库技术会给出正确答案</a:t>
            </a:r>
            <a:r>
              <a:rPr lang="zh-CN" altLang="en-US" sz="2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！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F84B-F4BA-7D4D-BCAE-4EB8FE7B32D4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89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2200" dirty="0"/>
              <a:t>1.2  </a:t>
            </a:r>
            <a:r>
              <a:rPr lang="zh-CN" altLang="en-US" dirty="0"/>
              <a:t>数据库技术</a:t>
            </a:r>
            <a:r>
              <a:rPr lang="zh-CN" altLang="en-US" kern="2200" dirty="0"/>
              <a:t>基本知识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5536" y="1412776"/>
            <a:ext cx="8568952" cy="482453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对象：</a:t>
            </a:r>
            <a:r>
              <a:rPr lang="zh-CN" altLang="en-US" dirty="0"/>
              <a:t>数据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内容：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363538" indent="-363538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</a:t>
            </a:r>
            <a:r>
              <a:rPr lang="zh-CN" altLang="en-US" dirty="0"/>
              <a:t>通过对数据的统一组织和管理，按照指定的数据结构建  立相应的数据库；利用数据库管理系统实现对数据库的数据进行添加、修改、删除、查询、计算和报表等多功能的应用系统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目的：</a:t>
            </a:r>
            <a:r>
              <a:rPr lang="zh-CN" altLang="en-US" dirty="0"/>
              <a:t>利用数据库系统实现对数据的处理和分析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概念：</a:t>
            </a:r>
            <a:r>
              <a:rPr lang="zh-CN" altLang="zh-CN" kern="100" dirty="0">
                <a:solidFill>
                  <a:srgbClr val="0000FF"/>
                </a:solidFill>
              </a:rPr>
              <a:t>数据</a:t>
            </a:r>
            <a:r>
              <a:rPr lang="en-US" altLang="zh-CN" kern="100" dirty="0">
                <a:solidFill>
                  <a:srgbClr val="0000FF"/>
                </a:solidFill>
              </a:rPr>
              <a:t> / </a:t>
            </a:r>
            <a:r>
              <a:rPr lang="zh-CN" altLang="zh-CN" kern="100" dirty="0">
                <a:solidFill>
                  <a:srgbClr val="0000FF"/>
                </a:solidFill>
              </a:rPr>
              <a:t>数据库</a:t>
            </a:r>
            <a:r>
              <a:rPr lang="en-US" altLang="zh-CN" kern="100" dirty="0">
                <a:solidFill>
                  <a:srgbClr val="0000FF"/>
                </a:solidFill>
              </a:rPr>
              <a:t> / </a:t>
            </a:r>
            <a:r>
              <a:rPr lang="zh-CN" altLang="zh-CN" kern="100" dirty="0">
                <a:solidFill>
                  <a:srgbClr val="0000FF"/>
                </a:solidFill>
              </a:rPr>
              <a:t>数据库管理系统</a:t>
            </a:r>
            <a:r>
              <a:rPr lang="en-US" altLang="zh-CN" kern="100" dirty="0">
                <a:solidFill>
                  <a:srgbClr val="0000FF"/>
                </a:solidFill>
              </a:rPr>
              <a:t> / </a:t>
            </a:r>
            <a:r>
              <a:rPr lang="zh-CN" altLang="zh-CN" kern="100" dirty="0">
                <a:solidFill>
                  <a:srgbClr val="0000FF"/>
                </a:solidFill>
              </a:rPr>
              <a:t>数据库系统</a:t>
            </a:r>
            <a:endParaRPr lang="en-US" altLang="zh-CN" kern="100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发展：</a:t>
            </a:r>
            <a:r>
              <a:rPr lang="zh-CN" altLang="zh-CN" dirty="0">
                <a:solidFill>
                  <a:srgbClr val="0000FF"/>
                </a:solidFill>
              </a:rPr>
              <a:t>人工管理</a:t>
            </a:r>
            <a:r>
              <a:rPr lang="en-US" altLang="zh-CN" dirty="0">
                <a:solidFill>
                  <a:srgbClr val="0000FF"/>
                </a:solidFill>
              </a:rPr>
              <a:t> / </a:t>
            </a:r>
            <a:r>
              <a:rPr lang="zh-CN" altLang="zh-CN" dirty="0">
                <a:solidFill>
                  <a:srgbClr val="0000FF"/>
                </a:solidFill>
              </a:rPr>
              <a:t>文件管理</a:t>
            </a:r>
            <a:r>
              <a:rPr lang="en-US" altLang="zh-CN" dirty="0">
                <a:solidFill>
                  <a:srgbClr val="0000FF"/>
                </a:solidFill>
              </a:rPr>
              <a:t> / </a:t>
            </a:r>
            <a:r>
              <a:rPr lang="zh-CN" altLang="zh-CN" dirty="0">
                <a:solidFill>
                  <a:srgbClr val="0000FF"/>
                </a:solidFill>
              </a:rPr>
              <a:t>数据库系统</a:t>
            </a:r>
            <a:r>
              <a:rPr lang="en-US" altLang="zh-CN" dirty="0">
                <a:solidFill>
                  <a:srgbClr val="0000FF"/>
                </a:solidFill>
              </a:rPr>
              <a:t> / </a:t>
            </a:r>
          </a:p>
          <a:p>
            <a:pPr marL="1252538" indent="0">
              <a:buNone/>
            </a:pPr>
            <a:r>
              <a:rPr lang="zh-CN" altLang="en-US" dirty="0"/>
              <a:t>数据仓库</a:t>
            </a:r>
            <a:r>
              <a:rPr lang="en-US" altLang="zh-CN" dirty="0"/>
              <a:t>DW</a:t>
            </a:r>
            <a:r>
              <a:rPr lang="zh-CN" altLang="en-US" dirty="0"/>
              <a:t>（数据挖掘</a:t>
            </a:r>
            <a:r>
              <a:rPr lang="en-US" altLang="zh-CN" dirty="0"/>
              <a:t>DM</a:t>
            </a:r>
            <a:r>
              <a:rPr lang="zh-CN" altLang="en-US" dirty="0"/>
              <a:t>）</a:t>
            </a:r>
            <a:r>
              <a:rPr lang="en-US" altLang="zh-CN" dirty="0"/>
              <a:t>/</a:t>
            </a:r>
            <a:r>
              <a:rPr lang="zh-CN" altLang="en-US" dirty="0"/>
              <a:t>大数据（</a:t>
            </a:r>
            <a:r>
              <a:rPr lang="en-US" altLang="zh-CN" dirty="0"/>
              <a:t>Big Data</a:t>
            </a:r>
            <a:r>
              <a:rPr lang="zh-CN" altLang="en-US" dirty="0"/>
              <a:t>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D979E-FC74-B342-9C14-E1675B15C48F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1125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1.2.1  </a:t>
            </a:r>
            <a:r>
              <a:rPr lang="zh-CN" altLang="en-US" i="0" u="none" strike="noStrike" kern="2200" baseline="0" dirty="0"/>
              <a:t>数据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数据（</a:t>
            </a:r>
            <a:r>
              <a:rPr lang="en-US" altLang="zh-CN" i="0" u="none" strike="noStrike" kern="100" baseline="0" dirty="0">
                <a:solidFill>
                  <a:srgbClr val="0000FF"/>
                </a:solidFill>
              </a:rPr>
              <a:t>Data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）：表示客观事物的符号</a:t>
            </a:r>
            <a:endParaRPr lang="en-US" altLang="zh-CN" i="0" u="none" strike="noStrike" kern="100" baseline="0" dirty="0">
              <a:solidFill>
                <a:srgbClr val="0000FF"/>
              </a:solidFill>
            </a:endParaRPr>
          </a:p>
          <a:p>
            <a:pPr marR="0" lvl="0" rt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分类：文本</a:t>
            </a:r>
            <a:r>
              <a:rPr lang="zh-CN" altLang="en-US" i="0" u="none" strike="noStrike" kern="100" baseline="0" dirty="0"/>
              <a:t>、图形、图像、音频、视频、动画等类型</a:t>
            </a:r>
            <a:endParaRPr lang="en-US" altLang="zh-CN" i="0" u="none" strike="noStrike" kern="100" baseline="0" dirty="0"/>
          </a:p>
          <a:p>
            <a:pPr marL="0" marR="0" lvl="0" indent="0" rtl="0">
              <a:buNone/>
            </a:pPr>
            <a:r>
              <a:rPr lang="zh-CN" altLang="en-US" kern="100" dirty="0"/>
              <a:t>              </a:t>
            </a:r>
            <a:r>
              <a:rPr lang="zh-CN" altLang="en-US" i="0" u="none" strike="noStrike" kern="100" baseline="0" dirty="0"/>
              <a:t>文本→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数值、字符、日期、时间、逻辑</a:t>
            </a:r>
            <a:r>
              <a:rPr lang="zh-CN" altLang="en-US" i="0" u="none" strike="noStrike" kern="100" baseline="0" dirty="0"/>
              <a:t>等类型</a:t>
            </a:r>
          </a:p>
          <a:p>
            <a:r>
              <a:rPr lang="zh-CN" altLang="en-US" sz="2600" i="0" u="none" strike="noStrike" kern="100" baseline="0" dirty="0">
                <a:solidFill>
                  <a:srgbClr val="0000FF"/>
                </a:solidFill>
              </a:rPr>
              <a:t>例如：</a:t>
            </a:r>
            <a:endParaRPr lang="en-US" altLang="zh-CN" sz="2600" i="0" u="none" strike="noStrike" kern="100" baseline="0" dirty="0">
              <a:solidFill>
                <a:srgbClr val="0000FF"/>
              </a:solidFill>
            </a:endParaRPr>
          </a:p>
          <a:p>
            <a:pPr marL="400050" lvl="1" indent="0">
              <a:buNone/>
            </a:pPr>
            <a:r>
              <a:rPr lang="zh-CN" altLang="en-US" i="0" u="none" strike="noStrike" kern="100" baseline="0" dirty="0"/>
              <a:t>图书定价：</a:t>
            </a:r>
            <a:r>
              <a:rPr lang="en-US" altLang="zh-CN" i="0" u="none" strike="noStrike" kern="100" baseline="0" dirty="0"/>
              <a:t>39.6</a:t>
            </a:r>
          </a:p>
          <a:p>
            <a:pPr marL="400050" lvl="1" indent="0">
              <a:buNone/>
            </a:pPr>
            <a:r>
              <a:rPr lang="zh-CN" altLang="en-US" i="0" u="none" strike="noStrike" kern="100" baseline="0" dirty="0"/>
              <a:t>书名：图像技术</a:t>
            </a:r>
            <a:endParaRPr lang="en-US" altLang="zh-CN" i="0" u="none" strike="noStrike" kern="100" baseline="0" dirty="0"/>
          </a:p>
          <a:p>
            <a:pPr marL="400050" lvl="1" indent="0">
              <a:buNone/>
            </a:pPr>
            <a:r>
              <a:rPr lang="zh-CN" altLang="en-US" i="0" u="none" strike="noStrike" kern="100" baseline="0" dirty="0"/>
              <a:t>生日：</a:t>
            </a:r>
            <a:r>
              <a:rPr lang="en-US" altLang="zh-CN" i="0" u="none" strike="noStrike" kern="100" baseline="0" dirty="0"/>
              <a:t>1966</a:t>
            </a:r>
            <a:r>
              <a:rPr lang="zh-CN" altLang="en-US" i="0" u="none" strike="noStrike" kern="100" baseline="0" dirty="0"/>
              <a:t>年</a:t>
            </a:r>
            <a:r>
              <a:rPr lang="en-US" altLang="zh-CN" i="0" u="none" strike="noStrike" kern="100" baseline="0" dirty="0"/>
              <a:t>6</a:t>
            </a:r>
            <a:r>
              <a:rPr lang="zh-CN" altLang="en-US" i="0" u="none" strike="noStrike" kern="100" baseline="0" dirty="0"/>
              <a:t>月</a:t>
            </a:r>
            <a:r>
              <a:rPr lang="en-US" altLang="zh-CN" i="0" u="none" strike="noStrike" kern="100" baseline="0" dirty="0"/>
              <a:t>6</a:t>
            </a:r>
            <a:r>
              <a:rPr lang="zh-CN" altLang="en-US" i="0" u="none" strike="noStrike" kern="100" baseline="0" dirty="0"/>
              <a:t>日（</a:t>
            </a:r>
            <a:r>
              <a:rPr lang="en-US" altLang="zh-CN" i="0" u="none" strike="noStrike" kern="100" baseline="0" dirty="0"/>
              <a:t>1966-6-6</a:t>
            </a:r>
            <a:r>
              <a:rPr lang="zh-CN" altLang="en-US" i="0" u="none" strike="noStrike" kern="100" baseline="0" dirty="0"/>
              <a:t>）</a:t>
            </a:r>
            <a:endParaRPr lang="en-US" altLang="zh-CN" i="0" u="none" strike="noStrike" kern="100" baseline="0" dirty="0"/>
          </a:p>
          <a:p>
            <a:pPr marL="400050" lvl="1" indent="0">
              <a:buNone/>
            </a:pPr>
            <a:r>
              <a:rPr lang="zh-CN" altLang="en-US" i="0" u="none" strike="noStrike" kern="100" baseline="0" dirty="0"/>
              <a:t>婚否：是</a:t>
            </a:r>
            <a:endParaRPr lang="en-US" altLang="zh-CN" i="0" u="none" strike="noStrike" kern="100" baseline="0" dirty="0"/>
          </a:p>
          <a:p>
            <a:pPr marL="400050" lvl="1" indent="0">
              <a:buNone/>
            </a:pPr>
            <a:r>
              <a:rPr lang="zh-CN" altLang="en-US" i="0" u="none" strike="noStrike" kern="100" baseline="0" dirty="0"/>
              <a:t>照片：</a:t>
            </a:r>
            <a:r>
              <a:rPr lang="en-US" altLang="zh-CN" i="0" u="none" strike="noStrike" kern="100" baseline="0" dirty="0"/>
              <a:t>Cat.jpg</a:t>
            </a:r>
          </a:p>
          <a:p>
            <a:pPr marL="400050" lvl="1" indent="0">
              <a:buNone/>
            </a:pPr>
            <a:r>
              <a:rPr lang="zh-CN" altLang="en-US" i="0" u="none" strike="noStrike" kern="100" baseline="0" dirty="0"/>
              <a:t>起飞时间：</a:t>
            </a:r>
            <a:r>
              <a:rPr lang="en-US" altLang="zh-CN" i="0" u="none" strike="noStrike" kern="100" baseline="0" dirty="0"/>
              <a:t>16</a:t>
            </a:r>
            <a:r>
              <a:rPr lang="zh-CN" altLang="en-US" i="0" u="none" strike="noStrike" kern="100" baseline="0" dirty="0"/>
              <a:t>时</a:t>
            </a:r>
            <a:r>
              <a:rPr lang="en-US" altLang="zh-CN" i="0" u="none" strike="noStrike" kern="100" baseline="0" dirty="0"/>
              <a:t>16</a:t>
            </a:r>
            <a:r>
              <a:rPr lang="zh-CN" altLang="en-US" i="0" u="none" strike="noStrike" kern="100" baseline="0" dirty="0"/>
              <a:t>分</a:t>
            </a:r>
            <a:r>
              <a:rPr lang="en-US" altLang="zh-CN" i="0" u="none" strike="noStrike" kern="100" baseline="0" dirty="0"/>
              <a:t>16</a:t>
            </a:r>
            <a:r>
              <a:rPr lang="zh-CN" altLang="en-US" i="0" u="none" strike="noStrike" kern="100" baseline="0" dirty="0"/>
              <a:t>秒（</a:t>
            </a:r>
            <a:r>
              <a:rPr lang="en-US" altLang="zh-CN" i="0" u="none" strike="noStrike" kern="100" baseline="0" dirty="0"/>
              <a:t>16</a:t>
            </a:r>
            <a:r>
              <a:rPr lang="zh-CN" altLang="en-US" i="0" u="none" strike="noStrike" kern="100" baseline="0" dirty="0"/>
              <a:t>：</a:t>
            </a:r>
            <a:r>
              <a:rPr lang="en-US" altLang="zh-CN" i="0" u="none" strike="noStrike" kern="100" baseline="0" dirty="0"/>
              <a:t>16</a:t>
            </a:r>
            <a:r>
              <a:rPr lang="zh-CN" altLang="en-US" i="0" u="none" strike="noStrike" kern="100" baseline="0" dirty="0"/>
              <a:t>：</a:t>
            </a:r>
            <a:r>
              <a:rPr lang="en-US" altLang="zh-CN" i="0" u="none" strike="noStrike" kern="100" baseline="0" dirty="0"/>
              <a:t>16</a:t>
            </a:r>
            <a:r>
              <a:rPr lang="zh-CN" altLang="en-US" i="0" u="none" strike="noStrike" kern="100" baseline="0" dirty="0"/>
              <a:t>）等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F783-6F01-A54C-8216-2973B6D7704D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443113"/>
            <a:ext cx="778396" cy="84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7341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1.2.1  </a:t>
            </a:r>
            <a:r>
              <a:rPr lang="zh-CN" altLang="en-US" i="0" u="none" strike="noStrike" kern="2200" baseline="0" dirty="0"/>
              <a:t>数据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4968552"/>
          </a:xfrm>
        </p:spPr>
        <p:txBody>
          <a:bodyPr>
            <a:noAutofit/>
          </a:bodyPr>
          <a:lstStyle/>
          <a:p>
            <a:r>
              <a:rPr lang="zh-CN" altLang="en-US" sz="1800" i="0" u="none" strike="noStrike" kern="100" baseline="0" dirty="0">
                <a:solidFill>
                  <a:srgbClr val="0000FF"/>
                </a:solidFill>
              </a:rPr>
              <a:t>数值：</a:t>
            </a:r>
            <a:r>
              <a:rPr lang="zh-CN" altLang="en-US" sz="1800" i="0" u="none" strike="noStrike" kern="100" baseline="0" dirty="0"/>
              <a:t>表示年龄、工资和单价等大小多少的数据。例如：</a:t>
            </a:r>
            <a:r>
              <a:rPr lang="en-US" altLang="zh-CN" sz="1800" i="0" u="none" strike="noStrike" kern="100" baseline="0" dirty="0"/>
              <a:t>16</a:t>
            </a:r>
            <a:r>
              <a:rPr lang="zh-CN" altLang="en-US" sz="1800" i="0" u="none" strike="noStrike" kern="100" baseline="0" dirty="0"/>
              <a:t>，</a:t>
            </a:r>
            <a:r>
              <a:rPr lang="en-US" altLang="zh-CN" sz="1800" i="0" u="none" strike="noStrike" kern="100" baseline="0" dirty="0"/>
              <a:t>-10</a:t>
            </a:r>
            <a:r>
              <a:rPr lang="zh-CN" altLang="en-US" sz="1800" i="0" u="none" strike="noStrike" kern="100" baseline="0" dirty="0"/>
              <a:t>和</a:t>
            </a:r>
            <a:r>
              <a:rPr lang="en-US" altLang="zh-CN" sz="1800" i="0" u="none" strike="noStrike" kern="100" baseline="0" dirty="0"/>
              <a:t>26.6</a:t>
            </a:r>
            <a:r>
              <a:rPr lang="zh-CN" altLang="en-US" sz="1800" i="0" u="none" strike="noStrike" kern="100" baseline="0" dirty="0"/>
              <a:t>。</a:t>
            </a:r>
          </a:p>
          <a:p>
            <a:r>
              <a:rPr lang="zh-CN" altLang="en-US" sz="1800" i="0" u="none" strike="noStrike" kern="100" baseline="0" dirty="0">
                <a:solidFill>
                  <a:srgbClr val="0000FF"/>
                </a:solidFill>
              </a:rPr>
              <a:t>字符：</a:t>
            </a:r>
            <a:r>
              <a:rPr lang="zh-CN" altLang="en-US" sz="1800" i="0" u="none" strike="noStrike" kern="100" baseline="0" dirty="0"/>
              <a:t>表示人名、地名和物品等名称的数据。例如：李明、杭州和图书。</a:t>
            </a:r>
          </a:p>
          <a:p>
            <a:r>
              <a:rPr lang="zh-CN" altLang="en-US" sz="1800" i="0" u="none" strike="noStrike" kern="100" baseline="0" dirty="0">
                <a:solidFill>
                  <a:srgbClr val="0000FF"/>
                </a:solidFill>
              </a:rPr>
              <a:t>日期：</a:t>
            </a:r>
            <a:r>
              <a:rPr lang="zh-CN" altLang="en-US" sz="1800" kern="100" dirty="0"/>
              <a:t>表示工作日期、出生日期和入党日期等数据。例如：</a:t>
            </a:r>
            <a:r>
              <a:rPr lang="en-US" altLang="zh-CN" sz="1800" kern="100" dirty="0"/>
              <a:t>2016</a:t>
            </a:r>
            <a:r>
              <a:rPr lang="zh-CN" altLang="en-US" sz="1800" kern="100" dirty="0"/>
              <a:t>年</a:t>
            </a:r>
            <a:r>
              <a:rPr lang="en-US" altLang="zh-CN" sz="1800" kern="100" dirty="0"/>
              <a:t>6</a:t>
            </a:r>
            <a:r>
              <a:rPr lang="zh-CN" altLang="en-US" sz="1800" kern="100" dirty="0"/>
              <a:t>月</a:t>
            </a:r>
            <a:r>
              <a:rPr lang="en-US" altLang="zh-CN" sz="1800" kern="100" dirty="0"/>
              <a:t>6</a:t>
            </a:r>
            <a:r>
              <a:rPr lang="zh-CN" altLang="en-US" sz="1800" kern="100" dirty="0"/>
              <a:t>日。</a:t>
            </a:r>
          </a:p>
          <a:p>
            <a:r>
              <a:rPr lang="zh-CN" altLang="en-US" sz="1800" kern="100" dirty="0">
                <a:solidFill>
                  <a:srgbClr val="0000FF"/>
                </a:solidFill>
              </a:rPr>
              <a:t>时间：</a:t>
            </a:r>
            <a:r>
              <a:rPr lang="zh-CN" altLang="en-US" sz="1800" kern="100" dirty="0"/>
              <a:t>表示上班时间、休息时间和开饭时间等数据。例如：</a:t>
            </a:r>
            <a:r>
              <a:rPr lang="en-US" altLang="zh-CN" sz="1800" kern="100" dirty="0"/>
              <a:t>10</a:t>
            </a:r>
            <a:r>
              <a:rPr lang="zh-CN" altLang="en-US" sz="1800" kern="100" dirty="0"/>
              <a:t>：</a:t>
            </a:r>
            <a:r>
              <a:rPr lang="en-US" altLang="zh-CN" sz="1800" kern="100" dirty="0"/>
              <a:t>12</a:t>
            </a:r>
            <a:r>
              <a:rPr lang="zh-CN" altLang="en-US" sz="1800" kern="100" dirty="0"/>
              <a:t>：</a:t>
            </a:r>
            <a:r>
              <a:rPr lang="en-US" altLang="zh-CN" sz="1800" kern="100" dirty="0"/>
              <a:t>19</a:t>
            </a:r>
            <a:r>
              <a:rPr lang="zh-CN" altLang="en-US" sz="1800" kern="100" dirty="0"/>
              <a:t>。</a:t>
            </a:r>
          </a:p>
          <a:p>
            <a:r>
              <a:rPr lang="zh-CN" altLang="en-US" sz="1800" kern="100" dirty="0">
                <a:solidFill>
                  <a:srgbClr val="0000FF"/>
                </a:solidFill>
              </a:rPr>
              <a:t>逻辑：</a:t>
            </a:r>
            <a:r>
              <a:rPr lang="zh-CN" altLang="en-US" sz="1800" kern="100" dirty="0"/>
              <a:t>表示是否结婚、是否党员等逻辑判断结果的数据。例如：真和假。</a:t>
            </a:r>
          </a:p>
          <a:p>
            <a:r>
              <a:rPr lang="zh-CN" altLang="en-US" sz="1800" kern="100" dirty="0">
                <a:solidFill>
                  <a:srgbClr val="FF00FF"/>
                </a:solidFill>
              </a:rPr>
              <a:t>图形：</a:t>
            </a:r>
            <a:r>
              <a:rPr lang="zh-CN" altLang="en-US" sz="1800" kern="100" dirty="0"/>
              <a:t>表示直线、三角形和圆形等几何图形的数据。例如：正方形和五角星。</a:t>
            </a:r>
          </a:p>
          <a:p>
            <a:r>
              <a:rPr lang="zh-CN" altLang="en-US" sz="1800" kern="100" dirty="0">
                <a:solidFill>
                  <a:srgbClr val="FF00FF"/>
                </a:solidFill>
              </a:rPr>
              <a:t>图像：</a:t>
            </a:r>
            <a:r>
              <a:rPr lang="zh-CN" altLang="en-US" sz="1800" kern="100" dirty="0"/>
              <a:t>表示人物照片、风景照片和遥感图像等数据。例如：猫的照片</a:t>
            </a:r>
            <a:r>
              <a:rPr lang="en-US" altLang="zh-CN" sz="1800" kern="100" dirty="0"/>
              <a:t>Cat.jpg</a:t>
            </a:r>
            <a:r>
              <a:rPr lang="zh-CN" altLang="en-US" sz="1800" kern="100" dirty="0"/>
              <a:t>。</a:t>
            </a:r>
          </a:p>
          <a:p>
            <a:r>
              <a:rPr lang="zh-CN" altLang="en-US" sz="1800" kern="100" dirty="0"/>
              <a:t>音频：表示语音、声效和音乐等数据。例如：一段录音和飞机起飞的声音。</a:t>
            </a:r>
          </a:p>
          <a:p>
            <a:r>
              <a:rPr lang="zh-CN" altLang="en-US" sz="1800" kern="100" dirty="0"/>
              <a:t>视频：表示</a:t>
            </a:r>
            <a:r>
              <a:rPr lang="en-US" altLang="zh-CN" sz="1800" kern="100" dirty="0"/>
              <a:t>MTV</a:t>
            </a:r>
            <a:r>
              <a:rPr lang="zh-CN" altLang="en-US" sz="1800" kern="100" dirty="0"/>
              <a:t>和电影剪辑等数据。例如：精彩电影剪辑</a:t>
            </a:r>
            <a:r>
              <a:rPr lang="en-US" altLang="zh-CN" sz="1800" kern="100" dirty="0"/>
              <a:t>Robot.mpg</a:t>
            </a:r>
            <a:r>
              <a:rPr lang="zh-CN" altLang="en-US" sz="1800" kern="100" dirty="0"/>
              <a:t>。</a:t>
            </a:r>
          </a:p>
          <a:p>
            <a:r>
              <a:rPr lang="zh-CN" altLang="en-US" sz="1800" kern="100" dirty="0"/>
              <a:t>动画：计算机三维动画的数据。例如：</a:t>
            </a:r>
            <a:r>
              <a:rPr lang="en-US" altLang="zh-CN" sz="1800" kern="100" dirty="0"/>
              <a:t>Flash</a:t>
            </a:r>
            <a:r>
              <a:rPr lang="zh-CN" altLang="en-US" sz="1800" kern="100" dirty="0"/>
              <a:t>动画</a:t>
            </a:r>
            <a:r>
              <a:rPr lang="en-US" altLang="zh-CN" sz="1800" kern="100" dirty="0" err="1"/>
              <a:t>Fly.fla</a:t>
            </a:r>
            <a:r>
              <a:rPr lang="zh-CN" altLang="en-US" sz="1800" kern="100" dirty="0"/>
              <a:t>和</a:t>
            </a:r>
            <a:r>
              <a:rPr lang="en-US" altLang="zh-CN" sz="1800" kern="100" dirty="0"/>
              <a:t>3D</a:t>
            </a:r>
            <a:r>
              <a:rPr lang="zh-CN" altLang="en-US" sz="1800" kern="100" dirty="0"/>
              <a:t>动画</a:t>
            </a:r>
            <a:r>
              <a:rPr lang="en-US" altLang="zh-CN" sz="1800" kern="100" dirty="0"/>
              <a:t>Audi.3ds</a:t>
            </a:r>
            <a:r>
              <a:rPr lang="zh-CN" altLang="en-US" sz="1800" kern="100" dirty="0"/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EBCD-173A-6B4A-9647-D5258010DCAB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2700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00" dirty="0"/>
              <a:t>多媒体数据 </a:t>
            </a:r>
            <a:r>
              <a:rPr lang="en-US" altLang="zh-CN" kern="100" dirty="0"/>
              <a:t>/ </a:t>
            </a:r>
            <a:r>
              <a:rPr lang="zh-CN" altLang="en-US" kern="100" dirty="0"/>
              <a:t>信息</a:t>
            </a:r>
            <a:endParaRPr lang="zh-CN" altLang="en-US" i="0" u="none" strike="noStrike" kern="2200" baseline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1560" y="1196752"/>
            <a:ext cx="7931224" cy="5112568"/>
          </a:xfrm>
        </p:spPr>
        <p:txBody>
          <a:bodyPr>
            <a:normAutofit/>
          </a:bodyPr>
          <a:lstStyle/>
          <a:p>
            <a:r>
              <a:rPr lang="zh-CN" altLang="en-US" kern="100" dirty="0"/>
              <a:t>多媒体数据：</a:t>
            </a:r>
            <a:endParaRPr lang="en-US" altLang="zh-CN" kern="100" dirty="0"/>
          </a:p>
          <a:p>
            <a:pPr marL="363538" indent="0">
              <a:buNone/>
            </a:pPr>
            <a:r>
              <a:rPr lang="zh-CN" altLang="en-US" kern="100" dirty="0"/>
              <a:t>文本、</a:t>
            </a:r>
            <a:r>
              <a:rPr lang="zh-CN" altLang="en-US" kern="100" dirty="0">
                <a:solidFill>
                  <a:srgbClr val="FF00FF"/>
                </a:solidFill>
              </a:rPr>
              <a:t>图形</a:t>
            </a:r>
            <a:r>
              <a:rPr lang="zh-CN" altLang="en-US" kern="100" dirty="0"/>
              <a:t>、声音、</a:t>
            </a:r>
            <a:r>
              <a:rPr lang="zh-CN" altLang="en-US" kern="100" dirty="0">
                <a:solidFill>
                  <a:srgbClr val="FF00FF"/>
                </a:solidFill>
              </a:rPr>
              <a:t>图像</a:t>
            </a:r>
            <a:r>
              <a:rPr lang="zh-CN" altLang="en-US" kern="100" dirty="0"/>
              <a:t>、视频和动画等数据的集合，称为多媒体数据（</a:t>
            </a:r>
            <a:r>
              <a:rPr lang="en-US" altLang="zh-CN" kern="100" dirty="0"/>
              <a:t>Multimedia</a:t>
            </a:r>
            <a:r>
              <a:rPr lang="zh-CN" altLang="en-US" kern="100" dirty="0"/>
              <a:t> </a:t>
            </a:r>
            <a:r>
              <a:rPr lang="en-US" altLang="zh-CN" kern="100" dirty="0"/>
              <a:t>Data</a:t>
            </a:r>
            <a:r>
              <a:rPr lang="zh-CN" altLang="en-US" kern="100" dirty="0"/>
              <a:t>）</a:t>
            </a:r>
            <a:endParaRPr lang="en-US" altLang="zh-CN" kern="100" dirty="0"/>
          </a:p>
          <a:p>
            <a:pPr marL="363538" indent="0">
              <a:buNone/>
            </a:pPr>
            <a:r>
              <a:rPr lang="zh-CN" altLang="en-US" kern="100" dirty="0"/>
              <a:t>例如：网站及其网页和素材</a:t>
            </a:r>
          </a:p>
          <a:p>
            <a:r>
              <a:rPr lang="zh-CN" altLang="en-US" kern="100" dirty="0">
                <a:solidFill>
                  <a:srgbClr val="FF00FF"/>
                </a:solidFill>
              </a:rPr>
              <a:t>信息：</a:t>
            </a:r>
            <a:endParaRPr lang="en-US" altLang="zh-CN" kern="100" dirty="0">
              <a:solidFill>
                <a:srgbClr val="FF00FF"/>
              </a:solidFill>
            </a:endParaRPr>
          </a:p>
          <a:p>
            <a:pPr marL="706438">
              <a:buFont typeface="Wingdings" pitchFamily="2" charset="2"/>
              <a:buChar char="p"/>
            </a:pPr>
            <a:r>
              <a:rPr lang="zh-CN" altLang="en-US" kern="100" dirty="0"/>
              <a:t>信息来源于数据，数据是信息的载体。信息是数据处理后有价值的数据</a:t>
            </a:r>
            <a:endParaRPr lang="en-US" altLang="zh-CN" kern="100" dirty="0"/>
          </a:p>
          <a:p>
            <a:pPr marL="706438">
              <a:buFont typeface="Wingdings" pitchFamily="2" charset="2"/>
              <a:buChar char="p"/>
            </a:pPr>
            <a:r>
              <a:rPr lang="zh-CN" altLang="en-US" kern="100" dirty="0"/>
              <a:t>原始数据需要进行数据处理，才能成为真正有价值的信息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29C5-A119-C343-A966-16ACF6E875D7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6848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1.2.2</a:t>
            </a:r>
            <a:r>
              <a:rPr lang="zh-CN" altLang="en-US" i="0" u="none" strike="noStrike" kern="2200" baseline="0" dirty="0"/>
              <a:t>  数据库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1124744"/>
            <a:ext cx="8784976" cy="5112568"/>
          </a:xfrm>
        </p:spPr>
        <p:txBody>
          <a:bodyPr>
            <a:noAutofit/>
          </a:bodyPr>
          <a:lstStyle/>
          <a:p>
            <a:r>
              <a:rPr lang="zh-CN" altLang="en-US" sz="2200" i="0" u="none" strike="noStrike" kern="100" baseline="0" dirty="0">
                <a:solidFill>
                  <a:srgbClr val="0000FF"/>
                </a:solidFill>
              </a:rPr>
              <a:t>数据库（</a:t>
            </a:r>
            <a:r>
              <a:rPr lang="en-US" altLang="zh-CN" sz="2200" i="0" u="none" strike="noStrike" kern="100" baseline="0" dirty="0" err="1">
                <a:solidFill>
                  <a:srgbClr val="0000FF"/>
                </a:solidFill>
              </a:rPr>
              <a:t>DataBase</a:t>
            </a:r>
            <a:r>
              <a:rPr lang="zh-CN" altLang="en-US" sz="2200" i="0" u="none" strike="noStrike" kern="100" baseline="0" dirty="0">
                <a:solidFill>
                  <a:srgbClr val="0000FF"/>
                </a:solidFill>
              </a:rPr>
              <a:t>，</a:t>
            </a:r>
            <a:r>
              <a:rPr lang="en-US" altLang="zh-CN" sz="2200" i="0" u="none" strike="noStrike" kern="100" baseline="0" dirty="0">
                <a:solidFill>
                  <a:srgbClr val="0000FF"/>
                </a:solidFill>
              </a:rPr>
              <a:t>DB</a:t>
            </a:r>
            <a:r>
              <a:rPr lang="zh-CN" altLang="en-US" sz="2200" i="0" u="none" strike="noStrike" kern="100" baseline="0" dirty="0">
                <a:solidFill>
                  <a:srgbClr val="0000FF"/>
                </a:solidFill>
              </a:rPr>
              <a:t>）：长期存储在计算机内，有组织可共享的大量数据的集合。即：存放数据的电子仓库。</a:t>
            </a:r>
            <a:endParaRPr lang="en-US" altLang="zh-CN" sz="2200" i="0" u="none" strike="noStrike" kern="100" baseline="0" dirty="0">
              <a:solidFill>
                <a:srgbClr val="0000FF"/>
              </a:solidFill>
            </a:endParaRPr>
          </a:p>
          <a:p>
            <a:pPr lvl="1" indent="-379413"/>
            <a:r>
              <a:rPr lang="zh-CN" altLang="en-US" sz="2000" kern="100" dirty="0"/>
              <a:t>数据库对所有的数据，按照指定的数据模型实行统一的组织、存储和管理。数据库独立于程序而存在，并提供给不同的用户共享。</a:t>
            </a:r>
            <a:endParaRPr lang="en-US" altLang="zh-CN" sz="2000" kern="100" dirty="0"/>
          </a:p>
          <a:p>
            <a:pPr marL="0" indent="0">
              <a:buNone/>
            </a:pPr>
            <a:r>
              <a:rPr lang="en-US" altLang="zh-CN" sz="2200" kern="100" dirty="0"/>
              <a:t>    </a:t>
            </a:r>
            <a:r>
              <a:rPr lang="zh-CN" altLang="en-US" sz="2200" kern="100" dirty="0"/>
              <a:t>例如：图书、客户、出版社和购买等组成电子书店数据库</a:t>
            </a:r>
            <a:r>
              <a:rPr lang="en-US" altLang="zh-CN" sz="2200" kern="100" dirty="0"/>
              <a:t>EBook</a:t>
            </a:r>
            <a:endParaRPr lang="en-US" altLang="zh-CN" sz="2200" i="0" u="none" strike="noStrike" kern="100" baseline="0" dirty="0"/>
          </a:p>
          <a:p>
            <a:pPr marR="0" lvl="0" rtl="0"/>
            <a:r>
              <a:rPr lang="zh-CN" altLang="en-US" sz="2200" i="0" u="none" strike="noStrike" kern="100" baseline="0" dirty="0">
                <a:solidFill>
                  <a:srgbClr val="0000FF"/>
                </a:solidFill>
              </a:rPr>
              <a:t>特点：数据结构化存储、冗余度低，独立性高、共享和易扩展等</a:t>
            </a:r>
            <a:endParaRPr lang="en-US" altLang="zh-CN" sz="2200" i="0" u="none" strike="noStrike" kern="100" baseline="0" dirty="0">
              <a:solidFill>
                <a:srgbClr val="0000FF"/>
              </a:solidFill>
            </a:endParaRPr>
          </a:p>
          <a:p>
            <a:pPr marR="0" lvl="0" rtl="0"/>
            <a:r>
              <a:rPr lang="zh-CN" altLang="en-US" sz="2200" kern="100" dirty="0"/>
              <a:t>多媒体数据库（</a:t>
            </a:r>
            <a:r>
              <a:rPr lang="en-US" altLang="zh-CN" sz="2200" kern="100" dirty="0"/>
              <a:t>Multimedia</a:t>
            </a:r>
            <a:r>
              <a:rPr lang="zh-CN" altLang="en-US" sz="2200" kern="100" dirty="0"/>
              <a:t> </a:t>
            </a:r>
            <a:r>
              <a:rPr lang="en-US" altLang="zh-CN" sz="2200" kern="100" dirty="0" err="1"/>
              <a:t>DataBase</a:t>
            </a:r>
            <a:r>
              <a:rPr lang="zh-CN" altLang="en-US" sz="2200" kern="100" dirty="0"/>
              <a:t>，</a:t>
            </a:r>
            <a:r>
              <a:rPr lang="en-US" altLang="zh-CN" sz="2200" kern="100" dirty="0"/>
              <a:t>MDB</a:t>
            </a:r>
            <a:r>
              <a:rPr lang="zh-CN" altLang="en-US" sz="2200" kern="100" dirty="0"/>
              <a:t>）：</a:t>
            </a:r>
            <a:endParaRPr lang="en-US" altLang="zh-CN" sz="2200" kern="100" dirty="0"/>
          </a:p>
          <a:p>
            <a:pPr marL="0" marR="0" lvl="0" indent="0" rtl="0">
              <a:buNone/>
            </a:pPr>
            <a:r>
              <a:rPr lang="zh-CN" altLang="en-US" sz="2200" kern="100" dirty="0"/>
              <a:t>     支持</a:t>
            </a:r>
            <a:r>
              <a:rPr lang="zh-CN" altLang="en-US" sz="2200" i="0" u="none" strike="noStrike" kern="100" baseline="0" dirty="0"/>
              <a:t>多媒体数据的数据库</a:t>
            </a:r>
            <a:endParaRPr lang="en-US" altLang="zh-CN" sz="2200" i="0" u="none" strike="noStrike" kern="100" baseline="0" dirty="0"/>
          </a:p>
          <a:p>
            <a:r>
              <a:rPr lang="zh-CN" altLang="en-US" sz="2200" kern="100" dirty="0">
                <a:solidFill>
                  <a:srgbClr val="0000FF"/>
                </a:solidFill>
              </a:rPr>
              <a:t>结果</a:t>
            </a:r>
            <a:r>
              <a:rPr lang="zh-CN" altLang="en-US" sz="2200" i="0" u="none" strike="noStrike" kern="100" baseline="0" dirty="0">
                <a:solidFill>
                  <a:srgbClr val="0000FF"/>
                </a:solidFill>
              </a:rPr>
              <a:t>：</a:t>
            </a:r>
            <a:r>
              <a:rPr lang="zh-CN" altLang="en-US" sz="2200" i="0" u="none" strike="noStrike" kern="100" baseline="0" dirty="0"/>
              <a:t>数据库是数据的归宿。数据经过结构化处理，按照统一的数据结构存入数据库，进而实现数据共享。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74C63-5378-2A41-9A45-D45B6AB529D0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5756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1.2.3 </a:t>
            </a:r>
            <a:r>
              <a:rPr lang="zh-CN" altLang="en-US" i="0" u="none" strike="noStrike" kern="2200" baseline="0" dirty="0"/>
              <a:t> 数据库管理系统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数据库管理系统（</a:t>
            </a:r>
            <a:r>
              <a:rPr lang="en-US" altLang="zh-CN" sz="2000" i="0" u="none" strike="noStrike" kern="100" baseline="0" dirty="0" err="1">
                <a:solidFill>
                  <a:srgbClr val="0000FF"/>
                </a:solidFill>
              </a:rPr>
              <a:t>DataBase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 Management System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，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DBMS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）是提供给用户，并帮助用户建立、使用和管理数据库的软件系统</a:t>
            </a:r>
            <a:endParaRPr lang="en-US" altLang="zh-CN" sz="2000" i="0" u="none" strike="noStrike" kern="100" baseline="0" dirty="0">
              <a:solidFill>
                <a:srgbClr val="0000FF"/>
              </a:solidFill>
            </a:endParaRPr>
          </a:p>
          <a:p>
            <a:pPr marL="363538" marR="0" lvl="0" indent="0" rtl="0">
              <a:lnSpc>
                <a:spcPts val="3300"/>
              </a:lnSpc>
              <a:buNone/>
            </a:pPr>
            <a:r>
              <a:rPr lang="zh-CN" altLang="en-US" sz="1800" i="0" u="none" strike="noStrike" kern="100" baseline="0" dirty="0"/>
              <a:t>管理数据的软件；用于维护数据库、接受和完成用户提出的访问数据库的请求。例如：微软公司的</a:t>
            </a:r>
            <a:r>
              <a:rPr lang="en-US" altLang="zh-CN" sz="1800" i="0" u="none" strike="noStrike" kern="100" baseline="0" dirty="0"/>
              <a:t>SQL Server</a:t>
            </a:r>
            <a:r>
              <a:rPr lang="zh-CN" altLang="en-US" sz="1800" i="0" u="none" strike="noStrike" kern="100" baseline="0" dirty="0"/>
              <a:t>和</a:t>
            </a:r>
            <a:r>
              <a:rPr lang="en-US" altLang="zh-CN" sz="1800" i="0" u="none" strike="noStrike" kern="100" baseline="0" dirty="0"/>
              <a:t>Access</a:t>
            </a:r>
            <a:r>
              <a:rPr lang="zh-CN" altLang="en-US" sz="1800" i="0" u="none" strike="noStrike" kern="100" baseline="0" dirty="0"/>
              <a:t>、甲骨文公司的</a:t>
            </a:r>
            <a:r>
              <a:rPr lang="en-US" altLang="zh-CN" sz="1800" i="0" u="none" strike="noStrike" kern="100" baseline="0" dirty="0"/>
              <a:t>Oracle</a:t>
            </a:r>
            <a:r>
              <a:rPr lang="zh-CN" altLang="en-US" sz="1800" i="0" u="none" strike="noStrike" kern="100" baseline="0" dirty="0"/>
              <a:t>、</a:t>
            </a:r>
            <a:r>
              <a:rPr lang="en-US" altLang="zh-CN" sz="1800" i="0" u="none" strike="noStrike" kern="100" baseline="0" dirty="0"/>
              <a:t>IBM</a:t>
            </a:r>
            <a:r>
              <a:rPr lang="zh-CN" altLang="en-US" sz="1800" i="0" u="none" strike="noStrike" kern="100" baseline="0" dirty="0"/>
              <a:t>公司的</a:t>
            </a:r>
            <a:r>
              <a:rPr lang="en-US" altLang="zh-CN" sz="1800" i="0" u="none" strike="noStrike" kern="100" baseline="0" dirty="0"/>
              <a:t>DB2</a:t>
            </a:r>
            <a:r>
              <a:rPr lang="zh-CN" altLang="en-US" sz="1800" i="0" u="none" strike="noStrike" kern="100" baseline="0" dirty="0"/>
              <a:t>和开源的</a:t>
            </a:r>
            <a:r>
              <a:rPr lang="en-US" altLang="zh-CN" sz="1800" i="0" u="none" strike="noStrike" kern="100" baseline="0" dirty="0"/>
              <a:t>MySQL</a:t>
            </a:r>
            <a:r>
              <a:rPr lang="zh-CN" altLang="en-US" sz="1800" i="0" u="none" strike="noStrike" kern="100" baseline="0" dirty="0"/>
              <a:t>等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目的：</a:t>
            </a:r>
            <a:r>
              <a:rPr lang="zh-CN" altLang="en-US" sz="2000" i="0" u="none" strike="noStrike" kern="100" baseline="0" dirty="0"/>
              <a:t>使用数据库，并对数据库中的数据进行数据处理和分析，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数据库管理系统</a:t>
            </a:r>
            <a:r>
              <a:rPr lang="zh-CN" altLang="en-US" sz="2000" i="0" u="none" strike="noStrike" kern="100" baseline="0" dirty="0"/>
              <a:t>是帮助达到这一目的的工具和手段</a:t>
            </a:r>
          </a:p>
          <a:p>
            <a:r>
              <a:rPr lang="zh-CN" altLang="en-US" sz="2000" kern="100" dirty="0">
                <a:solidFill>
                  <a:srgbClr val="0000FF"/>
                </a:solidFill>
              </a:rPr>
              <a:t>作用：</a:t>
            </a:r>
            <a:r>
              <a:rPr lang="en-US" altLang="zh-CN" sz="2000" kern="100" dirty="0"/>
              <a:t>DBMS</a:t>
            </a:r>
            <a:r>
              <a:rPr lang="zh-CN" altLang="en-US" sz="2000" kern="100" dirty="0"/>
              <a:t>作为数据库系统的核心，</a:t>
            </a:r>
            <a:r>
              <a:rPr lang="zh-CN" altLang="en-US" sz="2000" i="0" u="none" strike="noStrike" kern="100" baseline="0" dirty="0"/>
              <a:t>建立在操作系统</a:t>
            </a:r>
            <a:r>
              <a:rPr lang="en-US" altLang="zh-CN" sz="2000" i="0" u="none" strike="noStrike" kern="100" baseline="0" dirty="0"/>
              <a:t>OS</a:t>
            </a:r>
            <a:r>
              <a:rPr lang="zh-CN" altLang="en-US" sz="2000" i="0" u="none" strike="noStrike" kern="100" baseline="0" dirty="0"/>
              <a:t>之上，位于</a:t>
            </a:r>
            <a:r>
              <a:rPr lang="en-US" altLang="zh-CN" sz="2000" i="0" u="none" strike="noStrike" kern="100" baseline="0" dirty="0"/>
              <a:t>OS</a:t>
            </a:r>
            <a:r>
              <a:rPr lang="zh-CN" altLang="en-US" sz="2000" i="0" u="none" strike="noStrike" kern="100" baseline="0" dirty="0"/>
              <a:t>与用户之间的一个数据管理软件，负责对</a:t>
            </a:r>
            <a:r>
              <a:rPr lang="en-US" altLang="zh-CN" sz="2000" i="0" u="none" strike="noStrike" kern="100" baseline="0" dirty="0"/>
              <a:t>DB</a:t>
            </a:r>
            <a:r>
              <a:rPr lang="zh-CN" altLang="en-US" sz="2000" i="0" u="none" strike="noStrike" kern="100" baseline="0" dirty="0"/>
              <a:t>进行统一的管理和控制。保证了数据的安全性和完整性，同时提供了多用户并发控制和数据恢复机制。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科学地组织和存储数据、高效地获取和维护数据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411A-4FE4-7449-9D1A-60D7252BC6DC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1684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19256" cy="706090"/>
          </a:xfrm>
        </p:spPr>
        <p:txBody>
          <a:bodyPr/>
          <a:lstStyle/>
          <a:p>
            <a:pPr marR="0" rtl="0"/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数据库管理系统的功能</a:t>
            </a:r>
            <a:endParaRPr lang="zh-CN" altLang="en-US" b="1" i="0" u="none" strike="noStrike" kern="2200" baseline="0" dirty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836712"/>
            <a:ext cx="8784976" cy="5544616"/>
          </a:xfrm>
        </p:spPr>
        <p:txBody>
          <a:bodyPr>
            <a:noAutofit/>
          </a:bodyPr>
          <a:lstStyle/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数据定义：</a:t>
            </a:r>
            <a:r>
              <a:rPr lang="zh-CN" altLang="en-US" sz="2000" i="0" u="none" strike="noStrike" kern="100" baseline="0" dirty="0"/>
              <a:t>用于定义数据的数据定义语言（</a:t>
            </a:r>
            <a:r>
              <a:rPr lang="en-US" altLang="zh-CN" sz="2000" i="0" u="none" strike="noStrike" kern="100" baseline="0" dirty="0"/>
              <a:t>Data Definition Language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DDL</a:t>
            </a:r>
            <a:r>
              <a:rPr lang="zh-CN" altLang="en-US" sz="2000" i="0" u="none" strike="noStrike" kern="100" baseline="0" dirty="0"/>
              <a:t>），利用</a:t>
            </a:r>
            <a:r>
              <a:rPr lang="en-US" altLang="zh-CN" sz="2000" i="0" u="none" strike="noStrike" kern="100" baseline="0" dirty="0"/>
              <a:t>DDL</a:t>
            </a:r>
            <a:r>
              <a:rPr lang="zh-CN" altLang="en-US" sz="2000" i="0" u="none" strike="noStrike" kern="100" baseline="0" dirty="0"/>
              <a:t>可以方便的定义数据库的数据对象及其关系</a:t>
            </a:r>
          </a:p>
          <a:p>
            <a:pPr marR="0" lvl="0" rtl="0"/>
            <a:r>
              <a:rPr lang="zh-CN" altLang="en-US" sz="2000" kern="100" dirty="0">
                <a:solidFill>
                  <a:srgbClr val="0000FF"/>
                </a:solidFill>
              </a:rPr>
              <a:t>数据操纵：</a:t>
            </a:r>
            <a:r>
              <a:rPr lang="zh-CN" altLang="en-US" sz="2000" i="0" u="none" strike="noStrike" kern="100" baseline="0" dirty="0"/>
              <a:t>用于操作数据的数据操纵语言（</a:t>
            </a:r>
            <a:r>
              <a:rPr lang="en-US" altLang="zh-CN" sz="2000" i="0" u="none" strike="noStrike" kern="100" baseline="0" dirty="0"/>
              <a:t>Data Manipulation</a:t>
            </a:r>
            <a:r>
              <a:rPr lang="zh-CN" altLang="en-US" sz="2000" i="0" u="none" strike="noStrike" kern="100" baseline="0" dirty="0"/>
              <a:t> </a:t>
            </a:r>
            <a:r>
              <a:rPr lang="en-US" altLang="zh-CN" sz="2000" i="0" u="none" strike="noStrike" kern="100" baseline="0" dirty="0"/>
              <a:t>Language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DML</a:t>
            </a:r>
            <a:r>
              <a:rPr lang="zh-CN" altLang="en-US" sz="2000" i="0" u="none" strike="noStrike" kern="100" baseline="0" dirty="0"/>
              <a:t>），利用</a:t>
            </a:r>
            <a:r>
              <a:rPr lang="en-US" altLang="zh-CN" sz="2000" i="0" u="none" strike="noStrike" kern="100" baseline="0" dirty="0"/>
              <a:t>DML</a:t>
            </a:r>
            <a:r>
              <a:rPr lang="zh-CN" altLang="en-US" sz="2000" i="0" u="none" strike="noStrike" kern="100" baseline="0" dirty="0"/>
              <a:t>可以灵活方便的对数据库进行插入、修改、删除、查询和报表等操作</a:t>
            </a:r>
          </a:p>
          <a:p>
            <a:pPr marR="0" lvl="0" rtl="0"/>
            <a:r>
              <a:rPr lang="zh-CN" altLang="en-US" sz="2000" kern="100" dirty="0">
                <a:solidFill>
                  <a:srgbClr val="0000FF"/>
                </a:solidFill>
              </a:rPr>
              <a:t>事务和运行管理：</a:t>
            </a:r>
            <a:r>
              <a:rPr lang="zh-CN" altLang="en-US" sz="2000" i="0" u="none" strike="noStrike" kern="100" baseline="0" dirty="0"/>
              <a:t>用于实现对数据库的安全性、完整性、并发性和恢复性等进行保护控制的数据控制语言（</a:t>
            </a:r>
            <a:r>
              <a:rPr lang="en-US" altLang="zh-CN" sz="2000" i="0" u="none" strike="noStrike" kern="100" baseline="0" dirty="0"/>
              <a:t>Data Control Language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DCL</a:t>
            </a:r>
            <a:r>
              <a:rPr lang="zh-CN" altLang="en-US" sz="2000" i="0" u="none" strike="noStrike" kern="100" baseline="0" dirty="0"/>
              <a:t>），以保证数据的安全和完整</a:t>
            </a:r>
          </a:p>
          <a:p>
            <a:pPr marR="0" lvl="0" rtl="0"/>
            <a:r>
              <a:rPr lang="zh-CN" altLang="en-US" sz="2000" kern="100" dirty="0">
                <a:solidFill>
                  <a:srgbClr val="0000FF"/>
                </a:solidFill>
              </a:rPr>
              <a:t>组织、存储和管理数据：</a:t>
            </a:r>
            <a:r>
              <a:rPr lang="zh-CN" altLang="en-US" sz="2000" i="0" u="none" strike="noStrike" kern="100" baseline="0" dirty="0"/>
              <a:t>实现对数据库的统一组织、存储和管理，确定数据库文件的存储结构和访问方式，减少数据冗余，提高数据库的利用率</a:t>
            </a:r>
          </a:p>
          <a:p>
            <a:pPr marR="0" lvl="0" rtl="0"/>
            <a:r>
              <a:rPr lang="zh-CN" altLang="en-US" sz="2000" kern="100" dirty="0">
                <a:solidFill>
                  <a:srgbClr val="0000FF"/>
                </a:solidFill>
              </a:rPr>
              <a:t>数据库的建立和维护：</a:t>
            </a:r>
            <a:r>
              <a:rPr lang="zh-CN" altLang="en-US" sz="2000" i="0" u="none" strike="noStrike" kern="100" baseline="0" dirty="0"/>
              <a:t>数据定义、操纵、控制和存贮的具体实现；数据库的备份与重组重构、性能监视与分析等维护任务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21B5-2E6E-0742-BF67-E6D23799DD66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4904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1.2.4</a:t>
            </a:r>
            <a:r>
              <a:rPr lang="zh-CN" altLang="en-US" i="0" u="none" strike="noStrike" kern="2200" baseline="0" dirty="0"/>
              <a:t> 数据库系统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数据库系统（</a:t>
            </a:r>
            <a:r>
              <a:rPr lang="en-US" altLang="zh-CN" sz="2000" i="0" u="none" strike="noStrike" kern="100" baseline="0" dirty="0" err="1">
                <a:solidFill>
                  <a:srgbClr val="0000FF"/>
                </a:solidFill>
              </a:rPr>
              <a:t>DataBase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 System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，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DBS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）：</a:t>
            </a:r>
            <a:r>
              <a:rPr lang="zh-CN" altLang="en-US" sz="2000" i="0" u="none" strike="noStrike" kern="100" baseline="0" dirty="0"/>
              <a:t>在计算机系统中引入数据库后，由数据库、数据库管理系统、开发工具、应用系统、数据库管理员和用户等构成的完整系统。</a:t>
            </a:r>
          </a:p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组成：</a:t>
            </a:r>
            <a:r>
              <a:rPr lang="zh-CN" altLang="en-US" sz="2000" i="0" u="none" strike="noStrike" kern="100" baseline="0" dirty="0"/>
              <a:t>由硬件、软件和人员等三大部分组成</a:t>
            </a:r>
          </a:p>
          <a:p>
            <a:pPr marR="0" lvl="1" rtl="0"/>
            <a:r>
              <a:rPr lang="zh-CN" altLang="en-US" sz="1800" i="0" u="none" strike="noStrike" kern="100" baseline="0" dirty="0"/>
              <a:t>硬件：计算机硬件和数据库专用硬件。</a:t>
            </a:r>
          </a:p>
          <a:p>
            <a:pPr marL="457200" marR="0" lvl="1" indent="0" rtl="0">
              <a:buNone/>
            </a:pPr>
            <a:r>
              <a:rPr lang="zh-CN" altLang="en-US" sz="1800" i="0" u="none" strike="noStrike" kern="100" baseline="0" dirty="0"/>
              <a:t>计算机硬件：计算机的</a:t>
            </a:r>
            <a:r>
              <a:rPr lang="en-US" altLang="zh-CN" sz="1800" i="0" u="none" strike="noStrike" kern="100" baseline="0" dirty="0"/>
              <a:t>CPU</a:t>
            </a:r>
            <a:r>
              <a:rPr lang="zh-CN" altLang="en-US" sz="1800" i="0" u="none" strike="noStrike" kern="100" baseline="0" dirty="0"/>
              <a:t>、内存、硬盘、交换机和路由器等</a:t>
            </a:r>
            <a:endParaRPr lang="en-US" altLang="zh-CN" sz="1800" i="0" u="none" strike="noStrike" kern="100" baseline="0" dirty="0"/>
          </a:p>
          <a:p>
            <a:pPr marL="457200" marR="0" lvl="1" indent="0" rtl="0">
              <a:buNone/>
            </a:pPr>
            <a:r>
              <a:rPr lang="zh-CN" altLang="en-US" sz="1800" i="0" u="none" strike="noStrike" kern="100" baseline="0" dirty="0"/>
              <a:t>数据库专用硬件：快速存取数据的磁盘阵列、磁带阵列或者光盘阵列、快速传输设备和数据备份设备等</a:t>
            </a:r>
          </a:p>
          <a:p>
            <a:pPr marR="0" lvl="1" rtl="0"/>
            <a:r>
              <a:rPr lang="zh-CN" altLang="en-US" sz="1800" i="0" u="none" strike="noStrike" kern="100" baseline="0" dirty="0"/>
              <a:t>软件：操作系统（</a:t>
            </a:r>
            <a:r>
              <a:rPr lang="en-US" altLang="zh-CN" sz="1800" i="0" u="none" strike="noStrike" kern="100" baseline="0" dirty="0"/>
              <a:t>Operating System</a:t>
            </a:r>
            <a:r>
              <a:rPr lang="zh-CN" altLang="en-US" sz="1800" i="0" u="none" strike="noStrike" kern="100" baseline="0" dirty="0"/>
              <a:t>，</a:t>
            </a:r>
            <a:r>
              <a:rPr lang="en-US" altLang="zh-CN" sz="1800" i="0" u="none" strike="noStrike" kern="100" baseline="0" dirty="0"/>
              <a:t>OS</a:t>
            </a:r>
            <a:r>
              <a:rPr lang="zh-CN" altLang="en-US" sz="1800" i="0" u="none" strike="noStrike" kern="100" baseline="0" dirty="0"/>
              <a:t>）、</a:t>
            </a:r>
            <a:r>
              <a:rPr lang="en-US" altLang="zh-CN" sz="1800" i="0" u="none" strike="noStrike" kern="100" baseline="0" dirty="0"/>
              <a:t>DBMS</a:t>
            </a:r>
            <a:r>
              <a:rPr lang="zh-CN" altLang="en-US" sz="1800" i="0" u="none" strike="noStrike" kern="100" baseline="0" dirty="0"/>
              <a:t>、开发工具（程序设计语言和专用工具）和应用系统等</a:t>
            </a:r>
          </a:p>
          <a:p>
            <a:pPr marR="0" lvl="1" rtl="0"/>
            <a:r>
              <a:rPr lang="zh-CN" altLang="en-US" sz="1800" i="0" u="none" strike="noStrike" kern="100" baseline="0" dirty="0"/>
              <a:t>人员：数据库设计员、程序员、数据库管理员和用户等。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DEAF-B54F-FB4C-BFB0-573CBF3FF841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3628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1.2.4</a:t>
            </a:r>
            <a:r>
              <a:rPr lang="zh-CN" altLang="en-US" i="0" u="none" strike="noStrike" kern="2200" baseline="0" dirty="0"/>
              <a:t> 数据库系统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5040560"/>
          </a:xfrm>
        </p:spPr>
        <p:txBody>
          <a:bodyPr>
            <a:noAutofit/>
          </a:bodyPr>
          <a:lstStyle/>
          <a:p>
            <a:r>
              <a:rPr lang="zh-CN" altLang="en-US" i="0" u="none" strike="noStrike" kern="100" baseline="0" dirty="0"/>
              <a:t>人员：数据库设计员、程序员、数据库管理员和用户等。</a:t>
            </a:r>
          </a:p>
          <a:p>
            <a:pPr marR="0" lvl="1" rtl="0"/>
            <a:r>
              <a:rPr lang="zh-CN" altLang="en-US" sz="2000" i="0" u="none" strike="noStrike" kern="100" baseline="0" dirty="0"/>
              <a:t>数据库设计员：负责系统的需求分析、性能分析、概念结构、逻辑结构和物理结构设计等。</a:t>
            </a:r>
          </a:p>
          <a:p>
            <a:pPr marR="0" lvl="1" rtl="0"/>
            <a:r>
              <a:rPr lang="zh-CN" altLang="en-US" sz="2000" i="0" u="none" strike="noStrike" kern="100" baseline="0" dirty="0"/>
              <a:t>程序员：主要负责应用系统的设计、实现和测试。</a:t>
            </a:r>
          </a:p>
          <a:p>
            <a:pPr marR="0" lvl="1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数据库管理员（</a:t>
            </a:r>
            <a:r>
              <a:rPr lang="en-US" altLang="zh-CN" sz="2000" i="0" u="none" strike="noStrike" kern="100" baseline="0" dirty="0" err="1">
                <a:solidFill>
                  <a:srgbClr val="0000FF"/>
                </a:solidFill>
              </a:rPr>
              <a:t>DataBase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 Administrator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，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DBA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）：</a:t>
            </a:r>
            <a:r>
              <a:rPr lang="zh-CN" altLang="en-US" sz="2000" i="0" u="none" strike="noStrike" kern="100" baseline="0" dirty="0"/>
              <a:t>对数据库进行建立、使用和维护等的专职管理人员。</a:t>
            </a:r>
            <a:r>
              <a:rPr lang="en-US" altLang="zh-CN" sz="2000" i="0" u="none" strike="noStrike" kern="100" baseline="0" dirty="0"/>
              <a:t>DBA</a:t>
            </a:r>
            <a:r>
              <a:rPr lang="zh-CN" altLang="en-US" sz="2000" i="0" u="none" strike="noStrike" kern="100" baseline="0" dirty="0"/>
              <a:t>应该与数据库设计员、程序员和用户，共同参与数据库设计。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9AF3-7C24-4C48-86E0-ADC4E3880BB1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4315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19256" cy="706090"/>
          </a:xfrm>
        </p:spPr>
        <p:txBody>
          <a:bodyPr/>
          <a:lstStyle/>
          <a:p>
            <a:pPr marR="0" rtl="0"/>
            <a:r>
              <a:rPr lang="en-US" altLang="zh-CN" i="0" u="none" strike="noStrike" kern="2200" baseline="0" dirty="0">
                <a:solidFill>
                  <a:srgbClr val="0000FF"/>
                </a:solidFill>
              </a:rPr>
              <a:t>DBA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的职责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908720"/>
            <a:ext cx="8712968" cy="5328592"/>
          </a:xfrm>
        </p:spPr>
        <p:txBody>
          <a:bodyPr>
            <a:noAutofit/>
          </a:bodyPr>
          <a:lstStyle/>
          <a:p>
            <a:pPr marR="0" lvl="0" rtl="0"/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决定数据库的信息内容和结构</a:t>
            </a:r>
          </a:p>
          <a:p>
            <a:pPr marL="0" marR="0" lvl="0" indent="0" rtl="0">
              <a:buNone/>
            </a:pPr>
            <a:r>
              <a:rPr lang="zh-CN" altLang="en-US" sz="2000" u="none" strike="noStrike" kern="100" baseline="0" dirty="0"/>
              <a:t>     根据存储的数据，对数据库的信息内容和结构作统一的结构化处理。</a:t>
            </a:r>
          </a:p>
          <a:p>
            <a:pPr marR="0" lvl="0" rtl="0"/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决定数据库的存储结构和存取策略：</a:t>
            </a:r>
            <a:r>
              <a:rPr lang="zh-CN" altLang="en-US" sz="2000" u="none" strike="noStrike" kern="100" baseline="0" dirty="0"/>
              <a:t>确定数据在存储设备上的存储结构和存取策略，提高存取效率和存储空间的利用率。</a:t>
            </a:r>
          </a:p>
          <a:p>
            <a:pPr marR="0" lvl="0" rtl="0"/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定义数据的安全性和完整性约束：</a:t>
            </a:r>
            <a:r>
              <a:rPr lang="zh-CN" altLang="en-US" sz="2000" u="none" strike="noStrike" kern="100" baseline="0" dirty="0"/>
              <a:t>定义用户对数据库的存取权限、数据的保密级别和完整性约束条件，从而保证数据库的安全性和完整性</a:t>
            </a:r>
          </a:p>
          <a:p>
            <a:pPr marR="0" lvl="0" rtl="0"/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监控数据库的使用和运行：</a:t>
            </a:r>
            <a:r>
              <a:rPr lang="en-US" altLang="zh-CN" sz="2000" u="none" strike="noStrike" kern="100" baseline="0" dirty="0"/>
              <a:t>DBA</a:t>
            </a:r>
            <a:r>
              <a:rPr lang="zh-CN" altLang="en-US" sz="2000" u="none" strike="noStrike" kern="100" baseline="0" dirty="0"/>
              <a:t>负责监视数据库系统运行的整个过程，并且及时处理运行过程中出现的问题。</a:t>
            </a:r>
          </a:p>
          <a:p>
            <a:pPr marR="0" lvl="0" rtl="0"/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数据库的改进、重组和重构：</a:t>
            </a:r>
            <a:r>
              <a:rPr lang="zh-CN" altLang="en-US" sz="2000" u="none" strike="noStrike" kern="100" baseline="0" dirty="0"/>
              <a:t>分析系统运行的性能指标，根据实际情况，不断改进数据库设计。根据影响系统性能的因素，</a:t>
            </a:r>
            <a:r>
              <a:rPr lang="en-US" altLang="zh-CN" sz="2000" u="none" strike="noStrike" kern="100" baseline="0" dirty="0"/>
              <a:t>DBA</a:t>
            </a:r>
            <a:r>
              <a:rPr lang="zh-CN" altLang="en-US" sz="2000" u="none" strike="noStrike" kern="100" baseline="0" dirty="0"/>
              <a:t>有权定期对数据库进行重组织和重构造，以提高整个系统的性能。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3EE94-D19D-8A4E-AF55-5D7AFCB150A8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5799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数据库系统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5E8D7-DDB8-DF49-8C21-EAC608E66707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grpSp>
        <p:nvGrpSpPr>
          <p:cNvPr id="53" name="组合 52"/>
          <p:cNvGrpSpPr/>
          <p:nvPr/>
        </p:nvGrpSpPr>
        <p:grpSpPr>
          <a:xfrm>
            <a:off x="1979712" y="1054525"/>
            <a:ext cx="5628438" cy="5042016"/>
            <a:chOff x="1196340" y="1236433"/>
            <a:chExt cx="2269487" cy="3305748"/>
          </a:xfrm>
        </p:grpSpPr>
        <p:sp>
          <p:nvSpPr>
            <p:cNvPr id="7" name="Rectangle 612"/>
            <p:cNvSpPr>
              <a:spLocks noChangeArrowheads="1"/>
            </p:cNvSpPr>
            <p:nvPr/>
          </p:nvSpPr>
          <p:spPr bwMode="auto">
            <a:xfrm>
              <a:off x="1196340" y="2811780"/>
              <a:ext cx="64008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1400"/>
                </a:lnSpc>
                <a:spcAft>
                  <a:spcPts val="0"/>
                </a:spcAft>
              </a:pPr>
              <a:r>
                <a:rPr lang="zh-CN" sz="1600" kern="100">
                  <a:effectLst/>
                  <a:latin typeface="微软雅黑" pitchFamily="34" charset="-122"/>
                  <a:ea typeface="微软雅黑" pitchFamily="34" charset="-122"/>
                </a:rPr>
                <a:t>。。。</a:t>
              </a:r>
            </a:p>
          </p:txBody>
        </p:sp>
        <p:sp>
          <p:nvSpPr>
            <p:cNvPr id="8" name="Rectangle 620"/>
            <p:cNvSpPr>
              <a:spLocks noChangeArrowheads="1"/>
            </p:cNvSpPr>
            <p:nvPr/>
          </p:nvSpPr>
          <p:spPr bwMode="auto">
            <a:xfrm>
              <a:off x="1363980" y="1253750"/>
              <a:ext cx="426720" cy="3352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 dirty="0">
                  <a:latin typeface="微软雅黑" pitchFamily="34" charset="-122"/>
                  <a:ea typeface="微软雅黑" pitchFamily="34" charset="-122"/>
                </a:rPr>
                <a:t>用户</a:t>
              </a:r>
              <a:r>
                <a:rPr lang="en-US" sz="1600" kern="100" dirty="0"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sz="1600" kern="100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9" name="Line 621"/>
            <p:cNvCxnSpPr>
              <a:cxnSpLocks noChangeShapeType="1"/>
              <a:stCxn id="8" idx="3"/>
              <a:endCxn id="11" idx="2"/>
            </p:cNvCxnSpPr>
            <p:nvPr/>
          </p:nvCxnSpPr>
          <p:spPr bwMode="auto">
            <a:xfrm>
              <a:off x="1790700" y="1421390"/>
              <a:ext cx="255016" cy="2931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AutoShape 622"/>
            <p:cNvSpPr>
              <a:spLocks noChangeArrowheads="1"/>
            </p:cNvSpPr>
            <p:nvPr/>
          </p:nvSpPr>
          <p:spPr bwMode="auto">
            <a:xfrm>
              <a:off x="1860804" y="4123081"/>
              <a:ext cx="469392" cy="419100"/>
            </a:xfrm>
            <a:prstGeom prst="can">
              <a:avLst>
                <a:gd name="adj" fmla="val 3096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en-US" sz="1600" kern="100" dirty="0">
                  <a:effectLst/>
                  <a:latin typeface="微软雅黑" pitchFamily="34" charset="-122"/>
                  <a:ea typeface="微软雅黑" pitchFamily="34" charset="-122"/>
                </a:rPr>
                <a:t>DB</a:t>
              </a:r>
              <a:endParaRPr lang="zh-CN" sz="1600" kern="100" dirty="0">
                <a:effectLst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Rectangle 623"/>
            <p:cNvSpPr>
              <a:spLocks noChangeArrowheads="1"/>
            </p:cNvSpPr>
            <p:nvPr/>
          </p:nvSpPr>
          <p:spPr bwMode="auto">
            <a:xfrm>
              <a:off x="1668780" y="1295400"/>
              <a:ext cx="753872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1400"/>
                </a:lnSpc>
                <a:spcAft>
                  <a:spcPts val="0"/>
                </a:spcAft>
              </a:pPr>
              <a:r>
                <a:rPr lang="zh-CN" sz="1600" kern="100">
                  <a:effectLst/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12" name="Rectangle 624"/>
            <p:cNvSpPr>
              <a:spLocks noChangeArrowheads="1"/>
            </p:cNvSpPr>
            <p:nvPr/>
          </p:nvSpPr>
          <p:spPr bwMode="auto">
            <a:xfrm>
              <a:off x="1499108" y="2133776"/>
              <a:ext cx="1251712" cy="9497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>
                  <a:effectLst/>
                  <a:latin typeface="微软雅黑" pitchFamily="34" charset="-122"/>
                  <a:ea typeface="微软雅黑" pitchFamily="34" charset="-122"/>
                </a:rPr>
                <a:t> </a:t>
              </a:r>
              <a:endParaRPr lang="zh-CN" sz="1600" kern="100">
                <a:effectLst/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3" name="Line 625"/>
            <p:cNvCxnSpPr>
              <a:cxnSpLocks noChangeShapeType="1"/>
              <a:stCxn id="14" idx="2"/>
            </p:cNvCxnSpPr>
            <p:nvPr/>
          </p:nvCxnSpPr>
          <p:spPr bwMode="auto">
            <a:xfrm>
              <a:off x="3231131" y="3468609"/>
              <a:ext cx="0" cy="3503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Rectangle 626"/>
            <p:cNvSpPr>
              <a:spLocks noChangeArrowheads="1"/>
            </p:cNvSpPr>
            <p:nvPr/>
          </p:nvSpPr>
          <p:spPr bwMode="auto">
            <a:xfrm>
              <a:off x="2996435" y="3178463"/>
              <a:ext cx="469392" cy="290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en-US" sz="1600" kern="100" dirty="0">
                  <a:effectLst/>
                  <a:latin typeface="微软雅黑" pitchFamily="34" charset="-122"/>
                  <a:ea typeface="微软雅黑" pitchFamily="34" charset="-122"/>
                </a:rPr>
                <a:t>DBA</a:t>
              </a:r>
              <a:endParaRPr lang="zh-CN" sz="1600" kern="100" dirty="0">
                <a:effectLst/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5" name="Line 627"/>
            <p:cNvCxnSpPr>
              <a:cxnSpLocks noChangeShapeType="1"/>
              <a:stCxn id="21" idx="3"/>
              <a:endCxn id="14" idx="1"/>
            </p:cNvCxnSpPr>
            <p:nvPr/>
          </p:nvCxnSpPr>
          <p:spPr bwMode="auto">
            <a:xfrm>
              <a:off x="2593340" y="3323536"/>
              <a:ext cx="4030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AutoShape 628"/>
            <p:cNvSpPr>
              <a:spLocks noChangeArrowheads="1"/>
            </p:cNvSpPr>
            <p:nvPr/>
          </p:nvSpPr>
          <p:spPr bwMode="auto">
            <a:xfrm>
              <a:off x="1597660" y="2207826"/>
              <a:ext cx="995680" cy="335280"/>
            </a:xfrm>
            <a:prstGeom prst="plaque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 dirty="0">
                  <a:effectLst/>
                  <a:latin typeface="微软雅黑" pitchFamily="34" charset="-122"/>
                  <a:ea typeface="微软雅黑" pitchFamily="34" charset="-122"/>
                </a:rPr>
                <a:t>数据库专用工具</a:t>
              </a:r>
            </a:p>
          </p:txBody>
        </p:sp>
        <p:sp>
          <p:nvSpPr>
            <p:cNvPr id="17" name="AutoShape 629"/>
            <p:cNvSpPr>
              <a:spLocks noChangeArrowheads="1"/>
            </p:cNvSpPr>
            <p:nvPr/>
          </p:nvSpPr>
          <p:spPr bwMode="auto">
            <a:xfrm>
              <a:off x="1526540" y="1724444"/>
              <a:ext cx="1137920" cy="3352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 dirty="0">
                  <a:effectLst/>
                  <a:latin typeface="微软雅黑" pitchFamily="34" charset="-122"/>
                  <a:ea typeface="微软雅黑" pitchFamily="34" charset="-122"/>
                </a:rPr>
                <a:t>应用系统</a:t>
              </a:r>
            </a:p>
          </p:txBody>
        </p:sp>
        <p:sp>
          <p:nvSpPr>
            <p:cNvPr id="18" name="Rectangle 630"/>
            <p:cNvSpPr>
              <a:spLocks noChangeArrowheads="1"/>
            </p:cNvSpPr>
            <p:nvPr/>
          </p:nvSpPr>
          <p:spPr bwMode="auto">
            <a:xfrm>
              <a:off x="2537460" y="1236433"/>
              <a:ext cx="426720" cy="3352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 dirty="0">
                  <a:latin typeface="微软雅黑" pitchFamily="34" charset="-122"/>
                  <a:ea typeface="微软雅黑" pitchFamily="34" charset="-122"/>
                </a:rPr>
                <a:t>用户</a:t>
              </a:r>
              <a:r>
                <a:rPr lang="en-US" sz="1600" kern="100" dirty="0">
                  <a:latin typeface="微软雅黑" pitchFamily="34" charset="-122"/>
                  <a:ea typeface="微软雅黑" pitchFamily="34" charset="-122"/>
                </a:rPr>
                <a:t>n</a:t>
              </a:r>
              <a:endParaRPr lang="zh-CN" sz="1600" kern="100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9" name="Line 631"/>
            <p:cNvCxnSpPr>
              <a:cxnSpLocks noChangeShapeType="1"/>
              <a:stCxn id="18" idx="1"/>
              <a:endCxn id="11" idx="2"/>
            </p:cNvCxnSpPr>
            <p:nvPr/>
          </p:nvCxnSpPr>
          <p:spPr bwMode="auto">
            <a:xfrm flipH="1">
              <a:off x="2045716" y="1404073"/>
              <a:ext cx="491744" cy="3104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AutoShape 632"/>
            <p:cNvSpPr>
              <a:spLocks noChangeArrowheads="1"/>
            </p:cNvSpPr>
            <p:nvPr/>
          </p:nvSpPr>
          <p:spPr bwMode="auto">
            <a:xfrm>
              <a:off x="1597660" y="2659272"/>
              <a:ext cx="995680" cy="335280"/>
            </a:xfrm>
            <a:prstGeom prst="plaque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 dirty="0">
                  <a:effectLst/>
                  <a:latin typeface="微软雅黑" pitchFamily="34" charset="-122"/>
                  <a:ea typeface="微软雅黑" pitchFamily="34" charset="-122"/>
                </a:rPr>
                <a:t>程序设计语言</a:t>
              </a:r>
            </a:p>
          </p:txBody>
        </p:sp>
        <p:sp>
          <p:nvSpPr>
            <p:cNvPr id="21" name="AutoShape 633"/>
            <p:cNvSpPr>
              <a:spLocks noChangeArrowheads="1"/>
            </p:cNvSpPr>
            <p:nvPr/>
          </p:nvSpPr>
          <p:spPr bwMode="auto">
            <a:xfrm>
              <a:off x="1597660" y="3155896"/>
              <a:ext cx="995680" cy="335280"/>
            </a:xfrm>
            <a:prstGeom prst="plaque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en-US" sz="1600" kern="100" dirty="0">
                  <a:effectLst/>
                  <a:latin typeface="微软雅黑" pitchFamily="34" charset="-122"/>
                  <a:ea typeface="微软雅黑" pitchFamily="34" charset="-122"/>
                </a:rPr>
                <a:t>DBMS</a:t>
              </a:r>
              <a:endParaRPr lang="zh-CN" sz="1600" kern="100" dirty="0">
                <a:effectLst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AutoShape 634"/>
            <p:cNvSpPr>
              <a:spLocks noChangeArrowheads="1"/>
            </p:cNvSpPr>
            <p:nvPr/>
          </p:nvSpPr>
          <p:spPr bwMode="auto">
            <a:xfrm>
              <a:off x="1704340" y="3651331"/>
              <a:ext cx="782320" cy="335280"/>
            </a:xfrm>
            <a:prstGeom prst="hexagon">
              <a:avLst>
                <a:gd name="adj" fmla="val 79327"/>
                <a:gd name="vf" fmla="val 11547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en-US" sz="1600" kern="100" dirty="0">
                  <a:effectLst/>
                  <a:latin typeface="微软雅黑" pitchFamily="34" charset="-122"/>
                  <a:ea typeface="微软雅黑" pitchFamily="34" charset="-122"/>
                </a:rPr>
                <a:t>OS</a:t>
              </a:r>
              <a:endParaRPr lang="zh-CN" sz="1600" kern="100" dirty="0">
                <a:effectLst/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3" name="Line 635"/>
            <p:cNvCxnSpPr>
              <a:cxnSpLocks noChangeShapeType="1"/>
              <a:stCxn id="20" idx="2"/>
              <a:endCxn id="21" idx="0"/>
            </p:cNvCxnSpPr>
            <p:nvPr/>
          </p:nvCxnSpPr>
          <p:spPr bwMode="auto">
            <a:xfrm>
              <a:off x="2095500" y="2994552"/>
              <a:ext cx="0" cy="1613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636"/>
            <p:cNvCxnSpPr>
              <a:cxnSpLocks noChangeShapeType="1"/>
            </p:cNvCxnSpPr>
            <p:nvPr/>
          </p:nvCxnSpPr>
          <p:spPr bwMode="auto">
            <a:xfrm>
              <a:off x="2097415" y="3491176"/>
              <a:ext cx="0" cy="1601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637"/>
            <p:cNvCxnSpPr>
              <a:cxnSpLocks noChangeShapeType="1"/>
              <a:endCxn id="10" idx="1"/>
            </p:cNvCxnSpPr>
            <p:nvPr/>
          </p:nvCxnSpPr>
          <p:spPr bwMode="auto">
            <a:xfrm>
              <a:off x="2095500" y="3986611"/>
              <a:ext cx="0" cy="136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Line 638"/>
            <p:cNvCxnSpPr>
              <a:cxnSpLocks noChangeShapeType="1"/>
              <a:stCxn id="20" idx="0"/>
              <a:endCxn id="16" idx="2"/>
            </p:cNvCxnSpPr>
            <p:nvPr/>
          </p:nvCxnSpPr>
          <p:spPr bwMode="auto">
            <a:xfrm flipV="1">
              <a:off x="2095500" y="2543106"/>
              <a:ext cx="0" cy="116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639"/>
            <p:cNvCxnSpPr>
              <a:cxnSpLocks noChangeShapeType="1"/>
              <a:stCxn id="17" idx="2"/>
              <a:endCxn id="16" idx="0"/>
            </p:cNvCxnSpPr>
            <p:nvPr/>
          </p:nvCxnSpPr>
          <p:spPr bwMode="auto">
            <a:xfrm>
              <a:off x="2095500" y="2059724"/>
              <a:ext cx="0" cy="1481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Line 640"/>
            <p:cNvCxnSpPr>
              <a:cxnSpLocks noChangeShapeType="1"/>
              <a:stCxn id="22" idx="0"/>
            </p:cNvCxnSpPr>
            <p:nvPr/>
          </p:nvCxnSpPr>
          <p:spPr bwMode="auto">
            <a:xfrm>
              <a:off x="2486660" y="3818971"/>
              <a:ext cx="7376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Rectangle 641"/>
            <p:cNvSpPr>
              <a:spLocks noChangeArrowheads="1"/>
            </p:cNvSpPr>
            <p:nvPr/>
          </p:nvSpPr>
          <p:spPr bwMode="auto">
            <a:xfrm>
              <a:off x="2970367" y="2285428"/>
              <a:ext cx="469392" cy="594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 fontAlgn="ctr">
                <a:lnSpc>
                  <a:spcPts val="26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zh-CN" sz="1600" kern="100" dirty="0">
                  <a:effectLst/>
                  <a:latin typeface="微软雅黑" pitchFamily="34" charset="-122"/>
                  <a:ea typeface="微软雅黑" pitchFamily="34" charset="-122"/>
                </a:rPr>
                <a:t>开发</a:t>
              </a:r>
            </a:p>
            <a:p>
              <a:pPr algn="ctr">
                <a:lnSpc>
                  <a:spcPts val="26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zh-CN" sz="1600" kern="100" dirty="0">
                  <a:effectLst/>
                  <a:latin typeface="微软雅黑" pitchFamily="34" charset="-122"/>
                  <a:ea typeface="微软雅黑" pitchFamily="34" charset="-122"/>
                </a:rPr>
                <a:t>工具</a:t>
              </a:r>
            </a:p>
          </p:txBody>
        </p:sp>
        <p:cxnSp>
          <p:nvCxnSpPr>
            <p:cNvPr id="30" name="Line 642"/>
            <p:cNvCxnSpPr>
              <a:cxnSpLocks noChangeShapeType="1"/>
              <a:stCxn id="12" idx="3"/>
              <a:endCxn id="29" idx="1"/>
            </p:cNvCxnSpPr>
            <p:nvPr/>
          </p:nvCxnSpPr>
          <p:spPr bwMode="auto">
            <a:xfrm flipV="1">
              <a:off x="2750820" y="2582608"/>
              <a:ext cx="219547" cy="260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028999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spcAft>
                <a:spcPct val="0"/>
              </a:spcAft>
            </a:pPr>
            <a:r>
              <a:rPr lang="zh-CN" altLang="zh-CN" dirty="0"/>
              <a:t>数据库系统与计算机系统的关系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E747-5C33-5B41-85D2-39F48DEC0E28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772371" y="1295400"/>
            <a:ext cx="5328592" cy="4869904"/>
            <a:chOff x="3870325" y="1295400"/>
            <a:chExt cx="2264410" cy="2789555"/>
          </a:xfrm>
        </p:grpSpPr>
        <p:sp>
          <p:nvSpPr>
            <p:cNvPr id="8" name="Rectangle 643"/>
            <p:cNvSpPr>
              <a:spLocks noChangeArrowheads="1"/>
            </p:cNvSpPr>
            <p:nvPr/>
          </p:nvSpPr>
          <p:spPr bwMode="auto">
            <a:xfrm>
              <a:off x="3870325" y="1295400"/>
              <a:ext cx="2264410" cy="278955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000"/>
                </a:lnSpc>
                <a:spcAft>
                  <a:spcPts val="0"/>
                </a:spcAft>
              </a:pPr>
              <a:r>
                <a:rPr lang="zh-CN" sz="2000" kern="100" dirty="0">
                  <a:effectLst/>
                  <a:latin typeface="微软雅黑" pitchFamily="34" charset="-122"/>
                  <a:ea typeface="微软雅黑" pitchFamily="34" charset="-122"/>
                </a:rPr>
                <a:t>用户</a:t>
              </a:r>
            </a:p>
          </p:txBody>
        </p:sp>
        <p:grpSp>
          <p:nvGrpSpPr>
            <p:cNvPr id="9" name="Group 613"/>
            <p:cNvGrpSpPr>
              <a:grpSpLocks/>
            </p:cNvGrpSpPr>
            <p:nvPr/>
          </p:nvGrpSpPr>
          <p:grpSpPr bwMode="auto">
            <a:xfrm>
              <a:off x="4076700" y="1554480"/>
              <a:ext cx="1905000" cy="2301240"/>
              <a:chOff x="5910" y="3912"/>
              <a:chExt cx="3000" cy="4464"/>
            </a:xfrm>
          </p:grpSpPr>
          <p:sp>
            <p:nvSpPr>
              <p:cNvPr id="10" name="Rectangle 614"/>
              <p:cNvSpPr>
                <a:spLocks noChangeArrowheads="1"/>
              </p:cNvSpPr>
              <p:nvPr/>
            </p:nvSpPr>
            <p:spPr bwMode="auto">
              <a:xfrm>
                <a:off x="5910" y="3912"/>
                <a:ext cx="3000" cy="44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zh-CN" sz="2000" kern="100">
                    <a:effectLst/>
                    <a:latin typeface="微软雅黑" pitchFamily="34" charset="-122"/>
                    <a:ea typeface="微软雅黑" pitchFamily="34" charset="-122"/>
                  </a:rPr>
                  <a:t>应用系统</a:t>
                </a:r>
              </a:p>
            </p:txBody>
          </p:sp>
          <p:sp>
            <p:nvSpPr>
              <p:cNvPr id="11" name="Rectangle 615"/>
              <p:cNvSpPr>
                <a:spLocks noChangeArrowheads="1"/>
              </p:cNvSpPr>
              <p:nvPr/>
            </p:nvSpPr>
            <p:spPr bwMode="auto">
              <a:xfrm>
                <a:off x="6174" y="4416"/>
                <a:ext cx="2496" cy="35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zh-CN" sz="2000" kern="100" dirty="0">
                    <a:effectLst/>
                    <a:latin typeface="微软雅黑" pitchFamily="34" charset="-122"/>
                    <a:ea typeface="微软雅黑" pitchFamily="34" charset="-122"/>
                  </a:rPr>
                  <a:t>开发工具</a:t>
                </a:r>
              </a:p>
            </p:txBody>
          </p:sp>
          <p:sp>
            <p:nvSpPr>
              <p:cNvPr id="12" name="Rectangle 616"/>
              <p:cNvSpPr>
                <a:spLocks noChangeArrowheads="1"/>
              </p:cNvSpPr>
              <p:nvPr/>
            </p:nvSpPr>
            <p:spPr bwMode="auto">
              <a:xfrm>
                <a:off x="6438" y="4992"/>
                <a:ext cx="1992" cy="26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en-US" sz="2000" kern="100" dirty="0">
                    <a:effectLst/>
                    <a:latin typeface="微软雅黑" pitchFamily="34" charset="-122"/>
                    <a:ea typeface="微软雅黑" pitchFamily="34" charset="-122"/>
                  </a:rPr>
                  <a:t>DBMS</a:t>
                </a:r>
                <a:endParaRPr lang="zh-CN" sz="2000" kern="100" dirty="0">
                  <a:effectLst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Rectangle 617"/>
              <p:cNvSpPr>
                <a:spLocks noChangeArrowheads="1"/>
              </p:cNvSpPr>
              <p:nvPr/>
            </p:nvSpPr>
            <p:spPr bwMode="auto">
              <a:xfrm>
                <a:off x="6726" y="5568"/>
                <a:ext cx="1416" cy="17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en-US" sz="2000" kern="100">
                    <a:effectLst/>
                    <a:latin typeface="微软雅黑" pitchFamily="34" charset="-122"/>
                    <a:ea typeface="微软雅黑" pitchFamily="34" charset="-122"/>
                  </a:rPr>
                  <a:t>OS</a:t>
                </a:r>
                <a:endParaRPr lang="zh-CN" sz="2000" kern="100">
                  <a:effectLst/>
                  <a:latin typeface="微软雅黑" pitchFamily="34" charset="-122"/>
                  <a:ea typeface="微软雅黑" pitchFamily="34" charset="-122"/>
                </a:endParaRPr>
              </a:p>
              <a:p>
                <a:pPr algn="ctr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en-US" sz="2000" kern="100">
                    <a:effectLst/>
                    <a:latin typeface="微软雅黑" pitchFamily="34" charset="-122"/>
                    <a:ea typeface="微软雅黑" pitchFamily="34" charset="-122"/>
                  </a:rPr>
                  <a:t> </a:t>
                </a:r>
                <a:endParaRPr lang="zh-CN" sz="2000" kern="100">
                  <a:effectLst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Rectangle 618"/>
              <p:cNvSpPr>
                <a:spLocks noChangeArrowheads="1"/>
              </p:cNvSpPr>
              <p:nvPr/>
            </p:nvSpPr>
            <p:spPr bwMode="auto">
              <a:xfrm>
                <a:off x="6942" y="6216"/>
                <a:ext cx="960" cy="57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zh-CN" sz="2000" kern="100" dirty="0">
                    <a:effectLst/>
                    <a:latin typeface="微软雅黑" pitchFamily="34" charset="-122"/>
                    <a:ea typeface="微软雅黑" pitchFamily="34" charset="-122"/>
                  </a:rPr>
                  <a:t>硬件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5264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1.2.5</a:t>
            </a:r>
            <a:r>
              <a:rPr lang="zh-CN" altLang="en-US" i="0" u="none" strike="noStrike" kern="2200" baseline="0" dirty="0"/>
              <a:t> 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数据管理技术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zh-CN" altLang="en-US" i="0" u="none" strike="noStrike" kern="100" baseline="0" dirty="0"/>
              <a:t>数据管理技术</a:t>
            </a:r>
            <a:r>
              <a:rPr lang="zh-CN" altLang="en-US" kern="100" dirty="0"/>
              <a:t>经历的阶段：</a:t>
            </a:r>
            <a:endParaRPr lang="en-US" altLang="zh-CN" kern="100" dirty="0"/>
          </a:p>
          <a:p>
            <a:pPr lv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人工管理</a:t>
            </a:r>
            <a:endParaRPr lang="en-US" altLang="zh-CN" i="0" u="none" strike="noStrike" kern="100" baseline="0" dirty="0">
              <a:solidFill>
                <a:srgbClr val="0000FF"/>
              </a:solidFill>
            </a:endParaRPr>
          </a:p>
          <a:p>
            <a:pPr lv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文件管理</a:t>
            </a:r>
            <a:endParaRPr lang="en-US" altLang="zh-CN" i="0" u="none" strike="noStrike" kern="100" baseline="0" dirty="0">
              <a:solidFill>
                <a:srgbClr val="0000FF"/>
              </a:solidFill>
            </a:endParaRPr>
          </a:p>
          <a:p>
            <a:pPr lv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数据库系统</a:t>
            </a:r>
            <a:endParaRPr lang="en-US" altLang="zh-CN" i="0" u="none" strike="noStrike" kern="100" baseline="0" dirty="0">
              <a:solidFill>
                <a:srgbClr val="0000FF"/>
              </a:solidFill>
            </a:endParaRPr>
          </a:p>
          <a:p>
            <a:pPr lvl="0"/>
            <a:r>
              <a:rPr lang="zh-CN" altLang="en-US" i="0" u="none" strike="noStrike" kern="100" baseline="0" dirty="0">
                <a:solidFill>
                  <a:srgbClr val="FF00FF"/>
                </a:solidFill>
              </a:rPr>
              <a:t>数据仓库</a:t>
            </a:r>
            <a:endParaRPr lang="en-US" altLang="zh-CN" kern="100" dirty="0">
              <a:solidFill>
                <a:srgbClr val="FF00FF"/>
              </a:solidFill>
            </a:endParaRPr>
          </a:p>
          <a:p>
            <a:pPr lvl="0"/>
            <a:r>
              <a:rPr lang="zh-CN" altLang="en-US" i="0" u="none" strike="noStrike" kern="100" baseline="0" dirty="0">
                <a:solidFill>
                  <a:srgbClr val="FF00FF"/>
                </a:solidFill>
              </a:rPr>
              <a:t>大数据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844DE-2CCA-B54A-A080-BA9852148612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460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altLang="zh-CN" i="0" u="none" strike="noStrike" kern="2200" baseline="0" dirty="0"/>
              <a:t>1</a:t>
            </a:r>
            <a:r>
              <a:rPr lang="zh-CN" altLang="en-US" i="0" u="none" strike="noStrike" kern="2200" baseline="0" dirty="0"/>
              <a:t>．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人工管理阶段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5536" y="1052736"/>
            <a:ext cx="8352928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i="0" u="none" strike="noStrike" kern="100" baseline="0" dirty="0"/>
              <a:t>利用原始计算机进行数据处理的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初级阶段</a:t>
            </a:r>
            <a:r>
              <a:rPr lang="zh-CN" altLang="en-US" i="0" u="none" strike="noStrike" kern="100" baseline="0" dirty="0"/>
              <a:t>。程序员采用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人工方式</a:t>
            </a:r>
            <a:r>
              <a:rPr lang="zh-CN" altLang="en-US" i="0" u="none" strike="noStrike" kern="100" baseline="0" dirty="0"/>
              <a:t>进行数据处理，数据处理的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速度慢</a:t>
            </a:r>
            <a:r>
              <a:rPr lang="zh-CN" altLang="en-US" i="0" u="none" strike="noStrike" kern="100" baseline="0" dirty="0"/>
              <a:t>，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准确性差</a:t>
            </a:r>
            <a:r>
              <a:rPr lang="zh-CN" altLang="en-US" i="0" u="none" strike="noStrike" kern="100" baseline="0" dirty="0"/>
              <a:t>。</a:t>
            </a:r>
          </a:p>
          <a:p>
            <a:pPr>
              <a:spcBef>
                <a:spcPts val="1200"/>
              </a:spcBef>
            </a:pP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数据不保存，没有结构化</a:t>
            </a:r>
            <a:endParaRPr lang="en-US" altLang="zh-CN" i="0" u="none" strike="noStrike" kern="100" baseline="0" dirty="0"/>
          </a:p>
          <a:p>
            <a:pPr marL="0" indent="0">
              <a:buNone/>
            </a:pPr>
            <a:r>
              <a:rPr lang="en-US" altLang="zh-CN" kern="100" dirty="0"/>
              <a:t>    </a:t>
            </a:r>
            <a:r>
              <a:rPr lang="zh-CN" altLang="en-US" i="0" u="none" strike="noStrike" kern="100" baseline="0" dirty="0"/>
              <a:t>数据一般不予保存，而且没有经过统一结构化管理</a:t>
            </a:r>
          </a:p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数据不能共享</a:t>
            </a:r>
            <a:endParaRPr lang="en-US" altLang="zh-CN" i="0" u="none" strike="noStrike" kern="100" baseline="0" dirty="0"/>
          </a:p>
          <a:p>
            <a:pPr marL="0" indent="0">
              <a:buNone/>
            </a:pPr>
            <a:r>
              <a:rPr lang="en-US" altLang="zh-CN" kern="100" dirty="0"/>
              <a:t>    </a:t>
            </a:r>
            <a:r>
              <a:rPr lang="zh-CN" altLang="en-US" i="0" u="none" strike="noStrike" kern="100" baseline="0" dirty="0"/>
              <a:t>一个应用程序对应一组数据集合，使得数据不能共享</a:t>
            </a:r>
          </a:p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应用程序管理数据</a:t>
            </a:r>
            <a:r>
              <a:rPr lang="zh-CN" altLang="en-US" kern="100" dirty="0">
                <a:solidFill>
                  <a:srgbClr val="0000FF"/>
                </a:solidFill>
              </a:rPr>
              <a:t>：</a:t>
            </a:r>
            <a:r>
              <a:rPr lang="zh-CN" altLang="en-US" i="0" u="none" strike="noStrike" kern="100" baseline="0" dirty="0"/>
              <a:t>计算机没有相应的软件管理数据，数据需要应用程序自行管理</a:t>
            </a:r>
          </a:p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数据不具独立性：</a:t>
            </a:r>
            <a:r>
              <a:rPr lang="zh-CN" altLang="en-US" i="0" u="none" strike="noStrike" kern="100" baseline="0" dirty="0"/>
              <a:t>数据和程序不具有相互独立性，数据依赖于相应的应用程序。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ED3F7-6F04-FA42-A31C-7E66E609D416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4693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kern="100" dirty="0"/>
              <a:t>人工管理阶段应用程序与数据集合之间的关系</a:t>
            </a:r>
            <a:endParaRPr lang="zh-CN" altLang="en-US" sz="2800" i="0" u="none" strike="noStrike" kern="2200" baseline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1465-5947-9345-9943-909CFAF316E0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grpSp>
        <p:nvGrpSpPr>
          <p:cNvPr id="8" name="Group 730"/>
          <p:cNvGrpSpPr>
            <a:grpSpLocks/>
          </p:cNvGrpSpPr>
          <p:nvPr/>
        </p:nvGrpSpPr>
        <p:grpSpPr bwMode="auto">
          <a:xfrm>
            <a:off x="985247" y="1700808"/>
            <a:ext cx="6696744" cy="3096344"/>
            <a:chOff x="2323" y="7728"/>
            <a:chExt cx="2699" cy="1624"/>
          </a:xfrm>
        </p:grpSpPr>
        <p:sp>
          <p:nvSpPr>
            <p:cNvPr id="9" name="Rectangle 731"/>
            <p:cNvSpPr>
              <a:spLocks noChangeArrowheads="1"/>
            </p:cNvSpPr>
            <p:nvPr/>
          </p:nvSpPr>
          <p:spPr bwMode="auto">
            <a:xfrm>
              <a:off x="2323" y="7728"/>
              <a:ext cx="877" cy="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8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应用程序</a:t>
              </a:r>
              <a:r>
                <a:rPr lang="en-US" sz="28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1</a:t>
              </a:r>
              <a:endParaRPr lang="zh-CN" sz="2800" kern="100" dirty="0">
                <a:effectLst/>
                <a:latin typeface="微软雅黑" pitchFamily="34" charset="-122"/>
                <a:ea typeface="微软雅黑" pitchFamily="34" charset="-122"/>
                <a:cs typeface="Times New Roman"/>
              </a:endParaRPr>
            </a:p>
          </p:txBody>
        </p:sp>
        <p:sp>
          <p:nvSpPr>
            <p:cNvPr id="10" name="Rectangle 732"/>
            <p:cNvSpPr>
              <a:spLocks noChangeArrowheads="1"/>
            </p:cNvSpPr>
            <p:nvPr/>
          </p:nvSpPr>
          <p:spPr bwMode="auto">
            <a:xfrm>
              <a:off x="4134" y="7728"/>
              <a:ext cx="877" cy="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8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数据集合</a:t>
              </a:r>
              <a:r>
                <a:rPr lang="en-US" sz="28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1</a:t>
              </a:r>
              <a:endParaRPr lang="zh-CN" sz="2800" kern="100" dirty="0">
                <a:effectLst/>
                <a:latin typeface="微软雅黑" pitchFamily="34" charset="-122"/>
                <a:ea typeface="微软雅黑" pitchFamily="34" charset="-122"/>
                <a:cs typeface="Times New Roman"/>
              </a:endParaRPr>
            </a:p>
          </p:txBody>
        </p:sp>
        <p:cxnSp>
          <p:nvCxnSpPr>
            <p:cNvPr id="11" name="Line 733"/>
            <p:cNvCxnSpPr/>
            <p:nvPr/>
          </p:nvCxnSpPr>
          <p:spPr bwMode="auto">
            <a:xfrm>
              <a:off x="3200" y="7936"/>
              <a:ext cx="93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Rectangle 734"/>
            <p:cNvSpPr>
              <a:spLocks noChangeArrowheads="1"/>
            </p:cNvSpPr>
            <p:nvPr/>
          </p:nvSpPr>
          <p:spPr bwMode="auto">
            <a:xfrm>
              <a:off x="2334" y="8832"/>
              <a:ext cx="877" cy="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8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应用程序</a:t>
              </a:r>
              <a:r>
                <a:rPr lang="en-US" sz="28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n</a:t>
              </a:r>
              <a:endParaRPr lang="zh-CN" sz="2800" kern="100" dirty="0">
                <a:effectLst/>
                <a:latin typeface="微软雅黑" pitchFamily="34" charset="-122"/>
                <a:ea typeface="微软雅黑" pitchFamily="34" charset="-122"/>
                <a:cs typeface="Times New Roman"/>
              </a:endParaRPr>
            </a:p>
          </p:txBody>
        </p:sp>
        <p:sp>
          <p:nvSpPr>
            <p:cNvPr id="13" name="Rectangle 735"/>
            <p:cNvSpPr>
              <a:spLocks noChangeArrowheads="1"/>
            </p:cNvSpPr>
            <p:nvPr/>
          </p:nvSpPr>
          <p:spPr bwMode="auto">
            <a:xfrm>
              <a:off x="4145" y="8832"/>
              <a:ext cx="877" cy="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8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数据集合</a:t>
              </a:r>
              <a:r>
                <a:rPr lang="en-US" sz="28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n</a:t>
              </a:r>
              <a:endParaRPr lang="zh-CN" sz="2800" kern="100" dirty="0">
                <a:effectLst/>
                <a:latin typeface="微软雅黑" pitchFamily="34" charset="-122"/>
                <a:ea typeface="微软雅黑" pitchFamily="34" charset="-122"/>
                <a:cs typeface="Times New Roman"/>
              </a:endParaRPr>
            </a:p>
          </p:txBody>
        </p:sp>
        <p:cxnSp>
          <p:nvCxnSpPr>
            <p:cNvPr id="14" name="Line 736"/>
            <p:cNvCxnSpPr/>
            <p:nvPr/>
          </p:nvCxnSpPr>
          <p:spPr bwMode="auto">
            <a:xfrm>
              <a:off x="3211" y="9040"/>
              <a:ext cx="93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 useBgFill="1">
        <p:nvSpPr>
          <p:cNvPr id="15" name="矩形 14"/>
          <p:cNvSpPr/>
          <p:nvPr/>
        </p:nvSpPr>
        <p:spPr>
          <a:xfrm>
            <a:off x="1272452" y="2949443"/>
            <a:ext cx="1656184" cy="648072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600"/>
              </a:lnSpc>
            </a:pPr>
            <a:r>
              <a:rPr lang="en-US" altLang="zh-CN" dirty="0">
                <a:solidFill>
                  <a:srgbClr val="000000"/>
                </a:solidFill>
              </a:rPr>
              <a:t>•••</a:t>
            </a:r>
            <a:endParaRPr lang="zh-CN" altLang="en-US" dirty="0">
              <a:solidFill>
                <a:srgbClr val="000000"/>
              </a:solidFill>
            </a:endParaRPr>
          </a:p>
          <a:p>
            <a:pPr algn="ctr"/>
            <a:endParaRPr lang="zh-CN" altLang="en-US" dirty="0">
              <a:solidFill>
                <a:srgbClr val="000000"/>
              </a:solidFill>
            </a:endParaRPr>
          </a:p>
        </p:txBody>
      </p:sp>
      <p:sp useBgFill="1">
        <p:nvSpPr>
          <p:cNvPr id="16" name="矩形 15"/>
          <p:cNvSpPr/>
          <p:nvPr/>
        </p:nvSpPr>
        <p:spPr>
          <a:xfrm>
            <a:off x="5738602" y="2949443"/>
            <a:ext cx="1656184" cy="648072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600"/>
              </a:lnSpc>
            </a:pPr>
            <a:r>
              <a:rPr lang="en-US" altLang="zh-CN" dirty="0">
                <a:solidFill>
                  <a:srgbClr val="000000"/>
                </a:solidFill>
              </a:rPr>
              <a:t>•••</a:t>
            </a:r>
            <a:endParaRPr lang="zh-CN" altLang="en-US" dirty="0">
              <a:solidFill>
                <a:srgbClr val="000000"/>
              </a:solidFill>
            </a:endParaRPr>
          </a:p>
          <a:p>
            <a:pPr algn="ctr"/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494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altLang="zh-CN" i="0" u="none" strike="noStrike" kern="2200" baseline="0" dirty="0"/>
              <a:t>2</a:t>
            </a:r>
            <a:r>
              <a:rPr lang="zh-CN" altLang="en-US" i="0" u="none" strike="noStrike" kern="2200" baseline="0" dirty="0"/>
              <a:t>．文件系统阶段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i="0" u="none" strike="noStrike" kern="100" baseline="0" dirty="0"/>
              <a:t>数据以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文件方式存储</a:t>
            </a:r>
            <a:r>
              <a:rPr lang="zh-CN" altLang="en-US" sz="2000" i="0" u="none" strike="noStrike" kern="100" baseline="0" dirty="0"/>
              <a:t>，对数据文件进行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统一组织、存储和管理</a:t>
            </a:r>
            <a:r>
              <a:rPr lang="zh-CN" altLang="en-US" sz="2000" i="0" u="none" strike="noStrike" kern="100" baseline="0" dirty="0"/>
              <a:t>，加快了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数据处理速度</a:t>
            </a:r>
            <a:r>
              <a:rPr lang="zh-CN" altLang="en-US" sz="2000" i="0" u="none" strike="noStrike" kern="100" baseline="0" dirty="0"/>
              <a:t>，提高了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准确性</a:t>
            </a:r>
            <a:r>
              <a:rPr lang="zh-CN" altLang="en-US" sz="2000" i="0" u="none" strike="noStrike" kern="100" baseline="0" dirty="0"/>
              <a:t>。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数据可以保存，没有结构化</a:t>
            </a:r>
            <a:r>
              <a:rPr lang="zh-CN" altLang="en-US" sz="2000" i="0" u="none" strike="noStrike" kern="100" baseline="0" dirty="0"/>
              <a:t>。数据可以长期保存，仍然没有经过统一结构化管理。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数据不能共享</a:t>
            </a:r>
            <a:r>
              <a:rPr lang="zh-CN" altLang="en-US" sz="2000" i="0" u="none" strike="noStrike" kern="100" baseline="0" dirty="0"/>
              <a:t>。一个应用程序对应一组文件，使得数据文件不能共享。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文件系统管理数据</a:t>
            </a:r>
            <a:r>
              <a:rPr lang="zh-CN" altLang="en-US" sz="2000" i="0" u="none" strike="noStrike" kern="100" baseline="0" dirty="0"/>
              <a:t>。尽管计算机提供了文件管理系统，对文件进行统一管理，但是每个应用程序仍然只能使用与自己相应的文件组。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数据不具独立性</a:t>
            </a:r>
            <a:r>
              <a:rPr lang="zh-CN" altLang="en-US" sz="2000" i="0" u="none" strike="noStrike" kern="100" baseline="0" dirty="0"/>
              <a:t>：数据和程序不具有相互独立性，数据依赖于相应的应用程序。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数据冗余高</a:t>
            </a:r>
            <a:r>
              <a:rPr lang="zh-CN" altLang="en-US" sz="2000" i="0" u="none" strike="noStrike" kern="100" baseline="0" dirty="0"/>
              <a:t>：由于数据不能共享，因此存在大量的冗余数据，浪费存储空间。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2B1C-CA86-D049-810B-724B4B350515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3744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kern="100" dirty="0"/>
              <a:t>文件系统阶段应用程序与文件组之间的关系</a:t>
            </a:r>
            <a:endParaRPr lang="zh-CN" altLang="en-US" i="0" u="none" strike="noStrike" kern="2200" baseline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A4C5-9E8F-2145-8C8A-D205B1D96C99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grpSp>
        <p:nvGrpSpPr>
          <p:cNvPr id="8" name="Group 739"/>
          <p:cNvGrpSpPr>
            <a:grpSpLocks/>
          </p:cNvGrpSpPr>
          <p:nvPr/>
        </p:nvGrpSpPr>
        <p:grpSpPr bwMode="auto">
          <a:xfrm>
            <a:off x="755576" y="1700049"/>
            <a:ext cx="7776864" cy="3241119"/>
            <a:chOff x="2742" y="4376"/>
            <a:chExt cx="3456" cy="1592"/>
          </a:xfrm>
        </p:grpSpPr>
        <p:sp>
          <p:nvSpPr>
            <p:cNvPr id="9" name="Rectangle 740"/>
            <p:cNvSpPr>
              <a:spLocks noChangeArrowheads="1"/>
            </p:cNvSpPr>
            <p:nvPr/>
          </p:nvSpPr>
          <p:spPr bwMode="auto">
            <a:xfrm>
              <a:off x="5286" y="4872"/>
              <a:ext cx="888" cy="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…</a:t>
              </a:r>
            </a:p>
          </p:txBody>
        </p:sp>
        <p:sp>
          <p:nvSpPr>
            <p:cNvPr id="10" name="Rectangle 741"/>
            <p:cNvSpPr>
              <a:spLocks noChangeArrowheads="1"/>
            </p:cNvSpPr>
            <p:nvPr/>
          </p:nvSpPr>
          <p:spPr bwMode="auto">
            <a:xfrm>
              <a:off x="2742" y="4392"/>
              <a:ext cx="819" cy="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应用程序</a:t>
              </a:r>
              <a:r>
                <a:rPr lang="en-US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1</a:t>
              </a:r>
              <a:endParaRPr lang="zh-CN" sz="2400" kern="100" dirty="0">
                <a:effectLst/>
                <a:latin typeface="微软雅黑" pitchFamily="34" charset="-122"/>
                <a:ea typeface="微软雅黑" pitchFamily="34" charset="-122"/>
                <a:cs typeface="Times New Roman"/>
              </a:endParaRPr>
            </a:p>
          </p:txBody>
        </p:sp>
        <p:sp>
          <p:nvSpPr>
            <p:cNvPr id="11" name="Rectangle 742"/>
            <p:cNvSpPr>
              <a:spLocks noChangeArrowheads="1"/>
            </p:cNvSpPr>
            <p:nvPr/>
          </p:nvSpPr>
          <p:spPr bwMode="auto">
            <a:xfrm>
              <a:off x="5286" y="4392"/>
              <a:ext cx="912" cy="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文件组</a:t>
              </a:r>
              <a:r>
                <a:rPr lang="en-US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1</a:t>
              </a:r>
              <a:endParaRPr lang="zh-CN" sz="2400" kern="100" dirty="0">
                <a:effectLst/>
                <a:latin typeface="微软雅黑" pitchFamily="34" charset="-122"/>
                <a:ea typeface="微软雅黑" pitchFamily="34" charset="-122"/>
                <a:cs typeface="Times New Roman"/>
              </a:endParaRPr>
            </a:p>
          </p:txBody>
        </p:sp>
        <p:sp>
          <p:nvSpPr>
            <p:cNvPr id="12" name="Rectangle 743"/>
            <p:cNvSpPr>
              <a:spLocks noChangeArrowheads="1"/>
            </p:cNvSpPr>
            <p:nvPr/>
          </p:nvSpPr>
          <p:spPr bwMode="auto">
            <a:xfrm>
              <a:off x="2742" y="5448"/>
              <a:ext cx="819" cy="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应用程序</a:t>
              </a:r>
              <a:r>
                <a:rPr lang="en-US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n</a:t>
              </a:r>
              <a:endParaRPr lang="zh-CN" sz="2400" kern="100" dirty="0">
                <a:effectLst/>
                <a:latin typeface="微软雅黑" pitchFamily="34" charset="-122"/>
                <a:ea typeface="微软雅黑" pitchFamily="34" charset="-122"/>
                <a:cs typeface="Times New Roman"/>
              </a:endParaRPr>
            </a:p>
          </p:txBody>
        </p:sp>
        <p:sp>
          <p:nvSpPr>
            <p:cNvPr id="13" name="Rectangle 744"/>
            <p:cNvSpPr>
              <a:spLocks noChangeArrowheads="1"/>
            </p:cNvSpPr>
            <p:nvPr/>
          </p:nvSpPr>
          <p:spPr bwMode="auto">
            <a:xfrm>
              <a:off x="5286" y="5448"/>
              <a:ext cx="912" cy="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400" kern="10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文件组</a:t>
              </a:r>
              <a:r>
                <a:rPr lang="en-US" sz="2400" kern="10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n</a:t>
              </a:r>
              <a:endParaRPr lang="zh-CN" sz="2400" kern="100">
                <a:effectLst/>
                <a:latin typeface="微软雅黑" pitchFamily="34" charset="-122"/>
                <a:ea typeface="微软雅黑" pitchFamily="34" charset="-122"/>
                <a:cs typeface="Times New Roman"/>
              </a:endParaRPr>
            </a:p>
          </p:txBody>
        </p:sp>
        <p:sp>
          <p:nvSpPr>
            <p:cNvPr id="14" name="Rectangle 745"/>
            <p:cNvSpPr>
              <a:spLocks noChangeArrowheads="1"/>
            </p:cNvSpPr>
            <p:nvPr/>
          </p:nvSpPr>
          <p:spPr bwMode="auto">
            <a:xfrm>
              <a:off x="2742" y="4896"/>
              <a:ext cx="792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…</a:t>
              </a:r>
            </a:p>
          </p:txBody>
        </p:sp>
        <p:sp>
          <p:nvSpPr>
            <p:cNvPr id="15" name="Oval 746"/>
            <p:cNvSpPr>
              <a:spLocks noChangeArrowheads="1"/>
            </p:cNvSpPr>
            <p:nvPr/>
          </p:nvSpPr>
          <p:spPr bwMode="auto">
            <a:xfrm>
              <a:off x="3990" y="4376"/>
              <a:ext cx="896" cy="15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文件</a:t>
              </a:r>
            </a:p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管理</a:t>
              </a:r>
            </a:p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400" kern="100" dirty="0"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系统</a:t>
              </a:r>
            </a:p>
          </p:txBody>
        </p:sp>
        <p:cxnSp>
          <p:nvCxnSpPr>
            <p:cNvPr id="16" name="Line 747"/>
            <p:cNvCxnSpPr/>
            <p:nvPr/>
          </p:nvCxnSpPr>
          <p:spPr bwMode="auto">
            <a:xfrm>
              <a:off x="3576" y="4600"/>
              <a:ext cx="489" cy="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Line 748"/>
            <p:cNvCxnSpPr/>
            <p:nvPr/>
          </p:nvCxnSpPr>
          <p:spPr bwMode="auto">
            <a:xfrm flipV="1">
              <a:off x="4797" y="4600"/>
              <a:ext cx="489" cy="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Line 749"/>
            <p:cNvCxnSpPr/>
            <p:nvPr/>
          </p:nvCxnSpPr>
          <p:spPr bwMode="auto">
            <a:xfrm flipV="1">
              <a:off x="3576" y="5344"/>
              <a:ext cx="489" cy="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750"/>
            <p:cNvCxnSpPr/>
            <p:nvPr/>
          </p:nvCxnSpPr>
          <p:spPr bwMode="auto">
            <a:xfrm>
              <a:off x="4797" y="5344"/>
              <a:ext cx="489" cy="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751"/>
            <p:cNvCxnSpPr/>
            <p:nvPr/>
          </p:nvCxnSpPr>
          <p:spPr bwMode="auto">
            <a:xfrm>
              <a:off x="4065" y="5016"/>
              <a:ext cx="7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Line 752"/>
            <p:cNvCxnSpPr/>
            <p:nvPr/>
          </p:nvCxnSpPr>
          <p:spPr bwMode="auto">
            <a:xfrm>
              <a:off x="4065" y="5344"/>
              <a:ext cx="7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422720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altLang="zh-CN" i="0" u="none" strike="noStrike" kern="2200" baseline="0" dirty="0"/>
              <a:t>3</a:t>
            </a:r>
            <a:r>
              <a:rPr lang="zh-CN" altLang="en-US" i="0" u="none" strike="noStrike" kern="2200" baseline="0" dirty="0"/>
              <a:t>．数据库系统阶段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980728"/>
            <a:ext cx="8784976" cy="5112568"/>
          </a:xfrm>
        </p:spPr>
        <p:txBody>
          <a:bodyPr>
            <a:noAutofit/>
          </a:bodyPr>
          <a:lstStyle/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数据结构化且易扩充。</a:t>
            </a:r>
            <a:r>
              <a:rPr lang="zh-CN" altLang="en-US" sz="2000" i="0" u="none" strike="noStrike" kern="100" baseline="0" dirty="0"/>
              <a:t>数据进行有组织的统一结构化管理，按照统一规范的结构进行永久存储，实现整体数据的结构化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数据库管理系统管理数据。</a:t>
            </a:r>
            <a:r>
              <a:rPr lang="zh-CN" altLang="en-US" sz="2000" i="0" u="none" strike="noStrike" kern="100" baseline="0" dirty="0"/>
              <a:t>功能强大，对数据进行统一管理和控制；提供了数据安全性保护、数据完整性约束、多用户并发控制和数据库恢复等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数据独立性高。</a:t>
            </a:r>
            <a:r>
              <a:rPr lang="zh-CN" altLang="en-US" sz="2000" i="0" u="none" strike="noStrike" kern="100" baseline="0" dirty="0"/>
              <a:t>真正实现程序和数据的分离管理，程序和数据既相互独立，程序又可以调用数据，从而具有较高的数据和程序的独立性。如果逻辑结构或者物理结构发生变化时，应用程序可以不改，或少该，减轻工作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数据共享性高。</a:t>
            </a:r>
            <a:r>
              <a:rPr lang="zh-CN" altLang="en-US" sz="2000" i="0" u="none" strike="noStrike" kern="100" baseline="0" dirty="0"/>
              <a:t>数据面向整个系统，不面向应用程序，从而具有共享性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数据冗余度低。</a:t>
            </a:r>
            <a:r>
              <a:rPr lang="zh-CN" altLang="en-US" sz="2000" i="0" u="none" strike="noStrike" kern="100" baseline="0" dirty="0"/>
              <a:t>由于数据可以共享，因此只需要保留较少的用于数据管理的冗余数据，从而节省了存储空间。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5FF8-FC9A-6A4D-82F9-11268BF74BD9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1362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kern="100" dirty="0"/>
              <a:t>数据库系统阶段应用程序与数据库之间的关系</a:t>
            </a:r>
            <a:endParaRPr lang="zh-CN" altLang="en-US" sz="2800" i="0" u="none" strike="noStrike" kern="2200" baseline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6177-22F3-454A-B720-01B94F8E25AF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grpSp>
        <p:nvGrpSpPr>
          <p:cNvPr id="8" name="Group 762"/>
          <p:cNvGrpSpPr>
            <a:grpSpLocks/>
          </p:cNvGrpSpPr>
          <p:nvPr/>
        </p:nvGrpSpPr>
        <p:grpSpPr bwMode="auto">
          <a:xfrm>
            <a:off x="810638" y="1628800"/>
            <a:ext cx="7416824" cy="2736304"/>
            <a:chOff x="2366" y="5657"/>
            <a:chExt cx="6118" cy="1528"/>
          </a:xfrm>
        </p:grpSpPr>
        <p:sp>
          <p:nvSpPr>
            <p:cNvPr id="9" name="Rectangle 754"/>
            <p:cNvSpPr>
              <a:spLocks noChangeArrowheads="1"/>
            </p:cNvSpPr>
            <p:nvPr/>
          </p:nvSpPr>
          <p:spPr bwMode="auto">
            <a:xfrm>
              <a:off x="2366" y="5657"/>
              <a:ext cx="1294" cy="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000" kern="100" dirty="0"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应用程序</a:t>
              </a:r>
              <a:r>
                <a:rPr lang="en-US" sz="2000" kern="100" dirty="0"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1</a:t>
              </a:r>
              <a:endParaRPr lang="zh-CN" sz="2000" kern="100" dirty="0">
                <a:solidFill>
                  <a:srgbClr val="0000FF"/>
                </a:solidFill>
                <a:effectLst/>
                <a:latin typeface="微软雅黑" pitchFamily="34" charset="-122"/>
                <a:ea typeface="微软雅黑" pitchFamily="34" charset="-122"/>
                <a:cs typeface="Times New Roman"/>
              </a:endParaRPr>
            </a:p>
          </p:txBody>
        </p:sp>
        <p:sp>
          <p:nvSpPr>
            <p:cNvPr id="10" name="Rectangle 755"/>
            <p:cNvSpPr>
              <a:spLocks noChangeArrowheads="1"/>
            </p:cNvSpPr>
            <p:nvPr/>
          </p:nvSpPr>
          <p:spPr bwMode="auto">
            <a:xfrm>
              <a:off x="2366" y="6665"/>
              <a:ext cx="1294" cy="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000" kern="100" dirty="0"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应用程序</a:t>
              </a:r>
              <a:r>
                <a:rPr lang="en-US" sz="2000" kern="100" dirty="0"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n</a:t>
              </a:r>
              <a:endParaRPr lang="zh-CN" sz="2000" kern="100" dirty="0">
                <a:solidFill>
                  <a:srgbClr val="0000FF"/>
                </a:solidFill>
                <a:effectLst/>
                <a:latin typeface="微软雅黑" pitchFamily="34" charset="-122"/>
                <a:ea typeface="微软雅黑" pitchFamily="34" charset="-122"/>
                <a:cs typeface="Times New Roman"/>
              </a:endParaRPr>
            </a:p>
          </p:txBody>
        </p:sp>
        <p:sp>
          <p:nvSpPr>
            <p:cNvPr id="11" name="Rectangle 756"/>
            <p:cNvSpPr>
              <a:spLocks noChangeArrowheads="1"/>
            </p:cNvSpPr>
            <p:nvPr/>
          </p:nvSpPr>
          <p:spPr bwMode="auto">
            <a:xfrm>
              <a:off x="2683" y="6177"/>
              <a:ext cx="816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0"/>
                </a:spcAft>
              </a:pPr>
              <a:r>
                <a:rPr lang="zh-CN" sz="2000" kern="100" dirty="0"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…</a:t>
              </a:r>
            </a:p>
          </p:txBody>
        </p:sp>
        <p:cxnSp>
          <p:nvCxnSpPr>
            <p:cNvPr id="12" name="Line 757"/>
            <p:cNvCxnSpPr/>
            <p:nvPr/>
          </p:nvCxnSpPr>
          <p:spPr bwMode="auto">
            <a:xfrm>
              <a:off x="3660" y="5921"/>
              <a:ext cx="768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758"/>
            <p:cNvCxnSpPr/>
            <p:nvPr/>
          </p:nvCxnSpPr>
          <p:spPr bwMode="auto">
            <a:xfrm flipV="1">
              <a:off x="3684" y="6713"/>
              <a:ext cx="720" cy="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AutoShape 759"/>
            <p:cNvSpPr>
              <a:spLocks noChangeArrowheads="1"/>
            </p:cNvSpPr>
            <p:nvPr/>
          </p:nvSpPr>
          <p:spPr bwMode="auto">
            <a:xfrm>
              <a:off x="7332" y="5921"/>
              <a:ext cx="1152" cy="960"/>
            </a:xfrm>
            <a:prstGeom prst="can">
              <a:avLst>
                <a:gd name="adj" fmla="val 3550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000" kern="100" dirty="0"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数据库</a:t>
              </a:r>
            </a:p>
          </p:txBody>
        </p:sp>
        <p:cxnSp>
          <p:nvCxnSpPr>
            <p:cNvPr id="15" name="Line 760"/>
            <p:cNvCxnSpPr/>
            <p:nvPr/>
          </p:nvCxnSpPr>
          <p:spPr bwMode="auto">
            <a:xfrm flipV="1">
              <a:off x="6564" y="6449"/>
              <a:ext cx="7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AutoShape 761"/>
            <p:cNvSpPr>
              <a:spLocks noChangeArrowheads="1"/>
            </p:cNvSpPr>
            <p:nvPr/>
          </p:nvSpPr>
          <p:spPr bwMode="auto">
            <a:xfrm>
              <a:off x="4428" y="6017"/>
              <a:ext cx="2131" cy="824"/>
            </a:xfrm>
            <a:prstGeom prst="plaque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5600"/>
                </a:lnSpc>
                <a:spcAft>
                  <a:spcPts val="0"/>
                </a:spcAft>
              </a:pPr>
              <a:r>
                <a:rPr lang="zh-CN" sz="2000" kern="100" dirty="0"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/>
                </a:rPr>
                <a:t>数据库管理系统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6638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1.3</a:t>
            </a:r>
            <a:r>
              <a:rPr lang="zh-CN" altLang="en-US" i="0" u="none" strike="noStrike" kern="2200" baseline="0" dirty="0"/>
              <a:t> 数据模型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67744" y="1772816"/>
            <a:ext cx="4690864" cy="2376264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</a:pPr>
            <a:r>
              <a:rPr lang="en-US" altLang="zh-CN" sz="3600" kern="100" dirty="0">
                <a:solidFill>
                  <a:srgbClr val="0000FF"/>
                </a:solidFill>
              </a:rPr>
              <a:t>  </a:t>
            </a:r>
            <a:r>
              <a:rPr lang="zh-CN" altLang="zh-CN" sz="3600" kern="100" dirty="0">
                <a:solidFill>
                  <a:srgbClr val="0000FF"/>
                </a:solidFill>
              </a:rPr>
              <a:t>概念</a:t>
            </a:r>
            <a:endParaRPr lang="en-US" altLang="zh-CN" sz="3600" kern="100" dirty="0">
              <a:solidFill>
                <a:srgbClr val="0000FF"/>
              </a:solidFill>
            </a:endParaRPr>
          </a:p>
          <a:p>
            <a:pPr>
              <a:lnSpc>
                <a:spcPts val="5600"/>
              </a:lnSpc>
            </a:pPr>
            <a:r>
              <a:rPr lang="en-US" altLang="zh-CN" sz="3600" kern="100" dirty="0">
                <a:solidFill>
                  <a:srgbClr val="0000FF"/>
                </a:solidFill>
              </a:rPr>
              <a:t>  </a:t>
            </a:r>
            <a:r>
              <a:rPr lang="zh-CN" altLang="zh-CN" sz="3600" kern="100" dirty="0">
                <a:solidFill>
                  <a:srgbClr val="0000FF"/>
                </a:solidFill>
              </a:rPr>
              <a:t>组成要素</a:t>
            </a:r>
            <a:endParaRPr lang="en-US" altLang="zh-CN" sz="3600" kern="100" dirty="0">
              <a:solidFill>
                <a:srgbClr val="0000FF"/>
              </a:solidFill>
            </a:endParaRPr>
          </a:p>
          <a:p>
            <a:pPr>
              <a:lnSpc>
                <a:spcPts val="5600"/>
              </a:lnSpc>
            </a:pPr>
            <a:r>
              <a:rPr lang="en-US" altLang="zh-CN" sz="3600" kern="100" dirty="0">
                <a:solidFill>
                  <a:srgbClr val="0000FF"/>
                </a:solidFill>
              </a:rPr>
              <a:t>  </a:t>
            </a:r>
            <a:r>
              <a:rPr lang="zh-CN" altLang="zh-CN" sz="3600" kern="100" dirty="0">
                <a:solidFill>
                  <a:srgbClr val="0000FF"/>
                </a:solidFill>
              </a:rPr>
              <a:t>分类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6DA4-16B8-B74A-A445-12C9763CFE64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9346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1.3.1</a:t>
            </a:r>
            <a:r>
              <a:rPr lang="zh-CN" altLang="en-US" i="0" u="none" strike="noStrike" kern="2200" baseline="0" dirty="0"/>
              <a:t> 数据模型的概念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数据模型（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Data Model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）：</a:t>
            </a:r>
            <a:r>
              <a:rPr lang="zh-CN" altLang="en-US" sz="2000" i="0" u="none" strike="noStrike" kern="100" baseline="0" dirty="0"/>
              <a:t>实际问题的模拟和抽象。</a:t>
            </a:r>
            <a:endParaRPr lang="en-US" altLang="zh-CN" sz="2000" i="0" u="none" strike="noStrike" kern="100" baseline="0" dirty="0"/>
          </a:p>
          <a:p>
            <a:pPr marL="0" marR="0" lvl="0" indent="0" rtl="0">
              <a:buNone/>
            </a:pPr>
            <a:r>
              <a:rPr lang="en-US" altLang="zh-CN" sz="2000" kern="100" dirty="0"/>
              <a:t>    </a:t>
            </a:r>
            <a:r>
              <a:rPr lang="zh-CN" altLang="en-US" sz="2000" i="0" u="none" strike="noStrike" kern="100" baseline="0" dirty="0"/>
              <a:t>针对实际问题，研究数据及其联系，并最终解决问题的方法和步骤（数据特征的抽象</a:t>
            </a:r>
            <a:r>
              <a:rPr lang="en-US" altLang="zh-CN" sz="2000" i="0" u="none" strike="noStrike" kern="100" baseline="0" dirty="0"/>
              <a:t>+</a:t>
            </a:r>
            <a:r>
              <a:rPr lang="zh-CN" altLang="en-US" sz="2000" i="0" u="none" strike="noStrike" kern="100" baseline="0" dirty="0"/>
              <a:t>描述</a:t>
            </a:r>
            <a:r>
              <a:rPr lang="en-US" altLang="zh-CN" sz="2000" i="0" u="none" strike="noStrike" kern="100" baseline="0" dirty="0"/>
              <a:t>/</a:t>
            </a:r>
            <a:r>
              <a:rPr lang="zh-CN" altLang="en-US" sz="2000" i="0" u="none" strike="noStrike" kern="100" baseline="0" dirty="0"/>
              <a:t>组织</a:t>
            </a:r>
            <a:r>
              <a:rPr lang="en-US" altLang="zh-CN" sz="2000" i="0" u="none" strike="noStrike" kern="100" baseline="0" dirty="0"/>
              <a:t>/</a:t>
            </a:r>
            <a:r>
              <a:rPr lang="zh-CN" altLang="en-US" sz="2000" i="0" u="none" strike="noStrike" kern="100" baseline="0" dirty="0"/>
              <a:t>操作数据）。</a:t>
            </a:r>
          </a:p>
          <a:p>
            <a:r>
              <a:rPr lang="zh-CN" altLang="en-US" sz="2000" i="0" u="none" strike="noStrike" kern="100" baseline="0" dirty="0"/>
              <a:t>例如：电子书店中图书进价的平均价格模型：</a:t>
            </a:r>
            <a:endParaRPr lang="en-US" altLang="zh-CN" sz="2000" i="0" u="none" strike="noStrike" kern="100" baseline="0" dirty="0"/>
          </a:p>
          <a:p>
            <a:endParaRPr lang="en-US" altLang="zh-CN" sz="2000" kern="100" dirty="0"/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结论：数据模型是一组概念、描述或者公式的集合</a:t>
            </a:r>
            <a:r>
              <a:rPr lang="zh-CN" altLang="en-US" sz="2000" i="0" u="none" strike="noStrike" kern="100" baseline="0" dirty="0"/>
              <a:t>。用数据模型可以抽象、表示和处理现实世界中客观事物的本质特征及其联系。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特点：</a:t>
            </a:r>
            <a:endParaRPr lang="en-US" altLang="zh-CN" sz="2000" i="0" u="none" strike="noStrike" kern="100" baseline="0" dirty="0">
              <a:solidFill>
                <a:srgbClr val="0000FF"/>
              </a:solidFill>
            </a:endParaRPr>
          </a:p>
          <a:p>
            <a:pPr lvl="1"/>
            <a:r>
              <a:rPr lang="zh-CN" altLang="en-US" sz="2000" i="0" u="none" strike="noStrike" kern="100" baseline="0" dirty="0"/>
              <a:t>（</a:t>
            </a:r>
            <a:r>
              <a:rPr lang="en-US" altLang="zh-CN" sz="2000" i="0" u="none" strike="noStrike" kern="100" baseline="0" dirty="0"/>
              <a:t>1</a:t>
            </a:r>
            <a:r>
              <a:rPr lang="zh-CN" altLang="en-US" sz="2000" i="0" u="none" strike="noStrike" kern="100" baseline="0" dirty="0"/>
              <a:t>）</a:t>
            </a:r>
            <a:r>
              <a:rPr lang="zh-CN" altLang="en-US" sz="2000" kern="100" dirty="0"/>
              <a:t>真实模拟实际问题。</a:t>
            </a:r>
          </a:p>
          <a:p>
            <a:pPr marR="0" lvl="1" rtl="0"/>
            <a:r>
              <a:rPr lang="zh-CN" altLang="en-US" sz="2000" kern="100" dirty="0"/>
              <a:t>（</a:t>
            </a:r>
            <a:r>
              <a:rPr lang="en-US" altLang="zh-CN" sz="2000" kern="100" dirty="0"/>
              <a:t>2</a:t>
            </a:r>
            <a:r>
              <a:rPr lang="zh-CN" altLang="en-US" sz="2000" kern="100" dirty="0"/>
              <a:t>）容易理解。</a:t>
            </a:r>
          </a:p>
          <a:p>
            <a:pPr marR="0" lvl="1" rtl="0"/>
            <a:r>
              <a:rPr lang="zh-CN" altLang="en-US" sz="2000" kern="100" dirty="0"/>
              <a:t>（</a:t>
            </a:r>
            <a:r>
              <a:rPr lang="en-US" altLang="zh-CN" sz="2000" kern="100" dirty="0"/>
              <a:t>3</a:t>
            </a:r>
            <a:r>
              <a:rPr lang="zh-CN" altLang="en-US" sz="2000" kern="100" dirty="0"/>
              <a:t>）易于计算机实现。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8724-1F02-DE41-AFBF-1B881D8DBA07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156176" y="2276872"/>
                <a:ext cx="1644745" cy="8444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𝐴𝑣𝑒</m:t>
                      </m:r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2276872"/>
                <a:ext cx="1644745" cy="84446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888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数据模型的组成要素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0"/>
            <a:r>
              <a:rPr lang="zh-CN" altLang="en-US" kern="100" dirty="0">
                <a:solidFill>
                  <a:srgbClr val="0000FF"/>
                </a:solidFill>
              </a:rPr>
              <a:t>组成：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数据结构、数据操作和数据完整性约束</a:t>
            </a:r>
            <a:r>
              <a:rPr lang="zh-CN" altLang="en-US" i="0" u="none" strike="noStrike" kern="100" baseline="0" dirty="0"/>
              <a:t>等。</a:t>
            </a:r>
          </a:p>
          <a:p>
            <a:pPr marL="0" marR="0" lvl="0" indent="0" rtl="0">
              <a:buNone/>
            </a:pPr>
            <a:r>
              <a:rPr lang="en-US" altLang="zh-CN" i="0" u="none" strike="noStrike" kern="100" baseline="0" dirty="0">
                <a:solidFill>
                  <a:srgbClr val="0000FF"/>
                </a:solidFill>
              </a:rPr>
              <a:t>1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．数据结构</a:t>
            </a:r>
          </a:p>
          <a:p>
            <a:pPr marL="0" marR="0" lvl="0" indent="0" rtl="0">
              <a:buNone/>
            </a:pPr>
            <a:r>
              <a:rPr lang="zh-CN" altLang="en-US" sz="2000" i="0" u="none" strike="noStrike" kern="100" baseline="0" dirty="0"/>
              <a:t>     </a:t>
            </a:r>
            <a:r>
              <a:rPr lang="zh-CN" altLang="en-US" sz="2200" i="0" u="none" strike="noStrike" kern="100" baseline="0" dirty="0">
                <a:solidFill>
                  <a:srgbClr val="0000FF"/>
                </a:solidFill>
              </a:rPr>
              <a:t>数据库中数据对象特性的静态描述</a:t>
            </a:r>
            <a:r>
              <a:rPr lang="zh-CN" altLang="en-US" sz="2200" i="0" u="none" strike="noStrike" kern="100" baseline="0" dirty="0"/>
              <a:t>。数据结构用于描述数据库的组成对象及其联系。即：</a:t>
            </a:r>
          </a:p>
          <a:p>
            <a:pPr lvl="1"/>
            <a:r>
              <a:rPr lang="zh-CN" altLang="en-US" sz="1800" i="0" u="none" strike="noStrike" kern="100" baseline="0" dirty="0"/>
              <a:t>数据对象及其特征的集合：数据对象的特性、类型和属性等。</a:t>
            </a:r>
          </a:p>
          <a:p>
            <a:pPr lvl="1"/>
            <a:r>
              <a:rPr lang="zh-CN" altLang="en-US" sz="1800" i="0" u="none" strike="noStrike" kern="100" baseline="0" dirty="0">
                <a:solidFill>
                  <a:srgbClr val="0000FF"/>
                </a:solidFill>
              </a:rPr>
              <a:t>数据对象之间的联系</a:t>
            </a:r>
            <a:r>
              <a:rPr lang="zh-CN" altLang="en-US" sz="1800" i="0" u="none" strike="noStrike" kern="100" baseline="0" dirty="0"/>
              <a:t>：数据对象之间的</a:t>
            </a:r>
            <a:r>
              <a:rPr lang="zh-CN" altLang="en-US" sz="1800" i="0" u="none" strike="noStrike" kern="100" baseline="0" dirty="0">
                <a:solidFill>
                  <a:srgbClr val="0000FF"/>
                </a:solidFill>
              </a:rPr>
              <a:t>一对一联系、一对多联系和多对多</a:t>
            </a:r>
            <a:r>
              <a:rPr lang="zh-CN" altLang="en-US" sz="1800" i="0" u="none" strike="noStrike" kern="100" baseline="0" dirty="0"/>
              <a:t>联系等。</a:t>
            </a:r>
          </a:p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例如：</a:t>
            </a:r>
            <a:r>
              <a:rPr lang="zh-CN" altLang="en-US" sz="2000" i="0" u="none" strike="noStrike" kern="100" baseline="0" dirty="0"/>
              <a:t>在电子书店中，出版社的数据结构可以设计如下：</a:t>
            </a:r>
          </a:p>
          <a:p>
            <a:pPr marL="0" marR="0" lvl="0" indent="0" rtl="0">
              <a:buNone/>
            </a:pPr>
            <a:r>
              <a:rPr lang="zh-CN" altLang="en-US" sz="2000" i="0" u="none" strike="noStrike" kern="100" baseline="0" dirty="0"/>
              <a:t>     出版社（社号，社名，邮编，社址，电话，邮箱，网址）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46A55-6360-D64E-B751-699745F8A583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0344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数据模型的组成要素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507288" cy="5112568"/>
          </a:xfrm>
        </p:spPr>
        <p:txBody>
          <a:bodyPr>
            <a:noAutofit/>
          </a:bodyPr>
          <a:lstStyle/>
          <a:p>
            <a:pPr marL="0" marR="0" lvl="0" indent="0" rtl="0">
              <a:buNone/>
            </a:pPr>
            <a:r>
              <a:rPr lang="en-US" altLang="zh-CN" i="0" u="none" strike="noStrike" kern="100" baseline="0" dirty="0">
                <a:solidFill>
                  <a:srgbClr val="0000FF"/>
                </a:solidFill>
              </a:rPr>
              <a:t>2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．数据操作</a:t>
            </a:r>
          </a:p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数据操作：数据库中数据对象具体内容的动态描述。</a:t>
            </a:r>
            <a:r>
              <a:rPr lang="zh-CN" altLang="en-US" sz="2000" i="0" u="none" strike="noStrike" kern="100" baseline="0" dirty="0"/>
              <a:t>数据操作是对数据库中数据对象所执行的操作以及操作规则的集合。</a:t>
            </a:r>
          </a:p>
          <a:p>
            <a:pPr marR="0" lvl="0" rtl="0"/>
            <a:r>
              <a:rPr lang="zh-CN" altLang="en-US" sz="2000" i="0" u="none" strike="noStrike" kern="100" baseline="0" dirty="0"/>
              <a:t>数据模型必须严格定义操作的确切含义、操作符号、操作规则以及实现操作的语言。即：</a:t>
            </a:r>
          </a:p>
          <a:p>
            <a:pPr marR="0" lvl="0" rtl="0"/>
            <a:r>
              <a:rPr lang="zh-CN" altLang="en-US" sz="2000" i="0" u="none" strike="noStrike" kern="100" baseline="0" dirty="0"/>
              <a:t>（</a:t>
            </a:r>
            <a:r>
              <a:rPr lang="en-US" altLang="zh-CN" sz="2000" i="0" u="none" strike="noStrike" kern="100" baseline="0" dirty="0"/>
              <a:t>1</a:t>
            </a:r>
            <a:r>
              <a:rPr lang="zh-CN" altLang="en-US" sz="2000" i="0" u="none" strike="noStrike" kern="100" baseline="0" dirty="0"/>
              <a:t>）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检索操作：</a:t>
            </a:r>
            <a:r>
              <a:rPr lang="zh-CN" altLang="en-US" sz="2000" i="0" u="none" strike="noStrike" kern="100" baseline="0" dirty="0"/>
              <a:t>数据对象的索引、排序和查询等。</a:t>
            </a:r>
          </a:p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例如：</a:t>
            </a:r>
            <a:r>
              <a:rPr lang="zh-CN" altLang="en-US" sz="2000" i="0" u="none" strike="noStrike" kern="100" baseline="0" dirty="0"/>
              <a:t>在</a:t>
            </a:r>
            <a:r>
              <a:rPr lang="en-US" altLang="zh-CN" sz="2000" i="0" u="none" strike="noStrike" kern="100" baseline="0" dirty="0"/>
              <a:t>EBook</a:t>
            </a:r>
            <a:r>
              <a:rPr lang="zh-CN" altLang="en-US" sz="2000" i="0" u="none" strike="noStrike" kern="100" baseline="0" dirty="0"/>
              <a:t>中，对出版社按照“社号”建立索引。查询销售信息。</a:t>
            </a:r>
          </a:p>
          <a:p>
            <a:pPr marR="0" lvl="0" rtl="0"/>
            <a:r>
              <a:rPr lang="zh-CN" altLang="en-US" sz="2000" i="0" u="none" strike="noStrike" kern="100" baseline="0" dirty="0"/>
              <a:t>（</a:t>
            </a:r>
            <a:r>
              <a:rPr lang="en-US" altLang="zh-CN" sz="2000" i="0" u="none" strike="noStrike" kern="100" baseline="0" dirty="0"/>
              <a:t>2</a:t>
            </a:r>
            <a:r>
              <a:rPr lang="zh-CN" altLang="en-US" sz="2000" i="0" u="none" strike="noStrike" kern="100" baseline="0" dirty="0"/>
              <a:t>）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更新操作：</a:t>
            </a:r>
            <a:r>
              <a:rPr lang="zh-CN" altLang="en-US" sz="2000" i="0" u="none" strike="noStrike" kern="100" baseline="0" dirty="0"/>
              <a:t>数据对象的插入、修改和删除等。</a:t>
            </a:r>
          </a:p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例如：</a:t>
            </a:r>
            <a:r>
              <a:rPr lang="zh-CN" altLang="en-US" sz="2000" i="0" u="none" strike="noStrike" kern="100" baseline="0" dirty="0"/>
              <a:t>在电子书店中，删除“购买”表中户号为“</a:t>
            </a:r>
            <a:r>
              <a:rPr lang="en-US" altLang="zh-CN" sz="2000" i="0" u="none" strike="noStrike" kern="100" baseline="0" dirty="0"/>
              <a:t>C005</a:t>
            </a:r>
            <a:r>
              <a:rPr lang="zh-CN" altLang="en-US" sz="2000" i="0" u="none" strike="noStrike" kern="100" baseline="0" dirty="0"/>
              <a:t>”的客户的购买信息。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10EBC-3E59-D841-980E-90956D0FF094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0870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数据模型的组成要素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marR="0" lvl="0" indent="0" rtl="0">
              <a:buNone/>
            </a:pPr>
            <a:r>
              <a:rPr lang="en-US" altLang="zh-CN" i="0" u="none" strike="noStrike" kern="100" baseline="0" dirty="0">
                <a:solidFill>
                  <a:srgbClr val="0000FF"/>
                </a:solidFill>
              </a:rPr>
              <a:t>3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．数据完整性约束</a:t>
            </a:r>
          </a:p>
          <a:p>
            <a:pPr marR="0" lvl="0" rtl="0"/>
            <a:r>
              <a:rPr lang="zh-CN" altLang="en-US" i="0" u="none" strike="noStrike" kern="100" baseline="0" dirty="0"/>
              <a:t>数据完整性约束是为了确保数据的正确性和相容性，而对数据对象约定的一系列约束条件和约束规则。</a:t>
            </a:r>
          </a:p>
          <a:p>
            <a:pPr marR="0" lvl="0" rtl="0"/>
            <a:r>
              <a:rPr lang="zh-CN" altLang="en-US" i="0" u="none" strike="noStrike" kern="100" baseline="0" dirty="0"/>
              <a:t>例如：在电子书店中，客户的性别只能是“男”或者“女”。</a:t>
            </a:r>
          </a:p>
          <a:p>
            <a:pPr marR="0" lvl="0" rt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数据完整性约束：实体完整性、参照完整性和用户定义完整性等。</a:t>
            </a:r>
          </a:p>
          <a:p>
            <a:pPr marR="0" lvl="0" rtl="0"/>
            <a:r>
              <a:rPr lang="zh-CN" altLang="en-US" i="0" u="none" strike="noStrike" kern="100" baseline="0" dirty="0"/>
              <a:t>数据模型需要提供定义数据完整性的机制。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9C82-EBE1-954B-B333-0A69427873D4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54416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1" i="0" u="none" strike="noStrike" kern="2200" baseline="0">
                <a:latin typeface="Times New Roman"/>
                <a:ea typeface="宋体"/>
              </a:rPr>
              <a:t>1.3.3. </a:t>
            </a:r>
            <a:r>
              <a:rPr lang="zh-CN" altLang="en-US" b="1" i="0" u="none" strike="noStrike" kern="2200" baseline="0">
                <a:latin typeface="Times New Roman"/>
                <a:ea typeface="宋体"/>
              </a:rPr>
              <a:t>数据模型的分类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051720" y="1484784"/>
            <a:ext cx="5770984" cy="3384376"/>
          </a:xfrm>
        </p:spPr>
        <p:txBody>
          <a:bodyPr>
            <a:normAutofit/>
          </a:bodyPr>
          <a:lstStyle/>
          <a:p>
            <a:pPr marR="0" lvl="0" rtl="0">
              <a:lnSpc>
                <a:spcPts val="5600"/>
              </a:lnSpc>
            </a:pPr>
            <a:r>
              <a:rPr lang="zh-CN" altLang="en-US" sz="3600" i="0" u="none" strike="noStrike" kern="100" baseline="0" dirty="0">
                <a:solidFill>
                  <a:srgbClr val="0000FF"/>
                </a:solidFill>
              </a:rPr>
              <a:t>  概念模型</a:t>
            </a:r>
            <a:endParaRPr lang="en-US" altLang="zh-CN" sz="3600" i="0" u="none" strike="noStrike" kern="100" baseline="0" dirty="0">
              <a:solidFill>
                <a:srgbClr val="0000FF"/>
              </a:solidFill>
            </a:endParaRPr>
          </a:p>
          <a:p>
            <a:pPr marR="0" lvl="0" rtl="0">
              <a:lnSpc>
                <a:spcPts val="5600"/>
              </a:lnSpc>
            </a:pPr>
            <a:r>
              <a:rPr lang="zh-CN" altLang="en-US" sz="3600" i="0" u="none" strike="noStrike" kern="100" baseline="0" dirty="0">
                <a:solidFill>
                  <a:srgbClr val="0000FF"/>
                </a:solidFill>
              </a:rPr>
              <a:t>  逻辑模型</a:t>
            </a:r>
            <a:endParaRPr lang="en-US" altLang="zh-CN" sz="3600" i="0" u="none" strike="noStrike" kern="100" baseline="0" dirty="0">
              <a:solidFill>
                <a:srgbClr val="0000FF"/>
              </a:solidFill>
            </a:endParaRPr>
          </a:p>
          <a:p>
            <a:pPr marR="0" lvl="0" rtl="0">
              <a:lnSpc>
                <a:spcPts val="5600"/>
              </a:lnSpc>
            </a:pPr>
            <a:r>
              <a:rPr lang="zh-CN" altLang="en-US" sz="3600" i="0" u="none" strike="noStrike" kern="100" baseline="0" dirty="0">
                <a:solidFill>
                  <a:srgbClr val="0000FF"/>
                </a:solidFill>
              </a:rPr>
              <a:t>  物理模型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16D4B-D68E-0C4A-91A0-7FE2B8520731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8706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</a:t>
            </a:r>
            <a:r>
              <a:rPr lang="zh-CN" altLang="en-US" i="0" u="none" strike="noStrike" kern="2200" baseline="0" dirty="0"/>
              <a:t>．概念模型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概念模型：数据及其关系的图形表示。</a:t>
            </a:r>
            <a:endParaRPr lang="en-US" altLang="zh-CN" i="0" u="none" strike="noStrike" kern="100" baseline="0" dirty="0">
              <a:solidFill>
                <a:srgbClr val="0000FF"/>
              </a:solidFill>
            </a:endParaRPr>
          </a:p>
          <a:p>
            <a:pPr marL="363538" indent="0">
              <a:buNone/>
            </a:pPr>
            <a:r>
              <a:rPr lang="zh-CN" altLang="en-US" i="0" u="none" strike="noStrike" kern="100" baseline="0" dirty="0"/>
              <a:t>利用专用描述工具</a:t>
            </a:r>
            <a:r>
              <a:rPr lang="en-US" altLang="zh-CN" i="0" u="none" strike="noStrike" kern="100" baseline="0" dirty="0"/>
              <a:t>,</a:t>
            </a:r>
            <a:r>
              <a:rPr lang="zh-CN" altLang="en-US" i="0" u="none" strike="noStrike" kern="100" baseline="0" dirty="0"/>
              <a:t>按照统一的描述方法，对实际问题抽象后，而建立的体现数据及其关系的结构模型。</a:t>
            </a:r>
            <a:endParaRPr lang="en-US" altLang="zh-CN" i="0" u="none" strike="noStrike" kern="100" baseline="0" dirty="0"/>
          </a:p>
          <a:p>
            <a:pPr marL="363538" indent="0">
              <a:buNone/>
            </a:pPr>
            <a:r>
              <a:rPr lang="zh-CN" altLang="en-US" kern="100" dirty="0"/>
              <a:t>例如：</a:t>
            </a:r>
            <a:r>
              <a:rPr lang="en-US" altLang="zh-CN" kern="100" dirty="0"/>
              <a:t>E-R</a:t>
            </a:r>
            <a:r>
              <a:rPr lang="zh-CN" altLang="en-US" kern="100" dirty="0"/>
              <a:t>图</a:t>
            </a:r>
            <a:endParaRPr lang="en-US" altLang="zh-CN" i="0" u="none" strike="noStrike" kern="100" baseline="0" dirty="0"/>
          </a:p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专用描述工具：</a:t>
            </a:r>
            <a:r>
              <a:rPr lang="zh-CN" altLang="en-US" i="0" u="none" strike="noStrike" kern="100" baseline="0" dirty="0"/>
              <a:t>具有较强语义表达能力，且拥有统一的语法格式和描述方法，能够方便地表达应用中的各种语义。例如：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实体</a:t>
            </a:r>
            <a:r>
              <a:rPr lang="en-US" altLang="zh-CN" i="0" u="none" strike="noStrike" kern="100" baseline="0" dirty="0">
                <a:solidFill>
                  <a:srgbClr val="0000FF"/>
                </a:solidFill>
              </a:rPr>
              <a:t>-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联系方法</a:t>
            </a:r>
            <a:r>
              <a:rPr lang="zh-CN" altLang="en-US" i="0" u="none" strike="noStrike" kern="100" baseline="0" dirty="0"/>
              <a:t>（</a:t>
            </a:r>
            <a:r>
              <a:rPr lang="en-US" altLang="zh-CN" i="0" u="none" strike="noStrike" kern="100" baseline="0" dirty="0"/>
              <a:t>Entity</a:t>
            </a:r>
            <a:r>
              <a:rPr lang="zh-CN" altLang="en-US" i="0" u="none" strike="noStrike" kern="100" baseline="0" dirty="0"/>
              <a:t> </a:t>
            </a:r>
            <a:r>
              <a:rPr lang="en-US" altLang="zh-CN" i="0" u="none" strike="noStrike" kern="100" baseline="0" dirty="0"/>
              <a:t>Relationship</a:t>
            </a:r>
            <a:r>
              <a:rPr lang="zh-CN" altLang="en-US" i="0" u="none" strike="noStrike" kern="100" baseline="0" dirty="0"/>
              <a:t> </a:t>
            </a:r>
            <a:r>
              <a:rPr lang="en-US" altLang="zh-CN" i="0" u="none" strike="noStrike" kern="100" baseline="0" dirty="0"/>
              <a:t>Approach</a:t>
            </a:r>
            <a:r>
              <a:rPr lang="zh-CN" altLang="en-US" i="0" u="none" strike="noStrike" kern="100" baseline="0" dirty="0"/>
              <a:t>，</a:t>
            </a:r>
            <a:r>
              <a:rPr lang="en-US" altLang="zh-CN" i="0" u="none" strike="noStrike" kern="100" baseline="0" dirty="0">
                <a:solidFill>
                  <a:srgbClr val="0000FF"/>
                </a:solidFill>
              </a:rPr>
              <a:t>E-R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方法</a:t>
            </a:r>
            <a:r>
              <a:rPr lang="en-US" altLang="zh-CN" i="0" u="none" strike="noStrike" kern="100" baseline="0" dirty="0"/>
              <a:t>)</a:t>
            </a:r>
            <a:r>
              <a:rPr lang="zh-CN" altLang="en-US" i="0" u="none" strike="noStrike" kern="100" baseline="0" dirty="0"/>
              <a:t>。</a:t>
            </a:r>
          </a:p>
          <a:p>
            <a:r>
              <a:rPr lang="zh-CN" altLang="en-US" i="0" u="none" strike="noStrike" kern="100" baseline="0" dirty="0"/>
              <a:t>特点：简单、清晰、易于理解，独立于</a:t>
            </a:r>
            <a:r>
              <a:rPr lang="en-US" altLang="zh-CN" i="0" u="none" strike="noStrike" kern="100" baseline="0" dirty="0"/>
              <a:t>DBMS</a:t>
            </a:r>
            <a:r>
              <a:rPr lang="zh-CN" altLang="en-US" i="0" u="none" strike="noStrike" kern="100" baseline="0" dirty="0"/>
              <a:t>等</a:t>
            </a:r>
          </a:p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组成：实体、属性和联系</a:t>
            </a:r>
            <a:r>
              <a:rPr lang="zh-CN" altLang="en-US" i="0" u="none" strike="noStrike" kern="100" baseline="0" dirty="0"/>
              <a:t>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CF3-0EBA-5B47-A7D0-FA09811606FD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6425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（</a:t>
            </a:r>
            <a:r>
              <a:rPr lang="en-US" altLang="zh-CN" i="0" u="none" strike="noStrike" kern="2200" baseline="0" dirty="0"/>
              <a:t>1</a:t>
            </a:r>
            <a:r>
              <a:rPr lang="zh-CN" altLang="en-US" i="0" u="none" strike="noStrike" kern="2200" baseline="0" dirty="0"/>
              <a:t>）实体</a:t>
            </a:r>
            <a:r>
              <a:rPr lang="en-US" altLang="zh-CN" i="0" u="none" strike="noStrike" kern="2200" baseline="0" dirty="0"/>
              <a:t>(Entity)</a:t>
            </a:r>
            <a:endParaRPr lang="zh-CN" altLang="en-US" i="0" u="none" strike="noStrike" kern="2200" baseline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1124744"/>
            <a:ext cx="8928992" cy="5328592"/>
          </a:xfrm>
        </p:spPr>
        <p:txBody>
          <a:bodyPr>
            <a:noAutofit/>
          </a:bodyPr>
          <a:lstStyle/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实体（记录，元组）：</a:t>
            </a:r>
            <a:r>
              <a:rPr lang="zh-CN" altLang="en-US" sz="2000" i="0" u="none" strike="noStrike" kern="100" baseline="0" dirty="0"/>
              <a:t>客观存在且相互区别的事物</a:t>
            </a:r>
            <a:endParaRPr lang="en-US" altLang="zh-CN" sz="2000" i="0" u="none" strike="noStrike" kern="100" baseline="0" dirty="0"/>
          </a:p>
          <a:p>
            <a:pPr marL="0" marR="0" lvl="0" indent="0" rtl="0">
              <a:buNone/>
            </a:pPr>
            <a:r>
              <a:rPr lang="en-US" altLang="zh-CN" sz="2000" kern="100" dirty="0"/>
              <a:t>     </a:t>
            </a:r>
            <a:r>
              <a:rPr lang="zh-CN" altLang="en-US" sz="2000" i="0" u="none" strike="noStrike" kern="100" baseline="0" dirty="0"/>
              <a:t>实体可以是具体的人、事、物或者抽象对象等</a:t>
            </a:r>
            <a:endParaRPr lang="en-US" altLang="zh-CN" sz="2000" i="0" u="none" strike="noStrike" kern="100" baseline="0" dirty="0"/>
          </a:p>
          <a:p>
            <a:pPr marL="0" marR="0" lvl="0" indent="0" rtl="0">
              <a:buNone/>
            </a:pPr>
            <a:r>
              <a:rPr lang="en-US" altLang="zh-CN" sz="1800" kern="100" dirty="0"/>
              <a:t>     </a:t>
            </a:r>
            <a:r>
              <a:rPr lang="zh-CN" altLang="en-US" sz="2000" i="0" u="none" strike="noStrike" kern="100" baseline="0" dirty="0"/>
              <a:t>例如</a:t>
            </a:r>
            <a:r>
              <a:rPr lang="zh-CN" altLang="en-US" sz="2000" kern="100" dirty="0"/>
              <a:t>：客户实体：</a:t>
            </a:r>
            <a:r>
              <a:rPr lang="zh-CN" altLang="en-US" sz="2000" i="0" u="none" strike="noStrike" kern="100" baseline="0" dirty="0"/>
              <a:t>户号，户名，性别，生日，手机，婚否，邮箱</a:t>
            </a:r>
            <a:endParaRPr lang="en-US" altLang="zh-CN" sz="2000" i="0" u="none" strike="noStrike" kern="100" baseline="0" dirty="0"/>
          </a:p>
          <a:p>
            <a:pPr marL="457200" lvl="1" indent="0">
              <a:buNone/>
            </a:pPr>
            <a:r>
              <a:rPr lang="zh-CN" altLang="en-US" sz="2000" kern="100" dirty="0"/>
              <a:t>          图书实体：</a:t>
            </a:r>
            <a:r>
              <a:rPr lang="zh-CN" altLang="en-US" sz="2000" i="0" u="none" strike="noStrike" kern="100" baseline="0" dirty="0"/>
              <a:t>书号，书名，作者，社号，版次，定价，进价、售价</a:t>
            </a:r>
            <a:endParaRPr lang="en-US" altLang="zh-CN" sz="2000" i="0" u="none" strike="noStrike" kern="100" baseline="0" dirty="0"/>
          </a:p>
          <a:p>
            <a:pPr marL="457200" marR="0" lvl="1" indent="0" rtl="0">
              <a:buNone/>
            </a:pPr>
            <a:r>
              <a:rPr lang="zh-CN" altLang="en-US" sz="1600" i="0" u="none" strike="noStrike" kern="100" baseline="0" dirty="0"/>
              <a:t>（</a:t>
            </a:r>
            <a:r>
              <a:rPr lang="en-US" altLang="zh-CN" sz="1600" i="0" u="none" strike="noStrike" kern="100" baseline="0" dirty="0"/>
              <a:t>C001</a:t>
            </a:r>
            <a:r>
              <a:rPr lang="zh-CN" altLang="en-US" sz="1600" i="0" u="none" strike="noStrike" kern="100" baseline="0" dirty="0"/>
              <a:t>，李明，男，</a:t>
            </a:r>
            <a:r>
              <a:rPr lang="en-US" altLang="zh-CN" sz="1600" i="0" u="none" strike="noStrike" kern="100" baseline="0" dirty="0"/>
              <a:t>1966-06-01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13611122233</a:t>
            </a:r>
            <a:r>
              <a:rPr lang="zh-CN" altLang="en-US" sz="1600" i="0" u="none" strike="noStrike" kern="100" baseline="0" dirty="0"/>
              <a:t>，是，</a:t>
            </a:r>
            <a:r>
              <a:rPr lang="en-US" altLang="zh-CN" sz="1600" i="0" u="none" strike="noStrike" kern="100" baseline="0" dirty="0"/>
              <a:t>123450@qq.com</a:t>
            </a:r>
            <a:r>
              <a:rPr lang="zh-CN" altLang="en-US" sz="1600" i="0" u="none" strike="noStrike" kern="100" baseline="0" dirty="0"/>
              <a:t>）</a:t>
            </a:r>
            <a:endParaRPr lang="en-US" altLang="zh-CN" sz="1600" kern="100" dirty="0"/>
          </a:p>
          <a:p>
            <a:pPr marL="457200" marR="0" lvl="1" indent="0" rtl="0">
              <a:buNone/>
            </a:pPr>
            <a:r>
              <a:rPr lang="zh-CN" altLang="en-US" sz="1600" i="0" u="none" strike="noStrike" kern="100" baseline="0" dirty="0"/>
              <a:t>（</a:t>
            </a:r>
            <a:r>
              <a:rPr lang="en-US" altLang="zh-CN" sz="1600" i="0" u="none" strike="noStrike" kern="100" baseline="0" dirty="0"/>
              <a:t>ISBN978-7-04-040664-1</a:t>
            </a:r>
            <a:r>
              <a:rPr lang="zh-CN" altLang="en-US" sz="1600" i="0" u="none" strike="noStrike" kern="100" baseline="0" dirty="0"/>
              <a:t>，数据库系统概论，王珊，</a:t>
            </a:r>
            <a:r>
              <a:rPr lang="en-US" altLang="zh-CN" sz="1600" i="0" u="none" strike="noStrike" kern="100" baseline="0" dirty="0"/>
              <a:t>ISBN978-7-04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5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39.6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25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20</a:t>
            </a:r>
            <a:r>
              <a:rPr lang="zh-CN" altLang="en-US" sz="1600" i="0" u="none" strike="noStrike" kern="100" baseline="0" dirty="0"/>
              <a:t>）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实体集（表，关系）：</a:t>
            </a:r>
            <a:r>
              <a:rPr lang="zh-CN" altLang="en-US" sz="2000" i="0" u="none" strike="noStrike" kern="100" baseline="0" dirty="0"/>
              <a:t>同类实体组成的实体集合</a:t>
            </a:r>
          </a:p>
          <a:p>
            <a:pPr marL="457200" lvl="1" indent="0">
              <a:buNone/>
            </a:pPr>
            <a:r>
              <a:rPr lang="zh-CN" altLang="en-US" sz="1600" b="1" i="0" u="none" strike="noStrike" kern="100" baseline="0" dirty="0"/>
              <a:t>例如</a:t>
            </a:r>
            <a:r>
              <a:rPr lang="zh-CN" altLang="en-US" sz="1600" b="1" kern="100" dirty="0"/>
              <a:t>：客户实体：</a:t>
            </a:r>
            <a:r>
              <a:rPr lang="zh-CN" altLang="en-US" sz="1600" b="1" i="0" u="none" strike="noStrike" kern="100" baseline="0" dirty="0"/>
              <a:t>户号，户名，性别，生日，手机，婚否，邮箱</a:t>
            </a:r>
          </a:p>
          <a:p>
            <a:pPr marL="457200" marR="0" lvl="1" indent="0" rtl="0">
              <a:lnSpc>
                <a:spcPts val="2000"/>
              </a:lnSpc>
              <a:buNone/>
            </a:pPr>
            <a:r>
              <a:rPr lang="zh-CN" altLang="en-US" sz="1600" i="0" u="none" strike="noStrike" kern="100" baseline="0" dirty="0"/>
              <a:t>（</a:t>
            </a:r>
            <a:r>
              <a:rPr lang="en-US" altLang="zh-CN" sz="1600" i="0" u="none" strike="noStrike" kern="100" baseline="0" dirty="0"/>
              <a:t>C001</a:t>
            </a:r>
            <a:r>
              <a:rPr lang="zh-CN" altLang="en-US" sz="1600" i="0" u="none" strike="noStrike" kern="100" baseline="0" dirty="0"/>
              <a:t>，李明，男，</a:t>
            </a:r>
            <a:r>
              <a:rPr lang="en-US" altLang="zh-CN" sz="1600" i="0" u="none" strike="noStrike" kern="100" baseline="0" dirty="0"/>
              <a:t>1966-06-01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13611122233</a:t>
            </a:r>
            <a:r>
              <a:rPr lang="zh-CN" altLang="en-US" sz="1600" i="0" u="none" strike="noStrike" kern="100" baseline="0" dirty="0"/>
              <a:t>，是，</a:t>
            </a:r>
            <a:r>
              <a:rPr lang="en-US" altLang="zh-CN" sz="1600" i="0" u="none" strike="noStrike" kern="100" baseline="0" dirty="0"/>
              <a:t>123450@qq.com</a:t>
            </a:r>
            <a:r>
              <a:rPr lang="zh-CN" altLang="en-US" sz="1600" i="0" u="none" strike="noStrike" kern="100" baseline="0" dirty="0"/>
              <a:t>）</a:t>
            </a:r>
          </a:p>
          <a:p>
            <a:pPr marL="457200" marR="0" lvl="1" indent="0" rtl="0">
              <a:lnSpc>
                <a:spcPts val="2000"/>
              </a:lnSpc>
              <a:buNone/>
            </a:pPr>
            <a:r>
              <a:rPr lang="zh-CN" altLang="en-US" sz="1600" i="0" u="none" strike="noStrike" kern="100" baseline="0" dirty="0"/>
              <a:t>（</a:t>
            </a:r>
            <a:r>
              <a:rPr lang="en-US" altLang="zh-CN" sz="1600" i="0" u="none" strike="noStrike" kern="100" baseline="0" dirty="0"/>
              <a:t>C002</a:t>
            </a:r>
            <a:r>
              <a:rPr lang="zh-CN" altLang="en-US" sz="1600" i="0" u="none" strike="noStrike" kern="100" baseline="0" dirty="0"/>
              <a:t>，吴光，男，</a:t>
            </a:r>
            <a:r>
              <a:rPr lang="en-US" altLang="zh-CN" sz="1600" i="0" u="none" strike="noStrike" kern="100" baseline="0" dirty="0"/>
              <a:t>1979-09-10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13911122233</a:t>
            </a:r>
            <a:r>
              <a:rPr lang="zh-CN" altLang="en-US" sz="1600" i="0" u="none" strike="noStrike" kern="100" baseline="0" dirty="0"/>
              <a:t>，是，</a:t>
            </a:r>
            <a:r>
              <a:rPr lang="en-US" altLang="zh-CN" sz="1600" i="0" u="none" strike="noStrike" kern="100" baseline="0" dirty="0"/>
              <a:t>543210@qq.com</a:t>
            </a:r>
            <a:r>
              <a:rPr lang="zh-CN" altLang="en-US" sz="1600" i="0" u="none" strike="noStrike" kern="100" baseline="0" dirty="0"/>
              <a:t>）</a:t>
            </a:r>
          </a:p>
          <a:p>
            <a:pPr marL="457200" marR="0" lvl="1" indent="0" rtl="0">
              <a:lnSpc>
                <a:spcPts val="2000"/>
              </a:lnSpc>
              <a:buNone/>
            </a:pPr>
            <a:r>
              <a:rPr lang="zh-CN" altLang="en-US" sz="1600" i="0" u="none" strike="noStrike" kern="100" baseline="0" dirty="0"/>
              <a:t>（</a:t>
            </a:r>
            <a:r>
              <a:rPr lang="en-US" altLang="zh-CN" sz="1600" i="0" u="none" strike="noStrike" kern="100" baseline="0" dirty="0"/>
              <a:t>C003</a:t>
            </a:r>
            <a:r>
              <a:rPr lang="zh-CN" altLang="en-US" sz="1600" i="0" u="none" strike="noStrike" kern="100" baseline="0" dirty="0"/>
              <a:t>，王英，女，</a:t>
            </a:r>
            <a:r>
              <a:rPr lang="en-US" altLang="zh-CN" sz="1600" i="0" u="none" strike="noStrike" kern="100" baseline="0" dirty="0"/>
              <a:t>1988-10-06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13622233355</a:t>
            </a:r>
            <a:r>
              <a:rPr lang="zh-CN" altLang="en-US" sz="1600" i="0" u="none" strike="noStrike" kern="100" baseline="0" dirty="0"/>
              <a:t>，是，</a:t>
            </a:r>
            <a:r>
              <a:rPr lang="en-US" altLang="zh-CN" sz="1600" i="0" u="none" strike="noStrike" kern="100" baseline="0" dirty="0"/>
              <a:t>122220@qq.com</a:t>
            </a:r>
            <a:r>
              <a:rPr lang="zh-CN" altLang="en-US" sz="1600" i="0" u="none" strike="noStrike" kern="100" baseline="0" dirty="0"/>
              <a:t>）</a:t>
            </a:r>
          </a:p>
          <a:p>
            <a:pPr marL="457200" marR="0" lvl="1" indent="0" rtl="0">
              <a:lnSpc>
                <a:spcPts val="2000"/>
              </a:lnSpc>
              <a:buNone/>
            </a:pPr>
            <a:r>
              <a:rPr lang="zh-CN" altLang="en-US" sz="1600" i="0" u="none" strike="noStrike" kern="100" baseline="0" dirty="0"/>
              <a:t>（</a:t>
            </a:r>
            <a:r>
              <a:rPr lang="en-US" altLang="zh-CN" sz="1600" i="0" u="none" strike="noStrike" kern="100" baseline="0" dirty="0"/>
              <a:t>C004</a:t>
            </a:r>
            <a:r>
              <a:rPr lang="zh-CN" altLang="en-US" sz="1600" i="0" u="none" strike="noStrike" kern="100" baseline="0" dirty="0"/>
              <a:t>，赵庆，男，</a:t>
            </a:r>
            <a:r>
              <a:rPr lang="en-US" altLang="zh-CN" sz="1600" i="0" u="none" strike="noStrike" kern="100" baseline="0" dirty="0"/>
              <a:t>1999-06-16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13922233355</a:t>
            </a:r>
            <a:r>
              <a:rPr lang="zh-CN" altLang="en-US" sz="1600" i="0" u="none" strike="noStrike" kern="100" baseline="0" dirty="0"/>
              <a:t>，否，</a:t>
            </a:r>
            <a:r>
              <a:rPr lang="en-US" altLang="zh-CN" sz="1600" i="0" u="none" strike="noStrike" kern="100" baseline="0" dirty="0"/>
              <a:t>222220@qq.com</a:t>
            </a:r>
            <a:r>
              <a:rPr lang="zh-CN" altLang="en-US" sz="1600" i="0" u="none" strike="noStrike" kern="100" baseline="0" dirty="0"/>
              <a:t>）</a:t>
            </a:r>
          </a:p>
          <a:p>
            <a:pPr marL="457200" marR="0" lvl="1" indent="0" rtl="0">
              <a:lnSpc>
                <a:spcPts val="2000"/>
              </a:lnSpc>
              <a:buNone/>
            </a:pPr>
            <a:r>
              <a:rPr lang="zh-CN" altLang="en-US" sz="1600" i="0" u="none" strike="noStrike" kern="100" baseline="0" dirty="0"/>
              <a:t>（</a:t>
            </a:r>
            <a:r>
              <a:rPr lang="en-US" altLang="zh-CN" sz="1600" i="0" u="none" strike="noStrike" kern="100" baseline="0" dirty="0"/>
              <a:t>C005</a:t>
            </a:r>
            <a:r>
              <a:rPr lang="zh-CN" altLang="en-US" sz="1600" i="0" u="none" strike="noStrike" kern="100" baseline="0" dirty="0"/>
              <a:t>，李丽，女，</a:t>
            </a:r>
            <a:r>
              <a:rPr lang="en-US" altLang="zh-CN" sz="1600" i="0" u="none" strike="noStrike" kern="100" baseline="0" dirty="0"/>
              <a:t>2002-07-11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13655566699</a:t>
            </a:r>
            <a:r>
              <a:rPr lang="zh-CN" altLang="en-US" sz="1600" i="0" u="none" strike="noStrike" kern="100" baseline="0" dirty="0"/>
              <a:t>，否，</a:t>
            </a:r>
            <a:r>
              <a:rPr lang="en-US" altLang="zh-CN" sz="1600" i="0" u="none" strike="noStrike" kern="100" baseline="0" dirty="0"/>
              <a:t>345220@qq.com</a:t>
            </a:r>
            <a:r>
              <a:rPr lang="zh-CN" altLang="en-US" sz="1600" i="0" u="none" strike="noStrike" kern="100" baseline="0" dirty="0"/>
              <a:t>）</a:t>
            </a:r>
          </a:p>
          <a:p>
            <a:pPr marL="457200" marR="0" lvl="1" indent="0" rtl="0">
              <a:lnSpc>
                <a:spcPts val="2000"/>
              </a:lnSpc>
              <a:buNone/>
            </a:pPr>
            <a:r>
              <a:rPr lang="zh-CN" altLang="en-US" sz="1600" i="0" u="none" strike="noStrike" kern="100" baseline="0" dirty="0"/>
              <a:t>（</a:t>
            </a:r>
            <a:r>
              <a:rPr lang="en-US" altLang="zh-CN" sz="1600" i="0" u="none" strike="noStrike" kern="100" baseline="0" dirty="0"/>
              <a:t>C006</a:t>
            </a:r>
            <a:r>
              <a:rPr lang="zh-CN" altLang="en-US" sz="1600" i="0" u="none" strike="noStrike" kern="100" baseline="0" dirty="0"/>
              <a:t>，李丽，女，</a:t>
            </a:r>
            <a:r>
              <a:rPr lang="en-US" altLang="zh-CN" sz="1600" i="0" u="none" strike="noStrike" kern="100" baseline="0" dirty="0"/>
              <a:t>2006-08-08</a:t>
            </a:r>
            <a:r>
              <a:rPr lang="zh-CN" altLang="en-US" sz="1600" i="0" u="none" strike="noStrike" kern="100" baseline="0" dirty="0"/>
              <a:t>，</a:t>
            </a:r>
            <a:r>
              <a:rPr lang="en-US" altLang="zh-CN" sz="1600" i="0" u="none" strike="noStrike" kern="100" baseline="0" dirty="0"/>
              <a:t>13955566699</a:t>
            </a:r>
            <a:r>
              <a:rPr lang="zh-CN" altLang="en-US" sz="1600" i="0" u="none" strike="noStrike" kern="100" baseline="0" dirty="0"/>
              <a:t>，否，</a:t>
            </a:r>
            <a:r>
              <a:rPr lang="en-US" altLang="zh-CN" sz="1600" i="0" u="none" strike="noStrike" kern="100" baseline="0" dirty="0"/>
              <a:t>562220@qq.com</a:t>
            </a:r>
            <a:r>
              <a:rPr lang="zh-CN" altLang="en-US" sz="1600" i="0" u="none" strike="noStrike" kern="100" baseline="0" dirty="0"/>
              <a:t>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B285B-851A-0349-BF17-5F75C0B406E1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67176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19256" cy="706090"/>
          </a:xfrm>
        </p:spPr>
        <p:txBody>
          <a:bodyPr>
            <a:normAutofit/>
          </a:bodyPr>
          <a:lstStyle/>
          <a:p>
            <a:pPr marR="0" rtl="0"/>
            <a:r>
              <a:rPr lang="zh-CN" altLang="en-US" sz="3200" i="0" u="none" strike="noStrike" kern="2200" baseline="0" dirty="0"/>
              <a:t>（</a:t>
            </a:r>
            <a:r>
              <a:rPr lang="en-US" altLang="zh-CN" sz="3200" i="0" u="none" strike="noStrike" kern="2200" baseline="0" dirty="0"/>
              <a:t>2</a:t>
            </a:r>
            <a:r>
              <a:rPr lang="zh-CN" altLang="en-US" sz="3200" i="0" u="none" strike="noStrike" kern="2200" baseline="0" dirty="0"/>
              <a:t>）属性</a:t>
            </a:r>
            <a:r>
              <a:rPr lang="en-US" altLang="zh-CN" sz="3200" i="0" u="none" strike="noStrike" kern="2200" baseline="0" dirty="0"/>
              <a:t>(Attribute)</a:t>
            </a:r>
            <a:endParaRPr lang="zh-CN" altLang="en-US" sz="3200" i="0" u="none" strike="noStrike" kern="2200" baseline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544" y="836712"/>
            <a:ext cx="8229600" cy="5112568"/>
          </a:xfrm>
        </p:spPr>
        <p:txBody>
          <a:bodyPr>
            <a:noAutofit/>
          </a:bodyPr>
          <a:lstStyle/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属性（字段，数据项）</a:t>
            </a:r>
            <a:r>
              <a:rPr lang="zh-CN" altLang="en-US" sz="2000" kern="100" dirty="0">
                <a:solidFill>
                  <a:srgbClr val="0000FF"/>
                </a:solidFill>
              </a:rPr>
              <a:t>：</a:t>
            </a:r>
            <a:r>
              <a:rPr lang="zh-CN" altLang="en-US" sz="2000" i="0" u="none" strike="noStrike" kern="100" baseline="0" dirty="0"/>
              <a:t>实体所具有的特性。由多个属性来描述</a:t>
            </a:r>
          </a:p>
          <a:p>
            <a:pPr marL="363538" indent="0">
              <a:buNone/>
            </a:pPr>
            <a:r>
              <a:rPr lang="zh-CN" altLang="en-US" sz="2000" kern="100" dirty="0"/>
              <a:t>例如：户号特征：</a:t>
            </a:r>
            <a:r>
              <a:rPr lang="en-US" altLang="zh-CN" sz="2000" i="0" u="none" strike="noStrike" kern="100" baseline="0" dirty="0"/>
              <a:t>C001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C002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C003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C004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C005</a:t>
            </a:r>
            <a:r>
              <a:rPr lang="zh-CN" altLang="en-US" sz="2000" i="0" u="none" strike="noStrike" kern="100" baseline="0" dirty="0"/>
              <a:t>和</a:t>
            </a:r>
            <a:r>
              <a:rPr lang="en-US" altLang="zh-CN" sz="2000" i="0" u="none" strike="noStrike" kern="100" baseline="0" dirty="0"/>
              <a:t>C006</a:t>
            </a:r>
            <a:endParaRPr lang="en-US" altLang="zh-CN" sz="2000" kern="100" dirty="0"/>
          </a:p>
          <a:p>
            <a:pPr marL="363538" indent="0">
              <a:buNone/>
            </a:pPr>
            <a:r>
              <a:rPr lang="en-US" altLang="zh-CN" sz="2000" kern="100" dirty="0"/>
              <a:t>          </a:t>
            </a:r>
            <a:r>
              <a:rPr lang="zh-CN" altLang="en-US" sz="2000" kern="100" dirty="0"/>
              <a:t>户名特征：</a:t>
            </a:r>
            <a:r>
              <a:rPr lang="zh-CN" altLang="en-US" sz="2000" i="0" u="none" strike="noStrike" kern="100" baseline="0" dirty="0"/>
              <a:t>李明，吴光，王英，赵庆，李丽和李丽</a:t>
            </a:r>
          </a:p>
          <a:p>
            <a:pPr marL="46038" indent="0">
              <a:buNone/>
            </a:pPr>
            <a:r>
              <a:rPr lang="zh-CN" altLang="en-US" sz="2000" i="0" u="none" strike="noStrike" kern="100" baseline="0" dirty="0"/>
              <a:t>    例如：客户实体和图书实体的属性如下：</a:t>
            </a:r>
          </a:p>
          <a:p>
            <a:pPr marL="457200" marR="0" lvl="1" indent="0" rtl="0">
              <a:buNone/>
            </a:pPr>
            <a:r>
              <a:rPr lang="zh-CN" altLang="en-US" sz="2000" kern="100" dirty="0"/>
              <a:t>客户实体（户号、户名、性别、生日、手机、婚否，邮箱）</a:t>
            </a:r>
            <a:endParaRPr lang="en-US" altLang="zh-CN" sz="2000" kern="100" dirty="0"/>
          </a:p>
          <a:p>
            <a:pPr marL="0" indent="0">
              <a:buNone/>
            </a:pPr>
            <a:r>
              <a:rPr lang="zh-CN" altLang="en-US" sz="2000" kern="100" dirty="0"/>
              <a:t>      图书实体（书号、书名、作者、社号、版次、定价、进价和售价）</a:t>
            </a:r>
            <a:endParaRPr lang="en-US" altLang="zh-CN" sz="2000" kern="100" dirty="0"/>
          </a:p>
          <a:p>
            <a:r>
              <a:rPr lang="zh-CN" altLang="en-US" sz="2000" kern="100" dirty="0">
                <a:solidFill>
                  <a:srgbClr val="0000FF"/>
                </a:solidFill>
              </a:rPr>
              <a:t>域：</a:t>
            </a:r>
            <a:r>
              <a:rPr lang="zh-CN" altLang="en-US" sz="2000" kern="100" dirty="0"/>
              <a:t>属性</a:t>
            </a:r>
            <a:r>
              <a:rPr lang="zh-CN" altLang="en-US" sz="2000" i="0" u="none" strike="noStrike" kern="100" baseline="0" dirty="0"/>
              <a:t>的取值范围</a:t>
            </a:r>
          </a:p>
          <a:p>
            <a:pPr marL="457200" marR="0" lvl="1" indent="0" rtl="0">
              <a:buNone/>
            </a:pPr>
            <a:r>
              <a:rPr lang="zh-CN" altLang="en-US" sz="2000" i="0" u="none" strike="noStrike" kern="100" baseline="0" dirty="0"/>
              <a:t>例如：户号的域：</a:t>
            </a:r>
            <a:r>
              <a:rPr lang="en-US" altLang="zh-CN" sz="2000" i="0" u="none" strike="noStrike" kern="100" baseline="0" dirty="0"/>
              <a:t>{C</a:t>
            </a:r>
            <a:r>
              <a:rPr lang="zh-CN" altLang="en-US" sz="2000" i="0" u="none" strike="noStrike" kern="100" baseline="0" dirty="0"/>
              <a:t>开头且后面为三位数字</a:t>
            </a:r>
            <a:r>
              <a:rPr lang="en-US" altLang="zh-CN" sz="2000" i="0" u="none" strike="noStrike" kern="100" baseline="0" dirty="0"/>
              <a:t>}</a:t>
            </a:r>
          </a:p>
          <a:p>
            <a:pPr marL="457200" marR="0" lvl="1" indent="0" rtl="0">
              <a:buNone/>
            </a:pPr>
            <a:r>
              <a:rPr lang="en-US" altLang="zh-CN" sz="2000" kern="100" dirty="0"/>
              <a:t>          </a:t>
            </a:r>
            <a:r>
              <a:rPr lang="zh-CN" altLang="en-US" sz="2000" i="0" u="none" strike="noStrike" kern="100" baseline="0" dirty="0"/>
              <a:t>性别的域：</a:t>
            </a:r>
            <a:r>
              <a:rPr lang="en-US" altLang="zh-CN" sz="2000" i="0" u="none" strike="noStrike" kern="100" baseline="0" dirty="0"/>
              <a:t>{</a:t>
            </a:r>
            <a:r>
              <a:rPr lang="zh-CN" altLang="en-US" sz="2000" i="0" u="none" strike="noStrike" kern="100" baseline="0" dirty="0"/>
              <a:t>“男”，“女”</a:t>
            </a:r>
            <a:r>
              <a:rPr lang="en-US" altLang="zh-CN" sz="2000" i="0" u="none" strike="noStrike" kern="100" baseline="0" dirty="0"/>
              <a:t>}</a:t>
            </a:r>
            <a:endParaRPr lang="zh-CN" altLang="en-US" sz="2000" i="0" u="none" strike="noStrike" kern="100" baseline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726-BC0D-6747-A5E7-7EE93EA6429F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00347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19256" cy="706090"/>
          </a:xfrm>
        </p:spPr>
        <p:txBody>
          <a:bodyPr>
            <a:normAutofit/>
          </a:bodyPr>
          <a:lstStyle/>
          <a:p>
            <a:pPr marR="0" rtl="0"/>
            <a:r>
              <a:rPr lang="zh-CN" altLang="en-US" sz="3200" i="0" u="none" strike="noStrike" kern="2200" baseline="0" dirty="0"/>
              <a:t>（</a:t>
            </a:r>
            <a:r>
              <a:rPr lang="en-US" altLang="zh-CN" sz="3200" i="0" u="none" strike="noStrike" kern="2200" baseline="0" dirty="0"/>
              <a:t>2</a:t>
            </a:r>
            <a:r>
              <a:rPr lang="zh-CN" altLang="en-US" sz="3200" i="0" u="none" strike="noStrike" kern="2200" baseline="0" dirty="0"/>
              <a:t>）属性</a:t>
            </a:r>
            <a:r>
              <a:rPr lang="en-US" altLang="zh-CN" sz="3200" i="0" u="none" strike="noStrike" kern="2200" baseline="0" dirty="0"/>
              <a:t>(Attribute)</a:t>
            </a:r>
            <a:endParaRPr lang="zh-CN" altLang="en-US" sz="3200" i="0" u="none" strike="noStrike" kern="2200" baseline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544" y="836712"/>
            <a:ext cx="8229600" cy="5112568"/>
          </a:xfrm>
        </p:spPr>
        <p:txBody>
          <a:bodyPr>
            <a:noAutofit/>
          </a:bodyPr>
          <a:lstStyle/>
          <a:p>
            <a:r>
              <a:rPr lang="zh-CN" altLang="en-US" sz="2000" kern="100" dirty="0">
                <a:solidFill>
                  <a:srgbClr val="0000FF"/>
                </a:solidFill>
              </a:rPr>
              <a:t>候选键</a:t>
            </a:r>
            <a:r>
              <a:rPr lang="en-US" altLang="zh-CN" sz="2000" kern="100" dirty="0">
                <a:solidFill>
                  <a:srgbClr val="0000FF"/>
                </a:solidFill>
              </a:rPr>
              <a:t>/</a:t>
            </a:r>
            <a:r>
              <a:rPr lang="zh-CN" altLang="en-US" sz="2000" kern="100" dirty="0">
                <a:solidFill>
                  <a:srgbClr val="0000FF"/>
                </a:solidFill>
              </a:rPr>
              <a:t>码（</a:t>
            </a:r>
            <a:r>
              <a:rPr lang="en-US" altLang="zh-CN" sz="2000" kern="100" dirty="0">
                <a:solidFill>
                  <a:srgbClr val="0000FF"/>
                </a:solidFill>
              </a:rPr>
              <a:t>Candidate</a:t>
            </a:r>
            <a:r>
              <a:rPr lang="zh-CN" altLang="en-US" sz="2000" kern="100" dirty="0">
                <a:solidFill>
                  <a:srgbClr val="0000FF"/>
                </a:solidFill>
              </a:rPr>
              <a:t> </a:t>
            </a:r>
            <a:r>
              <a:rPr lang="en-US" altLang="zh-CN" sz="2000" kern="100" dirty="0">
                <a:solidFill>
                  <a:srgbClr val="0000FF"/>
                </a:solidFill>
              </a:rPr>
              <a:t>Key</a:t>
            </a:r>
            <a:r>
              <a:rPr lang="zh-CN" altLang="en-US" sz="2000" kern="100" dirty="0">
                <a:solidFill>
                  <a:srgbClr val="0000FF"/>
                </a:solidFill>
              </a:rPr>
              <a:t>，</a:t>
            </a:r>
            <a:r>
              <a:rPr lang="en-US" altLang="zh-CN" sz="2000" kern="100" dirty="0">
                <a:solidFill>
                  <a:srgbClr val="0000FF"/>
                </a:solidFill>
              </a:rPr>
              <a:t>CK</a:t>
            </a:r>
            <a:r>
              <a:rPr lang="zh-CN" altLang="en-US" sz="2000" kern="100" dirty="0">
                <a:solidFill>
                  <a:srgbClr val="0000FF"/>
                </a:solidFill>
              </a:rPr>
              <a:t>）：</a:t>
            </a:r>
            <a:r>
              <a:rPr lang="zh-CN" altLang="en-US" sz="2000" i="0" u="none" strike="noStrike" kern="100" baseline="0" dirty="0"/>
              <a:t>区分实体的最小属性集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候选键可以一个属性，或多个属性；一个实体集可以有多个候选键</a:t>
            </a:r>
          </a:p>
          <a:p>
            <a:pPr marL="363538" indent="0">
              <a:buNone/>
            </a:pPr>
            <a:r>
              <a:rPr lang="zh-CN" altLang="en-US" sz="2000" i="0" u="none" strike="noStrike" kern="100" baseline="0" dirty="0"/>
              <a:t>例如：出版社实体集的候选键有两个：社号和社名；因为出版社的社名一般不相同。客户实体集的候选键为户号。</a:t>
            </a:r>
          </a:p>
          <a:p>
            <a:r>
              <a:rPr lang="zh-CN" altLang="en-US" sz="2000" kern="100" dirty="0">
                <a:solidFill>
                  <a:srgbClr val="0000FF"/>
                </a:solidFill>
              </a:rPr>
              <a:t>主键</a:t>
            </a:r>
            <a:r>
              <a:rPr lang="en-US" altLang="zh-CN" sz="2000" kern="100" dirty="0">
                <a:solidFill>
                  <a:srgbClr val="0000FF"/>
                </a:solidFill>
              </a:rPr>
              <a:t>/</a:t>
            </a:r>
            <a:r>
              <a:rPr lang="zh-CN" altLang="en-US" sz="2000" kern="100" dirty="0">
                <a:solidFill>
                  <a:srgbClr val="0000FF"/>
                </a:solidFill>
              </a:rPr>
              <a:t>码（</a:t>
            </a:r>
            <a:r>
              <a:rPr lang="en-US" altLang="zh-CN" sz="2000" kern="100" dirty="0">
                <a:solidFill>
                  <a:srgbClr val="0000FF"/>
                </a:solidFill>
              </a:rPr>
              <a:t>Primary</a:t>
            </a:r>
            <a:r>
              <a:rPr lang="zh-CN" altLang="en-US" sz="2000" kern="100" dirty="0">
                <a:solidFill>
                  <a:srgbClr val="0000FF"/>
                </a:solidFill>
              </a:rPr>
              <a:t> </a:t>
            </a:r>
            <a:r>
              <a:rPr lang="en-US" altLang="zh-CN" sz="2000" kern="100" dirty="0">
                <a:solidFill>
                  <a:srgbClr val="0000FF"/>
                </a:solidFill>
              </a:rPr>
              <a:t>Key</a:t>
            </a:r>
            <a:r>
              <a:rPr lang="zh-CN" altLang="en-US" sz="2000" kern="100" dirty="0">
                <a:solidFill>
                  <a:srgbClr val="0000FF"/>
                </a:solidFill>
              </a:rPr>
              <a:t>，</a:t>
            </a:r>
            <a:r>
              <a:rPr lang="en-US" altLang="zh-CN" sz="2000" kern="100" dirty="0">
                <a:solidFill>
                  <a:srgbClr val="0000FF"/>
                </a:solidFill>
              </a:rPr>
              <a:t>PK</a:t>
            </a:r>
            <a:r>
              <a:rPr lang="zh-CN" altLang="en-US" sz="2000" kern="100" dirty="0">
                <a:solidFill>
                  <a:srgbClr val="0000FF"/>
                </a:solidFill>
              </a:rPr>
              <a:t>）：</a:t>
            </a:r>
            <a:r>
              <a:rPr lang="zh-CN" altLang="en-US" sz="2000" i="0" u="none" strike="noStrike" kern="100" baseline="0" dirty="0"/>
              <a:t>被选中使用的候选键</a:t>
            </a:r>
            <a:endParaRPr lang="en-US" altLang="zh-CN" sz="2000" i="0" u="none" strike="noStrike" kern="100" baseline="0" dirty="0"/>
          </a:p>
          <a:p>
            <a:pPr marL="363538" indent="0">
              <a:buNone/>
            </a:pPr>
            <a:r>
              <a:rPr lang="zh-CN" altLang="en-US" sz="2000" kern="100" dirty="0"/>
              <a:t>主键的取值唯一，且一个实体集只能有一个主键</a:t>
            </a:r>
          </a:p>
          <a:p>
            <a:r>
              <a:rPr lang="zh-CN" altLang="en-US" sz="2000" kern="100" dirty="0">
                <a:solidFill>
                  <a:srgbClr val="0000FF"/>
                </a:solidFill>
              </a:rPr>
              <a:t>全键</a:t>
            </a:r>
            <a:r>
              <a:rPr lang="en-US" altLang="zh-CN" sz="2000" kern="100" dirty="0">
                <a:solidFill>
                  <a:srgbClr val="0000FF"/>
                </a:solidFill>
              </a:rPr>
              <a:t>/</a:t>
            </a:r>
            <a:r>
              <a:rPr lang="zh-CN" altLang="en-US" sz="2000" kern="100" dirty="0">
                <a:solidFill>
                  <a:srgbClr val="0000FF"/>
                </a:solidFill>
              </a:rPr>
              <a:t>码（</a:t>
            </a:r>
            <a:r>
              <a:rPr lang="en-US" altLang="zh-CN" sz="2000" kern="100" dirty="0">
                <a:solidFill>
                  <a:srgbClr val="0000FF"/>
                </a:solidFill>
              </a:rPr>
              <a:t>All Key</a:t>
            </a:r>
            <a:r>
              <a:rPr lang="zh-CN" altLang="en-US" sz="2000" kern="100" dirty="0">
                <a:solidFill>
                  <a:srgbClr val="0000FF"/>
                </a:solidFill>
              </a:rPr>
              <a:t>，</a:t>
            </a:r>
            <a:r>
              <a:rPr lang="en-US" altLang="zh-CN" sz="2000" kern="100" dirty="0">
                <a:solidFill>
                  <a:srgbClr val="0000FF"/>
                </a:solidFill>
              </a:rPr>
              <a:t>AK</a:t>
            </a:r>
            <a:r>
              <a:rPr lang="zh-CN" altLang="en-US" sz="2000" kern="100" dirty="0">
                <a:solidFill>
                  <a:srgbClr val="0000FF"/>
                </a:solidFill>
              </a:rPr>
              <a:t>）：</a:t>
            </a:r>
            <a:r>
              <a:rPr lang="zh-CN" altLang="en-US" sz="2000" i="0" u="none" strike="noStrike" kern="100" baseline="0" dirty="0"/>
              <a:t>实体</a:t>
            </a:r>
            <a:r>
              <a:rPr lang="zh-CN" altLang="en-US" sz="2000" kern="100" dirty="0"/>
              <a:t>集的</a:t>
            </a:r>
            <a:r>
              <a:rPr lang="zh-CN" altLang="en-US" sz="2000" i="0" u="none" strike="noStrike" kern="100" baseline="0" dirty="0"/>
              <a:t>所有属性组成候选键</a:t>
            </a:r>
          </a:p>
          <a:p>
            <a:r>
              <a:rPr lang="zh-CN" altLang="en-US" sz="2000" kern="100" dirty="0">
                <a:solidFill>
                  <a:srgbClr val="0000FF"/>
                </a:solidFill>
              </a:rPr>
              <a:t>主属性：</a:t>
            </a:r>
            <a:r>
              <a:rPr lang="zh-CN" altLang="en-US" sz="2000" kern="100" dirty="0"/>
              <a:t>候选</a:t>
            </a:r>
            <a:r>
              <a:rPr lang="zh-CN" altLang="en-US" sz="2000" i="0" u="none" strike="noStrike" kern="100" baseline="0" dirty="0"/>
              <a:t>键的</a:t>
            </a:r>
            <a:r>
              <a:rPr lang="zh-CN" altLang="en-US" sz="2000" kern="100" dirty="0"/>
              <a:t>属性。</a:t>
            </a:r>
            <a:r>
              <a:rPr lang="zh-CN" altLang="en-US" sz="2000" kern="100" dirty="0">
                <a:solidFill>
                  <a:srgbClr val="0000FF"/>
                </a:solidFill>
              </a:rPr>
              <a:t>非主属性：</a:t>
            </a:r>
            <a:r>
              <a:rPr lang="zh-CN" altLang="en-US" sz="2000" kern="100" dirty="0"/>
              <a:t>不</a:t>
            </a:r>
            <a:r>
              <a:rPr lang="zh-CN" altLang="en-US" sz="2000" i="0" u="none" strike="noStrike" kern="100" baseline="0" dirty="0"/>
              <a:t>包含在任何候选键中的属性</a:t>
            </a:r>
          </a:p>
          <a:p>
            <a:r>
              <a:rPr lang="zh-CN" altLang="en-US" sz="2000" kern="100" dirty="0">
                <a:solidFill>
                  <a:srgbClr val="0000FF"/>
                </a:solidFill>
              </a:rPr>
              <a:t>型和值：</a:t>
            </a:r>
            <a:r>
              <a:rPr lang="zh-CN" altLang="en-US" sz="2000" kern="100" dirty="0"/>
              <a:t>属性</a:t>
            </a:r>
            <a:r>
              <a:rPr lang="zh-CN" altLang="en-US" sz="2000" i="0" u="none" strike="noStrike" kern="100" baseline="0" dirty="0"/>
              <a:t>和实体集均有</a:t>
            </a:r>
            <a:r>
              <a:rPr lang="zh-CN" altLang="en-US" sz="2000" kern="100" dirty="0"/>
              <a:t>型和值</a:t>
            </a:r>
            <a:r>
              <a:rPr lang="zh-CN" altLang="en-US" sz="2000" i="0" u="none" strike="noStrike" kern="100" baseline="0" dirty="0"/>
              <a:t>之分。</a:t>
            </a:r>
          </a:p>
          <a:p>
            <a:pPr marL="363538" indent="0">
              <a:buNone/>
            </a:pP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属性型：</a:t>
            </a:r>
            <a:r>
              <a:rPr lang="zh-CN" altLang="en-US" sz="2000" i="0" u="none" strike="noStrike" kern="100" baseline="0" dirty="0"/>
              <a:t>描述了属性的本质特征。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属性值：</a:t>
            </a:r>
            <a:r>
              <a:rPr lang="zh-CN" altLang="en-US" sz="2000" i="0" u="none" strike="noStrike" kern="100" baseline="0" dirty="0"/>
              <a:t>给出属性的具体数据</a:t>
            </a:r>
            <a:r>
              <a:rPr lang="zh-CN" altLang="en-US" sz="2000" kern="100" dirty="0"/>
              <a:t>。</a:t>
            </a:r>
            <a:endParaRPr lang="en-US" altLang="zh-CN" sz="2000" kern="100" dirty="0"/>
          </a:p>
          <a:p>
            <a:pPr marL="363538" indent="0">
              <a:buNone/>
            </a:pPr>
            <a:r>
              <a:rPr lang="zh-CN" altLang="en-US" sz="2000" kern="100" dirty="0">
                <a:solidFill>
                  <a:srgbClr val="0000FF"/>
                </a:solidFill>
              </a:rPr>
              <a:t>属性 </a:t>
            </a:r>
            <a:r>
              <a:rPr lang="en-US" altLang="zh-CN" sz="2000" kern="100" dirty="0">
                <a:solidFill>
                  <a:srgbClr val="0000FF"/>
                </a:solidFill>
              </a:rPr>
              <a:t>= </a:t>
            </a:r>
            <a:r>
              <a:rPr lang="zh-CN" altLang="en-US" sz="2000" kern="100" dirty="0">
                <a:solidFill>
                  <a:srgbClr val="0000FF"/>
                </a:solidFill>
              </a:rPr>
              <a:t>属性型 </a:t>
            </a:r>
            <a:r>
              <a:rPr lang="en-US" altLang="zh-CN" sz="2000" kern="100" dirty="0">
                <a:solidFill>
                  <a:srgbClr val="0000FF"/>
                </a:solidFill>
              </a:rPr>
              <a:t>+ </a:t>
            </a:r>
            <a:r>
              <a:rPr lang="zh-CN" altLang="en-US" sz="2000" kern="100" dirty="0">
                <a:solidFill>
                  <a:srgbClr val="0000FF"/>
                </a:solidFill>
              </a:rPr>
              <a:t>属性值</a:t>
            </a:r>
            <a:endParaRPr lang="zh-CN" altLang="en-US" sz="2000" i="0" u="none" strike="noStrike" kern="100" baseline="0" dirty="0">
              <a:solidFill>
                <a:srgbClr val="0000FF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E37F-AEA6-6143-9EA2-58A2D7219A7A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71424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实体集的型与值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1124744"/>
            <a:ext cx="8856984" cy="5112568"/>
          </a:xfrm>
        </p:spPr>
        <p:txBody>
          <a:bodyPr>
            <a:noAutofit/>
          </a:bodyPr>
          <a:lstStyle/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实体集型：</a:t>
            </a:r>
            <a:r>
              <a:rPr lang="zh-CN" altLang="en-US" sz="2000" i="0" u="none" strike="noStrike" kern="100" baseline="0" dirty="0"/>
              <a:t>描述同类实体的静态结构；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实体集值：</a:t>
            </a:r>
            <a:r>
              <a:rPr lang="zh-CN" altLang="en-US" sz="2000" i="0" u="none" strike="noStrike" kern="100" baseline="0" dirty="0"/>
              <a:t>同类实体的具体数据</a:t>
            </a:r>
            <a:endParaRPr lang="en-US" altLang="zh-CN" sz="2000" i="0" u="none" strike="noStrike" kern="100" baseline="0" dirty="0"/>
          </a:p>
          <a:p>
            <a:pPr marL="0" indent="0">
              <a:buNone/>
            </a:pPr>
            <a:r>
              <a:rPr lang="en-US" altLang="zh-CN" sz="2000" kern="100" dirty="0"/>
              <a:t>    </a:t>
            </a:r>
            <a:r>
              <a:rPr lang="zh-CN" altLang="en-US" sz="2000" i="0" u="none" strike="noStrike" kern="100" baseline="0" dirty="0"/>
              <a:t>实体的所有属性构成实体集型；所有实体的属性值构成实体集值</a:t>
            </a:r>
            <a:r>
              <a:rPr lang="zh-CN" altLang="en-US" sz="2000" kern="100" dirty="0"/>
              <a:t>。</a:t>
            </a:r>
            <a:endParaRPr lang="en-US" altLang="zh-CN" sz="2000" kern="100" dirty="0"/>
          </a:p>
          <a:p>
            <a:pPr marL="0" indent="0">
              <a:buNone/>
            </a:pPr>
            <a:r>
              <a:rPr lang="en-US" altLang="zh-CN" sz="2000" kern="100" dirty="0"/>
              <a:t>     </a:t>
            </a:r>
            <a:r>
              <a:rPr lang="zh-CN" altLang="en-US" sz="2000" kern="100" dirty="0">
                <a:solidFill>
                  <a:srgbClr val="0000FF"/>
                </a:solidFill>
              </a:rPr>
              <a:t>实体集 </a:t>
            </a:r>
            <a:r>
              <a:rPr lang="en-US" altLang="zh-CN" sz="2000" kern="100" dirty="0">
                <a:solidFill>
                  <a:srgbClr val="0000FF"/>
                </a:solidFill>
              </a:rPr>
              <a:t>= </a:t>
            </a:r>
            <a:r>
              <a:rPr lang="zh-CN" altLang="en-US" sz="2000" kern="100" dirty="0">
                <a:solidFill>
                  <a:srgbClr val="0000FF"/>
                </a:solidFill>
              </a:rPr>
              <a:t>实体集型 </a:t>
            </a:r>
            <a:r>
              <a:rPr lang="en-US" altLang="zh-CN" sz="2000" kern="100" dirty="0">
                <a:solidFill>
                  <a:srgbClr val="0000FF"/>
                </a:solidFill>
              </a:rPr>
              <a:t>+ </a:t>
            </a:r>
            <a:r>
              <a:rPr lang="zh-CN" altLang="en-US" sz="2000" kern="100" dirty="0">
                <a:solidFill>
                  <a:srgbClr val="0000FF"/>
                </a:solidFill>
              </a:rPr>
              <a:t>实体集值</a:t>
            </a:r>
            <a:endParaRPr lang="zh-CN" altLang="en-US" sz="2000" i="0" u="none" strike="noStrike" kern="100" baseline="0" dirty="0">
              <a:solidFill>
                <a:srgbClr val="0000FF"/>
              </a:solidFill>
            </a:endParaRPr>
          </a:p>
          <a:p>
            <a:r>
              <a:rPr lang="zh-CN" altLang="en-US" sz="2000" kern="100" dirty="0">
                <a:solidFill>
                  <a:srgbClr val="0000FF"/>
                </a:solidFill>
              </a:rPr>
              <a:t>属性名：</a:t>
            </a:r>
            <a:r>
              <a:rPr lang="zh-CN" altLang="en-US" sz="2000" i="0" u="none" strike="noStrike" kern="100" baseline="0" dirty="0"/>
              <a:t>每个属性的名称。表示属性的本质特性</a:t>
            </a:r>
            <a:endParaRPr lang="en-US" altLang="zh-CN" sz="2000" i="0" u="none" strike="noStrike" kern="100" baseline="0" dirty="0"/>
          </a:p>
          <a:p>
            <a:r>
              <a:rPr lang="zh-CN" altLang="en-US" sz="2000" kern="100" dirty="0">
                <a:solidFill>
                  <a:srgbClr val="0000FF"/>
                </a:solidFill>
              </a:rPr>
              <a:t>实体集名：</a:t>
            </a:r>
            <a:r>
              <a:rPr lang="zh-CN" altLang="en-US" sz="2000" i="0" u="none" strike="noStrike" kern="100" baseline="0" dirty="0"/>
              <a:t>实体集的名称。表示实体的本质特性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实体集名和属性名二者一起共同组成实体集型；即：实体集的结构。</a:t>
            </a:r>
          </a:p>
          <a:p>
            <a:pPr marL="363538" indent="0">
              <a:buNone/>
            </a:pPr>
            <a:r>
              <a:rPr lang="zh-CN" altLang="en-US" sz="2000" i="0" u="none" strike="noStrike" kern="100" baseline="0" dirty="0"/>
              <a:t>例如：多个客户实体所组成的实体集的名称命名为“客户”。</a:t>
            </a:r>
            <a:endParaRPr lang="en-US" altLang="zh-CN" sz="2000" i="0" u="none" strike="noStrike" kern="100" baseline="0" dirty="0"/>
          </a:p>
          <a:p>
            <a:pPr marL="363538" indent="0">
              <a:buNone/>
            </a:pPr>
            <a:r>
              <a:rPr lang="zh-CN" altLang="en-US" sz="2000" i="0" u="none" strike="noStrike" kern="100" baseline="0" dirty="0"/>
              <a:t>客户属性（户号，户名，性别，生日，手机，婚否，邮箱）共同组成客户实体集的型，即：客户（户号，户名，性别，生日，手机，婚否，邮箱）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D5177-00B0-9C46-9A3C-6A847BB3E59C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9148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实体集的型与值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1124744"/>
            <a:ext cx="8856984" cy="5112568"/>
          </a:xfrm>
        </p:spPr>
        <p:txBody>
          <a:bodyPr>
            <a:noAutofit/>
          </a:bodyPr>
          <a:lstStyle/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再如：</a:t>
            </a:r>
            <a:r>
              <a:rPr lang="zh-CN" altLang="en-US" sz="2000" i="0" u="none" strike="noStrike" kern="100" baseline="0" dirty="0"/>
              <a:t>多个图书实体所组成的实体集的名称可以命名为“图书”。图书实体集的属性（书号，书名，作者，社号，版次，定价，进价，售价）共同组成了图书实体集的型，即：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图书（书号，书名，作者，社号，版次，定价，进价，售价）</a:t>
            </a:r>
          </a:p>
          <a:p>
            <a:r>
              <a:rPr lang="zh-CN" altLang="en-US" sz="2000" kern="100" dirty="0"/>
              <a:t>说明：</a:t>
            </a:r>
            <a:r>
              <a:rPr lang="zh-CN" altLang="en-US" sz="2000" i="0" u="none" strike="noStrike" kern="100" baseline="0" dirty="0"/>
              <a:t>在不引起混淆的情况下，如果没有特殊声明，通常使用“属性名”代替属性，实体名代替实体集</a:t>
            </a:r>
          </a:p>
          <a:p>
            <a:pPr marL="363538" indent="0">
              <a:buNone/>
            </a:pPr>
            <a:r>
              <a:rPr lang="zh-CN" altLang="en-US" sz="2000" i="0" u="none" strike="noStrike" kern="100" baseline="0" dirty="0"/>
              <a:t>例如：用“图书”代表“图书实体集”；用“客户”表示“客户实体集”。用属性名“书号”代表图书的一个属性（书号型</a:t>
            </a:r>
            <a:r>
              <a:rPr lang="en-US" altLang="zh-CN" sz="2000" i="0" u="none" strike="noStrike" kern="100" baseline="0" dirty="0"/>
              <a:t>+</a:t>
            </a:r>
            <a:r>
              <a:rPr lang="zh-CN" altLang="en-US" sz="2000" i="0" u="none" strike="noStrike" kern="100" baseline="0" dirty="0"/>
              <a:t>书号值 ）；用属性名“户号”代表客户的一个属性（户号型</a:t>
            </a:r>
            <a:r>
              <a:rPr lang="en-US" altLang="zh-CN" sz="2000" i="0" u="none" strike="noStrike" kern="100" baseline="0" dirty="0"/>
              <a:t>+</a:t>
            </a:r>
            <a:r>
              <a:rPr lang="zh-CN" altLang="en-US" sz="2000" i="0" u="none" strike="noStrike" kern="100" baseline="0" dirty="0"/>
              <a:t>户号值）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6FA3-6F3B-E04B-B42A-D6C88CC327D6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17988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zh-CN" altLang="en-US" sz="2800" i="0" u="none" strike="noStrike" kern="2200" baseline="0" dirty="0"/>
              <a:t>（</a:t>
            </a:r>
            <a:r>
              <a:rPr lang="en-US" altLang="zh-CN" sz="2800" i="0" u="none" strike="noStrike" kern="2200" baseline="0" dirty="0"/>
              <a:t>3</a:t>
            </a:r>
            <a:r>
              <a:rPr lang="zh-CN" altLang="en-US" sz="2800" i="0" u="none" strike="noStrike" kern="2200" baseline="0" dirty="0"/>
              <a:t>）联系</a:t>
            </a:r>
            <a:r>
              <a:rPr lang="en-US" altLang="zh-CN" sz="2800" i="0" u="none" strike="noStrike" kern="2200" baseline="0" dirty="0"/>
              <a:t>(Relationship)</a:t>
            </a:r>
            <a:endParaRPr lang="zh-CN" altLang="en-US" sz="2800" i="0" u="none" strike="noStrike" kern="2200" baseline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联系：</a:t>
            </a:r>
            <a:r>
              <a:rPr lang="zh-CN" altLang="en-US" sz="2000" i="0" u="none" strike="noStrike" kern="100" baseline="0" dirty="0"/>
              <a:t>实体集之间或实体集内部的关联关系。</a:t>
            </a:r>
            <a:r>
              <a:rPr lang="en-US" altLang="zh-CN" sz="2000" i="0" u="none" strike="noStrike" kern="100" baseline="0" dirty="0"/>
              <a:t>1 : 1</a:t>
            </a:r>
            <a:r>
              <a:rPr lang="zh-CN" altLang="en-US" sz="2000" i="0" u="none" strike="noStrike" kern="100" baseline="0" dirty="0"/>
              <a:t>；</a:t>
            </a:r>
            <a:r>
              <a:rPr lang="en-US" altLang="zh-CN" sz="2000" i="0" u="none" strike="noStrike" kern="100" baseline="0" dirty="0"/>
              <a:t>1 : n</a:t>
            </a:r>
            <a:r>
              <a:rPr lang="zh-CN" altLang="en-US" sz="2000" i="0" u="none" strike="noStrike" kern="100" baseline="0" dirty="0"/>
              <a:t>；</a:t>
            </a:r>
            <a:r>
              <a:rPr lang="en-US" altLang="zh-CN" sz="2000" i="0" u="none" strike="noStrike" kern="100" baseline="0" dirty="0"/>
              <a:t>n : m</a:t>
            </a:r>
          </a:p>
          <a:p>
            <a:pPr marL="0" marR="0" lvl="0" indent="0" rtl="0">
              <a:buNone/>
            </a:pPr>
            <a:r>
              <a:rPr lang="en-US" altLang="zh-CN" sz="2000" kern="100" dirty="0"/>
              <a:t>     </a:t>
            </a:r>
            <a:r>
              <a:rPr lang="zh-CN" altLang="en-US" sz="2000" i="0" u="none" strike="noStrike" kern="100" baseline="0" dirty="0"/>
              <a:t>实体集与实体集之间（内部）存在一定联系。内部联系称为自联系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例如：客户和图书之间存在客户购买图书的联系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一对一联系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(1:1)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：</a:t>
            </a:r>
            <a:r>
              <a:rPr lang="zh-CN" altLang="en-US" sz="2000" i="0" u="none" strike="noStrike" kern="100" baseline="0" dirty="0"/>
              <a:t>对于实体集</a:t>
            </a:r>
            <a:r>
              <a:rPr lang="en-US" altLang="zh-CN" sz="2000" i="0" u="none" strike="noStrike" kern="100" baseline="0" dirty="0"/>
              <a:t>A</a:t>
            </a:r>
            <a:r>
              <a:rPr lang="zh-CN" altLang="en-US" sz="2000" i="0" u="none" strike="noStrike" kern="100" baseline="0" dirty="0"/>
              <a:t>中的每一个实体，实体集</a:t>
            </a:r>
            <a:r>
              <a:rPr lang="en-US" altLang="zh-CN" sz="2000" i="0" u="none" strike="noStrike" kern="100" baseline="0" dirty="0"/>
              <a:t>B</a:t>
            </a:r>
            <a:r>
              <a:rPr lang="zh-CN" altLang="en-US" sz="2000" i="0" u="none" strike="noStrike" kern="100" baseline="0" dirty="0"/>
              <a:t>中有且只能有一个实体与之联系，反之亦然。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例如：出版社与社长之间的联系；学校与校长之间的联系等。 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一对多联系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(1:n)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：</a:t>
            </a:r>
            <a:r>
              <a:rPr lang="zh-CN" altLang="en-US" sz="2000" i="0" u="none" strike="noStrike" kern="100" baseline="0" dirty="0"/>
              <a:t>对于实体集</a:t>
            </a:r>
            <a:r>
              <a:rPr lang="en-US" altLang="zh-CN" sz="2000" i="0" u="none" strike="noStrike" kern="100" baseline="0" dirty="0"/>
              <a:t>A</a:t>
            </a:r>
            <a:r>
              <a:rPr lang="zh-CN" altLang="en-US" sz="2000" i="0" u="none" strike="noStrike" kern="100" baseline="0" dirty="0"/>
              <a:t>中的每一个实体，实体集</a:t>
            </a:r>
            <a:r>
              <a:rPr lang="en-US" altLang="zh-CN" sz="2000" i="0" u="none" strike="noStrike" kern="100" baseline="0" dirty="0"/>
              <a:t>B</a:t>
            </a:r>
            <a:r>
              <a:rPr lang="zh-CN" altLang="en-US" sz="2000" i="0" u="none" strike="noStrike" kern="100" baseline="0" dirty="0"/>
              <a:t>中有</a:t>
            </a:r>
            <a:r>
              <a:rPr lang="en-US" altLang="zh-CN" sz="2000" i="0" u="none" strike="noStrike" kern="100" baseline="0" dirty="0"/>
              <a:t>n (n</a:t>
            </a:r>
            <a:r>
              <a:rPr lang="zh-CN" altLang="en-US" sz="2000" i="0" u="none" strike="noStrike" kern="100" baseline="0" dirty="0"/>
              <a:t>≥</a:t>
            </a:r>
            <a:r>
              <a:rPr lang="en-US" altLang="zh-CN" sz="2000" i="0" u="none" strike="noStrike" kern="100" baseline="0" dirty="0"/>
              <a:t>2)</a:t>
            </a:r>
            <a:r>
              <a:rPr lang="zh-CN" altLang="en-US" sz="2000" i="0" u="none" strike="noStrike" kern="100" baseline="0" dirty="0"/>
              <a:t>个实体与之联系；反之，对于实体集</a:t>
            </a:r>
            <a:r>
              <a:rPr lang="en-US" altLang="zh-CN" sz="2000" i="0" u="none" strike="noStrike" kern="100" baseline="0" dirty="0"/>
              <a:t>B</a:t>
            </a:r>
            <a:r>
              <a:rPr lang="zh-CN" altLang="en-US" sz="2000" i="0" u="none" strike="noStrike" kern="100" baseline="0" dirty="0"/>
              <a:t>中的每一个实体，实体集</a:t>
            </a:r>
            <a:r>
              <a:rPr lang="en-US" altLang="zh-CN" sz="2000" i="0" u="none" strike="noStrike" kern="100" baseline="0" dirty="0"/>
              <a:t>A</a:t>
            </a:r>
            <a:r>
              <a:rPr lang="zh-CN" altLang="en-US" sz="2000" i="0" u="none" strike="noStrike" kern="100" baseline="0" dirty="0"/>
              <a:t>中有且只能有一个实体与之联系。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例如：</a:t>
            </a:r>
            <a:r>
              <a:rPr lang="zh-CN" altLang="en-US" sz="2000" i="0" u="none" strike="noStrike" kern="100" baseline="0" dirty="0"/>
              <a:t>出版社与图书之间的联系；学院与班级之间的联系；班级与学生之间的联系等。</a:t>
            </a:r>
            <a:endParaRPr lang="zh-CN" altLang="en-US" i="0" u="none" strike="noStrike" kern="100" baseline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327-526F-DF4F-B3C2-3E68D462276F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86856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zh-CN" altLang="en-US" sz="2800" i="0" u="none" strike="noStrike" kern="2200" baseline="0" dirty="0"/>
              <a:t>（</a:t>
            </a:r>
            <a:r>
              <a:rPr lang="en-US" altLang="zh-CN" sz="2800" i="0" u="none" strike="noStrike" kern="2200" baseline="0" dirty="0"/>
              <a:t>3</a:t>
            </a:r>
            <a:r>
              <a:rPr lang="zh-CN" altLang="en-US" sz="2800" i="0" u="none" strike="noStrike" kern="2200" baseline="0" dirty="0"/>
              <a:t>）联系</a:t>
            </a:r>
            <a:r>
              <a:rPr lang="en-US" altLang="zh-CN" sz="2800" i="0" u="none" strike="noStrike" kern="2200" baseline="0" dirty="0"/>
              <a:t>(Relationship)</a:t>
            </a:r>
            <a:endParaRPr lang="zh-CN" altLang="en-US" sz="2800" i="0" u="none" strike="noStrike" kern="2200" baseline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507288" cy="5112568"/>
          </a:xfrm>
        </p:spPr>
        <p:txBody>
          <a:bodyPr>
            <a:noAutofit/>
          </a:bodyPr>
          <a:lstStyle/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多对多联系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(</a:t>
            </a:r>
            <a:r>
              <a:rPr lang="en-US" altLang="zh-CN" sz="2000" i="0" u="none" strike="noStrike" kern="100" baseline="0" dirty="0" err="1">
                <a:solidFill>
                  <a:srgbClr val="0000FF"/>
                </a:solidFill>
              </a:rPr>
              <a:t>m:n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)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：</a:t>
            </a:r>
            <a:r>
              <a:rPr lang="zh-CN" altLang="en-US" sz="2000" i="0" u="none" strike="noStrike" kern="100" baseline="0" dirty="0"/>
              <a:t>对于实体集</a:t>
            </a:r>
            <a:r>
              <a:rPr lang="en-US" altLang="zh-CN" sz="2000" i="0" u="none" strike="noStrike" kern="100" baseline="0" dirty="0"/>
              <a:t>A</a:t>
            </a:r>
            <a:r>
              <a:rPr lang="zh-CN" altLang="en-US" sz="2000" i="0" u="none" strike="noStrike" kern="100" baseline="0" dirty="0"/>
              <a:t>中的每一个实体，实体集</a:t>
            </a:r>
            <a:r>
              <a:rPr lang="en-US" altLang="zh-CN" sz="2000" i="0" u="none" strike="noStrike" kern="100" baseline="0" dirty="0"/>
              <a:t>B</a:t>
            </a:r>
            <a:r>
              <a:rPr lang="zh-CN" altLang="en-US" sz="2000" i="0" u="none" strike="noStrike" kern="100" baseline="0" dirty="0"/>
              <a:t>中有</a:t>
            </a:r>
            <a:r>
              <a:rPr lang="en-US" altLang="zh-CN" sz="2000" i="0" u="none" strike="noStrike" kern="100" baseline="0" dirty="0"/>
              <a:t>n (n</a:t>
            </a:r>
            <a:r>
              <a:rPr lang="zh-CN" altLang="en-US" sz="2000" i="0" u="none" strike="noStrike" kern="100" baseline="0" dirty="0"/>
              <a:t>≥</a:t>
            </a:r>
            <a:r>
              <a:rPr lang="en-US" altLang="zh-CN" sz="2000" i="0" u="none" strike="noStrike" kern="100" baseline="0" dirty="0"/>
              <a:t>2)</a:t>
            </a:r>
            <a:r>
              <a:rPr lang="zh-CN" altLang="en-US" sz="2000" i="0" u="none" strike="noStrike" kern="100" baseline="0" dirty="0"/>
              <a:t>个实体与之联系，反之，对于实体集</a:t>
            </a:r>
            <a:r>
              <a:rPr lang="en-US" altLang="zh-CN" sz="2000" i="0" u="none" strike="noStrike" kern="100" baseline="0" dirty="0"/>
              <a:t>B</a:t>
            </a:r>
            <a:r>
              <a:rPr lang="zh-CN" altLang="en-US" sz="2000" i="0" u="none" strike="noStrike" kern="100" baseline="0" dirty="0"/>
              <a:t>中的每一个实体，实体集</a:t>
            </a:r>
            <a:r>
              <a:rPr lang="en-US" altLang="zh-CN" sz="2000" i="0" u="none" strike="noStrike" kern="100" baseline="0" dirty="0"/>
              <a:t>A</a:t>
            </a:r>
            <a:r>
              <a:rPr lang="zh-CN" altLang="en-US" sz="2000" i="0" u="none" strike="noStrike" kern="100" baseline="0" dirty="0"/>
              <a:t>中有</a:t>
            </a:r>
            <a:r>
              <a:rPr lang="en-US" altLang="zh-CN" sz="2000" i="0" u="none" strike="noStrike" kern="100" baseline="0" dirty="0"/>
              <a:t>n (n</a:t>
            </a:r>
            <a:r>
              <a:rPr lang="zh-CN" altLang="en-US" sz="2000" i="0" u="none" strike="noStrike" kern="100" baseline="0" dirty="0"/>
              <a:t>≥</a:t>
            </a:r>
            <a:r>
              <a:rPr lang="en-US" altLang="zh-CN" sz="2000" i="0" u="none" strike="noStrike" kern="100" baseline="0" dirty="0"/>
              <a:t>2)</a:t>
            </a:r>
            <a:r>
              <a:rPr lang="zh-CN" altLang="en-US" sz="2000" i="0" u="none" strike="noStrike" kern="100" baseline="0" dirty="0"/>
              <a:t>实体与之联系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多对多联系是一种复杂的联系</a:t>
            </a:r>
          </a:p>
          <a:p>
            <a:pPr marL="363538" indent="0">
              <a:buNone/>
            </a:pPr>
            <a:r>
              <a:rPr lang="zh-CN" altLang="en-US" sz="2000" i="0" u="none" strike="noStrike" kern="100" baseline="0" dirty="0"/>
              <a:t>例如：客户和图书之间的购买联系。因为一本电子图书可以卖给多个客户，而且一个客户可以购买多本图书。表</a:t>
            </a:r>
            <a:r>
              <a:rPr lang="en-US" altLang="zh-CN" sz="2000" i="0" u="none" strike="noStrike" kern="100" baseline="0" dirty="0"/>
              <a:t>1.4</a:t>
            </a:r>
            <a:r>
              <a:rPr lang="zh-CN" altLang="en-US" sz="2000" i="0" u="none" strike="noStrike" kern="100" baseline="0" dirty="0"/>
              <a:t>是客户和图书的联系</a:t>
            </a:r>
          </a:p>
          <a:p>
            <a:pPr marL="363538" indent="0">
              <a:buNone/>
            </a:pPr>
            <a:r>
              <a:rPr lang="zh-CN" altLang="en-US" sz="2000" i="0" u="none" strike="noStrike" kern="100" baseline="0" dirty="0"/>
              <a:t> 再如：学生与课程之间的选修联系。因为一门课程可以供多个学生选修，而且一个学生可以选修多门课</a:t>
            </a:r>
          </a:p>
          <a:p>
            <a:r>
              <a:rPr lang="zh-CN" altLang="en-US" sz="2000" kern="100" dirty="0">
                <a:solidFill>
                  <a:srgbClr val="0000FF"/>
                </a:solidFill>
              </a:rPr>
              <a:t>联系的属性：</a:t>
            </a:r>
            <a:r>
              <a:rPr lang="zh-CN" altLang="en-US" sz="2000" kern="100" dirty="0"/>
              <a:t>联系</a:t>
            </a:r>
            <a:r>
              <a:rPr lang="zh-CN" altLang="en-US" sz="2000" i="0" u="none" strike="noStrike" kern="100" baseline="0" dirty="0"/>
              <a:t>可以拥有属性。联系及其属性构成联系的完整描述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例如：客户和图书之间的购买联系产生一个新属性：购买日期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B9208-31E1-A04C-B1C8-E478442944A1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8232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E-R</a:t>
            </a:r>
            <a:r>
              <a:rPr lang="zh-CN" altLang="en-US" i="0" u="none" strike="noStrike" kern="2200" baseline="0" dirty="0"/>
              <a:t>图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363272" cy="3024336"/>
          </a:xfrm>
        </p:spPr>
        <p:txBody>
          <a:bodyPr>
            <a:normAutofit/>
          </a:bodyPr>
          <a:lstStyle/>
          <a:p>
            <a:r>
              <a:rPr lang="en-US" altLang="zh-CN" kern="100" dirty="0">
                <a:solidFill>
                  <a:srgbClr val="0000FF"/>
                </a:solidFill>
              </a:rPr>
              <a:t>E-R</a:t>
            </a:r>
            <a:r>
              <a:rPr lang="zh-CN" altLang="en-US" kern="100" dirty="0">
                <a:solidFill>
                  <a:srgbClr val="0000FF"/>
                </a:solidFill>
              </a:rPr>
              <a:t>图：</a:t>
            </a:r>
            <a:r>
              <a:rPr lang="zh-CN" altLang="en-US" i="0" u="none" strike="noStrike" kern="100" baseline="0" dirty="0"/>
              <a:t>使用实体</a:t>
            </a:r>
            <a:r>
              <a:rPr lang="en-US" altLang="zh-CN" i="0" u="none" strike="noStrike" kern="100" baseline="0" dirty="0"/>
              <a:t>-</a:t>
            </a:r>
            <a:r>
              <a:rPr lang="zh-CN" altLang="en-US" i="0" u="none" strike="noStrike" kern="100" baseline="0" dirty="0"/>
              <a:t>联系方法所建立的用于描述概念模型中实体及其联系的图形。</a:t>
            </a:r>
            <a:r>
              <a:rPr lang="en-US" altLang="zh-CN" i="0" u="none" strike="noStrike" kern="100" baseline="0" dirty="0"/>
              <a:t>E-R</a:t>
            </a:r>
            <a:r>
              <a:rPr lang="zh-CN" altLang="en-US" i="0" u="none" strike="noStrike" kern="100" baseline="0" dirty="0"/>
              <a:t>图是概念模型的一种常用的表述方法。</a:t>
            </a:r>
            <a:r>
              <a:rPr lang="en-US" altLang="zh-CN" i="0" u="none" strike="noStrike" kern="100" baseline="0" dirty="0"/>
              <a:t>E-R</a:t>
            </a:r>
            <a:r>
              <a:rPr lang="zh-CN" altLang="en-US" i="0" u="none" strike="noStrike" kern="100" baseline="0" dirty="0"/>
              <a:t>图是一种概念模型。</a:t>
            </a:r>
            <a:endParaRPr lang="en-US" altLang="zh-CN" i="0" u="none" strike="noStrike" kern="100" baseline="0" dirty="0"/>
          </a:p>
          <a:p>
            <a:pPr marL="0" indent="0">
              <a:buNone/>
            </a:pPr>
            <a:r>
              <a:rPr lang="en-US" altLang="zh-CN" kern="100" dirty="0"/>
              <a:t>    </a:t>
            </a:r>
            <a:r>
              <a:rPr lang="en-US" altLang="zh-CN" i="0" u="none" strike="noStrike" kern="100" baseline="0" dirty="0"/>
              <a:t>E-R</a:t>
            </a:r>
            <a:r>
              <a:rPr lang="zh-CN" altLang="en-US" i="0" u="none" strike="noStrike" kern="100" baseline="0" dirty="0"/>
              <a:t>图简单易学，在</a:t>
            </a:r>
            <a:r>
              <a:rPr lang="en-US" altLang="zh-CN" i="0" u="none" strike="noStrike" kern="100" baseline="0" dirty="0"/>
              <a:t>DB</a:t>
            </a:r>
            <a:r>
              <a:rPr lang="zh-CN" altLang="en-US" i="0" u="none" strike="noStrike" kern="100" baseline="0" dirty="0"/>
              <a:t>设计中得到了广泛应用。详见第</a:t>
            </a:r>
            <a:r>
              <a:rPr lang="en-US" altLang="zh-CN" i="0" u="none" strike="noStrike" kern="100" baseline="0" dirty="0"/>
              <a:t>5</a:t>
            </a:r>
            <a:r>
              <a:rPr lang="zh-CN" altLang="en-US" i="0" u="none" strike="noStrike" kern="100" baseline="0" dirty="0"/>
              <a:t>章</a:t>
            </a:r>
          </a:p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例如：</a:t>
            </a:r>
            <a:r>
              <a:rPr lang="zh-CN" altLang="en-US" i="0" u="none" strike="noStrike" kern="100" baseline="0" dirty="0"/>
              <a:t>在电子书店中，客户购买图书的概念模型（即：</a:t>
            </a:r>
            <a:r>
              <a:rPr lang="en-US" altLang="zh-CN" i="0" u="none" strike="noStrike" kern="100" baseline="0" dirty="0"/>
              <a:t>E-R</a:t>
            </a:r>
            <a:r>
              <a:rPr lang="zh-CN" altLang="en-US" i="0" u="none" strike="noStrike" kern="100" baseline="0" dirty="0"/>
              <a:t>图）如图</a:t>
            </a:r>
            <a:r>
              <a:rPr lang="en-US" altLang="zh-CN" i="0" u="none" strike="noStrike" kern="100" baseline="0" dirty="0"/>
              <a:t>1.6</a:t>
            </a:r>
            <a:r>
              <a:rPr lang="zh-CN" altLang="en-US" i="0" u="none" strike="noStrike" kern="100" baseline="0" dirty="0"/>
              <a:t>所示。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C3D7-3D11-DD43-BBC4-9D76A2A93F7D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547664" y="4075957"/>
            <a:ext cx="6678387" cy="1944216"/>
            <a:chOff x="1374" y="3015"/>
            <a:chExt cx="6148" cy="1446"/>
          </a:xfrm>
        </p:grpSpPr>
        <p:cxnSp>
          <p:nvCxnSpPr>
            <p:cNvPr id="31" name="Line 3"/>
            <p:cNvCxnSpPr/>
            <p:nvPr/>
          </p:nvCxnSpPr>
          <p:spPr bwMode="auto">
            <a:xfrm flipV="1">
              <a:off x="4383" y="3928"/>
              <a:ext cx="0" cy="1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2" name="Group 4"/>
            <p:cNvGrpSpPr>
              <a:grpSpLocks/>
            </p:cNvGrpSpPr>
            <p:nvPr/>
          </p:nvGrpSpPr>
          <p:grpSpPr bwMode="auto">
            <a:xfrm>
              <a:off x="1374" y="3015"/>
              <a:ext cx="6148" cy="1446"/>
              <a:chOff x="1374" y="3015"/>
              <a:chExt cx="6148" cy="1446"/>
            </a:xfrm>
          </p:grpSpPr>
          <p:sp>
            <p:nvSpPr>
              <p:cNvPr id="33" name="Rectangle 5"/>
              <p:cNvSpPr>
                <a:spLocks noChangeArrowheads="1"/>
              </p:cNvSpPr>
              <p:nvPr/>
            </p:nvSpPr>
            <p:spPr bwMode="auto">
              <a:xfrm>
                <a:off x="3486" y="3356"/>
                <a:ext cx="480" cy="33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28804" rIns="0" bIns="28804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kern="10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n</a:t>
                </a:r>
                <a:endParaRPr lang="zh-CN" sz="1600" kern="10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sp>
            <p:nvSpPr>
              <p:cNvPr id="34" name="Rectangle 6"/>
              <p:cNvSpPr>
                <a:spLocks noChangeArrowheads="1"/>
              </p:cNvSpPr>
              <p:nvPr/>
            </p:nvSpPr>
            <p:spPr bwMode="auto">
              <a:xfrm>
                <a:off x="4782" y="3356"/>
                <a:ext cx="480" cy="33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28804" rIns="0" bIns="28804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kern="10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m</a:t>
                </a:r>
                <a:endParaRPr lang="zh-CN" sz="1600" kern="10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sp>
            <p:nvSpPr>
              <p:cNvPr id="35" name="Oval 7"/>
              <p:cNvSpPr>
                <a:spLocks noChangeArrowheads="1"/>
              </p:cNvSpPr>
              <p:nvPr/>
            </p:nvSpPr>
            <p:spPr bwMode="auto">
              <a:xfrm>
                <a:off x="1374" y="3015"/>
                <a:ext cx="784" cy="37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0" tIns="6804" rIns="0" bIns="0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u="sng" kern="100" dirty="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书号</a:t>
                </a:r>
                <a:endParaRPr lang="zh-CN" sz="1600" kern="100" dirty="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sp>
            <p:nvSpPr>
              <p:cNvPr id="36" name="Rectangle 8"/>
              <p:cNvSpPr>
                <a:spLocks noChangeArrowheads="1"/>
              </p:cNvSpPr>
              <p:nvPr/>
            </p:nvSpPr>
            <p:spPr bwMode="auto">
              <a:xfrm>
                <a:off x="5310" y="3542"/>
                <a:ext cx="832" cy="3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28804" rIns="0" bIns="28804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kern="100" dirty="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客户</a:t>
                </a:r>
                <a:endParaRPr lang="zh-CN" sz="1600" kern="100" dirty="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sp>
            <p:nvSpPr>
              <p:cNvPr id="37" name="AutoShape 9"/>
              <p:cNvSpPr>
                <a:spLocks noChangeArrowheads="1"/>
              </p:cNvSpPr>
              <p:nvPr/>
            </p:nvSpPr>
            <p:spPr bwMode="auto">
              <a:xfrm>
                <a:off x="3918" y="3449"/>
                <a:ext cx="912" cy="479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6804" rIns="0" bIns="0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kern="100" dirty="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购买</a:t>
                </a:r>
                <a:endParaRPr lang="zh-CN" sz="1600" kern="100" dirty="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sp>
            <p:nvSpPr>
              <p:cNvPr id="38" name="Rectangle 10"/>
              <p:cNvSpPr>
                <a:spLocks noChangeArrowheads="1"/>
              </p:cNvSpPr>
              <p:nvPr/>
            </p:nvSpPr>
            <p:spPr bwMode="auto">
              <a:xfrm>
                <a:off x="2622" y="3542"/>
                <a:ext cx="816" cy="33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28804" rIns="0" bIns="28804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kern="10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图书</a:t>
                </a:r>
                <a:endParaRPr lang="zh-CN" sz="1600" kern="10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sp>
            <p:nvSpPr>
              <p:cNvPr id="39" name="Oval 11"/>
              <p:cNvSpPr>
                <a:spLocks noChangeArrowheads="1"/>
              </p:cNvSpPr>
              <p:nvPr/>
            </p:nvSpPr>
            <p:spPr bwMode="auto">
              <a:xfrm>
                <a:off x="1374" y="3511"/>
                <a:ext cx="753" cy="37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0" tIns="6804" rIns="0" bIns="0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kern="100" dirty="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书名</a:t>
                </a:r>
                <a:endParaRPr lang="zh-CN" sz="1600" kern="100" dirty="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cxnSp>
            <p:nvCxnSpPr>
              <p:cNvPr id="40" name="Line 12"/>
              <p:cNvCxnSpPr/>
              <p:nvPr/>
            </p:nvCxnSpPr>
            <p:spPr bwMode="auto">
              <a:xfrm flipH="1">
                <a:off x="3438" y="3697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1" name="Oval 13"/>
              <p:cNvSpPr>
                <a:spLocks noChangeArrowheads="1"/>
              </p:cNvSpPr>
              <p:nvPr/>
            </p:nvSpPr>
            <p:spPr bwMode="auto">
              <a:xfrm>
                <a:off x="1374" y="4007"/>
                <a:ext cx="753" cy="37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0" tIns="6804" rIns="0" bIns="0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kern="10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售价</a:t>
                </a:r>
                <a:endParaRPr lang="zh-CN" sz="1600" kern="10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sp>
            <p:nvSpPr>
              <p:cNvPr id="42" name="Oval 15"/>
              <p:cNvSpPr>
                <a:spLocks noChangeArrowheads="1"/>
              </p:cNvSpPr>
              <p:nvPr/>
            </p:nvSpPr>
            <p:spPr bwMode="auto">
              <a:xfrm>
                <a:off x="6750" y="3015"/>
                <a:ext cx="772" cy="37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0" tIns="6804" rIns="0" bIns="0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u="sng" kern="10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户号</a:t>
                </a:r>
                <a:endParaRPr lang="zh-CN" sz="1600" kern="10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sp>
            <p:nvSpPr>
              <p:cNvPr id="43" name="Oval 16"/>
              <p:cNvSpPr>
                <a:spLocks noChangeArrowheads="1"/>
              </p:cNvSpPr>
              <p:nvPr/>
            </p:nvSpPr>
            <p:spPr bwMode="auto">
              <a:xfrm>
                <a:off x="6750" y="3511"/>
                <a:ext cx="753" cy="37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0" tIns="6804" rIns="0" bIns="0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kern="10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户名</a:t>
                </a:r>
                <a:endParaRPr lang="zh-CN" sz="1600" kern="10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sp>
            <p:nvSpPr>
              <p:cNvPr id="44" name="Oval 17"/>
              <p:cNvSpPr>
                <a:spLocks noChangeArrowheads="1"/>
              </p:cNvSpPr>
              <p:nvPr/>
            </p:nvSpPr>
            <p:spPr bwMode="auto">
              <a:xfrm>
                <a:off x="6750" y="4007"/>
                <a:ext cx="753" cy="37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0" tIns="6804" rIns="0" bIns="0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kern="10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电话</a:t>
                </a:r>
                <a:endParaRPr lang="zh-CN" sz="1600" kern="10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sp>
            <p:nvSpPr>
              <p:cNvPr id="45" name="Oval 18"/>
              <p:cNvSpPr>
                <a:spLocks noChangeArrowheads="1"/>
              </p:cNvSpPr>
              <p:nvPr/>
            </p:nvSpPr>
            <p:spPr bwMode="auto">
              <a:xfrm>
                <a:off x="3798" y="4084"/>
                <a:ext cx="1194" cy="37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0" tIns="6804" rIns="0" bIns="0" anchor="t" anchorCtr="0" upright="1">
                <a:noAutofit/>
              </a:bodyPr>
              <a:lstStyle/>
              <a:p>
                <a:pPr algn="ctr">
                  <a:lnSpc>
                    <a:spcPts val="2600"/>
                  </a:lnSpc>
                  <a:spcAft>
                    <a:spcPts val="0"/>
                  </a:spcAft>
                </a:pPr>
                <a:r>
                  <a:rPr lang="zh-CN" sz="1600" b="1" kern="100">
                    <a:solidFill>
                      <a:srgbClr val="000000"/>
                    </a:solidFill>
                    <a:effectLst/>
                    <a:latin typeface="Times New Roman"/>
                    <a:ea typeface="宋体"/>
                    <a:cs typeface="宋体"/>
                  </a:rPr>
                  <a:t>购买日期</a:t>
                </a:r>
                <a:endParaRPr lang="zh-CN" sz="1600" kern="100">
                  <a:effectLst/>
                  <a:latin typeface="Times New Roman"/>
                  <a:ea typeface="宋体"/>
                  <a:cs typeface="Times New Roman"/>
                </a:endParaRPr>
              </a:p>
            </p:txBody>
          </p:sp>
          <p:cxnSp>
            <p:nvCxnSpPr>
              <p:cNvPr id="46" name="Line 19"/>
              <p:cNvCxnSpPr/>
              <p:nvPr/>
            </p:nvCxnSpPr>
            <p:spPr bwMode="auto">
              <a:xfrm flipH="1" flipV="1">
                <a:off x="2142" y="3232"/>
                <a:ext cx="480" cy="3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" name="Line 20"/>
              <p:cNvCxnSpPr/>
              <p:nvPr/>
            </p:nvCxnSpPr>
            <p:spPr bwMode="auto">
              <a:xfrm flipH="1" flipV="1">
                <a:off x="2142" y="3697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" name="Line 21"/>
              <p:cNvCxnSpPr/>
              <p:nvPr/>
            </p:nvCxnSpPr>
            <p:spPr bwMode="auto">
              <a:xfrm flipV="1">
                <a:off x="2142" y="3852"/>
                <a:ext cx="480" cy="3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" name="Line 22"/>
              <p:cNvCxnSpPr/>
              <p:nvPr/>
            </p:nvCxnSpPr>
            <p:spPr bwMode="auto">
              <a:xfrm flipH="1" flipV="1">
                <a:off x="6126" y="3852"/>
                <a:ext cx="624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Line 23"/>
              <p:cNvCxnSpPr/>
              <p:nvPr/>
            </p:nvCxnSpPr>
            <p:spPr bwMode="auto">
              <a:xfrm>
                <a:off x="6126" y="3697"/>
                <a:ext cx="62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Line 24"/>
              <p:cNvCxnSpPr/>
              <p:nvPr/>
            </p:nvCxnSpPr>
            <p:spPr bwMode="auto">
              <a:xfrm flipV="1">
                <a:off x="6126" y="3263"/>
                <a:ext cx="624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Line 26"/>
              <p:cNvCxnSpPr/>
              <p:nvPr/>
            </p:nvCxnSpPr>
            <p:spPr bwMode="auto">
              <a:xfrm flipH="1">
                <a:off x="4830" y="3697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39618931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2</a:t>
            </a:r>
            <a:r>
              <a:rPr lang="zh-CN" altLang="en-US" i="0" u="none" strike="noStrike" kern="2200" baseline="0" dirty="0"/>
              <a:t>．逻辑模型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逻辑模型：概念结构的</a:t>
            </a:r>
            <a:r>
              <a:rPr lang="en-US" altLang="zh-CN" i="0" u="none" strike="noStrike" kern="100" baseline="0" dirty="0">
                <a:solidFill>
                  <a:srgbClr val="0000FF"/>
                </a:solidFill>
              </a:rPr>
              <a:t>DBMS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表示。</a:t>
            </a:r>
            <a:r>
              <a:rPr lang="zh-CN" altLang="en-US" i="0" u="none" strike="noStrike" kern="100" baseline="0" dirty="0"/>
              <a:t>即：为了能够用</a:t>
            </a:r>
            <a:r>
              <a:rPr lang="en-US" altLang="zh-CN" i="0" u="none" strike="noStrike" kern="100" baseline="0" dirty="0"/>
              <a:t>DBMS</a:t>
            </a:r>
            <a:r>
              <a:rPr lang="zh-CN" altLang="en-US" i="0" u="none" strike="noStrike" kern="100" baseline="0" dirty="0"/>
              <a:t>实现用户需求，将概念结构转化为适用于</a:t>
            </a:r>
            <a:r>
              <a:rPr lang="en-US" altLang="zh-CN" i="0" u="none" strike="noStrike" kern="100" baseline="0" dirty="0"/>
              <a:t>DBMS</a:t>
            </a:r>
            <a:r>
              <a:rPr lang="zh-CN" altLang="en-US" i="0" u="none" strike="noStrike" kern="100" baseline="0" dirty="0"/>
              <a:t>表示和实现的数据结构模型。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例如：关系模式的集合</a:t>
            </a:r>
            <a:r>
              <a:rPr lang="zh-CN" altLang="en-US" i="0" u="none" strike="noStrike" kern="100" baseline="0" dirty="0"/>
              <a:t>。</a:t>
            </a:r>
          </a:p>
          <a:p>
            <a:pPr marR="0" lvl="0" rtl="0"/>
            <a:r>
              <a:rPr lang="zh-CN" altLang="en-US" kern="100" dirty="0">
                <a:solidFill>
                  <a:srgbClr val="0000FF"/>
                </a:solidFill>
              </a:rPr>
              <a:t>分类：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层次模型、网状模型、关系模型和面向对象模型</a:t>
            </a:r>
            <a:r>
              <a:rPr lang="zh-CN" altLang="en-US" i="0" u="none" strike="noStrike" kern="100" baseline="0" dirty="0"/>
              <a:t>等。</a:t>
            </a:r>
          </a:p>
          <a:p>
            <a:pPr marR="0" lvl="0" rtl="0"/>
            <a:r>
              <a:rPr lang="zh-CN" altLang="en-US" i="0" u="none" strike="noStrike" kern="100" baseline="0" dirty="0"/>
              <a:t>通常把相同特征的数据所组成的整体称为集合（例如：实体集）。集合之间或者集合内部通常存在着一定的联系。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8F2B-698A-E548-B951-40EF4E6E8EC1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73081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（</a:t>
            </a:r>
            <a:r>
              <a:rPr lang="en-US" altLang="zh-CN" i="0" u="none" strike="noStrike" kern="2200" baseline="0" dirty="0"/>
              <a:t>1</a:t>
            </a:r>
            <a:r>
              <a:rPr lang="zh-CN" altLang="en-US" i="0" u="none" strike="noStrike" kern="2200" baseline="0" dirty="0"/>
              <a:t>）层次模型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1124744"/>
            <a:ext cx="8784976" cy="1152128"/>
          </a:xfrm>
        </p:spPr>
        <p:txBody>
          <a:bodyPr>
            <a:noAutofit/>
          </a:bodyPr>
          <a:lstStyle/>
          <a:p>
            <a:pPr lvl="0"/>
            <a:r>
              <a:rPr lang="zh-CN" altLang="en-US" sz="2000" kern="100" dirty="0">
                <a:solidFill>
                  <a:srgbClr val="0000FF"/>
                </a:solidFill>
              </a:rPr>
              <a:t>层次模型</a:t>
            </a:r>
            <a:r>
              <a:rPr lang="zh-CN" altLang="en-US" sz="2000" kern="100" dirty="0"/>
              <a:t>（</a:t>
            </a:r>
            <a:r>
              <a:rPr lang="en-US" altLang="zh-CN" sz="2000" kern="100" dirty="0"/>
              <a:t>Hierarchical Model</a:t>
            </a:r>
            <a:r>
              <a:rPr lang="zh-CN" altLang="en-US" sz="2000" kern="100" dirty="0"/>
              <a:t>）：</a:t>
            </a:r>
            <a:r>
              <a:rPr lang="zh-CN" altLang="en-US" sz="2000" i="0" u="none" strike="noStrike" kern="100" baseline="0" dirty="0"/>
              <a:t>具有树型</a:t>
            </a:r>
            <a:r>
              <a:rPr lang="zh-CN" altLang="en-US" sz="2000" kern="100" dirty="0"/>
              <a:t>结构的数据模型（</a:t>
            </a:r>
            <a:r>
              <a:rPr lang="zh-CN" altLang="en-US" sz="2000" i="0" u="none" strike="noStrike" kern="100" baseline="0" dirty="0"/>
              <a:t>图</a:t>
            </a:r>
            <a:r>
              <a:rPr lang="en-US" altLang="zh-CN" sz="2000" i="0" u="none" strike="noStrike" kern="100" baseline="0" dirty="0"/>
              <a:t>1.7</a:t>
            </a:r>
            <a:r>
              <a:rPr lang="zh-CN" altLang="en-US" sz="2000" i="0" u="none" strike="noStrike" kern="100" baseline="0" dirty="0"/>
              <a:t>）</a:t>
            </a:r>
            <a:endParaRPr lang="en-US" altLang="zh-CN" sz="2000" i="0" u="none" strike="noStrike" kern="100" baseline="0" dirty="0"/>
          </a:p>
          <a:p>
            <a:pPr marL="0" lvl="0" indent="0">
              <a:buNone/>
            </a:pPr>
            <a:r>
              <a:rPr lang="en-US" altLang="zh-CN" sz="2000" kern="100" dirty="0"/>
              <a:t>     </a:t>
            </a:r>
            <a:r>
              <a:rPr lang="zh-CN" altLang="en-US" sz="2000" i="0" u="none" strike="noStrike" kern="100" baseline="0" dirty="0"/>
              <a:t>层次模型是最早出现的数据模型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BEEDF-5887-284C-8DA1-92DEC2B8A3C5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48</a:t>
            </a:fld>
            <a:endParaRPr lang="zh-CN" altLang="en-US" dirty="0"/>
          </a:p>
        </p:txBody>
      </p:sp>
      <p:grpSp>
        <p:nvGrpSpPr>
          <p:cNvPr id="7" name="Group 766"/>
          <p:cNvGrpSpPr>
            <a:grpSpLocks/>
          </p:cNvGrpSpPr>
          <p:nvPr/>
        </p:nvGrpSpPr>
        <p:grpSpPr bwMode="auto">
          <a:xfrm>
            <a:off x="423619" y="2695611"/>
            <a:ext cx="8136904" cy="2714724"/>
            <a:chOff x="1734" y="10792"/>
            <a:chExt cx="7200" cy="2200"/>
          </a:xfrm>
        </p:grpSpPr>
        <p:sp>
          <p:nvSpPr>
            <p:cNvPr id="8" name="Rectangle 767"/>
            <p:cNvSpPr>
              <a:spLocks noChangeArrowheads="1"/>
            </p:cNvSpPr>
            <p:nvPr/>
          </p:nvSpPr>
          <p:spPr bwMode="auto">
            <a:xfrm>
              <a:off x="5022" y="10792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cxnSp>
          <p:nvCxnSpPr>
            <p:cNvPr id="9" name="Line 768"/>
            <p:cNvCxnSpPr/>
            <p:nvPr/>
          </p:nvCxnSpPr>
          <p:spPr bwMode="auto">
            <a:xfrm>
              <a:off x="5502" y="11224"/>
              <a:ext cx="1872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Rectangle 769"/>
            <p:cNvSpPr>
              <a:spLocks noChangeArrowheads="1"/>
            </p:cNvSpPr>
            <p:nvPr/>
          </p:nvSpPr>
          <p:spPr bwMode="auto">
            <a:xfrm>
              <a:off x="2790" y="11608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1" name="Rectangle 770"/>
            <p:cNvSpPr>
              <a:spLocks noChangeArrowheads="1"/>
            </p:cNvSpPr>
            <p:nvPr/>
          </p:nvSpPr>
          <p:spPr bwMode="auto">
            <a:xfrm>
              <a:off x="4446" y="11584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2" name="Rectangle 771"/>
            <p:cNvSpPr>
              <a:spLocks noChangeArrowheads="1"/>
            </p:cNvSpPr>
            <p:nvPr/>
          </p:nvSpPr>
          <p:spPr bwMode="auto">
            <a:xfrm>
              <a:off x="6966" y="11608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3" name="Rectangle 772"/>
            <p:cNvSpPr>
              <a:spLocks noChangeArrowheads="1"/>
            </p:cNvSpPr>
            <p:nvPr/>
          </p:nvSpPr>
          <p:spPr bwMode="auto">
            <a:xfrm>
              <a:off x="5550" y="11512"/>
              <a:ext cx="1272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…</a:t>
              </a:r>
            </a:p>
          </p:txBody>
        </p:sp>
        <p:cxnSp>
          <p:nvCxnSpPr>
            <p:cNvPr id="14" name="Line 773"/>
            <p:cNvCxnSpPr/>
            <p:nvPr/>
          </p:nvCxnSpPr>
          <p:spPr bwMode="auto">
            <a:xfrm flipH="1">
              <a:off x="4878" y="11200"/>
              <a:ext cx="576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774"/>
            <p:cNvCxnSpPr/>
            <p:nvPr/>
          </p:nvCxnSpPr>
          <p:spPr bwMode="auto">
            <a:xfrm flipH="1">
              <a:off x="3150" y="11200"/>
              <a:ext cx="2304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Rectangle 775"/>
            <p:cNvSpPr>
              <a:spLocks noChangeArrowheads="1"/>
            </p:cNvSpPr>
            <p:nvPr/>
          </p:nvSpPr>
          <p:spPr bwMode="auto">
            <a:xfrm>
              <a:off x="1734" y="12520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7" name="Rectangle 776"/>
            <p:cNvSpPr>
              <a:spLocks noChangeArrowheads="1"/>
            </p:cNvSpPr>
            <p:nvPr/>
          </p:nvSpPr>
          <p:spPr bwMode="auto">
            <a:xfrm>
              <a:off x="3390" y="12520"/>
              <a:ext cx="1008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8" name="Rectangle 777"/>
            <p:cNvSpPr>
              <a:spLocks noChangeArrowheads="1"/>
            </p:cNvSpPr>
            <p:nvPr/>
          </p:nvSpPr>
          <p:spPr bwMode="auto">
            <a:xfrm>
              <a:off x="5910" y="12520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9" name="Rectangle 778"/>
            <p:cNvSpPr>
              <a:spLocks noChangeArrowheads="1"/>
            </p:cNvSpPr>
            <p:nvPr/>
          </p:nvSpPr>
          <p:spPr bwMode="auto">
            <a:xfrm>
              <a:off x="4494" y="12424"/>
              <a:ext cx="1272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…</a:t>
              </a:r>
            </a:p>
          </p:txBody>
        </p:sp>
        <p:sp>
          <p:nvSpPr>
            <p:cNvPr id="20" name="Rectangle 779"/>
            <p:cNvSpPr>
              <a:spLocks noChangeArrowheads="1"/>
            </p:cNvSpPr>
            <p:nvPr/>
          </p:nvSpPr>
          <p:spPr bwMode="auto">
            <a:xfrm>
              <a:off x="2622" y="12472"/>
              <a:ext cx="768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…</a:t>
              </a:r>
            </a:p>
          </p:txBody>
        </p:sp>
        <p:sp>
          <p:nvSpPr>
            <p:cNvPr id="21" name="Rectangle 780"/>
            <p:cNvSpPr>
              <a:spLocks noChangeArrowheads="1"/>
            </p:cNvSpPr>
            <p:nvPr/>
          </p:nvSpPr>
          <p:spPr bwMode="auto">
            <a:xfrm>
              <a:off x="7134" y="12424"/>
              <a:ext cx="696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…</a:t>
              </a:r>
            </a:p>
          </p:txBody>
        </p:sp>
        <p:sp>
          <p:nvSpPr>
            <p:cNvPr id="22" name="Rectangle 781"/>
            <p:cNvSpPr>
              <a:spLocks noChangeArrowheads="1"/>
            </p:cNvSpPr>
            <p:nvPr/>
          </p:nvSpPr>
          <p:spPr bwMode="auto">
            <a:xfrm>
              <a:off x="7998" y="12472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cxnSp>
          <p:nvCxnSpPr>
            <p:cNvPr id="23" name="Line 782"/>
            <p:cNvCxnSpPr/>
            <p:nvPr/>
          </p:nvCxnSpPr>
          <p:spPr bwMode="auto">
            <a:xfrm flipH="1">
              <a:off x="2190" y="12016"/>
              <a:ext cx="984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783"/>
            <p:cNvCxnSpPr/>
            <p:nvPr/>
          </p:nvCxnSpPr>
          <p:spPr bwMode="auto">
            <a:xfrm flipH="1">
              <a:off x="6270" y="12016"/>
              <a:ext cx="1104" cy="5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784"/>
            <p:cNvCxnSpPr/>
            <p:nvPr/>
          </p:nvCxnSpPr>
          <p:spPr bwMode="auto">
            <a:xfrm>
              <a:off x="3198" y="12040"/>
              <a:ext cx="79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Line 785"/>
            <p:cNvCxnSpPr/>
            <p:nvPr/>
          </p:nvCxnSpPr>
          <p:spPr bwMode="auto">
            <a:xfrm>
              <a:off x="7614" y="12016"/>
              <a:ext cx="79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8777431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（</a:t>
            </a:r>
            <a:r>
              <a:rPr lang="en-US" altLang="zh-CN" i="0" u="none" strike="noStrike" kern="2200" baseline="0" dirty="0"/>
              <a:t>1</a:t>
            </a:r>
            <a:r>
              <a:rPr lang="zh-CN" altLang="en-US" i="0" u="none" strike="noStrike" kern="2200" baseline="0" dirty="0"/>
              <a:t>）层次模型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1124744"/>
            <a:ext cx="8784976" cy="5112568"/>
          </a:xfrm>
        </p:spPr>
        <p:txBody>
          <a:bodyPr>
            <a:noAutofit/>
          </a:bodyPr>
          <a:lstStyle/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特点：</a:t>
            </a:r>
          </a:p>
          <a:p>
            <a:pPr marR="0" lvl="1" rtl="0"/>
            <a:r>
              <a:rPr lang="zh-CN" altLang="en-US" sz="2000" i="0" u="none" strike="noStrike" kern="100" baseline="0" dirty="0"/>
              <a:t> 存在唯一的没有双亲的根节点</a:t>
            </a:r>
            <a:endParaRPr lang="en-US" altLang="zh-CN" sz="2000" i="0" u="none" strike="noStrike" kern="100" baseline="0" dirty="0"/>
          </a:p>
          <a:p>
            <a:pPr lvl="1"/>
            <a:r>
              <a:rPr lang="en-US" altLang="zh-CN" sz="2000" i="0" u="none" strike="noStrike" kern="100" baseline="0" dirty="0"/>
              <a:t> </a:t>
            </a:r>
            <a:r>
              <a:rPr lang="zh-CN" altLang="en-US" sz="2000" i="0" u="none" strike="noStrike" kern="100" baseline="0" dirty="0"/>
              <a:t>非根节点均有唯一的双亲节点</a:t>
            </a:r>
            <a:endParaRPr lang="en-US" altLang="zh-CN" sz="2000" i="0" u="none" strike="noStrike" kern="100" baseline="0" dirty="0"/>
          </a:p>
          <a:p>
            <a:pPr lvl="1"/>
            <a:r>
              <a:rPr lang="en-US" altLang="zh-CN" sz="2000" kern="100" dirty="0"/>
              <a:t> </a:t>
            </a:r>
            <a:r>
              <a:rPr lang="zh-CN" altLang="en-US" sz="2000" kern="100" dirty="0"/>
              <a:t>记录集之间的联系是一对多联系。反映事物之间的一对多联系</a:t>
            </a:r>
            <a:endParaRPr lang="en-US" altLang="zh-CN" sz="2000" kern="100" dirty="0"/>
          </a:p>
          <a:p>
            <a:r>
              <a:rPr lang="zh-CN" altLang="en-US" kern="100" dirty="0">
                <a:solidFill>
                  <a:srgbClr val="0000FF"/>
                </a:solidFill>
              </a:rPr>
              <a:t>层次数据库：</a:t>
            </a:r>
            <a:r>
              <a:rPr lang="zh-CN" altLang="en-US" kern="100" dirty="0"/>
              <a:t>支持层次模型的数据库</a:t>
            </a:r>
            <a:endParaRPr lang="en-US" altLang="zh-CN" kern="100" dirty="0"/>
          </a:p>
          <a:p>
            <a:pPr marL="354013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思考：</a:t>
            </a:r>
            <a:r>
              <a:rPr lang="zh-CN" altLang="en-US" i="0" u="none" strike="noStrike" kern="100" baseline="0" dirty="0"/>
              <a:t>层次模型的优缺点</a:t>
            </a:r>
          </a:p>
          <a:p>
            <a:pPr lvl="0"/>
            <a:r>
              <a:rPr lang="zh-CN" altLang="en-US" sz="2000" i="0" u="none" strike="noStrike" kern="100" baseline="0" dirty="0"/>
              <a:t>例如：学校的组织机构可以表示为如图</a:t>
            </a:r>
            <a:r>
              <a:rPr lang="en-US" altLang="zh-CN" sz="2000" i="0" u="none" strike="noStrike" kern="100" baseline="0" dirty="0"/>
              <a:t>1.8</a:t>
            </a:r>
            <a:r>
              <a:rPr lang="zh-CN" altLang="en-US" sz="2000" i="0" u="none" strike="noStrike" kern="100" baseline="0" dirty="0"/>
              <a:t>所示的层次模型。即：学校为根节点，其下级有两个孩子节点学院和处；学院又有两个孩子节点系和班级；处有一个孩子节点科</a:t>
            </a:r>
            <a:r>
              <a:rPr lang="zh-CN" altLang="en-US" sz="2000" kern="100" dirty="0"/>
              <a:t>。</a:t>
            </a:r>
            <a:endParaRPr lang="en-US" altLang="zh-CN" sz="2000" kern="100" dirty="0"/>
          </a:p>
          <a:p>
            <a:pPr lvl="0"/>
            <a:r>
              <a:rPr lang="zh-CN" altLang="en-US" sz="2000" kern="100" dirty="0"/>
              <a:t>例如：</a:t>
            </a:r>
            <a:r>
              <a:rPr lang="en-US" altLang="zh-CN" sz="2000" kern="100" dirty="0"/>
              <a:t>1968</a:t>
            </a:r>
            <a:r>
              <a:rPr lang="zh-CN" altLang="en-US" sz="2000" kern="100" dirty="0"/>
              <a:t>年</a:t>
            </a:r>
            <a:r>
              <a:rPr lang="en-US" altLang="zh-CN" sz="2000" kern="100" dirty="0"/>
              <a:t>IBM</a:t>
            </a:r>
            <a:r>
              <a:rPr lang="zh-CN" altLang="en-US" sz="2000" kern="100" dirty="0"/>
              <a:t>公司的</a:t>
            </a:r>
            <a:r>
              <a:rPr lang="en-US" altLang="zh-CN" sz="2000" kern="100" dirty="0"/>
              <a:t>IMS</a:t>
            </a:r>
            <a:r>
              <a:rPr lang="zh-CN" altLang="en-US" sz="2000" kern="100" dirty="0"/>
              <a:t>（</a:t>
            </a:r>
            <a:r>
              <a:rPr lang="en-US" altLang="zh-CN" sz="2000" kern="100" dirty="0"/>
              <a:t>Information</a:t>
            </a:r>
            <a:r>
              <a:rPr lang="zh-CN" altLang="en-US" sz="2000" kern="100" dirty="0"/>
              <a:t> </a:t>
            </a:r>
            <a:r>
              <a:rPr lang="en-US" altLang="zh-CN" sz="2000" kern="100" dirty="0"/>
              <a:t>Management System</a:t>
            </a:r>
            <a:r>
              <a:rPr lang="zh-CN" altLang="en-US" sz="2000" kern="100" dirty="0"/>
              <a:t>）</a:t>
            </a:r>
          </a:p>
          <a:p>
            <a:pPr marR="0" lvl="1" rtl="0"/>
            <a:endParaRPr lang="zh-CN" altLang="en-US" sz="2000" i="0" u="none" strike="noStrike" kern="100" baseline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AA3F-A9F8-7442-9EA5-389E8780B81E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84757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00" dirty="0"/>
              <a:t>学校的组织机构（层次模型）</a:t>
            </a:r>
            <a:endParaRPr lang="zh-CN" altLang="en-US" b="0" i="0" u="none" strike="noStrike" baseline="0" dirty="0">
              <a:latin typeface="Times New Roman"/>
              <a:ea typeface="宋体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33DA-A104-9D4D-BDD3-15DE769299FD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50</a:t>
            </a:fld>
            <a:endParaRPr lang="zh-CN" altLang="en-US" dirty="0"/>
          </a:p>
        </p:txBody>
      </p:sp>
      <p:grpSp>
        <p:nvGrpSpPr>
          <p:cNvPr id="7" name="画布 461"/>
          <p:cNvGrpSpPr/>
          <p:nvPr/>
        </p:nvGrpSpPr>
        <p:grpSpPr>
          <a:xfrm>
            <a:off x="683568" y="1681553"/>
            <a:ext cx="8064896" cy="2880320"/>
            <a:chOff x="0" y="0"/>
            <a:chExt cx="4953000" cy="1733550"/>
          </a:xfrm>
        </p:grpSpPr>
        <p:sp>
          <p:nvSpPr>
            <p:cNvPr id="8" name="矩形 7"/>
            <p:cNvSpPr/>
            <p:nvPr/>
          </p:nvSpPr>
          <p:spPr>
            <a:xfrm>
              <a:off x="0" y="0"/>
              <a:ext cx="4953000" cy="1733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 Box 463"/>
            <p:cNvSpPr txBox="1">
              <a:spLocks noChangeArrowheads="1"/>
            </p:cNvSpPr>
            <p:nvPr/>
          </p:nvSpPr>
          <p:spPr bwMode="auto">
            <a:xfrm>
              <a:off x="2419985" y="81280"/>
              <a:ext cx="560705" cy="28384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66675" algn="ctr">
                <a:lnSpc>
                  <a:spcPts val="2900"/>
                </a:lnSpc>
                <a:spcAft>
                  <a:spcPts val="0"/>
                </a:spcAft>
              </a:pPr>
              <a:r>
                <a:rPr lang="zh-CN" sz="2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学校</a:t>
              </a:r>
            </a:p>
          </p:txBody>
        </p:sp>
        <p:sp>
          <p:nvSpPr>
            <p:cNvPr id="10" name="Text Box 464"/>
            <p:cNvSpPr txBox="1">
              <a:spLocks noChangeArrowheads="1"/>
            </p:cNvSpPr>
            <p:nvPr/>
          </p:nvSpPr>
          <p:spPr bwMode="auto">
            <a:xfrm>
              <a:off x="1400175" y="725170"/>
              <a:ext cx="644525" cy="28384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66675" algn="ctr">
                <a:lnSpc>
                  <a:spcPts val="2900"/>
                </a:lnSpc>
                <a:spcAft>
                  <a:spcPts val="0"/>
                </a:spcAft>
              </a:pPr>
              <a:r>
                <a:rPr lang="zh-CN" sz="2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学院</a:t>
              </a:r>
            </a:p>
          </p:txBody>
        </p:sp>
        <p:sp>
          <p:nvSpPr>
            <p:cNvPr id="11" name="Text Box 465"/>
            <p:cNvSpPr txBox="1">
              <a:spLocks noChangeArrowheads="1"/>
            </p:cNvSpPr>
            <p:nvPr/>
          </p:nvSpPr>
          <p:spPr bwMode="auto">
            <a:xfrm>
              <a:off x="3445510" y="725170"/>
              <a:ext cx="560705" cy="28384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66675" algn="ctr">
                <a:lnSpc>
                  <a:spcPts val="29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处</a:t>
              </a:r>
            </a:p>
          </p:txBody>
        </p:sp>
        <p:sp>
          <p:nvSpPr>
            <p:cNvPr id="12" name="Text Box 466"/>
            <p:cNvSpPr txBox="1">
              <a:spLocks noChangeArrowheads="1"/>
            </p:cNvSpPr>
            <p:nvPr/>
          </p:nvSpPr>
          <p:spPr bwMode="auto">
            <a:xfrm>
              <a:off x="681990" y="1369060"/>
              <a:ext cx="802640" cy="28384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66675" algn="ctr">
                <a:lnSpc>
                  <a:spcPts val="29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系</a:t>
              </a:r>
            </a:p>
          </p:txBody>
        </p:sp>
        <p:sp>
          <p:nvSpPr>
            <p:cNvPr id="13" name="Text Box 467"/>
            <p:cNvSpPr txBox="1">
              <a:spLocks noChangeArrowheads="1"/>
            </p:cNvSpPr>
            <p:nvPr/>
          </p:nvSpPr>
          <p:spPr bwMode="auto">
            <a:xfrm>
              <a:off x="2132330" y="1380490"/>
              <a:ext cx="554355" cy="28384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66675" algn="ctr">
                <a:lnSpc>
                  <a:spcPts val="29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班级</a:t>
              </a:r>
            </a:p>
          </p:txBody>
        </p:sp>
        <p:cxnSp>
          <p:nvCxnSpPr>
            <p:cNvPr id="14" name="AutoShape 468"/>
            <p:cNvCxnSpPr>
              <a:cxnSpLocks noChangeShapeType="1"/>
              <a:stCxn id="10" idx="0"/>
            </p:cNvCxnSpPr>
            <p:nvPr/>
          </p:nvCxnSpPr>
          <p:spPr bwMode="auto">
            <a:xfrm flipV="1">
              <a:off x="1722755" y="551815"/>
              <a:ext cx="635" cy="1733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469"/>
            <p:cNvCxnSpPr>
              <a:cxnSpLocks noChangeShapeType="1"/>
            </p:cNvCxnSpPr>
            <p:nvPr/>
          </p:nvCxnSpPr>
          <p:spPr bwMode="auto">
            <a:xfrm flipV="1">
              <a:off x="3769995" y="551815"/>
              <a:ext cx="635" cy="1733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470"/>
            <p:cNvCxnSpPr>
              <a:cxnSpLocks noChangeShapeType="1"/>
            </p:cNvCxnSpPr>
            <p:nvPr/>
          </p:nvCxnSpPr>
          <p:spPr bwMode="auto">
            <a:xfrm>
              <a:off x="1727200" y="551815"/>
              <a:ext cx="204279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471"/>
            <p:cNvCxnSpPr>
              <a:cxnSpLocks noChangeShapeType="1"/>
              <a:endCxn id="9" idx="2"/>
            </p:cNvCxnSpPr>
            <p:nvPr/>
          </p:nvCxnSpPr>
          <p:spPr bwMode="auto">
            <a:xfrm flipV="1">
              <a:off x="2700020" y="365125"/>
              <a:ext cx="635" cy="1866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472"/>
            <p:cNvCxnSpPr>
              <a:cxnSpLocks noChangeShapeType="1"/>
            </p:cNvCxnSpPr>
            <p:nvPr/>
          </p:nvCxnSpPr>
          <p:spPr bwMode="auto">
            <a:xfrm flipV="1">
              <a:off x="1096010" y="1195705"/>
              <a:ext cx="635" cy="1733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473"/>
            <p:cNvCxnSpPr>
              <a:cxnSpLocks noChangeShapeType="1"/>
            </p:cNvCxnSpPr>
            <p:nvPr/>
          </p:nvCxnSpPr>
          <p:spPr bwMode="auto">
            <a:xfrm flipV="1">
              <a:off x="2419985" y="1196975"/>
              <a:ext cx="635" cy="1733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0" name="AutoShape 474"/>
            <p:cNvCxnSpPr>
              <a:cxnSpLocks noChangeShapeType="1"/>
            </p:cNvCxnSpPr>
            <p:nvPr/>
          </p:nvCxnSpPr>
          <p:spPr bwMode="auto">
            <a:xfrm flipV="1">
              <a:off x="1096010" y="1195705"/>
              <a:ext cx="1324610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1" name="AutoShape 475"/>
            <p:cNvCxnSpPr>
              <a:cxnSpLocks noChangeShapeType="1"/>
            </p:cNvCxnSpPr>
            <p:nvPr/>
          </p:nvCxnSpPr>
          <p:spPr bwMode="auto">
            <a:xfrm flipV="1">
              <a:off x="1729740" y="1009015"/>
              <a:ext cx="635" cy="1866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2" name="Text Box 763"/>
            <p:cNvSpPr txBox="1">
              <a:spLocks noChangeArrowheads="1"/>
            </p:cNvSpPr>
            <p:nvPr/>
          </p:nvSpPr>
          <p:spPr bwMode="auto">
            <a:xfrm>
              <a:off x="3445510" y="1369060"/>
              <a:ext cx="560705" cy="28384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66675" algn="ctr">
                <a:lnSpc>
                  <a:spcPts val="29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科</a:t>
              </a:r>
            </a:p>
          </p:txBody>
        </p:sp>
        <p:cxnSp>
          <p:nvCxnSpPr>
            <p:cNvPr id="23" name="AutoShape 765"/>
            <p:cNvCxnSpPr>
              <a:cxnSpLocks noChangeShapeType="1"/>
            </p:cNvCxnSpPr>
            <p:nvPr/>
          </p:nvCxnSpPr>
          <p:spPr bwMode="auto">
            <a:xfrm>
              <a:off x="3764280" y="999490"/>
              <a:ext cx="635" cy="3600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0182595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（</a:t>
            </a:r>
            <a:r>
              <a:rPr lang="en-US" altLang="zh-CN" i="0" u="none" strike="noStrike" kern="2200" baseline="0" dirty="0"/>
              <a:t>2</a:t>
            </a:r>
            <a:r>
              <a:rPr lang="zh-CN" altLang="en-US" i="0" u="none" strike="noStrike" kern="2200" baseline="0" dirty="0"/>
              <a:t>）网状模型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1124744"/>
            <a:ext cx="8640960" cy="1080120"/>
          </a:xfrm>
        </p:spPr>
        <p:txBody>
          <a:bodyPr>
            <a:normAutofit/>
          </a:bodyPr>
          <a:lstStyle/>
          <a:p>
            <a:pPr lvl="0"/>
            <a:r>
              <a:rPr lang="zh-CN" altLang="en-US" sz="2000" kern="100" dirty="0">
                <a:solidFill>
                  <a:srgbClr val="0000FF"/>
                </a:solidFill>
              </a:rPr>
              <a:t>网状模型（</a:t>
            </a:r>
            <a:r>
              <a:rPr lang="en-US" altLang="zh-CN" sz="2000" kern="100" dirty="0">
                <a:solidFill>
                  <a:srgbClr val="0000FF"/>
                </a:solidFill>
              </a:rPr>
              <a:t>Network Model</a:t>
            </a:r>
            <a:r>
              <a:rPr lang="zh-CN" altLang="en-US" sz="2000" kern="100" dirty="0">
                <a:solidFill>
                  <a:srgbClr val="0000FF"/>
                </a:solidFill>
              </a:rPr>
              <a:t>）：</a:t>
            </a:r>
            <a:r>
              <a:rPr lang="zh-CN" altLang="en-US" sz="2000" kern="100" dirty="0"/>
              <a:t>具有网状结构数据模型（</a:t>
            </a:r>
            <a:r>
              <a:rPr lang="zh-CN" altLang="en-US" sz="2000" i="0" u="none" strike="noStrike" kern="100" baseline="0" dirty="0"/>
              <a:t>图</a:t>
            </a:r>
            <a:r>
              <a:rPr lang="en-US" altLang="zh-CN" sz="2000" i="0" u="none" strike="noStrike" kern="100" baseline="0" dirty="0"/>
              <a:t>1.9</a:t>
            </a:r>
            <a:r>
              <a:rPr lang="zh-CN" altLang="en-US" sz="2000" i="0" u="none" strike="noStrike" kern="100" baseline="0" dirty="0"/>
              <a:t>）</a:t>
            </a:r>
            <a:endParaRPr lang="en-US" altLang="zh-CN" sz="2000" i="0" u="none" strike="noStrike" kern="100" baseline="0" dirty="0"/>
          </a:p>
          <a:p>
            <a:pPr marL="0" lvl="0" indent="0">
              <a:buNone/>
            </a:pPr>
            <a:r>
              <a:rPr lang="en-US" altLang="zh-CN" sz="2000" kern="100" dirty="0"/>
              <a:t>    </a:t>
            </a:r>
            <a:r>
              <a:rPr lang="zh-CN" altLang="en-US" sz="2000" i="0" u="none" strike="noStrike" kern="100" baseline="0" dirty="0"/>
              <a:t>网状模型是最复杂的数据模型。</a:t>
            </a:r>
          </a:p>
          <a:p>
            <a:pPr marR="0" lvl="0" rtl="0"/>
            <a:endParaRPr lang="zh-CN" altLang="en-US" sz="8000" i="0" u="none" strike="noStrike" kern="100" baseline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1C53-A8DE-4E48-8F4F-B1A1A1BA2215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51</a:t>
            </a:fld>
            <a:endParaRPr lang="zh-CN" altLang="en-US" dirty="0"/>
          </a:p>
        </p:txBody>
      </p:sp>
      <p:grpSp>
        <p:nvGrpSpPr>
          <p:cNvPr id="7" name="Group 788"/>
          <p:cNvGrpSpPr>
            <a:grpSpLocks/>
          </p:cNvGrpSpPr>
          <p:nvPr/>
        </p:nvGrpSpPr>
        <p:grpSpPr bwMode="auto">
          <a:xfrm>
            <a:off x="611560" y="2636912"/>
            <a:ext cx="7704856" cy="2880320"/>
            <a:chOff x="2244" y="4536"/>
            <a:chExt cx="6345" cy="2182"/>
          </a:xfrm>
        </p:grpSpPr>
        <p:sp>
          <p:nvSpPr>
            <p:cNvPr id="8" name="Rectangle 789"/>
            <p:cNvSpPr>
              <a:spLocks noChangeArrowheads="1"/>
            </p:cNvSpPr>
            <p:nvPr/>
          </p:nvSpPr>
          <p:spPr bwMode="auto">
            <a:xfrm>
              <a:off x="5022" y="4536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cxnSp>
          <p:nvCxnSpPr>
            <p:cNvPr id="9" name="Line 790"/>
            <p:cNvCxnSpPr/>
            <p:nvPr/>
          </p:nvCxnSpPr>
          <p:spPr bwMode="auto">
            <a:xfrm>
              <a:off x="5502" y="4968"/>
              <a:ext cx="1872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Rectangle 791"/>
            <p:cNvSpPr>
              <a:spLocks noChangeArrowheads="1"/>
            </p:cNvSpPr>
            <p:nvPr/>
          </p:nvSpPr>
          <p:spPr bwMode="auto">
            <a:xfrm>
              <a:off x="2790" y="5352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en-US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11</a:t>
              </a:r>
              <a:endParaRPr lang="zh-CN" sz="20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11" name="Rectangle 792"/>
            <p:cNvSpPr>
              <a:spLocks noChangeArrowheads="1"/>
            </p:cNvSpPr>
            <p:nvPr/>
          </p:nvSpPr>
          <p:spPr bwMode="auto">
            <a:xfrm>
              <a:off x="4716" y="5328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2" name="Rectangle 793"/>
            <p:cNvSpPr>
              <a:spLocks noChangeArrowheads="1"/>
            </p:cNvSpPr>
            <p:nvPr/>
          </p:nvSpPr>
          <p:spPr bwMode="auto">
            <a:xfrm>
              <a:off x="6966" y="5352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3" name="Rectangle 794"/>
            <p:cNvSpPr>
              <a:spLocks noChangeArrowheads="1"/>
            </p:cNvSpPr>
            <p:nvPr/>
          </p:nvSpPr>
          <p:spPr bwMode="auto">
            <a:xfrm>
              <a:off x="5889" y="5346"/>
              <a:ext cx="1038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b="1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…</a:t>
              </a:r>
              <a:endParaRPr lang="zh-CN" sz="20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cxnSp>
          <p:nvCxnSpPr>
            <p:cNvPr id="14" name="Line 795"/>
            <p:cNvCxnSpPr>
              <a:endCxn id="11" idx="0"/>
            </p:cNvCxnSpPr>
            <p:nvPr/>
          </p:nvCxnSpPr>
          <p:spPr bwMode="auto">
            <a:xfrm flipH="1">
              <a:off x="5184" y="4944"/>
              <a:ext cx="27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796"/>
            <p:cNvCxnSpPr>
              <a:endCxn id="10" idx="3"/>
            </p:cNvCxnSpPr>
            <p:nvPr/>
          </p:nvCxnSpPr>
          <p:spPr bwMode="auto">
            <a:xfrm flipH="1">
              <a:off x="3726" y="4944"/>
              <a:ext cx="1728" cy="6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Rectangle 797"/>
            <p:cNvSpPr>
              <a:spLocks noChangeArrowheads="1"/>
            </p:cNvSpPr>
            <p:nvPr/>
          </p:nvSpPr>
          <p:spPr bwMode="auto">
            <a:xfrm>
              <a:off x="2244" y="6264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7" name="Rectangle 798"/>
            <p:cNvSpPr>
              <a:spLocks noChangeArrowheads="1"/>
            </p:cNvSpPr>
            <p:nvPr/>
          </p:nvSpPr>
          <p:spPr bwMode="auto">
            <a:xfrm>
              <a:off x="4065" y="6279"/>
              <a:ext cx="1008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8" name="Rectangle 799"/>
            <p:cNvSpPr>
              <a:spLocks noChangeArrowheads="1"/>
            </p:cNvSpPr>
            <p:nvPr/>
          </p:nvSpPr>
          <p:spPr bwMode="auto">
            <a:xfrm>
              <a:off x="5910" y="6264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sp>
          <p:nvSpPr>
            <p:cNvPr id="19" name="Rectangle 802"/>
            <p:cNvSpPr>
              <a:spLocks noChangeArrowheads="1"/>
            </p:cNvSpPr>
            <p:nvPr/>
          </p:nvSpPr>
          <p:spPr bwMode="auto">
            <a:xfrm>
              <a:off x="6894" y="6198"/>
              <a:ext cx="696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b="1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…</a:t>
              </a:r>
              <a:endParaRPr lang="zh-CN" sz="20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20" name="Rectangle 803"/>
            <p:cNvSpPr>
              <a:spLocks noChangeArrowheads="1"/>
            </p:cNvSpPr>
            <p:nvPr/>
          </p:nvSpPr>
          <p:spPr bwMode="auto">
            <a:xfrm>
              <a:off x="7653" y="6261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cxnSp>
          <p:nvCxnSpPr>
            <p:cNvPr id="21" name="Line 804"/>
            <p:cNvCxnSpPr>
              <a:stCxn id="10" idx="2"/>
              <a:endCxn id="16" idx="0"/>
            </p:cNvCxnSpPr>
            <p:nvPr/>
          </p:nvCxnSpPr>
          <p:spPr bwMode="auto">
            <a:xfrm flipH="1">
              <a:off x="2712" y="5768"/>
              <a:ext cx="546" cy="4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Line 805"/>
            <p:cNvCxnSpPr>
              <a:endCxn id="18" idx="3"/>
            </p:cNvCxnSpPr>
            <p:nvPr/>
          </p:nvCxnSpPr>
          <p:spPr bwMode="auto">
            <a:xfrm flipH="1">
              <a:off x="6846" y="5760"/>
              <a:ext cx="624" cy="7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Line 806"/>
            <p:cNvCxnSpPr>
              <a:stCxn id="10" idx="2"/>
              <a:endCxn id="17" idx="0"/>
            </p:cNvCxnSpPr>
            <p:nvPr/>
          </p:nvCxnSpPr>
          <p:spPr bwMode="auto">
            <a:xfrm>
              <a:off x="3258" y="5768"/>
              <a:ext cx="1311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807"/>
            <p:cNvCxnSpPr>
              <a:stCxn id="12" idx="2"/>
              <a:endCxn id="20" idx="0"/>
            </p:cNvCxnSpPr>
            <p:nvPr/>
          </p:nvCxnSpPr>
          <p:spPr bwMode="auto">
            <a:xfrm>
              <a:off x="7434" y="5768"/>
              <a:ext cx="687" cy="4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808"/>
            <p:cNvSpPr>
              <a:spLocks noChangeArrowheads="1"/>
            </p:cNvSpPr>
            <p:nvPr/>
          </p:nvSpPr>
          <p:spPr bwMode="auto">
            <a:xfrm>
              <a:off x="2682" y="4546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cxnSp>
          <p:nvCxnSpPr>
            <p:cNvPr id="26" name="Line 809"/>
            <p:cNvCxnSpPr>
              <a:stCxn id="25" idx="2"/>
            </p:cNvCxnSpPr>
            <p:nvPr/>
          </p:nvCxnSpPr>
          <p:spPr bwMode="auto">
            <a:xfrm flipH="1">
              <a:off x="3078" y="4962"/>
              <a:ext cx="72" cy="4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810"/>
            <p:cNvCxnSpPr>
              <a:endCxn id="18" idx="0"/>
            </p:cNvCxnSpPr>
            <p:nvPr/>
          </p:nvCxnSpPr>
          <p:spPr bwMode="auto">
            <a:xfrm>
              <a:off x="5478" y="4960"/>
              <a:ext cx="900" cy="13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Line 811"/>
            <p:cNvCxnSpPr>
              <a:endCxn id="17" idx="3"/>
            </p:cNvCxnSpPr>
            <p:nvPr/>
          </p:nvCxnSpPr>
          <p:spPr bwMode="auto">
            <a:xfrm flipH="1">
              <a:off x="5073" y="5781"/>
              <a:ext cx="1881" cy="7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Line 812"/>
            <p:cNvCxnSpPr>
              <a:endCxn id="11" idx="1"/>
            </p:cNvCxnSpPr>
            <p:nvPr/>
          </p:nvCxnSpPr>
          <p:spPr bwMode="auto">
            <a:xfrm>
              <a:off x="3414" y="4971"/>
              <a:ext cx="1302" cy="5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Line 813"/>
            <p:cNvCxnSpPr/>
            <p:nvPr/>
          </p:nvCxnSpPr>
          <p:spPr bwMode="auto">
            <a:xfrm flipH="1">
              <a:off x="2394" y="4971"/>
              <a:ext cx="405" cy="12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Rectangle 814"/>
            <p:cNvSpPr>
              <a:spLocks noChangeArrowheads="1"/>
            </p:cNvSpPr>
            <p:nvPr/>
          </p:nvSpPr>
          <p:spPr bwMode="auto">
            <a:xfrm>
              <a:off x="7182" y="4536"/>
              <a:ext cx="936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记录集</a:t>
              </a:r>
            </a:p>
          </p:txBody>
        </p:sp>
        <p:cxnSp>
          <p:nvCxnSpPr>
            <p:cNvPr id="32" name="Line 815"/>
            <p:cNvCxnSpPr/>
            <p:nvPr/>
          </p:nvCxnSpPr>
          <p:spPr bwMode="auto">
            <a:xfrm>
              <a:off x="7929" y="4956"/>
              <a:ext cx="435" cy="13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Line 816"/>
            <p:cNvCxnSpPr>
              <a:endCxn id="17" idx="0"/>
            </p:cNvCxnSpPr>
            <p:nvPr/>
          </p:nvCxnSpPr>
          <p:spPr bwMode="auto">
            <a:xfrm flipH="1">
              <a:off x="4569" y="4968"/>
              <a:ext cx="3021" cy="1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Line 812"/>
            <p:cNvCxnSpPr>
              <a:stCxn id="25" idx="3"/>
              <a:endCxn id="8" idx="1"/>
            </p:cNvCxnSpPr>
            <p:nvPr/>
          </p:nvCxnSpPr>
          <p:spPr bwMode="auto">
            <a:xfrm flipV="1">
              <a:off x="3618" y="4744"/>
              <a:ext cx="1404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Line 790"/>
            <p:cNvCxnSpPr>
              <a:endCxn id="8" idx="3"/>
            </p:cNvCxnSpPr>
            <p:nvPr/>
          </p:nvCxnSpPr>
          <p:spPr bwMode="auto">
            <a:xfrm flipH="1">
              <a:off x="5958" y="4743"/>
              <a:ext cx="120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Line 790"/>
            <p:cNvCxnSpPr>
              <a:stCxn id="18" idx="1"/>
              <a:endCxn id="17" idx="3"/>
            </p:cNvCxnSpPr>
            <p:nvPr/>
          </p:nvCxnSpPr>
          <p:spPr bwMode="auto">
            <a:xfrm flipH="1">
              <a:off x="5073" y="6472"/>
              <a:ext cx="837" cy="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756532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（</a:t>
            </a:r>
            <a:r>
              <a:rPr lang="en-US" altLang="zh-CN" i="0" u="none" strike="noStrike" kern="2200" baseline="0" dirty="0"/>
              <a:t>2</a:t>
            </a:r>
            <a:r>
              <a:rPr lang="zh-CN" altLang="en-US" i="0" u="none" strike="noStrike" kern="2200" baseline="0" dirty="0"/>
              <a:t>）网状模型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zh-CN" altLang="en-US" sz="8200" kern="100" dirty="0">
                <a:solidFill>
                  <a:srgbClr val="0000FF"/>
                </a:solidFill>
              </a:rPr>
              <a:t>特点：</a:t>
            </a:r>
          </a:p>
          <a:p>
            <a:pPr lvl="1"/>
            <a:r>
              <a:rPr lang="en-US" altLang="zh-CN" sz="8000" kern="100" dirty="0"/>
              <a:t>  </a:t>
            </a:r>
            <a:r>
              <a:rPr lang="zh-CN" altLang="en-US" sz="8000" kern="100" dirty="0"/>
              <a:t>可以存在多个没有双亲的节点。</a:t>
            </a:r>
          </a:p>
          <a:p>
            <a:pPr lvl="1"/>
            <a:r>
              <a:rPr lang="en-US" altLang="zh-CN" sz="8000" kern="100" dirty="0"/>
              <a:t>  </a:t>
            </a:r>
            <a:r>
              <a:rPr lang="zh-CN" altLang="en-US" sz="8000" kern="100" dirty="0"/>
              <a:t>节点可以有多个双亲节点。</a:t>
            </a:r>
            <a:endParaRPr lang="en-US" altLang="zh-CN" sz="8000" kern="100" dirty="0"/>
          </a:p>
          <a:p>
            <a:pPr lvl="1"/>
            <a:r>
              <a:rPr lang="zh-CN" altLang="en-US" sz="8000" kern="100" dirty="0"/>
              <a:t>  记录集之间的联系是多对多联系。反映事物之间的多对多联系</a:t>
            </a:r>
            <a:endParaRPr lang="en-US" altLang="zh-CN" sz="8000" kern="100" dirty="0"/>
          </a:p>
          <a:p>
            <a:r>
              <a:rPr lang="zh-CN" altLang="en-US" sz="8200" kern="100" dirty="0">
                <a:solidFill>
                  <a:srgbClr val="0000FF"/>
                </a:solidFill>
              </a:rPr>
              <a:t>网状数据库：</a:t>
            </a:r>
            <a:r>
              <a:rPr lang="zh-CN" altLang="en-US" sz="8200" kern="100" dirty="0"/>
              <a:t>支持网状模型的数据库</a:t>
            </a:r>
          </a:p>
          <a:p>
            <a:r>
              <a:rPr lang="zh-CN" altLang="en-US" sz="8200" kern="100" dirty="0">
                <a:solidFill>
                  <a:srgbClr val="0000FF"/>
                </a:solidFill>
              </a:rPr>
              <a:t>思考：</a:t>
            </a:r>
            <a:r>
              <a:rPr lang="zh-CN" altLang="en-US" sz="8200" kern="100" dirty="0"/>
              <a:t>网状模型的优缺点</a:t>
            </a:r>
          </a:p>
          <a:p>
            <a:pPr marR="0" lvl="0" rtl="0"/>
            <a:r>
              <a:rPr lang="zh-CN" altLang="en-US" sz="8000" i="0" u="none" strike="noStrike" kern="100" baseline="0" dirty="0"/>
              <a:t>例如：</a:t>
            </a:r>
            <a:r>
              <a:rPr lang="en-US" altLang="zh-CN" sz="8000" i="0" u="none" strike="noStrike" kern="100" baseline="0" dirty="0"/>
              <a:t>20~70</a:t>
            </a:r>
            <a:r>
              <a:rPr lang="zh-CN" altLang="en-US" sz="8000" i="0" u="none" strike="noStrike" kern="100" baseline="0" dirty="0"/>
              <a:t>年数据系统语言研究会的</a:t>
            </a:r>
            <a:r>
              <a:rPr lang="en-US" altLang="zh-CN" sz="8000" i="0" u="none" strike="noStrike" kern="100" baseline="0" dirty="0"/>
              <a:t>DBTG</a:t>
            </a:r>
            <a:r>
              <a:rPr lang="zh-CN" altLang="en-US" sz="8000" i="0" u="none" strike="noStrike" kern="100" baseline="0" dirty="0"/>
              <a:t>系统方案。</a:t>
            </a:r>
            <a:r>
              <a:rPr lang="en-US" altLang="zh-CN" sz="8000" i="0" u="none" strike="noStrike" kern="100" baseline="0" dirty="0"/>
              <a:t>HP</a:t>
            </a:r>
            <a:r>
              <a:rPr lang="zh-CN" altLang="en-US" sz="8000" i="0" u="none" strike="noStrike" kern="100" baseline="0" dirty="0"/>
              <a:t>公司的</a:t>
            </a:r>
            <a:r>
              <a:rPr lang="en-US" altLang="zh-CN" sz="8000" i="0" u="none" strike="noStrike" kern="100" baseline="0" dirty="0"/>
              <a:t>IMAGE</a:t>
            </a:r>
            <a:r>
              <a:rPr lang="zh-CN" altLang="en-US" sz="8000" i="0" u="none" strike="noStrike" kern="100" baseline="0" dirty="0"/>
              <a:t>。</a:t>
            </a:r>
          </a:p>
          <a:p>
            <a:r>
              <a:rPr lang="zh-CN" altLang="en-US" sz="8000" i="0" u="none" strike="noStrike" kern="100" baseline="0" dirty="0"/>
              <a:t>例如：速递公司需要管理车队、车辆和司机，车队需要聘任司机，车队需要拥有车辆，司机可以驾驶车辆，则速递公司的数据模型可以表示为如图所示的网状模型。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2B67-10D1-7843-B0A0-F070E35A468B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79006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00" dirty="0"/>
              <a:t>速递公司车队组织机构（网状模型）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E2C0-DEE4-DA4E-8A88-22400F86B496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53</a:t>
            </a:fld>
            <a:endParaRPr lang="zh-CN" altLang="en-US" dirty="0"/>
          </a:p>
        </p:txBody>
      </p:sp>
      <p:grpSp>
        <p:nvGrpSpPr>
          <p:cNvPr id="7" name="画布 581"/>
          <p:cNvGrpSpPr/>
          <p:nvPr/>
        </p:nvGrpSpPr>
        <p:grpSpPr>
          <a:xfrm>
            <a:off x="899592" y="1700808"/>
            <a:ext cx="7036073" cy="2413571"/>
            <a:chOff x="551843" y="104775"/>
            <a:chExt cx="4039206" cy="1123950"/>
          </a:xfrm>
        </p:grpSpPr>
        <p:sp>
          <p:nvSpPr>
            <p:cNvPr id="9" name="Rectangle 52"/>
            <p:cNvSpPr>
              <a:spLocks noChangeArrowheads="1"/>
            </p:cNvSpPr>
            <p:nvPr/>
          </p:nvSpPr>
          <p:spPr bwMode="auto">
            <a:xfrm>
              <a:off x="552449" y="168654"/>
              <a:ext cx="962025" cy="2901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车辆</a:t>
              </a:r>
            </a:p>
          </p:txBody>
        </p:sp>
        <p:sp>
          <p:nvSpPr>
            <p:cNvPr id="10" name="Rectangle 53"/>
            <p:cNvSpPr>
              <a:spLocks noChangeArrowheads="1"/>
            </p:cNvSpPr>
            <p:nvPr/>
          </p:nvSpPr>
          <p:spPr bwMode="auto">
            <a:xfrm>
              <a:off x="3667125" y="169375"/>
              <a:ext cx="876300" cy="2901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司机</a:t>
              </a:r>
            </a:p>
          </p:txBody>
        </p:sp>
        <p:sp>
          <p:nvSpPr>
            <p:cNvPr id="11" name="Rectangle 54"/>
            <p:cNvSpPr>
              <a:spLocks noChangeArrowheads="1"/>
            </p:cNvSpPr>
            <p:nvPr/>
          </p:nvSpPr>
          <p:spPr bwMode="auto">
            <a:xfrm>
              <a:off x="2036009" y="866417"/>
              <a:ext cx="916741" cy="2879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车队</a:t>
              </a:r>
            </a:p>
          </p:txBody>
        </p:sp>
        <p:sp>
          <p:nvSpPr>
            <p:cNvPr id="12" name="AutoShape 55"/>
            <p:cNvSpPr>
              <a:spLocks noChangeArrowheads="1"/>
            </p:cNvSpPr>
            <p:nvPr/>
          </p:nvSpPr>
          <p:spPr bwMode="auto">
            <a:xfrm>
              <a:off x="551843" y="787178"/>
              <a:ext cx="953107" cy="441547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拥有</a:t>
              </a:r>
            </a:p>
          </p:txBody>
        </p:sp>
        <p:sp>
          <p:nvSpPr>
            <p:cNvPr id="13" name="AutoShape 56"/>
            <p:cNvSpPr>
              <a:spLocks noChangeArrowheads="1"/>
            </p:cNvSpPr>
            <p:nvPr/>
          </p:nvSpPr>
          <p:spPr bwMode="auto">
            <a:xfrm>
              <a:off x="3618468" y="787899"/>
              <a:ext cx="972581" cy="440826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聘用</a:t>
              </a:r>
            </a:p>
          </p:txBody>
        </p:sp>
        <p:cxnSp>
          <p:nvCxnSpPr>
            <p:cNvPr id="14" name="Line 74"/>
            <p:cNvCxnSpPr>
              <a:stCxn id="9" idx="3"/>
              <a:endCxn id="15" idx="1"/>
            </p:cNvCxnSpPr>
            <p:nvPr/>
          </p:nvCxnSpPr>
          <p:spPr bwMode="auto">
            <a:xfrm>
              <a:off x="1514474" y="313725"/>
              <a:ext cx="482636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AutoShape 81"/>
            <p:cNvSpPr>
              <a:spLocks noChangeArrowheads="1"/>
            </p:cNvSpPr>
            <p:nvPr/>
          </p:nvSpPr>
          <p:spPr bwMode="auto">
            <a:xfrm>
              <a:off x="1997110" y="104775"/>
              <a:ext cx="971490" cy="419099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3300"/>
                </a:lnSpc>
                <a:spcAft>
                  <a:spcPts val="0"/>
                </a:spcAft>
              </a:pPr>
              <a:r>
                <a:rPr lang="zh-CN" sz="2000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驾驶</a:t>
              </a:r>
            </a:p>
          </p:txBody>
        </p:sp>
        <p:cxnSp>
          <p:nvCxnSpPr>
            <p:cNvPr id="16" name="Line 74"/>
            <p:cNvCxnSpPr>
              <a:stCxn id="10" idx="1"/>
              <a:endCxn id="15" idx="3"/>
            </p:cNvCxnSpPr>
            <p:nvPr/>
          </p:nvCxnSpPr>
          <p:spPr bwMode="auto">
            <a:xfrm flipH="1" flipV="1">
              <a:off x="2968600" y="314325"/>
              <a:ext cx="698525" cy="1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Line 74"/>
            <p:cNvCxnSpPr>
              <a:stCxn id="11" idx="3"/>
              <a:endCxn id="13" idx="1"/>
            </p:cNvCxnSpPr>
            <p:nvPr/>
          </p:nvCxnSpPr>
          <p:spPr bwMode="auto">
            <a:xfrm flipV="1">
              <a:off x="2952750" y="1008312"/>
              <a:ext cx="665718" cy="20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Line 74"/>
            <p:cNvCxnSpPr>
              <a:stCxn id="11" idx="1"/>
              <a:endCxn id="12" idx="3"/>
            </p:cNvCxnSpPr>
            <p:nvPr/>
          </p:nvCxnSpPr>
          <p:spPr bwMode="auto">
            <a:xfrm flipH="1" flipV="1">
              <a:off x="1504950" y="1007952"/>
              <a:ext cx="531059" cy="24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74"/>
            <p:cNvCxnSpPr>
              <a:stCxn id="9" idx="2"/>
              <a:endCxn id="12" idx="0"/>
            </p:cNvCxnSpPr>
            <p:nvPr/>
          </p:nvCxnSpPr>
          <p:spPr bwMode="auto">
            <a:xfrm flipH="1">
              <a:off x="1028397" y="458795"/>
              <a:ext cx="5065" cy="3283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74"/>
            <p:cNvCxnSpPr>
              <a:stCxn id="10" idx="2"/>
              <a:endCxn id="13" idx="0"/>
            </p:cNvCxnSpPr>
            <p:nvPr/>
          </p:nvCxnSpPr>
          <p:spPr bwMode="auto">
            <a:xfrm flipH="1">
              <a:off x="4104759" y="459516"/>
              <a:ext cx="516" cy="3283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782547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（</a:t>
            </a:r>
            <a:r>
              <a:rPr lang="en-US" altLang="zh-CN" i="0" u="none" strike="noStrike" kern="2200" baseline="0" dirty="0">
                <a:solidFill>
                  <a:srgbClr val="0000FF"/>
                </a:solidFill>
              </a:rPr>
              <a:t>3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）关系模型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zh-CN" altLang="en-US" kern="100" dirty="0">
                <a:solidFill>
                  <a:srgbClr val="0000FF"/>
                </a:solidFill>
              </a:rPr>
              <a:t>关系模型（</a:t>
            </a:r>
            <a:r>
              <a:rPr lang="en-US" altLang="zh-CN" kern="100" dirty="0">
                <a:solidFill>
                  <a:srgbClr val="0000FF"/>
                </a:solidFill>
              </a:rPr>
              <a:t>Relational Model</a:t>
            </a:r>
            <a:r>
              <a:rPr lang="zh-CN" altLang="en-US" kern="100" dirty="0">
                <a:solidFill>
                  <a:srgbClr val="0000FF"/>
                </a:solidFill>
              </a:rPr>
              <a:t>）：</a:t>
            </a:r>
            <a:r>
              <a:rPr lang="zh-CN" altLang="en-US" kern="100" dirty="0"/>
              <a:t>具有规范二维表格结构数据模型</a:t>
            </a:r>
            <a:endParaRPr lang="en-US" altLang="zh-CN" kern="100" dirty="0"/>
          </a:p>
          <a:p>
            <a:pPr marL="0" indent="0">
              <a:buNone/>
            </a:pPr>
            <a:r>
              <a:rPr lang="en-US" altLang="zh-CN" sz="2000" kern="100" dirty="0"/>
              <a:t>     </a:t>
            </a:r>
            <a:r>
              <a:rPr lang="zh-CN" altLang="en-US" sz="2000" kern="100" dirty="0"/>
              <a:t>表</a:t>
            </a:r>
            <a:r>
              <a:rPr lang="en-US" altLang="zh-CN" sz="2000" kern="100" dirty="0"/>
              <a:t>1.1</a:t>
            </a:r>
            <a:r>
              <a:rPr lang="zh-CN" altLang="en-US" sz="2000" kern="100" dirty="0"/>
              <a:t>～表</a:t>
            </a:r>
            <a:r>
              <a:rPr lang="en-US" altLang="zh-CN" sz="2000" kern="100" dirty="0"/>
              <a:t>1.4</a:t>
            </a:r>
            <a:r>
              <a:rPr lang="zh-CN" altLang="en-US" sz="2000" kern="100" dirty="0"/>
              <a:t>：图书</a:t>
            </a:r>
            <a:r>
              <a:rPr lang="en-US" altLang="zh-CN" sz="2000" kern="100" dirty="0"/>
              <a:t>Book / </a:t>
            </a:r>
            <a:r>
              <a:rPr lang="zh-CN" altLang="en-US" sz="2000" kern="100" dirty="0"/>
              <a:t>客户</a:t>
            </a:r>
            <a:r>
              <a:rPr lang="en-US" altLang="zh-CN" sz="2000" kern="100" dirty="0" err="1"/>
              <a:t>Cust</a:t>
            </a:r>
            <a:r>
              <a:rPr lang="en-US" altLang="zh-CN" sz="2000" kern="100" dirty="0"/>
              <a:t> / </a:t>
            </a:r>
            <a:r>
              <a:rPr lang="zh-CN" altLang="en-US" sz="2000" kern="100" dirty="0"/>
              <a:t>出版社</a:t>
            </a:r>
            <a:r>
              <a:rPr lang="en-US" altLang="zh-CN" sz="2000" kern="100" dirty="0"/>
              <a:t>Press / </a:t>
            </a:r>
            <a:r>
              <a:rPr lang="zh-CN" altLang="en-US" sz="2000" kern="100" dirty="0"/>
              <a:t>购买</a:t>
            </a:r>
            <a:r>
              <a:rPr lang="en-US" altLang="zh-CN" sz="2000" kern="100" dirty="0"/>
              <a:t>Buy</a:t>
            </a:r>
          </a:p>
          <a:p>
            <a:pPr marL="0" indent="0">
              <a:buNone/>
            </a:pPr>
            <a:r>
              <a:rPr lang="en-US" altLang="zh-CN" sz="2000" kern="100" dirty="0"/>
              <a:t>     IBM</a:t>
            </a:r>
            <a:r>
              <a:rPr lang="zh-CN" altLang="en-US" sz="2000" kern="100" dirty="0"/>
              <a:t>公司的</a:t>
            </a:r>
            <a:r>
              <a:rPr lang="en-US" altLang="zh-CN" sz="2000" kern="100" dirty="0" err="1"/>
              <a:t>E.F.Codd</a:t>
            </a:r>
            <a:r>
              <a:rPr lang="zh-CN" altLang="en-US" sz="2000" kern="100" dirty="0"/>
              <a:t>于</a:t>
            </a:r>
            <a:r>
              <a:rPr lang="en-US" altLang="zh-CN" sz="2000" kern="100" dirty="0"/>
              <a:t>1970</a:t>
            </a:r>
            <a:r>
              <a:rPr lang="zh-CN" altLang="en-US" sz="2000" kern="100" dirty="0"/>
              <a:t>年首次提出</a:t>
            </a:r>
            <a:endParaRPr lang="en-US" altLang="zh-CN" sz="2000" kern="100" dirty="0"/>
          </a:p>
          <a:p>
            <a:r>
              <a:rPr lang="zh-CN" altLang="en-US" kern="100" dirty="0">
                <a:solidFill>
                  <a:srgbClr val="0000FF"/>
                </a:solidFill>
              </a:rPr>
              <a:t>关系数据库：支持关系模型的数据库</a:t>
            </a:r>
            <a:r>
              <a:rPr lang="zh-CN" altLang="en-US" kern="100" dirty="0"/>
              <a:t>。</a:t>
            </a:r>
            <a:r>
              <a:rPr lang="zh-CN" altLang="en-US" kern="100" dirty="0">
                <a:solidFill>
                  <a:srgbClr val="0000FF"/>
                </a:solidFill>
              </a:rPr>
              <a:t>最流行</a:t>
            </a:r>
            <a:r>
              <a:rPr lang="zh-CN" altLang="en-US" kern="100" dirty="0"/>
              <a:t>的数据模型</a:t>
            </a:r>
            <a:endParaRPr lang="en-US" altLang="zh-CN" kern="100" dirty="0"/>
          </a:p>
          <a:p>
            <a:r>
              <a:rPr lang="zh-CN" altLang="en-US" kern="100" dirty="0">
                <a:solidFill>
                  <a:srgbClr val="0000FF"/>
                </a:solidFill>
              </a:rPr>
              <a:t>特点：</a:t>
            </a:r>
            <a:endParaRPr lang="en-US" altLang="zh-CN" kern="100" dirty="0">
              <a:solidFill>
                <a:srgbClr val="0000FF"/>
              </a:solidFill>
            </a:endParaRPr>
          </a:p>
          <a:p>
            <a:pPr lvl="1"/>
            <a:r>
              <a:rPr lang="zh-CN" altLang="en-US" sz="2000" i="0" u="none" strike="noStrike" kern="100" baseline="0" dirty="0"/>
              <a:t>关系模型结构简单，符合人类的思维方式，容易被接受和使用</a:t>
            </a:r>
            <a:endParaRPr lang="en-US" altLang="zh-CN" sz="2000" i="0" u="none" strike="noStrike" kern="100" baseline="0" dirty="0"/>
          </a:p>
          <a:p>
            <a:pPr lvl="1"/>
            <a:r>
              <a:rPr lang="zh-CN" altLang="en-US" sz="2000" i="0" u="none" strike="noStrike" kern="100" baseline="0" dirty="0"/>
              <a:t>易于计算机实现</a:t>
            </a:r>
            <a:endParaRPr lang="en-US" altLang="zh-CN" sz="2000" i="0" u="none" strike="noStrike" kern="100" baseline="0" dirty="0"/>
          </a:p>
          <a:p>
            <a:pPr lvl="1"/>
            <a:r>
              <a:rPr lang="zh-CN" altLang="en-US" sz="2000" i="0" u="none" strike="noStrike" kern="100" baseline="0" dirty="0"/>
              <a:t>容易从概念模型转换过来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054E-3ADB-7740-8229-1FB3B7B67E64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31361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2372" y="116632"/>
            <a:ext cx="8219256" cy="706090"/>
          </a:xfrm>
        </p:spPr>
        <p:txBody>
          <a:bodyPr/>
          <a:lstStyle/>
          <a:p>
            <a:pPr marR="0" rtl="0"/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（</a:t>
            </a:r>
            <a:r>
              <a:rPr lang="en-US" altLang="zh-CN" i="0" u="none" strike="noStrike" kern="2200" baseline="0" dirty="0">
                <a:solidFill>
                  <a:srgbClr val="0000FF"/>
                </a:solidFill>
              </a:rPr>
              <a:t>3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）关系模型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836712"/>
            <a:ext cx="8928992" cy="5544616"/>
          </a:xfrm>
        </p:spPr>
        <p:txBody>
          <a:bodyPr>
            <a:noAutofit/>
          </a:bodyPr>
          <a:lstStyle/>
          <a:p>
            <a:r>
              <a:rPr lang="zh-CN" altLang="en-US" i="0" u="none" strike="noStrike" kern="100" baseline="0" dirty="0"/>
              <a:t>定义</a:t>
            </a:r>
            <a:r>
              <a:rPr lang="en-US" altLang="zh-CN" i="0" u="none" strike="noStrike" kern="100" baseline="0" dirty="0"/>
              <a:t>1.1</a:t>
            </a:r>
            <a:r>
              <a:rPr lang="zh-CN" altLang="en-US" i="0" u="none" strike="noStrike" kern="100" baseline="0" dirty="0"/>
              <a:t>  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笛卡尔积：</a:t>
            </a:r>
          </a:p>
          <a:p>
            <a:pPr marR="0" lvl="1" rtl="0"/>
            <a:endParaRPr lang="zh-CN" altLang="en-US" sz="2000" i="0" u="none" strike="noStrike" kern="100" baseline="0" dirty="0"/>
          </a:p>
          <a:p>
            <a:pPr marR="0" lvl="1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元组</a:t>
            </a:r>
            <a:r>
              <a:rPr lang="en-US" altLang="zh-CN" sz="2000" i="0" u="none" strike="noStrike" kern="100" baseline="0" dirty="0"/>
              <a:t>t</a:t>
            </a:r>
            <a:r>
              <a:rPr lang="zh-CN" altLang="en-US" sz="2000" i="0" u="none" strike="noStrike" kern="100" baseline="0" dirty="0"/>
              <a:t>（</a:t>
            </a:r>
            <a:r>
              <a:rPr lang="en-US" altLang="zh-CN" sz="2000" i="0" u="none" strike="noStrike" kern="100" baseline="0" dirty="0"/>
              <a:t>Tuple</a:t>
            </a:r>
            <a:r>
              <a:rPr lang="zh-CN" altLang="en-US" sz="2000" i="0" u="none" strike="noStrike" kern="100" baseline="0" dirty="0"/>
              <a:t>）：</a:t>
            </a:r>
            <a:endParaRPr lang="en-US" altLang="zh-CN" sz="2000" i="0" u="none" strike="noStrike" kern="100" baseline="0" dirty="0"/>
          </a:p>
          <a:p>
            <a:pPr lvl="1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分量</a:t>
            </a:r>
            <a:r>
              <a:rPr lang="zh-CN" altLang="en-US" sz="2000" i="0" u="none" strike="noStrike" kern="100" baseline="0" dirty="0"/>
              <a:t>（</a:t>
            </a:r>
            <a:r>
              <a:rPr lang="en-US" altLang="zh-CN" sz="2000" i="0" u="none" strike="noStrike" kern="100" baseline="0" dirty="0"/>
              <a:t>Component</a:t>
            </a:r>
            <a:r>
              <a:rPr lang="zh-CN" altLang="en-US" sz="2000" i="0" u="none" strike="noStrike" kern="100" baseline="0" dirty="0"/>
              <a:t>）</a:t>
            </a:r>
            <a:r>
              <a:rPr lang="en-US" altLang="zh-CN" sz="2000" kern="100" dirty="0"/>
              <a:t>t[A</a:t>
            </a:r>
            <a:r>
              <a:rPr lang="en-US" altLang="zh-CN" sz="2000" kern="100" baseline="-25000" dirty="0"/>
              <a:t>i</a:t>
            </a:r>
            <a:r>
              <a:rPr lang="en-US" altLang="zh-CN" sz="2000" kern="100" dirty="0"/>
              <a:t>]</a:t>
            </a:r>
            <a:r>
              <a:rPr lang="zh-CN" altLang="en-US" sz="2000" i="0" u="none" strike="noStrike" kern="100" baseline="0" dirty="0"/>
              <a:t>：</a:t>
            </a:r>
            <a:endParaRPr lang="en-US" altLang="zh-CN" sz="2000" i="0" u="none" strike="noStrike" kern="100" baseline="0" dirty="0"/>
          </a:p>
          <a:p>
            <a:pPr lvl="1"/>
            <a:r>
              <a:rPr lang="zh-CN" altLang="en-US" sz="2000" kern="100" dirty="0">
                <a:solidFill>
                  <a:srgbClr val="0000FF"/>
                </a:solidFill>
              </a:rPr>
              <a:t>域</a:t>
            </a:r>
            <a:r>
              <a:rPr lang="zh-CN" altLang="en-US" sz="2000" kern="100" dirty="0"/>
              <a:t>：取值范围。</a:t>
            </a:r>
            <a:r>
              <a:rPr lang="zh-CN" altLang="en-US" sz="2000" i="0" u="none" strike="noStrike" kern="100" baseline="0" dirty="0"/>
              <a:t>所有元素的集合；</a:t>
            </a:r>
            <a:endParaRPr lang="en-US" altLang="zh-CN" sz="2000" i="0" u="none" strike="noStrike" kern="100" baseline="0" dirty="0"/>
          </a:p>
          <a:p>
            <a:pPr lvl="1"/>
            <a:r>
              <a:rPr lang="zh-CN" altLang="en-US" sz="2000" kern="100" dirty="0">
                <a:solidFill>
                  <a:srgbClr val="0000FF"/>
                </a:solidFill>
              </a:rPr>
              <a:t>度</a:t>
            </a:r>
            <a:r>
              <a:rPr lang="zh-CN" altLang="en-US" sz="2000" kern="100" dirty="0"/>
              <a:t>（</a:t>
            </a:r>
            <a:r>
              <a:rPr lang="en-US" altLang="zh-CN" sz="2000" kern="100" dirty="0"/>
              <a:t>Degree</a:t>
            </a:r>
            <a:r>
              <a:rPr lang="zh-CN" altLang="en-US" sz="2000" kern="100" dirty="0"/>
              <a:t>）：属性个数</a:t>
            </a:r>
            <a:r>
              <a:rPr lang="en-US" altLang="zh-CN" sz="2000" i="0" u="none" strike="noStrike" kern="100" baseline="0" dirty="0"/>
              <a:t>n</a:t>
            </a:r>
          </a:p>
          <a:p>
            <a:pPr lvl="1"/>
            <a:r>
              <a:rPr lang="zh-CN" altLang="en-US" sz="2000" i="0" u="none" strike="noStrike" kern="100" baseline="0" dirty="0"/>
              <a:t>基数（</a:t>
            </a:r>
            <a:r>
              <a:rPr lang="en-US" altLang="zh-CN" sz="2000" i="0" u="none" strike="noStrike" kern="100" baseline="0" dirty="0"/>
              <a:t>Cardinal Number</a:t>
            </a:r>
            <a:r>
              <a:rPr lang="zh-CN" altLang="en-US" sz="2000" kern="100" dirty="0"/>
              <a:t>）（有限集合）：</a:t>
            </a:r>
            <a:endParaRPr lang="en-US" altLang="zh-CN" sz="2000" i="0" u="none" strike="noStrike" kern="100" baseline="0" dirty="0"/>
          </a:p>
          <a:p>
            <a:pPr marR="0" lvl="1" rtl="0"/>
            <a:endParaRPr lang="zh-CN" altLang="en-US" sz="2000" i="0" u="none" strike="noStrike" kern="100" baseline="0" dirty="0"/>
          </a:p>
          <a:p>
            <a:pPr marR="0" lvl="1" rtl="0"/>
            <a:endParaRPr lang="zh-CN" altLang="en-US" sz="2000" i="0" u="none" strike="noStrike" kern="100" baseline="0" dirty="0"/>
          </a:p>
          <a:p>
            <a:pPr marR="0" lvl="1" rtl="0"/>
            <a:r>
              <a:rPr lang="zh-CN" altLang="en-US" sz="2000" i="0" u="none" strike="noStrike" kern="100" baseline="0" dirty="0"/>
              <a:t>笛卡尔积：用二维表格表示，每一列数据是类型相同的一个属性</a:t>
            </a:r>
          </a:p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理论价值：</a:t>
            </a:r>
            <a:r>
              <a:rPr lang="zh-CN" altLang="en-US" sz="2000" i="0" u="none" strike="noStrike" kern="100" baseline="0" dirty="0"/>
              <a:t>针对实际问题，笛卡尔积的很多元组是没有意义的</a:t>
            </a:r>
            <a:endParaRPr lang="en-US" altLang="zh-CN" sz="2000" i="0" u="none" strike="noStrike" kern="100" baseline="0" dirty="0"/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                     需要筛选出有实际意义的元组 </a:t>
            </a:r>
            <a:r>
              <a:rPr lang="en-US" altLang="zh-CN" sz="2000" kern="100" dirty="0"/>
              <a:t>→ </a:t>
            </a:r>
            <a:r>
              <a:rPr lang="zh-CN" altLang="en-US" sz="2000" kern="100" dirty="0">
                <a:solidFill>
                  <a:srgbClr val="0000FF"/>
                </a:solidFill>
              </a:rPr>
              <a:t>关系</a:t>
            </a:r>
            <a:endParaRPr lang="zh-CN" altLang="en-US" sz="2000" i="0" u="none" strike="noStrike" kern="100" baseline="0" dirty="0">
              <a:solidFill>
                <a:srgbClr val="0000FF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2857-1C23-A741-B568-95EC2DB96C24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55</a:t>
            </a:fld>
            <a:endParaRPr lang="zh-CN" alt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791710"/>
              </p:ext>
            </p:extLst>
          </p:nvPr>
        </p:nvGraphicFramePr>
        <p:xfrm>
          <a:off x="1304637" y="1340768"/>
          <a:ext cx="6534726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" name="公式" r:id="rId3" imgW="3454400" imgH="228600" progId="Equation.3">
                  <p:embed/>
                </p:oleObj>
              </mc:Choice>
              <mc:Fallback>
                <p:oleObj name="公式" r:id="rId3" imgW="34544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637" y="1340768"/>
                        <a:ext cx="6534726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38279"/>
              </p:ext>
            </p:extLst>
          </p:nvPr>
        </p:nvGraphicFramePr>
        <p:xfrm>
          <a:off x="2677535" y="4077072"/>
          <a:ext cx="3788930" cy="87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" name="公式" r:id="rId5" imgW="1866900" imgH="431800" progId="Equation.3">
                  <p:embed/>
                </p:oleObj>
              </mc:Choice>
              <mc:Fallback>
                <p:oleObj name="公式" r:id="rId5" imgW="18669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7535" y="4077072"/>
                        <a:ext cx="3788930" cy="879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931004"/>
              </p:ext>
            </p:extLst>
          </p:nvPr>
        </p:nvGraphicFramePr>
        <p:xfrm>
          <a:off x="2987824" y="1844824"/>
          <a:ext cx="1656184" cy="393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2" name="公式" r:id="rId7" imgW="965200" imgH="228600" progId="Equation.3">
                  <p:embed/>
                </p:oleObj>
              </mc:Choice>
              <mc:Fallback>
                <p:oleObj name="公式" r:id="rId7" imgW="9652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1844824"/>
                        <a:ext cx="1656184" cy="3935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222389"/>
              </p:ext>
            </p:extLst>
          </p:nvPr>
        </p:nvGraphicFramePr>
        <p:xfrm>
          <a:off x="4211960" y="2348880"/>
          <a:ext cx="1440160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3" name="公式" r:id="rId9" imgW="761669" imgH="190417" progId="Equation.3">
                  <p:embed/>
                </p:oleObj>
              </mc:Choice>
              <mc:Fallback>
                <p:oleObj name="公式" r:id="rId9" imgW="761669" imgH="19041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2348880"/>
                        <a:ext cx="1440160" cy="3600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46140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定义</a:t>
            </a:r>
            <a:r>
              <a:rPr lang="en-US" altLang="zh-CN" i="0" u="none" strike="noStrike" kern="2200" baseline="0" dirty="0"/>
              <a:t>1.2</a:t>
            </a:r>
            <a:r>
              <a:rPr lang="zh-CN" altLang="en-US" i="0" u="none" strike="noStrike" kern="2200" baseline="0" dirty="0"/>
              <a:t>  关系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0"/>
            <a:r>
              <a:rPr lang="zh-CN" altLang="en-US" kern="100" dirty="0">
                <a:solidFill>
                  <a:srgbClr val="0000FF"/>
                </a:solidFill>
              </a:rPr>
              <a:t>关系：</a:t>
            </a:r>
            <a:r>
              <a:rPr lang="zh-CN" altLang="en-US" kern="100" dirty="0"/>
              <a:t>笛</a:t>
            </a:r>
            <a:r>
              <a:rPr lang="zh-CN" altLang="en-US" i="0" u="none" strike="noStrike" kern="100" baseline="0" dirty="0"/>
              <a:t>卡尔积的</a:t>
            </a:r>
            <a:r>
              <a:rPr lang="zh-CN" altLang="en-US" kern="100" dirty="0"/>
              <a:t>子集。关系名：关系</a:t>
            </a:r>
            <a:r>
              <a:rPr lang="zh-CN" altLang="en-US" i="0" u="none" strike="noStrike" kern="100" baseline="0" dirty="0"/>
              <a:t>的名称</a:t>
            </a:r>
          </a:p>
          <a:p>
            <a:r>
              <a:rPr lang="zh-CN" altLang="en-US" i="0" u="none" strike="noStrike" kern="100" baseline="0" dirty="0"/>
              <a:t>关系 </a:t>
            </a:r>
            <a:r>
              <a:rPr lang="en-US" altLang="zh-CN" i="0" u="none" strike="noStrike" kern="100" baseline="0" dirty="0"/>
              <a:t>= </a:t>
            </a:r>
            <a:r>
              <a:rPr lang="zh-CN" altLang="en-US" i="0" u="none" strike="noStrike" kern="100" baseline="0" dirty="0"/>
              <a:t>关系型 </a:t>
            </a:r>
            <a:r>
              <a:rPr lang="en-US" altLang="zh-CN" i="0" u="none" strike="noStrike" kern="100" baseline="0" dirty="0"/>
              <a:t>+ </a:t>
            </a:r>
            <a:r>
              <a:rPr lang="zh-CN" altLang="en-US" i="0" u="none" strike="noStrike" kern="100" baseline="0" dirty="0"/>
              <a:t>关系值</a:t>
            </a:r>
            <a:endParaRPr lang="en-US" altLang="zh-CN" i="0" u="none" strike="noStrike" kern="100" baseline="0" dirty="0"/>
          </a:p>
          <a:p>
            <a:r>
              <a:rPr lang="zh-CN" altLang="en-US" i="0" u="none" strike="noStrike" kern="100" baseline="0" dirty="0"/>
              <a:t>关系型：组成关系的属性型的集合。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结构</a:t>
            </a:r>
            <a:r>
              <a:rPr lang="zh-CN" altLang="en-US" i="0" u="none" strike="noStrike" kern="100" baseline="0" dirty="0"/>
              <a:t>。</a:t>
            </a:r>
            <a:endParaRPr lang="en-US" altLang="zh-CN" i="0" u="none" strike="noStrike" kern="100" baseline="0" dirty="0"/>
          </a:p>
          <a:p>
            <a:r>
              <a:rPr lang="zh-CN" altLang="en-US" i="0" u="none" strike="noStrike" kern="100" baseline="0" dirty="0"/>
              <a:t>关系值：组成关系的属性值的集合。即：元组的集合</a:t>
            </a:r>
            <a:endParaRPr lang="en-US" altLang="zh-CN" i="0" u="none" strike="noStrike" kern="100" baseline="0" dirty="0"/>
          </a:p>
          <a:p>
            <a:r>
              <a:rPr lang="zh-CN" altLang="en-US" kern="100" dirty="0">
                <a:solidFill>
                  <a:srgbClr val="0000FF"/>
                </a:solidFill>
              </a:rPr>
              <a:t>元组（实体，记录）</a:t>
            </a:r>
            <a:r>
              <a:rPr lang="zh-CN" altLang="en-US" kern="100" dirty="0"/>
              <a:t>：</a:t>
            </a:r>
            <a:r>
              <a:rPr lang="zh-CN" altLang="en-US" i="0" u="none" strike="noStrike" kern="100" baseline="0" dirty="0"/>
              <a:t>关系值的每一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行</a:t>
            </a:r>
            <a:endParaRPr lang="en-US" altLang="zh-CN" i="0" u="none" strike="noStrike" kern="100" baseline="0" dirty="0">
              <a:solidFill>
                <a:srgbClr val="0000FF"/>
              </a:solidFill>
            </a:endParaRPr>
          </a:p>
          <a:p>
            <a:endParaRPr lang="en-US" altLang="zh-CN" i="0" u="none" strike="noStrike" kern="100" baseline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ADCA-202D-CA4B-903C-C82A49972353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9546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定义</a:t>
            </a:r>
            <a:r>
              <a:rPr lang="en-US" altLang="zh-CN" i="0" u="none" strike="noStrike" kern="2200" baseline="0" dirty="0"/>
              <a:t>1.2</a:t>
            </a:r>
            <a:r>
              <a:rPr lang="zh-CN" altLang="en-US" i="0" u="none" strike="noStrike" kern="2200" baseline="0" dirty="0"/>
              <a:t>  关系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例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1.1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  </a:t>
            </a:r>
            <a:r>
              <a:rPr lang="zh-CN" altLang="en-US" sz="2000" i="0" u="none" strike="noStrike" kern="100" baseline="0" dirty="0"/>
              <a:t>如果客户的姓名和性别的取值如下：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姓名</a:t>
            </a:r>
            <a:r>
              <a:rPr lang="en-US" altLang="zh-CN" sz="2000" i="0" u="none" strike="noStrike" kern="100" baseline="0" dirty="0"/>
              <a:t>={</a:t>
            </a:r>
            <a:r>
              <a:rPr lang="zh-CN" altLang="en-US" sz="2000" i="0" u="none" strike="noStrike" kern="100" baseline="0" dirty="0"/>
              <a:t>张三，李四，王五</a:t>
            </a:r>
            <a:r>
              <a:rPr lang="en-US" altLang="zh-CN" sz="2000" i="0" u="none" strike="noStrike" kern="100" baseline="0" dirty="0"/>
              <a:t>}</a:t>
            </a:r>
            <a:r>
              <a:rPr lang="zh-CN" altLang="en-US" sz="2000" i="0" u="none" strike="noStrike" kern="100" baseline="0" dirty="0"/>
              <a:t>；性别</a:t>
            </a:r>
            <a:r>
              <a:rPr lang="en-US" altLang="zh-CN" sz="2000" i="0" u="none" strike="noStrike" kern="100" baseline="0" dirty="0"/>
              <a:t>={</a:t>
            </a:r>
            <a:r>
              <a:rPr lang="zh-CN" altLang="en-US" sz="2000" i="0" u="none" strike="noStrike" kern="100" baseline="0" dirty="0"/>
              <a:t>男，女</a:t>
            </a:r>
            <a:r>
              <a:rPr lang="en-US" altLang="zh-CN" sz="2000" i="0" u="none" strike="noStrike" kern="100" baseline="0" dirty="0"/>
              <a:t>}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姓名和性别的笛卡尔积</a:t>
            </a:r>
            <a:r>
              <a:rPr lang="en-US" altLang="zh-CN" sz="2000" i="0" u="none" strike="noStrike" kern="100" baseline="0" dirty="0"/>
              <a:t>(</a:t>
            </a:r>
            <a:r>
              <a:rPr lang="zh-CN" altLang="en-US" sz="2000" i="0" u="none" strike="noStrike" kern="100" baseline="0" dirty="0"/>
              <a:t>图</a:t>
            </a:r>
            <a:r>
              <a:rPr lang="en-US" altLang="zh-CN" sz="2000" i="0" u="none" strike="noStrike" kern="100" baseline="0" dirty="0"/>
              <a:t>1.11)</a:t>
            </a:r>
            <a:r>
              <a:rPr lang="zh-CN" altLang="en-US" sz="2000" i="0" u="none" strike="noStrike" kern="100" baseline="0" dirty="0"/>
              <a:t>如下：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姓名</a:t>
            </a:r>
            <a:r>
              <a:rPr lang="en-US" altLang="zh-CN" sz="2000" i="0" u="none" strike="noStrike" kern="100" baseline="0" dirty="0"/>
              <a:t>×</a:t>
            </a:r>
            <a:r>
              <a:rPr lang="zh-CN" altLang="en-US" sz="2000" i="0" u="none" strike="noStrike" kern="100" baseline="0" dirty="0"/>
              <a:t>性别＝</a:t>
            </a:r>
            <a:r>
              <a:rPr lang="en-US" altLang="zh-CN" sz="2000" i="0" u="none" strike="noStrike" kern="100" baseline="0" dirty="0"/>
              <a:t>{ (</a:t>
            </a:r>
            <a:r>
              <a:rPr lang="zh-CN" altLang="en-US" sz="2000" i="0" u="none" strike="noStrike" kern="100" baseline="0" dirty="0"/>
              <a:t>张三，男</a:t>
            </a:r>
            <a:r>
              <a:rPr lang="en-US" altLang="zh-CN" sz="2000" i="0" u="none" strike="noStrike" kern="100" baseline="0" dirty="0"/>
              <a:t>)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(</a:t>
            </a:r>
            <a:r>
              <a:rPr lang="zh-CN" altLang="en-US" sz="2000" i="0" u="none" strike="noStrike" kern="100" baseline="0" dirty="0"/>
              <a:t>张三，女</a:t>
            </a:r>
            <a:r>
              <a:rPr lang="en-US" altLang="zh-CN" sz="2000" i="0" u="none" strike="noStrike" kern="100" baseline="0" dirty="0"/>
              <a:t>)</a:t>
            </a:r>
            <a:r>
              <a:rPr lang="zh-CN" altLang="en-US" sz="2000" i="0" u="none" strike="noStrike" kern="100" baseline="0" dirty="0"/>
              <a:t>，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                      </a:t>
            </a:r>
            <a:r>
              <a:rPr lang="en-US" altLang="zh-CN" sz="2000" i="0" u="none" strike="noStrike" kern="100" baseline="0" dirty="0"/>
              <a:t>(</a:t>
            </a:r>
            <a:r>
              <a:rPr lang="zh-CN" altLang="en-US" sz="2000" i="0" u="none" strike="noStrike" kern="100" baseline="0" dirty="0"/>
              <a:t>李四，男</a:t>
            </a:r>
            <a:r>
              <a:rPr lang="en-US" altLang="zh-CN" sz="2000" i="0" u="none" strike="noStrike" kern="100" baseline="0" dirty="0"/>
              <a:t>)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(</a:t>
            </a:r>
            <a:r>
              <a:rPr lang="zh-CN" altLang="en-US" sz="2000" i="0" u="none" strike="noStrike" kern="100" baseline="0" dirty="0"/>
              <a:t>李四，女</a:t>
            </a:r>
            <a:r>
              <a:rPr lang="en-US" altLang="zh-CN" sz="2000" i="0" u="none" strike="noStrike" kern="100" baseline="0" dirty="0"/>
              <a:t>)</a:t>
            </a:r>
            <a:r>
              <a:rPr lang="zh-CN" altLang="en-US" sz="2000" i="0" u="none" strike="noStrike" kern="100" baseline="0" dirty="0"/>
              <a:t>，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                      </a:t>
            </a:r>
            <a:r>
              <a:rPr lang="en-US" altLang="zh-CN" sz="2000" i="0" u="none" strike="noStrike" kern="100" baseline="0" dirty="0"/>
              <a:t>(</a:t>
            </a:r>
            <a:r>
              <a:rPr lang="zh-CN" altLang="en-US" sz="2000" i="0" u="none" strike="noStrike" kern="100" baseline="0" dirty="0"/>
              <a:t>王五，男</a:t>
            </a:r>
            <a:r>
              <a:rPr lang="en-US" altLang="zh-CN" sz="2000" i="0" u="none" strike="noStrike" kern="100" baseline="0" dirty="0"/>
              <a:t>)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(</a:t>
            </a:r>
            <a:r>
              <a:rPr lang="zh-CN" altLang="en-US" sz="2000" i="0" u="none" strike="noStrike" kern="100" baseline="0" dirty="0"/>
              <a:t>王五，女</a:t>
            </a:r>
            <a:r>
              <a:rPr lang="en-US" altLang="zh-CN" sz="2000" i="0" u="none" strike="noStrike" kern="100" baseline="0" dirty="0"/>
              <a:t>)}</a:t>
            </a:r>
            <a:endParaRPr lang="zh-CN" altLang="en-US" sz="2000" i="0" u="none" strike="noStrike" kern="100" baseline="0" dirty="0"/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姓名和性别组成的关系</a:t>
            </a:r>
            <a:r>
              <a:rPr lang="zh-CN" altLang="en-US" sz="2000" i="0" u="none" strike="noStrike" kern="100" baseline="0" dirty="0"/>
              <a:t>（不妨命名为：客户）如下：</a:t>
            </a:r>
          </a:p>
          <a:p>
            <a:pPr marL="0" indent="0">
              <a:buNone/>
            </a:pPr>
            <a:r>
              <a:rPr lang="zh-CN" altLang="en-US" sz="2000" i="0" u="none" strike="noStrike" kern="100" baseline="0" dirty="0"/>
              <a:t>     客户（姓名，性别）</a:t>
            </a:r>
            <a:r>
              <a:rPr lang="en-US" altLang="zh-CN" sz="2000" i="0" u="none" strike="noStrike" kern="100" baseline="0" dirty="0"/>
              <a:t>={(</a:t>
            </a:r>
            <a:r>
              <a:rPr lang="zh-CN" altLang="en-US" sz="2000" i="0" u="none" strike="noStrike" kern="100" baseline="0" dirty="0"/>
              <a:t>张三，男</a:t>
            </a:r>
            <a:r>
              <a:rPr lang="en-US" altLang="zh-CN" sz="2000" i="0" u="none" strike="noStrike" kern="100" baseline="0" dirty="0"/>
              <a:t>)</a:t>
            </a:r>
            <a:r>
              <a:rPr lang="zh-CN" altLang="en-US" sz="2000" i="0" u="none" strike="noStrike" kern="100" baseline="0" dirty="0"/>
              <a:t>， </a:t>
            </a:r>
            <a:r>
              <a:rPr lang="en-US" altLang="zh-CN" sz="2000" i="0" u="none" strike="noStrike" kern="100" baseline="0" dirty="0"/>
              <a:t>(</a:t>
            </a:r>
            <a:r>
              <a:rPr lang="zh-CN" altLang="en-US" sz="2000" i="0" u="none" strike="noStrike" kern="100" baseline="0" dirty="0"/>
              <a:t>李四，女</a:t>
            </a:r>
            <a:r>
              <a:rPr lang="en-US" altLang="zh-CN" sz="2000" i="0" u="none" strike="noStrike" kern="100" baseline="0" dirty="0"/>
              <a:t>)</a:t>
            </a:r>
            <a:r>
              <a:rPr lang="zh-CN" altLang="en-US" sz="2000" i="0" u="none" strike="noStrike" kern="100" baseline="0" dirty="0"/>
              <a:t>， </a:t>
            </a:r>
            <a:r>
              <a:rPr lang="en-US" altLang="zh-CN" sz="2000" i="0" u="none" strike="noStrike" kern="100" baseline="0" dirty="0"/>
              <a:t>(</a:t>
            </a:r>
            <a:r>
              <a:rPr lang="zh-CN" altLang="en-US" sz="2000" i="0" u="none" strike="noStrike" kern="100" baseline="0" dirty="0"/>
              <a:t>王五，女</a:t>
            </a:r>
            <a:r>
              <a:rPr lang="en-US" altLang="zh-CN" sz="2000" i="0" u="none" strike="noStrike" kern="100" baseline="0" dirty="0"/>
              <a:t>)}</a:t>
            </a:r>
          </a:p>
          <a:p>
            <a:pPr marL="354013" indent="0">
              <a:buNone/>
            </a:pPr>
            <a:r>
              <a:rPr lang="zh-CN" altLang="en-US" sz="2000" kern="100" dirty="0"/>
              <a:t>关系型：客户</a:t>
            </a:r>
            <a:r>
              <a:rPr lang="zh-CN" altLang="en-US" sz="2000" i="0" u="none" strike="noStrike" kern="100" baseline="0" dirty="0"/>
              <a:t>（姓名，性别）</a:t>
            </a:r>
            <a:endParaRPr lang="en-US" altLang="zh-CN" sz="2000" i="0" u="none" strike="noStrike" kern="100" baseline="0" dirty="0"/>
          </a:p>
          <a:p>
            <a:pPr marL="354013" indent="0">
              <a:buNone/>
            </a:pPr>
            <a:r>
              <a:rPr lang="zh-CN" altLang="en-US" sz="2000" kern="100" dirty="0"/>
              <a:t>关系值：</a:t>
            </a:r>
            <a:r>
              <a:rPr lang="en-US" altLang="zh-CN" sz="2000" kern="100" dirty="0"/>
              <a:t>{("</a:t>
            </a:r>
            <a:r>
              <a:rPr lang="zh-CN" altLang="en-US" sz="2000" i="0" u="none" strike="noStrike" kern="100" baseline="0" dirty="0"/>
              <a:t>张三</a:t>
            </a:r>
            <a:r>
              <a:rPr lang="en-US" altLang="zh-CN" sz="2000" kern="100" dirty="0"/>
              <a:t>", "</a:t>
            </a:r>
            <a:r>
              <a:rPr lang="zh-CN" altLang="en-US" sz="2000" i="0" u="none" strike="noStrike" kern="100" baseline="0" dirty="0"/>
              <a:t>男</a:t>
            </a:r>
            <a:r>
              <a:rPr lang="en-US" altLang="zh-CN" sz="2000" kern="100" dirty="0"/>
              <a:t>"),("</a:t>
            </a:r>
            <a:r>
              <a:rPr lang="zh-CN" altLang="en-US" sz="2000" i="0" u="none" strike="noStrike" kern="100" baseline="0" dirty="0"/>
              <a:t>李四</a:t>
            </a:r>
            <a:r>
              <a:rPr lang="en-US" altLang="zh-CN" sz="2000" kern="100" dirty="0"/>
              <a:t>", "</a:t>
            </a:r>
            <a:r>
              <a:rPr lang="zh-CN" altLang="en-US" sz="2000" i="0" u="none" strike="noStrike" kern="100" baseline="0" dirty="0"/>
              <a:t>女</a:t>
            </a:r>
            <a:r>
              <a:rPr lang="en-US" altLang="zh-CN" sz="2000" kern="100" dirty="0"/>
              <a:t>" ),("</a:t>
            </a:r>
            <a:r>
              <a:rPr lang="zh-CN" altLang="en-US" sz="2000" i="0" u="none" strike="noStrike" kern="100" baseline="0" dirty="0"/>
              <a:t>王五</a:t>
            </a:r>
            <a:r>
              <a:rPr lang="en-US" altLang="zh-CN" sz="2000" kern="100" dirty="0"/>
              <a:t>", "</a:t>
            </a:r>
            <a:r>
              <a:rPr lang="zh-CN" altLang="en-US" sz="2000" i="0" u="none" strike="noStrike" kern="100" baseline="0" dirty="0"/>
              <a:t>女</a:t>
            </a:r>
            <a:r>
              <a:rPr lang="en-US" altLang="zh-CN" sz="2000" kern="100" dirty="0"/>
              <a:t>"</a:t>
            </a:r>
            <a:r>
              <a:rPr lang="en-US" altLang="zh-CN" sz="2000" i="0" u="none" strike="noStrike" kern="100" baseline="0" dirty="0"/>
              <a:t>)}</a:t>
            </a:r>
            <a:endParaRPr lang="zh-CN" altLang="en-US" sz="2000" i="0" u="none" strike="noStrike" kern="100" baseline="0" dirty="0"/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关系：</a:t>
            </a:r>
            <a:r>
              <a:rPr lang="zh-CN" altLang="en-US" sz="2000" i="0" u="none" strike="noStrike" kern="100" baseline="0" dirty="0"/>
              <a:t>笛卡尔积的一个子集，且具有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实际意义</a:t>
            </a:r>
            <a:r>
              <a:rPr lang="zh-CN" altLang="en-US" sz="2000" i="0" u="none" strike="noStrike" kern="100" baseline="0" dirty="0"/>
              <a:t>（图</a:t>
            </a:r>
            <a:r>
              <a:rPr lang="en-US" altLang="zh-CN" sz="2000" i="0" u="none" strike="noStrike" kern="100" baseline="0" dirty="0"/>
              <a:t>1.11</a:t>
            </a:r>
            <a:r>
              <a:rPr lang="zh-CN" altLang="en-US" sz="2000" i="0" u="none" strike="noStrike" kern="100" baseline="0" dirty="0"/>
              <a:t>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10FE-6BF3-F949-AA34-273FA5AF6617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80141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笛卡儿积与关系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0BB7-ADA7-C340-BFDF-B1A90097084A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58</a:t>
            </a:fld>
            <a:endParaRPr lang="zh-CN" altLang="en-US" dirty="0"/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85160" y="1928282"/>
            <a:ext cx="7814255" cy="2088232"/>
            <a:chOff x="1491" y="6065"/>
            <a:chExt cx="7602" cy="1632"/>
          </a:xfrm>
        </p:grpSpPr>
        <p:grpSp>
          <p:nvGrpSpPr>
            <p:cNvPr id="8" name="Group 36"/>
            <p:cNvGrpSpPr>
              <a:grpSpLocks/>
            </p:cNvGrpSpPr>
            <p:nvPr/>
          </p:nvGrpSpPr>
          <p:grpSpPr bwMode="auto">
            <a:xfrm>
              <a:off x="1491" y="6065"/>
              <a:ext cx="5334" cy="1632"/>
              <a:chOff x="2331" y="5585"/>
              <a:chExt cx="5334" cy="1632"/>
            </a:xfrm>
          </p:grpSpPr>
          <p:sp>
            <p:nvSpPr>
              <p:cNvPr id="14" name="Oval 37"/>
              <p:cNvSpPr>
                <a:spLocks noChangeArrowheads="1"/>
              </p:cNvSpPr>
              <p:nvPr/>
            </p:nvSpPr>
            <p:spPr bwMode="auto">
              <a:xfrm>
                <a:off x="4095" y="5633"/>
                <a:ext cx="882" cy="153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en-US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 </a:t>
                </a:r>
                <a:endParaRPr lang="zh-CN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endParaRP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男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en-US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 </a:t>
                </a:r>
                <a:endParaRPr lang="zh-CN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endParaRP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女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en-US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 </a:t>
                </a:r>
                <a:endParaRPr lang="zh-CN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endParaRPr>
              </a:p>
            </p:txBody>
          </p:sp>
          <p:sp>
            <p:nvSpPr>
              <p:cNvPr id="15" name="AutoShape 38"/>
              <p:cNvSpPr>
                <a:spLocks noChangeArrowheads="1"/>
              </p:cNvSpPr>
              <p:nvPr/>
            </p:nvSpPr>
            <p:spPr bwMode="auto">
              <a:xfrm>
                <a:off x="5292" y="6180"/>
                <a:ext cx="630" cy="238"/>
              </a:xfrm>
              <a:prstGeom prst="rightArrow">
                <a:avLst>
                  <a:gd name="adj1" fmla="val 50000"/>
                  <a:gd name="adj2" fmla="val 50481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ts val="2000"/>
                  </a:lnSpc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Text Box 39"/>
              <p:cNvSpPr txBox="1">
                <a:spLocks noChangeArrowheads="1"/>
              </p:cNvSpPr>
              <p:nvPr/>
            </p:nvSpPr>
            <p:spPr bwMode="auto">
              <a:xfrm>
                <a:off x="3423" y="6017"/>
                <a:ext cx="504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just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×</a:t>
                </a:r>
              </a:p>
            </p:txBody>
          </p:sp>
          <p:sp>
            <p:nvSpPr>
              <p:cNvPr id="17" name="Oval 40"/>
              <p:cNvSpPr>
                <a:spLocks noChangeArrowheads="1"/>
              </p:cNvSpPr>
              <p:nvPr/>
            </p:nvSpPr>
            <p:spPr bwMode="auto">
              <a:xfrm>
                <a:off x="2331" y="5633"/>
                <a:ext cx="986" cy="156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张三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en-US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 </a:t>
                </a:r>
                <a:endParaRPr lang="zh-CN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endParaRP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李四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en-US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 </a:t>
                </a:r>
                <a:endParaRPr lang="zh-CN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endParaRP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王五</a:t>
                </a:r>
              </a:p>
            </p:txBody>
          </p:sp>
          <p:sp>
            <p:nvSpPr>
              <p:cNvPr id="18" name="Text Box 41"/>
              <p:cNvSpPr txBox="1">
                <a:spLocks noChangeArrowheads="1"/>
              </p:cNvSpPr>
              <p:nvPr/>
            </p:nvSpPr>
            <p:spPr bwMode="auto">
              <a:xfrm>
                <a:off x="6279" y="5585"/>
                <a:ext cx="1386" cy="163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姓名</a:t>
                </a:r>
                <a:r>
                  <a:rPr lang="en-US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</a:t>
                </a: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性别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en-US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 </a:t>
                </a:r>
                <a:endParaRPr lang="zh-CN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endParaRP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张三</a:t>
                </a:r>
                <a:r>
                  <a:rPr lang="en-US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  </a:t>
                </a: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男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张三</a:t>
                </a:r>
                <a:r>
                  <a:rPr lang="en-US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  </a:t>
                </a: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女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李四</a:t>
                </a:r>
                <a:r>
                  <a:rPr lang="en-US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  </a:t>
                </a: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男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李四</a:t>
                </a:r>
                <a:r>
                  <a:rPr lang="en-US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  </a:t>
                </a: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女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王五</a:t>
                </a:r>
                <a:r>
                  <a:rPr lang="en-US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  </a:t>
                </a: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男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王五</a:t>
                </a:r>
                <a:r>
                  <a:rPr lang="en-US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  </a:t>
                </a:r>
                <a:r>
                  <a:rPr lang="zh-CN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女</a:t>
                </a:r>
              </a:p>
            </p:txBody>
          </p:sp>
          <p:cxnSp>
            <p:nvCxnSpPr>
              <p:cNvPr id="19" name="Line 42"/>
              <p:cNvCxnSpPr/>
              <p:nvPr/>
            </p:nvCxnSpPr>
            <p:spPr bwMode="auto">
              <a:xfrm>
                <a:off x="6279" y="5905"/>
                <a:ext cx="138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Line 43"/>
              <p:cNvCxnSpPr/>
              <p:nvPr/>
            </p:nvCxnSpPr>
            <p:spPr bwMode="auto">
              <a:xfrm>
                <a:off x="6993" y="5585"/>
                <a:ext cx="0" cy="16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9" name="Group 44"/>
            <p:cNvGrpSpPr>
              <a:grpSpLocks/>
            </p:cNvGrpSpPr>
            <p:nvPr/>
          </p:nvGrpSpPr>
          <p:grpSpPr bwMode="auto">
            <a:xfrm>
              <a:off x="7707" y="6257"/>
              <a:ext cx="1386" cy="1104"/>
              <a:chOff x="7413" y="6065"/>
              <a:chExt cx="1386" cy="1104"/>
            </a:xfrm>
          </p:grpSpPr>
          <p:sp>
            <p:nvSpPr>
              <p:cNvPr id="11" name="Text Box 45"/>
              <p:cNvSpPr txBox="1">
                <a:spLocks noChangeArrowheads="1"/>
              </p:cNvSpPr>
              <p:nvPr/>
            </p:nvSpPr>
            <p:spPr bwMode="auto">
              <a:xfrm>
                <a:off x="7413" y="6065"/>
                <a:ext cx="1386" cy="11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ts val="2200"/>
                  </a:lnSpc>
                  <a:spcAft>
                    <a:spcPts val="0"/>
                  </a:spcAft>
                </a:pPr>
                <a:r>
                  <a:rPr lang="zh-CN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姓名</a:t>
                </a:r>
                <a:r>
                  <a:rPr lang="en-US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 </a:t>
                </a:r>
                <a:r>
                  <a:rPr lang="zh-CN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性别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en-US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 </a:t>
                </a:r>
                <a:endParaRPr lang="zh-CN" kern="100" dirty="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endParaRP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张三</a:t>
                </a:r>
                <a:r>
                  <a:rPr lang="en-US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  </a:t>
                </a:r>
                <a:r>
                  <a:rPr lang="zh-CN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男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李四</a:t>
                </a:r>
                <a:r>
                  <a:rPr lang="en-US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  </a:t>
                </a:r>
                <a:r>
                  <a:rPr lang="zh-CN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女</a:t>
                </a:r>
              </a:p>
              <a:p>
                <a:pPr algn="ctr">
                  <a:lnSpc>
                    <a:spcPts val="2000"/>
                  </a:lnSpc>
                  <a:spcAft>
                    <a:spcPts val="0"/>
                  </a:spcAft>
                </a:pPr>
                <a:r>
                  <a:rPr lang="zh-CN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王五</a:t>
                </a:r>
                <a:r>
                  <a:rPr lang="en-US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     </a:t>
                </a:r>
                <a:r>
                  <a:rPr lang="zh-CN" kern="100" dirty="0">
                    <a:solidFill>
                      <a:srgbClr val="0000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/>
                  </a:rPr>
                  <a:t>女</a:t>
                </a:r>
              </a:p>
            </p:txBody>
          </p:sp>
          <p:cxnSp>
            <p:nvCxnSpPr>
              <p:cNvPr id="12" name="Line 46"/>
              <p:cNvCxnSpPr/>
              <p:nvPr/>
            </p:nvCxnSpPr>
            <p:spPr bwMode="auto">
              <a:xfrm>
                <a:off x="7413" y="6385"/>
                <a:ext cx="138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" name="Line 47"/>
              <p:cNvCxnSpPr/>
              <p:nvPr/>
            </p:nvCxnSpPr>
            <p:spPr bwMode="auto">
              <a:xfrm>
                <a:off x="8127" y="6065"/>
                <a:ext cx="0" cy="11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" name="AutoShape 48"/>
            <p:cNvSpPr>
              <a:spLocks noChangeArrowheads="1"/>
            </p:cNvSpPr>
            <p:nvPr/>
          </p:nvSpPr>
          <p:spPr bwMode="auto">
            <a:xfrm>
              <a:off x="6963" y="6653"/>
              <a:ext cx="630" cy="259"/>
            </a:xfrm>
            <a:prstGeom prst="rightArrow">
              <a:avLst>
                <a:gd name="adj1" fmla="val 50000"/>
                <a:gd name="adj2" fmla="val 50481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2000"/>
                </a:lnSpc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621824" y="4401820"/>
            <a:ext cx="81194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                   性别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姓名×性别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姓名，性别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06659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2372" y="161588"/>
            <a:ext cx="8219256" cy="603116"/>
          </a:xfrm>
        </p:spPr>
        <p:txBody>
          <a:bodyPr>
            <a:normAutofit fontScale="90000"/>
          </a:bodyPr>
          <a:lstStyle/>
          <a:p>
            <a:pPr marR="0" rtl="0"/>
            <a:r>
              <a:rPr lang="zh-CN" altLang="en-US" i="0" u="none" strike="noStrike" kern="2200" baseline="0" dirty="0"/>
              <a:t>定义</a:t>
            </a:r>
            <a:r>
              <a:rPr lang="en-US" altLang="zh-CN" i="0" u="none" strike="noStrike" kern="2200" baseline="0" dirty="0"/>
              <a:t>1.3</a:t>
            </a:r>
            <a:r>
              <a:rPr lang="zh-CN" altLang="en-US" i="0" u="none" strike="noStrike" kern="2200" baseline="0" dirty="0"/>
              <a:t>  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关系模式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87524" y="836712"/>
            <a:ext cx="8568952" cy="5688632"/>
          </a:xfrm>
        </p:spPr>
        <p:txBody>
          <a:bodyPr>
            <a:noAutofit/>
          </a:bodyPr>
          <a:lstStyle/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关系模式：</a:t>
            </a:r>
            <a:r>
              <a:rPr lang="zh-CN" altLang="en-US" sz="2000" i="0" u="none" strike="noStrike" kern="100" baseline="0" dirty="0"/>
              <a:t>组成关系的关系型。即：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关系的结构描述</a:t>
            </a:r>
            <a:endParaRPr lang="en-US" altLang="zh-CN" sz="2000" i="0" u="none" strike="noStrike" kern="100" baseline="0" dirty="0">
              <a:solidFill>
                <a:srgbClr val="0000FF"/>
              </a:solidFill>
            </a:endParaRPr>
          </a:p>
          <a:p>
            <a:pPr marR="0" lvl="0" rtl="0"/>
            <a:endParaRPr lang="zh-CN" altLang="en-US" sz="2000" i="0" u="none" strike="noStrike" kern="100" baseline="0" dirty="0"/>
          </a:p>
          <a:p>
            <a:endParaRPr lang="en-US" altLang="zh-CN" sz="2000" i="0" u="none" strike="noStrike" kern="100" baseline="0" dirty="0"/>
          </a:p>
          <a:p>
            <a:r>
              <a:rPr lang="zh-CN" altLang="en-US" sz="2000" i="0" u="none" strike="noStrike" kern="100" baseline="0" dirty="0"/>
              <a:t>关系 </a:t>
            </a:r>
            <a:r>
              <a:rPr lang="en-US" altLang="zh-CN" sz="2000" i="0" u="none" strike="noStrike" kern="100" baseline="0" dirty="0"/>
              <a:t>= </a:t>
            </a:r>
            <a:r>
              <a:rPr lang="zh-CN" altLang="en-US" sz="2000" i="0" u="none" strike="noStrike" kern="100" baseline="0" dirty="0"/>
              <a:t>关系模式 </a:t>
            </a:r>
            <a:r>
              <a:rPr lang="en-US" altLang="zh-CN" sz="2000" i="0" u="none" strike="noStrike" kern="100" baseline="0" dirty="0"/>
              <a:t>+ </a:t>
            </a:r>
            <a:r>
              <a:rPr lang="zh-CN" altLang="en-US" sz="2000" i="0" u="none" strike="noStrike" kern="100" baseline="0" dirty="0"/>
              <a:t>元组集合 </a:t>
            </a:r>
            <a:r>
              <a:rPr lang="en-US" altLang="zh-CN" sz="2000" kern="100" dirty="0"/>
              <a:t>= </a:t>
            </a:r>
            <a:r>
              <a:rPr lang="zh-CN" altLang="en-US" sz="2000" kern="100" dirty="0"/>
              <a:t>关系模式 </a:t>
            </a:r>
            <a:r>
              <a:rPr lang="en-US" altLang="zh-CN" sz="2000" kern="100" dirty="0"/>
              <a:t>+ </a:t>
            </a:r>
            <a:r>
              <a:rPr lang="zh-CN" altLang="en-US" sz="2000" kern="100" dirty="0"/>
              <a:t>关系值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关系与关系模式的关系：  </a:t>
            </a:r>
            <a:endParaRPr lang="en-US" altLang="zh-CN" sz="2000" i="0" u="none" strike="noStrike" kern="100" baseline="0" dirty="0">
              <a:solidFill>
                <a:srgbClr val="0000FF"/>
              </a:solidFill>
            </a:endParaRPr>
          </a:p>
          <a:p>
            <a:pPr lvl="1"/>
            <a:r>
              <a:rPr lang="zh-CN" altLang="en-US" sz="2000" i="0" u="none" strike="noStrike" kern="100" baseline="0" dirty="0"/>
              <a:t>关系模式是关系型。关系的结构部分。关系特征的静态描述。关系模式决定关系，即：关系模式一旦确定，则关系的取值必须满足关系模式的类型和域的要求。关系模式是元组个数为</a:t>
            </a:r>
            <a:r>
              <a:rPr lang="en-US" altLang="zh-CN" sz="2000" i="0" u="none" strike="noStrike" kern="100" baseline="0" dirty="0"/>
              <a:t>0</a:t>
            </a:r>
            <a:r>
              <a:rPr lang="zh-CN" altLang="en-US" sz="2000" i="0" u="none" strike="noStrike" kern="100" baseline="0" dirty="0"/>
              <a:t>时的关系（空关系）</a:t>
            </a:r>
          </a:p>
          <a:p>
            <a:pPr marR="0" lvl="1" rtl="0"/>
            <a:r>
              <a:rPr lang="zh-CN" altLang="en-US" sz="2000" i="0" u="none" strike="noStrike" kern="100" baseline="0" dirty="0"/>
              <a:t>关系是关系模式及其某一时刻的值所组成的整体。关系是关系模式下关系值的动态描述。</a:t>
            </a:r>
            <a:endParaRPr lang="en-US" altLang="zh-CN" sz="2000" i="0" u="none" strike="noStrike" kern="100" baseline="0" dirty="0"/>
          </a:p>
          <a:p>
            <a:pPr lvl="1"/>
            <a:r>
              <a:rPr lang="zh-CN" altLang="en-US" sz="2000" kern="100" dirty="0"/>
              <a:t>一个关系模式对应多个关系。一个关系模式下，可以存在多个与之相应的关系，从而表现出关系模式在不同时刻的动态数据状态</a:t>
            </a:r>
          </a:p>
          <a:p>
            <a:pPr marR="0" lvl="1" rtl="0"/>
            <a:endParaRPr lang="zh-CN" altLang="en-US" sz="2000" i="0" u="none" strike="noStrike" kern="100" baseline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7B06-454C-B742-A9FF-684F552CF091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59</a:t>
            </a:fld>
            <a:endParaRPr lang="zh-CN" alt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714792"/>
              </p:ext>
            </p:extLst>
          </p:nvPr>
        </p:nvGraphicFramePr>
        <p:xfrm>
          <a:off x="796925" y="1341438"/>
          <a:ext cx="22939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" name="公式" r:id="rId3" imgW="1054080" imgH="228600" progId="Equation.3">
                  <p:embed/>
                </p:oleObj>
              </mc:Choice>
              <mc:Fallback>
                <p:oleObj name="公式" r:id="rId3" imgW="105408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1341438"/>
                        <a:ext cx="2293938" cy="495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346878"/>
              </p:ext>
            </p:extLst>
          </p:nvPr>
        </p:nvGraphicFramePr>
        <p:xfrm>
          <a:off x="3851920" y="1385080"/>
          <a:ext cx="720080" cy="387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" name="公式" r:id="rId5" imgW="368140" imgH="203112" progId="Equation.3">
                  <p:embed/>
                </p:oleObj>
              </mc:Choice>
              <mc:Fallback>
                <p:oleObj name="公式" r:id="rId5" imgW="368140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1385080"/>
                        <a:ext cx="720080" cy="3877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347080"/>
              </p:ext>
            </p:extLst>
          </p:nvPr>
        </p:nvGraphicFramePr>
        <p:xfrm>
          <a:off x="2204120" y="1844824"/>
          <a:ext cx="2520280" cy="45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" name="公式" r:id="rId7" imgW="1270000" imgH="228600" progId="Equation.3">
                  <p:embed/>
                </p:oleObj>
              </mc:Choice>
              <mc:Fallback>
                <p:oleObj name="公式" r:id="rId7" imgW="12700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4120" y="1844824"/>
                        <a:ext cx="2520280" cy="454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624348"/>
              </p:ext>
            </p:extLst>
          </p:nvPr>
        </p:nvGraphicFramePr>
        <p:xfrm>
          <a:off x="827584" y="1844824"/>
          <a:ext cx="1224136" cy="443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" name="公式" r:id="rId9" imgW="545626" imgH="203024" progId="Equation.3">
                  <p:embed/>
                </p:oleObj>
              </mc:Choice>
              <mc:Fallback>
                <p:oleObj name="公式" r:id="rId9" imgW="545626" imgH="20302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844824"/>
                        <a:ext cx="1224136" cy="4432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371498"/>
              </p:ext>
            </p:extLst>
          </p:nvPr>
        </p:nvGraphicFramePr>
        <p:xfrm>
          <a:off x="4932040" y="1844824"/>
          <a:ext cx="247995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" name="公式" r:id="rId11" imgW="1168400" imgH="241300" progId="Equation.3">
                  <p:embed/>
                </p:oleObj>
              </mc:Choice>
              <mc:Fallback>
                <p:oleObj name="公式" r:id="rId11" imgW="1168400" imgH="241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1844824"/>
                        <a:ext cx="2479956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67258"/>
              </p:ext>
            </p:extLst>
          </p:nvPr>
        </p:nvGraphicFramePr>
        <p:xfrm>
          <a:off x="4724400" y="1340768"/>
          <a:ext cx="2520280" cy="45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" name="公式" r:id="rId13" imgW="1270000" imgH="228600" progId="Equation.3">
                  <p:embed/>
                </p:oleObj>
              </mc:Choice>
              <mc:Fallback>
                <p:oleObj name="公式" r:id="rId13" imgW="1270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340768"/>
                        <a:ext cx="2520280" cy="454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58054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定义</a:t>
            </a:r>
            <a:r>
              <a:rPr lang="en-US" altLang="zh-CN" i="0" u="none" strike="noStrike" kern="2200" baseline="0" dirty="0"/>
              <a:t>1.3</a:t>
            </a:r>
            <a:r>
              <a:rPr lang="zh-CN" altLang="en-US" i="0" u="none" strike="noStrike" kern="2200" baseline="0" dirty="0"/>
              <a:t>  关系模式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3528" y="980728"/>
            <a:ext cx="8568952" cy="5688632"/>
          </a:xfrm>
        </p:spPr>
        <p:txBody>
          <a:bodyPr>
            <a:noAutofit/>
          </a:bodyPr>
          <a:lstStyle/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例如：</a:t>
            </a:r>
            <a:r>
              <a:rPr lang="zh-CN" altLang="en-US" sz="2000" i="0" u="none" strike="noStrike" kern="100" baseline="0" dirty="0"/>
              <a:t>二维表格由表头和表体组成。</a:t>
            </a:r>
            <a:endParaRPr lang="en-US" altLang="zh-CN" sz="2000" i="0" u="none" strike="noStrike" kern="100" baseline="0" dirty="0"/>
          </a:p>
          <a:p>
            <a:pPr marL="0" indent="0">
              <a:buNone/>
            </a:pPr>
            <a:r>
              <a:rPr lang="en-US" altLang="zh-CN" sz="2000" kern="100" dirty="0"/>
              <a:t>               </a:t>
            </a:r>
            <a:r>
              <a:rPr lang="zh-CN" altLang="en-US" sz="2000" i="0" u="none" strike="noStrike" kern="100" baseline="0" dirty="0"/>
              <a:t>表头就是关系模式，表体就是元组集合。</a:t>
            </a:r>
          </a:p>
          <a:p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思考：</a:t>
            </a:r>
            <a:r>
              <a:rPr lang="zh-CN" altLang="en-US" sz="2000" i="0" u="none" strike="noStrike" kern="100" baseline="0" dirty="0"/>
              <a:t>在例</a:t>
            </a:r>
            <a:r>
              <a:rPr lang="en-US" altLang="zh-CN" sz="2000" i="0" u="none" strike="noStrike" kern="100" baseline="0" dirty="0"/>
              <a:t>1.1</a:t>
            </a:r>
            <a:r>
              <a:rPr lang="zh-CN" altLang="en-US" sz="2000" i="0" u="none" strike="noStrike" kern="100" baseline="0" dirty="0"/>
              <a:t>中，添加年龄属性：年龄</a:t>
            </a:r>
            <a:r>
              <a:rPr lang="en-US" altLang="zh-CN" sz="2000" i="0" u="none" strike="noStrike" kern="100" baseline="0" dirty="0"/>
              <a:t>={16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18</a:t>
            </a:r>
            <a:r>
              <a:rPr lang="zh-CN" altLang="en-US" sz="2000" i="0" u="none" strike="noStrike" kern="100" baseline="0" dirty="0"/>
              <a:t>，</a:t>
            </a:r>
            <a:r>
              <a:rPr lang="en-US" altLang="zh-CN" sz="2000" i="0" u="none" strike="noStrike" kern="100" baseline="0" dirty="0"/>
              <a:t>19}</a:t>
            </a:r>
            <a:r>
              <a:rPr lang="zh-CN" altLang="en-US" sz="2000" i="0" u="none" strike="noStrike" kern="100" baseline="0" dirty="0"/>
              <a:t>，则姓名</a:t>
            </a:r>
            <a:r>
              <a:rPr lang="en-US" altLang="zh-CN" sz="2000" i="0" u="none" strike="noStrike" kern="100" baseline="0" dirty="0"/>
              <a:t>×</a:t>
            </a:r>
            <a:r>
              <a:rPr lang="zh-CN" altLang="en-US" sz="2000" i="0" u="none" strike="noStrike" kern="100" baseline="0" dirty="0"/>
              <a:t>性别</a:t>
            </a:r>
            <a:r>
              <a:rPr lang="en-US" altLang="zh-CN" sz="2000" i="0" u="none" strike="noStrike" kern="100" baseline="0" dirty="0"/>
              <a:t>×</a:t>
            </a:r>
            <a:r>
              <a:rPr lang="zh-CN" altLang="en-US" sz="2000" i="0" u="none" strike="noStrike" kern="100" baseline="0" dirty="0"/>
              <a:t>年龄</a:t>
            </a:r>
            <a:r>
              <a:rPr lang="en-US" altLang="zh-CN" sz="2000" i="0" u="none" strike="noStrike" kern="100" baseline="0" dirty="0"/>
              <a:t>=</a:t>
            </a:r>
            <a:r>
              <a:rPr lang="zh-CN" altLang="en-US" sz="2000" i="0" u="none" strike="noStrike" kern="100" baseline="0" dirty="0"/>
              <a:t>？，姓名</a:t>
            </a:r>
            <a:r>
              <a:rPr lang="en-US" altLang="zh-CN" sz="2000" i="0" u="none" strike="noStrike" kern="100" baseline="0" dirty="0"/>
              <a:t>×</a:t>
            </a:r>
            <a:r>
              <a:rPr lang="zh-CN" altLang="en-US" sz="2000" i="0" u="none" strike="noStrike" kern="100" baseline="0" dirty="0"/>
              <a:t>性别</a:t>
            </a:r>
            <a:r>
              <a:rPr lang="en-US" altLang="zh-CN" sz="2000" i="0" u="none" strike="noStrike" kern="100" baseline="0" dirty="0"/>
              <a:t>×</a:t>
            </a:r>
            <a:r>
              <a:rPr lang="zh-CN" altLang="en-US" sz="2000" i="0" u="none" strike="noStrike" kern="100" baseline="0" dirty="0"/>
              <a:t>年龄中元组的个数是多少？构造一个有意义的客户关系：客户（姓名，性别，年龄）。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2AD9-EBD9-5B4A-9175-CA3B66865EB5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60</a:t>
            </a:fld>
            <a:endParaRPr lang="zh-CN" alt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4914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定义</a:t>
            </a:r>
            <a:r>
              <a:rPr lang="en-US" altLang="zh-CN" i="0" u="none" strike="noStrike" kern="2200" baseline="0" dirty="0"/>
              <a:t>1.4</a:t>
            </a:r>
            <a:r>
              <a:rPr lang="zh-CN" altLang="en-US" i="0" u="none" strike="noStrike" kern="2200" baseline="0" dirty="0"/>
              <a:t>  关系数据库</a:t>
            </a:r>
            <a:endParaRPr lang="zh-CN" altLang="en-US" b="1" i="0" u="none" strike="noStrike" kern="2200" baseline="0" dirty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0"/>
            <a:r>
              <a:rPr lang="zh-CN" altLang="en-US" sz="2000" kern="100" dirty="0">
                <a:solidFill>
                  <a:srgbClr val="0000FF"/>
                </a:solidFill>
              </a:rPr>
              <a:t>关系数据库：</a:t>
            </a:r>
            <a:r>
              <a:rPr lang="zh-CN" altLang="en-US" sz="2000" kern="100" dirty="0"/>
              <a:t>所</a:t>
            </a:r>
            <a:r>
              <a:rPr lang="zh-CN" altLang="en-US" sz="2000" u="none" strike="noStrike" kern="100" baseline="0" dirty="0"/>
              <a:t>有关系的集合。</a:t>
            </a:r>
          </a:p>
          <a:p>
            <a:pPr marL="354013" indent="0">
              <a:buNone/>
            </a:pPr>
            <a:r>
              <a:rPr lang="zh-CN" altLang="en-US" sz="2000" u="none" strike="noStrike" kern="100" baseline="0" dirty="0"/>
              <a:t>例如：电子书店的数据库（本书范例数据库）：</a:t>
            </a:r>
          </a:p>
          <a:p>
            <a:pPr marL="0" indent="0">
              <a:buNone/>
            </a:pPr>
            <a:r>
              <a:rPr lang="zh-CN" altLang="en-US" sz="2000" u="none" strike="noStrike" kern="100" baseline="0" dirty="0"/>
              <a:t>     </a:t>
            </a:r>
            <a:r>
              <a:rPr lang="zh-CN" altLang="en-US" sz="1800" u="none" strike="noStrike" kern="100" baseline="0" dirty="0"/>
              <a:t>电子书店</a:t>
            </a:r>
            <a:r>
              <a:rPr lang="en-US" altLang="zh-CN" sz="1800" u="none" strike="noStrike" kern="100" baseline="0" dirty="0"/>
              <a:t>EBook=</a:t>
            </a:r>
            <a:r>
              <a:rPr lang="en-US" altLang="zh-CN" sz="1800" u="none" strike="noStrike" kern="100" baseline="0" dirty="0">
                <a:latin typeface="Kunstler Script" panose="030304020206070D0D06" pitchFamily="66" charset="0"/>
              </a:rPr>
              <a:t>R</a:t>
            </a:r>
            <a:r>
              <a:rPr lang="zh-CN" altLang="en-US" sz="1800" u="none" strike="noStrike" kern="100" baseline="0" dirty="0"/>
              <a:t>｛图书</a:t>
            </a:r>
            <a:r>
              <a:rPr lang="en-US" altLang="zh-CN" sz="1800" u="none" strike="noStrike" kern="100" baseline="0" dirty="0"/>
              <a:t>Book</a:t>
            </a:r>
            <a:r>
              <a:rPr lang="zh-CN" altLang="en-US" sz="1800" u="none" strike="noStrike" kern="100" baseline="0" dirty="0"/>
              <a:t>，客户</a:t>
            </a:r>
            <a:r>
              <a:rPr lang="en-US" altLang="zh-CN" sz="1800" u="none" strike="noStrike" kern="100" baseline="0" dirty="0" err="1"/>
              <a:t>Cust</a:t>
            </a:r>
            <a:r>
              <a:rPr lang="zh-CN" altLang="en-US" sz="1800" u="none" strike="noStrike" kern="100" baseline="0" dirty="0"/>
              <a:t>，</a:t>
            </a:r>
            <a:r>
              <a:rPr lang="zh-CN" altLang="en-US" sz="1800" kern="100" dirty="0"/>
              <a:t>出版社</a:t>
            </a:r>
            <a:r>
              <a:rPr lang="en-US" altLang="zh-CN" sz="1800" kern="100" dirty="0"/>
              <a:t>Press</a:t>
            </a:r>
            <a:r>
              <a:rPr lang="zh-CN" altLang="en-US" sz="1800" kern="100" dirty="0"/>
              <a:t>，</a:t>
            </a:r>
            <a:r>
              <a:rPr lang="zh-CN" altLang="en-US" sz="1800" u="none" strike="noStrike" kern="100" baseline="0" dirty="0"/>
              <a:t>购买</a:t>
            </a:r>
            <a:r>
              <a:rPr lang="en-US" altLang="zh-CN" sz="1800" u="none" strike="noStrike" kern="100" baseline="0" dirty="0"/>
              <a:t>Buy</a:t>
            </a:r>
            <a:r>
              <a:rPr lang="zh-CN" altLang="en-US" sz="1800" u="none" strike="noStrike" kern="100" baseline="0" dirty="0"/>
              <a:t>｝</a:t>
            </a:r>
          </a:p>
          <a:p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关系模型的特点：</a:t>
            </a:r>
          </a:p>
          <a:p>
            <a:r>
              <a:rPr lang="zh-CN" altLang="en-US" sz="2000" u="none" strike="noStrike" kern="100" baseline="0" dirty="0"/>
              <a:t>属性（或数据项）是同类型的不可再分的最小单位，即满足第一范式（</a:t>
            </a:r>
            <a:r>
              <a:rPr lang="en-US" altLang="zh-CN" sz="2000" u="none" strike="noStrike" kern="100" baseline="0" dirty="0"/>
              <a:t>1NF</a:t>
            </a:r>
            <a:r>
              <a:rPr lang="zh-CN" altLang="en-US" sz="2000" u="none" strike="noStrike" kern="100" baseline="0" dirty="0"/>
              <a:t>）。</a:t>
            </a:r>
          </a:p>
          <a:p>
            <a:r>
              <a:rPr lang="zh-CN" altLang="en-US" sz="2000" u="none" strike="noStrike" kern="100" baseline="0" dirty="0"/>
              <a:t>属性不能重名（即：不同的字段不能重名）。</a:t>
            </a:r>
          </a:p>
          <a:p>
            <a:r>
              <a:rPr lang="zh-CN" altLang="en-US" sz="2000" u="none" strike="noStrike" kern="100" baseline="0" dirty="0"/>
              <a:t>元组不能重复（即：不同的记录不能重复）。</a:t>
            </a:r>
          </a:p>
          <a:p>
            <a:r>
              <a:rPr lang="zh-CN" altLang="en-US" sz="2000" u="none" strike="noStrike" kern="100" baseline="0" dirty="0"/>
              <a:t>属性的顺序可以互换。</a:t>
            </a:r>
          </a:p>
          <a:p>
            <a:r>
              <a:rPr lang="zh-CN" altLang="en-US" sz="2000" u="none" strike="noStrike" kern="100" baseline="0" dirty="0"/>
              <a:t>元组的顺序可以互换。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6AA9-9296-8C41-85CC-C2E2A228C258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16180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定义</a:t>
            </a:r>
            <a:r>
              <a:rPr lang="en-US" altLang="zh-CN" i="0" u="none" strike="noStrike" kern="2200" baseline="0" dirty="0"/>
              <a:t>1.4</a:t>
            </a:r>
            <a:r>
              <a:rPr lang="zh-CN" altLang="en-US" i="0" u="none" strike="noStrike" kern="2200" baseline="0" dirty="0"/>
              <a:t>  关系数据库</a:t>
            </a:r>
            <a:endParaRPr lang="zh-CN" altLang="en-US" b="1" i="0" u="none" strike="noStrike" kern="2200" baseline="0" dirty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1512168"/>
          </a:xfrm>
        </p:spPr>
        <p:txBody>
          <a:bodyPr>
            <a:noAutofit/>
          </a:bodyPr>
          <a:lstStyle/>
          <a:p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例如：</a:t>
            </a:r>
            <a:r>
              <a:rPr lang="zh-CN" altLang="en-US" sz="2000" u="none" strike="noStrike" kern="100" baseline="0" dirty="0"/>
              <a:t>表</a:t>
            </a:r>
            <a:r>
              <a:rPr lang="en-US" altLang="zh-CN" sz="2000" u="none" strike="noStrike" kern="100" baseline="0" dirty="0"/>
              <a:t>1.5</a:t>
            </a:r>
            <a:r>
              <a:rPr lang="zh-CN" altLang="en-US" sz="2000" u="none" strike="noStrike" kern="100" baseline="0" dirty="0"/>
              <a:t>所示的图书价格表不是关系。因为属性“价格”又分为定价、进价和售价，所以“价格”不是不可再分的最小单位。表</a:t>
            </a:r>
            <a:r>
              <a:rPr lang="en-US" altLang="zh-CN" sz="2000" u="none" strike="noStrike" kern="100" baseline="0" dirty="0"/>
              <a:t>1.5</a:t>
            </a:r>
            <a:r>
              <a:rPr lang="zh-CN" altLang="en-US" sz="2000" u="none" strike="noStrike" kern="100" baseline="0" dirty="0"/>
              <a:t>不是规范的二维表，因为规范的表中不能嵌套子表。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BE00-D3CC-5C49-BAB9-C11C8246A8E4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62</a:t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273864"/>
              </p:ext>
            </p:extLst>
          </p:nvPr>
        </p:nvGraphicFramePr>
        <p:xfrm>
          <a:off x="179512" y="2924945"/>
          <a:ext cx="8712969" cy="2952329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2777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2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86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86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2291">
                <a:tc rowSpan="2"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书号</a:t>
                      </a:r>
                    </a:p>
                  </a:txBody>
                  <a:tcPr marL="17780" marR="177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书名</a:t>
                      </a:r>
                    </a:p>
                  </a:txBody>
                  <a:tcPr marL="17780" marR="177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作者</a:t>
                      </a:r>
                    </a:p>
                  </a:txBody>
                  <a:tcPr marL="17780" marR="177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</a:p>
                  </a:txBody>
                  <a:tcPr marL="17780" marR="177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售价</a:t>
                      </a: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27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ISBN978-7-04-040664-1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数据库系统概论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王珊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27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ISBN978-7-302-33894-9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程序设计教程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雍俊海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27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ISBN978-7-5612-2591-2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图像技术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韩培友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27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ISBN978-7-5612-2123-1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IDL</a:t>
                      </a: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可视化分析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韩培友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27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ISBN978-7-5178-0167-2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Access</a:t>
                      </a: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数据库应用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韩培友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39.8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27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ISBN978-7-81140-582-8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MySQL</a:t>
                      </a: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实验指导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韩培友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2455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00" dirty="0"/>
              <a:t>关系模型的组成层次</a:t>
            </a:r>
            <a:endParaRPr lang="zh-CN" altLang="en-US" i="0" u="none" strike="noStrike" baseline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组成层次：</a:t>
            </a:r>
            <a:r>
              <a:rPr lang="zh-CN" altLang="en-US" i="0" u="none" strike="noStrike" kern="100" baseline="0" dirty="0"/>
              <a:t>属性、元组、关系和数据库等。</a:t>
            </a:r>
            <a:endParaRPr lang="en-US" altLang="zh-CN" i="0" u="none" strike="noStrike" kern="100" baseline="0" dirty="0"/>
          </a:p>
          <a:p>
            <a:pPr marL="354013" indent="0">
              <a:buNone/>
            </a:pPr>
            <a:r>
              <a:rPr lang="zh-CN" altLang="en-US" i="0" u="none" strike="noStrike" kern="100" baseline="0" dirty="0"/>
              <a:t>若干属性值组成元组，若干元组组成关系，若干关系组成数据库。规范的二维表是关系的常用表示方法。</a:t>
            </a:r>
          </a:p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结论：</a:t>
            </a:r>
            <a:r>
              <a:rPr lang="zh-CN" altLang="en-US" i="0" u="none" strike="noStrike" kern="100" baseline="0" dirty="0"/>
              <a:t>关系模型具有结构简单清晰、表达能力强、易懂易用和拥有严谨数学理论支持等优点。使得它成为目前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最流行</a:t>
            </a:r>
            <a:r>
              <a:rPr lang="zh-CN" altLang="en-US" i="0" u="none" strike="noStrike" kern="100" baseline="0" dirty="0"/>
              <a:t>的数据模型。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3B47-066D-F84A-9301-0907E59AC266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42547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kern="2200" baseline="0" dirty="0"/>
              <a:t>（</a:t>
            </a:r>
            <a:r>
              <a:rPr lang="en-US" altLang="zh-CN" i="0" u="none" strike="noStrike" kern="2200" baseline="0" dirty="0"/>
              <a:t>4</a:t>
            </a:r>
            <a:r>
              <a:rPr lang="zh-CN" altLang="en-US" i="0" u="none" strike="noStrike" kern="2200" baseline="0" dirty="0"/>
              <a:t>）面向对象模型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i="0" u="none" strike="noStrike" kern="100" baseline="0" dirty="0"/>
              <a:t>面向对象模型（</a:t>
            </a:r>
            <a:r>
              <a:rPr lang="en-US" altLang="zh-CN" i="0" u="none" strike="noStrike" kern="100" baseline="0" dirty="0"/>
              <a:t>Object Oriented Model</a:t>
            </a:r>
            <a:r>
              <a:rPr lang="zh-CN" altLang="en-US" i="0" u="none" strike="noStrike" kern="100" baseline="0" dirty="0"/>
              <a:t>）：</a:t>
            </a:r>
            <a:r>
              <a:rPr lang="en-US" altLang="zh-CN" i="0" u="none" strike="noStrike" kern="100" baseline="0" dirty="0"/>
              <a:t>20</a:t>
            </a:r>
            <a:r>
              <a:rPr lang="zh-CN" altLang="en-US" i="0" u="none" strike="noStrike" kern="100" baseline="0" dirty="0"/>
              <a:t>世纪</a:t>
            </a:r>
            <a:r>
              <a:rPr lang="en-US" altLang="zh-CN" i="0" u="none" strike="noStrike" kern="100" baseline="0" dirty="0"/>
              <a:t>80</a:t>
            </a:r>
            <a:r>
              <a:rPr lang="zh-CN" altLang="en-US" i="0" u="none" strike="noStrike" kern="100" baseline="0" dirty="0"/>
              <a:t>年代把面向对象程序设计（</a:t>
            </a:r>
            <a:r>
              <a:rPr lang="en-US" altLang="zh-CN" i="0" u="none" strike="noStrike" kern="100" baseline="0" dirty="0"/>
              <a:t>Object Oriented Programming</a:t>
            </a:r>
            <a:r>
              <a:rPr lang="zh-CN" altLang="en-US" i="0" u="none" strike="noStrike" kern="100" baseline="0" dirty="0"/>
              <a:t>，</a:t>
            </a:r>
            <a:r>
              <a:rPr lang="en-US" altLang="zh-CN" i="0" u="none" strike="noStrike" kern="100" baseline="0" dirty="0"/>
              <a:t>OOP</a:t>
            </a:r>
            <a:r>
              <a:rPr lang="zh-CN" altLang="en-US" i="0" u="none" strike="noStrike" kern="100" baseline="0" dirty="0"/>
              <a:t>）方法和技术引入到数据库技术之后发展起来的新数据模型。</a:t>
            </a:r>
          </a:p>
          <a:p>
            <a:pPr marR="0" lvl="0" rtl="0"/>
            <a:r>
              <a:rPr lang="zh-CN" altLang="en-US" i="0" u="none" strike="noStrike" kern="100" baseline="0" dirty="0"/>
              <a:t>面向对象模型不仅支持传统的数据库应用，而且支持</a:t>
            </a:r>
            <a:r>
              <a:rPr lang="en-US" altLang="zh-CN" i="0" u="none" strike="noStrike" kern="100" baseline="0" dirty="0"/>
              <a:t>CAD</a:t>
            </a:r>
            <a:r>
              <a:rPr lang="zh-CN" altLang="en-US" i="0" u="none" strike="noStrike" kern="100" baseline="0" dirty="0"/>
              <a:t>、</a:t>
            </a:r>
            <a:r>
              <a:rPr lang="en-US" altLang="zh-CN" i="0" u="none" strike="noStrike" kern="100" baseline="0" dirty="0"/>
              <a:t>OA</a:t>
            </a:r>
            <a:r>
              <a:rPr lang="zh-CN" altLang="en-US" i="0" u="none" strike="noStrike" kern="100" baseline="0" dirty="0"/>
              <a:t>和</a:t>
            </a:r>
            <a:r>
              <a:rPr lang="en-US" altLang="zh-CN" i="0" u="none" strike="noStrike" kern="100" baseline="0" dirty="0"/>
              <a:t>GIS</a:t>
            </a:r>
            <a:r>
              <a:rPr lang="zh-CN" altLang="en-US" i="0" u="none" strike="noStrike" kern="100" baseline="0" dirty="0"/>
              <a:t>等多媒体领域。遗憾的是面向对象模型没有推广成功。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ECDEE-6DA6-8841-B582-C903F13AF4BB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89416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3</a:t>
            </a:r>
            <a:r>
              <a:rPr lang="zh-CN" altLang="en-US" i="0" u="none" strike="noStrike" kern="2200" baseline="0" dirty="0"/>
              <a:t>．物理模型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3816424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物理模型：</a:t>
            </a:r>
            <a:r>
              <a:rPr lang="zh-CN" altLang="en-US" i="0" u="none" strike="noStrike" kern="100" baseline="0" dirty="0"/>
              <a:t>数据的存储模型，用于描述数据在计算机内部的存储结构和存取方法的模型</a:t>
            </a:r>
            <a:endParaRPr lang="en-US" altLang="zh-CN" i="0" u="none" strike="noStrike" kern="100" baseline="0" dirty="0"/>
          </a:p>
          <a:p>
            <a:pPr marL="0" marR="0" lvl="0" indent="0" rtl="0">
              <a:buNone/>
            </a:pPr>
            <a:r>
              <a:rPr lang="en-US" altLang="zh-CN" kern="100" dirty="0"/>
              <a:t>    </a:t>
            </a:r>
            <a:r>
              <a:rPr lang="zh-CN" altLang="en-US" sz="2000" i="0" u="none" strike="noStrike" kern="100" baseline="0" dirty="0"/>
              <a:t>物理模型是对数据最底层的抽象</a:t>
            </a:r>
          </a:p>
          <a:p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目的：</a:t>
            </a:r>
            <a:r>
              <a:rPr lang="zh-CN" altLang="en-US" i="0" u="none" strike="noStrike" kern="100" baseline="0" dirty="0"/>
              <a:t>利用合理的存储结构和存取策略，充分利用存储空间，实现快速存取，提高数据存取效率和存储空间利用率</a:t>
            </a:r>
          </a:p>
          <a:p>
            <a:pPr marL="354013" indent="0">
              <a:buNone/>
            </a:pPr>
            <a:r>
              <a:rPr lang="zh-CN" altLang="en-US" sz="2000" i="0" u="none" strike="noStrike" kern="100" baseline="0" dirty="0"/>
              <a:t>物理模型是逻辑模型的最终物理实现，为逻辑模型选取最适合的物理环境。</a:t>
            </a:r>
          </a:p>
          <a:p>
            <a:pPr marL="22860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概念模型、逻辑模型</a:t>
            </a:r>
            <a:r>
              <a:rPr lang="zh-CN" altLang="en-US" sz="2600" i="0" u="none" strike="noStrike" kern="100" baseline="0" dirty="0">
                <a:solidFill>
                  <a:srgbClr val="0000FF"/>
                </a:solidFill>
              </a:rPr>
              <a:t>和物理模型的关系（</a:t>
            </a:r>
            <a:r>
              <a:rPr lang="zh-CN" altLang="en-US" sz="2600" i="0" u="none" strike="noStrike" kern="100" baseline="0" dirty="0"/>
              <a:t>图</a:t>
            </a:r>
            <a:r>
              <a:rPr lang="en-US" altLang="zh-CN" sz="2600" i="0" u="none" strike="noStrike" kern="100" baseline="0" dirty="0"/>
              <a:t>1.12</a:t>
            </a:r>
            <a:r>
              <a:rPr lang="zh-CN" altLang="en-US" sz="2600" i="0" u="none" strike="noStrike" kern="100" baseline="0" dirty="0"/>
              <a:t>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7C0F-5998-E74F-8884-77F74749A0EB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65</a:t>
            </a:fld>
            <a:endParaRPr lang="zh-CN" altLang="en-US" dirty="0"/>
          </a:p>
        </p:txBody>
      </p:sp>
      <p:grpSp>
        <p:nvGrpSpPr>
          <p:cNvPr id="7" name="画布 821"/>
          <p:cNvGrpSpPr/>
          <p:nvPr/>
        </p:nvGrpSpPr>
        <p:grpSpPr>
          <a:xfrm>
            <a:off x="827586" y="5013176"/>
            <a:ext cx="7416822" cy="1008112"/>
            <a:chOff x="-78579" y="0"/>
            <a:chExt cx="4850604" cy="762000"/>
          </a:xfrm>
        </p:grpSpPr>
        <p:sp>
          <p:nvSpPr>
            <p:cNvPr id="8" name="矩形 7"/>
            <p:cNvSpPr/>
            <p:nvPr/>
          </p:nvSpPr>
          <p:spPr>
            <a:xfrm>
              <a:off x="0" y="0"/>
              <a:ext cx="4772025" cy="762000"/>
            </a:xfrm>
            <a:prstGeom prst="rect">
              <a:avLst/>
            </a:prstGeom>
          </p:spPr>
        </p:sp>
        <p:sp>
          <p:nvSpPr>
            <p:cNvPr id="9" name="右箭头 8"/>
            <p:cNvSpPr/>
            <p:nvPr/>
          </p:nvSpPr>
          <p:spPr>
            <a:xfrm>
              <a:off x="3352801" y="276226"/>
              <a:ext cx="361949" cy="133349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2900"/>
                </a:lnSpc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缺角矩形 9"/>
            <p:cNvSpPr/>
            <p:nvPr/>
          </p:nvSpPr>
          <p:spPr>
            <a:xfrm>
              <a:off x="2475526" y="123826"/>
              <a:ext cx="858224" cy="485774"/>
            </a:xfrm>
            <a:prstGeom prst="plaqu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2900"/>
                </a:lnSpc>
                <a:spcAft>
                  <a:spcPts val="0"/>
                </a:spcAft>
              </a:pPr>
              <a:r>
                <a:rPr lang="zh-CN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逻辑模型</a:t>
              </a:r>
              <a:endParaRPr 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11" name="棱台 10"/>
            <p:cNvSpPr/>
            <p:nvPr/>
          </p:nvSpPr>
          <p:spPr>
            <a:xfrm>
              <a:off x="3714749" y="123826"/>
              <a:ext cx="876301" cy="476250"/>
            </a:xfrm>
            <a:prstGeom prst="bevel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29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物理模型</a:t>
              </a:r>
              <a:endParaRPr 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12" name="八边形 11"/>
            <p:cNvSpPr/>
            <p:nvPr/>
          </p:nvSpPr>
          <p:spPr>
            <a:xfrm>
              <a:off x="1238250" y="114300"/>
              <a:ext cx="885826" cy="476250"/>
            </a:xfrm>
            <a:prstGeom prst="octagon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2900"/>
                </a:lnSpc>
                <a:spcAft>
                  <a:spcPts val="0"/>
                </a:spcAft>
              </a:pPr>
              <a:endParaRPr lang="en-US" altLang="zh-CN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29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概念模型</a:t>
              </a:r>
              <a:endParaRPr 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ctr">
                <a:lnSpc>
                  <a:spcPts val="2900"/>
                </a:lnSpc>
                <a:spcAft>
                  <a:spcPts val="0"/>
                </a:spcAft>
              </a:pPr>
              <a:r>
                <a:rPr lang="en-US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 </a:t>
              </a:r>
              <a:endParaRPr 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13" name="右箭头 12"/>
            <p:cNvSpPr/>
            <p:nvPr/>
          </p:nvSpPr>
          <p:spPr>
            <a:xfrm>
              <a:off x="2123100" y="275250"/>
              <a:ext cx="361315" cy="132715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900"/>
                </a:lnSpc>
                <a:spcAft>
                  <a:spcPts val="0"/>
                </a:spcAft>
              </a:pPr>
              <a:r>
                <a:rPr lang="en-US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 </a:t>
              </a:r>
              <a:endParaRPr lang="zh-CN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14" name="流程图: 过程 13"/>
            <p:cNvSpPr/>
            <p:nvPr/>
          </p:nvSpPr>
          <p:spPr>
            <a:xfrm>
              <a:off x="-78579" y="123825"/>
              <a:ext cx="935830" cy="466725"/>
            </a:xfrm>
            <a:prstGeom prst="flowChartProcess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2900"/>
                </a:lnSpc>
                <a:spcAft>
                  <a:spcPts val="0"/>
                </a:spcAft>
              </a:pPr>
              <a:r>
                <a:rPr lang="zh-CN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实际问题</a:t>
              </a:r>
              <a:endParaRPr 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15" name="右箭头 14"/>
            <p:cNvSpPr/>
            <p:nvPr/>
          </p:nvSpPr>
          <p:spPr>
            <a:xfrm>
              <a:off x="865800" y="265725"/>
              <a:ext cx="361315" cy="132715"/>
            </a:xfrm>
            <a:prstGeom prst="righ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900"/>
                </a:lnSpc>
                <a:spcAft>
                  <a:spcPts val="0"/>
                </a:spcAft>
              </a:pPr>
              <a:r>
                <a:rPr lang="en-US" kern="1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 </a:t>
              </a:r>
              <a:endParaRPr lang="zh-CN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9198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1.4</a:t>
            </a:r>
            <a:r>
              <a:rPr lang="zh-CN" altLang="en-US" i="0" u="none" strike="noStrike" kern="2200" baseline="0" dirty="0"/>
              <a:t>   数据库系统的结构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数据库系统模式结构</a:t>
            </a:r>
            <a:endParaRPr lang="en-US" altLang="zh-CN" i="0" u="none" strike="noStrike" kern="100" baseline="0" dirty="0">
              <a:solidFill>
                <a:srgbClr val="0000FF"/>
              </a:solidFill>
            </a:endParaRPr>
          </a:p>
          <a:p>
            <a:pPr marL="354013" lvl="0" indent="0">
              <a:buNone/>
            </a:pPr>
            <a:r>
              <a:rPr lang="zh-CN" altLang="en-US" kern="100" dirty="0"/>
              <a:t>从数据库管理系统角度分析</a:t>
            </a:r>
            <a:endParaRPr lang="en-US" altLang="zh-CN" i="0" u="none" strike="noStrike" kern="100" baseline="0" dirty="0"/>
          </a:p>
          <a:p>
            <a:pPr lv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数据库系统体系结构</a:t>
            </a:r>
            <a:endParaRPr lang="en-US" altLang="zh-CN" kern="100" dirty="0"/>
          </a:p>
          <a:p>
            <a:pPr marL="354013" lvl="0" indent="0">
              <a:buNone/>
            </a:pPr>
            <a:r>
              <a:rPr lang="zh-CN" altLang="en-US" kern="100" dirty="0"/>
              <a:t>从最终用户角度分析</a:t>
            </a:r>
            <a:endParaRPr lang="zh-CN" altLang="en-US" i="0" u="none" strike="noStrike" kern="100" baseline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07C5A-B4DC-A04F-96E9-E68A57B846AE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72608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87" name="Rectangle 191"/>
          <p:cNvSpPr>
            <a:spLocks noChangeArrowheads="1"/>
          </p:cNvSpPr>
          <p:nvPr/>
        </p:nvSpPr>
        <p:spPr bwMode="auto">
          <a:xfrm>
            <a:off x="539750" y="3284538"/>
            <a:ext cx="8208963" cy="1439862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4945" name="Rectangle 49"/>
          <p:cNvSpPr>
            <a:spLocks noChangeArrowheads="1"/>
          </p:cNvSpPr>
          <p:nvPr/>
        </p:nvSpPr>
        <p:spPr bwMode="auto">
          <a:xfrm>
            <a:off x="2843213" y="4292600"/>
            <a:ext cx="3852217" cy="395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dirty="0"/>
              <a:t>模式：</a:t>
            </a:r>
            <a:r>
              <a:rPr lang="en-US" altLang="zh-CN" dirty="0"/>
              <a:t>Student</a:t>
            </a:r>
            <a:r>
              <a:rPr lang="zh-CN" altLang="en-US" dirty="0"/>
              <a:t>；</a:t>
            </a:r>
            <a:r>
              <a:rPr lang="en-US" altLang="zh-CN" dirty="0"/>
              <a:t>SC</a:t>
            </a:r>
            <a:r>
              <a:rPr lang="zh-CN" altLang="en-US" dirty="0"/>
              <a:t>；</a:t>
            </a:r>
            <a:r>
              <a:rPr lang="en-US" altLang="zh-CN" dirty="0"/>
              <a:t>Course</a:t>
            </a:r>
          </a:p>
        </p:txBody>
      </p:sp>
      <p:graphicFrame>
        <p:nvGraphicFramePr>
          <p:cNvPr id="464902" name="Group 6"/>
          <p:cNvGraphicFramePr>
            <a:graphicFrameLocks noGrp="1"/>
          </p:cNvGraphicFramePr>
          <p:nvPr/>
        </p:nvGraphicFramePr>
        <p:xfrm>
          <a:off x="1042988" y="2097088"/>
          <a:ext cx="2413000" cy="670560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学号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姓名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性别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2010001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王平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女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4944" name="Text Box 48"/>
          <p:cNvSpPr txBox="1">
            <a:spLocks noChangeArrowheads="1"/>
          </p:cNvSpPr>
          <p:nvPr/>
        </p:nvSpPr>
        <p:spPr bwMode="auto">
          <a:xfrm>
            <a:off x="2916238" y="5265738"/>
            <a:ext cx="3132137" cy="369332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dirty="0"/>
              <a:t>内模式：</a:t>
            </a:r>
            <a:r>
              <a:rPr lang="en-US" altLang="zh-CN" dirty="0" err="1"/>
              <a:t>S.mdf+S.ldf</a:t>
            </a:r>
            <a:endParaRPr lang="en-US" altLang="zh-CN" dirty="0"/>
          </a:p>
        </p:txBody>
      </p:sp>
      <p:graphicFrame>
        <p:nvGraphicFramePr>
          <p:cNvPr id="464962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38408"/>
              </p:ext>
            </p:extLst>
          </p:nvPr>
        </p:nvGraphicFramePr>
        <p:xfrm>
          <a:off x="611560" y="3501008"/>
          <a:ext cx="2413000" cy="670560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学号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姓名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性别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2010001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王平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女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4976" name="Group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371111"/>
              </p:ext>
            </p:extLst>
          </p:nvPr>
        </p:nvGraphicFramePr>
        <p:xfrm>
          <a:off x="5940152" y="3500438"/>
          <a:ext cx="2686323" cy="670560"/>
        </p:xfrm>
        <a:graphic>
          <a:graphicData uri="http://schemas.openxmlformats.org/drawingml/2006/table">
            <a:tbl>
              <a:tblPr/>
              <a:tblGrid>
                <a:gridCol w="87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课程号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课程名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学分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C001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高等数学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4990" name="Group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702323"/>
              </p:ext>
            </p:extLst>
          </p:nvPr>
        </p:nvGraphicFramePr>
        <p:xfrm>
          <a:off x="3347244" y="3501008"/>
          <a:ext cx="2376488" cy="671544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2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学号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课程号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成绩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2010001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C001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78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5085" name="Group 189"/>
          <p:cNvGraphicFramePr>
            <a:graphicFrameLocks noGrp="1"/>
          </p:cNvGraphicFramePr>
          <p:nvPr/>
        </p:nvGraphicFramePr>
        <p:xfrm>
          <a:off x="4930775" y="2062163"/>
          <a:ext cx="2808288" cy="670560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姓名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课程名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charset="-122"/>
                          <a:cs typeface="Times New Roman" pitchFamily="18" charset="0"/>
                        </a:rPr>
                        <a:t>成绩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王平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高等数学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78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5088" name="Line 192"/>
          <p:cNvSpPr>
            <a:spLocks noChangeShapeType="1"/>
          </p:cNvSpPr>
          <p:nvPr/>
        </p:nvSpPr>
        <p:spPr bwMode="auto">
          <a:xfrm>
            <a:off x="2230438" y="2781300"/>
            <a:ext cx="539750" cy="4683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5089" name="Line 193"/>
          <p:cNvSpPr>
            <a:spLocks noChangeShapeType="1"/>
          </p:cNvSpPr>
          <p:nvPr/>
        </p:nvSpPr>
        <p:spPr bwMode="auto">
          <a:xfrm flipH="1">
            <a:off x="5434013" y="2746375"/>
            <a:ext cx="757237" cy="5032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5090" name="Rectangle 194"/>
          <p:cNvSpPr>
            <a:spLocks noChangeArrowheads="1"/>
          </p:cNvSpPr>
          <p:nvPr/>
        </p:nvSpPr>
        <p:spPr bwMode="auto">
          <a:xfrm>
            <a:off x="1511300" y="1520825"/>
            <a:ext cx="1331913" cy="539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/>
              <a:t>外模式</a:t>
            </a:r>
            <a:r>
              <a:rPr lang="en-US" altLang="zh-CN"/>
              <a:t>1</a:t>
            </a:r>
          </a:p>
        </p:txBody>
      </p:sp>
      <p:sp>
        <p:nvSpPr>
          <p:cNvPr id="465091" name="Rectangle 195"/>
          <p:cNvSpPr>
            <a:spLocks noChangeArrowheads="1"/>
          </p:cNvSpPr>
          <p:nvPr/>
        </p:nvSpPr>
        <p:spPr bwMode="auto">
          <a:xfrm>
            <a:off x="5757863" y="1522413"/>
            <a:ext cx="1331912" cy="5032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/>
              <a:t>外模式</a:t>
            </a:r>
            <a:r>
              <a:rPr lang="en-US" altLang="zh-CN"/>
              <a:t>2</a:t>
            </a:r>
          </a:p>
        </p:txBody>
      </p:sp>
      <p:sp>
        <p:nvSpPr>
          <p:cNvPr id="465092" name="Line 196"/>
          <p:cNvSpPr>
            <a:spLocks noChangeShapeType="1"/>
          </p:cNvSpPr>
          <p:nvPr/>
        </p:nvSpPr>
        <p:spPr bwMode="auto">
          <a:xfrm>
            <a:off x="4535488" y="4724400"/>
            <a:ext cx="0" cy="5413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标题 1"/>
          <p:cNvSpPr txBox="1">
            <a:spLocks/>
          </p:cNvSpPr>
          <p:nvPr/>
        </p:nvSpPr>
        <p:spPr>
          <a:xfrm>
            <a:off x="467544" y="476672"/>
            <a:ext cx="8229600" cy="86636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kern="2200" dirty="0">
                <a:latin typeface="Times New Roman"/>
                <a:ea typeface="宋体"/>
              </a:rPr>
              <a:t>数据库系统的模式结构</a:t>
            </a:r>
            <a:r>
              <a:rPr lang="zh-CN" altLang="en-US" sz="4000" dirty="0">
                <a:solidFill>
                  <a:srgbClr val="0000FF"/>
                </a:solidFill>
                <a:latin typeface="宋体" charset="-122"/>
              </a:rPr>
              <a:t>（</a:t>
            </a:r>
            <a:r>
              <a:rPr lang="zh-CN" altLang="en-US" sz="4000" dirty="0">
                <a:solidFill>
                  <a:srgbClr val="0000FF"/>
                </a:solidFill>
              </a:rPr>
              <a:t>实例</a:t>
            </a:r>
            <a:r>
              <a:rPr lang="zh-CN" altLang="en-US" sz="4000" dirty="0">
                <a:solidFill>
                  <a:srgbClr val="0000FF"/>
                </a:solidFill>
                <a:latin typeface="宋体" charset="-122"/>
              </a:rPr>
              <a:t>）</a:t>
            </a:r>
            <a:endParaRPr lang="zh-CN" altLang="en-US" sz="4000" b="1" kern="2200" dirty="0">
              <a:latin typeface="Times New Roman"/>
              <a:ea typeface="宋体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1CB843-82CD-AE4F-B940-26365977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1C2E9-A9F8-E84F-9219-72E807144F68}" type="datetime9">
              <a:rPr lang="zh-CN" altLang="en-US" smtClean="0"/>
              <a:t>2019年9月10日星期二3时32分52秒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BCFFF3-AB53-D84A-9FDA-012A22A4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5300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472" y="116632"/>
            <a:ext cx="8219256" cy="562074"/>
          </a:xfrm>
        </p:spPr>
        <p:txBody>
          <a:bodyPr>
            <a:normAutofit fontScale="90000"/>
          </a:bodyPr>
          <a:lstStyle/>
          <a:p>
            <a:pPr marR="0" rtl="0"/>
            <a:r>
              <a:rPr lang="en-US" altLang="zh-CN" i="0" u="none" strike="noStrike" kern="2200" baseline="0" dirty="0"/>
              <a:t>1.4.1</a:t>
            </a:r>
            <a:r>
              <a:rPr lang="zh-CN" altLang="en-US" i="0" u="none" strike="noStrike" kern="2200" baseline="0" dirty="0"/>
              <a:t>　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数据库系统的模式结构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6472" y="764704"/>
            <a:ext cx="8229600" cy="1512168"/>
          </a:xfrm>
        </p:spPr>
        <p:txBody>
          <a:bodyPr/>
          <a:lstStyle/>
          <a:p>
            <a:pPr marR="0" lvl="0" rtl="0"/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模式结构：</a:t>
            </a:r>
            <a:endParaRPr lang="en-US" altLang="zh-CN" i="0" u="none" strike="noStrike" kern="100" baseline="0" dirty="0">
              <a:solidFill>
                <a:srgbClr val="0000FF"/>
              </a:solidFill>
            </a:endParaRPr>
          </a:p>
          <a:p>
            <a:pPr marL="354013" indent="0">
              <a:buNone/>
            </a:pPr>
            <a:r>
              <a:rPr lang="zh-CN" altLang="en-US" kern="100" dirty="0">
                <a:solidFill>
                  <a:srgbClr val="0000FF"/>
                </a:solidFill>
              </a:rPr>
              <a:t>三级模式：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外模式、模式和内模式</a:t>
            </a:r>
            <a:endParaRPr lang="en-US" altLang="zh-CN" i="0" u="none" strike="noStrike" kern="100" baseline="0" dirty="0">
              <a:solidFill>
                <a:srgbClr val="0000FF"/>
              </a:solidFill>
            </a:endParaRPr>
          </a:p>
          <a:p>
            <a:pPr marL="354013" indent="0">
              <a:buNone/>
            </a:pPr>
            <a:r>
              <a:rPr lang="zh-CN" altLang="en-US" kern="100" dirty="0">
                <a:solidFill>
                  <a:srgbClr val="0000FF"/>
                </a:solidFill>
              </a:rPr>
              <a:t>二级映像：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外模式</a:t>
            </a:r>
            <a:r>
              <a:rPr lang="en-US" altLang="zh-CN" i="0" u="none" strike="noStrike" kern="100" baseline="0" dirty="0">
                <a:solidFill>
                  <a:srgbClr val="0000FF"/>
                </a:solidFill>
              </a:rPr>
              <a:t>/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模式和模式</a:t>
            </a:r>
            <a:r>
              <a:rPr lang="en-US" altLang="zh-CN" i="0" u="none" strike="noStrike" kern="100" baseline="0" dirty="0">
                <a:solidFill>
                  <a:srgbClr val="0000FF"/>
                </a:solidFill>
              </a:rPr>
              <a:t>/</a:t>
            </a:r>
            <a:r>
              <a:rPr lang="zh-CN" altLang="en-US" i="0" u="none" strike="noStrike" kern="100" baseline="0" dirty="0">
                <a:solidFill>
                  <a:srgbClr val="0000FF"/>
                </a:solidFill>
              </a:rPr>
              <a:t>内模式</a:t>
            </a:r>
            <a:endParaRPr lang="en-US" altLang="zh-CN" kern="100" dirty="0">
              <a:solidFill>
                <a:srgbClr val="0000FF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46AA-8DDF-EF4C-9C13-4FFB404A1DE4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68</a:t>
            </a:fld>
            <a:endParaRPr lang="zh-CN" altLang="en-US" dirty="0"/>
          </a:p>
        </p:txBody>
      </p:sp>
      <p:grpSp>
        <p:nvGrpSpPr>
          <p:cNvPr id="7" name="Group 942"/>
          <p:cNvGrpSpPr>
            <a:grpSpLocks/>
          </p:cNvGrpSpPr>
          <p:nvPr/>
        </p:nvGrpSpPr>
        <p:grpSpPr bwMode="auto">
          <a:xfrm>
            <a:off x="478260" y="2305181"/>
            <a:ext cx="8083624" cy="4032448"/>
            <a:chOff x="1614" y="3744"/>
            <a:chExt cx="7200" cy="5128"/>
          </a:xfrm>
        </p:grpSpPr>
        <p:sp>
          <p:nvSpPr>
            <p:cNvPr id="8" name="Rectangle 943"/>
            <p:cNvSpPr>
              <a:spLocks noChangeArrowheads="1"/>
            </p:cNvSpPr>
            <p:nvPr/>
          </p:nvSpPr>
          <p:spPr bwMode="auto">
            <a:xfrm>
              <a:off x="1758" y="4472"/>
              <a:ext cx="6981" cy="300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prstDash val="dash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59436" tIns="29718" rIns="59436" bIns="29718" anchor="ctr" anchorCtr="0" upright="1">
              <a:noAutofit/>
            </a:bodyPr>
            <a:lstStyle/>
            <a:p>
              <a:pPr algn="just">
                <a:lnSpc>
                  <a:spcPts val="2600"/>
                </a:lnSpc>
                <a:spcAft>
                  <a:spcPts val="0"/>
                </a:spcAft>
              </a:pPr>
              <a:r>
                <a:rPr lang="en-US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 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just">
                <a:lnSpc>
                  <a:spcPts val="2600"/>
                </a:lnSpc>
                <a:spcAft>
                  <a:spcPts val="0"/>
                </a:spcAft>
              </a:pPr>
              <a:r>
                <a:rPr lang="en-US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 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just">
                <a:lnSpc>
                  <a:spcPts val="2600"/>
                </a:lnSpc>
                <a:spcAft>
                  <a:spcPts val="0"/>
                </a:spcAft>
              </a:pPr>
              <a:r>
                <a:rPr lang="en-US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DBMS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  <a:p>
              <a:pPr algn="just">
                <a:lnSpc>
                  <a:spcPts val="2600"/>
                </a:lnSpc>
                <a:spcAft>
                  <a:spcPts val="0"/>
                </a:spcAft>
              </a:pPr>
              <a:r>
                <a:rPr lang="en-US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 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9" name="AutoShape 944"/>
            <p:cNvSpPr>
              <a:spLocks noChangeArrowheads="1"/>
            </p:cNvSpPr>
            <p:nvPr/>
          </p:nvSpPr>
          <p:spPr bwMode="auto">
            <a:xfrm>
              <a:off x="4254" y="7936"/>
              <a:ext cx="1920" cy="936"/>
            </a:xfrm>
            <a:prstGeom prst="can">
              <a:avLst>
                <a:gd name="adj" fmla="val 3846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59436" tIns="29718" rIns="59436" bIns="29718" anchor="ctr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/>
                </a:rPr>
                <a:t>数据库</a:t>
              </a:r>
            </a:p>
          </p:txBody>
        </p:sp>
        <p:sp>
          <p:nvSpPr>
            <p:cNvPr id="10" name="Rectangle 945"/>
            <p:cNvSpPr>
              <a:spLocks noChangeArrowheads="1"/>
            </p:cNvSpPr>
            <p:nvPr/>
          </p:nvSpPr>
          <p:spPr bwMode="auto">
            <a:xfrm>
              <a:off x="7251" y="5368"/>
              <a:ext cx="1560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外模式</a:t>
              </a:r>
              <a:r>
                <a:rPr lang="en-US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/</a:t>
              </a: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模式映象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11" name="Rectangle 946"/>
            <p:cNvSpPr>
              <a:spLocks noChangeArrowheads="1"/>
            </p:cNvSpPr>
            <p:nvPr/>
          </p:nvSpPr>
          <p:spPr bwMode="auto">
            <a:xfrm>
              <a:off x="7278" y="6424"/>
              <a:ext cx="1488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模式</a:t>
              </a:r>
              <a:r>
                <a:rPr lang="en-US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/</a:t>
              </a: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内模式映象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cxnSp>
          <p:nvCxnSpPr>
            <p:cNvPr id="12" name="Line 947"/>
            <p:cNvCxnSpPr/>
            <p:nvPr/>
          </p:nvCxnSpPr>
          <p:spPr bwMode="auto">
            <a:xfrm>
              <a:off x="4638" y="5128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cxnSp>
          <p:nvCxnSpPr>
            <p:cNvPr id="13" name="Line 948"/>
            <p:cNvCxnSpPr/>
            <p:nvPr/>
          </p:nvCxnSpPr>
          <p:spPr bwMode="auto">
            <a:xfrm flipH="1">
              <a:off x="4614" y="4160"/>
              <a:ext cx="0" cy="5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cxnSp>
          <p:nvCxnSpPr>
            <p:cNvPr id="14" name="Line 949"/>
            <p:cNvCxnSpPr/>
            <p:nvPr/>
          </p:nvCxnSpPr>
          <p:spPr bwMode="auto">
            <a:xfrm>
              <a:off x="5214" y="7312"/>
              <a:ext cx="0" cy="8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cxnSp>
          <p:nvCxnSpPr>
            <p:cNvPr id="15" name="Line 950"/>
            <p:cNvCxnSpPr/>
            <p:nvPr/>
          </p:nvCxnSpPr>
          <p:spPr bwMode="auto">
            <a:xfrm>
              <a:off x="2094" y="4168"/>
              <a:ext cx="240" cy="5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cxnSp>
          <p:nvCxnSpPr>
            <p:cNvPr id="16" name="Line 951"/>
            <p:cNvCxnSpPr/>
            <p:nvPr/>
          </p:nvCxnSpPr>
          <p:spPr bwMode="auto">
            <a:xfrm>
              <a:off x="5934" y="4160"/>
              <a:ext cx="840" cy="5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cxnSp>
          <p:nvCxnSpPr>
            <p:cNvPr id="17" name="Line 952"/>
            <p:cNvCxnSpPr/>
            <p:nvPr/>
          </p:nvCxnSpPr>
          <p:spPr bwMode="auto">
            <a:xfrm flipH="1">
              <a:off x="7494" y="4160"/>
              <a:ext cx="840" cy="5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cxnSp>
          <p:nvCxnSpPr>
            <p:cNvPr id="18" name="Line 953"/>
            <p:cNvCxnSpPr/>
            <p:nvPr/>
          </p:nvCxnSpPr>
          <p:spPr bwMode="auto">
            <a:xfrm flipH="1">
              <a:off x="3054" y="4168"/>
              <a:ext cx="240" cy="5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sp>
          <p:nvSpPr>
            <p:cNvPr id="19" name="Rectangle 954"/>
            <p:cNvSpPr>
              <a:spLocks noChangeArrowheads="1"/>
            </p:cNvSpPr>
            <p:nvPr/>
          </p:nvSpPr>
          <p:spPr bwMode="auto">
            <a:xfrm>
              <a:off x="1614" y="3752"/>
              <a:ext cx="96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应用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20" name="Rectangle 955"/>
            <p:cNvSpPr>
              <a:spLocks noChangeArrowheads="1"/>
            </p:cNvSpPr>
            <p:nvPr/>
          </p:nvSpPr>
          <p:spPr bwMode="auto">
            <a:xfrm>
              <a:off x="2814" y="3752"/>
              <a:ext cx="96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应用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21" name="Rectangle 956"/>
            <p:cNvSpPr>
              <a:spLocks noChangeArrowheads="1"/>
            </p:cNvSpPr>
            <p:nvPr/>
          </p:nvSpPr>
          <p:spPr bwMode="auto">
            <a:xfrm>
              <a:off x="4134" y="3744"/>
              <a:ext cx="96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应用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22" name="Rectangle 957"/>
            <p:cNvSpPr>
              <a:spLocks noChangeArrowheads="1"/>
            </p:cNvSpPr>
            <p:nvPr/>
          </p:nvSpPr>
          <p:spPr bwMode="auto">
            <a:xfrm>
              <a:off x="5454" y="3744"/>
              <a:ext cx="96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应用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23" name="Rectangle 958"/>
            <p:cNvSpPr>
              <a:spLocks noChangeArrowheads="1"/>
            </p:cNvSpPr>
            <p:nvPr/>
          </p:nvSpPr>
          <p:spPr bwMode="auto">
            <a:xfrm>
              <a:off x="7854" y="3744"/>
              <a:ext cx="96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应用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24" name="Rectangle 959"/>
            <p:cNvSpPr>
              <a:spLocks noChangeArrowheads="1"/>
            </p:cNvSpPr>
            <p:nvPr/>
          </p:nvSpPr>
          <p:spPr bwMode="auto">
            <a:xfrm>
              <a:off x="6654" y="3744"/>
              <a:ext cx="96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应用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25" name="Rectangle 960"/>
            <p:cNvSpPr>
              <a:spLocks noChangeArrowheads="1"/>
            </p:cNvSpPr>
            <p:nvPr/>
          </p:nvSpPr>
          <p:spPr bwMode="auto">
            <a:xfrm>
              <a:off x="1974" y="4688"/>
              <a:ext cx="132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外模式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26" name="Rectangle 961"/>
            <p:cNvSpPr>
              <a:spLocks noChangeArrowheads="1"/>
            </p:cNvSpPr>
            <p:nvPr/>
          </p:nvSpPr>
          <p:spPr bwMode="auto">
            <a:xfrm>
              <a:off x="4014" y="4688"/>
              <a:ext cx="132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外模式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27" name="Rectangle 962"/>
            <p:cNvSpPr>
              <a:spLocks noChangeArrowheads="1"/>
            </p:cNvSpPr>
            <p:nvPr/>
          </p:nvSpPr>
          <p:spPr bwMode="auto">
            <a:xfrm>
              <a:off x="6414" y="4680"/>
              <a:ext cx="132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外模式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cxnSp>
          <p:nvCxnSpPr>
            <p:cNvPr id="28" name="Line 963"/>
            <p:cNvCxnSpPr/>
            <p:nvPr/>
          </p:nvCxnSpPr>
          <p:spPr bwMode="auto">
            <a:xfrm flipH="1">
              <a:off x="7134" y="4160"/>
              <a:ext cx="0" cy="5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sp>
          <p:nvSpPr>
            <p:cNvPr id="29" name="Rectangle 964"/>
            <p:cNvSpPr>
              <a:spLocks noChangeArrowheads="1"/>
            </p:cNvSpPr>
            <p:nvPr/>
          </p:nvSpPr>
          <p:spPr bwMode="auto">
            <a:xfrm>
              <a:off x="3894" y="5928"/>
              <a:ext cx="288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模式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sp>
          <p:nvSpPr>
            <p:cNvPr id="30" name="Rectangle 965"/>
            <p:cNvSpPr>
              <a:spLocks noChangeArrowheads="1"/>
            </p:cNvSpPr>
            <p:nvPr/>
          </p:nvSpPr>
          <p:spPr bwMode="auto">
            <a:xfrm>
              <a:off x="3894" y="6864"/>
              <a:ext cx="2880" cy="42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内模式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cxnSp>
          <p:nvCxnSpPr>
            <p:cNvPr id="31" name="Line 966"/>
            <p:cNvCxnSpPr/>
            <p:nvPr/>
          </p:nvCxnSpPr>
          <p:spPr bwMode="auto">
            <a:xfrm>
              <a:off x="5214" y="6344"/>
              <a:ext cx="0" cy="4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sp>
          <p:nvSpPr>
            <p:cNvPr id="32" name="Rectangle 967"/>
            <p:cNvSpPr>
              <a:spLocks noChangeArrowheads="1"/>
            </p:cNvSpPr>
            <p:nvPr/>
          </p:nvSpPr>
          <p:spPr bwMode="auto">
            <a:xfrm>
              <a:off x="7245" y="7630"/>
              <a:ext cx="1200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lnSpc>
                  <a:spcPts val="2600"/>
                </a:lnSpc>
                <a:spcAft>
                  <a:spcPts val="0"/>
                </a:spcAft>
              </a:pPr>
              <a:r>
                <a:rPr lang="zh-CN" sz="1600" kern="100"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/>
                </a:rPr>
                <a:t>操作系统</a:t>
              </a:r>
              <a:endParaRPr lang="zh-CN" sz="1600" kern="10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endParaRPr>
            </a:p>
          </p:txBody>
        </p:sp>
        <p:cxnSp>
          <p:nvCxnSpPr>
            <p:cNvPr id="33" name="Line 968"/>
            <p:cNvCxnSpPr/>
            <p:nvPr/>
          </p:nvCxnSpPr>
          <p:spPr bwMode="auto">
            <a:xfrm>
              <a:off x="2550" y="5536"/>
              <a:ext cx="47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4" name="Line 969"/>
            <p:cNvCxnSpPr/>
            <p:nvPr/>
          </p:nvCxnSpPr>
          <p:spPr bwMode="auto">
            <a:xfrm>
              <a:off x="2550" y="6592"/>
              <a:ext cx="47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5" name="Line 970"/>
            <p:cNvCxnSpPr/>
            <p:nvPr/>
          </p:nvCxnSpPr>
          <p:spPr bwMode="auto">
            <a:xfrm>
              <a:off x="2574" y="7768"/>
              <a:ext cx="468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6" name="Line 971"/>
            <p:cNvCxnSpPr/>
            <p:nvPr/>
          </p:nvCxnSpPr>
          <p:spPr bwMode="auto">
            <a:xfrm>
              <a:off x="5238" y="5536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cxnSp>
          <p:nvCxnSpPr>
            <p:cNvPr id="37" name="Line 972"/>
            <p:cNvCxnSpPr/>
            <p:nvPr/>
          </p:nvCxnSpPr>
          <p:spPr bwMode="auto">
            <a:xfrm>
              <a:off x="2766" y="5104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  <p:cxnSp>
          <p:nvCxnSpPr>
            <p:cNvPr id="38" name="Line 973"/>
            <p:cNvCxnSpPr/>
            <p:nvPr/>
          </p:nvCxnSpPr>
          <p:spPr bwMode="auto">
            <a:xfrm>
              <a:off x="6990" y="5128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1671606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>
                <a:solidFill>
                  <a:srgbClr val="0000FF"/>
                </a:solidFill>
              </a:rPr>
              <a:t>1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．三级模式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marR="0" lvl="0" indent="0" rtl="0">
              <a:buNone/>
            </a:pP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（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1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）外模式</a:t>
            </a:r>
          </a:p>
          <a:p>
            <a:pPr marR="0" lvl="1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外模式（子模式；用户模式）：</a:t>
            </a:r>
            <a:r>
              <a:rPr lang="zh-CN" altLang="en-US" sz="2000" i="0" u="none" strike="noStrike" kern="100" baseline="0" dirty="0"/>
              <a:t>面向用户的数据库局部数据的逻辑结构和特征的描述，是数据库用户的数据视图。它是局部应用数据的逻辑表示。</a:t>
            </a:r>
          </a:p>
          <a:p>
            <a:pPr marR="0" lvl="1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一个数据库可以有多个外模式。</a:t>
            </a:r>
            <a:r>
              <a:rPr lang="zh-CN" altLang="en-US" sz="2000" i="0" u="none" strike="noStrike" kern="100" baseline="0" dirty="0"/>
              <a:t>不同的外模式反映了不同用户的应用需求、看待数据的方式、以及对数据保密的要求。</a:t>
            </a:r>
          </a:p>
          <a:p>
            <a:pPr marR="0" lvl="1" rtl="0"/>
            <a:r>
              <a:rPr lang="zh-CN" altLang="en-US" sz="2000" i="0" u="none" strike="noStrike" kern="100" baseline="0" dirty="0"/>
              <a:t>模式中的同一数据，在外模式中的结构、类型、长度、保密级别等都可以不同；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外模式与应用的关系为一对多关系</a:t>
            </a:r>
            <a:r>
              <a:rPr lang="zh-CN" altLang="en-US" sz="2000" i="0" u="none" strike="noStrike" kern="100" baseline="0" dirty="0"/>
              <a:t>。同一外模式可以为用户的多个应用系统所使用，但是一个应用程序只能使用一个外模式。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5B97-4509-4545-A61B-80262065C926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11436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>
                <a:solidFill>
                  <a:srgbClr val="0000FF"/>
                </a:solidFill>
              </a:rPr>
              <a:t>1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．三级模式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marR="0" lvl="0" indent="0" rtl="0">
              <a:buNone/>
            </a:pP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（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2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）模式</a:t>
            </a:r>
          </a:p>
          <a:p>
            <a:pPr marR="0" lvl="1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模式（结构模式；逻辑模式）：</a:t>
            </a:r>
            <a:r>
              <a:rPr lang="zh-CN" altLang="en-US" sz="2000" i="0" u="none" strike="noStrike" kern="100" baseline="0" dirty="0"/>
              <a:t>数据库中全部数据的整体逻辑结构和特征的描述，即数据库中数据的逻辑表示，是所有用户的公共数据视图，体现了数据库的总体特征。</a:t>
            </a:r>
          </a:p>
          <a:p>
            <a:pPr marR="0" lvl="1" rtl="0"/>
            <a:r>
              <a:rPr lang="zh-CN" altLang="en-US" sz="2000" i="0" u="none" strike="noStrike" kern="100" baseline="0" dirty="0"/>
              <a:t>数据库模式是以某一种数据模型为基础，统一综合地考虑所有用户的需求，并将这些需求结合成为一个逻辑整体。</a:t>
            </a:r>
          </a:p>
          <a:p>
            <a:pPr marR="0" lvl="1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一个数据库只能有一个模式。</a:t>
            </a:r>
          </a:p>
          <a:p>
            <a:pPr marL="0" marR="0" lvl="0" indent="0" rtl="0">
              <a:buNone/>
            </a:pP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（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3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） 内模式</a:t>
            </a:r>
          </a:p>
          <a:p>
            <a:pPr marR="0" lvl="1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内模式（存储模式；物理模式）：</a:t>
            </a:r>
            <a:r>
              <a:rPr lang="zh-CN" altLang="en-US" sz="2000" i="0" u="none" strike="noStrike" kern="100" baseline="0" dirty="0"/>
              <a:t>对数据库物理结构和存储方式的描述，是数据在数据库内部的组织存储方式。</a:t>
            </a:r>
          </a:p>
          <a:p>
            <a:pPr marR="0" lvl="1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一个数据库只能有一个内模式。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B68BF-0298-2F45-AEBD-9E35D1C9FCCE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70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1403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>
                <a:solidFill>
                  <a:srgbClr val="0000FF"/>
                </a:solidFill>
              </a:rPr>
              <a:t>2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．二级映像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marR="0" lvl="0" indent="0" rtl="0">
              <a:buNone/>
            </a:pP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外模式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/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模式映像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000" i="0" u="none" strike="noStrike" kern="100" baseline="0" dirty="0"/>
              <a:t>外模式</a:t>
            </a:r>
            <a:r>
              <a:rPr lang="en-US" altLang="zh-CN" sz="2000" i="0" u="none" strike="noStrike" kern="100" baseline="0" dirty="0"/>
              <a:t>/</a:t>
            </a:r>
            <a:r>
              <a:rPr lang="zh-CN" altLang="en-US" sz="2000" i="0" u="none" strike="noStrike" kern="100" baseline="0" dirty="0"/>
              <a:t>模式映像实现了用户级的数据库和逻辑层的数据库之间的转换，并通过映像提供的上下级服务把二者联系起来。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000" i="0" u="none" strike="noStrike" kern="100" baseline="0" dirty="0"/>
              <a:t>外模式／模式映像的用途：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保证数据的逻辑独立性。</a:t>
            </a:r>
            <a:r>
              <a:rPr lang="zh-CN" altLang="en-US" sz="2000" i="0" u="none" strike="noStrike" kern="100" baseline="0" dirty="0"/>
              <a:t>即：当模式发生改变时，数据库管理员修改有关的外模式／模式映像，使外模式保持不变。应用程序是依据数据的外模式编写的，从而应用程序不必修改，保证了数据与程序的逻辑独立性，即数据的逻辑独立性。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98B0-A7DD-7C4E-8BFF-5ADE13896EDF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71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78983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>
                <a:solidFill>
                  <a:srgbClr val="0000FF"/>
                </a:solidFill>
              </a:rPr>
              <a:t>2</a:t>
            </a:r>
            <a:r>
              <a:rPr lang="zh-CN" altLang="en-US" i="0" u="none" strike="noStrike" kern="2200" baseline="0" dirty="0">
                <a:solidFill>
                  <a:srgbClr val="0000FF"/>
                </a:solidFill>
              </a:rPr>
              <a:t>．二级映像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marR="0" lvl="0" indent="0" rtl="0">
              <a:buNone/>
            </a:pP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模式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/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内模式映像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800" i="0" u="none" strike="noStrike" kern="100" baseline="0" dirty="0"/>
              <a:t>模式</a:t>
            </a:r>
            <a:r>
              <a:rPr lang="en-US" altLang="zh-CN" sz="1800" i="0" u="none" strike="noStrike" kern="100" baseline="0" dirty="0"/>
              <a:t>/</a:t>
            </a:r>
            <a:r>
              <a:rPr lang="zh-CN" altLang="en-US" sz="1800" i="0" u="none" strike="noStrike" kern="100" baseline="0" dirty="0"/>
              <a:t>内模式映像实现了逻辑层的数据库和物理层的数据库之间的转换，并通过映像提供的上下级服务把二者联系起来。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800" i="0" u="none" strike="noStrike" kern="100" baseline="0" dirty="0"/>
              <a:t>模式／内模式映像的用途：</a:t>
            </a:r>
            <a:r>
              <a:rPr lang="zh-CN" altLang="en-US" sz="1800" i="0" u="none" strike="noStrike" kern="100" baseline="0" dirty="0">
                <a:solidFill>
                  <a:srgbClr val="0000FF"/>
                </a:solidFill>
              </a:rPr>
              <a:t>保证数据的物理独立性。</a:t>
            </a:r>
            <a:r>
              <a:rPr lang="zh-CN" altLang="en-US" sz="1800" i="0" u="none" strike="noStrike" kern="100" baseline="0" dirty="0"/>
              <a:t>即：当数据库的存储结构发生改变时（例如：选用新的存储结构），数据库管理员修改模式／内模式映像，使模式保持不变，应用程序不受影响。保证了数据与程序的物理独立性，即数据的物理独立性。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800" i="0" u="none" strike="noStrike" kern="100" baseline="0" dirty="0">
                <a:solidFill>
                  <a:srgbClr val="0000FF"/>
                </a:solidFill>
              </a:rPr>
              <a:t>数据的逻辑独立性和数据的物理独立性合称为数据独立性。</a:t>
            </a:r>
            <a:r>
              <a:rPr lang="zh-CN" altLang="en-US" sz="1800" i="0" u="none" strike="noStrike" kern="100" baseline="0" dirty="0"/>
              <a:t>通过二级映像，保证了数据库系统的数据独立性，同时使用户使用数据库更加灵活方便。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800" i="0" u="none" strike="noStrike" kern="100" baseline="0" dirty="0"/>
              <a:t>数据库系统的二级映像反映出了三级</a:t>
            </a:r>
            <a:r>
              <a:rPr lang="zh-CN" altLang="en-US" sz="1800" i="0" u="none" strike="noStrike" kern="100" baseline="0" dirty="0">
                <a:solidFill>
                  <a:srgbClr val="0000FF"/>
                </a:solidFill>
              </a:rPr>
              <a:t>模式之间的相互关系</a:t>
            </a:r>
            <a:r>
              <a:rPr lang="zh-CN" altLang="en-US" sz="1800" i="0" u="none" strike="noStrike" kern="100" baseline="0" dirty="0"/>
              <a:t>：模式是内模式的逻辑表示；内模式是模式的物理实现；外模式则是模式的部分抽象和提取。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5765-119F-E74D-BB58-954782942DF7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72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99306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kern="100" dirty="0"/>
              <a:t>数据库系统模式结构的优点</a:t>
            </a:r>
            <a:endParaRPr lang="zh-CN" altLang="en-US" i="0" u="none" strike="noStrike" kern="2200" baseline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ts val="5000"/>
              </a:lnSpc>
            </a:pPr>
            <a:r>
              <a:rPr lang="zh-CN" altLang="en-US" sz="2800" i="0" u="none" strike="noStrike" kern="100" baseline="0" dirty="0"/>
              <a:t>确保数据库的数据独立性</a:t>
            </a:r>
          </a:p>
          <a:p>
            <a:pPr>
              <a:lnSpc>
                <a:spcPts val="5000"/>
              </a:lnSpc>
            </a:pPr>
            <a:r>
              <a:rPr lang="zh-CN" altLang="en-US" sz="2800" i="0" u="none" strike="noStrike" kern="100" baseline="0" dirty="0"/>
              <a:t>确保数据库的安全性和保密性</a:t>
            </a:r>
          </a:p>
          <a:p>
            <a:pPr>
              <a:lnSpc>
                <a:spcPts val="5000"/>
              </a:lnSpc>
            </a:pPr>
            <a:r>
              <a:rPr lang="zh-CN" altLang="en-US" sz="2800" i="0" u="none" strike="noStrike" kern="100" baseline="0" dirty="0"/>
              <a:t>用户使用数据库更加灵感方便</a:t>
            </a:r>
          </a:p>
          <a:p>
            <a:pPr>
              <a:lnSpc>
                <a:spcPts val="5000"/>
              </a:lnSpc>
            </a:pPr>
            <a:r>
              <a:rPr lang="zh-CN" altLang="en-US" sz="2800" i="0" u="none" strike="noStrike" kern="100" baseline="0" dirty="0"/>
              <a:t>提高了数据库的共享性，减少了数据冗余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2231-6F19-5541-A5F4-D41526BF78CD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73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3890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i="0" u="none" strike="noStrike" kern="2200" baseline="0" dirty="0"/>
              <a:t>1.4.2</a:t>
            </a:r>
            <a:r>
              <a:rPr lang="zh-CN" altLang="en-US" i="0" u="none" strike="noStrike" kern="2200" baseline="0" dirty="0"/>
              <a:t>　数据库系统的体系结构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ts val="3900"/>
              </a:lnSpc>
            </a:pPr>
            <a:r>
              <a:rPr lang="zh-CN" altLang="en-US" sz="2800" i="0" u="none" strike="noStrike" kern="100" baseline="0" dirty="0"/>
              <a:t>单用户数据库系统</a:t>
            </a:r>
            <a:endParaRPr lang="en-US" altLang="zh-CN" sz="2800" i="0" u="none" strike="noStrike" kern="100" baseline="0" dirty="0"/>
          </a:p>
          <a:p>
            <a:pPr>
              <a:lnSpc>
                <a:spcPts val="3900"/>
              </a:lnSpc>
            </a:pPr>
            <a:r>
              <a:rPr lang="zh-CN" altLang="en-US" sz="2800" i="0" u="none" strike="noStrike" kern="100" baseline="0" dirty="0"/>
              <a:t>主从式数据库系统</a:t>
            </a:r>
            <a:endParaRPr lang="en-US" altLang="zh-CN" sz="2800" i="0" u="none" strike="noStrike" kern="100" baseline="0" dirty="0"/>
          </a:p>
          <a:p>
            <a:pPr>
              <a:lnSpc>
                <a:spcPts val="3900"/>
              </a:lnSpc>
            </a:pPr>
            <a:r>
              <a:rPr lang="zh-CN" altLang="en-US" sz="2800" i="0" u="none" strike="noStrike" kern="100" baseline="0" dirty="0"/>
              <a:t>分布式数据库系统</a:t>
            </a:r>
            <a:endParaRPr lang="en-US" altLang="zh-CN" sz="2800" i="0" u="none" strike="noStrike" kern="100" baseline="0" dirty="0"/>
          </a:p>
          <a:p>
            <a:pPr>
              <a:lnSpc>
                <a:spcPts val="3900"/>
              </a:lnSpc>
            </a:pPr>
            <a:r>
              <a:rPr lang="zh-CN" altLang="en-US" sz="2800" i="0" u="none" strike="noStrike" kern="100" baseline="0" dirty="0"/>
              <a:t>客户</a:t>
            </a:r>
            <a:r>
              <a:rPr lang="en-US" altLang="zh-CN" sz="2800" i="0" u="none" strike="noStrike" kern="100" baseline="0" dirty="0"/>
              <a:t>/</a:t>
            </a:r>
            <a:r>
              <a:rPr lang="zh-CN" altLang="en-US" sz="2800" i="0" u="none" strike="noStrike" kern="100" baseline="0" dirty="0"/>
              <a:t>服务器数据库系统</a:t>
            </a:r>
            <a:endParaRPr lang="en-US" altLang="zh-CN" sz="2800" i="0" u="none" strike="noStrike" kern="100" baseline="0" dirty="0"/>
          </a:p>
          <a:p>
            <a:pPr>
              <a:lnSpc>
                <a:spcPts val="3900"/>
              </a:lnSpc>
            </a:pPr>
            <a:r>
              <a:rPr lang="zh-CN" altLang="en-US" sz="2800" i="0" u="none" strike="noStrike" kern="100" baseline="0" dirty="0"/>
              <a:t>浏览器</a:t>
            </a:r>
            <a:r>
              <a:rPr lang="en-US" altLang="zh-CN" sz="2800" i="0" u="none" strike="noStrike" kern="100" baseline="0" dirty="0"/>
              <a:t>/</a:t>
            </a:r>
            <a:r>
              <a:rPr lang="zh-CN" altLang="en-US" sz="2800" i="0" u="none" strike="noStrike" kern="100" baseline="0" dirty="0"/>
              <a:t>应用服务器</a:t>
            </a:r>
            <a:r>
              <a:rPr lang="en-US" altLang="zh-CN" sz="2800" i="0" u="none" strike="noStrike" kern="100" baseline="0" dirty="0"/>
              <a:t>/</a:t>
            </a:r>
            <a:r>
              <a:rPr lang="zh-CN" altLang="en-US" sz="2800" i="0" u="none" strike="noStrike" kern="100" baseline="0" dirty="0"/>
              <a:t>数据库服务器数据库系统等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1F12-8764-B843-BF1C-8F32ED4C212D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74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52247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1" i="0" u="none" strike="noStrike" kern="2200" baseline="0">
                <a:latin typeface="Times New Roman"/>
                <a:ea typeface="宋体"/>
              </a:rPr>
              <a:t>1.5</a:t>
            </a:r>
            <a:r>
              <a:rPr lang="zh-CN" altLang="en-US" b="1" i="0" u="none" strike="noStrike" kern="2200" baseline="0">
                <a:latin typeface="Times New Roman"/>
                <a:ea typeface="宋体"/>
              </a:rPr>
              <a:t> 小 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数据、数据库、数据管理系统和数据库系统</a:t>
            </a:r>
            <a:r>
              <a:rPr lang="zh-CN" altLang="en-US" sz="2000" i="0" u="none" strike="noStrike" kern="100" baseline="0" dirty="0"/>
              <a:t>的概念及其关系</a:t>
            </a:r>
          </a:p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数据管理阶段</a:t>
            </a:r>
            <a:r>
              <a:rPr lang="zh-CN" altLang="en-US" sz="2000" i="0" u="none" strike="noStrike" kern="100" baseline="0" dirty="0"/>
              <a:t>：人工管理阶段、文件系统阶段和数据库系统阶段</a:t>
            </a:r>
          </a:p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数据库管理系统的功能</a:t>
            </a:r>
            <a:endParaRPr lang="en-US" altLang="zh-CN" sz="2000" i="0" u="none" strike="noStrike" kern="100" baseline="0" dirty="0">
              <a:solidFill>
                <a:srgbClr val="0000FF"/>
              </a:solidFill>
            </a:endParaRPr>
          </a:p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数据库系统的组成。</a:t>
            </a:r>
            <a:r>
              <a:rPr lang="en-US" altLang="zh-CN" sz="2000" i="0" u="none" strike="noStrike" kern="100" baseline="0" dirty="0">
                <a:solidFill>
                  <a:srgbClr val="0000FF"/>
                </a:solidFill>
              </a:rPr>
              <a:t>DBA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的职责</a:t>
            </a:r>
          </a:p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数据模型的概念和组成要素以及常用的数据模型</a:t>
            </a:r>
            <a:r>
              <a:rPr lang="zh-CN" altLang="en-US" sz="2000" i="0" u="none" strike="noStrike" kern="100" baseline="0" dirty="0"/>
              <a:t>：概念模型、逻辑模型（</a:t>
            </a:r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层次模型，网状模型，关系模型</a:t>
            </a:r>
            <a:r>
              <a:rPr lang="zh-CN" altLang="en-US" sz="2000" i="0" u="none" strike="noStrike" kern="100" baseline="0" dirty="0"/>
              <a:t>和面向对象模型）和物理模型</a:t>
            </a:r>
          </a:p>
          <a:p>
            <a:pPr marR="0" lvl="0" rtl="0"/>
            <a:r>
              <a:rPr lang="zh-CN" altLang="en-US" sz="2000" i="0" u="none" strike="noStrike" kern="100" baseline="0" dirty="0">
                <a:solidFill>
                  <a:srgbClr val="0000FF"/>
                </a:solidFill>
              </a:rPr>
              <a:t>数据库系统的模式结构与数据独立性</a:t>
            </a:r>
          </a:p>
          <a:p>
            <a:pPr marR="0" lvl="0" rtl="0"/>
            <a:r>
              <a:rPr lang="zh-CN" altLang="en-US" sz="2000" i="0" u="none" strike="noStrike" kern="100" baseline="0" dirty="0"/>
              <a:t>研究内容：数据库理论研究、数据库设计、数据库管理系统的研发和数据库应用系统（</a:t>
            </a:r>
            <a:r>
              <a:rPr lang="en-US" altLang="zh-CN" sz="2000" i="0" u="none" strike="noStrike" kern="100" baseline="0" dirty="0"/>
              <a:t>Management</a:t>
            </a:r>
            <a:r>
              <a:rPr lang="zh-CN" altLang="en-US" sz="2000" i="0" u="none" strike="noStrike" kern="100" baseline="0" dirty="0"/>
              <a:t> </a:t>
            </a:r>
            <a:r>
              <a:rPr lang="en-US" altLang="zh-CN" sz="2000" i="0" u="none" strike="noStrike" kern="100" baseline="0" dirty="0"/>
              <a:t>Info</a:t>
            </a:r>
            <a:r>
              <a:rPr lang="zh-CN" altLang="en-US" sz="2000" i="0" u="none" strike="noStrike" kern="100" baseline="0" dirty="0"/>
              <a:t> </a:t>
            </a:r>
            <a:r>
              <a:rPr lang="en-US" altLang="zh-CN" sz="2000" i="0" u="none" strike="noStrike" kern="100" baseline="0" dirty="0"/>
              <a:t>System, MIS</a:t>
            </a:r>
            <a:r>
              <a:rPr lang="zh-CN" altLang="en-US" sz="2000" i="0" u="none" strike="noStrike" kern="100" baseline="0" dirty="0"/>
              <a:t>）的开发等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0F9A-1FE9-C041-B2CB-AB9F4344A2AC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75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78902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19256" cy="562074"/>
          </a:xfrm>
        </p:spPr>
        <p:txBody>
          <a:bodyPr>
            <a:normAutofit fontScale="90000"/>
          </a:bodyPr>
          <a:lstStyle/>
          <a:p>
            <a:pPr marR="0" rtl="0"/>
            <a:r>
              <a:rPr lang="zh-CN" altLang="en-US" i="0" u="none" strike="noStrike" kern="2200" baseline="0" dirty="0"/>
              <a:t>习　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836712"/>
            <a:ext cx="8640960" cy="5904656"/>
          </a:xfrm>
        </p:spPr>
        <p:txBody>
          <a:bodyPr>
            <a:noAutofit/>
          </a:bodyPr>
          <a:lstStyle/>
          <a:p>
            <a:pPr marL="446088" indent="-446088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1.1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解释：数据、数据库、数据库管理系统、数据库系统。</a:t>
            </a:r>
            <a:endParaRPr lang="en-US" altLang="zh-CN" sz="2000" u="none" strike="noStrike" kern="100" baseline="0" dirty="0">
              <a:solidFill>
                <a:srgbClr val="0000FF"/>
              </a:solidFill>
            </a:endParaRPr>
          </a:p>
          <a:p>
            <a:pPr marL="446088" indent="-446088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1.2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简述数据库管理系统的功能。</a:t>
            </a:r>
          </a:p>
          <a:p>
            <a:pPr marL="0" indent="0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1.3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简述数据库系统的组成和特点。</a:t>
            </a:r>
          </a:p>
          <a:p>
            <a:pPr marL="0" indent="0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1.4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解释数据模型，数据模型分类，组成要素。</a:t>
            </a:r>
          </a:p>
          <a:p>
            <a:pPr marL="0" indent="0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1.5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简述</a:t>
            </a: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DBA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的职责。</a:t>
            </a:r>
          </a:p>
          <a:p>
            <a:pPr marL="0" indent="0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1.6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简述数据管理技术发展的基本阶段。</a:t>
            </a:r>
          </a:p>
          <a:p>
            <a:pPr marL="0" indent="0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1.7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简述文件系统与数据库系统的区别。</a:t>
            </a:r>
          </a:p>
          <a:p>
            <a:pPr marL="0" indent="0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1.8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解释概念模型和</a:t>
            </a: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E-R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图，简述概念模型的组成要素。</a:t>
            </a:r>
          </a:p>
          <a:p>
            <a:pPr marL="0" indent="0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1.9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解释实体之间的常用联系。</a:t>
            </a:r>
          </a:p>
          <a:p>
            <a:pPr marL="0" indent="0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1.10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简述数据库系统的模式结构。</a:t>
            </a:r>
          </a:p>
          <a:p>
            <a:pPr marL="628650" indent="-628650">
              <a:buNone/>
            </a:pPr>
            <a:r>
              <a:rPr lang="en-US" altLang="zh-CN" sz="2000" u="none" strike="noStrike" kern="100" baseline="0" dirty="0">
                <a:solidFill>
                  <a:srgbClr val="0000FF"/>
                </a:solidFill>
              </a:rPr>
              <a:t>1.11</a:t>
            </a:r>
            <a:r>
              <a:rPr lang="zh-CN" altLang="en-US" sz="2000" u="none" strike="noStrike" kern="100" baseline="0" dirty="0">
                <a:solidFill>
                  <a:srgbClr val="0000FF"/>
                </a:solidFill>
              </a:rPr>
              <a:t> 解释数据独立性。数据独立性包括哪两种独立性？简述数据库系统模式结构与数据独立性的关系。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3120-B87D-E14F-8B08-475F17A47BF5}" type="datetime9">
              <a:rPr lang="zh-CN" altLang="en-US" smtClean="0"/>
              <a:t>2019年9月10日星期二3时32分52秒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76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6576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7906</Words>
  <Application>Microsoft Macintosh PowerPoint</Application>
  <PresentationFormat>全屏显示(4:3)</PresentationFormat>
  <Paragraphs>1303</Paragraphs>
  <Slides>76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8" baseType="lpstr">
      <vt:lpstr>等线</vt:lpstr>
      <vt:lpstr>宋体</vt:lpstr>
      <vt:lpstr>微软雅黑</vt:lpstr>
      <vt:lpstr>Arial</vt:lpstr>
      <vt:lpstr>Arial Black</vt:lpstr>
      <vt:lpstr>Calibri</vt:lpstr>
      <vt:lpstr>Cambria Math</vt:lpstr>
      <vt:lpstr>Kunstler Script</vt:lpstr>
      <vt:lpstr>Times New Roman</vt:lpstr>
      <vt:lpstr>Wingdings</vt:lpstr>
      <vt:lpstr>Office 主题​​</vt:lpstr>
      <vt:lpstr>公式</vt:lpstr>
      <vt:lpstr>浙江工商大学计算机与信息工程学院</vt:lpstr>
      <vt:lpstr>数据库技术</vt:lpstr>
      <vt:lpstr>第 1 章 概述</vt:lpstr>
      <vt:lpstr>1.1  数据库实例</vt:lpstr>
      <vt:lpstr>1.1  数据库实例</vt:lpstr>
      <vt:lpstr>1.1  数据库实例</vt:lpstr>
      <vt:lpstr>1.1  数据库实例</vt:lpstr>
      <vt:lpstr>图书Book</vt:lpstr>
      <vt:lpstr>客户Cust</vt:lpstr>
      <vt:lpstr>购买Buy</vt:lpstr>
      <vt:lpstr>出版社Press</vt:lpstr>
      <vt:lpstr>分析</vt:lpstr>
      <vt:lpstr>1.2  数据库技术基本知识</vt:lpstr>
      <vt:lpstr>1.2.1  数据</vt:lpstr>
      <vt:lpstr>1.2.1  数据</vt:lpstr>
      <vt:lpstr>多媒体数据 / 信息</vt:lpstr>
      <vt:lpstr>1.2.2  数据库</vt:lpstr>
      <vt:lpstr>1.2.3  数据库管理系统</vt:lpstr>
      <vt:lpstr>数据库管理系统的功能</vt:lpstr>
      <vt:lpstr>1.2.4 数据库系统</vt:lpstr>
      <vt:lpstr>1.2.4 数据库系统</vt:lpstr>
      <vt:lpstr>DBA的职责</vt:lpstr>
      <vt:lpstr>数据库系统</vt:lpstr>
      <vt:lpstr>数据库系统与计算机系统的关系</vt:lpstr>
      <vt:lpstr>1.2.5 数据管理技术</vt:lpstr>
      <vt:lpstr>1．人工管理阶段</vt:lpstr>
      <vt:lpstr>人工管理阶段应用程序与数据集合之间的关系</vt:lpstr>
      <vt:lpstr>2．文件系统阶段</vt:lpstr>
      <vt:lpstr>文件系统阶段应用程序与文件组之间的关系</vt:lpstr>
      <vt:lpstr>3．数据库系统阶段</vt:lpstr>
      <vt:lpstr>数据库系统阶段应用程序与数据库之间的关系</vt:lpstr>
      <vt:lpstr>1.3 数据模型</vt:lpstr>
      <vt:lpstr>1.3.1 数据模型的概念</vt:lpstr>
      <vt:lpstr>数据模型的组成要素</vt:lpstr>
      <vt:lpstr>数据模型的组成要素</vt:lpstr>
      <vt:lpstr>数据模型的组成要素</vt:lpstr>
      <vt:lpstr>1.3.3. 数据模型的分类</vt:lpstr>
      <vt:lpstr>1．概念模型</vt:lpstr>
      <vt:lpstr>（1）实体(Entity)</vt:lpstr>
      <vt:lpstr>（2）属性(Attribute)</vt:lpstr>
      <vt:lpstr>（2）属性(Attribute)</vt:lpstr>
      <vt:lpstr>实体集的型与值</vt:lpstr>
      <vt:lpstr>实体集的型与值</vt:lpstr>
      <vt:lpstr>（3）联系(Relationship)</vt:lpstr>
      <vt:lpstr>（3）联系(Relationship)</vt:lpstr>
      <vt:lpstr>E-R图</vt:lpstr>
      <vt:lpstr>2．逻辑模型</vt:lpstr>
      <vt:lpstr>（1）层次模型</vt:lpstr>
      <vt:lpstr>（1）层次模型</vt:lpstr>
      <vt:lpstr>学校的组织机构（层次模型）</vt:lpstr>
      <vt:lpstr>（2）网状模型</vt:lpstr>
      <vt:lpstr>（2）网状模型</vt:lpstr>
      <vt:lpstr>速递公司车队组织机构（网状模型） </vt:lpstr>
      <vt:lpstr>（3）关系模型</vt:lpstr>
      <vt:lpstr>（3）关系模型</vt:lpstr>
      <vt:lpstr>定义1.2  关系</vt:lpstr>
      <vt:lpstr>定义1.2  关系</vt:lpstr>
      <vt:lpstr>笛卡儿积与关系</vt:lpstr>
      <vt:lpstr>定义1.3  关系模式</vt:lpstr>
      <vt:lpstr>定义1.3  关系模式</vt:lpstr>
      <vt:lpstr>定义1.4  关系数据库</vt:lpstr>
      <vt:lpstr>定义1.4  关系数据库</vt:lpstr>
      <vt:lpstr>关系模型的组成层次</vt:lpstr>
      <vt:lpstr>（4）面向对象模型</vt:lpstr>
      <vt:lpstr>3．物理模型</vt:lpstr>
      <vt:lpstr>1.4   数据库系统的结构</vt:lpstr>
      <vt:lpstr>PowerPoint 演示文稿</vt:lpstr>
      <vt:lpstr>1.4.1　数据库系统的模式结构</vt:lpstr>
      <vt:lpstr>1．三级模式</vt:lpstr>
      <vt:lpstr>1．三级模式</vt:lpstr>
      <vt:lpstr>2．二级映像</vt:lpstr>
      <vt:lpstr>2．二级映像</vt:lpstr>
      <vt:lpstr>数据库系统模式结构的优点</vt:lpstr>
      <vt:lpstr>1.4.2　数据库系统的体系结构</vt:lpstr>
      <vt:lpstr>1.5 小 结</vt:lpstr>
      <vt:lpstr>习　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概述</dc:title>
  <dc:creator>Happyu</dc:creator>
  <cp:lastModifiedBy>ling yun</cp:lastModifiedBy>
  <cp:revision>178</cp:revision>
  <dcterms:created xsi:type="dcterms:W3CDTF">2017-06-19T02:48:13Z</dcterms:created>
  <dcterms:modified xsi:type="dcterms:W3CDTF">2019-09-10T07:32:59Z</dcterms:modified>
</cp:coreProperties>
</file>